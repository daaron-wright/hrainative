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Lst>
  <p:notesMasterIdLst>
    <p:notesMasterId r:id="rId2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notesMaster" Target="notesMasters/notesMaster1.xml"/><Relationship Id="rId220" Type="http://schemas.openxmlformats.org/officeDocument/2006/relationships/presProps" Target="presProps.xml"/><Relationship Id="rId221" Type="http://schemas.openxmlformats.org/officeDocument/2006/relationships/viewProps" Target="viewProps.xml"/><Relationship Id="rId222" Type="http://schemas.openxmlformats.org/officeDocument/2006/relationships/theme" Target="theme/theme1.xml"/><Relationship Id="rId2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Up as people arrive, before the join slide.
Facilitator: this deck holds every option for every session. It comes set for the recommended mix: the other options and the "Three ways to run this session" slides are hidden, so the show skips them. If you change an option, the facilitator guide lists what to show and hide. Every slide has Hub and Options links at the bottom right; hidden slides still open from those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hub. Click any session tile to jump to its first slide. Use it to skip, go back, or move a session. Every slide has a Hub link (back here) and an Options link (to that session's three options) in the bottom right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 opens. Leave this up while the sponsor gets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while people arrive. The room tool's stage view shows the live join code on the main screen; this slide explains the three steps. Remind people the PIN lets them rejoin from another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Arrival loop for option A or C. The seven stages are on the wall in the same order. Pick two notes to use at 09:30.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option for this session before the workshop, or switch on the day. Click a card to open its slide.
Option A (Hands-on): The case wall. Each person posts where their last deal got stuck, on the seven-stage wall. Best when: People arrive in ones and twos.
Option B (Live voting): Join and warm up. Scan the code, join the room, answer two quick questions. Best when: Most people have a phone, and you plan to use the room screen later.
Option C (Cases and conversation): Case swap. Pairs swap one recent staffing case over coffee. Best when: The room already knows each other a little.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Hands-on · The case wall (30 min)
Each person posts where their last deal got stuck, on the seven-stage wall.
Best when: People arrive in ones and twos.
You need: Seven stage posters on one wall; Sticky notes, two colours; Marker pens.
Set up: Put the seven stage posters up in order, at eye height. Put a pad of notes and a pen on every table.
Steps:
• 25 min · As people arrive: coffee, then one note each: where did your last deal get stuck? Place it on a stage.
• 5 min · Facilitator reads the wall and picks two notes to use at 09:30.
Say: "Before you sit down: think of the last deal you staffed. Where did it get stuck? One note, on the stage where it happened."
Capture: Photo of the case wall. It opens the 09:30 session.
Remote: Remote people send one line in the chat; the facilitator writes it on a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Live voting · Join and warm up (30 min)
Scan the code, join the room, answer two quick questions.
Best when: Most people have a phone, and you plan to use the room screen later.
You need: Room tool running, join code on the screen; Printed join cards on tables.
Set up: Start the room tool and open the stage view on the main screen. Load the roster, if you have one. Open the two warm-up questions.
Steps:
• 25 min · As people arrive: scan, join with name and a four-digit PIN, answer: how comfortable are you with AI tools, and where did your last deal get stuck?
• 5 min · Facilitator checks everyone has joined and helps anyone stuck.
Say: "Scan the code on the screen. Pick your name, choose a four-digit PIN. You will use the same PIN on any device."
Capture: Comfort scores and the five-word answers, saved in the room tool.
Room tool activities: Comfort with AI, Where deals get stuck.
Paper fallback: Join cards with the same two questions; the facilitator tallies.
Remote: Remote people join with the same link if the room tool is reachable from outside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 Cases and conversation · Case swap (30 min)
Pairs swap one recent staffing case over coffee.
Best when: The room already knows each other a little.
You need: Pre-work case cards; Sticky notes; Seven stage posters.
Set up: Put pre-work case cards on the coffee tables.
Steps:
• 20 min · Over coffee, find someone you know least. Tell each other one recent staffing case in two minutes each.
• 10 min · Each person writes the other's case title on a note and puts it on the stage where it got stuck.
Say: "Find the person you know least. Two minutes each: one deal, what happened, where it got stuck."
Capture: Case titles on the wall, by stage.
Remote: Pair remote people with each other on a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how the two days work · 09:00–09:30 (30 min).
Objectives:
• Say in one sentence why we are here.
• Know the decision at the end, Proceed, Narrow or Stop, and what it rests on.
• Know that a working version is built alongside, and when we will see it.
• Agree how we will work together.
Key message: Before a deal is signed, we know whether we can staff it. If not, a named person owns the gap.
Words introduced here: Contract-to-Capacity, Engine, Proof of Concept, Proceed, Narrow or Stop.
If short of time: Drop the activity to 5 minutes: three voices only.
If ahead: Let two more people speak in the activity.
If the room is lost: If people look unsure about what the workshop is for, read the promise again and point to tomorrow's three doors.
Skip? Cannot be skipped: the decision criteria start here.
Comes back in: The decision criteria come back at 16:15 tomorrow.
Risk: The sponsor is delayed. Response: The facilitator reads the promise and the sponsor speaks at 10:45.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sponsor's slide. Read the promise slowly, twice. Then: "Today, we often find out after the deal is signed. These two days are about finding out before."
Optional: point back to the arrival wall and read one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walk the two days left to right. Then the engineering lead takes the green line: "We start building at lunch from what you agree this morning. At 16:15 you see the first steps. Overnight we build the first working version. Tomorrow you test it, we fix it at lunch, and at 15:15 we run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at 16:15 tomorrow. Stress: the sponsor decides, against six criteria the room can see. Narrow and Stop are honest, useful outcomes. The six criteria are in full on the decision slides tomorrow and in the facilitator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agreements. Ask: "Can we all live with these?" Wait for nods. Point at "Plain words": anyone can say "stop, explain that", including to the facilitator and the engineers.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quick: four words. Everything else is introduced when a session needs it. The pocket guide on each table has the full list in plain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option for this session before the workshop, or switch on the day. Click a card to open its slide.
Option A (Hands-on): Expectation line. Stand on a line from doubtful to convinced, and hear why. Best when: The room is new to AI and you want doubts said out loud early.
Option B (Live voting): Hopes and doubts. Everyone answers on their phone; the screen shows the room's hopes and doubts. Best when: People joined the room tool at arrival.
Option C (Cases and conversation): The case that went wrong. The sponsor tells one real staffing case that went wrong; the room says how often it happens. Best when: The sponsor has a real story and is comfortable telling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Hands-on · Expectation line (30 min)
Stand on a line from doubtful to convinced, and hear why.
Best when: The room is new to AI and you want doubts said out loud early.
You need: Masking tape line on the floor, labelled Doubtful and Convinced; Sticky notes for concerns.
Set up: Tape a five-metre line along the back of the room. Label the ends.
Steps:
• 5 min · Sponsor: why now, and the promise in one sentence.
• 8 min · Facilitator: the two days on one page, and the decision at the end.
• 4 min · Engineering lead: what gets built alongside, and when you will see it.
• 10 min · Everyone stands on the line: can AI help us staff deals better? Two people from each end and one from the middle say why. Concerns go on notes.
• 3 min · How we work together, and the check question.
Say: "Stand where you honestly are. Doubtful is a useful place to stand; it tells us what to prove."
Debrief: What would move you one step along the line by tomorrow afternoon?
Capture: Concerns on notes, parked on the wall with the session that answers each.
Room tool activities: Check.
Paper fallback: This option is paper.
Remote: Remote people give a number from 1 to 5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Live voting · Hopes and doubts (30 min)
Everyone answers on their phone; the screen shows the room's hopes and doubts.
Best when: People joined the room tool at arrival.
You need: Room tool; Main screen.
Set up: Load the two questions in the room tool before 09:00. Open them when the hopes-and-doubts part starts.
Steps:
• 5 min · Sponsor: why now, and the promise in one sentence.
• 8 min · Facilitator: the two days on one page, and the decision at the end.
• 4 min · Engineering lead: what gets built alongside, and when you will see it.
• 10 min · Phones: what would make these two days worth it? How sure are you that AI can help staffing? Facilitator reads three hopes and two doubts, and says where each is answered.
• 3 min · How we work together, and the check question.
Say: "There are no wrong answers here. The doubts are as useful as the hopes."
Debrief: Which doubt should we make sure we answer by tomorrow?
Capture: Hopes and doubts saved in the room tool; the top doubts go on the parking wall.
Room tool activities: Worth it if..., Can AI help staffing?, Check.
Paper fallback: Two notes each, one hope and one doubt, on the wall.
Remote: Remote people answer through the same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 Cases and conversation · The case that went wrong (30 min)
The sponsor tells one real staffing case that went wrong; the room says how often it happens.
Best when: The sponsor has a real story and is comfortable telling it.
You need: One real case, prepared by the sponsor; Three cards: Weekly, Monthly, Rarely.
Set up: Agree the story with the sponsor the day before: three minutes, no names.
Steps:
• 4 min · Sponsor tells one real case that went wrong, in three minutes.
• 4 min · Room holds up cards: does this happen weekly, monthly, rarely? Two people say why.
• 6 min · Facilitator: the two days on one page, and the decision at the end.
• 4 min · Engineering lead: what gets built alongside, and when you will see it.
• 9 min · Sponsor: the promise in one sentence. The room says what in the story the promise would have changed.
• 3 min · How we work together, and the check question.
Say: "Keep the story in mind. We will come back to it at every session."
Debrief: What, in that story, should never happen again?
Capture: The sponsor's case, in three lines, on the wall. It is the second running case.
Room tool activities: Check.
Paper fallback: This option is paper.
Remote: Remote people answer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hands, or run the room tool check. Count roughly. Then show the answer.
If many get it wrong: Go back to the three-doors slide. Repeat that a clear Narrow or Stop is also a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Proceed, Narrow or Stop
If many got it wrong: Go back to the three-doors slide. Repeat that a clear Narrow or Stop is also a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in reality · 09:30–10:45 (75 min).
Objectives:
• Follow one deal through the seven stages.
• Spot where the record and reality parted, at each stage.
• Tell a shortfall from a gap.
• Agree the room's top three pain points.
Key message: What the records say is not always true. The new way of working has to check.
Words introduced here: Record, Shortfall, Gap.
If short of time: Run stages 1, 4, 5 and 6 only; read the other three as one line each.
If ahead: Add a fourth real example from the room after stage 7.
If the room is lost: If the stages blur together, stop and draw the four look-alikes on the flipchart: in the system, really free, can be released, a real gap.
Skip? Do not skip: every later session builds on records against reality.
Comes back in: Shortfall and gap return at 11:00 (what a gap must carry) and at 13:15 (who declares it).
Risk: One person's case takes over the discussion. Response: Thank them, write it on the wall, and move to the next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Northgate as the case we follow for two days. It is invented, but every part of it comes from HR's research. We replay what happened to Northgate last year, stage by stage. On Day 2 we run the same deal again through the working version, as if it were new.
R1 Cloud network engineer: Workday says P-20931 is free from 1 November. Only their manager knows the current project runs to late November.
R2 Firewall specialist: The search finds nobody, so a hire is requested. One person with the skill exists, on another account, and nobody asked.
R3 Project manager: Another deal wants the same project manager in December.
R4 Knowledge-transfer lead: The contract says "knowledge transfer as agreed". Nobody knows how much.
Tell the room: we will see what the systems said, and what was really true, at every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seven stages from HR's research, the same names as the posters on the wall. We walk Northgate through each one. Keep this to one minute.
Option A walks the wall instead of the stage slides: after the dot vote, jump to slide 39 (four things that look alike). Options B and C use the stage slides: each stage is a question slide, then its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Demand emerges (research S1). Read the record aloud and pause: "Would you have believed this?" Take two guesses about what was really true, then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Demand emerges. The answer.
What was true: The client first raised it in April. Nobody decided whether it was real enough to prepare for.
Lesson: Nobody decides when demand is real enough to start.
Ask: "Has this happened to you?" Take one example, ninety seconds at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Work becomes a staffing need (research S2). Read the record aloud and pause: "Would you have believed this?" Take two guesses about what was really true, then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Work becomes a staffing need. The answer.
What was true: Nobody turned that into skills. One line says "knowledge transfer as agreed".
Lesson: Sales and staffing describe the same work differently.
Ask: "Has this happened to you?" Take one example, ninety seconds at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Staffing sees the request (research S3). Read the record aloud and pause: "Would you have believed this?" Take two guesses about what was really true, then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Staffing sees the request. The answer.
What was true: Staffing heard about it in a corridor a month earlier, and some work had started outside the tools.
Lesson: The request arrives late, and some staffing happens outside the tools.
Ask: "Has this happened to you?" Take one example, ninety seconds at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4: Who could do it, and who is free (research S4). Read the record aloud and pause: "Would you have believed this?" Take two guesses about what was really true, then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4: Who could do it, and who is free. The answer.
What was true: Their current project runs to late November. Only their manager knew.
Lesson: Free in the system is not free in reality.
Ask: "Has this happened to you?" Take one example, ninety seconds at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5: Can they actually start (research S5). Read the record aloud and pause: "Would you have believed this?" Take two guesses about what was really true, then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5: Can they actually start. The answer.
What was true: Their manager would have released them two weeks early, if asked.
Lesson: Free, releasable and ready to start are three different things.
Ask: "Has this happened to you?" Take one example, ninety seconds at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6: Is there a real gap (research S6). Read the record aloud and pause: "Would you have believed this?" Take two guesses about what was really true, then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6: Is there a real gap. The answer.
What was true: Someone with the skill worked on another account. Nobody asked whether they could move, or whether moves could free someone.
Lesson: No match is not a confirmed gap.
Ask: "Has this happened to you?" Take one example, ninety seconds at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7: The gap goes to action (research S7). Read the record aloud and pause: "Would you have believed this?" Take two guesses about what was really true, then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7: The gap goes to action. The answer.
What was true: The plan was never approved and the gap had no owner. The deal was signed without knowing it could be staffed.
Lesson: A gap needs an owner, and a signature needs an approved plan.
Ask: "Has this happened to you?" Take one example, ninety seconds at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research. A person can look free in Workday and not be free. They can be free and still not releasable. And a search that finds nobody is not yet a real gap. The new way of working has to check each one. Northgate stages 4, 5 and 6 are exactly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HR's research listed 108 findings about how this works today. We checked each against the draft. Most were partly handled: the right step exists, but it trusted records the research says are often wrong. The three blockers: trusting recorded availability, not asking whether a busy person can be released, and calling "nobody found" a gap. All three now have a fix that you will test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one land. Pause after reading it. Ask: "How often do you think this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words: shortfall and gap. A shortfall is "nobody found yet". It only becomes a gap when a named person has checked the evidence and declares it. Who that person is gets decided this afternoon and tomorrow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option for this session before the workshop, or switch on the day. Click a card to open its slide.
Option A (Hands-on): Walk the wall. Walk the Northgate deal along seven posters; add your own cases; vote the biggest pains. Best when: The room has energy and space to move.
Option B (Live voting): Record or reality?. Seven quick rounds on phones: the record says this; what was really true? Best when: You want everyone to take part, including quieter people.
Option C (Cases and conversation): Map your own case. Tables map one of their own recent cases on the seven stages, using Northgate as the example. Best when: People brought their pre-work cases and the room trusts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Hands-on · Walk the wall (75 min)
Walk the Northgate deal along seven posters; add your own cases; vote the biggest pains.
Best when: The room has energy and space to move.
You need: Seven stage posters; Northgate record and reality cards, one pair per stage; Sticky notes; Three sticky dots per person.
Set up: Put the stage posters up in order with the morning's case notes. Pin each stage's record card face up and its reality card face down.
Steps:
• 5 min · Meet the Northgate deal: the case card.
• 35 min · Walk the wall. At each stage, the facilitator reads the record card, a volunteer turns over the reality card. People add notes: this happens to us too. About five minutes a stage.
• 15 min · Three dots each on the biggest pains. Count them.
• 15 min · Back to the screen: four things that look alike, the real example, shortfall or gap.
• 5 min · Check question.
Say: "At each stage, ask yourself: what did the system say, and what was really true?"
Debrief: Where did the most dots land, and why there? Which stage surprised you?
Capture: Pain map: dots per stage, top three pains with one line each.
Room tool activities: Check.
Paper fallback: This option is paper.
Remote: Remote people get the stage slides and vote with three numbers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Live voting · Record or reality? (75 min)
Seven quick rounds on phones: the record says this; what was really true?
Best when: You want everyone to take part, including quieter people.
You need: Room tool; Main screen.
Set up: Load the game with the seven Northgate rounds.
Steps:
• 5 min · Meet the Northgate deal: the case card.
• 35 min · Seven rounds, about five minutes each: the record on screen; phones choose what was really true; the answer and the lesson. After rounds 2, 4 and 6, one person shares a real example.
• 10 min · Phones: put three dots on the stages that hurt most. The screen shows the heat map.
• 20 min · Four things that look alike, the real example, shortfall or gap.
• 5 min · Check question.
Say: "Points are for fun. The real prize is the stories you add between rounds."
Debrief: Which round fooled most of the room? Where did the dots pile up?
Capture: Round results and the pain heat map, saved in the room tool.
Room tool activities: Record or reality?, Where it hurts, Check.
Paper fallback: Print the seven round cards; people answer with A, B, C cards in the air.
Remote: Remote people play through the same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 Cases and conversation · Map your own case (75 min)
Tables map one of their own recent cases on the seven stages, using Northgate as the example.
Best when: People brought their pre-work cases and the room trusts each other.
You need: Seven-stage worksheet, A3, one per table; Northgate example sheet; Pens in two colours; Three sticky dots per person.
Set up: One A3 worksheet and the Northgate example on each table.
Steps:
• 10 min · Facilitator walks Northgate through the seven stages in two minutes, then stages 4, 5 and 6 in detail, as the worked example.
• 30 min · Each table picks one of its own cases and maps it: dates, where it waited, where the record was wrong.
• 15 min · Each table shares one surprise, two minutes each. Then three dots each on the stages that hurt most: the room's top three pains.
• 15 min · Four things that look alike, the real example, shortfall or gap.
• 5 min · Check question.
Say: "Pick a case where you know what really happened, not only what the system says."
Debrief: What pattern do the tables' cases share? Which stage has no owner today?
Capture: One mapped case per table, photographed; the shared patterns and the top three pains on the wall.
Room tool activities: Check.
Paper fallback: This option is paper.
Remote: Remote people form their own table on a call with a shared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the outputs into this slide during the debrief, or photograph the wall and type it up at the break. This is the record the build team and the decision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hands, or run the room tool check. Count roughly. Then show the answer.
If many get it wrong: Return to the shortfall-or-gap slide. Walk stage 6 of Northgate again: the person existed; nobody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A shortfall, until someone checks
If many got it wrong: Return to the shortfall-or-gap slide. Walk stage 6 of Northgate again: the person existed; nobody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Use the time to type up captured outputs. Check the pulse in the room tool if you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Agree the target outcome · 11:00–12:30 (90 min).
Objectives:
• Tell an outcome from an activity.
• Test a draft outcome sentence against four checks, and fix it.
• Choose where Contract-to-Capacity ends.
• Agree the done checks, including the evidence a gap must carry.
Key message: If a record cannot prove it, it is not an outcome yet.
Words introduced here: Outcome, Hold, Done checks.
If short of time: Take the end point as the sponsor's call in five minutes; spend the time on done checks.
If ahead: Test the agreed sentence against the sponsor's case from 09:00.
If the room is lost: If the four tests feel abstract, run one deal through them out loud: Northgate, start, end, record, standard.
Skip? Cannot be skipped: the build starts from this at lunch.
Comes back in: The done checks are tested live at 15:15 tomorrow.
Risk: The room spends the whole slot on one word. Response: Park the word with an owner; take the sponsor's version for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words: outcome and held. An outcome is a result, true or false for one deal, that a record can prove. Held means a person is reserved for this deal for a limited time; the hold ends on its own unless someone renews it. Activities matter, but they are how we get there, not where we are going. Ask the room for one more activity and one more outcome from their own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Northgate through the four tests out loud. One deal: yes, Northgate. Start and every end: when it is real enough to start; it ends with every role held or a declared, owned gap. A record proves it: the plan and the gap record. A standard: before the deal is 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quiz: hands up, or phones if you run the room tool ("Outcome or not?"). Then show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statement 3 passes all four tests. Point out why the others fail: no single deal, no record, no standard, or an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phrase cards (option A) and the edit form (option B) use these same five blocks. Encourage changes to the coloured words; the shape (who, from, ends, standard, record) is what makes it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result, broken into the smaller results that must all be true. Ask: if all four are true, is the big sentence true? If not, what is missing?
For the facilitator only: each box is one engine in the design (Scope-to-Plan, Capacity-and-Holds, Gap-Ownership, Commitment-Control). Participants do not need the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own material is not consistent on where this ends, so the room chooses. A ends at a confirmed gap (the research's view, the smallest change). B adds plan approval before the deal is sold. C adds control of the signature (what the engineering team is building, the biggest change). Every option needs the fixes for the three blockers. The sponsor confirms.
Say it plainly: B means a named person approves the plan, but nothing stops a signature. C means the deal cannot be signed until the plan is approved. The working version tomorrow is built to C, so the room sees every part; if the room picks A or B, the extra parts stay out of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words: done checks. The printed agenda calls them completion conditions; on slides we say done checks. Each is a check a record can answer for one deal. The draft has twelve; two (every search recorded, and every gap carrying evidence) were added because of the research.
The twelve, by group:
The plan: Every role traces to contracted work. Every role has grade, skills, effort, start date and location. Every skill is on the approved list, or has an open question with a deadline. Every unclear part of the scope is a question to a named person, with a deadline.
Who is free: Availability is confirmed, after existing work and holds. Every check of who is free is dated and expires. Every held role names a person whose release is answered. Clashing holds are spotted and sent to a person.
Gaps: Every search is recorded: who was considered, and why not. Every gap carries its evidence and was declared by a named person. Every gap on a signed deal has an owner and a path.
Signing: No deal is signed without an approved plan.
Codes for the facilitator: CC2, CC3, CC4, CC10 | CC5, CC6, CC7, CC8 | CC12, CC11, CC9 | CC1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fix for the third blocker. A shortfall becomes a gap only with these five things on record. Ask the room: is anything missing? Is anything too much to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option for this session before the workshop, or switch on the day. Click a card to open its slide.
Option A (Hands-on): Build the sentence. Tables build the outcome from phrase cards, then the room walks to where it should end. Best when: You want people to own the wording.
Option B (Live voting): Fix the draft. Start from the draft; phones propose edits, vote on the end point and mark each done check. Best when: Time is tight, or the room prefers to react to a draft.
Option C (Cases and conversation): Test it on your case. Hold the draft up against the morning's real cases and argue where it should end. Best when: The morning produced strong real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Hands-on · Build the sentence (90 min)
Tables build the outcome from phrase cards, then the room walks to where it should end.
Best when: You want people to own the wording.
You need: Phrase cards, one set per table; Four-tests card per table; Three corner signs: A, B, C; Done-check cards, one set per table.
Set up: Phrase cards and the four-tests card on each table. Corner signs A, B, C on three walls.
Steps:
• 10 min · Activity or outcome, and the four tests.
• 25 min · Tables build one sentence from phrase cards, test it with the four-tests card, and post it on the wall.
• 15 min · The room merges the sentences into one. The sponsor confirms it.
• 15 min · Walk to the end: stand in corner A, B or C. Two people per corner make the case. Stand again. The sponsor confirms.
• 20 min · Tables sort the done-check cards: keep, change or drop. Add what a gap must carry.
• 5 min · Check question.
Say: "If you cannot imagine the record that proves it, the sentence is not finished."
Debrief: Which words did every table use? Which corner had the best argument against it?
Capture: The outcome sentence, the end point chosen, the done checks with keep, change or drop.
Room tool activities: Check.
Paper fallback: This option is paper.
Remote: Remote people get the phrase list and send their sentence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Live voting · Fix the draft (90 min)
Start from the draft; phones propose edits, vote on the end point and mark each done check.
Best when: Time is tight, or the room prefers to react to a draft.
You need: Room tool; Main screen.
Set up: Load the quiz, the edit form, the end-point vote and the done-checks sort.
Steps:
• 10 min · The four tests. Phones: outcome or not? Four quick statements.
• 25 min · The draft on screen. Phones: propose a change of wording. The room votes; the facilitator edits live.
• 15 min · Phones: where should it end, A, B or C, and why in one line? The split on screen, three voices, the sponsor confirms.
• 30 min · Phones mark each done check keep, change or drop. Talk through the three most disputed. Confirm what a gap must carry.
• 10 min · Check question and read-back.
Say: "Change any word you would not sign. Say why in one line."
Debrief: Which edit changed the meaning most? Which done check split the room?
Capture: Final sentence, the end-point vote and reasons, done-check marks, all saved in the room tool.
Room tool activities: Outcome or not?, Fix the draft, Where does it end?, Done checks, Check.
Paper fallback: Print the draft on A3; people mark it with pens; vote with A, B, C cards.
Remote: Remote people vote through the same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 Cases and conversation · Test it on your case (90 min)
Hold the draft up against the morning's real cases and argue where it should end.
Best when: The morning produced strong real cases.
You need: The morning's mapped cases; Draft outcome on A3; Done-check cards; Pass and fail cards.
Set up: Put each table's morning case back on its table.
Steps:
• 10 min · The four tests, shown on Northgate.
• 25 min · Tables ask: would this sentence have caught what went wrong in our case? Propose edits.
• 15 min · Three advocates argue for A, B and C, two minutes each. The room votes. The sponsor confirms.
• 30 min · Run Northgate's record against each done check: which would have failed? Fix the wording of any check that would not have caught it.
• 10 min · Check question and read-back.
Say: "A good outcome would have rung an alarm in your case. Would this one?"
Debrief: Which real case broke the draft? Which done check would have saved Northgate?
Capture: Edits tied to real cases, the end point, and the done checks with Northgate pass or fail.
Room tool activities: Check.
Paper fallback: This option is paper.
Remote: A remote table works from the shared worksheet.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the outputs into this slide during the debrief, or photograph the wall and type it up at the break. This is the record the build team and the decision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hands, or run the room tool check. Count roughly. Then show the answer.
If many get it wrong: Return to the activity-or-outcome slide. Ask: which record would prove it, for one deal?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For each deal over £1m, from the day it is real to signature, every role is held or a declared gap in the plan.
If many got it wrong: Return to the activity-or-outcome slide. Ask: which record would prove it, for one deal?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run option A, an engineer reads back the outcome and done checks now, in two minutes. The room corrects anything that is not what it meant.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option for this session before the workshop, or switch on the day. Click a card to open its slide.
Option A (Hands-on): Two-minute handover. An engineer reads back what they will build, before lunch. Best when: You want the room to see its words become the build brief.
Option B (Live voting): Ask the builders. A question board by the build table; questions also go in on phones. Best when: People are curious about what is being built.
Option C (Cases and conversation): Lunch with the builders. A full lunch. Engineers sit at different tables; anyone can ask about the build or bring a case. Best when: The morning ran late and you need the full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Hands-on · Two-minute handover (45 min)
An engineer reads back what they will build, before lunch.
Best when: You want the room to see its words become the build brief.
You need: The agreed sentence and done checks on the wall; Pens.
Steps:
• 3 min · An engineer reads the outcome and done checks back from the wall, in their own words. People correct the wall sheet with a pen.
• 42 min · Lunch.
Say: "Tell us if anything we read back is not what you meant."
Capture: Corrections to the build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Live voting · Ask the builders (45 min)
A question board by the build table; questions also go in on phones.
Best when: People are curious about what is being built.
You need: Flipchart: Ask the builders; Room tool parking lot.
Set up: Put the flipchart by the engineering table.
Steps:
• 45 min · Lunch. Questions on the board or on phones; engineers answer the top three at 13:15.
Capture: Questions with answers or owners.
Room tool activities: Ask or park a question.
Paper fallback: Flipchart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 Cases and conversation · Lunch with the builders (45 min)
A full lunch. Engineers sit at different tables; anyone can ask about the build or bring a case.
Best when: The morning ran late and you need the full break.
Set up: Ask each engineer to sit at a different table.
Steps:
• 45 min · Lunch. Engineers sit at different tables; anyone can ask them about the build or describe a case they want tested.
Capture: Cases people want tested tomorrow, noted by the engineers.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how it should work: decisions and evidence · 13:15–14:45 (90 min).
Objectives:
• Name the six moments in a deal where a person must decide.
• For each, agree the owner, why a person, the evidence, the response time, and who it goes to if nobody answers.
• Say where each piece of evidence comes from.
Key message: The system drafts, the rules check, and a named person decides where it matters.
Words introduced here: Decision owner, Evidence.
If short of time: Do decisions 3, 4 and 5 in full; take the draft owner for 1, 2 and 6, marked to confirm.
If ahead: Add the two other decisions in the draft: which clashing hold stays, and approving the plan.
If the room is lost: If people confuse who decides with who does the work, ask: who would be blamed if this went wrong?
Skip? Cannot be skipped: decision owners sit in their seats tomorrow.
Comes back in: The owners play their seats at 09:15 tomorrow.
Risk: A decision owner is not in the room. Response: Write the owner as to confirm, with a named person to ask and a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behind every engine, in plain words: the AI proposes; rules decide what is allowed; a named person decides where judgement is needed; everything is recorded; the firm's own systems prove the result. Clients usually ask "what stops the AI doing something wrong?" The answer: it never decides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decisions the agenda names. The four parts are the same as the done-check groups: the plan, who is free, gaps, signing. Approving the plan (the grey diamond) belongs to the end point the room chose at 11:00: it is in if the room chose B or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decision a person keeps needs one of these four reasons. In staffing it is almost always "reasonable people disagree" (release, a real gap) or "trust not yet earned" (the system has not shown it gets this right). Trust can be earned later; that is how the system takes on more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decision gets one card. "A role, not a team": if someone writes a team, ask who in that team. Response times and backups are as important as the owner: they decide what happens when the owner is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card for decision 3 on Northgate. Workday said 1 November; the manager knew it was late November. The response time and the backup here are examples only; the room sets the real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piece of evidence on a card, name where it comes from. Some of it lives only in people's heads (the amber card): a manager knows real workload; a market knows who is a key person. The new way of working asks those people, and records their answer with a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option for this session before the workshop, or switch on the day. Click a card to open its slide.
Option A (Hands-on): Decision cards. Pairs fill one big decision card each, then a gallery walk settles them. Best when: You want detail on every decision and a room that moves.
Option B (Live voting): Who owns it?. Phones vote the owner of each decision; splits are argued out; tables fill the rest. Best when: You suspect the room disagrees on who decides.
Option C (Cases and conversation): Decision theatre. Replay Northgate: volunteers in decision seats must decide from an envelope of evidence. Best when: The room is lively and you want people to feel what missing evidence is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Hands-on · Decision cards (90 min)
Pairs fill one big decision card each, then a gallery walk settles them.
Best when: You want detail on every decision and a room that moves.
You need: Six A3 decision cards, pre-printed with the question; Green dots and pink notes.
Set up: Pin the six cards around the room, in deal order.
Steps:
• 15 min · Who does what, the six decisions on one deal, and the four reasons a person decides.
• 10 min · Walk through one filled card together: is the person really free?
• 25 min · Pairs take a card each and fill it: owner, backup, why a person, evidence and where it comes from, response time, who it goes to.
• 20 min · Gallery walk: a green dot means agree; a pink note means a question.
• 15 min · Settle the cards with the most pink. Mark any owner still to confirm.
• 5 min · Check question.
Say: "A role, not a team. If you write a team, ask: who in that team?"
Debrief: Which decision has no owner today? Which piece of evidence lives only in someone's head?
Capture: Six cards, photographed; the decision rights table typed up during the break.
Room tool activities: Check.
Paper fallback: This option is paper.
Remote: A remote pair fills a shared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Live voting · Who owns it? (90 min)
Phones vote the owner of each decision; splits are argued out; tables fill the rest.
Best when: You suspect the room disagrees on who decides.
You need: Room tool; Main screen.
Set up: Load the owner vote and the decision form.
Steps:
• 15 min · Who does what, the six decisions, and the four reasons a person decides.
• 25 min · For each decision, phones choose the owner. Where the room splits, three minutes of debate, then vote again.
• 30 min · Pairs take one decision each and fill the form on a phone: backup, why, evidence and source, response time, who it goes to.
• 15 min · The full table on screen. Mark any owner still to confirm.
• 5 min · Check question.
Say: "A split vote is not a problem. It is exactly what this session is for."
Debrief: Which decision split the room most, and why?
Capture: Owner votes and decision forms, saved in the room tool.
Room tool activities: Who owns it?, Decision card, Check.
Paper fallback: Six A3 cards with the role list; people vote with dots.
Remote: Remote people vote through the same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 Cases and conversation · Decision theatre (90 min)
Replay Northgate: volunteers in decision seats must decide from an envelope of evidence.
Best when: The room is lively and you want people to feel what missing evidence is like.
You need: Six envelopes with Northgate evidence, some facts deliberately missing; Six seat name cards; A one-minute timer.
Set up: Six chairs at the front with seat name cards. Put each evidence sheet in its envelope. Each sheet already leaves out at least one fact; the answer sheet says which.
Steps:
• 15 min · Who does what, the six decisions, and the four reasons a person decides.
• 45 min · Facilitator plays the system and hands each seat an envelope. They decide in sixty seconds, out loud, with only what is inside. The room calls out what was missing.
• 25 min · Turn the notes into the six decision cards: owner, why, evidence, source, response time, who it goes to.
• 5 min · Check question.
Say: "Decide with what is in the envelope. If something is missing, say what you would need."
Debrief: What was missing most often? Who should have had this decision instead?
Capture: The missing-evidence list, and the six decision cards.
Room tool activities: Check.
Paper fallback: This option is paper.
Remote: Remote people watch and call out missing evidence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the outputs into this slide during the debrief, or photograph the wall and type it up at the break. This is the record the build team and the decision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hands, or run the room tool check. Count roughly. Then show the answer.
If many get it wrong: Return to the four reasons. Release needs judgement the rules cannot settle, so a named person decides. Which person is settled tomorrow at 11:45, with the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A named person, looking at the evidence
If many got it wrong: Return to the four reasons. Release needs judgement the rules cannot settle, so a named person decides. Which person is settled tomorrow at 11:45, with the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Use the time to type up captured outputs. Check the pulse in the room tool if you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how it should work: rules and exceptions · 15:00–16:15 (75 min).
Objectives:
• Run five exception cases through the draft.
• Write each rule: when, then, who decides, by when, and if nobody answers.
• Know the system's three answers: go ahead, ask a person, stop.
Key message: A good rule says what happens next, who decides, and by when.
Words introduced here: Rule.
If short of time: Do exceptions 2, 4 and 5; take the draft rule for 1 and 3, marked to confirm.
If ahead: Ask each table for one more exception from their own cases.
If the room is lost: If rules come out vague, make the room fill the five boxes of the rule card out loud for one exception.
Skip? Cannot be skipped: tomorrow's tests use these rules.
Comes back in: Tests 3, 4 and 5 tomorrow morning use these rules.
Risk: A rule needs a decision from someone absent. Response: Write it as to confirm, with the person and the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word: rule. Every exception rule this afternoon fills these five boxes. The example is a hold that runs out; it is not one of the five exceptions, so the room writes all five rules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ahead: nothing is broken; the system acts. Ask a person: a named role decides within a set time. Stop: a rule is broken; the action is refused and the rule is shown. Tomorrow you will see all three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exceptions from the agenda, each tied to Northgate. The tiles are clickable if you want to take them in a different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 1: Scope too vague to staff.
Northgate: The contract says "knowledge transfer as agreed". How many people, for how long?
The draft's answer is option B. The draft rule (share only after the room has had its say): It becomes a question to the solution lead, with a deadline. The plan waits. No answer by the deadline: it goes to the engagement lead.
A credible other rule, for debate: Plan knowledge transfer at a standard size, such as one person for four weeks. Correct it when the scope is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 2: Two deals want the same person.
Northgate: Northgate and another deal both want the same project manager in December.
The draft's answer is option A. The draft rule (share only after the room has had its say): The clash is spotted when the second hold is placed. The resourcing lead decides which hold stays, with a reason. The other deal records a shortfall.
A credible other rule, for debate: The deal more likely to be signed keeps the person, by a fixed rule on win chance. Nobody needs to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 3: A skill missing from the approved list.
Northgate: Northgate needs "Azure Virtual WAN". It is not on the approved skills list.
The draft's answer is option C. The draft rule (share only after the room has had its say): It becomes a question to the owner of the skills list, with a deadline. Nobody slips in a near match without saying so.
A credible other rule, for debate: Use the nearest skill on the list and mark it as a near match. The list owner reviews near matches every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 4: A release is refused.
Northgate: The only other person with the firewall skill is the sole expert on their own account. Their manager says no.
The draft's answer is option C. The draft rule (share only after the room has had its say): The refusal and its reason are recorded as evidence. The search goes on, and the role stays a shortfall until a named person declares a gap.
A credible other rule, for debate: A refusal goes to the practice lead, who can overrule the manager within two days when the deal is worth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 5: Blocked by cost, not by people.
Northgate: A qualified person is free in another country, but their cost base makes the role unaffordable.
The draft's answer is option A. The draft rule (share only after the room has had its say): It is recorded as a cost block, never as a missing skill. A named person decides whether to pay the difference.
A credible other rule, for debate: Above a set cost difference, treat it as a gap and send it to hiring. Below it, use the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option for this session before the workshop, or switch on the day. Click a card to open its slide.
Option A (Hands-on): Exception stations. Five stations, one exception each; tables rotate and build each rule. Best when: Five tables or more, and space for stations.
Option B (Live voting): Exception roulette. The wheel picks an exception; phones choose a response and tables write the rule. Best when: You want pace and full participation.
Option C (Cases and conversation): Rule court. For each exception, two tables argue opposite rules; the room is the jury. Best when: The room enjoys debate.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Hands-on · Exception stations (75 min)
Five stations, one exception each; tables rotate and build each rule.
Best when: Five tables or more, and space for stations.
You need: Five station posters with the Northgate exception and the draft rule; Blank rule cards; Pens.
Set up: One poster per station, spread around the room.
Steps:
• 10 min · The rule card and the three answers: go ahead, ask a person, stop.
• 50 min · Tables rotate every ten minutes. At each station, improve the rule on the poster.
• 10 min · The last table at each station reads the final rule. Thumbs up, sideways or down.
• 5 min · Check question.
Say: "Leave the rule better than you found it. Cross out, don't rub out."
Debrief: Which rule changed most as tables passed through?
Capture: Five final rules, photographed and typed up.
Room tool activities: Check.
Paper fallback: This option is paper.
Remote: A remote table takes one exception on a shared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Live voting · Exception roulette (75 min)
The wheel picks an exception; phones choose a response and tables write the rule.
Best when: You want pace and full participation.
You need: Room tool; Main screen.
Set up: Load the wheel, the five response votes and the rule form.
Steps:
• 10 min · The rule card and the three answers.
• 45 min · Five spins, nine minutes each: the wheel picks an exception; phones choose a response; tables write the rule on a phone.
• 15 min · The room votes on the written rules; the facilitator merges the best into one per exception.
• 5 min · Check question.
Say: "You have nine minutes. A clear rule beats a perfect one."
Debrief: Where did the response vote and the written rules disagree?
Capture: Votes and rules, saved in the room tool.
Room tool activities: Exception roulette, What should happen?, Write the rule, Check.
Paper fallback: Draw exceptions from a hat; tables write rule cards.
Remote: Remote people vote and write through the same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 Cases and conversation · Rule court (75 min)
For each exception, two tables argue opposite rules; the room is the jury.
Best when: The room enjoys debate.
You need: Exception cards with two opposite rules on each; Jury cards: Rule 1 and Rule 2.
Set up: Give each pair of tables one exception and its two rules in advance.
Steps:
• 10 min · The rule card and the three answers.
• 55 min · Eleven minutes per exception: two minutes per side, three minutes of questions, a jury vote, then the winning rule written in full.
• 5 min · Read back the five rules.
• 5 min · Check question.
Say: "Argue your rule as if your deal depended on it."
Debrief: Which losing argument should we still remember?
Capture: Five winning rules and the losing argument worth keeping.
Room tool activities: Check.
Paper fallback: This option is paper.
Remote: Remote people vote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the outputs into this slide during the debrief, or photograph the wall and type it up at the break. This is the record the build team and the decision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hands, or run the room tool check. Count roughly. Then show the answer.
If many get it wrong: Return to the rule card. Only B has all five parts: when, then, who decides, by when, and if nobody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When a skill is not on the list, the list owner decides within two days. No answer: the practice lead.
If many got it wrong: Return to the rule card. Only B has all five parts: when, then, who decides, by when, and if nobody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checkpoint · 16:15–16:45 (30 min).
Objectives:
• See the first working steps.
• Choose tomorrow's test cases.
• Give every decision seat a person and a backup for tomorrow.
• Give every open question an owner and a date.
Key message: Tomorrow we test what you agreed today.
If short of time: Demo five minutes; seats can be finished at 09:00.
If ahead: Let the room try one screen of the build.
Skip? Do not skip seat sign-up: tomorrow depends on it.
Comes back in: 09:00 tomorrow: built overnight.
Risk: Nothing works yet. Response: Show the plan on paper and the screens that will exist tomorrow. Say so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engineers show the first working steps live. For each line, the room says which circle it is: built, a simple copy for now, or not yet. Tick the circles live if you like. Say plainly what is a stand-in: a simple copy of a real system, with test data, labelled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names live (type into the slide) or use the sign-up sheet. People should sit in the seat they would hold in real life. The two grey seats come from the draft: clashing holds, and plan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option for this session before the workshop, or switch on the day. Click a card to open its slide.
Option A (Hands-on): Show, choose, sign up. A short demo, a dot vote on cases, and a seat sign-up sheet. Best when: You want everything visible on the wall at the end of the day.
Option B (Live voting): Choose on phones. A short demo, then cases and seats chosen on phones. Best when: The room tool is already in use.
Option C (Cases and conversation): Imagine it failed. Imagine tomorrow's live run failed; list why, so the build team can prevent it. Best when: You sense hidden worries about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Hands-on · Show, choose, sign up (30 min)
A short demo, a dot vote on cases, and a seat sign-up sheet.
Best when: You want everything visible on the wall at the end of the day.
You need: Candidate case cards on the wall; Dots; Seat sign-up sheet; Parking wall.
Set up: Case cards and the sign-up sheet on the wall.
Steps:
• 10 min · Engineers show the first working steps.
• 8 min · Dot vote on the cases to run tomorrow.
• 7 min · Sign up for decision seats: a name and a backup for each.
• 5 min · Each open question gets an owner and a date.
Say: "Sign up for the seat you would hold in real life."
Capture: Chosen cases, the seat list, open questions with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Live voting · Choose on phones (30 min)
A short demo, then cases and seats chosen on phones.
Best when: The room tool is already in use.
You need: Room tool.
Set up: Load the case vote and the seat sign-up.
Steps:
• 10 min · Engineers show the first working steps.
• 8 min · Phones vote the cases.
• 7 min · Phones claim seats; the screen shows gaps.
• 5 min · Open questions get owners in the room tool.
Capture: Saved in the room tool.
Room tool activities: Tomorrow's cases, Decision seats, Ask or park a question.
Paper fallback: Dots and a sheet.
Remote: Through the same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 Cases and conversation · Imagine it failed (30 min)
Imagine tomorrow's live run failed; list why, so the build team can prevent it.
Best when: You sense hidden worries about tomorrow.
You need: Notes; Seat sign-up sheet.
Steps:
• 10 min · Engineers show the first working steps.
• 8 min · It is 16:15 tomorrow and the live run failed. Why? One reason per note; the top five go to the build team.
• 7 min · Sign up for decision seats.
• 5 min · Open questions get owners.
Say: "Imagine it went badly. What went wrong?"
Capture: Top five risks for the build team, seats, owners.
Room tool activities: Imagine it failed.
Paper fallback: Notes on the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the outputs into this slide during the debrief, or photograph the wall and type it up at the break. This is the record the build team and the decision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of Day 1 · 16:45–17:00 (15 min).
Objectives:
• Recall what we agreed today.
• Check our own understanding.
• Know what happens overnight.
Key message: Today we agreed what good looks like. Tonight it gets built.
If short of time: Recap only.
If the room is lost: Note who put their dot low; check in with them at 09:00.
Comes back in: 09:00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the day's agreements into the four boxes during the last break, then read them back. Short phrases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ladder is the workshop's self-check. Ask people to place a dot (paper) or answer on their phones. Note anyone below the red step and check in with them at 09:00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Day 1. Thank the room. Remind decision owners of their seat for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option for this session before the workshop, or switch on the day. Click a card to open its slide.
Option A (Hands-on): Dots on the ladder. Recap, then each person puts a dot on the step they feel they reached. Best when: You want a quiet, honest read of the room.
Option B (Live voting): One word and a step. Phones: which step did you reach, and one word for today. Best when: The room tool is in use.
Option C (Cases and conversation): Tomorrow's headline. Each person writes the headline they want to read at 16:40 tomorrow. Best when: You want the room to leave with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Hands-on · Dots on the ladder (15 min)
Recap, then each person puts a dot on the step they feel they reached.
Best when: You want a quiet, honest read of the room.
You need: Ladder poster; One dot each.
Set up: Ladder poster by the door.
Steps:
• 5 min · Recap: outcome, end point, decisions, rules.
• 5 min · A dot on the step you reached today.
• 5 min · What happens overnight; one word each on the way out.
Say: "Be honest: the ladder tells us what to repeat tomorrow."
Capture: Ladder dots, photographed.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Live voting · One word and a step (15 min)
Phones: which step did you reach, and one word for today.
Best when: The room tool is in use.
You need: Room tool.
Steps:
• 5 min · Recap.
• 5 min · Phones: step reached, one word.
• 5 min · Results on screen; what happens overnight.
Capture: Saved in the room tool.
Room tool activities: Where are you?, One word.
Paper fallback: Dots on the ladder poster.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 Cases and conversation · Tomorrow's headline (15 min)
Each person writes the headline they want to read at 16:40 tomorrow.
Best when: You want the room to leave with intent.
You need: Cards.
Steps:
• 5 min · Recap.
• 7 min · Write tomorrow's headline; three read out.
• 3 min · What happens overnight.
Say: "Write the headline you would like to read tomorrow at 16:40."
Capture: Headlines on the wall; read again at the close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opens. Leave this up at 08:55.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while people arrive. The room tool's stage view shows the live join code on the main screen; this slide explains the three steps. Remind people the PIN lets them rejoin from another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arrival. If the build team has a screenshot of the overnight build, paste it over the three tiles before 08:30; the slide reads well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option for this session before the workshop, or switch on the day. Click a card to open its slide.
Option A (Hands-on): Overnight wall. The build team posts what changed overnight; people mark anything unclear. Best when: The build team has changes to show before 09:00.
Option B (Live voting): Rejoin and remember. Rejoin on phones and add one thing you remember from yesterday to the room's word cloud. Best when: The room tool is in use.
Option C (Cases and conversation): Seat check. Decision owners find their seat card, read their decision and meet their backup. Best when: Several people are new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Hands-on · Overnight wall (30 min)
The build team posts what changed overnight; people mark anything unclear.
Best when: The build team has changes to show before 09:00.
You need: Overnight changes on A3; Question-mark stickers.
Set up: The build team posts the changes by 08:30.
Steps:
• 25 min · Coffee; read the overnight wall; put a question mark on anything unclear.
• 5 min · Facilitator collects the question marks for 09:00.
Capture: Questions for 09:00.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Live voting · Rejoin and remember (30 min)
Rejoin on phones and add one thing you remember from yesterday to the room's word cloud.
Best when: The room tool is in use.
You need: Room tool.
Set up: Open the word cloud: one thing you remember from yesterday.
Steps:
• 25 min · Coffee; rejoin with the same name and PIN; one thing you remember from yesterday.
• 5 min · Facilitator reads the cloud and notes what is missing for 09:00.
Capture: The cloud shows what the room remembers, and what to repeat at 09:00.
Room tool activities: One thing from yesterday.
Paper fallback: One note each on the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 Cases and conversation · Seat check (30 min)
Decision owners find their seat card, read their decision and meet their backup.
Best when: Several people are new today.
You need: Seat cards with the decision on the back.
Set up: Seat cards on the tables by 08:30.
Steps:
• 25 min · Find your seat card; read your decision; meet your backup.
• 5 min · Facilitator fills any empty seat.
Capture: Seats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and build status · 09:00–09:15 (15 min).
Objectives:
• Know what was built overnight and what changed.
• Know today's cases and your seat.
Key message: What you agreed yesterday is now running. Today we try to break it.
If short of time: Engineers five minutes only.
Skip? Cannot be skipped.
Risk: The build is not ready. Response: Show what works, say plainly what does not, and run the tests on what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on today. Name the six blocks. Welcome anyone new and point them to the pocket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engineering team shows the working version live and covers the four points on the right: what changed from what the room agreed, why, what to test hardest today, and what is a stand-in. If they have a screenshot, paste it over the screen drawing.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option for this session before the workshop, or switch on the day. Click a card to open its slide.
Option A (Hands-on): Spot the difference. Yesterday's agreements next to what was built; each table spots one difference. Best when: The build changed something from Day 1.
Option B (Live voting): Three-question quiz. Three questions on phones about yesterday, then the build summary. Best when: You want a quick check on yesterday.
Option C (Cases and conversation): Your questions first. The engineers answer the overnight question marks, then show the build. Best when: The arrival wall raised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Hands-on · Spot the difference (15 min)
Yesterday's agreements next to what was built; each table spots one difference.
Best when: The build changed something from Day 1.
You need: Yesterday's tables printed; The build summary.
Steps:
• 3 min · Today on one page.
• 7 min · Engineers: what was built overnight.
• 5 min · Each table spots one difference and asks about it.
Capture: Differences, each with a yes or a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Live voting · Three-question quiz (15 min)
Three questions on phones about yesterday, then the build summary.
Best when: You want a quick check on yesterday.
You need: Room tool.
Steps:
• 3 min · Today on one page.
• 5 min · Phones: three questions on yesterday.
• 7 min · Engineers: what was built overnight.
Capture: Saved in the room tool.
Room tool activities: Yesterday in three questions.
Paper fallback: Quiz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 Cases and conversation · Your questions first (15 min)
The engineers answer the overnight question marks, then show the build.
Best when: The arrival wall raised questions.
You need: The question marks from the wall.
Steps:
• 3 min · Today on one page.
• 5 min · Engineers answer the top questions.
• 7 min · Engineers: what was built overnight.
Capture: Answers, or owners for open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the Proof of Concept · 09:15–10:30 (75 min).
Objectives:
• Run five kinds of test case through the working version.
• Act in your own decision seat.
• Log every wrong result, missing fact and wrong person.
Key message: Finding problems is the job today. A test that finds nothing is not good enough.
If short of time: Run tests 1, 4 and 5.
If ahead: Let the room invent a sixth test from their own cases.
If the room is lost: If observers do not know what to look for, pause and read the five finding types again.
Skip? Cannot be skipped: it is the evidence for the decision.
Comes back in: The fixes are checked live at 15:15.
Risk: The working version stops. Response: Switch to the paper walk-through of the same test; log findings as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1 shows the system working. Tests 2 to 5 try to break it. Test 5 should end in a refusal, with the rule shown on screen. If test 5 is allowed, that is a top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Wrong result and wrong person matter most. Missing evidence tells us what a decision owner needs to see. "Unclear" is about screens and words. Say "worked as agreed" out loud too: the room needs to hear what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Seat holders: decide as you would in real life, but only from what the screen shows. Everyone else: you are the test team. Every missing fact is a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option for this session before the workshop, or switch on the day. Click a card to open its slide.
Option A (Hands-on): Seats and slips. Decision owners answer in the working version; everyone else writes finding slips for the fix wall. Best when: You want decision owners to feel what the real job is like.
Option B (Live voting): Problem hunt. Decision owners answer from their seats; everyone else logs findings on phones; the top ones become the fix list. Best when: You want maximum attention for a full hour.
Option C (Cases and conversation): Test stations. Five stations, one kind of test each; tables rotate with a scripted case card. Best when: Enough laptops for five stations, and a decision owner at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Hands-on · Seats and slips (75 min)
Decision owners answer in the working version; everyone else writes finding slips for the fix wall.
Best when: You want decision owners to feel what the real job is like.
You need: Finding slips in five colours; Fix wall with three columns: today, later, not a problem.
Set up: Seat cards out; the working version open on the main screen and on decision owners' devices.
Steps:
• 10 min · How to test, the five finding types, and your seat.
• 55 min · Run the five tests in order, about eleven minutes each. Decision owners answer in the working version. Everyone else writes slips and posts them.
• 10 min · Sort the fix wall: fix today, later, or not a problem.
Say: "You are not testing yourself. You are testing the system. Be picky."
Debrief: Which finding worries you most for a live pilot?
Capture: The fix wall, typed up and handed to the build team at 10:30.
Room tool activities: Check.
Paper fallback: This option is paper.
Remote: Remote decision owners answer in the working version; observers post findings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Live voting · Problem hunt (75 min)
Decision owners answer from their seats; everyone else logs findings on phones; the top ones become the fix list.
Best when: You want maximum attention for a full hour.
You need: Room tool; A small prize.
Set up: Open the findings log; switch the leaderboard on.
Steps:
• 10 min · How to test, the finding types, the points.
• 55 min · Five tests. Decision owners answer in the working version from their seats. Everyone else logs findings on their phone: type, which test, what happened. The facilitator accepts or merges each one.
• 10 min · The top findings on screen become the fix list.
Say: "Points for each accepted finding: three for a wrong result or a wrong person, two for missing evidence, one for anything else."
Debrief: Which finding scored highest, and is it a fix for today?
Capture: Findings and points, saved and exported for the build team.
Room tool activities: Problem hunt, Check.
Paper fallback: Finding slips; the facilitator keeps score.
Remote: Through the same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 Cases and conversation · Test stations (75 min)
Five stations, one kind of test each; tables rotate with a scripted case card.
Best when: Enough laptops for five stations, and a decision owner at each.
You need: Five laptops on the working version; Five scripted case cards; Station log sheets.
Set up: One laptop, one case card and one log sheet per station.
Steps:
• 10 min · How to test, and the finding types.
• 50 min · Tables rotate every ten minutes. At each station, run the scripted case and log what happens.
• 15 min · Each station host reports the top finding. The fix list is agreed.
Say: "Follow the script first. Then try one thing the script does not say."
Debrief: Which station broke the system most often?
Capture: Five station logs and the fix list.
Room tool activities: Check.
Paper fallback: This option is paper.
Remote: A remote station can run on a shared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the outputs into this slide during the debrief, or photograph the wall and type it up at the break. This is the record the build team and the decision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hands, or run the room tool check. Count roughly. Then show the answer.
If many get it wrong: Return to the five kinds of finding: a decision that reaches the wrong role is a wrong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Wrong person
If many got it wrong: Return to the five kinds of finding: a decision that reaches the wrong role is a wrong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 fix list to the build team. Use the time to type up captured outputs. Check the pulse in the room tool if you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Resolve key boundaries · 10:45–11:45 (60 min).
Objectives:
• Settle the four boundaries that testing exposed.
• Give each one an owner today, or an owner and a date.
Key message: Every boundary gets an owner today, or an owner and a date.
If short of time: Settle boundaries 1 and 2 in full; give 3 and 4 an owner and a date.
If ahead: Add any boundary the fix list raised.
If the room is lost: If a boundary is abstract, play it on Northgate: who would have confirmed the firewall gap?
Skip? Cannot be skipped: they are decision criteria.
Comes back in: Release approval is settled in the next session with the markets.
Risk: The sponsor is called away. Response: The facilitator records the room's preference; the sponsor confirms at 16:15.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boundaries. Each tile is clickable. Each ends with a decision today, or an owner and a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hand-offs. Contract-to-Capacity asks whether a busy person can be released, asks whether moving other people could free someone, and passes only declared gaps, with their evidence, to hiring or growing the skill.
For the facilitator: in the engine map these are Release-to-Commit, Top-of-License Planning (rotation moves) and Hire-or-Grow. The full map is in the appendix and in the explorer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Boundary 1: Who confirms that a shortfall is a real gap?
Northgate: The search for a firewall specialist found nobody, and a hire was requested. Who should have checked first?
A: The resourcing lead. Closest to the search.
B: The practice lead. Owns the skill, and accepts the gap.
C: A short gap review. Two of them, weekly. Slower, harder to argue with.
The draft proposes option A. Say so only after the room has taken a side. The sponsor rules, or names an owner and a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Boundary 2: When records disagree about who is free, which one wins?
Northgate: Workday said the engineer was free from 1 November. Their manager knew it was late November.
A: The manager's confirmation. Dated, and it ends after a set time.
B: Workday, unless the manager overrides. With a reason recorded.
C: The newer of the two. Simple, but can reward old updates.
The draft proposes option A. Say so only after the room has taken a side. The sponsor rules, or names an owner and a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Boundary 3: Where does Contract-to-Capacity hand over?
Northgate: One person with the firewall skill worked on another account. Nobody asked whether they could be released.
A: Release questions go out first. Asked before any gap is declared.
B: Declared gaps go to hiring or growing the skill. Only declared gaps, with their evidence and cause.
C: Both of these. Two hand-offs.
The draft proposes option C. Say so only after the room has taken a side. The sponsor rules, or names an owner and a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Boundary 4: What may be held before signature, and who approves?
Northgate: Could we have held the cloud network engineer in September, before the deal was signed?
A: Holds from contract drafting, engagement lead approves. For a limited time, released if the deal slips.
B: No holds before signature. Safe for the business, slow for the client.
C: Holds plus early work at risk, with a limit. Finance sets the limit.
The draft proposes option A. Say so only after the room has taken a side. The sponsor rules, or names an owner and a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option for this session before the workshop, or switch on the day. Click a card to open its slide.
Option A (Hands-on): Take a side. For each boundary, stand by the option you back; one voice per option; the sponsor rules. Best when: The room has energy and each boundary has clear options.
Option B (Live voting): Options vote. Phones vote on each boundary's options; two voices; vote again; the sponsor confirms. Best when: You want a clear record of the split.
Option C (Cases and conversation): Fishbowl. Four chairs in the middle; anyone can take a chair to argue; the sponsor rules. Best when: The room has strong, informed 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Hands-on · Take a side (60 min)
For each boundary, stand by the option you back; one voice per option; the sponsor rules.
Best when: The room has energy and each boundary has clear options.
You need: Three option signs per boundary.
Set up: Option signs ready to pin up, one boundary at a time.
Steps:
• 5 min · The four boundaries, and the hand-offs.
• 45 min · Eleven minutes per boundary: stand by an option; one voice per option; stand again; the sponsor rules or names an owner and a date.
• 10 min · Read back the four decisions.
Say: "Stand where you would put your own name on the decision."
Debrief: Which boundary is still open, and who owns it?
Capture: Four boundary decisions, or owners and dates.
Room tool activities: Check.
Paper fallback: This option is paper.
Remote: Remote people vote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Live voting · Options vote (60 min)
Phones vote on each boundary's options; two voices; vote again; the sponsor confirms.
Best when: You want a clear record of the split.
You need: Room tool.
Set up: Load the four boundary votes.
Steps:
• 5 min · The four boundaries, and the hand-offs.
• 40 min · Ten minutes per boundary: vote, see the split, two voices, vote again, the sponsor confirms.
• 15 min · Read back, and list what stays open with owners and dates.
Capture: Votes and decisions, saved in the room tool.
Room tool activities: Boundary 1, Boundary 2, Boundary 3, Boundary 4, Check.
Paper fallback: Cards A, B, C held up.
Remote: Through the same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 Cases and conversation · Fishbowl (60 min)
Four chairs in the middle; anyone can take a chair to argue; the sponsor rules.
Best when: The room has strong, informed views.
You need: Four chairs in the middle.
Set up: Chairs in a small circle, the room around it.
Steps:
• 5 min · The four boundaries.
• 45 min · One boundary at a time, about eleven minutes each. To speak, tap a chair. The sponsor rules at the end of each.
• 10 min · Read back the four decisions.
Say: "Only the four chairs speak. Tap a shoulder to swap in."
Capture: Four decisions, or owners and dates.
Room tool activities: Check.
Paper fallback: This option is paper.
Remote: Remote people speak through the facilitator.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the outputs into this slide during the debrief, or photograph the wall and type it up at the break. This is the record the build team and the decision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hands, or run the room tool check. Count roughly. Then show the answer.
If many get it wrong: Return to the room agreement: decide, or name an owner and a date. Nothing is left without an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It gets a named owner and a date
If many got it wrong: Return to the room agreement: decide, or name an owner and a date. Nothing is left without an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 rotation rules, with the markets · 11:45–13:00 (75 min).
Objectives:
• Say what working at the top of your license means.
• Follow a chain of moves, and what each move needs.
• Set the five rules for a move, or give each open rule an owner and a date.
• Agree what the pilot records from day one.
Key message: A new job nobody free can fill can start a chain of step-ups, if the rules allow it.
Words introduced here: Top of license, Chain of moves, Pilot.
If short of time: Agree time in role and release approval in full; give the other three an owner and a date.
If ahead: Discuss whether every delivery role needs a succession plan.
If the room is lost: If the chain is hard to follow, act it out again with fewer people: one new job, one step-up, one junior hire.
Skip? Cannot be skipped: it is a decision criterion.
Comes back in: Turning these rules into the rotation design is a to-do item at 13:45.
Risk: No market representative attends. Response: Record the room's draft; each rule gets a named market owner and a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words: top of license. The phrase comes from healthcare: a nurse should do the work a nurse is qualified for. Here the amber person is qualified for level 6 but doing level 4 work. Moving them up frees their job for someone below.
Bridge from Northgate: the firewall specialist role became a hire request. Moving people up is the other route this session explores. The sketch uses its own invented clients, F and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words: chain of moves. From the rotation sketch (invented data). Client F needs a cloud principal at level 6. P01 is qualified but stuck on a level-4 job. P01 moves up; P03 steps into P01's job; P04 steps into P03's; a junior hire fills the last job. Every move is a step up, nobody works above the level they are qualified for, and every client keeps full cover. Option B plays this live in the sketch.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from the rotation sketch with the draft rules (invented people). Planning all the moves together fills one more job than filling them one at a time. The fourth job, a security lead, stays stuck: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amber boxes are the client's input so far, to confirm or change. Markets speak first on each rule. Any rule not agreed today gets an owner and a date.
Time in role: About 12 junior, 18 middle, 24 senior. To confirm.
Who approves a release: Open.
Protecting key people: Markets flag them; the backfill has the same skill.
Costs between countries: The cost moves to the receiving country. Approval open.
The person agrees: Opt in.
Also raise: should every delivery role have a succession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people could do the security lead job. Each is held back by a different rule: not yet eligible (time in role), not opted in (the person's agreement), another country and cost base, and a client lock. This is the rule debate in one picture. In option B, phones vote; in option C, tables bend one rule at a time in the sketch.
P07: Not yet eligible. 14 months on the account; senior band needs 24.
P08: Has not opted in. Has not agreed to move.
P31: Another country. In London on the UK cost base; the work is in Riyadh.
P32: Client lock. Their client has asked to keep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Contract-to-Capacity can start recording these from its first day, so rotation is designed on real data later. Ask: is anything missing? Is any of it sensitive, and who must agree to it being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option for this session before the workshop, or switch on the day. Click a card to open its slide.
Option A (Hands-on): The human chain. Volunteers act out a chain on a floor ladder; then everyone sets the rules on dial posters. Best when: The markets are in the room and the room needs energy before lunch.
Option B (Live voting): Rule dials. Everyone sets the five rules on their phone; the screen shows the spread; the room converges. Best when: Several markets join remotely.
Option C (Cases and conversation): What if?. Tables use the rotation sketch on laptops to try changing one rule, and report the trade-off. Best when: The room likes to try things, and laptops are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Hands-on · The human chain (75 min)
Volunteers act out a chain on a floor ladder; then everyone sets the rules on dial posters.
Best when: The markets are in the room and the room needs energy before lunch.
You need: Six level cards, L1 to L6, taped up a wall or along the floor; Five name cards for the chain; Five rule dial posters; Dot stickers.
Set up: Tape the ladder before the session. Put the five dial posters on one wall.
Steps:
• 10 min · Top of license, and a chain of moves.
• 15 min · Volunteers act out the chain: the new job at level 6, three people step up, a junior hire fills the last job. The room checks each move against the five rules.
• 35 min · Dial posters: everyone puts a dot on each rule. The markets speak first. Agree a value, or name an owner and a date.
• 10 min · What the pilot records: tick the list, add anything missing.
• 5 min · Check question.
Say: "Every move has to be a step up, keep every client covered, and the person has to say yes."
Debrief: Which rule did the markets see differently?
Capture: The five rules with values or owners; the pilot records list.
Room tool activities: Check.
Paper fallback: This option is paper.
Remote: Remote market people set their dial values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Live voting · Rule dials (75 min)
Everyone sets the five rules on their phone; the screen shows the spread; the room converges.
Best when: Several markets join remotely.
You need: Room tool; The rotation sketch on a second screen.
Set up: Load the five rule questions and the stuck-job vote.
Steps:
• 10 min · Top of license, and a chain of moves.
• 10 min · The chain plays on screen in the rotation sketch.
• 35 min · Phones set each rule: months by grade, who approves a release, key people, costs, the person's agreement. The spread on screen; markets explain; converge.
• 10 min · The stuck security lead: which rule, if any, would you bend? Phones vote; the screen shows the effect.
• 10 min · What the pilot records, then the check question.
Say: "Markets: you speak first on each rule. You know where it bites."
Debrief: Where was the spread widest, and why?
Capture: Rule values and votes, saved in the room tool.
Room tool activities: Time in role, Who approves a release?, Key people, Costs between countries, The person agrees, The stuck security lead, Check.
Paper fallback: Dial posters with dots.
Remote: Through the same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 Cases and conversation · What if? (75 min)
Tables use the rotation sketch on laptops to try changing one rule, and report the trade-off.
Best when: The room likes to try things, and laptops are available.
You need: One laptop per table with the rotation sketch open; Rule cards.
Set up: Open the sketch on each laptop before the session.
Steps:
• 10 min · Top of license, and a chain of moves.
• 15 min · Each table takes the stuck security lead and bends one rule in the sketch. What gets solved, and at what cost?
• 15 min · Each table reports one trade-off.
• 25 min · Agree the five rules; open ones get an owner and a date.
• 10 min · What the pilot records, then the check question.
Say: "Change one rule at a time, so you can see what it does."
Debrief: Which rule change bought the most, for the least risk?
Capture: Trade-offs per table, the five rules, the pilot records list.
Room tool activities: Check.
Paper fallback: Print the stuck-job card; tables argue each rule on paper.
Remote: Remote tables share their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the outputs into this slide during the debrief, or photograph the wall and type it up at the break. This is the record the build team and the decision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hands, or run the room tool check. Count roughly. Then show the answer.
If many get it wrong: Return to the stuck security lead: P07 is exactly this case. A rule holds unless a named person bends it, on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They stay, unless a named person makes an exception
If many got it wrong: Return to the stuck security lead: P07 is exactly this case. A rule holds unless a named person bends it, on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up over lunch. The engineering team moves findings between the columns as they fix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Shape what happens next · 13:45–15:00 (75 min).
Objectives:
• Choose a first slice small enough to start safely.
• Pick the measures with finance, and how we get a baseline.
• List what the slice depends on.
• Give every follow-up an owner and a date.
Key message: Start small, measure from day one, and name an owner for everything.
Words introduced here: First slice, Baseline.
If short of time: Slice and measures in full; the to-do list gets owners by email within two days.
If ahead: Draft the first two weeks of the slice.
If the room is lost: If the slice is too big, ask: could ten people run this by hand for a month?
Skip? Cannot be skipped.
Comes back in: The decision at 16:15 rests on this.
Risk: Finance is not present. Response: Pick measures provisionally; a finance owner confirms each baseline by a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 in the briefing: side by side first (the system answers next to people and changes nothing), then it prepares decisions for their owners, then, if approved, it acts alone within agreed limits on a small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words: first slice. Pick one value in each column. The smallest slice that still teaches us something is the right one. Use the test line if the room keeps adding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word: baseline, how the work performs today, measured. Pick three measures. For each, finance says how we get the baseline: by measuring the first weeks side by side, or from 20 to 30 past engagements.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dependency gets an owner today. Read access: the request to IT and Data is with them; test copies or reports are enough to start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cards into the columns live, or use the to-do wall. Every card has an owner and a date before the session ends. Put the dependencies in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option for this session before the workshop, or switch on the day. Click a card to open its slide.
Option A (Hands-on): Slice and stick. Tables build a slice from cards; dots pick the measures; a to-do wall gets owners. Best when: You want everyone on their feet after lunch.
Option B (Live voting): 100 points. Phones vote the slice, spread 100 points over the measures, and add to-do items. Best when: You want finance and delivery weighed equally.
Option C (Cases and conversation): January: imagine it failed. Imagine the pilot failed by January; turn each reason into a dependency or a to-do item. Best when: The room is optimistic and needs grounding.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Hands-on · Slice and stick (75 min)
Tables build a slice from cards; dots pick the measures; a to-do wall gets owners.
Best when: You want everyone on their feet after lunch.
You need: Slice cards; Measure cards; Dots; To-do wall with columns: now, next, later.
Set up: Slice and measure cards on each table.
Steps:
• 10 min · The ninety days after, and what a first slice is.
• 20 min · Each table builds one slice from the cards: which practice, country, deal size, decisions. The room picks one.
• 20 min · Dots on the measures; finance says how to get each baseline.
• 20 min · To-do wall: the dependencies first (data access, data owners, people in seats, a baseline), then everything else, each with an owner and a date.
• 5 min · Check question.
Say: "Smaller than you think. The first slice is for learning safely."
Debrief: What would make you stop the slice early?
Capture: The slice, three measures and how to get their baselines, dependencies, the to-do list with owners.
Room tool activities: Check.
Paper fallback: This option is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Live voting · 100 points (75 min)
Phones vote the slice, spread 100 points over the measures, and add to-do items.
Best when: You want finance and delivery weighed equally.
You need: Room tool.
Set up: Load the slice vote, the points and the to-do form.
Steps:
• 10 min · The ninety days after, and what a first slice is.
• 20 min · Phones vote on slice options; discuss the top two; the sponsor picks.
• 20 min · Phones spread 100 points over the six measures. Finance says how to get each baseline.
• 20 min · Phones add to-do items, dependencies first; vote; owners and dates assigned on screen.
• 5 min · Check question.
Capture: Votes, points and the to-do list, saved and exported.
Room tool activities: First slice, Measures that matter, To-do list, Check.
Paper fallback: Dots and cards.
Remote: Through the same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 Cases and conversation · January: imagine it failed (75 min)
Imagine the pilot failed by January; turn each reason into a dependency or a to-do item.
Best when: The room is optimistic and needs grounding.
You need: Notes; To-do wall.
Steps:
• 10 min · The ninety days after, and what a first slice is.
• 25 min · It is January and the pilot failed. Why? Tables write reasons; cluster them on the wall.
• 20 min · Choose the slice and the measures so the top reasons cannot happen.
• 15 min · Each reason becomes a dependency or a to-do item, with an owner and a date.
• 5 min · Check question.
Say: "Be specific: which person, which system, which week?"
Capture: Failure reasons, the slice and measures, the to-do list with owners.
Room tool activities: January: imagine it failed, Check.
Paper fallback: Notes on the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the outputs into this slide during the debrief, or photograph the wall and type it up at the break. This is the record the build team and the decision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hands, or run the room tool check. Count roughly. Then show the answer.
If many get it wrong: Return to the measures slide: without today's number, no improvement can be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Today the work is not measured, so no gain could be shown
If many got it wrong: Return to the measures slide: without today's number, no improvement can be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 build freeze. Use the time to type up captured outputs. Check the pulse in the room tool if you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live Proof of Concept · 15:15–16:15 (60 min).
Objectives:
• Watch one case run from start to finish.
• Judge it against the record, not the demo.
• Say plainly what is built, what is a stand-in, and what is not built yet.
Key message: Judge it on the record, not on the demo.
If short of time: Run Northgate only; skip the participant's case.
If ahead: Run a second participant case.
Skip? Cannot be skipped: it is a decision criterion.
Risk: The live run fails. Response: Say so, show the record of where it stopped, and score what was seen. A visible failure is still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lines map to the decision criteria. Line 5 is the key one: the done checks are read from the record, not from the demo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Honesty slide. Nobody should leave thinking a stand-in is the real system. The stand-ins use invented data in Kyndryl's field names and formats, checked by a data owner where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option for this session before the workshop, or switch on the day. Click a card to open its slide.
Option A (Hands-on): Judges' scorecards. Everyone scores the live run on a paper scorecard. Best when: You want a calm, careful review on paper.
Option B (Live voting): Live scorecard. Phones score each line as the run happens; the screen shows the room's view. Best when: The room tool is in use.
Option C (Cases and conversation): Predict, then watch. Before each step, the room predicts what the system will do; then watches. Best when: You want full attention on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Hands-on · Judges' scorecards (60 min)
Everyone scores the live run on a paper scorecard.
Best when: You want a calm, careful review on paper.
You need: Judge's scorecard, one each; Pens.
Set up: A scorecard on every seat.
Steps:
• 5 min · How to judge: the six lines of the scorecard.
• 35 min · The live run: Northgate from start to finish, including the release refused and the signing refused. Everyone ticks their scorecard.
• 15 min · One participant's own case, run live.
• 5 min · Count the scorecards; read the totals.
Say: "Tick only what you saw. Not what you were told."
Debrief: What did you not see that you need to see before a pilot?
Capture: Scorecard totals and the known gaps.
Room tool activities: Check.
Paper fallback: This option is paper.
Remote: Remote people score on a shared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Live voting · Live scorecard (60 min)
Phones score each line as the run happens; the screen shows the room's view.
Best when: The room tool is in use.
You need: Room tool on a second screen.
Set up: Load the scorecard.
Steps:
• 5 min · How to judge.
• 35 min · The live run. Phones score each line: seen, works; seen, with problems; not seen.
• 15 min · One participant's own case.
• 5 min · The combined scorecard on screen.
Capture: Saved in the room tool.
Room tool activities: Live scorecard, Check.
Paper fallback: Paper scorecards.
Remote: Through the same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 Cases and conversation · Predict, then watch (60 min)
Before each step, the room predicts what the system will do; then watches.
Best when: You want full attention on each step.
You need: Three cards per person: Go ahead, Ask a person, Stop.
Set up: Cards on every seat.
Steps:
• 5 min · The three answers again: go ahead, ask a person, stop.
• 35 min · Before each step of the live run, everyone holds up a card. Then watch. Surprises are noted.
• 15 min · One participant's own case: predict the end before it runs.
• 5 min · Read the surprises: each is a fix or a lesson.
Say: "Predict first. A surprise is either a bug or something we did not agree clearly."
Capture: The surprises list.
Room tool activities: Predict the next step, Check.
Paper fallback: This option is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the outputs into this slide during the debrief, or photograph the wall and type it up at the break. This is the record the build team and the decision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hands, or run the room tool check. Count roughly. Then show the answer.
If many get it wrong: Return to the scorecard: line five is the done checks against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In the record, against the done checks
If many got it wrong: Return to the scorecard: line five is the done checks against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make the decision · 16:15–16:40 (25 min).
Objectives:
• Review the evidence against the six criteria.
• Hear the sponsor's decision.
• Leave with owners and dates.
Key message: A clear Narrow or Stop is also a success.
If short of time: The sponsor decides on the criteria slide alone.
If ahead: Read yesterday's headlines.
Skip? Cannot be skipped.
Risk: The sponsor wants more time. Response: Record a decision date and the evidence still needed, each with an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 same deal, twice: what happened last year, and what the new way of working does. Ask: which of the right-hand lines did you actually see working in the record at 15:15? That is the evidence for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criterion. The room puts a dot (option A) or rates on phones (option B). Then the sponsor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now. The sponsor decides against the six criteria on the previous slide. Proceed: go ahead as planned. Narrow: go ahead with a smaller scope. Stop: not now, and we say why. Narrow and Stop are honest, useful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sponsor states the decision; the facilitator types it here. Every next step gets an owner and a date before people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two-day ladder. Three minutes: a dot (paper), hands up, or phones. Anyone below step 6 gets a follow-up conversation; note who.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option for this session before the workshop, or switch on the day. Click a card to open its slide.
Option A (Hands-on): Criteria wall. Red, amber and green dots on each criterion; the sponsor reads the wall and decides. Best when: You want the sponsor to decide in front of the room.
Option B (Live voting): Live criteria. Phones rate each criterion; the sponsor decides with the room's view on screen. Best when: The room tool is in use.
Option C (Cases and conversation): Sponsor's letter. The sponsor dictates the decision record live; the room adds owners and dates. Best when: The sponsor prefers to talk it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 Hands-on · Criteria wall (25 min)
Red, amber and green dots on each criterion; the sponsor reads the wall and decides.
Best when: You want the sponsor to decide in front of the room.
You need: Criteria poster; Red, amber and green dots; Ladder poster.
Set up: Criteria poster by the screen; the ladder poster by the door.
Steps:
• 8 min · Northgate before and after; then everyone puts a dot on each criterion.
• 10 min · The sponsor reads the wall, decides, and names owners and dates.
• 3 min · A dot on the ladder: the step you reached over the two days.
• 4 min · Thank you, and one word each.
Capture: The decision record, and the ladder dots.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Live voting · Live criteria (25 min)
Phones rate each criterion; the sponsor decides with the room's view on screen.
Best when: The room tool is in use.
You need: Room tool.
Steps:
• 8 min · Northgate before and after; then phones rate each criterion: met, partly, not met.
• 10 min · The sponsor decides, with owners and dates.
• 3 min · Phones: which step did you reach over the two days?
• 4 min · Thank you; one word each on phones.
Capture: Ratings, ladder answers and the decision, exported.
Room tool activities: Decision criteria, Where are you?, One word.
Paper fallback: Dots.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C · Cases and conversation · Sponsor's letter (25 min)
The sponsor dictates the decision record live; the room adds owners and dates.
Best when: The sponsor prefers to talk it through.
You need: Decision record on screen.
Steps:
• 5 min · Northgate before and after, and the six criteria, one by one.
• 13 min · The sponsor dictates the decision record; the room adds owners and dates.
• 3 min · Hands up on the ladder: the step you reached over the two days.
• 4 min · Thank you.
Capture: The decision record, typed live, and the ladder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Thank the room, the markets, finance and the engineering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Not presented unless someone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session offers the same three styles. A consistent style is easier for the room; mixing keeps energy up. A common mix: A for Ground in reality and Rotation, B for the outcome and the boundaries, C for decisions and the live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facilitator guide first. It has the run sheet builder: choose an option per session and it lists the slides to hide, the materials to print and the room activities to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word the workshop uses, in plain language, in the order it is introduced. The same list is in the pocket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word the workshop uses, in plain language, in the order it is introduced. The same list is in the pocket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word the workshop uses, in plain language, in the order it is introduced. The same list is in the pocket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map from the explorer file (01-Staffing-Engines-Explorer.html). Open the file in a browser to click into any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03-Rotation-Planning-Method.html. Use only if finance or planning asks how rotation planning would choose when to prepare a move. Not part of the main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slide" Target="slide4.xml"/><Relationship Id="rId7" Type="http://schemas.openxmlformats.org/officeDocument/2006/relationships/slide" Target="slide10.xml"/><Relationship Id="rId10" Type="http://schemas.openxmlformats.org/officeDocument/2006/relationships/slide" Target="slide22.xml"/><Relationship Id="rId13" Type="http://schemas.openxmlformats.org/officeDocument/2006/relationships/slide" Target="slide50.xml"/><Relationship Id="rId16" Type="http://schemas.openxmlformats.org/officeDocument/2006/relationships/slide" Target="slide51.xml"/><Relationship Id="rId19" Type="http://schemas.openxmlformats.org/officeDocument/2006/relationships/slide" Target="slide68.xml"/><Relationship Id="rId22" Type="http://schemas.openxmlformats.org/officeDocument/2006/relationships/slide" Target="slide73.xml"/><Relationship Id="rId25" Type="http://schemas.openxmlformats.org/officeDocument/2006/relationships/slide" Target="slide87.xml"/><Relationship Id="rId28" Type="http://schemas.openxmlformats.org/officeDocument/2006/relationships/slide" Target="slide88.xml"/><Relationship Id="rId31" Type="http://schemas.openxmlformats.org/officeDocument/2006/relationships/slide" Target="slide104.xml"/><Relationship Id="rId34" Type="http://schemas.openxmlformats.org/officeDocument/2006/relationships/slide" Target="slide112.xml"/><Relationship Id="rId37" Type="http://schemas.openxmlformats.org/officeDocument/2006/relationships/slide" Target="slide121.xml"/><Relationship Id="rId40" Type="http://schemas.openxmlformats.org/officeDocument/2006/relationships/slide" Target="slide127.xml"/><Relationship Id="rId43" Type="http://schemas.openxmlformats.org/officeDocument/2006/relationships/slide" Target="slide134.xml"/><Relationship Id="rId46" Type="http://schemas.openxmlformats.org/officeDocument/2006/relationships/slide" Target="slide145.xml"/><Relationship Id="rId49" Type="http://schemas.openxmlformats.org/officeDocument/2006/relationships/slide" Target="slide146.xml"/><Relationship Id="rId52" Type="http://schemas.openxmlformats.org/officeDocument/2006/relationships/slide" Target="slide160.xml"/><Relationship Id="rId55" Type="http://schemas.openxmlformats.org/officeDocument/2006/relationships/slide" Target="slide174.xml"/><Relationship Id="rId58" Type="http://schemas.openxmlformats.org/officeDocument/2006/relationships/slide" Target="slide175.xml"/><Relationship Id="rId61" Type="http://schemas.openxmlformats.org/officeDocument/2006/relationships/slide" Target="slide188.xml"/><Relationship Id="rId64" Type="http://schemas.openxmlformats.org/officeDocument/2006/relationships/slide" Target="slide189.xml"/><Relationship Id="rId67" Type="http://schemas.openxmlformats.org/officeDocument/2006/relationships/slide" Target="slide199.xml"/><Relationship Id="rId1" Type="http://schemas.openxmlformats.org/officeDocument/2006/relationships/image" Target="../media/image-1-2.png"/><Relationship Id="rId2" Type="http://schemas.openxmlformats.org/officeDocument/2006/relationships/image" Target="../media/image-2-2.png"/><Relationship Id="rId3" Type="http://schemas.openxmlformats.org/officeDocument/2006/relationships/image" Target="../media/image-107-6.png"/><Relationship Id="rId5" Type="http://schemas.openxmlformats.org/officeDocument/2006/relationships/image" Target="../media/image-2-4.png"/><Relationship Id="rId6" Type="http://schemas.openxmlformats.org/officeDocument/2006/relationships/image" Target="../media/image-107-6.png"/><Relationship Id="rId8" Type="http://schemas.openxmlformats.org/officeDocument/2006/relationships/image" Target="../media/image-2-6.png"/><Relationship Id="rId9" Type="http://schemas.openxmlformats.org/officeDocument/2006/relationships/image" Target="../media/image-107-6.png"/><Relationship Id="rId11" Type="http://schemas.openxmlformats.org/officeDocument/2006/relationships/image" Target="../media/image-2-8.png"/><Relationship Id="rId12" Type="http://schemas.openxmlformats.org/officeDocument/2006/relationships/image" Target="../media/image-107-6.png"/><Relationship Id="rId14" Type="http://schemas.openxmlformats.org/officeDocument/2006/relationships/image" Target="../media/image-13-5.png"/><Relationship Id="rId15" Type="http://schemas.openxmlformats.org/officeDocument/2006/relationships/image" Target="../media/image-107-6.png"/><Relationship Id="rId17" Type="http://schemas.openxmlformats.org/officeDocument/2006/relationships/image" Target="../media/image-2-12.png"/><Relationship Id="rId18" Type="http://schemas.openxmlformats.org/officeDocument/2006/relationships/image" Target="../media/image-107-6.png"/><Relationship Id="rId20" Type="http://schemas.openxmlformats.org/officeDocument/2006/relationships/image" Target="../media/image-13-6.png"/><Relationship Id="rId21" Type="http://schemas.openxmlformats.org/officeDocument/2006/relationships/image" Target="../media/image-107-6.png"/><Relationship Id="rId23" Type="http://schemas.openxmlformats.org/officeDocument/2006/relationships/image" Target="../media/image-2-8.png"/><Relationship Id="rId24" Type="http://schemas.openxmlformats.org/officeDocument/2006/relationships/image" Target="../media/image-107-6.png"/><Relationship Id="rId26" Type="http://schemas.openxmlformats.org/officeDocument/2006/relationships/image" Target="../media/image-2-18.png"/><Relationship Id="rId27" Type="http://schemas.openxmlformats.org/officeDocument/2006/relationships/image" Target="../media/image-107-6.png"/><Relationship Id="rId29" Type="http://schemas.openxmlformats.org/officeDocument/2006/relationships/image" Target="../media/image-15-4.png"/><Relationship Id="rId30" Type="http://schemas.openxmlformats.org/officeDocument/2006/relationships/image" Target="../media/image-107-6.png"/><Relationship Id="rId32" Type="http://schemas.openxmlformats.org/officeDocument/2006/relationships/image" Target="../media/image-2-22.png"/><Relationship Id="rId33" Type="http://schemas.openxmlformats.org/officeDocument/2006/relationships/image" Target="../media/image-107-6.png"/><Relationship Id="rId35" Type="http://schemas.openxmlformats.org/officeDocument/2006/relationships/image" Target="../media/image-2-2.png"/><Relationship Id="rId36" Type="http://schemas.openxmlformats.org/officeDocument/2006/relationships/image" Target="../media/image-107-6.png"/><Relationship Id="rId38" Type="http://schemas.openxmlformats.org/officeDocument/2006/relationships/image" Target="../media/image-2-26.png"/><Relationship Id="rId39" Type="http://schemas.openxmlformats.org/officeDocument/2006/relationships/image" Target="../media/image-107-6.png"/><Relationship Id="rId41" Type="http://schemas.openxmlformats.org/officeDocument/2006/relationships/image" Target="../media/image-129-5.png"/><Relationship Id="rId42" Type="http://schemas.openxmlformats.org/officeDocument/2006/relationships/image" Target="../media/image-107-6.png"/><Relationship Id="rId44" Type="http://schemas.openxmlformats.org/officeDocument/2006/relationships/image" Target="../media/image-2-8.png"/><Relationship Id="rId45" Type="http://schemas.openxmlformats.org/officeDocument/2006/relationships/image" Target="../media/image-107-6.png"/><Relationship Id="rId47" Type="http://schemas.openxmlformats.org/officeDocument/2006/relationships/image" Target="../media/image-147-6.png"/><Relationship Id="rId48" Type="http://schemas.openxmlformats.org/officeDocument/2006/relationships/image" Target="../media/image-107-6.png"/><Relationship Id="rId50" Type="http://schemas.openxmlformats.org/officeDocument/2006/relationships/image" Target="../media/image-2-34.png"/><Relationship Id="rId51" Type="http://schemas.openxmlformats.org/officeDocument/2006/relationships/image" Target="../media/image-107-6.png"/><Relationship Id="rId53" Type="http://schemas.openxmlformats.org/officeDocument/2006/relationships/image" Target="../media/image-2-12.png"/><Relationship Id="rId54" Type="http://schemas.openxmlformats.org/officeDocument/2006/relationships/image" Target="../media/image-107-6.png"/><Relationship Id="rId56" Type="http://schemas.openxmlformats.org/officeDocument/2006/relationships/image" Target="../media/image-15-3.png"/><Relationship Id="rId57" Type="http://schemas.openxmlformats.org/officeDocument/2006/relationships/image" Target="../media/image-107-6.png"/><Relationship Id="rId59" Type="http://schemas.openxmlformats.org/officeDocument/2006/relationships/image" Target="../media/image-2-8.png"/><Relationship Id="rId60" Type="http://schemas.openxmlformats.org/officeDocument/2006/relationships/image" Target="../media/image-107-6.png"/><Relationship Id="rId62" Type="http://schemas.openxmlformats.org/officeDocument/2006/relationships/image" Target="../media/image-13-7.png"/><Relationship Id="rId63" Type="http://schemas.openxmlformats.org/officeDocument/2006/relationships/image" Target="../media/image-107-6.png"/><Relationship Id="rId65" Type="http://schemas.openxmlformats.org/officeDocument/2006/relationships/image" Target="../media/image-15-5.png"/><Relationship Id="rId66" Type="http://schemas.openxmlformats.org/officeDocument/2006/relationships/image" Target="../media/image-107-6.png"/><Relationship Id="rId68" Type="http://schemas.openxmlformats.org/officeDocument/2006/relationships/slideLayout" Target="../slideLayouts/slideLayout1.xml"/><Relationship Id="rId6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0-2.png"/><Relationship Id="rId3" Type="http://schemas.openxmlformats.org/officeDocument/2006/relationships/image" Target="../media/image-212-4.png"/><Relationship Id="rId4" Type="http://schemas.openxmlformats.org/officeDocument/2006/relationships/image" Target="../media/image-113-2.png"/><Relationship Id="rId5" Type="http://schemas.openxmlformats.org/officeDocument/2006/relationships/image" Target="../media/image-113-4.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xml"/><Relationship Id="rId1" Type="http://schemas.openxmlformats.org/officeDocument/2006/relationships/image" Target="../media/image-1-2.png"/><Relationship Id="rId4" Type="http://schemas.openxmlformats.org/officeDocument/2006/relationships/image" Target="../media/image-121-2.png"/><Relationship Id="rId5" Type="http://schemas.openxmlformats.org/officeDocument/2006/relationships/image" Target="../media/image-121-3.png"/><Relationship Id="rId6" Type="http://schemas.openxmlformats.org/officeDocument/2006/relationships/image" Target="../media/image-121-4.png"/><Relationship Id="rId7" Type="http://schemas.openxmlformats.org/officeDocument/2006/relationships/image" Target="../media/image-121-5.png"/><Relationship Id="rId8" Type="http://schemas.openxmlformats.org/officeDocument/2006/relationships/image" Target="../media/image-121-6.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xml"/><Relationship Id="rId1" Type="http://schemas.openxmlformats.org/officeDocument/2006/relationships/image" Target="../media/image-1-2.png"/><Relationship Id="rId4" Type="http://schemas.openxmlformats.org/officeDocument/2006/relationships/image" Target="../media/image-24-2.png"/><Relationship Id="rId5" Type="http://schemas.openxmlformats.org/officeDocument/2006/relationships/image" Target="../media/image-24-3.png"/><Relationship Id="rId6" Type="http://schemas.openxmlformats.org/officeDocument/2006/relationships/image" Target="../media/image-24-4.png"/><Relationship Id="rId7" Type="http://schemas.openxmlformats.org/officeDocument/2006/relationships/image" Target="../media/image-24-5.png"/><Relationship Id="rId8" Type="http://schemas.openxmlformats.org/officeDocument/2006/relationships/image" Target="../media/image-166-10.png"/><Relationship Id="rId9" Type="http://schemas.openxmlformats.org/officeDocument/2006/relationships/image" Target="../media/image-147-2.png"/><Relationship Id="rId10" Type="http://schemas.openxmlformats.org/officeDocument/2006/relationships/image" Target="../media/image-24-8.png"/><Relationship Id="rId11" Type="http://schemas.openxmlformats.org/officeDocument/2006/relationships/image" Target="../media/image-5-9.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xml"/><Relationship Id="rId9" Type="http://schemas.openxmlformats.org/officeDocument/2006/relationships/slide" Target="slide7.xml"/><Relationship Id="rId15" Type="http://schemas.openxmlformats.org/officeDocument/2006/relationships/slide" Target="slide8.xml"/><Relationship Id="rId21" Type="http://schemas.openxmlformats.org/officeDocument/2006/relationships/slide" Target="slide9.xml"/><Relationship Id="rId1" Type="http://schemas.openxmlformats.org/officeDocument/2006/relationships/image" Target="../media/image-1-2.png"/><Relationship Id="rId4" Type="http://schemas.openxmlformats.org/officeDocument/2006/relationships/image" Target="../media/image-107-2.png"/><Relationship Id="rId5" Type="http://schemas.openxmlformats.org/officeDocument/2006/relationships/image" Target="../media/image-107-3.png"/><Relationship Id="rId6" Type="http://schemas.openxmlformats.org/officeDocument/2006/relationships/image" Target="../media/image-107-4.png"/><Relationship Id="rId7" Type="http://schemas.openxmlformats.org/officeDocument/2006/relationships/image" Target="../media/image-107-5.png"/><Relationship Id="rId8" Type="http://schemas.openxmlformats.org/officeDocument/2006/relationships/image" Target="../media/image-107-6.png"/><Relationship Id="rId10" Type="http://schemas.openxmlformats.org/officeDocument/2006/relationships/image" Target="../media/image-107-7.png"/><Relationship Id="rId11" Type="http://schemas.openxmlformats.org/officeDocument/2006/relationships/image" Target="../media/image-107-3.png"/><Relationship Id="rId12" Type="http://schemas.openxmlformats.org/officeDocument/2006/relationships/image" Target="../media/image-107-4.png"/><Relationship Id="rId13" Type="http://schemas.openxmlformats.org/officeDocument/2006/relationships/image" Target="../media/image-107-5.png"/><Relationship Id="rId14" Type="http://schemas.openxmlformats.org/officeDocument/2006/relationships/image" Target="../media/image-107-6.png"/><Relationship Id="rId16" Type="http://schemas.openxmlformats.org/officeDocument/2006/relationships/image" Target="../media/image-107-12.png"/><Relationship Id="rId17" Type="http://schemas.openxmlformats.org/officeDocument/2006/relationships/image" Target="../media/image-107-3.png"/><Relationship Id="rId18" Type="http://schemas.openxmlformats.org/officeDocument/2006/relationships/image" Target="../media/image-107-4.png"/><Relationship Id="rId19" Type="http://schemas.openxmlformats.org/officeDocument/2006/relationships/image" Target="../media/image-107-5.png"/><Relationship Id="rId20" Type="http://schemas.openxmlformats.org/officeDocument/2006/relationships/image" Target="../media/image-107-6.png"/><Relationship Id="rId22" Type="http://schemas.openxmlformats.org/officeDocument/2006/relationships/slideLayout" Target="../slideLayouts/slideLayout1.xml"/><Relationship Id="rId2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6" Type="http://schemas.openxmlformats.org/officeDocument/2006/relationships/slide" Target="slide2.xml"/><Relationship Id="rId7" Type="http://schemas.openxmlformats.org/officeDocument/2006/relationships/slide" Target="slide16.xm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5" Type="http://schemas.openxmlformats.org/officeDocument/2006/relationships/image" Target="../media/image-10-2.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xml"/><Relationship Id="rId1" Type="http://schemas.openxmlformats.org/officeDocument/2006/relationships/image" Target="../media/image-1-2.png"/><Relationship Id="rId4" Type="http://schemas.openxmlformats.org/officeDocument/2006/relationships/image" Target="../media/image-11-2.png"/><Relationship Id="rId5" Type="http://schemas.openxmlformats.org/officeDocument/2006/relationships/image" Target="../media/image-11-3.png"/><Relationship Id="rId6" Type="http://schemas.openxmlformats.org/officeDocument/2006/relationships/image" Target="../media/image-11-4.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xml"/><Relationship Id="rId1" Type="http://schemas.openxmlformats.org/officeDocument/2006/relationships/image" Target="../media/image-1-2.png"/><Relationship Id="rId4" Type="http://schemas.openxmlformats.org/officeDocument/2006/relationships/image" Target="../media/image-12-2.png"/><Relationship Id="rId5" Type="http://schemas.openxmlformats.org/officeDocument/2006/relationships/image" Target="../media/image-12-2.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xml"/><Relationship Id="rId1" Type="http://schemas.openxmlformats.org/officeDocument/2006/relationships/image" Target="../media/image-1-2.png"/><Relationship Id="rId4" Type="http://schemas.openxmlformats.org/officeDocument/2006/relationships/image" Target="../media/image-13-2.png"/><Relationship Id="rId5" Type="http://schemas.openxmlformats.org/officeDocument/2006/relationships/image" Target="../media/image-13-3.png"/><Relationship Id="rId6" Type="http://schemas.openxmlformats.org/officeDocument/2006/relationships/image" Target="../media/image-13-4.png"/><Relationship Id="rId7" Type="http://schemas.openxmlformats.org/officeDocument/2006/relationships/image" Target="../media/image-13-5.png"/><Relationship Id="rId8" Type="http://schemas.openxmlformats.org/officeDocument/2006/relationships/image" Target="../media/image-13-6.png"/><Relationship Id="rId9" Type="http://schemas.openxmlformats.org/officeDocument/2006/relationships/image" Target="../media/image-13-7.png"/><Relationship Id="rId10" Type="http://schemas.openxmlformats.org/officeDocument/2006/relationships/image" Target="../media/image-114-2.png"/><Relationship Id="rId11" Type="http://schemas.openxmlformats.org/officeDocument/2006/relationships/image" Target="../media/image-121-4.png"/><Relationship Id="rId12" Type="http://schemas.openxmlformats.org/officeDocument/2006/relationships/image" Target="../media/image-13-10.png"/><Relationship Id="rId13" Type="http://schemas.openxmlformats.org/officeDocument/2006/relationships/slideLayout" Target="../slideLayouts/slideLayout1.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xml"/><Relationship Id="rId1" Type="http://schemas.openxmlformats.org/officeDocument/2006/relationships/image" Target="../media/image-1-2.png"/><Relationship Id="rId4" Type="http://schemas.openxmlformats.org/officeDocument/2006/relationships/image" Target="../media/image-14-2.png"/><Relationship Id="rId5" Type="http://schemas.openxmlformats.org/officeDocument/2006/relationships/image" Target="../media/image-113-5.png"/><Relationship Id="rId6" Type="http://schemas.openxmlformats.org/officeDocument/2006/relationships/image" Target="../media/image-14-4.png"/><Relationship Id="rId7" Type="http://schemas.openxmlformats.org/officeDocument/2006/relationships/image" Target="../media/image-111-2.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xml"/><Relationship Id="rId1" Type="http://schemas.openxmlformats.org/officeDocument/2006/relationships/image" Target="../media/image-1-2.png"/><Relationship Id="rId4" Type="http://schemas.openxmlformats.org/officeDocument/2006/relationships/image" Target="../media/image-15-2.png"/><Relationship Id="rId5" Type="http://schemas.openxmlformats.org/officeDocument/2006/relationships/image" Target="../media/image-15-3.png"/><Relationship Id="rId6" Type="http://schemas.openxmlformats.org/officeDocument/2006/relationships/image" Target="../media/image-15-4.png"/><Relationship Id="rId7" Type="http://schemas.openxmlformats.org/officeDocument/2006/relationships/image" Target="../media/image-15-5.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xml"/><Relationship Id="rId9" Type="http://schemas.openxmlformats.org/officeDocument/2006/relationships/slide" Target="slide17.xml"/><Relationship Id="rId15" Type="http://schemas.openxmlformats.org/officeDocument/2006/relationships/slide" Target="slide18.xml"/><Relationship Id="rId21" Type="http://schemas.openxmlformats.org/officeDocument/2006/relationships/slide" Target="slide19.xml"/><Relationship Id="rId1" Type="http://schemas.openxmlformats.org/officeDocument/2006/relationships/image" Target="../media/image-1-2.png"/><Relationship Id="rId4" Type="http://schemas.openxmlformats.org/officeDocument/2006/relationships/image" Target="../media/image-107-2.png"/><Relationship Id="rId5" Type="http://schemas.openxmlformats.org/officeDocument/2006/relationships/image" Target="../media/image-107-3.png"/><Relationship Id="rId6" Type="http://schemas.openxmlformats.org/officeDocument/2006/relationships/image" Target="../media/image-107-4.png"/><Relationship Id="rId7" Type="http://schemas.openxmlformats.org/officeDocument/2006/relationships/image" Target="../media/image-107-5.png"/><Relationship Id="rId8" Type="http://schemas.openxmlformats.org/officeDocument/2006/relationships/image" Target="../media/image-107-6.png"/><Relationship Id="rId10" Type="http://schemas.openxmlformats.org/officeDocument/2006/relationships/image" Target="../media/image-107-7.png"/><Relationship Id="rId11" Type="http://schemas.openxmlformats.org/officeDocument/2006/relationships/image" Target="../media/image-107-3.png"/><Relationship Id="rId12" Type="http://schemas.openxmlformats.org/officeDocument/2006/relationships/image" Target="../media/image-107-4.png"/><Relationship Id="rId13" Type="http://schemas.openxmlformats.org/officeDocument/2006/relationships/image" Target="../media/image-107-5.png"/><Relationship Id="rId14" Type="http://schemas.openxmlformats.org/officeDocument/2006/relationships/image" Target="../media/image-107-6.png"/><Relationship Id="rId16" Type="http://schemas.openxmlformats.org/officeDocument/2006/relationships/image" Target="../media/image-107-12.png"/><Relationship Id="rId17" Type="http://schemas.openxmlformats.org/officeDocument/2006/relationships/image" Target="../media/image-107-3.png"/><Relationship Id="rId18" Type="http://schemas.openxmlformats.org/officeDocument/2006/relationships/image" Target="../media/image-107-4.png"/><Relationship Id="rId19" Type="http://schemas.openxmlformats.org/officeDocument/2006/relationships/image" Target="../media/image-107-5.png"/><Relationship Id="rId20" Type="http://schemas.openxmlformats.org/officeDocument/2006/relationships/image" Target="../media/image-107-6.png"/><Relationship Id="rId22" Type="http://schemas.openxmlformats.org/officeDocument/2006/relationships/slideLayout" Target="../slideLayouts/slideLayout1.xml"/><Relationship Id="rId2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xml"/><Relationship Id="rId1" Type="http://schemas.openxmlformats.org/officeDocument/2006/relationships/image" Target="../media/image-1-2.png"/><Relationship Id="rId4" Type="http://schemas.openxmlformats.org/officeDocument/2006/relationships/image" Target="../media/image-103-2.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6" Type="http://schemas.openxmlformats.org/officeDocument/2006/relationships/slide" Target="slide2.xml"/><Relationship Id="rId7" Type="http://schemas.openxmlformats.org/officeDocument/2006/relationships/slide" Target="slide43.xml"/><Relationship Id="rId1" Type="http://schemas.openxmlformats.org/officeDocument/2006/relationships/image" Target="../media/image-212-4.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5" Type="http://schemas.openxmlformats.org/officeDocument/2006/relationships/image" Target="../media/image-10-2.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23-2.png"/><Relationship Id="rId5" Type="http://schemas.openxmlformats.org/officeDocument/2006/relationships/image" Target="../media/image-23-3.png"/><Relationship Id="rId6" Type="http://schemas.openxmlformats.org/officeDocument/2006/relationships/image" Target="../media/image-23-4.png"/><Relationship Id="rId7" Type="http://schemas.openxmlformats.org/officeDocument/2006/relationships/image" Target="../media/image-23-5.png"/><Relationship Id="rId8" Type="http://schemas.openxmlformats.org/officeDocument/2006/relationships/image" Target="../media/image-23-6.png"/><Relationship Id="rId9" Type="http://schemas.openxmlformats.org/officeDocument/2006/relationships/image" Target="../media/image-23-7.png"/><Relationship Id="rId10" Type="http://schemas.openxmlformats.org/officeDocument/2006/relationships/image" Target="../media/image-23-8.png"/><Relationship Id="rId11" Type="http://schemas.openxmlformats.org/officeDocument/2006/relationships/image" Target="../media/image-23-9.png"/><Relationship Id="rId12" Type="http://schemas.openxmlformats.org/officeDocument/2006/relationships/image" Target="../media/image-23-10.png"/><Relationship Id="rId13" Type="http://schemas.openxmlformats.org/officeDocument/2006/relationships/slideLayout" Target="../slideLayouts/slideLayout1.xml"/><Relationship Id="rId1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24-2.png"/><Relationship Id="rId5" Type="http://schemas.openxmlformats.org/officeDocument/2006/relationships/image" Target="../media/image-24-3.png"/><Relationship Id="rId6" Type="http://schemas.openxmlformats.org/officeDocument/2006/relationships/image" Target="../media/image-24-4.png"/><Relationship Id="rId7" Type="http://schemas.openxmlformats.org/officeDocument/2006/relationships/image" Target="../media/image-24-5.png"/><Relationship Id="rId8" Type="http://schemas.openxmlformats.org/officeDocument/2006/relationships/image" Target="../media/image-166-10.png"/><Relationship Id="rId9" Type="http://schemas.openxmlformats.org/officeDocument/2006/relationships/image" Target="../media/image-147-2.png"/><Relationship Id="rId10" Type="http://schemas.openxmlformats.org/officeDocument/2006/relationships/image" Target="../media/image-24-8.png"/><Relationship Id="rId11" Type="http://schemas.openxmlformats.org/officeDocument/2006/relationships/image" Target="../media/image-2-6.png"/><Relationship Id="rId12" Type="http://schemas.openxmlformats.org/officeDocument/2006/relationships/slideLayout" Target="../slideLayouts/slideLayout1.xml"/><Relationship Id="rId1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24-2.png"/><Relationship Id="rId5" Type="http://schemas.openxmlformats.org/officeDocument/2006/relationships/image" Target="../media/image-25-3.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24-2.png"/><Relationship Id="rId5" Type="http://schemas.openxmlformats.org/officeDocument/2006/relationships/image" Target="../media/image-212-4.png"/><Relationship Id="rId6" Type="http://schemas.openxmlformats.org/officeDocument/2006/relationships/image" Target="../media/image-26-4.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24-3.png"/><Relationship Id="rId5" Type="http://schemas.openxmlformats.org/officeDocument/2006/relationships/image" Target="../media/image-25-3.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24-3.png"/><Relationship Id="rId5" Type="http://schemas.openxmlformats.org/officeDocument/2006/relationships/image" Target="../media/image-212-4.png"/><Relationship Id="rId6" Type="http://schemas.openxmlformats.org/officeDocument/2006/relationships/image" Target="../media/image-26-4.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24-4.png"/><Relationship Id="rId5" Type="http://schemas.openxmlformats.org/officeDocument/2006/relationships/image" Target="../media/image-25-3.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24-4.png"/><Relationship Id="rId5" Type="http://schemas.openxmlformats.org/officeDocument/2006/relationships/image" Target="../media/image-212-4.png"/><Relationship Id="rId6" Type="http://schemas.openxmlformats.org/officeDocument/2006/relationships/image" Target="../media/image-26-4.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24-5.png"/><Relationship Id="rId5" Type="http://schemas.openxmlformats.org/officeDocument/2006/relationships/image" Target="../media/image-25-3.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24-5.png"/><Relationship Id="rId5" Type="http://schemas.openxmlformats.org/officeDocument/2006/relationships/image" Target="../media/image-212-4.png"/><Relationship Id="rId6" Type="http://schemas.openxmlformats.org/officeDocument/2006/relationships/image" Target="../media/image-26-4.pn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166-10.png"/><Relationship Id="rId5" Type="http://schemas.openxmlformats.org/officeDocument/2006/relationships/image" Target="../media/image-25-3.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166-10.png"/><Relationship Id="rId5" Type="http://schemas.openxmlformats.org/officeDocument/2006/relationships/image" Target="../media/image-212-4.png"/><Relationship Id="rId6" Type="http://schemas.openxmlformats.org/officeDocument/2006/relationships/image" Target="../media/image-26-4.pn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147-2.png"/><Relationship Id="rId5" Type="http://schemas.openxmlformats.org/officeDocument/2006/relationships/image" Target="../media/image-25-3.pn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147-2.png"/><Relationship Id="rId5" Type="http://schemas.openxmlformats.org/officeDocument/2006/relationships/image" Target="../media/image-212-4.png"/><Relationship Id="rId6" Type="http://schemas.openxmlformats.org/officeDocument/2006/relationships/image" Target="../media/image-26-4.png"/><Relationship Id="rId7" Type="http://schemas.openxmlformats.org/officeDocument/2006/relationships/slideLayout" Target="../slideLayouts/slideLayout1.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24-8.png"/><Relationship Id="rId5" Type="http://schemas.openxmlformats.org/officeDocument/2006/relationships/image" Target="../media/image-25-3.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24-8.png"/><Relationship Id="rId5" Type="http://schemas.openxmlformats.org/officeDocument/2006/relationships/image" Target="../media/image-212-4.png"/><Relationship Id="rId6" Type="http://schemas.openxmlformats.org/officeDocument/2006/relationships/image" Target="../media/image-26-4.png"/><Relationship Id="rId7" Type="http://schemas.openxmlformats.org/officeDocument/2006/relationships/slideLayout" Target="../slideLayouts/slideLayout1.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147-4.png"/><Relationship Id="rId5" Type="http://schemas.openxmlformats.org/officeDocument/2006/relationships/image" Target="../media/image-13-6.png"/><Relationship Id="rId6" Type="http://schemas.openxmlformats.org/officeDocument/2006/relationships/image" Target="../media/image-166-10.png"/><Relationship Id="rId7" Type="http://schemas.openxmlformats.org/officeDocument/2006/relationships/image" Target="../media/image-11-3.png"/><Relationship Id="rId8" Type="http://schemas.openxmlformats.org/officeDocument/2006/relationships/slideLayout" Target="../slideLayouts/slideLayout1.xml"/><Relationship Id="rId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42-2.png"/><Relationship Id="rId5" Type="http://schemas.openxmlformats.org/officeDocument/2006/relationships/image" Target="../media/image-42-3.png"/><Relationship Id="rId6" Type="http://schemas.openxmlformats.org/officeDocument/2006/relationships/image" Target="../media/image-149-2.png"/><Relationship Id="rId7" Type="http://schemas.openxmlformats.org/officeDocument/2006/relationships/slideLayout" Target="../slideLayouts/slideLayout1.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9" Type="http://schemas.openxmlformats.org/officeDocument/2006/relationships/slide" Target="slide44.xml"/><Relationship Id="rId15" Type="http://schemas.openxmlformats.org/officeDocument/2006/relationships/slide" Target="slide45.xml"/><Relationship Id="rId21" Type="http://schemas.openxmlformats.org/officeDocument/2006/relationships/slide" Target="slide46.xml"/><Relationship Id="rId1" Type="http://schemas.openxmlformats.org/officeDocument/2006/relationships/image" Target="../media/image-1-2.png"/><Relationship Id="rId4" Type="http://schemas.openxmlformats.org/officeDocument/2006/relationships/image" Target="../media/image-107-2.png"/><Relationship Id="rId5" Type="http://schemas.openxmlformats.org/officeDocument/2006/relationships/image" Target="../media/image-107-3.png"/><Relationship Id="rId6" Type="http://schemas.openxmlformats.org/officeDocument/2006/relationships/image" Target="../media/image-107-4.png"/><Relationship Id="rId7" Type="http://schemas.openxmlformats.org/officeDocument/2006/relationships/image" Target="../media/image-107-5.png"/><Relationship Id="rId8" Type="http://schemas.openxmlformats.org/officeDocument/2006/relationships/image" Target="../media/image-107-6.png"/><Relationship Id="rId10" Type="http://schemas.openxmlformats.org/officeDocument/2006/relationships/image" Target="../media/image-107-7.png"/><Relationship Id="rId11" Type="http://schemas.openxmlformats.org/officeDocument/2006/relationships/image" Target="../media/image-107-3.png"/><Relationship Id="rId12" Type="http://schemas.openxmlformats.org/officeDocument/2006/relationships/image" Target="../media/image-107-4.png"/><Relationship Id="rId13" Type="http://schemas.openxmlformats.org/officeDocument/2006/relationships/image" Target="../media/image-107-5.png"/><Relationship Id="rId14" Type="http://schemas.openxmlformats.org/officeDocument/2006/relationships/image" Target="../media/image-107-6.png"/><Relationship Id="rId16" Type="http://schemas.openxmlformats.org/officeDocument/2006/relationships/image" Target="../media/image-107-12.png"/><Relationship Id="rId17" Type="http://schemas.openxmlformats.org/officeDocument/2006/relationships/image" Target="../media/image-107-3.png"/><Relationship Id="rId18" Type="http://schemas.openxmlformats.org/officeDocument/2006/relationships/image" Target="../media/image-107-4.png"/><Relationship Id="rId19" Type="http://schemas.openxmlformats.org/officeDocument/2006/relationships/image" Target="../media/image-107-5.png"/><Relationship Id="rId20" Type="http://schemas.openxmlformats.org/officeDocument/2006/relationships/image" Target="../media/image-107-6.png"/><Relationship Id="rId22" Type="http://schemas.openxmlformats.org/officeDocument/2006/relationships/slideLayout" Target="../slideLayouts/slideLayout1.xml"/><Relationship Id="rId2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24-2.png"/><Relationship Id="rId5" Type="http://schemas.openxmlformats.org/officeDocument/2006/relationships/image" Target="../media/image-24-3.png"/><Relationship Id="rId6" Type="http://schemas.openxmlformats.org/officeDocument/2006/relationships/image" Target="../media/image-24-4.png"/><Relationship Id="rId7" Type="http://schemas.openxmlformats.org/officeDocument/2006/relationships/image" Target="../media/image-24-5.png"/><Relationship Id="rId8" Type="http://schemas.openxmlformats.org/officeDocument/2006/relationships/image" Target="../media/image-166-10.png"/><Relationship Id="rId9" Type="http://schemas.openxmlformats.org/officeDocument/2006/relationships/image" Target="../media/image-147-2.png"/><Relationship Id="rId10" Type="http://schemas.openxmlformats.org/officeDocument/2006/relationships/image" Target="../media/image-24-8.png"/><Relationship Id="rId11" Type="http://schemas.openxmlformats.org/officeDocument/2006/relationships/slideLayout" Target="../slideLayouts/slideLayout1.xml"/><Relationship Id="rId1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43.xml"/><Relationship Id="rId1" Type="http://schemas.openxmlformats.org/officeDocument/2006/relationships/image" Target="../media/image-1-2.png"/><Relationship Id="rId4" Type="http://schemas.openxmlformats.org/officeDocument/2006/relationships/image" Target="../media/image-103-2.png"/><Relationship Id="rId5" Type="http://schemas.openxmlformats.org/officeDocument/2006/relationships/slideLayout" Target="../slideLayouts/slideLayout1.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2.png"/><Relationship Id="rId3" Type="http://schemas.openxmlformats.org/officeDocument/2006/relationships/image" Target="../media/image-145-2.png"/><Relationship Id="rId4" Type="http://schemas.openxmlformats.org/officeDocument/2006/relationships/slideLayout" Target="../slideLayouts/slideLayout1.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6" Type="http://schemas.openxmlformats.org/officeDocument/2006/relationships/slide" Target="slide2.xml"/><Relationship Id="rId7" Type="http://schemas.openxmlformats.org/officeDocument/2006/relationships/slide" Target="slide61.xml"/><Relationship Id="rId1" Type="http://schemas.openxmlformats.org/officeDocument/2006/relationships/image" Target="../media/image-113-2.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5" Type="http://schemas.openxmlformats.org/officeDocument/2006/relationships/image" Target="../media/image-10-2.png"/><Relationship Id="rId8" Type="http://schemas.openxmlformats.org/officeDocument/2006/relationships/slideLayout" Target="../slideLayouts/slideLayout1.xml"/><Relationship Id="rId9"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1.xml"/><Relationship Id="rId1" Type="http://schemas.openxmlformats.org/officeDocument/2006/relationships/image" Target="../media/image-1-2.png"/><Relationship Id="rId4" Type="http://schemas.openxmlformats.org/officeDocument/2006/relationships/image" Target="../media/image-52-2.png"/><Relationship Id="rId5" Type="http://schemas.openxmlformats.org/officeDocument/2006/relationships/image" Target="../media/image-52-3.png"/><Relationship Id="rId6" Type="http://schemas.openxmlformats.org/officeDocument/2006/relationships/image" Target="../media/image-52-3.png"/><Relationship Id="rId7" Type="http://schemas.openxmlformats.org/officeDocument/2006/relationships/image" Target="../media/image-52-3.png"/><Relationship Id="rId8" Type="http://schemas.openxmlformats.org/officeDocument/2006/relationships/image" Target="../media/image-15-5.png"/><Relationship Id="rId9" Type="http://schemas.openxmlformats.org/officeDocument/2006/relationships/slideLayout" Target="../slideLayouts/slideLayout1.xml"/><Relationship Id="rId10"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1.xml"/><Relationship Id="rId1" Type="http://schemas.openxmlformats.org/officeDocument/2006/relationships/image" Target="../media/image-1-2.png"/><Relationship Id="rId4" Type="http://schemas.openxmlformats.org/officeDocument/2006/relationships/image" Target="../media/image-53-2.png"/><Relationship Id="rId5" Type="http://schemas.openxmlformats.org/officeDocument/2006/relationships/image" Target="../media/image-53-3.png"/><Relationship Id="rId6" Type="http://schemas.openxmlformats.org/officeDocument/2006/relationships/image" Target="../media/image-147-4.png"/><Relationship Id="rId7" Type="http://schemas.openxmlformats.org/officeDocument/2006/relationships/image" Target="../media/image-53-5.png"/><Relationship Id="rId8" Type="http://schemas.openxmlformats.org/officeDocument/2006/relationships/slideLayout" Target="../slideLayouts/slideLayout1.xml"/><Relationship Id="rId9"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1.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1.xml"/><Relationship Id="rId1" Type="http://schemas.openxmlformats.org/officeDocument/2006/relationships/image" Target="../media/image-1-2.png"/><Relationship Id="rId4" Type="http://schemas.openxmlformats.org/officeDocument/2006/relationships/image" Target="../media/image-200-2.png"/><Relationship Id="rId5" Type="http://schemas.openxmlformats.org/officeDocument/2006/relationships/image" Target="../media/image-200-2.png"/><Relationship Id="rId6" Type="http://schemas.openxmlformats.org/officeDocument/2006/relationships/image" Target="../media/image-103-2.png"/><Relationship Id="rId7" Type="http://schemas.openxmlformats.org/officeDocument/2006/relationships/image" Target="../media/image-200-2.png"/><Relationship Id="rId8" Type="http://schemas.openxmlformats.org/officeDocument/2006/relationships/slideLayout" Target="../slideLayouts/slideLayout1.xml"/><Relationship Id="rId9"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1.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1.xml"/><Relationship Id="rId1" Type="http://schemas.openxmlformats.org/officeDocument/2006/relationships/image" Target="../media/image-1-2.png"/><Relationship Id="rId4" Type="http://schemas.openxmlformats.org/officeDocument/2006/relationships/image" Target="../media/image-57-2.png"/><Relationship Id="rId5" Type="http://schemas.openxmlformats.org/officeDocument/2006/relationships/image" Target="../media/image-13-6.png"/><Relationship Id="rId6" Type="http://schemas.openxmlformats.org/officeDocument/2006/relationships/image" Target="../media/image-147-2.png"/><Relationship Id="rId7" Type="http://schemas.openxmlformats.org/officeDocument/2006/relationships/image" Target="../media/image-178-3.png"/><Relationship Id="rId8" Type="http://schemas.openxmlformats.org/officeDocument/2006/relationships/slideLayout" Target="../slideLayouts/slideLayout1.xml"/><Relationship Id="rId9"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1.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1.xml"/><Relationship Id="rId1" Type="http://schemas.openxmlformats.org/officeDocument/2006/relationships/image" Target="../media/image-1-2.png"/><Relationship Id="rId4" Type="http://schemas.openxmlformats.org/officeDocument/2006/relationships/image" Target="../media/image-23-9.png"/><Relationship Id="rId5" Type="http://schemas.openxmlformats.org/officeDocument/2006/relationships/image" Target="../media/image-113-4.png"/><Relationship Id="rId6" Type="http://schemas.openxmlformats.org/officeDocument/2006/relationships/image" Target="../media/image-11-3.png"/><Relationship Id="rId7" Type="http://schemas.openxmlformats.org/officeDocument/2006/relationships/image" Target="../media/image-59-5.png"/><Relationship Id="rId8" Type="http://schemas.openxmlformats.org/officeDocument/2006/relationships/slideLayout" Target="../slideLayouts/slideLayout1.xml"/><Relationship Id="rId9"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1.xml"/><Relationship Id="rId1" Type="http://schemas.openxmlformats.org/officeDocument/2006/relationships/image" Target="../media/image-1-2.png"/><Relationship Id="rId4" Type="http://schemas.openxmlformats.org/officeDocument/2006/relationships/image" Target="../media/image-60-2.png"/><Relationship Id="rId5" Type="http://schemas.openxmlformats.org/officeDocument/2006/relationships/image" Target="../media/image-60-3.png"/><Relationship Id="rId6" Type="http://schemas.openxmlformats.org/officeDocument/2006/relationships/image" Target="../media/image-166-10.png"/><Relationship Id="rId7" Type="http://schemas.openxmlformats.org/officeDocument/2006/relationships/image" Target="../media/image-114-2.png"/><Relationship Id="rId8" Type="http://schemas.openxmlformats.org/officeDocument/2006/relationships/image" Target="../media/image-60-6.png"/><Relationship Id="rId9" Type="http://schemas.openxmlformats.org/officeDocument/2006/relationships/image" Target="../media/image-178-3.png"/><Relationship Id="rId10" Type="http://schemas.openxmlformats.org/officeDocument/2006/relationships/slideLayout" Target="../slideLayouts/slideLayout1.xml"/><Relationship Id="rId11"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1.xml"/><Relationship Id="rId9" Type="http://schemas.openxmlformats.org/officeDocument/2006/relationships/slide" Target="slide62.xml"/><Relationship Id="rId15" Type="http://schemas.openxmlformats.org/officeDocument/2006/relationships/slide" Target="slide63.xml"/><Relationship Id="rId21" Type="http://schemas.openxmlformats.org/officeDocument/2006/relationships/slide" Target="slide64.xml"/><Relationship Id="rId1" Type="http://schemas.openxmlformats.org/officeDocument/2006/relationships/image" Target="../media/image-1-2.png"/><Relationship Id="rId4" Type="http://schemas.openxmlformats.org/officeDocument/2006/relationships/image" Target="../media/image-107-2.png"/><Relationship Id="rId5" Type="http://schemas.openxmlformats.org/officeDocument/2006/relationships/image" Target="../media/image-107-3.png"/><Relationship Id="rId6" Type="http://schemas.openxmlformats.org/officeDocument/2006/relationships/image" Target="../media/image-107-4.png"/><Relationship Id="rId7" Type="http://schemas.openxmlformats.org/officeDocument/2006/relationships/image" Target="../media/image-107-5.png"/><Relationship Id="rId8" Type="http://schemas.openxmlformats.org/officeDocument/2006/relationships/image" Target="../media/image-107-6.png"/><Relationship Id="rId10" Type="http://schemas.openxmlformats.org/officeDocument/2006/relationships/image" Target="../media/image-107-7.png"/><Relationship Id="rId11" Type="http://schemas.openxmlformats.org/officeDocument/2006/relationships/image" Target="../media/image-107-3.png"/><Relationship Id="rId12" Type="http://schemas.openxmlformats.org/officeDocument/2006/relationships/image" Target="../media/image-107-4.png"/><Relationship Id="rId13" Type="http://schemas.openxmlformats.org/officeDocument/2006/relationships/image" Target="../media/image-107-5.png"/><Relationship Id="rId14" Type="http://schemas.openxmlformats.org/officeDocument/2006/relationships/image" Target="../media/image-107-6.png"/><Relationship Id="rId16" Type="http://schemas.openxmlformats.org/officeDocument/2006/relationships/image" Target="../media/image-107-12.png"/><Relationship Id="rId17" Type="http://schemas.openxmlformats.org/officeDocument/2006/relationships/image" Target="../media/image-107-3.png"/><Relationship Id="rId18" Type="http://schemas.openxmlformats.org/officeDocument/2006/relationships/image" Target="../media/image-107-4.png"/><Relationship Id="rId19" Type="http://schemas.openxmlformats.org/officeDocument/2006/relationships/image" Target="../media/image-107-5.png"/><Relationship Id="rId20" Type="http://schemas.openxmlformats.org/officeDocument/2006/relationships/image" Target="../media/image-107-6.png"/><Relationship Id="rId22" Type="http://schemas.openxmlformats.org/officeDocument/2006/relationships/slideLayout" Target="../slideLayouts/slideLayout1.xml"/><Relationship Id="rId2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1.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1.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1.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1.xml"/><Relationship Id="rId1" Type="http://schemas.openxmlformats.org/officeDocument/2006/relationships/image" Target="../media/image-1-2.png"/><Relationship Id="rId4" Type="http://schemas.openxmlformats.org/officeDocument/2006/relationships/image" Target="../media/image-113-2.png"/><Relationship Id="rId5" Type="http://schemas.openxmlformats.org/officeDocument/2006/relationships/image" Target="../media/image-113-3.png"/><Relationship Id="rId6" Type="http://schemas.openxmlformats.org/officeDocument/2006/relationships/image" Target="../media/image-214-4.png"/><Relationship Id="rId7" Type="http://schemas.openxmlformats.org/officeDocument/2006/relationships/image" Target="../media/image-60-2.png"/><Relationship Id="rId8" Type="http://schemas.openxmlformats.org/officeDocument/2006/relationships/slideLayout" Target="../slideLayouts/slideLayout1.xml"/><Relationship Id="rId9"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1.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1.xml"/><Relationship Id="rId1" Type="http://schemas.openxmlformats.org/officeDocument/2006/relationships/image" Target="../media/image-1-2.png"/><Relationship Id="rId4" Type="http://schemas.openxmlformats.org/officeDocument/2006/relationships/image" Target="../media/image-103-2.png"/><Relationship Id="rId5" Type="http://schemas.openxmlformats.org/officeDocument/2006/relationships/slideLayout" Target="../slideLayouts/slideLayout1.xml"/><Relationship Id="rId6"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9.xml"/><Relationship Id="rId1" Type="http://schemas.openxmlformats.org/officeDocument/2006/relationships/image" Target="../media/image-1-2.png"/><Relationship Id="rId4" Type="http://schemas.openxmlformats.org/officeDocument/2006/relationships/image" Target="../media/image-104-1.png"/><Relationship Id="rId5" Type="http://schemas.openxmlformats.org/officeDocument/2006/relationships/image" Target="../media/image-212-4.png"/><Relationship Id="rId6" Type="http://schemas.openxmlformats.org/officeDocument/2006/relationships/image" Target="../media/image-112-1.png"/><Relationship Id="rId7" Type="http://schemas.openxmlformats.org/officeDocument/2006/relationships/image" Target="../media/image-111-2.png"/><Relationship Id="rId8" Type="http://schemas.openxmlformats.org/officeDocument/2006/relationships/image" Target="../media/image-128-6.png"/><Relationship Id="rId9" Type="http://schemas.openxmlformats.org/officeDocument/2006/relationships/slideLayout" Target="../slideLayouts/slideLayout1.xml"/><Relationship Id="rId10"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9.xml"/><Relationship Id="rId9" Type="http://schemas.openxmlformats.org/officeDocument/2006/relationships/slide" Target="slide70.xml"/><Relationship Id="rId15" Type="http://schemas.openxmlformats.org/officeDocument/2006/relationships/slide" Target="slide71.xml"/><Relationship Id="rId21" Type="http://schemas.openxmlformats.org/officeDocument/2006/relationships/slide" Target="slide72.xml"/><Relationship Id="rId1" Type="http://schemas.openxmlformats.org/officeDocument/2006/relationships/image" Target="../media/image-1-2.png"/><Relationship Id="rId4" Type="http://schemas.openxmlformats.org/officeDocument/2006/relationships/image" Target="../media/image-107-2.png"/><Relationship Id="rId5" Type="http://schemas.openxmlformats.org/officeDocument/2006/relationships/image" Target="../media/image-107-3.png"/><Relationship Id="rId6" Type="http://schemas.openxmlformats.org/officeDocument/2006/relationships/image" Target="../media/image-107-4.png"/><Relationship Id="rId7" Type="http://schemas.openxmlformats.org/officeDocument/2006/relationships/image" Target="../media/image-107-5.png"/><Relationship Id="rId8" Type="http://schemas.openxmlformats.org/officeDocument/2006/relationships/image" Target="../media/image-107-6.png"/><Relationship Id="rId10" Type="http://schemas.openxmlformats.org/officeDocument/2006/relationships/image" Target="../media/image-107-7.png"/><Relationship Id="rId11" Type="http://schemas.openxmlformats.org/officeDocument/2006/relationships/image" Target="../media/image-107-3.png"/><Relationship Id="rId12" Type="http://schemas.openxmlformats.org/officeDocument/2006/relationships/image" Target="../media/image-107-4.png"/><Relationship Id="rId13" Type="http://schemas.openxmlformats.org/officeDocument/2006/relationships/image" Target="../media/image-107-5.png"/><Relationship Id="rId14" Type="http://schemas.openxmlformats.org/officeDocument/2006/relationships/image" Target="../media/image-107-6.png"/><Relationship Id="rId16" Type="http://schemas.openxmlformats.org/officeDocument/2006/relationships/image" Target="../media/image-107-12.png"/><Relationship Id="rId17" Type="http://schemas.openxmlformats.org/officeDocument/2006/relationships/image" Target="../media/image-107-3.png"/><Relationship Id="rId18" Type="http://schemas.openxmlformats.org/officeDocument/2006/relationships/image" Target="../media/image-107-4.png"/><Relationship Id="rId19" Type="http://schemas.openxmlformats.org/officeDocument/2006/relationships/image" Target="../media/image-107-5.png"/><Relationship Id="rId20" Type="http://schemas.openxmlformats.org/officeDocument/2006/relationships/image" Target="../media/image-107-6.png"/><Relationship Id="rId22" Type="http://schemas.openxmlformats.org/officeDocument/2006/relationships/slideLayout" Target="../slideLayouts/slideLayout1.xml"/><Relationship Id="rId2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9.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9.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69.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5" Type="http://schemas.openxmlformats.org/officeDocument/2006/relationships/slide" Target="slide2.xml"/><Relationship Id="rId6" Type="http://schemas.openxmlformats.org/officeDocument/2006/relationships/slide" Target="slide80.xml"/><Relationship Id="rId1" Type="http://schemas.openxmlformats.org/officeDocument/2006/relationships/image" Target="../media/image-113-4.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7" Type="http://schemas.openxmlformats.org/officeDocument/2006/relationships/slideLayout" Target="../slideLayouts/slideLayout1.xml"/><Relationship Id="rId8"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80.xml"/><Relationship Id="rId1" Type="http://schemas.openxmlformats.org/officeDocument/2006/relationships/image" Target="../media/image-1-2.png"/><Relationship Id="rId4" Type="http://schemas.openxmlformats.org/officeDocument/2006/relationships/image" Target="../media/image-74-2.png"/><Relationship Id="rId5" Type="http://schemas.openxmlformats.org/officeDocument/2006/relationships/image" Target="../media/image-113-5.png"/><Relationship Id="rId6" Type="http://schemas.openxmlformats.org/officeDocument/2006/relationships/image" Target="../media/image-113-4.png"/><Relationship Id="rId7" Type="http://schemas.openxmlformats.org/officeDocument/2006/relationships/image" Target="../media/image-74-5.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80.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80.xml"/><Relationship Id="rId1" Type="http://schemas.openxmlformats.org/officeDocument/2006/relationships/image" Target="../media/image-1-2.png"/><Relationship Id="rId4" Type="http://schemas.openxmlformats.org/officeDocument/2006/relationships/image" Target="../media/image-76-2.png"/><Relationship Id="rId5" Type="http://schemas.openxmlformats.org/officeDocument/2006/relationships/image" Target="../media/image-76-3.png"/><Relationship Id="rId6" Type="http://schemas.openxmlformats.org/officeDocument/2006/relationships/image" Target="../media/image-76-4.png"/><Relationship Id="rId7" Type="http://schemas.openxmlformats.org/officeDocument/2006/relationships/image" Target="../media/image-76-5.png"/><Relationship Id="rId8" Type="http://schemas.openxmlformats.org/officeDocument/2006/relationships/slideLayout" Target="../slideLayouts/slideLayout1.xml"/><Relationship Id="rId9"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80.xml"/><Relationship Id="rId1" Type="http://schemas.openxmlformats.org/officeDocument/2006/relationships/image" Target="../media/image-1-2.png"/><Relationship Id="rId4" Type="http://schemas.openxmlformats.org/officeDocument/2006/relationships/image" Target="../media/image-106-2.png"/><Relationship Id="rId5" Type="http://schemas.openxmlformats.org/officeDocument/2006/relationships/image" Target="../media/image-13-6.png"/><Relationship Id="rId6" Type="http://schemas.openxmlformats.org/officeDocument/2006/relationships/image" Target="../media/image-100-2.png"/><Relationship Id="rId7" Type="http://schemas.openxmlformats.org/officeDocument/2006/relationships/image" Target="../media/image-60-6.png"/><Relationship Id="rId8" Type="http://schemas.openxmlformats.org/officeDocument/2006/relationships/image" Target="../media/image-77-6.png"/><Relationship Id="rId9" Type="http://schemas.openxmlformats.org/officeDocument/2006/relationships/image" Target="../media/image-178-2.png"/><Relationship Id="rId10" Type="http://schemas.openxmlformats.org/officeDocument/2006/relationships/image" Target="../media/image-77-8.png"/><Relationship Id="rId11" Type="http://schemas.openxmlformats.org/officeDocument/2006/relationships/slideLayout" Target="../slideLayouts/slideLayout1.xml"/><Relationship Id="rId1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80.xml"/><Relationship Id="rId1" Type="http://schemas.openxmlformats.org/officeDocument/2006/relationships/image" Target="../media/image-1-2.png"/><Relationship Id="rId4" Type="http://schemas.openxmlformats.org/officeDocument/2006/relationships/image" Target="../media/image-106-2.png"/><Relationship Id="rId5" Type="http://schemas.openxmlformats.org/officeDocument/2006/relationships/image" Target="../media/image-13-6.png"/><Relationship Id="rId6" Type="http://schemas.openxmlformats.org/officeDocument/2006/relationships/image" Target="../media/image-100-2.png"/><Relationship Id="rId7" Type="http://schemas.openxmlformats.org/officeDocument/2006/relationships/image" Target="../media/image-60-6.png"/><Relationship Id="rId8" Type="http://schemas.openxmlformats.org/officeDocument/2006/relationships/image" Target="../media/image-77-6.png"/><Relationship Id="rId9" Type="http://schemas.openxmlformats.org/officeDocument/2006/relationships/image" Target="../media/image-178-2.png"/><Relationship Id="rId10" Type="http://schemas.openxmlformats.org/officeDocument/2006/relationships/image" Target="../media/image-77-8.png"/><Relationship Id="rId11" Type="http://schemas.openxmlformats.org/officeDocument/2006/relationships/slideLayout" Target="../slideLayouts/slideLayout1.xml"/><Relationship Id="rId1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80.xml"/><Relationship Id="rId1" Type="http://schemas.openxmlformats.org/officeDocument/2006/relationships/image" Target="../media/image-1-2.png"/><Relationship Id="rId4" Type="http://schemas.openxmlformats.org/officeDocument/2006/relationships/image" Target="../media/image-137-4.png"/><Relationship Id="rId5" Type="http://schemas.openxmlformats.org/officeDocument/2006/relationships/image" Target="../media/image-24-2.png"/><Relationship Id="rId6" Type="http://schemas.openxmlformats.org/officeDocument/2006/relationships/image" Target="../media/image-79-4.png"/><Relationship Id="rId7" Type="http://schemas.openxmlformats.org/officeDocument/2006/relationships/image" Target="../media/image-100-2.png"/><Relationship Id="rId8" Type="http://schemas.openxmlformats.org/officeDocument/2006/relationships/image" Target="../media/image-24-5.png"/><Relationship Id="rId9" Type="http://schemas.openxmlformats.org/officeDocument/2006/relationships/image" Target="../media/image-178-3.png"/><Relationship Id="rId10" Type="http://schemas.openxmlformats.org/officeDocument/2006/relationships/image" Target="../media/image-76-4.png"/><Relationship Id="rId11" Type="http://schemas.openxmlformats.org/officeDocument/2006/relationships/slideLayout" Target="../slideLayouts/slideLayout1.xml"/><Relationship Id="rId1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80.xml"/><Relationship Id="rId9" Type="http://schemas.openxmlformats.org/officeDocument/2006/relationships/slide" Target="slide81.xml"/><Relationship Id="rId15" Type="http://schemas.openxmlformats.org/officeDocument/2006/relationships/slide" Target="slide82.xml"/><Relationship Id="rId21" Type="http://schemas.openxmlformats.org/officeDocument/2006/relationships/slide" Target="slide83.xml"/><Relationship Id="rId1" Type="http://schemas.openxmlformats.org/officeDocument/2006/relationships/image" Target="../media/image-1-2.png"/><Relationship Id="rId4" Type="http://schemas.openxmlformats.org/officeDocument/2006/relationships/image" Target="../media/image-107-2.png"/><Relationship Id="rId5" Type="http://schemas.openxmlformats.org/officeDocument/2006/relationships/image" Target="../media/image-107-3.png"/><Relationship Id="rId6" Type="http://schemas.openxmlformats.org/officeDocument/2006/relationships/image" Target="../media/image-107-4.png"/><Relationship Id="rId7" Type="http://schemas.openxmlformats.org/officeDocument/2006/relationships/image" Target="../media/image-107-5.png"/><Relationship Id="rId8" Type="http://schemas.openxmlformats.org/officeDocument/2006/relationships/image" Target="../media/image-107-6.png"/><Relationship Id="rId10" Type="http://schemas.openxmlformats.org/officeDocument/2006/relationships/image" Target="../media/image-107-7.png"/><Relationship Id="rId11" Type="http://schemas.openxmlformats.org/officeDocument/2006/relationships/image" Target="../media/image-107-3.png"/><Relationship Id="rId12" Type="http://schemas.openxmlformats.org/officeDocument/2006/relationships/image" Target="../media/image-107-4.png"/><Relationship Id="rId13" Type="http://schemas.openxmlformats.org/officeDocument/2006/relationships/image" Target="../media/image-107-5.png"/><Relationship Id="rId14" Type="http://schemas.openxmlformats.org/officeDocument/2006/relationships/image" Target="../media/image-107-6.png"/><Relationship Id="rId16" Type="http://schemas.openxmlformats.org/officeDocument/2006/relationships/image" Target="../media/image-107-12.png"/><Relationship Id="rId17" Type="http://schemas.openxmlformats.org/officeDocument/2006/relationships/image" Target="../media/image-107-3.png"/><Relationship Id="rId18" Type="http://schemas.openxmlformats.org/officeDocument/2006/relationships/image" Target="../media/image-107-4.png"/><Relationship Id="rId19" Type="http://schemas.openxmlformats.org/officeDocument/2006/relationships/image" Target="../media/image-107-5.png"/><Relationship Id="rId20" Type="http://schemas.openxmlformats.org/officeDocument/2006/relationships/image" Target="../media/image-107-6.png"/><Relationship Id="rId22" Type="http://schemas.openxmlformats.org/officeDocument/2006/relationships/slideLayout" Target="../slideLayouts/slideLayout1.xml"/><Relationship Id="rId2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80.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80.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80.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80.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80.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80.xml"/><Relationship Id="rId1" Type="http://schemas.openxmlformats.org/officeDocument/2006/relationships/image" Target="../media/image-1-2.png"/><Relationship Id="rId4" Type="http://schemas.openxmlformats.org/officeDocument/2006/relationships/image" Target="../media/image-103-2.png"/><Relationship Id="rId5" Type="http://schemas.openxmlformats.org/officeDocument/2006/relationships/slideLayout" Target="../slideLayouts/slideLayout1.xml"/><Relationship Id="rId6"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2.png"/><Relationship Id="rId3" Type="http://schemas.openxmlformats.org/officeDocument/2006/relationships/image" Target="../media/image-145-2.png"/><Relationship Id="rId4" Type="http://schemas.openxmlformats.org/officeDocument/2006/relationships/slideLayout" Target="../slideLayouts/slideLayout1.xml"/><Relationship Id="rId5"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5" Type="http://schemas.openxmlformats.org/officeDocument/2006/relationships/slide" Target="slide2.xml"/><Relationship Id="rId6" Type="http://schemas.openxmlformats.org/officeDocument/2006/relationships/slide" Target="slide97.xml"/><Relationship Id="rId1" Type="http://schemas.openxmlformats.org/officeDocument/2006/relationships/image" Target="../media/image-113-5.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7" Type="http://schemas.openxmlformats.org/officeDocument/2006/relationships/slideLayout" Target="../slideLayouts/slideLayout1.xml"/><Relationship Id="rId8"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97.xml"/><Relationship Id="rId1" Type="http://schemas.openxmlformats.org/officeDocument/2006/relationships/image" Target="../media/image-1-2.png"/><Relationship Id="rId4" Type="http://schemas.openxmlformats.org/officeDocument/2006/relationships/image" Target="../media/image-89-2.png"/><Relationship Id="rId5" Type="http://schemas.openxmlformats.org/officeDocument/2006/relationships/image" Target="../media/image-89-3.png"/><Relationship Id="rId6" Type="http://schemas.openxmlformats.org/officeDocument/2006/relationships/image" Target="../media/image-113-4.png"/><Relationship Id="rId7" Type="http://schemas.openxmlformats.org/officeDocument/2006/relationships/image" Target="../media/image-137-5.png"/><Relationship Id="rId8" Type="http://schemas.openxmlformats.org/officeDocument/2006/relationships/image" Target="../media/image-89-6.png"/><Relationship Id="rId9" Type="http://schemas.openxmlformats.org/officeDocument/2006/relationships/slideLayout" Target="../slideLayouts/slideLayout1.xml"/><Relationship Id="rId10"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97.xml"/><Relationship Id="rId1" Type="http://schemas.openxmlformats.org/officeDocument/2006/relationships/image" Target="../media/image-1-2.png"/><Relationship Id="rId4" Type="http://schemas.openxmlformats.org/officeDocument/2006/relationships/image" Target="../media/image-13-2.png"/><Relationship Id="rId5" Type="http://schemas.openxmlformats.org/officeDocument/2006/relationships/image" Target="../media/image-149-2.png"/><Relationship Id="rId6" Type="http://schemas.openxmlformats.org/officeDocument/2006/relationships/image" Target="../media/image-11-3.png"/><Relationship Id="rId7" Type="http://schemas.openxmlformats.org/officeDocument/2006/relationships/image" Target="../media/image-149-2.png"/><Relationship Id="rId8" Type="http://schemas.openxmlformats.org/officeDocument/2006/relationships/image" Target="../media/image-90-6.png"/><Relationship Id="rId9" Type="http://schemas.openxmlformats.org/officeDocument/2006/relationships/image" Target="../media/image-149-2.png"/><Relationship Id="rId10" Type="http://schemas.openxmlformats.org/officeDocument/2006/relationships/slideLayout" Target="../slideLayouts/slideLayout1.xml"/><Relationship Id="rId11"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97.xml"/><Relationship Id="rId6" Type="http://schemas.openxmlformats.org/officeDocument/2006/relationships/slide" Target="slide92.xml"/><Relationship Id="rId9" Type="http://schemas.openxmlformats.org/officeDocument/2006/relationships/slide" Target="slide93.xml"/><Relationship Id="rId12" Type="http://schemas.openxmlformats.org/officeDocument/2006/relationships/slide" Target="slide94.xml"/><Relationship Id="rId15" Type="http://schemas.openxmlformats.org/officeDocument/2006/relationships/slide" Target="slide95.xml"/><Relationship Id="rId18" Type="http://schemas.openxmlformats.org/officeDocument/2006/relationships/slide" Target="slide96.xml"/><Relationship Id="rId1" Type="http://schemas.openxmlformats.org/officeDocument/2006/relationships/image" Target="../media/image-1-2.png"/><Relationship Id="rId4" Type="http://schemas.openxmlformats.org/officeDocument/2006/relationships/image" Target="../media/image-91-2.png"/><Relationship Id="rId5" Type="http://schemas.openxmlformats.org/officeDocument/2006/relationships/image" Target="../media/image-107-6.png"/><Relationship Id="rId7" Type="http://schemas.openxmlformats.org/officeDocument/2006/relationships/image" Target="../media/image-135-4.png"/><Relationship Id="rId8" Type="http://schemas.openxmlformats.org/officeDocument/2006/relationships/image" Target="../media/image-107-6.png"/><Relationship Id="rId10" Type="http://schemas.openxmlformats.org/officeDocument/2006/relationships/image" Target="../media/image-60-3.png"/><Relationship Id="rId11" Type="http://schemas.openxmlformats.org/officeDocument/2006/relationships/image" Target="../media/image-107-6.png"/><Relationship Id="rId13" Type="http://schemas.openxmlformats.org/officeDocument/2006/relationships/image" Target="../media/image-135-5.png"/><Relationship Id="rId14" Type="http://schemas.openxmlformats.org/officeDocument/2006/relationships/image" Target="../media/image-107-6.png"/><Relationship Id="rId16" Type="http://schemas.openxmlformats.org/officeDocument/2006/relationships/image" Target="../media/image-177-4.png"/><Relationship Id="rId17" Type="http://schemas.openxmlformats.org/officeDocument/2006/relationships/image" Target="../media/image-107-6.png"/><Relationship Id="rId19" Type="http://schemas.openxmlformats.org/officeDocument/2006/relationships/slideLayout" Target="../slideLayouts/slideLayout1.xml"/><Relationship Id="rId20"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97.xml"/><Relationship Id="rId1" Type="http://schemas.openxmlformats.org/officeDocument/2006/relationships/image" Target="../media/image-1-2.png"/><Relationship Id="rId4" Type="http://schemas.openxmlformats.org/officeDocument/2006/relationships/image" Target="../media/image-92-2.png"/><Relationship Id="rId5" Type="http://schemas.openxmlformats.org/officeDocument/2006/relationships/image" Target="../media/image-149-2.png"/><Relationship Id="rId6" Type="http://schemas.openxmlformats.org/officeDocument/2006/relationships/slideLayout" Target="../slideLayouts/slideLayout1.xml"/><Relationship Id="rId7"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97.xml"/><Relationship Id="rId1" Type="http://schemas.openxmlformats.org/officeDocument/2006/relationships/image" Target="../media/image-1-2.png"/><Relationship Id="rId4" Type="http://schemas.openxmlformats.org/officeDocument/2006/relationships/image" Target="../media/image-93-2.png"/><Relationship Id="rId5" Type="http://schemas.openxmlformats.org/officeDocument/2006/relationships/image" Target="../media/image-149-2.png"/><Relationship Id="rId6" Type="http://schemas.openxmlformats.org/officeDocument/2006/relationships/slideLayout" Target="../slideLayouts/slideLayout1.xml"/><Relationship Id="rId7"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97.xml"/><Relationship Id="rId1" Type="http://schemas.openxmlformats.org/officeDocument/2006/relationships/image" Target="../media/image-1-2.png"/><Relationship Id="rId4" Type="http://schemas.openxmlformats.org/officeDocument/2006/relationships/image" Target="../media/image-94-2.png"/><Relationship Id="rId5" Type="http://schemas.openxmlformats.org/officeDocument/2006/relationships/image" Target="../media/image-149-2.png"/><Relationship Id="rId6" Type="http://schemas.openxmlformats.org/officeDocument/2006/relationships/slideLayout" Target="../slideLayouts/slideLayout1.xml"/><Relationship Id="rId7"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97.xml"/><Relationship Id="rId1" Type="http://schemas.openxmlformats.org/officeDocument/2006/relationships/image" Target="../media/image-1-2.png"/><Relationship Id="rId4" Type="http://schemas.openxmlformats.org/officeDocument/2006/relationships/image" Target="../media/image-90-6.png"/><Relationship Id="rId5" Type="http://schemas.openxmlformats.org/officeDocument/2006/relationships/image" Target="../media/image-149-2.png"/><Relationship Id="rId6" Type="http://schemas.openxmlformats.org/officeDocument/2006/relationships/slideLayout" Target="../slideLayouts/slideLayout1.xml"/><Relationship Id="rId7"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97.xml"/><Relationship Id="rId1" Type="http://schemas.openxmlformats.org/officeDocument/2006/relationships/image" Target="../media/image-1-2.png"/><Relationship Id="rId4" Type="http://schemas.openxmlformats.org/officeDocument/2006/relationships/image" Target="../media/image-23-3.png"/><Relationship Id="rId5" Type="http://schemas.openxmlformats.org/officeDocument/2006/relationships/image" Target="../media/image-149-2.png"/><Relationship Id="rId6" Type="http://schemas.openxmlformats.org/officeDocument/2006/relationships/slideLayout" Target="../slideLayouts/slideLayout1.xml"/><Relationship Id="rId7"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97.xml"/><Relationship Id="rId9" Type="http://schemas.openxmlformats.org/officeDocument/2006/relationships/slide" Target="slide98.xml"/><Relationship Id="rId15" Type="http://schemas.openxmlformats.org/officeDocument/2006/relationships/slide" Target="slide99.xml"/><Relationship Id="rId21" Type="http://schemas.openxmlformats.org/officeDocument/2006/relationships/slide" Target="slide100.xml"/><Relationship Id="rId1" Type="http://schemas.openxmlformats.org/officeDocument/2006/relationships/image" Target="../media/image-1-2.png"/><Relationship Id="rId4" Type="http://schemas.openxmlformats.org/officeDocument/2006/relationships/image" Target="../media/image-107-2.png"/><Relationship Id="rId5" Type="http://schemas.openxmlformats.org/officeDocument/2006/relationships/image" Target="../media/image-107-3.png"/><Relationship Id="rId6" Type="http://schemas.openxmlformats.org/officeDocument/2006/relationships/image" Target="../media/image-107-4.png"/><Relationship Id="rId7" Type="http://schemas.openxmlformats.org/officeDocument/2006/relationships/image" Target="../media/image-107-5.png"/><Relationship Id="rId8" Type="http://schemas.openxmlformats.org/officeDocument/2006/relationships/image" Target="../media/image-107-6.png"/><Relationship Id="rId10" Type="http://schemas.openxmlformats.org/officeDocument/2006/relationships/image" Target="../media/image-107-7.png"/><Relationship Id="rId11" Type="http://schemas.openxmlformats.org/officeDocument/2006/relationships/image" Target="../media/image-107-3.png"/><Relationship Id="rId12" Type="http://schemas.openxmlformats.org/officeDocument/2006/relationships/image" Target="../media/image-107-4.png"/><Relationship Id="rId13" Type="http://schemas.openxmlformats.org/officeDocument/2006/relationships/image" Target="../media/image-107-5.png"/><Relationship Id="rId14" Type="http://schemas.openxmlformats.org/officeDocument/2006/relationships/image" Target="../media/image-107-6.png"/><Relationship Id="rId16" Type="http://schemas.openxmlformats.org/officeDocument/2006/relationships/image" Target="../media/image-107-12.png"/><Relationship Id="rId17" Type="http://schemas.openxmlformats.org/officeDocument/2006/relationships/image" Target="../media/image-107-3.png"/><Relationship Id="rId18" Type="http://schemas.openxmlformats.org/officeDocument/2006/relationships/image" Target="../media/image-107-4.png"/><Relationship Id="rId19" Type="http://schemas.openxmlformats.org/officeDocument/2006/relationships/image" Target="../media/image-107-5.png"/><Relationship Id="rId20" Type="http://schemas.openxmlformats.org/officeDocument/2006/relationships/image" Target="../media/image-107-6.png"/><Relationship Id="rId22" Type="http://schemas.openxmlformats.org/officeDocument/2006/relationships/slideLayout" Target="../slideLayouts/slideLayout1.xml"/><Relationship Id="rId2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97.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97.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97.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97.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97.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97.xml"/><Relationship Id="rId1" Type="http://schemas.openxmlformats.org/officeDocument/2006/relationships/image" Target="../media/image-1-2.png"/><Relationship Id="rId4" Type="http://schemas.openxmlformats.org/officeDocument/2006/relationships/image" Target="../media/image-103-2.png"/><Relationship Id="rId5" Type="http://schemas.openxmlformats.org/officeDocument/2006/relationships/slideLayout" Target="../slideLayouts/slideLayout1.xml"/><Relationship Id="rId6"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6" Type="http://schemas.openxmlformats.org/officeDocument/2006/relationships/slide" Target="slide2.xml"/><Relationship Id="rId7" Type="http://schemas.openxmlformats.org/officeDocument/2006/relationships/slide" Target="slide107.xml"/><Relationship Id="rId1" Type="http://schemas.openxmlformats.org/officeDocument/2006/relationships/image" Target="../media/image-104-1.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5" Type="http://schemas.openxmlformats.org/officeDocument/2006/relationships/image" Target="../media/image-10-2.png"/><Relationship Id="rId8" Type="http://schemas.openxmlformats.org/officeDocument/2006/relationships/slideLayout" Target="../slideLayouts/slideLayout1.xml"/><Relationship Id="rId9"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07.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07.xml"/><Relationship Id="rId1" Type="http://schemas.openxmlformats.org/officeDocument/2006/relationships/image" Target="../media/image-1-2.png"/><Relationship Id="rId4" Type="http://schemas.openxmlformats.org/officeDocument/2006/relationships/image" Target="../media/image-106-2.png"/><Relationship Id="rId5" Type="http://schemas.openxmlformats.org/officeDocument/2006/relationships/image" Target="../media/image-106-3.png"/><Relationship Id="rId6" Type="http://schemas.openxmlformats.org/officeDocument/2006/relationships/image" Target="../media/image-106-4.png"/><Relationship Id="rId7" Type="http://schemas.openxmlformats.org/officeDocument/2006/relationships/image" Target="../media/image-106-5.png"/><Relationship Id="rId8" Type="http://schemas.openxmlformats.org/officeDocument/2006/relationships/image" Target="../media/image-106-6.png"/><Relationship Id="rId9" Type="http://schemas.openxmlformats.org/officeDocument/2006/relationships/image" Target="../media/image-106-7.png"/><Relationship Id="rId10" Type="http://schemas.openxmlformats.org/officeDocument/2006/relationships/image" Target="../media/image-106-8.png"/><Relationship Id="rId11" Type="http://schemas.openxmlformats.org/officeDocument/2006/relationships/image" Target="../media/image-106-9.png"/><Relationship Id="rId12" Type="http://schemas.openxmlformats.org/officeDocument/2006/relationships/slideLayout" Target="../slideLayouts/slideLayout1.xml"/><Relationship Id="rId1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07.xml"/><Relationship Id="rId9" Type="http://schemas.openxmlformats.org/officeDocument/2006/relationships/slide" Target="slide108.xml"/><Relationship Id="rId15" Type="http://schemas.openxmlformats.org/officeDocument/2006/relationships/slide" Target="slide109.xml"/><Relationship Id="rId21" Type="http://schemas.openxmlformats.org/officeDocument/2006/relationships/slide" Target="slide110.xml"/><Relationship Id="rId1" Type="http://schemas.openxmlformats.org/officeDocument/2006/relationships/image" Target="../media/image-1-2.png"/><Relationship Id="rId4" Type="http://schemas.openxmlformats.org/officeDocument/2006/relationships/image" Target="../media/image-107-2.png"/><Relationship Id="rId5" Type="http://schemas.openxmlformats.org/officeDocument/2006/relationships/image" Target="../media/image-107-3.png"/><Relationship Id="rId6" Type="http://schemas.openxmlformats.org/officeDocument/2006/relationships/image" Target="../media/image-107-4.png"/><Relationship Id="rId7" Type="http://schemas.openxmlformats.org/officeDocument/2006/relationships/image" Target="../media/image-107-5.png"/><Relationship Id="rId8" Type="http://schemas.openxmlformats.org/officeDocument/2006/relationships/image" Target="../media/image-107-6.png"/><Relationship Id="rId10" Type="http://schemas.openxmlformats.org/officeDocument/2006/relationships/image" Target="../media/image-107-7.png"/><Relationship Id="rId11" Type="http://schemas.openxmlformats.org/officeDocument/2006/relationships/image" Target="../media/image-107-3.png"/><Relationship Id="rId12" Type="http://schemas.openxmlformats.org/officeDocument/2006/relationships/image" Target="../media/image-107-4.png"/><Relationship Id="rId13" Type="http://schemas.openxmlformats.org/officeDocument/2006/relationships/image" Target="../media/image-107-5.png"/><Relationship Id="rId14" Type="http://schemas.openxmlformats.org/officeDocument/2006/relationships/image" Target="../media/image-107-6.png"/><Relationship Id="rId16" Type="http://schemas.openxmlformats.org/officeDocument/2006/relationships/image" Target="../media/image-107-12.png"/><Relationship Id="rId17" Type="http://schemas.openxmlformats.org/officeDocument/2006/relationships/image" Target="../media/image-107-3.png"/><Relationship Id="rId18" Type="http://schemas.openxmlformats.org/officeDocument/2006/relationships/image" Target="../media/image-107-4.png"/><Relationship Id="rId19" Type="http://schemas.openxmlformats.org/officeDocument/2006/relationships/image" Target="../media/image-107-5.png"/><Relationship Id="rId20" Type="http://schemas.openxmlformats.org/officeDocument/2006/relationships/image" Target="../media/image-107-6.png"/><Relationship Id="rId22" Type="http://schemas.openxmlformats.org/officeDocument/2006/relationships/slideLayout" Target="../slideLayouts/slideLayout1.xml"/><Relationship Id="rId2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07.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07.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07.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07.xml"/><Relationship Id="rId1" Type="http://schemas.openxmlformats.org/officeDocument/2006/relationships/image" Target="../media/image-1-2.png"/><Relationship Id="rId4" Type="http://schemas.openxmlformats.org/officeDocument/2006/relationships/image" Target="../media/image-111-2.png"/><Relationship Id="rId5" Type="http://schemas.openxmlformats.org/officeDocument/2006/relationships/image" Target="../media/image-111-3.png"/><Relationship Id="rId6" Type="http://schemas.openxmlformats.org/officeDocument/2006/relationships/slideLayout" Target="../slideLayouts/slideLayout1.xml"/><Relationship Id="rId7"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5" Type="http://schemas.openxmlformats.org/officeDocument/2006/relationships/slide" Target="slide2.xml"/><Relationship Id="rId6" Type="http://schemas.openxmlformats.org/officeDocument/2006/relationships/slide" Target="slide116.xml"/><Relationship Id="rId1" Type="http://schemas.openxmlformats.org/officeDocument/2006/relationships/image" Target="../media/image-112-1.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7" Type="http://schemas.openxmlformats.org/officeDocument/2006/relationships/slideLayout" Target="../slideLayouts/slideLayout1.xml"/><Relationship Id="rId8"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16.xml"/><Relationship Id="rId1" Type="http://schemas.openxmlformats.org/officeDocument/2006/relationships/image" Target="../media/image-1-2.png"/><Relationship Id="rId4" Type="http://schemas.openxmlformats.org/officeDocument/2006/relationships/image" Target="../media/image-113-2.png"/><Relationship Id="rId5" Type="http://schemas.openxmlformats.org/officeDocument/2006/relationships/image" Target="../media/image-113-3.png"/><Relationship Id="rId6" Type="http://schemas.openxmlformats.org/officeDocument/2006/relationships/image" Target="../media/image-113-4.png"/><Relationship Id="rId7" Type="http://schemas.openxmlformats.org/officeDocument/2006/relationships/image" Target="../media/image-113-5.png"/><Relationship Id="rId8" Type="http://schemas.openxmlformats.org/officeDocument/2006/relationships/slideLayout" Target="../slideLayouts/slideLayout1.xml"/><Relationship Id="rId9"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16.xml"/><Relationship Id="rId1" Type="http://schemas.openxmlformats.org/officeDocument/2006/relationships/image" Target="../media/image-1-2.png"/><Relationship Id="rId4" Type="http://schemas.openxmlformats.org/officeDocument/2006/relationships/image" Target="../media/image-114-2.png"/><Relationship Id="rId5" Type="http://schemas.openxmlformats.org/officeDocument/2006/relationships/slideLayout" Target="../slideLayouts/slideLayout1.xml"/><Relationship Id="rId6"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16.xml"/><Relationship Id="rId1" Type="http://schemas.openxmlformats.org/officeDocument/2006/relationships/image" Target="../media/image-1-2.png"/><Relationship Id="rId4" Type="http://schemas.openxmlformats.org/officeDocument/2006/relationships/image" Target="../media/image-112-1.png"/><Relationship Id="rId5" Type="http://schemas.openxmlformats.org/officeDocument/2006/relationships/image" Target="../media/image-103-2.png"/><Relationship Id="rId6" Type="http://schemas.openxmlformats.org/officeDocument/2006/relationships/image" Target="../media/image-103-2.png"/><Relationship Id="rId7" Type="http://schemas.openxmlformats.org/officeDocument/2006/relationships/image" Target="../media/image-103-2.png"/><Relationship Id="rId8" Type="http://schemas.openxmlformats.org/officeDocument/2006/relationships/image" Target="../media/image-103-2.png"/><Relationship Id="rId9" Type="http://schemas.openxmlformats.org/officeDocument/2006/relationships/image" Target="../media/image-115-7.png"/><Relationship Id="rId10" Type="http://schemas.openxmlformats.org/officeDocument/2006/relationships/slideLayout" Target="../slideLayouts/slideLayout1.xml"/><Relationship Id="rId11"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16.xml"/><Relationship Id="rId9" Type="http://schemas.openxmlformats.org/officeDocument/2006/relationships/slide" Target="slide117.xml"/><Relationship Id="rId15" Type="http://schemas.openxmlformats.org/officeDocument/2006/relationships/slide" Target="slide118.xml"/><Relationship Id="rId21" Type="http://schemas.openxmlformats.org/officeDocument/2006/relationships/slide" Target="slide119.xml"/><Relationship Id="rId1" Type="http://schemas.openxmlformats.org/officeDocument/2006/relationships/image" Target="../media/image-1-2.png"/><Relationship Id="rId4" Type="http://schemas.openxmlformats.org/officeDocument/2006/relationships/image" Target="../media/image-107-2.png"/><Relationship Id="rId5" Type="http://schemas.openxmlformats.org/officeDocument/2006/relationships/image" Target="../media/image-107-3.png"/><Relationship Id="rId6" Type="http://schemas.openxmlformats.org/officeDocument/2006/relationships/image" Target="../media/image-107-4.png"/><Relationship Id="rId7" Type="http://schemas.openxmlformats.org/officeDocument/2006/relationships/image" Target="../media/image-107-5.png"/><Relationship Id="rId8" Type="http://schemas.openxmlformats.org/officeDocument/2006/relationships/image" Target="../media/image-107-6.png"/><Relationship Id="rId10" Type="http://schemas.openxmlformats.org/officeDocument/2006/relationships/image" Target="../media/image-107-7.png"/><Relationship Id="rId11" Type="http://schemas.openxmlformats.org/officeDocument/2006/relationships/image" Target="../media/image-107-3.png"/><Relationship Id="rId12" Type="http://schemas.openxmlformats.org/officeDocument/2006/relationships/image" Target="../media/image-107-4.png"/><Relationship Id="rId13" Type="http://schemas.openxmlformats.org/officeDocument/2006/relationships/image" Target="../media/image-107-5.png"/><Relationship Id="rId14" Type="http://schemas.openxmlformats.org/officeDocument/2006/relationships/image" Target="../media/image-107-6.png"/><Relationship Id="rId16" Type="http://schemas.openxmlformats.org/officeDocument/2006/relationships/image" Target="../media/image-107-12.png"/><Relationship Id="rId17" Type="http://schemas.openxmlformats.org/officeDocument/2006/relationships/image" Target="../media/image-107-3.png"/><Relationship Id="rId18" Type="http://schemas.openxmlformats.org/officeDocument/2006/relationships/image" Target="../media/image-107-4.png"/><Relationship Id="rId19" Type="http://schemas.openxmlformats.org/officeDocument/2006/relationships/image" Target="../media/image-107-5.png"/><Relationship Id="rId20" Type="http://schemas.openxmlformats.org/officeDocument/2006/relationships/image" Target="../media/image-107-6.png"/><Relationship Id="rId22" Type="http://schemas.openxmlformats.org/officeDocument/2006/relationships/slideLayout" Target="../slideLayouts/slideLayout1.xml"/><Relationship Id="rId2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16.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16.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16.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0-2.png"/><Relationship Id="rId3" Type="http://schemas.openxmlformats.org/officeDocument/2006/relationships/image" Target="../media/image-111-2.png"/><Relationship Id="rId4" Type="http://schemas.openxmlformats.org/officeDocument/2006/relationships/image" Target="../media/image-120-4.png"/><Relationship Id="rId5" Type="http://schemas.openxmlformats.org/officeDocument/2006/relationships/image" Target="../media/image-113-3.png"/><Relationship Id="rId6" Type="http://schemas.openxmlformats.org/officeDocument/2006/relationships/slideLayout" Target="../slideLayouts/slideLayout1.xml"/><Relationship Id="rId7"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23.xml"/><Relationship Id="rId1" Type="http://schemas.openxmlformats.org/officeDocument/2006/relationships/image" Target="../media/image-1-2.png"/><Relationship Id="rId4" Type="http://schemas.openxmlformats.org/officeDocument/2006/relationships/image" Target="../media/image-121-2.png"/><Relationship Id="rId5" Type="http://schemas.openxmlformats.org/officeDocument/2006/relationships/image" Target="../media/image-121-3.png"/><Relationship Id="rId6" Type="http://schemas.openxmlformats.org/officeDocument/2006/relationships/image" Target="../media/image-121-4.png"/><Relationship Id="rId7" Type="http://schemas.openxmlformats.org/officeDocument/2006/relationships/image" Target="../media/image-121-5.png"/><Relationship Id="rId8" Type="http://schemas.openxmlformats.org/officeDocument/2006/relationships/image" Target="../media/image-121-6.png"/><Relationship Id="rId9" Type="http://schemas.openxmlformats.org/officeDocument/2006/relationships/slideLayout" Target="../slideLayouts/slideLayout1.xml"/><Relationship Id="rId10"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23.xml"/><Relationship Id="rId1" Type="http://schemas.openxmlformats.org/officeDocument/2006/relationships/image" Target="../media/image-1-2.png"/><Relationship Id="rId4" Type="http://schemas.openxmlformats.org/officeDocument/2006/relationships/image" Target="../media/image-103-2.png"/><Relationship Id="rId5" Type="http://schemas.openxmlformats.org/officeDocument/2006/relationships/image" Target="../media/image-122-3.png"/><Relationship Id="rId6" Type="http://schemas.openxmlformats.org/officeDocument/2006/relationships/image" Target="../media/image-107-3.png"/><Relationship Id="rId7" Type="http://schemas.openxmlformats.org/officeDocument/2006/relationships/image" Target="../media/image-12-2.png"/><Relationship Id="rId8" Type="http://schemas.openxmlformats.org/officeDocument/2006/relationships/image" Target="../media/image-113-4.png"/><Relationship Id="rId9" Type="http://schemas.openxmlformats.org/officeDocument/2006/relationships/image" Target="../media/image-111-3.png"/><Relationship Id="rId10" Type="http://schemas.openxmlformats.org/officeDocument/2006/relationships/image" Target="../media/image-107-7.png"/><Relationship Id="rId11" Type="http://schemas.openxmlformats.org/officeDocument/2006/relationships/slideLayout" Target="../slideLayouts/slideLayout1.xml"/><Relationship Id="rId1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23.xml"/><Relationship Id="rId9" Type="http://schemas.openxmlformats.org/officeDocument/2006/relationships/slide" Target="slide124.xml"/><Relationship Id="rId15" Type="http://schemas.openxmlformats.org/officeDocument/2006/relationships/slide" Target="slide125.xml"/><Relationship Id="rId21" Type="http://schemas.openxmlformats.org/officeDocument/2006/relationships/slide" Target="slide126.xml"/><Relationship Id="rId1" Type="http://schemas.openxmlformats.org/officeDocument/2006/relationships/image" Target="../media/image-1-2.png"/><Relationship Id="rId4" Type="http://schemas.openxmlformats.org/officeDocument/2006/relationships/image" Target="../media/image-107-2.png"/><Relationship Id="rId5" Type="http://schemas.openxmlformats.org/officeDocument/2006/relationships/image" Target="../media/image-107-3.png"/><Relationship Id="rId6" Type="http://schemas.openxmlformats.org/officeDocument/2006/relationships/image" Target="../media/image-107-4.png"/><Relationship Id="rId7" Type="http://schemas.openxmlformats.org/officeDocument/2006/relationships/image" Target="../media/image-107-5.png"/><Relationship Id="rId8" Type="http://schemas.openxmlformats.org/officeDocument/2006/relationships/image" Target="../media/image-107-6.png"/><Relationship Id="rId10" Type="http://schemas.openxmlformats.org/officeDocument/2006/relationships/image" Target="../media/image-107-7.png"/><Relationship Id="rId11" Type="http://schemas.openxmlformats.org/officeDocument/2006/relationships/image" Target="../media/image-107-3.png"/><Relationship Id="rId12" Type="http://schemas.openxmlformats.org/officeDocument/2006/relationships/image" Target="../media/image-107-4.png"/><Relationship Id="rId13" Type="http://schemas.openxmlformats.org/officeDocument/2006/relationships/image" Target="../media/image-107-5.png"/><Relationship Id="rId14" Type="http://schemas.openxmlformats.org/officeDocument/2006/relationships/image" Target="../media/image-107-6.png"/><Relationship Id="rId16" Type="http://schemas.openxmlformats.org/officeDocument/2006/relationships/image" Target="../media/image-107-12.png"/><Relationship Id="rId17" Type="http://schemas.openxmlformats.org/officeDocument/2006/relationships/image" Target="../media/image-107-3.png"/><Relationship Id="rId18" Type="http://schemas.openxmlformats.org/officeDocument/2006/relationships/image" Target="../media/image-107-4.png"/><Relationship Id="rId19" Type="http://schemas.openxmlformats.org/officeDocument/2006/relationships/image" Target="../media/image-107-5.png"/><Relationship Id="rId20" Type="http://schemas.openxmlformats.org/officeDocument/2006/relationships/image" Target="../media/image-107-6.png"/><Relationship Id="rId22" Type="http://schemas.openxmlformats.org/officeDocument/2006/relationships/slideLayout" Target="../slideLayouts/slideLayout1.xml"/><Relationship Id="rId2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23.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23.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23.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4" Type="http://schemas.openxmlformats.org/officeDocument/2006/relationships/slide" Target="slide2.xml"/><Relationship Id="rId5" Type="http://schemas.openxmlformats.org/officeDocument/2006/relationships/slide" Target="slide130.xml"/><Relationship Id="rId1" Type="http://schemas.openxmlformats.org/officeDocument/2006/relationships/image" Target="../media/image-127-1.png"/><Relationship Id="rId2" Type="http://schemas.openxmlformats.org/officeDocument/2006/relationships/image" Target="../media/image-10-2.png"/><Relationship Id="rId3" Type="http://schemas.openxmlformats.org/officeDocument/2006/relationships/image" Target="../media/image-10-2.png"/><Relationship Id="rId6" Type="http://schemas.openxmlformats.org/officeDocument/2006/relationships/slideLayout" Target="../slideLayouts/slideLayout1.xml"/><Relationship Id="rId7"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30.xml"/><Relationship Id="rId1" Type="http://schemas.openxmlformats.org/officeDocument/2006/relationships/image" Target="../media/image-1-2.png"/><Relationship Id="rId4" Type="http://schemas.openxmlformats.org/officeDocument/2006/relationships/image" Target="../media/image-111-2.png"/><Relationship Id="rId5" Type="http://schemas.openxmlformats.org/officeDocument/2006/relationships/image" Target="../media/image-120-4.png"/><Relationship Id="rId6" Type="http://schemas.openxmlformats.org/officeDocument/2006/relationships/image" Target="../media/image-128-4.png"/><Relationship Id="rId7" Type="http://schemas.openxmlformats.org/officeDocument/2006/relationships/image" Target="../media/image-128-5.png"/><Relationship Id="rId8" Type="http://schemas.openxmlformats.org/officeDocument/2006/relationships/image" Target="../media/image-128-6.png"/><Relationship Id="rId9" Type="http://schemas.openxmlformats.org/officeDocument/2006/relationships/image" Target="../media/image-113-3.png"/><Relationship Id="rId10" Type="http://schemas.openxmlformats.org/officeDocument/2006/relationships/image" Target="../media/image-128-8.png"/><Relationship Id="rId11" Type="http://schemas.openxmlformats.org/officeDocument/2006/relationships/slideLayout" Target="../slideLayouts/slideLayout1.xml"/><Relationship Id="rId1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30.xml"/><Relationship Id="rId1" Type="http://schemas.openxmlformats.org/officeDocument/2006/relationships/image" Target="../media/image-1-2.png"/><Relationship Id="rId4" Type="http://schemas.openxmlformats.org/officeDocument/2006/relationships/image" Target="../media/image-128-6.png"/><Relationship Id="rId5" Type="http://schemas.openxmlformats.org/officeDocument/2006/relationships/image" Target="../media/image-129-3.png"/><Relationship Id="rId6" Type="http://schemas.openxmlformats.org/officeDocument/2006/relationships/image" Target="../media/image-129-4.png"/><Relationship Id="rId7" Type="http://schemas.openxmlformats.org/officeDocument/2006/relationships/image" Target="../media/image-129-5.png"/><Relationship Id="rId8" Type="http://schemas.openxmlformats.org/officeDocument/2006/relationships/image" Target="../media/image-129-6.png"/><Relationship Id="rId9" Type="http://schemas.openxmlformats.org/officeDocument/2006/relationships/slideLayout" Target="../slideLayouts/slideLayout1.xml"/><Relationship Id="rId10"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30.xml"/><Relationship Id="rId9" Type="http://schemas.openxmlformats.org/officeDocument/2006/relationships/slide" Target="slide131.xml"/><Relationship Id="rId15" Type="http://schemas.openxmlformats.org/officeDocument/2006/relationships/slide" Target="slide132.xml"/><Relationship Id="rId21" Type="http://schemas.openxmlformats.org/officeDocument/2006/relationships/slide" Target="slide133.xml"/><Relationship Id="rId1" Type="http://schemas.openxmlformats.org/officeDocument/2006/relationships/image" Target="../media/image-1-2.png"/><Relationship Id="rId4" Type="http://schemas.openxmlformats.org/officeDocument/2006/relationships/image" Target="../media/image-107-2.png"/><Relationship Id="rId5" Type="http://schemas.openxmlformats.org/officeDocument/2006/relationships/image" Target="../media/image-107-3.png"/><Relationship Id="rId6" Type="http://schemas.openxmlformats.org/officeDocument/2006/relationships/image" Target="../media/image-107-4.png"/><Relationship Id="rId7" Type="http://schemas.openxmlformats.org/officeDocument/2006/relationships/image" Target="../media/image-107-5.png"/><Relationship Id="rId8" Type="http://schemas.openxmlformats.org/officeDocument/2006/relationships/image" Target="../media/image-107-6.png"/><Relationship Id="rId10" Type="http://schemas.openxmlformats.org/officeDocument/2006/relationships/image" Target="../media/image-107-7.png"/><Relationship Id="rId11" Type="http://schemas.openxmlformats.org/officeDocument/2006/relationships/image" Target="../media/image-107-3.png"/><Relationship Id="rId12" Type="http://schemas.openxmlformats.org/officeDocument/2006/relationships/image" Target="../media/image-107-4.png"/><Relationship Id="rId13" Type="http://schemas.openxmlformats.org/officeDocument/2006/relationships/image" Target="../media/image-107-5.png"/><Relationship Id="rId14" Type="http://schemas.openxmlformats.org/officeDocument/2006/relationships/image" Target="../media/image-107-6.png"/><Relationship Id="rId16" Type="http://schemas.openxmlformats.org/officeDocument/2006/relationships/image" Target="../media/image-107-12.png"/><Relationship Id="rId17" Type="http://schemas.openxmlformats.org/officeDocument/2006/relationships/image" Target="../media/image-107-3.png"/><Relationship Id="rId18" Type="http://schemas.openxmlformats.org/officeDocument/2006/relationships/image" Target="../media/image-107-4.png"/><Relationship Id="rId19" Type="http://schemas.openxmlformats.org/officeDocument/2006/relationships/image" Target="../media/image-107-5.png"/><Relationship Id="rId20" Type="http://schemas.openxmlformats.org/officeDocument/2006/relationships/image" Target="../media/image-107-6.png"/><Relationship Id="rId22" Type="http://schemas.openxmlformats.org/officeDocument/2006/relationships/slideLayout" Target="../slideLayouts/slideLayout1.xml"/><Relationship Id="rId2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30.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30.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30.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5" Type="http://schemas.openxmlformats.org/officeDocument/2006/relationships/slide" Target="slide2.xml"/><Relationship Id="rId6" Type="http://schemas.openxmlformats.org/officeDocument/2006/relationships/slide" Target="slide138.xml"/><Relationship Id="rId1" Type="http://schemas.openxmlformats.org/officeDocument/2006/relationships/image" Target="../media/image-111-2.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7" Type="http://schemas.openxmlformats.org/officeDocument/2006/relationships/slideLayout" Target="../slideLayouts/slideLayout1.xml"/><Relationship Id="rId8"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38.xml"/><Relationship Id="rId1" Type="http://schemas.openxmlformats.org/officeDocument/2006/relationships/image" Target="../media/image-1-2.png"/><Relationship Id="rId4" Type="http://schemas.openxmlformats.org/officeDocument/2006/relationships/image" Target="../media/image-135-2.png"/><Relationship Id="rId5" Type="http://schemas.openxmlformats.org/officeDocument/2006/relationships/image" Target="../media/image-135-3.png"/><Relationship Id="rId6" Type="http://schemas.openxmlformats.org/officeDocument/2006/relationships/image" Target="../media/image-135-4.png"/><Relationship Id="rId7" Type="http://schemas.openxmlformats.org/officeDocument/2006/relationships/image" Target="../media/image-135-5.png"/><Relationship Id="rId8" Type="http://schemas.openxmlformats.org/officeDocument/2006/relationships/image" Target="../media/image-135-6.png"/><Relationship Id="rId9" Type="http://schemas.openxmlformats.org/officeDocument/2006/relationships/slideLayout" Target="../slideLayouts/slideLayout1.xml"/><Relationship Id="rId10"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38.xml"/><Relationship Id="rId1" Type="http://schemas.openxmlformats.org/officeDocument/2006/relationships/image" Target="../media/image-1-2.png"/><Relationship Id="rId4" Type="http://schemas.openxmlformats.org/officeDocument/2006/relationships/image" Target="../media/image-136-2.png"/><Relationship Id="rId5" Type="http://schemas.openxmlformats.org/officeDocument/2006/relationships/image" Target="../media/image-136-3.png"/><Relationship Id="rId6" Type="http://schemas.openxmlformats.org/officeDocument/2006/relationships/image" Target="../media/image-136-4.png"/><Relationship Id="rId7" Type="http://schemas.openxmlformats.org/officeDocument/2006/relationships/image" Target="../media/image-136-5.png"/><Relationship Id="rId8" Type="http://schemas.openxmlformats.org/officeDocument/2006/relationships/image" Target="../media/image-136-6.png"/><Relationship Id="rId9" Type="http://schemas.openxmlformats.org/officeDocument/2006/relationships/slideLayout" Target="../slideLayouts/slideLayout1.xml"/><Relationship Id="rId10"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38.xml"/><Relationship Id="rId1" Type="http://schemas.openxmlformats.org/officeDocument/2006/relationships/image" Target="../media/image-1-2.png"/><Relationship Id="rId4" Type="http://schemas.openxmlformats.org/officeDocument/2006/relationships/image" Target="../media/image-107-7.png"/><Relationship Id="rId5" Type="http://schemas.openxmlformats.org/officeDocument/2006/relationships/image" Target="../media/image-137-3.png"/><Relationship Id="rId6" Type="http://schemas.openxmlformats.org/officeDocument/2006/relationships/image" Target="../media/image-137-4.png"/><Relationship Id="rId7" Type="http://schemas.openxmlformats.org/officeDocument/2006/relationships/image" Target="../media/image-137-5.png"/><Relationship Id="rId8" Type="http://schemas.openxmlformats.org/officeDocument/2006/relationships/image" Target="../media/image-137-6.png"/><Relationship Id="rId9" Type="http://schemas.openxmlformats.org/officeDocument/2006/relationships/image" Target="../media/image-137-7.png"/><Relationship Id="rId10" Type="http://schemas.openxmlformats.org/officeDocument/2006/relationships/slideLayout" Target="../slideLayouts/slideLayout1.xml"/><Relationship Id="rId11"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38.xml"/><Relationship Id="rId9" Type="http://schemas.openxmlformats.org/officeDocument/2006/relationships/slide" Target="slide139.xml"/><Relationship Id="rId15" Type="http://schemas.openxmlformats.org/officeDocument/2006/relationships/slide" Target="slide140.xml"/><Relationship Id="rId21" Type="http://schemas.openxmlformats.org/officeDocument/2006/relationships/slide" Target="slide141.xml"/><Relationship Id="rId1" Type="http://schemas.openxmlformats.org/officeDocument/2006/relationships/image" Target="../media/image-1-2.png"/><Relationship Id="rId4" Type="http://schemas.openxmlformats.org/officeDocument/2006/relationships/image" Target="../media/image-107-2.png"/><Relationship Id="rId5" Type="http://schemas.openxmlformats.org/officeDocument/2006/relationships/image" Target="../media/image-107-3.png"/><Relationship Id="rId6" Type="http://schemas.openxmlformats.org/officeDocument/2006/relationships/image" Target="../media/image-107-4.png"/><Relationship Id="rId7" Type="http://schemas.openxmlformats.org/officeDocument/2006/relationships/image" Target="../media/image-107-5.png"/><Relationship Id="rId8" Type="http://schemas.openxmlformats.org/officeDocument/2006/relationships/image" Target="../media/image-107-6.png"/><Relationship Id="rId10" Type="http://schemas.openxmlformats.org/officeDocument/2006/relationships/image" Target="../media/image-107-7.png"/><Relationship Id="rId11" Type="http://schemas.openxmlformats.org/officeDocument/2006/relationships/image" Target="../media/image-107-3.png"/><Relationship Id="rId12" Type="http://schemas.openxmlformats.org/officeDocument/2006/relationships/image" Target="../media/image-107-4.png"/><Relationship Id="rId13" Type="http://schemas.openxmlformats.org/officeDocument/2006/relationships/image" Target="../media/image-107-5.png"/><Relationship Id="rId14" Type="http://schemas.openxmlformats.org/officeDocument/2006/relationships/image" Target="../media/image-107-6.png"/><Relationship Id="rId16" Type="http://schemas.openxmlformats.org/officeDocument/2006/relationships/image" Target="../media/image-107-12.png"/><Relationship Id="rId17" Type="http://schemas.openxmlformats.org/officeDocument/2006/relationships/image" Target="../media/image-107-3.png"/><Relationship Id="rId18" Type="http://schemas.openxmlformats.org/officeDocument/2006/relationships/image" Target="../media/image-107-4.png"/><Relationship Id="rId19" Type="http://schemas.openxmlformats.org/officeDocument/2006/relationships/image" Target="../media/image-107-5.png"/><Relationship Id="rId20" Type="http://schemas.openxmlformats.org/officeDocument/2006/relationships/image" Target="../media/image-107-6.png"/><Relationship Id="rId22" Type="http://schemas.openxmlformats.org/officeDocument/2006/relationships/slideLayout" Target="../slideLayouts/slideLayout1.xml"/><Relationship Id="rId2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38.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38.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38.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38.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38.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38.xml"/><Relationship Id="rId1" Type="http://schemas.openxmlformats.org/officeDocument/2006/relationships/image" Target="../media/image-1-2.png"/><Relationship Id="rId4" Type="http://schemas.openxmlformats.org/officeDocument/2006/relationships/image" Target="../media/image-103-2.png"/><Relationship Id="rId5" Type="http://schemas.openxmlformats.org/officeDocument/2006/relationships/slideLayout" Target="../slideLayouts/slideLayout1.xml"/><Relationship Id="rId6"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2.png"/><Relationship Id="rId3" Type="http://schemas.openxmlformats.org/officeDocument/2006/relationships/image" Target="../media/image-145-2.png"/><Relationship Id="rId4" Type="http://schemas.openxmlformats.org/officeDocument/2006/relationships/image" Target="../media/image-12-2.png"/><Relationship Id="rId5" Type="http://schemas.openxmlformats.org/officeDocument/2006/relationships/slideLayout" Target="../slideLayouts/slideLayout1.xml"/><Relationship Id="rId6"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4" Type="http://schemas.openxmlformats.org/officeDocument/2006/relationships/slide" Target="slide2.xml"/><Relationship Id="rId5" Type="http://schemas.openxmlformats.org/officeDocument/2006/relationships/slide" Target="slide153.xml"/><Relationship Id="rId1" Type="http://schemas.openxmlformats.org/officeDocument/2006/relationships/image" Target="../media/image-120-4.png"/><Relationship Id="rId2" Type="http://schemas.openxmlformats.org/officeDocument/2006/relationships/image" Target="../media/image-10-2.png"/><Relationship Id="rId3" Type="http://schemas.openxmlformats.org/officeDocument/2006/relationships/image" Target="../media/image-10-2.png"/><Relationship Id="rId6" Type="http://schemas.openxmlformats.org/officeDocument/2006/relationships/slideLayout" Target="../slideLayouts/slideLayout1.xml"/><Relationship Id="rId7"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53.xml"/><Relationship Id="rId6" Type="http://schemas.openxmlformats.org/officeDocument/2006/relationships/slide" Target="slide149.xml"/><Relationship Id="rId9" Type="http://schemas.openxmlformats.org/officeDocument/2006/relationships/slide" Target="slide150.xml"/><Relationship Id="rId12" Type="http://schemas.openxmlformats.org/officeDocument/2006/relationships/slide" Target="slide151.xml"/><Relationship Id="rId15" Type="http://schemas.openxmlformats.org/officeDocument/2006/relationships/slide" Target="slide152.xml"/><Relationship Id="rId1" Type="http://schemas.openxmlformats.org/officeDocument/2006/relationships/image" Target="../media/image-1-2.png"/><Relationship Id="rId4" Type="http://schemas.openxmlformats.org/officeDocument/2006/relationships/image" Target="../media/image-147-2.png"/><Relationship Id="rId5" Type="http://schemas.openxmlformats.org/officeDocument/2006/relationships/image" Target="../media/image-107-6.png"/><Relationship Id="rId7" Type="http://schemas.openxmlformats.org/officeDocument/2006/relationships/image" Target="../media/image-147-4.png"/><Relationship Id="rId8" Type="http://schemas.openxmlformats.org/officeDocument/2006/relationships/image" Target="../media/image-107-6.png"/><Relationship Id="rId10" Type="http://schemas.openxmlformats.org/officeDocument/2006/relationships/image" Target="../media/image-147-6.png"/><Relationship Id="rId11" Type="http://schemas.openxmlformats.org/officeDocument/2006/relationships/image" Target="../media/image-107-6.png"/><Relationship Id="rId13" Type="http://schemas.openxmlformats.org/officeDocument/2006/relationships/image" Target="../media/image-147-8.png"/><Relationship Id="rId14" Type="http://schemas.openxmlformats.org/officeDocument/2006/relationships/image" Target="../media/image-107-6.png"/><Relationship Id="rId16" Type="http://schemas.openxmlformats.org/officeDocument/2006/relationships/slideLayout" Target="../slideLayouts/slideLayout1.xml"/><Relationship Id="rId17"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53.xml"/><Relationship Id="rId1" Type="http://schemas.openxmlformats.org/officeDocument/2006/relationships/image" Target="../media/image-1-2.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53.xml"/><Relationship Id="rId1" Type="http://schemas.openxmlformats.org/officeDocument/2006/relationships/image" Target="../media/image-1-2.png"/><Relationship Id="rId4" Type="http://schemas.openxmlformats.org/officeDocument/2006/relationships/image" Target="../media/image-149-2.png"/><Relationship Id="rId5" Type="http://schemas.openxmlformats.org/officeDocument/2006/relationships/slideLayout" Target="../slideLayouts/slideLayout1.xml"/><Relationship Id="rId6"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53.xml"/><Relationship Id="rId1" Type="http://schemas.openxmlformats.org/officeDocument/2006/relationships/image" Target="../media/image-1-2.png"/><Relationship Id="rId4" Type="http://schemas.openxmlformats.org/officeDocument/2006/relationships/image" Target="../media/image-149-2.png"/><Relationship Id="rId5" Type="http://schemas.openxmlformats.org/officeDocument/2006/relationships/slideLayout" Target="../slideLayouts/slideLayout1.xml"/><Relationship Id="rId6"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53.xml"/><Relationship Id="rId1" Type="http://schemas.openxmlformats.org/officeDocument/2006/relationships/image" Target="../media/image-1-2.png"/><Relationship Id="rId4" Type="http://schemas.openxmlformats.org/officeDocument/2006/relationships/image" Target="../media/image-149-2.png"/><Relationship Id="rId5" Type="http://schemas.openxmlformats.org/officeDocument/2006/relationships/slideLayout" Target="../slideLayouts/slideLayout1.xml"/><Relationship Id="rId6"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53.xml"/><Relationship Id="rId1" Type="http://schemas.openxmlformats.org/officeDocument/2006/relationships/image" Target="../media/image-1-2.png"/><Relationship Id="rId4" Type="http://schemas.openxmlformats.org/officeDocument/2006/relationships/image" Target="../media/image-149-2.png"/><Relationship Id="rId5" Type="http://schemas.openxmlformats.org/officeDocument/2006/relationships/slideLayout" Target="../slideLayouts/slideLayout1.xml"/><Relationship Id="rId6"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53.xml"/><Relationship Id="rId9" Type="http://schemas.openxmlformats.org/officeDocument/2006/relationships/slide" Target="slide154.xml"/><Relationship Id="rId15" Type="http://schemas.openxmlformats.org/officeDocument/2006/relationships/slide" Target="slide155.xml"/><Relationship Id="rId21" Type="http://schemas.openxmlformats.org/officeDocument/2006/relationships/slide" Target="slide156.xml"/><Relationship Id="rId1" Type="http://schemas.openxmlformats.org/officeDocument/2006/relationships/image" Target="../media/image-1-2.png"/><Relationship Id="rId4" Type="http://schemas.openxmlformats.org/officeDocument/2006/relationships/image" Target="../media/image-107-2.png"/><Relationship Id="rId5" Type="http://schemas.openxmlformats.org/officeDocument/2006/relationships/image" Target="../media/image-107-3.png"/><Relationship Id="rId6" Type="http://schemas.openxmlformats.org/officeDocument/2006/relationships/image" Target="../media/image-107-4.png"/><Relationship Id="rId7" Type="http://schemas.openxmlformats.org/officeDocument/2006/relationships/image" Target="../media/image-107-5.png"/><Relationship Id="rId8" Type="http://schemas.openxmlformats.org/officeDocument/2006/relationships/image" Target="../media/image-107-6.png"/><Relationship Id="rId10" Type="http://schemas.openxmlformats.org/officeDocument/2006/relationships/image" Target="../media/image-107-7.png"/><Relationship Id="rId11" Type="http://schemas.openxmlformats.org/officeDocument/2006/relationships/image" Target="../media/image-107-3.png"/><Relationship Id="rId12" Type="http://schemas.openxmlformats.org/officeDocument/2006/relationships/image" Target="../media/image-107-4.png"/><Relationship Id="rId13" Type="http://schemas.openxmlformats.org/officeDocument/2006/relationships/image" Target="../media/image-107-5.png"/><Relationship Id="rId14" Type="http://schemas.openxmlformats.org/officeDocument/2006/relationships/image" Target="../media/image-107-6.png"/><Relationship Id="rId16" Type="http://schemas.openxmlformats.org/officeDocument/2006/relationships/image" Target="../media/image-107-12.png"/><Relationship Id="rId17" Type="http://schemas.openxmlformats.org/officeDocument/2006/relationships/image" Target="../media/image-107-3.png"/><Relationship Id="rId18" Type="http://schemas.openxmlformats.org/officeDocument/2006/relationships/image" Target="../media/image-107-4.png"/><Relationship Id="rId19" Type="http://schemas.openxmlformats.org/officeDocument/2006/relationships/image" Target="../media/image-107-5.png"/><Relationship Id="rId20" Type="http://schemas.openxmlformats.org/officeDocument/2006/relationships/image" Target="../media/image-107-6.png"/><Relationship Id="rId22" Type="http://schemas.openxmlformats.org/officeDocument/2006/relationships/slideLayout" Target="../slideLayouts/slideLayout1.xml"/><Relationship Id="rId2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53.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53.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53.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53.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53.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53.xml"/><Relationship Id="rId1" Type="http://schemas.openxmlformats.org/officeDocument/2006/relationships/image" Target="../media/image-1-2.png"/><Relationship Id="rId4" Type="http://schemas.openxmlformats.org/officeDocument/2006/relationships/image" Target="../media/image-103-2.png"/><Relationship Id="rId5" Type="http://schemas.openxmlformats.org/officeDocument/2006/relationships/slideLayout" Target="../slideLayouts/slideLayout1.xml"/><Relationship Id="rId6"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6" Type="http://schemas.openxmlformats.org/officeDocument/2006/relationships/slide" Target="slide2.xml"/><Relationship Id="rId7" Type="http://schemas.openxmlformats.org/officeDocument/2006/relationships/slide" Target="slide167.xml"/><Relationship Id="rId1" Type="http://schemas.openxmlformats.org/officeDocument/2006/relationships/image" Target="../media/image-128-4.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5" Type="http://schemas.openxmlformats.org/officeDocument/2006/relationships/image" Target="../media/image-10-2.png"/><Relationship Id="rId8" Type="http://schemas.openxmlformats.org/officeDocument/2006/relationships/slideLayout" Target="../slideLayouts/slideLayout1.xml"/><Relationship Id="rId9"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7.xml"/><Relationship Id="rId1" Type="http://schemas.openxmlformats.org/officeDocument/2006/relationships/image" Target="../media/image-1-2.png"/><Relationship Id="rId4" Type="http://schemas.openxmlformats.org/officeDocument/2006/relationships/image" Target="../media/image-149-2.png"/><Relationship Id="rId5" Type="http://schemas.openxmlformats.org/officeDocument/2006/relationships/slideLayout" Target="../slideLayouts/slideLayout1.xml"/><Relationship Id="rId6"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7.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7.xml"/><Relationship Id="rId1" Type="http://schemas.openxmlformats.org/officeDocument/2006/relationships/image" Target="../media/image-1-2.png"/><Relationship Id="rId4" Type="http://schemas.openxmlformats.org/officeDocument/2006/relationships/image" Target="../media/image-137-7.png"/><Relationship Id="rId5" Type="http://schemas.openxmlformats.org/officeDocument/2006/relationships/slideLayout" Target="../slideLayouts/slideLayout1.xml"/><Relationship Id="rId6"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7.xml"/><Relationship Id="rId1" Type="http://schemas.openxmlformats.org/officeDocument/2006/relationships/image" Target="../media/image-1-2.png"/><Relationship Id="rId4" Type="http://schemas.openxmlformats.org/officeDocument/2006/relationships/image" Target="../media/image-164-2.png"/><Relationship Id="rId5" Type="http://schemas.openxmlformats.org/officeDocument/2006/relationships/image" Target="../media/image-164-3.png"/><Relationship Id="rId6" Type="http://schemas.openxmlformats.org/officeDocument/2006/relationships/image" Target="../media/image-164-4.png"/><Relationship Id="rId7" Type="http://schemas.openxmlformats.org/officeDocument/2006/relationships/image" Target="../media/image-164-5.png"/><Relationship Id="rId8" Type="http://schemas.openxmlformats.org/officeDocument/2006/relationships/image" Target="../media/image-137-6.png"/><Relationship Id="rId9" Type="http://schemas.openxmlformats.org/officeDocument/2006/relationships/slideLayout" Target="../slideLayouts/slideLayout1.xml"/><Relationship Id="rId10"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7.xml"/><Relationship Id="rId1" Type="http://schemas.openxmlformats.org/officeDocument/2006/relationships/image" Target="../media/image-1-2.png"/><Relationship Id="rId4" Type="http://schemas.openxmlformats.org/officeDocument/2006/relationships/image" Target="../media/image-164-2.png"/><Relationship Id="rId5" Type="http://schemas.openxmlformats.org/officeDocument/2006/relationships/image" Target="../media/image-165-3.png"/><Relationship Id="rId6" Type="http://schemas.openxmlformats.org/officeDocument/2006/relationships/image" Target="../media/image-164-5.png"/><Relationship Id="rId7" Type="http://schemas.openxmlformats.org/officeDocument/2006/relationships/image" Target="../media/image-165-5.png"/><Relationship Id="rId8" Type="http://schemas.openxmlformats.org/officeDocument/2006/relationships/image" Target="../media/image-165-6.png"/><Relationship Id="rId9" Type="http://schemas.openxmlformats.org/officeDocument/2006/relationships/image" Target="../media/image-165-7.png"/><Relationship Id="rId10" Type="http://schemas.openxmlformats.org/officeDocument/2006/relationships/image" Target="../media/image-128-8.png"/><Relationship Id="rId11" Type="http://schemas.openxmlformats.org/officeDocument/2006/relationships/image" Target="../media/image-165-9.png"/><Relationship Id="rId12" Type="http://schemas.openxmlformats.org/officeDocument/2006/relationships/slideLayout" Target="../slideLayouts/slideLayout1.xml"/><Relationship Id="rId1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7.xml"/><Relationship Id="rId1" Type="http://schemas.openxmlformats.org/officeDocument/2006/relationships/image" Target="../media/image-1-2.png"/><Relationship Id="rId4" Type="http://schemas.openxmlformats.org/officeDocument/2006/relationships/image" Target="../media/image-166-2.png"/><Relationship Id="rId5" Type="http://schemas.openxmlformats.org/officeDocument/2006/relationships/image" Target="../media/image-103-2.png"/><Relationship Id="rId6" Type="http://schemas.openxmlformats.org/officeDocument/2006/relationships/image" Target="../media/image-166-4.png"/><Relationship Id="rId7" Type="http://schemas.openxmlformats.org/officeDocument/2006/relationships/image" Target="../media/image-103-2.png"/><Relationship Id="rId8" Type="http://schemas.openxmlformats.org/officeDocument/2006/relationships/image" Target="../media/image-166-6.png"/><Relationship Id="rId9" Type="http://schemas.openxmlformats.org/officeDocument/2006/relationships/image" Target="../media/image-103-2.png"/><Relationship Id="rId10" Type="http://schemas.openxmlformats.org/officeDocument/2006/relationships/image" Target="../media/image-121-4.png"/><Relationship Id="rId11" Type="http://schemas.openxmlformats.org/officeDocument/2006/relationships/image" Target="../media/image-103-2.png"/><Relationship Id="rId12" Type="http://schemas.openxmlformats.org/officeDocument/2006/relationships/image" Target="../media/image-166-10.png"/><Relationship Id="rId13" Type="http://schemas.openxmlformats.org/officeDocument/2006/relationships/image" Target="../media/image-103-2.png"/><Relationship Id="rId14" Type="http://schemas.openxmlformats.org/officeDocument/2006/relationships/image" Target="../media/image-129-3.png"/><Relationship Id="rId15" Type="http://schemas.openxmlformats.org/officeDocument/2006/relationships/image" Target="../media/image-103-2.png"/><Relationship Id="rId16" Type="http://schemas.openxmlformats.org/officeDocument/2006/relationships/slideLayout" Target="../slideLayouts/slideLayout1.xml"/><Relationship Id="rId17"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7.xml"/><Relationship Id="rId9" Type="http://schemas.openxmlformats.org/officeDocument/2006/relationships/slide" Target="slide168.xml"/><Relationship Id="rId15" Type="http://schemas.openxmlformats.org/officeDocument/2006/relationships/slide" Target="slide169.xml"/><Relationship Id="rId21" Type="http://schemas.openxmlformats.org/officeDocument/2006/relationships/slide" Target="slide170.xml"/><Relationship Id="rId1" Type="http://schemas.openxmlformats.org/officeDocument/2006/relationships/image" Target="../media/image-1-2.png"/><Relationship Id="rId4" Type="http://schemas.openxmlformats.org/officeDocument/2006/relationships/image" Target="../media/image-107-2.png"/><Relationship Id="rId5" Type="http://schemas.openxmlformats.org/officeDocument/2006/relationships/image" Target="../media/image-107-3.png"/><Relationship Id="rId6" Type="http://schemas.openxmlformats.org/officeDocument/2006/relationships/image" Target="../media/image-107-4.png"/><Relationship Id="rId7" Type="http://schemas.openxmlformats.org/officeDocument/2006/relationships/image" Target="../media/image-107-5.png"/><Relationship Id="rId8" Type="http://schemas.openxmlformats.org/officeDocument/2006/relationships/image" Target="../media/image-107-6.png"/><Relationship Id="rId10" Type="http://schemas.openxmlformats.org/officeDocument/2006/relationships/image" Target="../media/image-107-7.png"/><Relationship Id="rId11" Type="http://schemas.openxmlformats.org/officeDocument/2006/relationships/image" Target="../media/image-107-3.png"/><Relationship Id="rId12" Type="http://schemas.openxmlformats.org/officeDocument/2006/relationships/image" Target="../media/image-107-4.png"/><Relationship Id="rId13" Type="http://schemas.openxmlformats.org/officeDocument/2006/relationships/image" Target="../media/image-107-5.png"/><Relationship Id="rId14" Type="http://schemas.openxmlformats.org/officeDocument/2006/relationships/image" Target="../media/image-107-6.png"/><Relationship Id="rId16" Type="http://schemas.openxmlformats.org/officeDocument/2006/relationships/image" Target="../media/image-107-12.png"/><Relationship Id="rId17" Type="http://schemas.openxmlformats.org/officeDocument/2006/relationships/image" Target="../media/image-107-3.png"/><Relationship Id="rId18" Type="http://schemas.openxmlformats.org/officeDocument/2006/relationships/image" Target="../media/image-107-4.png"/><Relationship Id="rId19" Type="http://schemas.openxmlformats.org/officeDocument/2006/relationships/image" Target="../media/image-107-5.png"/><Relationship Id="rId20" Type="http://schemas.openxmlformats.org/officeDocument/2006/relationships/image" Target="../media/image-107-6.png"/><Relationship Id="rId22" Type="http://schemas.openxmlformats.org/officeDocument/2006/relationships/slideLayout" Target="../slideLayouts/slideLayout1.xml"/><Relationship Id="rId2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7.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7.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7.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7.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7.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67.xml"/><Relationship Id="rId1" Type="http://schemas.openxmlformats.org/officeDocument/2006/relationships/image" Target="../media/image-1-2.png"/><Relationship Id="rId4" Type="http://schemas.openxmlformats.org/officeDocument/2006/relationships/image" Target="../media/image-103-2.png"/><Relationship Id="rId5" Type="http://schemas.openxmlformats.org/officeDocument/2006/relationships/slideLayout" Target="../slideLayouts/slideLayout1.xml"/><Relationship Id="rId6"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2.png"/><Relationship Id="rId3" Type="http://schemas.openxmlformats.org/officeDocument/2006/relationships/image" Target="../media/image-174-2.png"/><Relationship Id="rId4" Type="http://schemas.openxmlformats.org/officeDocument/2006/relationships/slideLayout" Target="../slideLayouts/slideLayout1.xml"/><Relationship Id="rId5"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6" Type="http://schemas.openxmlformats.org/officeDocument/2006/relationships/slide" Target="slide2.xml"/><Relationship Id="rId7" Type="http://schemas.openxmlformats.org/officeDocument/2006/relationships/slide" Target="slide181.xml"/><Relationship Id="rId1" Type="http://schemas.openxmlformats.org/officeDocument/2006/relationships/image" Target="../media/image-128-5.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5" Type="http://schemas.openxmlformats.org/officeDocument/2006/relationships/image" Target="../media/image-10-2.png"/><Relationship Id="rId8" Type="http://schemas.openxmlformats.org/officeDocument/2006/relationships/slideLayout" Target="../slideLayouts/slideLayout1.xml"/><Relationship Id="rId9"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81.xml"/><Relationship Id="rId1" Type="http://schemas.openxmlformats.org/officeDocument/2006/relationships/image" Target="../media/image-1-2.png"/><Relationship Id="rId4" Type="http://schemas.openxmlformats.org/officeDocument/2006/relationships/image" Target="../media/image-114-2.png"/><Relationship Id="rId5" Type="http://schemas.openxmlformats.org/officeDocument/2006/relationships/slideLayout" Target="../slideLayouts/slideLayout1.xml"/><Relationship Id="rId6"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81.xml"/><Relationship Id="rId1" Type="http://schemas.openxmlformats.org/officeDocument/2006/relationships/image" Target="../media/image-1-2.png"/><Relationship Id="rId4" Type="http://schemas.openxmlformats.org/officeDocument/2006/relationships/image" Target="../media/image-177-2.png"/><Relationship Id="rId5" Type="http://schemas.openxmlformats.org/officeDocument/2006/relationships/image" Target="../media/image-177-3.png"/><Relationship Id="rId6" Type="http://schemas.openxmlformats.org/officeDocument/2006/relationships/image" Target="../media/image-177-4.png"/><Relationship Id="rId7" Type="http://schemas.openxmlformats.org/officeDocument/2006/relationships/image" Target="../media/image-13-6.png"/><Relationship Id="rId8" Type="http://schemas.openxmlformats.org/officeDocument/2006/relationships/slideLayout" Target="../slideLayouts/slideLayout1.xml"/><Relationship Id="rId9"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81.xml"/><Relationship Id="rId1" Type="http://schemas.openxmlformats.org/officeDocument/2006/relationships/image" Target="../media/image-1-2.png"/><Relationship Id="rId4" Type="http://schemas.openxmlformats.org/officeDocument/2006/relationships/image" Target="../media/image-178-2.png"/><Relationship Id="rId5" Type="http://schemas.openxmlformats.org/officeDocument/2006/relationships/image" Target="../media/image-178-3.png"/><Relationship Id="rId6" Type="http://schemas.openxmlformats.org/officeDocument/2006/relationships/image" Target="../media/image-13-6.png"/><Relationship Id="rId7" Type="http://schemas.openxmlformats.org/officeDocument/2006/relationships/image" Target="../media/image-147-2.png"/><Relationship Id="rId8" Type="http://schemas.openxmlformats.org/officeDocument/2006/relationships/image" Target="../media/image-166-6.png"/><Relationship Id="rId9" Type="http://schemas.openxmlformats.org/officeDocument/2006/relationships/image" Target="../media/image-114-2.png"/><Relationship Id="rId10" Type="http://schemas.openxmlformats.org/officeDocument/2006/relationships/slideLayout" Target="../slideLayouts/slideLayout1.xml"/><Relationship Id="rId11"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81.xml"/><Relationship Id="rId1" Type="http://schemas.openxmlformats.org/officeDocument/2006/relationships/image" Target="../media/image-1-2.png"/><Relationship Id="rId4" Type="http://schemas.openxmlformats.org/officeDocument/2006/relationships/image" Target="../media/image-164-4.png"/><Relationship Id="rId5" Type="http://schemas.openxmlformats.org/officeDocument/2006/relationships/image" Target="../media/image-179-3.png"/><Relationship Id="rId6" Type="http://schemas.openxmlformats.org/officeDocument/2006/relationships/image" Target="../media/image-179-4.png"/><Relationship Id="rId7" Type="http://schemas.openxmlformats.org/officeDocument/2006/relationships/image" Target="../media/image-179-5.png"/><Relationship Id="rId8" Type="http://schemas.openxmlformats.org/officeDocument/2006/relationships/slideLayout" Target="../slideLayouts/slideLayout1.xml"/><Relationship Id="rId9"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81.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81.xml"/><Relationship Id="rId9" Type="http://schemas.openxmlformats.org/officeDocument/2006/relationships/slide" Target="slide182.xml"/><Relationship Id="rId15" Type="http://schemas.openxmlformats.org/officeDocument/2006/relationships/slide" Target="slide183.xml"/><Relationship Id="rId21" Type="http://schemas.openxmlformats.org/officeDocument/2006/relationships/slide" Target="slide184.xml"/><Relationship Id="rId1" Type="http://schemas.openxmlformats.org/officeDocument/2006/relationships/image" Target="../media/image-1-2.png"/><Relationship Id="rId4" Type="http://schemas.openxmlformats.org/officeDocument/2006/relationships/image" Target="../media/image-107-2.png"/><Relationship Id="rId5" Type="http://schemas.openxmlformats.org/officeDocument/2006/relationships/image" Target="../media/image-107-3.png"/><Relationship Id="rId6" Type="http://schemas.openxmlformats.org/officeDocument/2006/relationships/image" Target="../media/image-107-4.png"/><Relationship Id="rId7" Type="http://schemas.openxmlformats.org/officeDocument/2006/relationships/image" Target="../media/image-107-5.png"/><Relationship Id="rId8" Type="http://schemas.openxmlformats.org/officeDocument/2006/relationships/image" Target="../media/image-107-6.png"/><Relationship Id="rId10" Type="http://schemas.openxmlformats.org/officeDocument/2006/relationships/image" Target="../media/image-107-7.png"/><Relationship Id="rId11" Type="http://schemas.openxmlformats.org/officeDocument/2006/relationships/image" Target="../media/image-107-3.png"/><Relationship Id="rId12" Type="http://schemas.openxmlformats.org/officeDocument/2006/relationships/image" Target="../media/image-107-4.png"/><Relationship Id="rId13" Type="http://schemas.openxmlformats.org/officeDocument/2006/relationships/image" Target="../media/image-107-5.png"/><Relationship Id="rId14" Type="http://schemas.openxmlformats.org/officeDocument/2006/relationships/image" Target="../media/image-107-6.png"/><Relationship Id="rId16" Type="http://schemas.openxmlformats.org/officeDocument/2006/relationships/image" Target="../media/image-107-12.png"/><Relationship Id="rId17" Type="http://schemas.openxmlformats.org/officeDocument/2006/relationships/image" Target="../media/image-107-3.png"/><Relationship Id="rId18" Type="http://schemas.openxmlformats.org/officeDocument/2006/relationships/image" Target="../media/image-107-4.png"/><Relationship Id="rId19" Type="http://schemas.openxmlformats.org/officeDocument/2006/relationships/image" Target="../media/image-107-5.png"/><Relationship Id="rId20" Type="http://schemas.openxmlformats.org/officeDocument/2006/relationships/image" Target="../media/image-107-6.png"/><Relationship Id="rId22" Type="http://schemas.openxmlformats.org/officeDocument/2006/relationships/slideLayout" Target="../slideLayouts/slideLayout1.xml"/><Relationship Id="rId2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81.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81.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81.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81.xml"/><Relationship Id="rId1" Type="http://schemas.openxmlformats.org/officeDocument/2006/relationships/image" Target="../media/image-1-2.png"/><Relationship Id="rId4" Type="http://schemas.openxmlformats.org/officeDocument/2006/relationships/image" Target="../media/image-185-2.png"/><Relationship Id="rId5" Type="http://schemas.openxmlformats.org/officeDocument/2006/relationships/image" Target="../media/image-179-5.png"/><Relationship Id="rId6" Type="http://schemas.openxmlformats.org/officeDocument/2006/relationships/image" Target="../media/image-164-4.png"/><Relationship Id="rId7" Type="http://schemas.openxmlformats.org/officeDocument/2006/relationships/image" Target="../media/image-185-5.png"/><Relationship Id="rId8" Type="http://schemas.openxmlformats.org/officeDocument/2006/relationships/slideLayout" Target="../slideLayouts/slideLayout1.xml"/><Relationship Id="rId9"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81.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81.xml"/><Relationship Id="rId1" Type="http://schemas.openxmlformats.org/officeDocument/2006/relationships/image" Target="../media/image-1-2.png"/><Relationship Id="rId4" Type="http://schemas.openxmlformats.org/officeDocument/2006/relationships/image" Target="../media/image-103-2.png"/><Relationship Id="rId5" Type="http://schemas.openxmlformats.org/officeDocument/2006/relationships/slideLayout" Target="../slideLayouts/slideLayout1.xml"/><Relationship Id="rId6"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2.png"/><Relationship Id="rId3" Type="http://schemas.openxmlformats.org/officeDocument/2006/relationships/image" Target="../media/image-145-2.png"/><Relationship Id="rId4" Type="http://schemas.openxmlformats.org/officeDocument/2006/relationships/image" Target="../media/image-12-2.png"/><Relationship Id="rId5" Type="http://schemas.openxmlformats.org/officeDocument/2006/relationships/slideLayout" Target="../slideLayouts/slideLayout1.xml"/><Relationship Id="rId6"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5" Type="http://schemas.openxmlformats.org/officeDocument/2006/relationships/slide" Target="slide2.xml"/><Relationship Id="rId6" Type="http://schemas.openxmlformats.org/officeDocument/2006/relationships/slide" Target="slide192.xml"/><Relationship Id="rId1" Type="http://schemas.openxmlformats.org/officeDocument/2006/relationships/image" Target="../media/image-128-6.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7" Type="http://schemas.openxmlformats.org/officeDocument/2006/relationships/slideLayout" Target="../slideLayouts/slideLayout1.xml"/><Relationship Id="rId8"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92.xml"/><Relationship Id="rId1" Type="http://schemas.openxmlformats.org/officeDocument/2006/relationships/image" Target="../media/image-1-2.png"/><Relationship Id="rId4" Type="http://schemas.openxmlformats.org/officeDocument/2006/relationships/image" Target="../media/image-15-3.png"/><Relationship Id="rId5" Type="http://schemas.openxmlformats.org/officeDocument/2006/relationships/image" Target="../media/image-13-6.png"/><Relationship Id="rId6" Type="http://schemas.openxmlformats.org/officeDocument/2006/relationships/image" Target="../media/image-135-5.png"/><Relationship Id="rId7" Type="http://schemas.openxmlformats.org/officeDocument/2006/relationships/image" Target="../media/image-190-5.png"/><Relationship Id="rId8" Type="http://schemas.openxmlformats.org/officeDocument/2006/relationships/image" Target="../media/image-190-6.png"/><Relationship Id="rId9" Type="http://schemas.openxmlformats.org/officeDocument/2006/relationships/image" Target="../media/image-129-6.png"/><Relationship Id="rId10" Type="http://schemas.openxmlformats.org/officeDocument/2006/relationships/slideLayout" Target="../slideLayouts/slideLayout1.xml"/><Relationship Id="rId11"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92.xml"/><Relationship Id="rId1" Type="http://schemas.openxmlformats.org/officeDocument/2006/relationships/image" Target="../media/image-1-2.png"/><Relationship Id="rId4" Type="http://schemas.openxmlformats.org/officeDocument/2006/relationships/image" Target="../media/image-13-2.png"/><Relationship Id="rId5" Type="http://schemas.openxmlformats.org/officeDocument/2006/relationships/image" Target="../media/image-191-3.png"/><Relationship Id="rId6" Type="http://schemas.openxmlformats.org/officeDocument/2006/relationships/image" Target="../media/image-191-4.png"/><Relationship Id="rId7" Type="http://schemas.openxmlformats.org/officeDocument/2006/relationships/slideLayout" Target="../slideLayouts/slideLayout1.xml"/><Relationship Id="rId8"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92.xml"/><Relationship Id="rId9" Type="http://schemas.openxmlformats.org/officeDocument/2006/relationships/slide" Target="slide193.xml"/><Relationship Id="rId15" Type="http://schemas.openxmlformats.org/officeDocument/2006/relationships/slide" Target="slide194.xml"/><Relationship Id="rId21" Type="http://schemas.openxmlformats.org/officeDocument/2006/relationships/slide" Target="slide195.xml"/><Relationship Id="rId1" Type="http://schemas.openxmlformats.org/officeDocument/2006/relationships/image" Target="../media/image-1-2.png"/><Relationship Id="rId4" Type="http://schemas.openxmlformats.org/officeDocument/2006/relationships/image" Target="../media/image-107-2.png"/><Relationship Id="rId5" Type="http://schemas.openxmlformats.org/officeDocument/2006/relationships/image" Target="../media/image-107-3.png"/><Relationship Id="rId6" Type="http://schemas.openxmlformats.org/officeDocument/2006/relationships/image" Target="../media/image-107-4.png"/><Relationship Id="rId7" Type="http://schemas.openxmlformats.org/officeDocument/2006/relationships/image" Target="../media/image-107-5.png"/><Relationship Id="rId8" Type="http://schemas.openxmlformats.org/officeDocument/2006/relationships/image" Target="../media/image-107-6.png"/><Relationship Id="rId10" Type="http://schemas.openxmlformats.org/officeDocument/2006/relationships/image" Target="../media/image-107-7.png"/><Relationship Id="rId11" Type="http://schemas.openxmlformats.org/officeDocument/2006/relationships/image" Target="../media/image-107-3.png"/><Relationship Id="rId12" Type="http://schemas.openxmlformats.org/officeDocument/2006/relationships/image" Target="../media/image-107-4.png"/><Relationship Id="rId13" Type="http://schemas.openxmlformats.org/officeDocument/2006/relationships/image" Target="../media/image-107-5.png"/><Relationship Id="rId14" Type="http://schemas.openxmlformats.org/officeDocument/2006/relationships/image" Target="../media/image-107-6.png"/><Relationship Id="rId16" Type="http://schemas.openxmlformats.org/officeDocument/2006/relationships/image" Target="../media/image-107-12.png"/><Relationship Id="rId17" Type="http://schemas.openxmlformats.org/officeDocument/2006/relationships/image" Target="../media/image-107-3.png"/><Relationship Id="rId18" Type="http://schemas.openxmlformats.org/officeDocument/2006/relationships/image" Target="../media/image-107-4.png"/><Relationship Id="rId19" Type="http://schemas.openxmlformats.org/officeDocument/2006/relationships/image" Target="../media/image-107-5.png"/><Relationship Id="rId20" Type="http://schemas.openxmlformats.org/officeDocument/2006/relationships/image" Target="../media/image-107-6.png"/><Relationship Id="rId22" Type="http://schemas.openxmlformats.org/officeDocument/2006/relationships/slideLayout" Target="../slideLayouts/slideLayout1.xml"/><Relationship Id="rId2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92.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92.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92.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92.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92.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192.xml"/><Relationship Id="rId1" Type="http://schemas.openxmlformats.org/officeDocument/2006/relationships/image" Target="../media/image-1-2.png"/><Relationship Id="rId4" Type="http://schemas.openxmlformats.org/officeDocument/2006/relationships/image" Target="../media/image-103-2.png"/><Relationship Id="rId5" Type="http://schemas.openxmlformats.org/officeDocument/2006/relationships/slideLayout" Target="../slideLayouts/slideLayout1.xml"/><Relationship Id="rId6"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5" Type="http://schemas.openxmlformats.org/officeDocument/2006/relationships/slide" Target="slide2.xml"/><Relationship Id="rId6" Type="http://schemas.openxmlformats.org/officeDocument/2006/relationships/slide" Target="slide205.xml"/><Relationship Id="rId1" Type="http://schemas.openxmlformats.org/officeDocument/2006/relationships/image" Target="../media/image-113-3.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2.png"/><Relationship Id="rId7" Type="http://schemas.openxmlformats.org/officeDocument/2006/relationships/slideLayout" Target="../slideLayouts/slideLayout1.xml"/><Relationship Id="rId8"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205.xml"/><Relationship Id="rId1" Type="http://schemas.openxmlformats.org/officeDocument/2006/relationships/image" Target="../media/image-1-2.png"/><Relationship Id="rId4" Type="http://schemas.openxmlformats.org/officeDocument/2006/relationships/image" Target="../media/image-200-2.png"/><Relationship Id="rId5" Type="http://schemas.openxmlformats.org/officeDocument/2006/relationships/image" Target="../media/image-103-2.png"/><Relationship Id="rId6" Type="http://schemas.openxmlformats.org/officeDocument/2006/relationships/image" Target="../media/image-200-2.png"/><Relationship Id="rId7" Type="http://schemas.openxmlformats.org/officeDocument/2006/relationships/image" Target="../media/image-103-2.png"/><Relationship Id="rId8" Type="http://schemas.openxmlformats.org/officeDocument/2006/relationships/image" Target="../media/image-200-2.png"/><Relationship Id="rId9" Type="http://schemas.openxmlformats.org/officeDocument/2006/relationships/image" Target="../media/image-103-2.png"/><Relationship Id="rId10" Type="http://schemas.openxmlformats.org/officeDocument/2006/relationships/image" Target="../media/image-200-2.png"/><Relationship Id="rId11" Type="http://schemas.openxmlformats.org/officeDocument/2006/relationships/image" Target="../media/image-103-2.png"/><Relationship Id="rId12" Type="http://schemas.openxmlformats.org/officeDocument/2006/relationships/slideLayout" Target="../slideLayouts/slideLayout1.xml"/><Relationship Id="rId1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205.xml"/><Relationship Id="rId1" Type="http://schemas.openxmlformats.org/officeDocument/2006/relationships/image" Target="../media/image-1-2.png"/><Relationship Id="rId4" Type="http://schemas.openxmlformats.org/officeDocument/2006/relationships/image" Target="../media/image-13-5.png"/><Relationship Id="rId5" Type="http://schemas.openxmlformats.org/officeDocument/2006/relationships/image" Target="../media/image-13-6.png"/><Relationship Id="rId6" Type="http://schemas.openxmlformats.org/officeDocument/2006/relationships/image" Target="../media/image-13-7.png"/><Relationship Id="rId7" Type="http://schemas.openxmlformats.org/officeDocument/2006/relationships/image" Target="../media/image-114-2.png"/><Relationship Id="rId8" Type="http://schemas.openxmlformats.org/officeDocument/2006/relationships/image" Target="../media/image-121-4.png"/><Relationship Id="rId9" Type="http://schemas.openxmlformats.org/officeDocument/2006/relationships/image" Target="../media/image-13-10.png"/><Relationship Id="rId10" Type="http://schemas.openxmlformats.org/officeDocument/2006/relationships/slideLayout" Target="../slideLayouts/slideLayout1.xml"/><Relationship Id="rId11"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205.xml"/><Relationship Id="rId1" Type="http://schemas.openxmlformats.org/officeDocument/2006/relationships/image" Target="../media/image-1-2.png"/><Relationship Id="rId4" Type="http://schemas.openxmlformats.org/officeDocument/2006/relationships/image" Target="../media/image-13-2.png"/><Relationship Id="rId5" Type="http://schemas.openxmlformats.org/officeDocument/2006/relationships/image" Target="../media/image-13-3.png"/><Relationship Id="rId6" Type="http://schemas.openxmlformats.org/officeDocument/2006/relationships/image" Target="../media/image-13-4.png"/><Relationship Id="rId7" Type="http://schemas.openxmlformats.org/officeDocument/2006/relationships/image" Target="../media/image-13-5.png"/><Relationship Id="rId8" Type="http://schemas.openxmlformats.org/officeDocument/2006/relationships/image" Target="../media/image-13-6.png"/><Relationship Id="rId9" Type="http://schemas.openxmlformats.org/officeDocument/2006/relationships/image" Target="../media/image-13-7.png"/><Relationship Id="rId10" Type="http://schemas.openxmlformats.org/officeDocument/2006/relationships/image" Target="../media/image-114-2.png"/><Relationship Id="rId11" Type="http://schemas.openxmlformats.org/officeDocument/2006/relationships/image" Target="../media/image-121-4.png"/><Relationship Id="rId12" Type="http://schemas.openxmlformats.org/officeDocument/2006/relationships/image" Target="../media/image-13-10.png"/><Relationship Id="rId13" Type="http://schemas.openxmlformats.org/officeDocument/2006/relationships/slideLayout" Target="../slideLayouts/slideLayout1.xml"/><Relationship Id="rId14"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205.xml"/><Relationship Id="rId1"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205.xml"/><Relationship Id="rId1" Type="http://schemas.openxmlformats.org/officeDocument/2006/relationships/image" Target="../media/image-1-2.png"/><Relationship Id="rId4" Type="http://schemas.openxmlformats.org/officeDocument/2006/relationships/image" Target="../media/image-114-2.png"/><Relationship Id="rId5" Type="http://schemas.openxmlformats.org/officeDocument/2006/relationships/slideLayout" Target="../slideLayouts/slideLayout1.xml"/><Relationship Id="rId6"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205.xml"/><Relationship Id="rId9" Type="http://schemas.openxmlformats.org/officeDocument/2006/relationships/slide" Target="slide206.xml"/><Relationship Id="rId15" Type="http://schemas.openxmlformats.org/officeDocument/2006/relationships/slide" Target="slide207.xml"/><Relationship Id="rId21" Type="http://schemas.openxmlformats.org/officeDocument/2006/relationships/slide" Target="slide208.xml"/><Relationship Id="rId1" Type="http://schemas.openxmlformats.org/officeDocument/2006/relationships/image" Target="../media/image-1-2.png"/><Relationship Id="rId4" Type="http://schemas.openxmlformats.org/officeDocument/2006/relationships/image" Target="../media/image-107-2.png"/><Relationship Id="rId5" Type="http://schemas.openxmlformats.org/officeDocument/2006/relationships/image" Target="../media/image-107-3.png"/><Relationship Id="rId6" Type="http://schemas.openxmlformats.org/officeDocument/2006/relationships/image" Target="../media/image-107-4.png"/><Relationship Id="rId7" Type="http://schemas.openxmlformats.org/officeDocument/2006/relationships/image" Target="../media/image-107-5.png"/><Relationship Id="rId8" Type="http://schemas.openxmlformats.org/officeDocument/2006/relationships/image" Target="../media/image-107-6.png"/><Relationship Id="rId10" Type="http://schemas.openxmlformats.org/officeDocument/2006/relationships/image" Target="../media/image-107-7.png"/><Relationship Id="rId11" Type="http://schemas.openxmlformats.org/officeDocument/2006/relationships/image" Target="../media/image-107-3.png"/><Relationship Id="rId12" Type="http://schemas.openxmlformats.org/officeDocument/2006/relationships/image" Target="../media/image-107-4.png"/><Relationship Id="rId13" Type="http://schemas.openxmlformats.org/officeDocument/2006/relationships/image" Target="../media/image-107-5.png"/><Relationship Id="rId14" Type="http://schemas.openxmlformats.org/officeDocument/2006/relationships/image" Target="../media/image-107-6.png"/><Relationship Id="rId16" Type="http://schemas.openxmlformats.org/officeDocument/2006/relationships/image" Target="../media/image-107-12.png"/><Relationship Id="rId17" Type="http://schemas.openxmlformats.org/officeDocument/2006/relationships/image" Target="../media/image-107-3.png"/><Relationship Id="rId18" Type="http://schemas.openxmlformats.org/officeDocument/2006/relationships/image" Target="../media/image-107-4.png"/><Relationship Id="rId19" Type="http://schemas.openxmlformats.org/officeDocument/2006/relationships/image" Target="../media/image-107-5.png"/><Relationship Id="rId20" Type="http://schemas.openxmlformats.org/officeDocument/2006/relationships/image" Target="../media/image-107-6.png"/><Relationship Id="rId22" Type="http://schemas.openxmlformats.org/officeDocument/2006/relationships/slideLayout" Target="../slideLayouts/slideLayout1.xml"/><Relationship Id="rId2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205.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205.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9-4.png"/><Relationship Id="rId7" Type="http://schemas.openxmlformats.org/officeDocument/2006/relationships/slideLayout" Target="../slideLayouts/slideLayout1.xml"/><Relationship Id="rId8"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 Target="slide205.xml"/><Relationship Id="rId1" Type="http://schemas.openxmlformats.org/officeDocument/2006/relationships/image" Target="../media/image-1-2.png"/><Relationship Id="rId4" Type="http://schemas.openxmlformats.org/officeDocument/2006/relationships/image" Target="../media/image-100-2.png"/><Relationship Id="rId5" Type="http://schemas.openxmlformats.org/officeDocument/2006/relationships/image" Target="../media/image-100-3.png"/><Relationship Id="rId6" Type="http://schemas.openxmlformats.org/officeDocument/2006/relationships/image" Target="../media/image-100-4.png"/><Relationship Id="rId7" Type="http://schemas.openxmlformats.org/officeDocument/2006/relationships/slideLayout" Target="../slideLayouts/slideLayout1.xml"/><Relationship Id="rId8"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0-2.png"/><Relationship Id="rId3" Type="http://schemas.openxmlformats.org/officeDocument/2006/relationships/slideLayout" Target="../slideLayouts/slideLayout1.xml"/><Relationship Id="rId4"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image" Target="../media/image-120-2.png"/><Relationship Id="rId2" Type="http://schemas.openxmlformats.org/officeDocument/2006/relationships/slideLayout" Target="../slideLayouts/slideLayout1.xml"/><Relationship Id="rId3"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2.png"/><Relationship Id="rId3" Type="http://schemas.openxmlformats.org/officeDocument/2006/relationships/image" Target="../media/image-107-2.png"/><Relationship Id="rId4" Type="http://schemas.openxmlformats.org/officeDocument/2006/relationships/image" Target="../media/image-107-7.png"/><Relationship Id="rId5" Type="http://schemas.openxmlformats.org/officeDocument/2006/relationships/image" Target="../media/image-107-12.png"/><Relationship Id="rId6" Type="http://schemas.openxmlformats.org/officeDocument/2006/relationships/slideLayout" Target="../slideLayouts/slideLayout1.xml"/><Relationship Id="rId7"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2.png"/><Relationship Id="rId3" Type="http://schemas.openxmlformats.org/officeDocument/2006/relationships/image" Target="../media/image-185-2.png"/><Relationship Id="rId4" Type="http://schemas.openxmlformats.org/officeDocument/2006/relationships/image" Target="../media/image-185-5.png"/><Relationship Id="rId5" Type="http://schemas.openxmlformats.org/officeDocument/2006/relationships/image" Target="../media/image-212-4.png"/><Relationship Id="rId6" Type="http://schemas.openxmlformats.org/officeDocument/2006/relationships/image" Target="../media/image-212-5.png"/><Relationship Id="rId7" Type="http://schemas.openxmlformats.org/officeDocument/2006/relationships/image" Target="../media/image-212-6.png"/><Relationship Id="rId8" Type="http://schemas.openxmlformats.org/officeDocument/2006/relationships/slideLayout" Target="../slideLayouts/slideLayout1.xml"/><Relationship Id="rId9"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2.png"/><Relationship Id="rId3" Type="http://schemas.openxmlformats.org/officeDocument/2006/relationships/image" Target="../media/image-11-2.png"/><Relationship Id="rId4" Type="http://schemas.openxmlformats.org/officeDocument/2006/relationships/image" Target="../media/image-128-5.png"/><Relationship Id="rId5" Type="http://schemas.openxmlformats.org/officeDocument/2006/relationships/image" Target="../media/image-104-1.png"/><Relationship Id="rId6" Type="http://schemas.openxmlformats.org/officeDocument/2006/relationships/image" Target="../media/image-113-3.png"/><Relationship Id="rId7" Type="http://schemas.openxmlformats.org/officeDocument/2006/relationships/image" Target="../media/image-179-3.png"/><Relationship Id="rId8" Type="http://schemas.openxmlformats.org/officeDocument/2006/relationships/image" Target="../media/image-213-7.png"/><Relationship Id="rId9" Type="http://schemas.openxmlformats.org/officeDocument/2006/relationships/slideLayout" Target="../slideLayouts/slideLayout1.xml"/><Relationship Id="rId10"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2.png"/><Relationship Id="rId3" Type="http://schemas.openxmlformats.org/officeDocument/2006/relationships/image" Target="../media/image-11-3.png"/><Relationship Id="rId4" Type="http://schemas.openxmlformats.org/officeDocument/2006/relationships/image" Target="../media/image-113-2.png"/><Relationship Id="rId5" Type="http://schemas.openxmlformats.org/officeDocument/2006/relationships/image" Target="../media/image-214-4.png"/><Relationship Id="rId6" Type="http://schemas.openxmlformats.org/officeDocument/2006/relationships/image" Target="../media/image-214-5.png"/><Relationship Id="rId7" Type="http://schemas.openxmlformats.org/officeDocument/2006/relationships/image" Target="../media/image-113-4.png"/><Relationship Id="rId8" Type="http://schemas.openxmlformats.org/officeDocument/2006/relationships/image" Target="../media/image-137-4.png"/><Relationship Id="rId9" Type="http://schemas.openxmlformats.org/officeDocument/2006/relationships/slideLayout" Target="../slideLayouts/slideLayout1.xml"/><Relationship Id="rId10"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2.png"/><Relationship Id="rId3" Type="http://schemas.openxmlformats.org/officeDocument/2006/relationships/image" Target="../media/image-113-5.png"/><Relationship Id="rId4" Type="http://schemas.openxmlformats.org/officeDocument/2006/relationships/image" Target="../media/image-128-4.png"/><Relationship Id="rId5" Type="http://schemas.openxmlformats.org/officeDocument/2006/relationships/image" Target="../media/image-215-4.png"/><Relationship Id="rId6" Type="http://schemas.openxmlformats.org/officeDocument/2006/relationships/image" Target="../media/image-128-6.png"/><Relationship Id="rId7" Type="http://schemas.openxmlformats.org/officeDocument/2006/relationships/image" Target="../media/image-185-2.png"/><Relationship Id="rId8" Type="http://schemas.openxmlformats.org/officeDocument/2006/relationships/image" Target="../media/image-179-5.png"/><Relationship Id="rId9" Type="http://schemas.openxmlformats.org/officeDocument/2006/relationships/slideLayout" Target="../slideLayouts/slideLayout1.xml"/><Relationship Id="rId10"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2.png"/><Relationship Id="rId3" Type="http://schemas.openxmlformats.org/officeDocument/2006/relationships/image" Target="../media/image-216-2.png"/><Relationship Id="rId4" Type="http://schemas.openxmlformats.org/officeDocument/2006/relationships/slideLayout" Target="../slideLayouts/slideLayout1.xml"/><Relationship Id="rId5"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image" Target="../media/image-1-2.png"/><Relationship Id="rId3" Type="http://schemas.openxmlformats.org/officeDocument/2006/relationships/image" Target="../media/image-217-2.png"/><Relationship Id="rId4" Type="http://schemas.openxmlformats.org/officeDocument/2006/relationships/slideLayout" Target="../slideLayouts/slideLayout1.xml"/><Relationship Id="rId5" Type="http://schemas.openxmlformats.org/officeDocument/2006/relationships/notesSlide" Target="../notesSlides/notesSlide2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18120" y="0"/>
            <a:ext cx="4373575" cy="6858000"/>
          </a:xfrm>
          <a:prstGeom prst="rect">
            <a:avLst/>
          </a:prstGeom>
          <a:solidFill>
            <a:srgbClr val="FF462D"/>
          </a:solidFill>
          <a:ln/>
        </p:spPr>
      </p:sp>
      <p:pic>
        <p:nvPicPr>
          <p:cNvPr id="3" name="Image 0" descr="/private/tmp/claude-501/-Users-salehhamed-Outcome-Engine/91861432-41e2-4884-bc97-63c6dff2d021/scratchpad/wk/brand/title-pattern-white.png">    </p:cNvPr>
          <p:cNvPicPr>
            <a:picLocks noChangeAspect="1"/>
          </p:cNvPicPr>
          <p:nvPr/>
        </p:nvPicPr>
        <p:blipFill>
          <a:blip r:embed="rId1"/>
          <a:srcRect l="0" r="0" t="0" b="0"/>
          <a:stretch/>
        </p:blipFill>
        <p:spPr>
          <a:xfrm>
            <a:off x="7818120" y="0"/>
            <a:ext cx="4373575" cy="6858000"/>
          </a:xfrm>
          <a:prstGeom prst="rect">
            <a:avLst/>
          </a:prstGeom>
        </p:spPr>
      </p:pic>
      <p:pic>
        <p:nvPicPr>
          <p:cNvPr id="4" name="Image 1" descr="/private/tmp/claude-501/-Users-salehhamed-Outcome-Engine/91861432-41e2-4884-bc97-63c6dff2d021/scratchpad/wk/brand/logo.png">    </p:cNvPr>
          <p:cNvPicPr>
            <a:picLocks noChangeAspect="1"/>
          </p:cNvPicPr>
          <p:nvPr/>
        </p:nvPicPr>
        <p:blipFill>
          <a:blip r:embed="rId2"/>
          <a:stretch>
            <a:fillRect/>
          </a:stretch>
        </p:blipFill>
        <p:spPr>
          <a:xfrm>
            <a:off x="548640" y="502920"/>
            <a:ext cx="1234440" cy="393192"/>
          </a:xfrm>
          <a:prstGeom prst="rect">
            <a:avLst/>
          </a:prstGeom>
        </p:spPr>
      </p:pic>
      <p:sp>
        <p:nvSpPr>
          <p:cNvPr id="5" name="Text 1"/>
          <p:cNvSpPr txBox="1"/>
          <p:nvPr/>
        </p:nvSpPr>
        <p:spPr>
          <a:xfrm>
            <a:off x="548640" y="1828800"/>
            <a:ext cx="6949440" cy="274320"/>
          </a:xfrm>
          <a:prstGeom prst="rect">
            <a:avLst/>
          </a:prstGeom>
          <a:noFill/>
          <a:ln/>
        </p:spPr>
        <p:txBody>
          <a:bodyPr wrap="square" lIns="0" tIns="0" rIns="0" bIns="0" rtlCol="0" anchor="t"/>
          <a:lstStyle/>
          <a:p>
            <a:pPr indent="0" marL="0">
              <a:buNone/>
            </a:pPr>
            <a:r>
              <a:rPr lang="en-US" sz="1200" b="1" spc="200" kern="0" dirty="0">
                <a:solidFill>
                  <a:srgbClr val="287079"/>
                </a:solidFill>
                <a:latin typeface="Arial" pitchFamily="34" charset="0"/>
                <a:ea typeface="Arial" pitchFamily="34" charset="-122"/>
                <a:cs typeface="Arial" pitchFamily="34" charset="-120"/>
              </a:rPr>
              <a:t>HR GLOBAL STAFFING · LIVERPOOL AI INNOVATION LAB</a:t>
            </a:r>
            <a:endParaRPr lang="en-US" sz="1200" dirty="0"/>
          </a:p>
        </p:txBody>
      </p:sp>
      <p:sp>
        <p:nvSpPr>
          <p:cNvPr id="6" name="Text 2"/>
          <p:cNvSpPr txBox="1"/>
          <p:nvPr/>
        </p:nvSpPr>
        <p:spPr>
          <a:xfrm>
            <a:off x="548640" y="2194560"/>
            <a:ext cx="7040880" cy="1371600"/>
          </a:xfrm>
          <a:prstGeom prst="rect">
            <a:avLst/>
          </a:prstGeom>
          <a:noFill/>
          <a:ln/>
        </p:spPr>
        <p:txBody>
          <a:bodyPr wrap="square" lIns="0" tIns="0" rIns="0" bIns="0" rtlCol="0" anchor="t"/>
          <a:lstStyle/>
          <a:p>
            <a:pPr indent="0" marL="0">
              <a:buNone/>
            </a:pPr>
            <a:r>
              <a:rPr lang="en-US" sz="4400" b="1" dirty="0">
                <a:solidFill>
                  <a:srgbClr val="1F2A33"/>
                </a:solidFill>
                <a:latin typeface="TWK Everett" pitchFamily="34" charset="0"/>
                <a:ea typeface="TWK Everett" pitchFamily="34" charset="-122"/>
                <a:cs typeface="TWK Everett" pitchFamily="34" charset="-120"/>
              </a:rPr>
              <a:t>Contract-to-Capacity Workshop</a:t>
            </a:r>
            <a:endParaRPr lang="en-US" sz="4400" dirty="0"/>
          </a:p>
        </p:txBody>
      </p:sp>
      <p:sp>
        <p:nvSpPr>
          <p:cNvPr id="7" name="Text 3"/>
          <p:cNvSpPr txBox="1"/>
          <p:nvPr/>
        </p:nvSpPr>
        <p:spPr>
          <a:xfrm>
            <a:off x="548640" y="3611880"/>
            <a:ext cx="6949440" cy="365760"/>
          </a:xfrm>
          <a:prstGeom prst="rect">
            <a:avLst/>
          </a:prstGeom>
          <a:noFill/>
          <a:ln/>
        </p:spPr>
        <p:txBody>
          <a:bodyPr wrap="square" lIns="0" tIns="0" rIns="0" bIns="0" rtlCol="0" anchor="t"/>
          <a:lstStyle/>
          <a:p>
            <a:pPr indent="0" marL="0">
              <a:buNone/>
            </a:pPr>
            <a:r>
              <a:rPr lang="en-US" sz="2000" dirty="0">
                <a:solidFill>
                  <a:srgbClr val="1F2A33"/>
                </a:solidFill>
                <a:latin typeface="Arial" pitchFamily="34" charset="0"/>
                <a:ea typeface="Arial" pitchFamily="34" charset="-122"/>
                <a:cs typeface="Arial" pitchFamily="34" charset="-120"/>
              </a:rPr>
              <a:t>6–7 October 2026</a:t>
            </a:r>
            <a:endParaRPr lang="en-US" sz="2000" dirty="0"/>
          </a:p>
        </p:txBody>
      </p:sp>
      <p:sp>
        <p:nvSpPr>
          <p:cNvPr id="8" name="Text 4"/>
          <p:cNvSpPr txBox="1"/>
          <p:nvPr/>
        </p:nvSpPr>
        <p:spPr>
          <a:xfrm>
            <a:off x="548640" y="4206240"/>
            <a:ext cx="6766560" cy="914400"/>
          </a:xfrm>
          <a:prstGeom prst="rect">
            <a:avLst/>
          </a:prstGeom>
          <a:noFill/>
          <a:ln/>
        </p:spPr>
        <p:txBody>
          <a:bodyPr wrap="square" lIns="0" tIns="0" rIns="0" bIns="0" rtlCol="0" anchor="t"/>
          <a:lstStyle/>
          <a:p>
            <a:pPr indent="0" marL="0">
              <a:buNone/>
            </a:pPr>
            <a:r>
              <a:rPr lang="en-US" sz="1800" b="1" dirty="0">
                <a:solidFill>
                  <a:srgbClr val="FF462D"/>
                </a:solidFill>
                <a:latin typeface="Arial" pitchFamily="34" charset="0"/>
                <a:ea typeface="Arial" pitchFamily="34" charset="-122"/>
                <a:cs typeface="Arial" pitchFamily="34" charset="-120"/>
              </a:rPr>
              <a:t>Before a deal is signed, we know whether we can staff it. If we cannot, a named person owns the gap.</a:t>
            </a:r>
            <a:endParaRPr lang="en-US" sz="1800" dirty="0"/>
          </a:p>
        </p:txBody>
      </p:sp>
      <p:sp>
        <p:nvSpPr>
          <p:cNvPr id="9" name="Shape 5"/>
          <p:cNvSpPr/>
          <p:nvPr/>
        </p:nvSpPr>
        <p:spPr>
          <a:xfrm>
            <a:off x="548640" y="5852160"/>
            <a:ext cx="1463040" cy="54864"/>
          </a:xfrm>
          <a:prstGeom prst="rect">
            <a:avLst/>
          </a:prstGeom>
          <a:solidFill>
            <a:srgbClr val="287079"/>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HUB · CLICK A SESSION TO JUMP TO IT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The two days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dirty="0">
                <a:solidFill>
                  <a:srgbClr val="8A94A4"/>
                </a:solidFill>
                <a:latin typeface="Arial" pitchFamily="34" charset="0"/>
                <a:ea typeface="Arial" pitchFamily="34" charset="-122"/>
                <a:cs typeface="Arial" pitchFamily="34" charset="-120"/>
              </a:rPr>
              <a:t>   2</a:t>
            </a:r>
            <a:endParaRPr lang="en-US" sz="1000" dirty="0"/>
          </a:p>
        </p:txBody>
      </p:sp>
      <p:sp>
        <p:nvSpPr>
          <p:cNvPr id="7" name="Text 4"/>
          <p:cNvSpPr txBox="1"/>
          <p:nvPr/>
        </p:nvSpPr>
        <p:spPr>
          <a:xfrm>
            <a:off x="548640" y="1463040"/>
            <a:ext cx="10972800" cy="292608"/>
          </a:xfrm>
          <a:prstGeom prst="rect">
            <a:avLst/>
          </a:prstGeom>
          <a:noFill/>
          <a:ln/>
        </p:spPr>
        <p:txBody>
          <a:bodyPr wrap="square" lIns="0" tIns="0" rIns="0" bIns="0" rtlCol="0" anchor="t"/>
          <a:lstStyle/>
          <a:p>
            <a:pPr indent="0" marL="0">
              <a:buNone/>
            </a:pPr>
            <a:r>
              <a:rPr lang="en-US" sz="1400" b="1" dirty="0">
                <a:solidFill>
                  <a:srgbClr val="287079"/>
                </a:solidFill>
                <a:latin typeface="Arial" pitchFamily="34" charset="0"/>
                <a:ea typeface="Arial" pitchFamily="34" charset="-122"/>
                <a:cs typeface="Arial" pitchFamily="34" charset="-120"/>
              </a:rPr>
              <a:t>Day 1 · Tuesday · Understand and agree how it should work</a:t>
            </a:r>
            <a:endParaRPr lang="en-US" sz="1400" dirty="0"/>
          </a:p>
        </p:txBody>
      </p:sp>
      <p:sp>
        <p:nvSpPr>
          <p:cNvPr id="8" name="Shape 5"/>
          <p:cNvSpPr/>
          <p:nvPr/>
        </p:nvSpPr>
        <p:spPr>
          <a:xfrm>
            <a:off x="548640" y="1874520"/>
            <a:ext cx="1066089" cy="1737360"/>
          </a:xfrm>
          <a:prstGeom prst="roundRect">
            <a:avLst>
              <a:gd name="adj" fmla="val 5146"/>
            </a:avLst>
          </a:prstGeom>
          <a:solidFill>
            <a:srgbClr val="FFFFFF"/>
          </a:solidFill>
          <a:ln w="12700">
            <a:solidFill>
              <a:srgbClr val="D9DEE2"/>
            </a:solidFill>
            <a:prstDash val="solid"/>
          </a:ln>
        </p:spPr>
      </p:sp>
      <p:sp>
        <p:nvSpPr>
          <p:cNvPr id="9" name="Shape 6"/>
          <p:cNvSpPr/>
          <p:nvPr/>
        </p:nvSpPr>
        <p:spPr>
          <a:xfrm>
            <a:off x="548640" y="1874520"/>
            <a:ext cx="1066089" cy="82296"/>
          </a:xfrm>
          <a:prstGeom prst="rect">
            <a:avLst/>
          </a:prstGeom>
          <a:solidFill>
            <a:srgbClr val="36454F"/>
          </a:solidFill>
          <a:ln/>
        </p:spPr>
      </p:sp>
      <p:pic>
        <p:nvPicPr>
          <p:cNvPr id="10" name="Image 1" descr="/private/tmp/claude-501/-Users-salehhamed-Outcome-Engine/91861432-41e2-4884-bc97-63c6dff2d021/scratchpad/wk/icons/TbCoffee-slate.png">    </p:cNvPr>
          <p:cNvPicPr>
            <a:picLocks noChangeAspect="1"/>
          </p:cNvPicPr>
          <p:nvPr/>
        </p:nvPicPr>
        <p:blipFill>
          <a:blip r:embed="rId2"/>
          <a:stretch>
            <a:fillRect/>
          </a:stretch>
        </p:blipFill>
        <p:spPr>
          <a:xfrm>
            <a:off x="658368" y="2075688"/>
            <a:ext cx="329184" cy="329184"/>
          </a:xfrm>
          <a:prstGeom prst="rect">
            <a:avLst/>
          </a:prstGeom>
        </p:spPr>
      </p:pic>
      <p:sp>
        <p:nvSpPr>
          <p:cNvPr id="11" name="Text 7"/>
          <p:cNvSpPr txBox="1"/>
          <p:nvPr/>
        </p:nvSpPr>
        <p:spPr>
          <a:xfrm>
            <a:off x="1051560" y="2075688"/>
            <a:ext cx="517449" cy="329184"/>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08:30</a:t>
            </a:r>
            <a:endParaRPr lang="en-US" sz="1100" dirty="0"/>
          </a:p>
        </p:txBody>
      </p:sp>
      <p:sp>
        <p:nvSpPr>
          <p:cNvPr id="12" name="Text 8"/>
          <p:cNvSpPr txBox="1"/>
          <p:nvPr/>
        </p:nvSpPr>
        <p:spPr>
          <a:xfrm>
            <a:off x="658368" y="2514600"/>
            <a:ext cx="883209" cy="1005840"/>
          </a:xfrm>
          <a:prstGeom prst="rect">
            <a:avLst/>
          </a:prstGeom>
          <a:noFill/>
          <a:ln/>
        </p:spPr>
        <p:txBody>
          <a:bodyPr wrap="square" lIns="0" tIns="0" rIns="0" bIns="0" rtlCol="0" anchor="t"/>
          <a:lstStyle/>
          <a:p>
            <a:pPr indent="0" marL="0">
              <a:buNone/>
            </a:pPr>
            <a:r>
              <a:rPr lang="en-US" sz="1200" b="1" dirty="0">
                <a:solidFill>
                  <a:srgbClr val="1F2A33"/>
                </a:solidFill>
                <a:latin typeface="Arial" pitchFamily="34" charset="0"/>
                <a:ea typeface="Arial" pitchFamily="34" charset="-122"/>
                <a:cs typeface="Arial" pitchFamily="34" charset="-120"/>
              </a:rPr>
              <a:t>Arrival</a:t>
            </a:r>
            <a:endParaRPr lang="en-US" sz="1200" dirty="0"/>
          </a:p>
        </p:txBody>
      </p:sp>
      <p:pic>
        <p:nvPicPr>
          <p:cNvPr id="13" name="Image 2" descr="/private/tmp/claude-501/-Users-salehhamed-Outcome-Engine/91861432-41e2-4884-bc97-63c6dff2d021/scratchpad/wk/brand/clear.png">
            <a:hlinkClick r:id="rId4" tooltip="Arrival" action="ppaction://hlinksldjump"/>
          </p:cNvPr>
          <p:cNvPicPr>
            <a:picLocks noChangeAspect="1"/>
          </p:cNvPicPr>
          <p:nvPr/>
        </p:nvPicPr>
        <p:blipFill>
          <a:blip r:embed="rId3"/>
          <a:stretch>
            <a:fillRect/>
          </a:stretch>
        </p:blipFill>
        <p:spPr>
          <a:xfrm>
            <a:off x="548640" y="1874520"/>
            <a:ext cx="1066089" cy="1737360"/>
          </a:xfrm>
          <a:prstGeom prst="rect">
            <a:avLst/>
          </a:prstGeom>
        </p:spPr>
      </p:pic>
      <p:sp>
        <p:nvSpPr>
          <p:cNvPr id="14" name="Shape 9"/>
          <p:cNvSpPr/>
          <p:nvPr/>
        </p:nvSpPr>
        <p:spPr>
          <a:xfrm>
            <a:off x="1687881" y="1874520"/>
            <a:ext cx="1066089" cy="1737360"/>
          </a:xfrm>
          <a:prstGeom prst="roundRect">
            <a:avLst>
              <a:gd name="adj" fmla="val 5146"/>
            </a:avLst>
          </a:prstGeom>
          <a:solidFill>
            <a:srgbClr val="FFFFFF"/>
          </a:solidFill>
          <a:ln w="12700">
            <a:solidFill>
              <a:srgbClr val="D9DEE2"/>
            </a:solidFill>
            <a:prstDash val="solid"/>
          </a:ln>
        </p:spPr>
      </p:sp>
      <p:sp>
        <p:nvSpPr>
          <p:cNvPr id="15" name="Shape 10"/>
          <p:cNvSpPr/>
          <p:nvPr/>
        </p:nvSpPr>
        <p:spPr>
          <a:xfrm>
            <a:off x="1687881" y="1874520"/>
            <a:ext cx="1066089" cy="82296"/>
          </a:xfrm>
          <a:prstGeom prst="rect">
            <a:avLst/>
          </a:prstGeom>
          <a:solidFill>
            <a:srgbClr val="287079"/>
          </a:solidFill>
          <a:ln/>
        </p:spPr>
      </p:sp>
      <p:pic>
        <p:nvPicPr>
          <p:cNvPr id="16" name="Image 3" descr="/private/tmp/claude-501/-Users-salehhamed-Outcome-Engine/91861432-41e2-4884-bc97-63c6dff2d021/scratchpad/wk/icons/TbDoorEnter-teal.png">    </p:cNvPr>
          <p:cNvPicPr>
            <a:picLocks noChangeAspect="1"/>
          </p:cNvPicPr>
          <p:nvPr/>
        </p:nvPicPr>
        <p:blipFill>
          <a:blip r:embed="rId5"/>
          <a:stretch>
            <a:fillRect/>
          </a:stretch>
        </p:blipFill>
        <p:spPr>
          <a:xfrm>
            <a:off x="1797609" y="2075688"/>
            <a:ext cx="329184" cy="329184"/>
          </a:xfrm>
          <a:prstGeom prst="rect">
            <a:avLst/>
          </a:prstGeom>
        </p:spPr>
      </p:pic>
      <p:sp>
        <p:nvSpPr>
          <p:cNvPr id="17" name="Text 11"/>
          <p:cNvSpPr txBox="1"/>
          <p:nvPr/>
        </p:nvSpPr>
        <p:spPr>
          <a:xfrm>
            <a:off x="2190801" y="2075688"/>
            <a:ext cx="517449" cy="329184"/>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09:00</a:t>
            </a:r>
            <a:endParaRPr lang="en-US" sz="1100" dirty="0"/>
          </a:p>
        </p:txBody>
      </p:sp>
      <p:sp>
        <p:nvSpPr>
          <p:cNvPr id="18" name="Text 12"/>
          <p:cNvSpPr txBox="1"/>
          <p:nvPr/>
        </p:nvSpPr>
        <p:spPr>
          <a:xfrm>
            <a:off x="1797609" y="2514600"/>
            <a:ext cx="883209" cy="1005840"/>
          </a:xfrm>
          <a:prstGeom prst="rect">
            <a:avLst/>
          </a:prstGeom>
          <a:noFill/>
          <a:ln/>
        </p:spPr>
        <p:txBody>
          <a:bodyPr wrap="square" lIns="0" tIns="0" rIns="0" bIns="0" rtlCol="0" anchor="t"/>
          <a:lstStyle/>
          <a:p>
            <a:pPr indent="0" marL="0">
              <a:buNone/>
            </a:pPr>
            <a:r>
              <a:rPr lang="en-US" sz="1200" b="1" dirty="0">
                <a:solidFill>
                  <a:srgbClr val="1F2A33"/>
                </a:solidFill>
                <a:latin typeface="Arial" pitchFamily="34" charset="0"/>
                <a:ea typeface="Arial" pitchFamily="34" charset="-122"/>
                <a:cs typeface="Arial" pitchFamily="34" charset="-120"/>
              </a:rPr>
              <a:t>Welcome</a:t>
            </a:r>
            <a:endParaRPr lang="en-US" sz="1200" dirty="0"/>
          </a:p>
        </p:txBody>
      </p:sp>
      <p:pic>
        <p:nvPicPr>
          <p:cNvPr id="19" name="Image 4" descr="/private/tmp/claude-501/-Users-salehhamed-Outcome-Engine/91861432-41e2-4884-bc97-63c6dff2d021/scratchpad/wk/brand/clear.png">
            <a:hlinkClick r:id="rId7" tooltip="Welcome" action="ppaction://hlinksldjump"/>
          </p:cNvPr>
          <p:cNvPicPr>
            <a:picLocks noChangeAspect="1"/>
          </p:cNvPicPr>
          <p:nvPr/>
        </p:nvPicPr>
        <p:blipFill>
          <a:blip r:embed="rId6"/>
          <a:stretch>
            <a:fillRect/>
          </a:stretch>
        </p:blipFill>
        <p:spPr>
          <a:xfrm>
            <a:off x="1687881" y="1874520"/>
            <a:ext cx="1066089" cy="1737360"/>
          </a:xfrm>
          <a:prstGeom prst="rect">
            <a:avLst/>
          </a:prstGeom>
        </p:spPr>
      </p:pic>
      <p:sp>
        <p:nvSpPr>
          <p:cNvPr id="20" name="Shape 13"/>
          <p:cNvSpPr/>
          <p:nvPr/>
        </p:nvSpPr>
        <p:spPr>
          <a:xfrm>
            <a:off x="2827122" y="1874520"/>
            <a:ext cx="1066089" cy="1737360"/>
          </a:xfrm>
          <a:prstGeom prst="roundRect">
            <a:avLst>
              <a:gd name="adj" fmla="val 5146"/>
            </a:avLst>
          </a:prstGeom>
          <a:solidFill>
            <a:srgbClr val="FFFFFF"/>
          </a:solidFill>
          <a:ln w="12700">
            <a:solidFill>
              <a:srgbClr val="D9DEE2"/>
            </a:solidFill>
            <a:prstDash val="solid"/>
          </a:ln>
        </p:spPr>
      </p:sp>
      <p:sp>
        <p:nvSpPr>
          <p:cNvPr id="21" name="Shape 14"/>
          <p:cNvSpPr/>
          <p:nvPr/>
        </p:nvSpPr>
        <p:spPr>
          <a:xfrm>
            <a:off x="2827122" y="1874520"/>
            <a:ext cx="1066089" cy="82296"/>
          </a:xfrm>
          <a:prstGeom prst="rect">
            <a:avLst/>
          </a:prstGeom>
          <a:solidFill>
            <a:srgbClr val="287079"/>
          </a:solidFill>
          <a:ln/>
        </p:spPr>
      </p:sp>
      <p:pic>
        <p:nvPicPr>
          <p:cNvPr id="22" name="Image 5" descr="/private/tmp/claude-501/-Users-salehhamed-Outcome-Engine/91861432-41e2-4884-bc97-63c6dff2d021/scratchpad/wk/icons/TbEye-teal.png">    </p:cNvPr>
          <p:cNvPicPr>
            <a:picLocks noChangeAspect="1"/>
          </p:cNvPicPr>
          <p:nvPr/>
        </p:nvPicPr>
        <p:blipFill>
          <a:blip r:embed="rId8"/>
          <a:stretch>
            <a:fillRect/>
          </a:stretch>
        </p:blipFill>
        <p:spPr>
          <a:xfrm>
            <a:off x="2936850" y="2075688"/>
            <a:ext cx="329184" cy="329184"/>
          </a:xfrm>
          <a:prstGeom prst="rect">
            <a:avLst/>
          </a:prstGeom>
        </p:spPr>
      </p:pic>
      <p:sp>
        <p:nvSpPr>
          <p:cNvPr id="23" name="Text 15"/>
          <p:cNvSpPr txBox="1"/>
          <p:nvPr/>
        </p:nvSpPr>
        <p:spPr>
          <a:xfrm>
            <a:off x="3330042" y="2075688"/>
            <a:ext cx="517449" cy="329184"/>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09:30</a:t>
            </a:r>
            <a:endParaRPr lang="en-US" sz="1100" dirty="0"/>
          </a:p>
        </p:txBody>
      </p:sp>
      <p:sp>
        <p:nvSpPr>
          <p:cNvPr id="24" name="Text 16"/>
          <p:cNvSpPr txBox="1"/>
          <p:nvPr/>
        </p:nvSpPr>
        <p:spPr>
          <a:xfrm>
            <a:off x="2936850" y="2514600"/>
            <a:ext cx="883209" cy="1005840"/>
          </a:xfrm>
          <a:prstGeom prst="rect">
            <a:avLst/>
          </a:prstGeom>
          <a:noFill/>
          <a:ln/>
        </p:spPr>
        <p:txBody>
          <a:bodyPr wrap="square" lIns="0" tIns="0" rIns="0" bIns="0" rtlCol="0" anchor="t"/>
          <a:lstStyle/>
          <a:p>
            <a:pPr indent="0" marL="0">
              <a:buNone/>
            </a:pPr>
            <a:r>
              <a:rPr lang="en-US" sz="1200" b="1" dirty="0">
                <a:solidFill>
                  <a:srgbClr val="1F2A33"/>
                </a:solidFill>
                <a:latin typeface="Arial" pitchFamily="34" charset="0"/>
                <a:ea typeface="Arial" pitchFamily="34" charset="-122"/>
                <a:cs typeface="Arial" pitchFamily="34" charset="-120"/>
              </a:rPr>
              <a:t>Ground in reality</a:t>
            </a:r>
            <a:endParaRPr lang="en-US" sz="1200" dirty="0"/>
          </a:p>
        </p:txBody>
      </p:sp>
      <p:pic>
        <p:nvPicPr>
          <p:cNvPr id="25" name="Image 6" descr="/private/tmp/claude-501/-Users-salehhamed-Outcome-Engine/91861432-41e2-4884-bc97-63c6dff2d021/scratchpad/wk/brand/clear.png">
            <a:hlinkClick r:id="rId10" tooltip="Ground in reality" action="ppaction://hlinksldjump"/>
          </p:cNvPr>
          <p:cNvPicPr>
            <a:picLocks noChangeAspect="1"/>
          </p:cNvPicPr>
          <p:nvPr/>
        </p:nvPicPr>
        <p:blipFill>
          <a:blip r:embed="rId9"/>
          <a:stretch>
            <a:fillRect/>
          </a:stretch>
        </p:blipFill>
        <p:spPr>
          <a:xfrm>
            <a:off x="2827122" y="1874520"/>
            <a:ext cx="1066089" cy="1737360"/>
          </a:xfrm>
          <a:prstGeom prst="rect">
            <a:avLst/>
          </a:prstGeom>
        </p:spPr>
      </p:pic>
      <p:sp>
        <p:nvSpPr>
          <p:cNvPr id="26" name="Shape 17"/>
          <p:cNvSpPr/>
          <p:nvPr/>
        </p:nvSpPr>
        <p:spPr>
          <a:xfrm>
            <a:off x="3966362" y="1874520"/>
            <a:ext cx="384048" cy="1737360"/>
          </a:xfrm>
          <a:prstGeom prst="roundRect">
            <a:avLst>
              <a:gd name="adj" fmla="val 14286"/>
            </a:avLst>
          </a:prstGeom>
          <a:solidFill>
            <a:srgbClr val="F2F4F5"/>
          </a:solidFill>
          <a:ln/>
        </p:spPr>
      </p:sp>
      <p:pic>
        <p:nvPicPr>
          <p:cNvPr id="27" name="Image 7" descr="/private/tmp/claude-501/-Users-salehhamed-Outcome-Engine/91861432-41e2-4884-bc97-63c6dff2d021/scratchpad/wk/icons/TbCoffee-grey.png">    </p:cNvPr>
          <p:cNvPicPr>
            <a:picLocks noChangeAspect="1"/>
          </p:cNvPicPr>
          <p:nvPr/>
        </p:nvPicPr>
        <p:blipFill>
          <a:blip r:embed="rId11"/>
          <a:stretch>
            <a:fillRect/>
          </a:stretch>
        </p:blipFill>
        <p:spPr>
          <a:xfrm>
            <a:off x="4030370" y="2011680"/>
            <a:ext cx="256032" cy="256032"/>
          </a:xfrm>
          <a:prstGeom prst="rect">
            <a:avLst/>
          </a:prstGeom>
        </p:spPr>
      </p:pic>
      <p:pic>
        <p:nvPicPr>
          <p:cNvPr id="28" name="Image 8" descr="/private/tmp/claude-501/-Users-salehhamed-Outcome-Engine/91861432-41e2-4884-bc97-63c6dff2d021/scratchpad/wk/brand/clear.png">
            <a:hlinkClick r:id="rId13" tooltip="Break" action="ppaction://hlinksldjump"/>
          </p:cNvPr>
          <p:cNvPicPr>
            <a:picLocks noChangeAspect="1"/>
          </p:cNvPicPr>
          <p:nvPr/>
        </p:nvPicPr>
        <p:blipFill>
          <a:blip r:embed="rId12"/>
          <a:stretch>
            <a:fillRect/>
          </a:stretch>
        </p:blipFill>
        <p:spPr>
          <a:xfrm>
            <a:off x="3966362" y="1874520"/>
            <a:ext cx="384048" cy="1737360"/>
          </a:xfrm>
          <a:prstGeom prst="rect">
            <a:avLst/>
          </a:prstGeom>
        </p:spPr>
      </p:pic>
      <p:sp>
        <p:nvSpPr>
          <p:cNvPr id="29" name="Shape 18"/>
          <p:cNvSpPr/>
          <p:nvPr/>
        </p:nvSpPr>
        <p:spPr>
          <a:xfrm>
            <a:off x="4423562" y="1874520"/>
            <a:ext cx="1066089" cy="1737360"/>
          </a:xfrm>
          <a:prstGeom prst="roundRect">
            <a:avLst>
              <a:gd name="adj" fmla="val 5146"/>
            </a:avLst>
          </a:prstGeom>
          <a:solidFill>
            <a:srgbClr val="FFFFFF"/>
          </a:solidFill>
          <a:ln w="12700">
            <a:solidFill>
              <a:srgbClr val="D9DEE2"/>
            </a:solidFill>
            <a:prstDash val="solid"/>
          </a:ln>
        </p:spPr>
      </p:sp>
      <p:sp>
        <p:nvSpPr>
          <p:cNvPr id="30" name="Shape 19"/>
          <p:cNvSpPr/>
          <p:nvPr/>
        </p:nvSpPr>
        <p:spPr>
          <a:xfrm>
            <a:off x="4423562" y="1874520"/>
            <a:ext cx="1066089" cy="82296"/>
          </a:xfrm>
          <a:prstGeom prst="rect">
            <a:avLst/>
          </a:prstGeom>
          <a:solidFill>
            <a:srgbClr val="287079"/>
          </a:solidFill>
          <a:ln/>
        </p:spPr>
      </p:sp>
      <p:pic>
        <p:nvPicPr>
          <p:cNvPr id="31" name="Image 9" descr="/private/tmp/claude-501/-Users-salehhamed-Outcome-Engine/91861432-41e2-4884-bc97-63c6dff2d021/scratchpad/wk/icons/TbTarget-teal.png">    </p:cNvPr>
          <p:cNvPicPr>
            <a:picLocks noChangeAspect="1"/>
          </p:cNvPicPr>
          <p:nvPr/>
        </p:nvPicPr>
        <p:blipFill>
          <a:blip r:embed="rId14"/>
          <a:stretch>
            <a:fillRect/>
          </a:stretch>
        </p:blipFill>
        <p:spPr>
          <a:xfrm>
            <a:off x="4533290" y="2075688"/>
            <a:ext cx="329184" cy="329184"/>
          </a:xfrm>
          <a:prstGeom prst="rect">
            <a:avLst/>
          </a:prstGeom>
        </p:spPr>
      </p:pic>
      <p:sp>
        <p:nvSpPr>
          <p:cNvPr id="32" name="Text 20"/>
          <p:cNvSpPr txBox="1"/>
          <p:nvPr/>
        </p:nvSpPr>
        <p:spPr>
          <a:xfrm>
            <a:off x="4926482" y="2075688"/>
            <a:ext cx="517449" cy="329184"/>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11:00</a:t>
            </a:r>
            <a:endParaRPr lang="en-US" sz="1100" dirty="0"/>
          </a:p>
        </p:txBody>
      </p:sp>
      <p:sp>
        <p:nvSpPr>
          <p:cNvPr id="33" name="Text 21"/>
          <p:cNvSpPr txBox="1"/>
          <p:nvPr/>
        </p:nvSpPr>
        <p:spPr>
          <a:xfrm>
            <a:off x="4533290" y="2514600"/>
            <a:ext cx="883209" cy="1005840"/>
          </a:xfrm>
          <a:prstGeom prst="rect">
            <a:avLst/>
          </a:prstGeom>
          <a:noFill/>
          <a:ln/>
        </p:spPr>
        <p:txBody>
          <a:bodyPr wrap="square" lIns="0" tIns="0" rIns="0" bIns="0" rtlCol="0" anchor="t"/>
          <a:lstStyle/>
          <a:p>
            <a:pPr indent="0" marL="0">
              <a:buNone/>
            </a:pPr>
            <a:r>
              <a:rPr lang="en-US" sz="1200" b="1" dirty="0">
                <a:solidFill>
                  <a:srgbClr val="1F2A33"/>
                </a:solidFill>
                <a:latin typeface="Arial" pitchFamily="34" charset="0"/>
                <a:ea typeface="Arial" pitchFamily="34" charset="-122"/>
                <a:cs typeface="Arial" pitchFamily="34" charset="-120"/>
              </a:rPr>
              <a:t>The outcome</a:t>
            </a:r>
            <a:endParaRPr lang="en-US" sz="1200" dirty="0"/>
          </a:p>
        </p:txBody>
      </p:sp>
      <p:pic>
        <p:nvPicPr>
          <p:cNvPr id="34" name="Image 10" descr="/private/tmp/claude-501/-Users-salehhamed-Outcome-Engine/91861432-41e2-4884-bc97-63c6dff2d021/scratchpad/wk/brand/clear.png">
            <a:hlinkClick r:id="rId16" tooltip="The outcome" action="ppaction://hlinksldjump"/>
          </p:cNvPr>
          <p:cNvPicPr>
            <a:picLocks noChangeAspect="1"/>
          </p:cNvPicPr>
          <p:nvPr/>
        </p:nvPicPr>
        <p:blipFill>
          <a:blip r:embed="rId15"/>
          <a:stretch>
            <a:fillRect/>
          </a:stretch>
        </p:blipFill>
        <p:spPr>
          <a:xfrm>
            <a:off x="4423562" y="1874520"/>
            <a:ext cx="1066089" cy="1737360"/>
          </a:xfrm>
          <a:prstGeom prst="rect">
            <a:avLst/>
          </a:prstGeom>
        </p:spPr>
      </p:pic>
      <p:sp>
        <p:nvSpPr>
          <p:cNvPr id="35" name="Shape 22"/>
          <p:cNvSpPr/>
          <p:nvPr/>
        </p:nvSpPr>
        <p:spPr>
          <a:xfrm>
            <a:off x="5562803" y="1874520"/>
            <a:ext cx="1066089" cy="1737360"/>
          </a:xfrm>
          <a:prstGeom prst="roundRect">
            <a:avLst>
              <a:gd name="adj" fmla="val 5146"/>
            </a:avLst>
          </a:prstGeom>
          <a:solidFill>
            <a:srgbClr val="FFFFFF"/>
          </a:solidFill>
          <a:ln w="12700">
            <a:solidFill>
              <a:srgbClr val="D9DEE2"/>
            </a:solidFill>
            <a:prstDash val="solid"/>
          </a:ln>
        </p:spPr>
      </p:sp>
      <p:sp>
        <p:nvSpPr>
          <p:cNvPr id="36" name="Shape 23"/>
          <p:cNvSpPr/>
          <p:nvPr/>
        </p:nvSpPr>
        <p:spPr>
          <a:xfrm>
            <a:off x="5562803" y="1874520"/>
            <a:ext cx="1066089" cy="82296"/>
          </a:xfrm>
          <a:prstGeom prst="rect">
            <a:avLst/>
          </a:prstGeom>
          <a:solidFill>
            <a:srgbClr val="2E8656"/>
          </a:solidFill>
          <a:ln/>
        </p:spPr>
      </p:sp>
      <p:pic>
        <p:nvPicPr>
          <p:cNvPr id="37" name="Image 11" descr="/private/tmp/claude-501/-Users-salehhamed-Outcome-Engine/91861432-41e2-4884-bc97-63c6dff2d021/scratchpad/wk/icons/TbToolsKitchen2-green.png">    </p:cNvPr>
          <p:cNvPicPr>
            <a:picLocks noChangeAspect="1"/>
          </p:cNvPicPr>
          <p:nvPr/>
        </p:nvPicPr>
        <p:blipFill>
          <a:blip r:embed="rId17"/>
          <a:stretch>
            <a:fillRect/>
          </a:stretch>
        </p:blipFill>
        <p:spPr>
          <a:xfrm>
            <a:off x="5672531" y="2075688"/>
            <a:ext cx="329184" cy="329184"/>
          </a:xfrm>
          <a:prstGeom prst="rect">
            <a:avLst/>
          </a:prstGeom>
        </p:spPr>
      </p:pic>
      <p:sp>
        <p:nvSpPr>
          <p:cNvPr id="38" name="Text 24"/>
          <p:cNvSpPr txBox="1"/>
          <p:nvPr/>
        </p:nvSpPr>
        <p:spPr>
          <a:xfrm>
            <a:off x="6065723" y="2075688"/>
            <a:ext cx="517449" cy="329184"/>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12:30</a:t>
            </a:r>
            <a:endParaRPr lang="en-US" sz="1100" dirty="0"/>
          </a:p>
        </p:txBody>
      </p:sp>
      <p:sp>
        <p:nvSpPr>
          <p:cNvPr id="39" name="Text 25"/>
          <p:cNvSpPr txBox="1"/>
          <p:nvPr/>
        </p:nvSpPr>
        <p:spPr>
          <a:xfrm>
            <a:off x="5672531" y="2514600"/>
            <a:ext cx="883209" cy="1005840"/>
          </a:xfrm>
          <a:prstGeom prst="rect">
            <a:avLst/>
          </a:prstGeom>
          <a:noFill/>
          <a:ln/>
        </p:spPr>
        <p:txBody>
          <a:bodyPr wrap="square" lIns="0" tIns="0" rIns="0" bIns="0" rtlCol="0" anchor="t"/>
          <a:lstStyle/>
          <a:p>
            <a:pPr indent="0" marL="0">
              <a:buNone/>
            </a:pPr>
            <a:r>
              <a:rPr lang="en-US" sz="1200" b="1" dirty="0">
                <a:solidFill>
                  <a:srgbClr val="1F2A33"/>
                </a:solidFill>
                <a:latin typeface="Arial" pitchFamily="34" charset="0"/>
                <a:ea typeface="Arial" pitchFamily="34" charset="-122"/>
                <a:cs typeface="Arial" pitchFamily="34" charset="-120"/>
              </a:rPr>
              <a:t>Lunch · build starts</a:t>
            </a:r>
            <a:endParaRPr lang="en-US" sz="1200" dirty="0"/>
          </a:p>
        </p:txBody>
      </p:sp>
      <p:pic>
        <p:nvPicPr>
          <p:cNvPr id="40" name="Image 12" descr="/private/tmp/claude-501/-Users-salehhamed-Outcome-Engine/91861432-41e2-4884-bc97-63c6dff2d021/scratchpad/wk/brand/clear.png">
            <a:hlinkClick r:id="rId19" tooltip="Lunch · build starts" action="ppaction://hlinksldjump"/>
          </p:cNvPr>
          <p:cNvPicPr>
            <a:picLocks noChangeAspect="1"/>
          </p:cNvPicPr>
          <p:nvPr/>
        </p:nvPicPr>
        <p:blipFill>
          <a:blip r:embed="rId18"/>
          <a:stretch>
            <a:fillRect/>
          </a:stretch>
        </p:blipFill>
        <p:spPr>
          <a:xfrm>
            <a:off x="5562803" y="1874520"/>
            <a:ext cx="1066089" cy="1737360"/>
          </a:xfrm>
          <a:prstGeom prst="rect">
            <a:avLst/>
          </a:prstGeom>
        </p:spPr>
      </p:pic>
      <p:sp>
        <p:nvSpPr>
          <p:cNvPr id="41" name="Shape 26"/>
          <p:cNvSpPr/>
          <p:nvPr/>
        </p:nvSpPr>
        <p:spPr>
          <a:xfrm>
            <a:off x="6702044" y="1874520"/>
            <a:ext cx="1066089" cy="1737360"/>
          </a:xfrm>
          <a:prstGeom prst="roundRect">
            <a:avLst>
              <a:gd name="adj" fmla="val 5146"/>
            </a:avLst>
          </a:prstGeom>
          <a:solidFill>
            <a:srgbClr val="FFFFFF"/>
          </a:solidFill>
          <a:ln w="12700">
            <a:solidFill>
              <a:srgbClr val="D9DEE2"/>
            </a:solidFill>
            <a:prstDash val="solid"/>
          </a:ln>
        </p:spPr>
      </p:sp>
      <p:sp>
        <p:nvSpPr>
          <p:cNvPr id="42" name="Shape 27"/>
          <p:cNvSpPr/>
          <p:nvPr/>
        </p:nvSpPr>
        <p:spPr>
          <a:xfrm>
            <a:off x="6702044" y="1874520"/>
            <a:ext cx="1066089" cy="82296"/>
          </a:xfrm>
          <a:prstGeom prst="rect">
            <a:avLst/>
          </a:prstGeom>
          <a:solidFill>
            <a:srgbClr val="287079"/>
          </a:solidFill>
          <a:ln/>
        </p:spPr>
      </p:sp>
      <p:pic>
        <p:nvPicPr>
          <p:cNvPr id="43" name="Image 13" descr="/private/tmp/claude-501/-Users-salehhamed-Outcome-Engine/91861432-41e2-4884-bc97-63c6dff2d021/scratchpad/wk/icons/TbUserCheck-teal.png">    </p:cNvPr>
          <p:cNvPicPr>
            <a:picLocks noChangeAspect="1"/>
          </p:cNvPicPr>
          <p:nvPr/>
        </p:nvPicPr>
        <p:blipFill>
          <a:blip r:embed="rId20"/>
          <a:stretch>
            <a:fillRect/>
          </a:stretch>
        </p:blipFill>
        <p:spPr>
          <a:xfrm>
            <a:off x="6811772" y="2075688"/>
            <a:ext cx="329184" cy="329184"/>
          </a:xfrm>
          <a:prstGeom prst="rect">
            <a:avLst/>
          </a:prstGeom>
        </p:spPr>
      </p:pic>
      <p:sp>
        <p:nvSpPr>
          <p:cNvPr id="44" name="Text 28"/>
          <p:cNvSpPr txBox="1"/>
          <p:nvPr/>
        </p:nvSpPr>
        <p:spPr>
          <a:xfrm>
            <a:off x="7204964" y="2075688"/>
            <a:ext cx="517449" cy="329184"/>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13:15</a:t>
            </a:r>
            <a:endParaRPr lang="en-US" sz="1100" dirty="0"/>
          </a:p>
        </p:txBody>
      </p:sp>
      <p:sp>
        <p:nvSpPr>
          <p:cNvPr id="45" name="Text 29"/>
          <p:cNvSpPr txBox="1"/>
          <p:nvPr/>
        </p:nvSpPr>
        <p:spPr>
          <a:xfrm>
            <a:off x="6811772" y="2514600"/>
            <a:ext cx="883209" cy="1005840"/>
          </a:xfrm>
          <a:prstGeom prst="rect">
            <a:avLst/>
          </a:prstGeom>
          <a:noFill/>
          <a:ln/>
        </p:spPr>
        <p:txBody>
          <a:bodyPr wrap="square" lIns="0" tIns="0" rIns="0" bIns="0" rtlCol="0" anchor="t"/>
          <a:lstStyle/>
          <a:p>
            <a:pPr indent="0" marL="0">
              <a:buNone/>
            </a:pPr>
            <a:r>
              <a:rPr lang="en-US" sz="1200" b="1" dirty="0">
                <a:solidFill>
                  <a:srgbClr val="1F2A33"/>
                </a:solidFill>
                <a:latin typeface="Arial" pitchFamily="34" charset="0"/>
                <a:ea typeface="Arial" pitchFamily="34" charset="-122"/>
                <a:cs typeface="Arial" pitchFamily="34" charset="-120"/>
              </a:rPr>
              <a:t>Decisions</a:t>
            </a:r>
            <a:endParaRPr lang="en-US" sz="1200" dirty="0"/>
          </a:p>
        </p:txBody>
      </p:sp>
      <p:pic>
        <p:nvPicPr>
          <p:cNvPr id="46" name="Image 14" descr="/private/tmp/claude-501/-Users-salehhamed-Outcome-Engine/91861432-41e2-4884-bc97-63c6dff2d021/scratchpad/wk/brand/clear.png">
            <a:hlinkClick r:id="rId22" tooltip="Decisions" action="ppaction://hlinksldjump"/>
          </p:cNvPr>
          <p:cNvPicPr>
            <a:picLocks noChangeAspect="1"/>
          </p:cNvPicPr>
          <p:nvPr/>
        </p:nvPicPr>
        <p:blipFill>
          <a:blip r:embed="rId21"/>
          <a:stretch>
            <a:fillRect/>
          </a:stretch>
        </p:blipFill>
        <p:spPr>
          <a:xfrm>
            <a:off x="6702044" y="1874520"/>
            <a:ext cx="1066089" cy="1737360"/>
          </a:xfrm>
          <a:prstGeom prst="rect">
            <a:avLst/>
          </a:prstGeom>
        </p:spPr>
      </p:pic>
      <p:sp>
        <p:nvSpPr>
          <p:cNvPr id="47" name="Shape 30"/>
          <p:cNvSpPr/>
          <p:nvPr/>
        </p:nvSpPr>
        <p:spPr>
          <a:xfrm>
            <a:off x="7841285" y="1874520"/>
            <a:ext cx="384048" cy="1737360"/>
          </a:xfrm>
          <a:prstGeom prst="roundRect">
            <a:avLst>
              <a:gd name="adj" fmla="val 14286"/>
            </a:avLst>
          </a:prstGeom>
          <a:solidFill>
            <a:srgbClr val="F2F4F5"/>
          </a:solidFill>
          <a:ln/>
        </p:spPr>
      </p:sp>
      <p:pic>
        <p:nvPicPr>
          <p:cNvPr id="48" name="Image 15" descr="/private/tmp/claude-501/-Users-salehhamed-Outcome-Engine/91861432-41e2-4884-bc97-63c6dff2d021/scratchpad/wk/icons/TbCoffee-grey.png">    </p:cNvPr>
          <p:cNvPicPr>
            <a:picLocks noChangeAspect="1"/>
          </p:cNvPicPr>
          <p:nvPr/>
        </p:nvPicPr>
        <p:blipFill>
          <a:blip r:embed="rId23"/>
          <a:stretch>
            <a:fillRect/>
          </a:stretch>
        </p:blipFill>
        <p:spPr>
          <a:xfrm>
            <a:off x="7905293" y="2011680"/>
            <a:ext cx="256032" cy="256032"/>
          </a:xfrm>
          <a:prstGeom prst="rect">
            <a:avLst/>
          </a:prstGeom>
        </p:spPr>
      </p:pic>
      <p:pic>
        <p:nvPicPr>
          <p:cNvPr id="49" name="Image 16" descr="/private/tmp/claude-501/-Users-salehhamed-Outcome-Engine/91861432-41e2-4884-bc97-63c6dff2d021/scratchpad/wk/brand/clear.png">
            <a:hlinkClick r:id="rId25" tooltip="Break" action="ppaction://hlinksldjump"/>
          </p:cNvPr>
          <p:cNvPicPr>
            <a:picLocks noChangeAspect="1"/>
          </p:cNvPicPr>
          <p:nvPr/>
        </p:nvPicPr>
        <p:blipFill>
          <a:blip r:embed="rId24"/>
          <a:stretch>
            <a:fillRect/>
          </a:stretch>
        </p:blipFill>
        <p:spPr>
          <a:xfrm>
            <a:off x="7841285" y="1874520"/>
            <a:ext cx="384048" cy="1737360"/>
          </a:xfrm>
          <a:prstGeom prst="rect">
            <a:avLst/>
          </a:prstGeom>
        </p:spPr>
      </p:pic>
      <p:sp>
        <p:nvSpPr>
          <p:cNvPr id="50" name="Shape 31"/>
          <p:cNvSpPr/>
          <p:nvPr/>
        </p:nvSpPr>
        <p:spPr>
          <a:xfrm>
            <a:off x="8298485" y="1874520"/>
            <a:ext cx="1066089" cy="1737360"/>
          </a:xfrm>
          <a:prstGeom prst="roundRect">
            <a:avLst>
              <a:gd name="adj" fmla="val 5146"/>
            </a:avLst>
          </a:prstGeom>
          <a:solidFill>
            <a:srgbClr val="FFFFFF"/>
          </a:solidFill>
          <a:ln w="12700">
            <a:solidFill>
              <a:srgbClr val="D9DEE2"/>
            </a:solidFill>
            <a:prstDash val="solid"/>
          </a:ln>
        </p:spPr>
      </p:sp>
      <p:sp>
        <p:nvSpPr>
          <p:cNvPr id="51" name="Shape 32"/>
          <p:cNvSpPr/>
          <p:nvPr/>
        </p:nvSpPr>
        <p:spPr>
          <a:xfrm>
            <a:off x="8298485" y="1874520"/>
            <a:ext cx="1066089" cy="82296"/>
          </a:xfrm>
          <a:prstGeom prst="rect">
            <a:avLst/>
          </a:prstGeom>
          <a:solidFill>
            <a:srgbClr val="287079"/>
          </a:solidFill>
          <a:ln/>
        </p:spPr>
      </p:sp>
      <p:pic>
        <p:nvPicPr>
          <p:cNvPr id="52" name="Image 17" descr="/private/tmp/claude-501/-Users-salehhamed-Outcome-Engine/91861432-41e2-4884-bc97-63c6dff2d021/scratchpad/wk/icons/TbGavel-teal.png">    </p:cNvPr>
          <p:cNvPicPr>
            <a:picLocks noChangeAspect="1"/>
          </p:cNvPicPr>
          <p:nvPr/>
        </p:nvPicPr>
        <p:blipFill>
          <a:blip r:embed="rId26"/>
          <a:stretch>
            <a:fillRect/>
          </a:stretch>
        </p:blipFill>
        <p:spPr>
          <a:xfrm>
            <a:off x="8408213" y="2075688"/>
            <a:ext cx="329184" cy="329184"/>
          </a:xfrm>
          <a:prstGeom prst="rect">
            <a:avLst/>
          </a:prstGeom>
        </p:spPr>
      </p:pic>
      <p:sp>
        <p:nvSpPr>
          <p:cNvPr id="53" name="Text 33"/>
          <p:cNvSpPr txBox="1"/>
          <p:nvPr/>
        </p:nvSpPr>
        <p:spPr>
          <a:xfrm>
            <a:off x="8801405" y="2075688"/>
            <a:ext cx="517449" cy="329184"/>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15:00</a:t>
            </a:r>
            <a:endParaRPr lang="en-US" sz="1100" dirty="0"/>
          </a:p>
        </p:txBody>
      </p:sp>
      <p:sp>
        <p:nvSpPr>
          <p:cNvPr id="54" name="Text 34"/>
          <p:cNvSpPr txBox="1"/>
          <p:nvPr/>
        </p:nvSpPr>
        <p:spPr>
          <a:xfrm>
            <a:off x="8408213" y="2514600"/>
            <a:ext cx="883209" cy="1005840"/>
          </a:xfrm>
          <a:prstGeom prst="rect">
            <a:avLst/>
          </a:prstGeom>
          <a:noFill/>
          <a:ln/>
        </p:spPr>
        <p:txBody>
          <a:bodyPr wrap="square" lIns="0" tIns="0" rIns="0" bIns="0" rtlCol="0" anchor="t"/>
          <a:lstStyle/>
          <a:p>
            <a:pPr indent="0" marL="0">
              <a:buNone/>
            </a:pPr>
            <a:r>
              <a:rPr lang="en-US" sz="1200" b="1" dirty="0">
                <a:solidFill>
                  <a:srgbClr val="1F2A33"/>
                </a:solidFill>
                <a:latin typeface="Arial" pitchFamily="34" charset="0"/>
                <a:ea typeface="Arial" pitchFamily="34" charset="-122"/>
                <a:cs typeface="Arial" pitchFamily="34" charset="-120"/>
              </a:rPr>
              <a:t>Rules</a:t>
            </a:r>
            <a:endParaRPr lang="en-US" sz="1200" dirty="0"/>
          </a:p>
        </p:txBody>
      </p:sp>
      <p:pic>
        <p:nvPicPr>
          <p:cNvPr id="55" name="Image 18" descr="/private/tmp/claude-501/-Users-salehhamed-Outcome-Engine/91861432-41e2-4884-bc97-63c6dff2d021/scratchpad/wk/brand/clear.png">
            <a:hlinkClick r:id="rId28" tooltip="Rules" action="ppaction://hlinksldjump"/>
          </p:cNvPr>
          <p:cNvPicPr>
            <a:picLocks noChangeAspect="1"/>
          </p:cNvPicPr>
          <p:nvPr/>
        </p:nvPicPr>
        <p:blipFill>
          <a:blip r:embed="rId27"/>
          <a:stretch>
            <a:fillRect/>
          </a:stretch>
        </p:blipFill>
        <p:spPr>
          <a:xfrm>
            <a:off x="8298485" y="1874520"/>
            <a:ext cx="1066089" cy="1737360"/>
          </a:xfrm>
          <a:prstGeom prst="rect">
            <a:avLst/>
          </a:prstGeom>
        </p:spPr>
      </p:pic>
      <p:sp>
        <p:nvSpPr>
          <p:cNvPr id="56" name="Shape 35"/>
          <p:cNvSpPr/>
          <p:nvPr/>
        </p:nvSpPr>
        <p:spPr>
          <a:xfrm>
            <a:off x="9437726" y="1874520"/>
            <a:ext cx="1066089" cy="1737360"/>
          </a:xfrm>
          <a:prstGeom prst="roundRect">
            <a:avLst>
              <a:gd name="adj" fmla="val 5146"/>
            </a:avLst>
          </a:prstGeom>
          <a:solidFill>
            <a:srgbClr val="FFFFFF"/>
          </a:solidFill>
          <a:ln w="12700">
            <a:solidFill>
              <a:srgbClr val="D9DEE2"/>
            </a:solidFill>
            <a:prstDash val="solid"/>
          </a:ln>
        </p:spPr>
      </p:sp>
      <p:sp>
        <p:nvSpPr>
          <p:cNvPr id="57" name="Shape 36"/>
          <p:cNvSpPr/>
          <p:nvPr/>
        </p:nvSpPr>
        <p:spPr>
          <a:xfrm>
            <a:off x="9437726" y="1874520"/>
            <a:ext cx="1066089" cy="82296"/>
          </a:xfrm>
          <a:prstGeom prst="rect">
            <a:avLst/>
          </a:prstGeom>
          <a:solidFill>
            <a:srgbClr val="287079"/>
          </a:solidFill>
          <a:ln/>
        </p:spPr>
      </p:sp>
      <p:pic>
        <p:nvPicPr>
          <p:cNvPr id="58" name="Image 19" descr="/private/tmp/claude-501/-Users-salehhamed-Outcome-Engine/91861432-41e2-4884-bc97-63c6dff2d021/scratchpad/wk/icons/TbHammer-teal.png">    </p:cNvPr>
          <p:cNvPicPr>
            <a:picLocks noChangeAspect="1"/>
          </p:cNvPicPr>
          <p:nvPr/>
        </p:nvPicPr>
        <p:blipFill>
          <a:blip r:embed="rId29"/>
          <a:stretch>
            <a:fillRect/>
          </a:stretch>
        </p:blipFill>
        <p:spPr>
          <a:xfrm>
            <a:off x="9547454" y="2075688"/>
            <a:ext cx="329184" cy="329184"/>
          </a:xfrm>
          <a:prstGeom prst="rect">
            <a:avLst/>
          </a:prstGeom>
        </p:spPr>
      </p:pic>
      <p:sp>
        <p:nvSpPr>
          <p:cNvPr id="59" name="Text 37"/>
          <p:cNvSpPr txBox="1"/>
          <p:nvPr/>
        </p:nvSpPr>
        <p:spPr>
          <a:xfrm>
            <a:off x="9940646" y="2075688"/>
            <a:ext cx="517449" cy="329184"/>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16:15</a:t>
            </a:r>
            <a:endParaRPr lang="en-US" sz="1100" dirty="0"/>
          </a:p>
        </p:txBody>
      </p:sp>
      <p:sp>
        <p:nvSpPr>
          <p:cNvPr id="60" name="Text 38"/>
          <p:cNvSpPr txBox="1"/>
          <p:nvPr/>
        </p:nvSpPr>
        <p:spPr>
          <a:xfrm>
            <a:off x="9547454" y="2514600"/>
            <a:ext cx="883209" cy="1005840"/>
          </a:xfrm>
          <a:prstGeom prst="rect">
            <a:avLst/>
          </a:prstGeom>
          <a:noFill/>
          <a:ln/>
        </p:spPr>
        <p:txBody>
          <a:bodyPr wrap="square" lIns="0" tIns="0" rIns="0" bIns="0" rtlCol="0" anchor="t"/>
          <a:lstStyle/>
          <a:p>
            <a:pPr indent="0" marL="0">
              <a:buNone/>
            </a:pPr>
            <a:r>
              <a:rPr lang="en-US" sz="1200" b="1" dirty="0">
                <a:solidFill>
                  <a:srgbClr val="1F2A33"/>
                </a:solidFill>
                <a:latin typeface="Arial" pitchFamily="34" charset="0"/>
                <a:ea typeface="Arial" pitchFamily="34" charset="-122"/>
                <a:cs typeface="Arial" pitchFamily="34" charset="-120"/>
              </a:rPr>
              <a:t>Checkpoint</a:t>
            </a:r>
            <a:endParaRPr lang="en-US" sz="1200" dirty="0"/>
          </a:p>
        </p:txBody>
      </p:sp>
      <p:pic>
        <p:nvPicPr>
          <p:cNvPr id="61" name="Image 20" descr="/private/tmp/claude-501/-Users-salehhamed-Outcome-Engine/91861432-41e2-4884-bc97-63c6dff2d021/scratchpad/wk/brand/clear.png">
            <a:hlinkClick r:id="rId31" tooltip="Checkpoint" action="ppaction://hlinksldjump"/>
          </p:cNvPr>
          <p:cNvPicPr>
            <a:picLocks noChangeAspect="1"/>
          </p:cNvPicPr>
          <p:nvPr/>
        </p:nvPicPr>
        <p:blipFill>
          <a:blip r:embed="rId30"/>
          <a:stretch>
            <a:fillRect/>
          </a:stretch>
        </p:blipFill>
        <p:spPr>
          <a:xfrm>
            <a:off x="9437726" y="1874520"/>
            <a:ext cx="1066089" cy="1737360"/>
          </a:xfrm>
          <a:prstGeom prst="rect">
            <a:avLst/>
          </a:prstGeom>
        </p:spPr>
      </p:pic>
      <p:sp>
        <p:nvSpPr>
          <p:cNvPr id="62" name="Shape 39"/>
          <p:cNvSpPr/>
          <p:nvPr/>
        </p:nvSpPr>
        <p:spPr>
          <a:xfrm>
            <a:off x="10576966" y="1874520"/>
            <a:ext cx="1066089" cy="1737360"/>
          </a:xfrm>
          <a:prstGeom prst="roundRect">
            <a:avLst>
              <a:gd name="adj" fmla="val 5146"/>
            </a:avLst>
          </a:prstGeom>
          <a:solidFill>
            <a:srgbClr val="FFFFFF"/>
          </a:solidFill>
          <a:ln w="12700">
            <a:solidFill>
              <a:srgbClr val="D9DEE2"/>
            </a:solidFill>
            <a:prstDash val="solid"/>
          </a:ln>
        </p:spPr>
      </p:sp>
      <p:sp>
        <p:nvSpPr>
          <p:cNvPr id="63" name="Shape 40"/>
          <p:cNvSpPr/>
          <p:nvPr/>
        </p:nvSpPr>
        <p:spPr>
          <a:xfrm>
            <a:off x="10576966" y="1874520"/>
            <a:ext cx="1066089" cy="82296"/>
          </a:xfrm>
          <a:prstGeom prst="rect">
            <a:avLst/>
          </a:prstGeom>
          <a:solidFill>
            <a:srgbClr val="287079"/>
          </a:solidFill>
          <a:ln/>
        </p:spPr>
      </p:sp>
      <p:pic>
        <p:nvPicPr>
          <p:cNvPr id="64" name="Image 21" descr="/private/tmp/claude-501/-Users-salehhamed-Outcome-Engine/91861432-41e2-4884-bc97-63c6dff2d021/scratchpad/wk/icons/TbMoon-teal.png">    </p:cNvPr>
          <p:cNvPicPr>
            <a:picLocks noChangeAspect="1"/>
          </p:cNvPicPr>
          <p:nvPr/>
        </p:nvPicPr>
        <p:blipFill>
          <a:blip r:embed="rId32"/>
          <a:stretch>
            <a:fillRect/>
          </a:stretch>
        </p:blipFill>
        <p:spPr>
          <a:xfrm>
            <a:off x="10686694" y="2075688"/>
            <a:ext cx="329184" cy="329184"/>
          </a:xfrm>
          <a:prstGeom prst="rect">
            <a:avLst/>
          </a:prstGeom>
        </p:spPr>
      </p:pic>
      <p:sp>
        <p:nvSpPr>
          <p:cNvPr id="65" name="Text 41"/>
          <p:cNvSpPr txBox="1"/>
          <p:nvPr/>
        </p:nvSpPr>
        <p:spPr>
          <a:xfrm>
            <a:off x="11079886" y="2075688"/>
            <a:ext cx="517449" cy="329184"/>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16:45</a:t>
            </a:r>
            <a:endParaRPr lang="en-US" sz="1100" dirty="0"/>
          </a:p>
        </p:txBody>
      </p:sp>
      <p:sp>
        <p:nvSpPr>
          <p:cNvPr id="66" name="Text 42"/>
          <p:cNvSpPr txBox="1"/>
          <p:nvPr/>
        </p:nvSpPr>
        <p:spPr>
          <a:xfrm>
            <a:off x="10686694" y="2514600"/>
            <a:ext cx="883209" cy="1005840"/>
          </a:xfrm>
          <a:prstGeom prst="rect">
            <a:avLst/>
          </a:prstGeom>
          <a:noFill/>
          <a:ln/>
        </p:spPr>
        <p:txBody>
          <a:bodyPr wrap="square" lIns="0" tIns="0" rIns="0" bIns="0" rtlCol="0" anchor="t"/>
          <a:lstStyle/>
          <a:p>
            <a:pPr indent="0" marL="0">
              <a:buNone/>
            </a:pPr>
            <a:r>
              <a:rPr lang="en-US" sz="1200" b="1" dirty="0">
                <a:solidFill>
                  <a:srgbClr val="1F2A33"/>
                </a:solidFill>
                <a:latin typeface="Arial" pitchFamily="34" charset="0"/>
                <a:ea typeface="Arial" pitchFamily="34" charset="-122"/>
                <a:cs typeface="Arial" pitchFamily="34" charset="-120"/>
              </a:rPr>
              <a:t>Close of Day 1</a:t>
            </a:r>
            <a:endParaRPr lang="en-US" sz="1200" dirty="0"/>
          </a:p>
        </p:txBody>
      </p:sp>
      <p:pic>
        <p:nvPicPr>
          <p:cNvPr id="67" name="Image 22" descr="/private/tmp/claude-501/-Users-salehhamed-Outcome-Engine/91861432-41e2-4884-bc97-63c6dff2d021/scratchpad/wk/brand/clear.png">
            <a:hlinkClick r:id="rId34" tooltip="Close of Day 1" action="ppaction://hlinksldjump"/>
          </p:cNvPr>
          <p:cNvPicPr>
            <a:picLocks noChangeAspect="1"/>
          </p:cNvPicPr>
          <p:nvPr/>
        </p:nvPicPr>
        <p:blipFill>
          <a:blip r:embed="rId33"/>
          <a:stretch>
            <a:fillRect/>
          </a:stretch>
        </p:blipFill>
        <p:spPr>
          <a:xfrm>
            <a:off x="10576966" y="1874520"/>
            <a:ext cx="1066089" cy="1737360"/>
          </a:xfrm>
          <a:prstGeom prst="rect">
            <a:avLst/>
          </a:prstGeom>
        </p:spPr>
      </p:pic>
      <p:sp>
        <p:nvSpPr>
          <p:cNvPr id="68" name="Text 43"/>
          <p:cNvSpPr txBox="1"/>
          <p:nvPr/>
        </p:nvSpPr>
        <p:spPr>
          <a:xfrm>
            <a:off x="548640" y="3931920"/>
            <a:ext cx="10972800" cy="292608"/>
          </a:xfrm>
          <a:prstGeom prst="rect">
            <a:avLst/>
          </a:prstGeom>
          <a:noFill/>
          <a:ln/>
        </p:spPr>
        <p:txBody>
          <a:bodyPr wrap="square" lIns="0" tIns="0" rIns="0" bIns="0" rtlCol="0" anchor="t"/>
          <a:lstStyle/>
          <a:p>
            <a:pPr indent="0" marL="0">
              <a:buNone/>
            </a:pPr>
            <a:r>
              <a:rPr lang="en-US" sz="1400" b="1" dirty="0">
                <a:solidFill>
                  <a:srgbClr val="FF462D"/>
                </a:solidFill>
                <a:latin typeface="Arial" pitchFamily="34" charset="0"/>
                <a:ea typeface="Arial" pitchFamily="34" charset="-122"/>
                <a:cs typeface="Arial" pitchFamily="34" charset="-120"/>
              </a:rPr>
              <a:t>Day 2 · Wednesday · Test it and decide what to take forward</a:t>
            </a:r>
            <a:endParaRPr lang="en-US" sz="1400" dirty="0"/>
          </a:p>
        </p:txBody>
      </p:sp>
      <p:sp>
        <p:nvSpPr>
          <p:cNvPr id="69" name="Shape 44"/>
          <p:cNvSpPr/>
          <p:nvPr/>
        </p:nvSpPr>
        <p:spPr>
          <a:xfrm>
            <a:off x="548640" y="4343400"/>
            <a:ext cx="1066089" cy="1737360"/>
          </a:xfrm>
          <a:prstGeom prst="roundRect">
            <a:avLst>
              <a:gd name="adj" fmla="val 5146"/>
            </a:avLst>
          </a:prstGeom>
          <a:solidFill>
            <a:srgbClr val="FFFFFF"/>
          </a:solidFill>
          <a:ln w="12700">
            <a:solidFill>
              <a:srgbClr val="D9DEE2"/>
            </a:solidFill>
            <a:prstDash val="solid"/>
          </a:ln>
        </p:spPr>
      </p:sp>
      <p:sp>
        <p:nvSpPr>
          <p:cNvPr id="70" name="Shape 45"/>
          <p:cNvSpPr/>
          <p:nvPr/>
        </p:nvSpPr>
        <p:spPr>
          <a:xfrm>
            <a:off x="548640" y="4343400"/>
            <a:ext cx="1066089" cy="82296"/>
          </a:xfrm>
          <a:prstGeom prst="rect">
            <a:avLst/>
          </a:prstGeom>
          <a:solidFill>
            <a:srgbClr val="36454F"/>
          </a:solidFill>
          <a:ln/>
        </p:spPr>
      </p:sp>
      <p:pic>
        <p:nvPicPr>
          <p:cNvPr id="71" name="Image 23" descr="/private/tmp/claude-501/-Users-salehhamed-Outcome-Engine/91861432-41e2-4884-bc97-63c6dff2d021/scratchpad/wk/icons/TbCoffee-slate.png">    </p:cNvPr>
          <p:cNvPicPr>
            <a:picLocks noChangeAspect="1"/>
          </p:cNvPicPr>
          <p:nvPr/>
        </p:nvPicPr>
        <p:blipFill>
          <a:blip r:embed="rId35"/>
          <a:stretch>
            <a:fillRect/>
          </a:stretch>
        </p:blipFill>
        <p:spPr>
          <a:xfrm>
            <a:off x="658368" y="4544568"/>
            <a:ext cx="329184" cy="329184"/>
          </a:xfrm>
          <a:prstGeom prst="rect">
            <a:avLst/>
          </a:prstGeom>
        </p:spPr>
      </p:pic>
      <p:sp>
        <p:nvSpPr>
          <p:cNvPr id="72" name="Text 46"/>
          <p:cNvSpPr txBox="1"/>
          <p:nvPr/>
        </p:nvSpPr>
        <p:spPr>
          <a:xfrm>
            <a:off x="1051560" y="4544568"/>
            <a:ext cx="517449" cy="329184"/>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08:30</a:t>
            </a:r>
            <a:endParaRPr lang="en-US" sz="1100" dirty="0"/>
          </a:p>
        </p:txBody>
      </p:sp>
      <p:sp>
        <p:nvSpPr>
          <p:cNvPr id="73" name="Text 47"/>
          <p:cNvSpPr txBox="1"/>
          <p:nvPr/>
        </p:nvSpPr>
        <p:spPr>
          <a:xfrm>
            <a:off x="658368" y="4983480"/>
            <a:ext cx="883209" cy="1005840"/>
          </a:xfrm>
          <a:prstGeom prst="rect">
            <a:avLst/>
          </a:prstGeom>
          <a:noFill/>
          <a:ln/>
        </p:spPr>
        <p:txBody>
          <a:bodyPr wrap="square" lIns="0" tIns="0" rIns="0" bIns="0" rtlCol="0" anchor="t"/>
          <a:lstStyle/>
          <a:p>
            <a:pPr indent="0" marL="0">
              <a:buNone/>
            </a:pPr>
            <a:r>
              <a:rPr lang="en-US" sz="1200" b="1" dirty="0">
                <a:solidFill>
                  <a:srgbClr val="1F2A33"/>
                </a:solidFill>
                <a:latin typeface="Arial" pitchFamily="34" charset="0"/>
                <a:ea typeface="Arial" pitchFamily="34" charset="-122"/>
                <a:cs typeface="Arial" pitchFamily="34" charset="-120"/>
              </a:rPr>
              <a:t>Arrival</a:t>
            </a:r>
            <a:endParaRPr lang="en-US" sz="1200" dirty="0"/>
          </a:p>
        </p:txBody>
      </p:sp>
      <p:pic>
        <p:nvPicPr>
          <p:cNvPr id="74" name="Image 24" descr="/private/tmp/claude-501/-Users-salehhamed-Outcome-Engine/91861432-41e2-4884-bc97-63c6dff2d021/scratchpad/wk/brand/clear.png">
            <a:hlinkClick r:id="rId37" tooltip="Arrival" action="ppaction://hlinksldjump"/>
          </p:cNvPr>
          <p:cNvPicPr>
            <a:picLocks noChangeAspect="1"/>
          </p:cNvPicPr>
          <p:nvPr/>
        </p:nvPicPr>
        <p:blipFill>
          <a:blip r:embed="rId36"/>
          <a:stretch>
            <a:fillRect/>
          </a:stretch>
        </p:blipFill>
        <p:spPr>
          <a:xfrm>
            <a:off x="548640" y="4343400"/>
            <a:ext cx="1066089" cy="1737360"/>
          </a:xfrm>
          <a:prstGeom prst="rect">
            <a:avLst/>
          </a:prstGeom>
        </p:spPr>
      </p:pic>
      <p:sp>
        <p:nvSpPr>
          <p:cNvPr id="75" name="Shape 48"/>
          <p:cNvSpPr/>
          <p:nvPr/>
        </p:nvSpPr>
        <p:spPr>
          <a:xfrm>
            <a:off x="1687881" y="4343400"/>
            <a:ext cx="1066089" cy="1737360"/>
          </a:xfrm>
          <a:prstGeom prst="roundRect">
            <a:avLst>
              <a:gd name="adj" fmla="val 5146"/>
            </a:avLst>
          </a:prstGeom>
          <a:solidFill>
            <a:srgbClr val="FFFFFF"/>
          </a:solidFill>
          <a:ln w="12700">
            <a:solidFill>
              <a:srgbClr val="D9DEE2"/>
            </a:solidFill>
            <a:prstDash val="solid"/>
          </a:ln>
        </p:spPr>
      </p:sp>
      <p:sp>
        <p:nvSpPr>
          <p:cNvPr id="76" name="Shape 49"/>
          <p:cNvSpPr/>
          <p:nvPr/>
        </p:nvSpPr>
        <p:spPr>
          <a:xfrm>
            <a:off x="1687881" y="4343400"/>
            <a:ext cx="1066089" cy="82296"/>
          </a:xfrm>
          <a:prstGeom prst="rect">
            <a:avLst/>
          </a:prstGeom>
          <a:solidFill>
            <a:srgbClr val="287079"/>
          </a:solidFill>
          <a:ln/>
        </p:spPr>
      </p:sp>
      <p:pic>
        <p:nvPicPr>
          <p:cNvPr id="77" name="Image 25" descr="/private/tmp/claude-501/-Users-salehhamed-Outcome-Engine/91861432-41e2-4884-bc97-63c6dff2d021/scratchpad/wk/icons/TbRefresh-teal.png">    </p:cNvPr>
          <p:cNvPicPr>
            <a:picLocks noChangeAspect="1"/>
          </p:cNvPicPr>
          <p:nvPr/>
        </p:nvPicPr>
        <p:blipFill>
          <a:blip r:embed="rId38"/>
          <a:stretch>
            <a:fillRect/>
          </a:stretch>
        </p:blipFill>
        <p:spPr>
          <a:xfrm>
            <a:off x="1797609" y="4544568"/>
            <a:ext cx="329184" cy="329184"/>
          </a:xfrm>
          <a:prstGeom prst="rect">
            <a:avLst/>
          </a:prstGeom>
        </p:spPr>
      </p:pic>
      <p:sp>
        <p:nvSpPr>
          <p:cNvPr id="78" name="Text 50"/>
          <p:cNvSpPr txBox="1"/>
          <p:nvPr/>
        </p:nvSpPr>
        <p:spPr>
          <a:xfrm>
            <a:off x="2190801" y="4544568"/>
            <a:ext cx="517449" cy="329184"/>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09:00</a:t>
            </a:r>
            <a:endParaRPr lang="en-US" sz="1100" dirty="0"/>
          </a:p>
        </p:txBody>
      </p:sp>
      <p:sp>
        <p:nvSpPr>
          <p:cNvPr id="79" name="Text 51"/>
          <p:cNvSpPr txBox="1"/>
          <p:nvPr/>
        </p:nvSpPr>
        <p:spPr>
          <a:xfrm>
            <a:off x="1797609" y="4983480"/>
            <a:ext cx="883209" cy="1005840"/>
          </a:xfrm>
          <a:prstGeom prst="rect">
            <a:avLst/>
          </a:prstGeom>
          <a:noFill/>
          <a:ln/>
        </p:spPr>
        <p:txBody>
          <a:bodyPr wrap="square" lIns="0" tIns="0" rIns="0" bIns="0" rtlCol="0" anchor="t"/>
          <a:lstStyle/>
          <a:p>
            <a:pPr indent="0" marL="0">
              <a:buNone/>
            </a:pPr>
            <a:r>
              <a:rPr lang="en-US" sz="1200" b="1" dirty="0">
                <a:solidFill>
                  <a:srgbClr val="1F2A33"/>
                </a:solidFill>
                <a:latin typeface="Arial" pitchFamily="34" charset="0"/>
                <a:ea typeface="Arial" pitchFamily="34" charset="-122"/>
                <a:cs typeface="Arial" pitchFamily="34" charset="-120"/>
              </a:rPr>
              <a:t>Recap</a:t>
            </a:r>
            <a:endParaRPr lang="en-US" sz="1200" dirty="0"/>
          </a:p>
        </p:txBody>
      </p:sp>
      <p:pic>
        <p:nvPicPr>
          <p:cNvPr id="80" name="Image 26" descr="/private/tmp/claude-501/-Users-salehhamed-Outcome-Engine/91861432-41e2-4884-bc97-63c6dff2d021/scratchpad/wk/brand/clear.png">
            <a:hlinkClick r:id="rId40" tooltip="Recap" action="ppaction://hlinksldjump"/>
          </p:cNvPr>
          <p:cNvPicPr>
            <a:picLocks noChangeAspect="1"/>
          </p:cNvPicPr>
          <p:nvPr/>
        </p:nvPicPr>
        <p:blipFill>
          <a:blip r:embed="rId39"/>
          <a:stretch>
            <a:fillRect/>
          </a:stretch>
        </p:blipFill>
        <p:spPr>
          <a:xfrm>
            <a:off x="1687881" y="4343400"/>
            <a:ext cx="1066089" cy="1737360"/>
          </a:xfrm>
          <a:prstGeom prst="rect">
            <a:avLst/>
          </a:prstGeom>
        </p:spPr>
      </p:pic>
      <p:sp>
        <p:nvSpPr>
          <p:cNvPr id="81" name="Shape 52"/>
          <p:cNvSpPr/>
          <p:nvPr/>
        </p:nvSpPr>
        <p:spPr>
          <a:xfrm>
            <a:off x="2827122" y="4343400"/>
            <a:ext cx="1066089" cy="1737360"/>
          </a:xfrm>
          <a:prstGeom prst="roundRect">
            <a:avLst>
              <a:gd name="adj" fmla="val 5146"/>
            </a:avLst>
          </a:prstGeom>
          <a:solidFill>
            <a:srgbClr val="FFFFFF"/>
          </a:solidFill>
          <a:ln w="12700">
            <a:solidFill>
              <a:srgbClr val="D9DEE2"/>
            </a:solidFill>
            <a:prstDash val="solid"/>
          </a:ln>
        </p:spPr>
      </p:sp>
      <p:sp>
        <p:nvSpPr>
          <p:cNvPr id="82" name="Shape 53"/>
          <p:cNvSpPr/>
          <p:nvPr/>
        </p:nvSpPr>
        <p:spPr>
          <a:xfrm>
            <a:off x="2827122" y="4343400"/>
            <a:ext cx="1066089" cy="82296"/>
          </a:xfrm>
          <a:prstGeom prst="rect">
            <a:avLst/>
          </a:prstGeom>
          <a:solidFill>
            <a:srgbClr val="287079"/>
          </a:solidFill>
          <a:ln/>
        </p:spPr>
      </p:sp>
      <p:pic>
        <p:nvPicPr>
          <p:cNvPr id="83" name="Image 27" descr="/private/tmp/claude-501/-Users-salehhamed-Outcome-Engine/91861432-41e2-4884-bc97-63c6dff2d021/scratchpad/wk/icons/TbBug-teal.png">    </p:cNvPr>
          <p:cNvPicPr>
            <a:picLocks noChangeAspect="1"/>
          </p:cNvPicPr>
          <p:nvPr/>
        </p:nvPicPr>
        <p:blipFill>
          <a:blip r:embed="rId41"/>
          <a:stretch>
            <a:fillRect/>
          </a:stretch>
        </p:blipFill>
        <p:spPr>
          <a:xfrm>
            <a:off x="2936850" y="4544568"/>
            <a:ext cx="329184" cy="329184"/>
          </a:xfrm>
          <a:prstGeom prst="rect">
            <a:avLst/>
          </a:prstGeom>
        </p:spPr>
      </p:pic>
      <p:sp>
        <p:nvSpPr>
          <p:cNvPr id="84" name="Text 54"/>
          <p:cNvSpPr txBox="1"/>
          <p:nvPr/>
        </p:nvSpPr>
        <p:spPr>
          <a:xfrm>
            <a:off x="3330042" y="4544568"/>
            <a:ext cx="517449" cy="329184"/>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09:15</a:t>
            </a:r>
            <a:endParaRPr lang="en-US" sz="1100" dirty="0"/>
          </a:p>
        </p:txBody>
      </p:sp>
      <p:sp>
        <p:nvSpPr>
          <p:cNvPr id="85" name="Text 55"/>
          <p:cNvSpPr txBox="1"/>
          <p:nvPr/>
        </p:nvSpPr>
        <p:spPr>
          <a:xfrm>
            <a:off x="2936850" y="4983480"/>
            <a:ext cx="883209" cy="1005840"/>
          </a:xfrm>
          <a:prstGeom prst="rect">
            <a:avLst/>
          </a:prstGeom>
          <a:noFill/>
          <a:ln/>
        </p:spPr>
        <p:txBody>
          <a:bodyPr wrap="square" lIns="0" tIns="0" rIns="0" bIns="0" rtlCol="0" anchor="t"/>
          <a:lstStyle/>
          <a:p>
            <a:pPr indent="0" marL="0">
              <a:buNone/>
            </a:pPr>
            <a:r>
              <a:rPr lang="en-US" sz="1200" b="1" dirty="0">
                <a:solidFill>
                  <a:srgbClr val="1F2A33"/>
                </a:solidFill>
                <a:latin typeface="Arial" pitchFamily="34" charset="0"/>
                <a:ea typeface="Arial" pitchFamily="34" charset="-122"/>
                <a:cs typeface="Arial" pitchFamily="34" charset="-120"/>
              </a:rPr>
              <a:t>Test it</a:t>
            </a:r>
            <a:endParaRPr lang="en-US" sz="1200" dirty="0"/>
          </a:p>
        </p:txBody>
      </p:sp>
      <p:pic>
        <p:nvPicPr>
          <p:cNvPr id="86" name="Image 28" descr="/private/tmp/claude-501/-Users-salehhamed-Outcome-Engine/91861432-41e2-4884-bc97-63c6dff2d021/scratchpad/wk/brand/clear.png">
            <a:hlinkClick r:id="rId43" tooltip="Test it" action="ppaction://hlinksldjump"/>
          </p:cNvPr>
          <p:cNvPicPr>
            <a:picLocks noChangeAspect="1"/>
          </p:cNvPicPr>
          <p:nvPr/>
        </p:nvPicPr>
        <p:blipFill>
          <a:blip r:embed="rId42"/>
          <a:stretch>
            <a:fillRect/>
          </a:stretch>
        </p:blipFill>
        <p:spPr>
          <a:xfrm>
            <a:off x="2827122" y="4343400"/>
            <a:ext cx="1066089" cy="1737360"/>
          </a:xfrm>
          <a:prstGeom prst="rect">
            <a:avLst/>
          </a:prstGeom>
        </p:spPr>
      </p:pic>
      <p:sp>
        <p:nvSpPr>
          <p:cNvPr id="87" name="Shape 56"/>
          <p:cNvSpPr/>
          <p:nvPr/>
        </p:nvSpPr>
        <p:spPr>
          <a:xfrm>
            <a:off x="3966362" y="4343400"/>
            <a:ext cx="384048" cy="1737360"/>
          </a:xfrm>
          <a:prstGeom prst="roundRect">
            <a:avLst>
              <a:gd name="adj" fmla="val 14286"/>
            </a:avLst>
          </a:prstGeom>
          <a:solidFill>
            <a:srgbClr val="F2F4F5"/>
          </a:solidFill>
          <a:ln/>
        </p:spPr>
      </p:sp>
      <p:pic>
        <p:nvPicPr>
          <p:cNvPr id="88" name="Image 29" descr="/private/tmp/claude-501/-Users-salehhamed-Outcome-Engine/91861432-41e2-4884-bc97-63c6dff2d021/scratchpad/wk/icons/TbCoffee-grey.png">    </p:cNvPr>
          <p:cNvPicPr>
            <a:picLocks noChangeAspect="1"/>
          </p:cNvPicPr>
          <p:nvPr/>
        </p:nvPicPr>
        <p:blipFill>
          <a:blip r:embed="rId44"/>
          <a:stretch>
            <a:fillRect/>
          </a:stretch>
        </p:blipFill>
        <p:spPr>
          <a:xfrm>
            <a:off x="4030370" y="4480560"/>
            <a:ext cx="256032" cy="256032"/>
          </a:xfrm>
          <a:prstGeom prst="rect">
            <a:avLst/>
          </a:prstGeom>
        </p:spPr>
      </p:pic>
      <p:pic>
        <p:nvPicPr>
          <p:cNvPr id="89" name="Image 30" descr="/private/tmp/claude-501/-Users-salehhamed-Outcome-Engine/91861432-41e2-4884-bc97-63c6dff2d021/scratchpad/wk/brand/clear.png">
            <a:hlinkClick r:id="rId46" tooltip="Break" action="ppaction://hlinksldjump"/>
          </p:cNvPr>
          <p:cNvPicPr>
            <a:picLocks noChangeAspect="1"/>
          </p:cNvPicPr>
          <p:nvPr/>
        </p:nvPicPr>
        <p:blipFill>
          <a:blip r:embed="rId45"/>
          <a:stretch>
            <a:fillRect/>
          </a:stretch>
        </p:blipFill>
        <p:spPr>
          <a:xfrm>
            <a:off x="3966362" y="4343400"/>
            <a:ext cx="384048" cy="1737360"/>
          </a:xfrm>
          <a:prstGeom prst="rect">
            <a:avLst/>
          </a:prstGeom>
        </p:spPr>
      </p:pic>
      <p:sp>
        <p:nvSpPr>
          <p:cNvPr id="90" name="Shape 57"/>
          <p:cNvSpPr/>
          <p:nvPr/>
        </p:nvSpPr>
        <p:spPr>
          <a:xfrm>
            <a:off x="4423562" y="4343400"/>
            <a:ext cx="1066089" cy="1737360"/>
          </a:xfrm>
          <a:prstGeom prst="roundRect">
            <a:avLst>
              <a:gd name="adj" fmla="val 5146"/>
            </a:avLst>
          </a:prstGeom>
          <a:solidFill>
            <a:srgbClr val="FFFFFF"/>
          </a:solidFill>
          <a:ln w="12700">
            <a:solidFill>
              <a:srgbClr val="D9DEE2"/>
            </a:solidFill>
            <a:prstDash val="solid"/>
          </a:ln>
        </p:spPr>
      </p:sp>
      <p:sp>
        <p:nvSpPr>
          <p:cNvPr id="91" name="Shape 58"/>
          <p:cNvSpPr/>
          <p:nvPr/>
        </p:nvSpPr>
        <p:spPr>
          <a:xfrm>
            <a:off x="4423562" y="4343400"/>
            <a:ext cx="1066089" cy="82296"/>
          </a:xfrm>
          <a:prstGeom prst="rect">
            <a:avLst/>
          </a:prstGeom>
          <a:solidFill>
            <a:srgbClr val="287079"/>
          </a:solidFill>
          <a:ln/>
        </p:spPr>
      </p:sp>
      <p:pic>
        <p:nvPicPr>
          <p:cNvPr id="92" name="Image 31" descr="/private/tmp/claude-501/-Users-salehhamed-Outcome-Engine/91861432-41e2-4884-bc97-63c6dff2d021/scratchpad/wk/icons/TbArrowsRightLeft-teal.png">    </p:cNvPr>
          <p:cNvPicPr>
            <a:picLocks noChangeAspect="1"/>
          </p:cNvPicPr>
          <p:nvPr/>
        </p:nvPicPr>
        <p:blipFill>
          <a:blip r:embed="rId47"/>
          <a:stretch>
            <a:fillRect/>
          </a:stretch>
        </p:blipFill>
        <p:spPr>
          <a:xfrm>
            <a:off x="4533290" y="4544568"/>
            <a:ext cx="329184" cy="329184"/>
          </a:xfrm>
          <a:prstGeom prst="rect">
            <a:avLst/>
          </a:prstGeom>
        </p:spPr>
      </p:pic>
      <p:sp>
        <p:nvSpPr>
          <p:cNvPr id="93" name="Text 59"/>
          <p:cNvSpPr txBox="1"/>
          <p:nvPr/>
        </p:nvSpPr>
        <p:spPr>
          <a:xfrm>
            <a:off x="4926482" y="4544568"/>
            <a:ext cx="517449" cy="329184"/>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10:45</a:t>
            </a:r>
            <a:endParaRPr lang="en-US" sz="1100" dirty="0"/>
          </a:p>
        </p:txBody>
      </p:sp>
      <p:sp>
        <p:nvSpPr>
          <p:cNvPr id="94" name="Text 60"/>
          <p:cNvSpPr txBox="1"/>
          <p:nvPr/>
        </p:nvSpPr>
        <p:spPr>
          <a:xfrm>
            <a:off x="4533290" y="4983480"/>
            <a:ext cx="883209" cy="1005840"/>
          </a:xfrm>
          <a:prstGeom prst="rect">
            <a:avLst/>
          </a:prstGeom>
          <a:noFill/>
          <a:ln/>
        </p:spPr>
        <p:txBody>
          <a:bodyPr wrap="square" lIns="0" tIns="0" rIns="0" bIns="0" rtlCol="0" anchor="t"/>
          <a:lstStyle/>
          <a:p>
            <a:pPr indent="0" marL="0">
              <a:buNone/>
            </a:pPr>
            <a:r>
              <a:rPr lang="en-US" sz="1200" b="1" dirty="0">
                <a:solidFill>
                  <a:srgbClr val="1F2A33"/>
                </a:solidFill>
                <a:latin typeface="Arial" pitchFamily="34" charset="0"/>
                <a:ea typeface="Arial" pitchFamily="34" charset="-122"/>
                <a:cs typeface="Arial" pitchFamily="34" charset="-120"/>
              </a:rPr>
              <a:t>Boundaries</a:t>
            </a:r>
            <a:endParaRPr lang="en-US" sz="1200" dirty="0"/>
          </a:p>
        </p:txBody>
      </p:sp>
      <p:pic>
        <p:nvPicPr>
          <p:cNvPr id="95" name="Image 32" descr="/private/tmp/claude-501/-Users-salehhamed-Outcome-Engine/91861432-41e2-4884-bc97-63c6dff2d021/scratchpad/wk/brand/clear.png">
            <a:hlinkClick r:id="rId49" tooltip="Boundaries" action="ppaction://hlinksldjump"/>
          </p:cNvPr>
          <p:cNvPicPr>
            <a:picLocks noChangeAspect="1"/>
          </p:cNvPicPr>
          <p:nvPr/>
        </p:nvPicPr>
        <p:blipFill>
          <a:blip r:embed="rId48"/>
          <a:stretch>
            <a:fillRect/>
          </a:stretch>
        </p:blipFill>
        <p:spPr>
          <a:xfrm>
            <a:off x="4423562" y="4343400"/>
            <a:ext cx="1066089" cy="1737360"/>
          </a:xfrm>
          <a:prstGeom prst="rect">
            <a:avLst/>
          </a:prstGeom>
        </p:spPr>
      </p:pic>
      <p:sp>
        <p:nvSpPr>
          <p:cNvPr id="96" name="Shape 61"/>
          <p:cNvSpPr/>
          <p:nvPr/>
        </p:nvSpPr>
        <p:spPr>
          <a:xfrm>
            <a:off x="5562803" y="4343400"/>
            <a:ext cx="1066089" cy="1737360"/>
          </a:xfrm>
          <a:prstGeom prst="roundRect">
            <a:avLst>
              <a:gd name="adj" fmla="val 5146"/>
            </a:avLst>
          </a:prstGeom>
          <a:solidFill>
            <a:srgbClr val="FFFFFF"/>
          </a:solidFill>
          <a:ln w="12700">
            <a:solidFill>
              <a:srgbClr val="D9DEE2"/>
            </a:solidFill>
            <a:prstDash val="solid"/>
          </a:ln>
        </p:spPr>
      </p:sp>
      <p:sp>
        <p:nvSpPr>
          <p:cNvPr id="97" name="Shape 62"/>
          <p:cNvSpPr/>
          <p:nvPr/>
        </p:nvSpPr>
        <p:spPr>
          <a:xfrm>
            <a:off x="5562803" y="4343400"/>
            <a:ext cx="1066089" cy="82296"/>
          </a:xfrm>
          <a:prstGeom prst="rect">
            <a:avLst/>
          </a:prstGeom>
          <a:solidFill>
            <a:srgbClr val="FF462D"/>
          </a:solidFill>
          <a:ln/>
        </p:spPr>
      </p:sp>
      <p:pic>
        <p:nvPicPr>
          <p:cNvPr id="98" name="Image 33" descr="/private/tmp/claude-501/-Users-salehhamed-Outcome-Engine/91861432-41e2-4884-bc97-63c6dff2d021/scratchpad/wk/icons/TbStairsUp-red.png">    </p:cNvPr>
          <p:cNvPicPr>
            <a:picLocks noChangeAspect="1"/>
          </p:cNvPicPr>
          <p:nvPr/>
        </p:nvPicPr>
        <p:blipFill>
          <a:blip r:embed="rId50"/>
          <a:stretch>
            <a:fillRect/>
          </a:stretch>
        </p:blipFill>
        <p:spPr>
          <a:xfrm>
            <a:off x="5672531" y="4544568"/>
            <a:ext cx="329184" cy="329184"/>
          </a:xfrm>
          <a:prstGeom prst="rect">
            <a:avLst/>
          </a:prstGeom>
        </p:spPr>
      </p:pic>
      <p:sp>
        <p:nvSpPr>
          <p:cNvPr id="99" name="Text 63"/>
          <p:cNvSpPr txBox="1"/>
          <p:nvPr/>
        </p:nvSpPr>
        <p:spPr>
          <a:xfrm>
            <a:off x="6065723" y="4544568"/>
            <a:ext cx="517449" cy="329184"/>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11:45</a:t>
            </a:r>
            <a:endParaRPr lang="en-US" sz="1100" dirty="0"/>
          </a:p>
        </p:txBody>
      </p:sp>
      <p:sp>
        <p:nvSpPr>
          <p:cNvPr id="100" name="Text 64"/>
          <p:cNvSpPr txBox="1"/>
          <p:nvPr/>
        </p:nvSpPr>
        <p:spPr>
          <a:xfrm>
            <a:off x="5672531" y="4983480"/>
            <a:ext cx="883209" cy="1005840"/>
          </a:xfrm>
          <a:prstGeom prst="rect">
            <a:avLst/>
          </a:prstGeom>
          <a:noFill/>
          <a:ln/>
        </p:spPr>
        <p:txBody>
          <a:bodyPr wrap="square" lIns="0" tIns="0" rIns="0" bIns="0" rtlCol="0" anchor="t"/>
          <a:lstStyle/>
          <a:p>
            <a:pPr indent="0" marL="0">
              <a:buNone/>
            </a:pPr>
            <a:r>
              <a:rPr lang="en-US" sz="1200" b="1" dirty="0">
                <a:solidFill>
                  <a:srgbClr val="1F2A33"/>
                </a:solidFill>
                <a:latin typeface="Arial" pitchFamily="34" charset="0"/>
                <a:ea typeface="Arial" pitchFamily="34" charset="-122"/>
                <a:cs typeface="Arial" pitchFamily="34" charset="-120"/>
              </a:rPr>
              <a:t>Rotation rules</a:t>
            </a:r>
            <a:endParaRPr lang="en-US" sz="1200" dirty="0"/>
          </a:p>
        </p:txBody>
      </p:sp>
      <p:sp>
        <p:nvSpPr>
          <p:cNvPr id="101" name="Text 65"/>
          <p:cNvSpPr txBox="1"/>
          <p:nvPr/>
        </p:nvSpPr>
        <p:spPr>
          <a:xfrm>
            <a:off x="5672531" y="5751576"/>
            <a:ext cx="883209" cy="237744"/>
          </a:xfrm>
          <a:prstGeom prst="rect">
            <a:avLst/>
          </a:prstGeom>
          <a:noFill/>
          <a:ln/>
        </p:spPr>
        <p:txBody>
          <a:bodyPr wrap="square" lIns="0" tIns="0" rIns="0" bIns="0" rtlCol="0" anchor="t"/>
          <a:lstStyle/>
          <a:p>
            <a:pPr indent="0" marL="0">
              <a:buNone/>
            </a:pPr>
            <a:r>
              <a:rPr lang="en-US" sz="950" b="1" dirty="0">
                <a:solidFill>
                  <a:srgbClr val="FF462D"/>
                </a:solidFill>
                <a:latin typeface="Arial" pitchFamily="34" charset="0"/>
                <a:ea typeface="Arial" pitchFamily="34" charset="-122"/>
                <a:cs typeface="Arial" pitchFamily="34" charset="-120"/>
              </a:rPr>
              <a:t>Markets join</a:t>
            </a:r>
            <a:endParaRPr lang="en-US" sz="950" dirty="0"/>
          </a:p>
        </p:txBody>
      </p:sp>
      <p:pic>
        <p:nvPicPr>
          <p:cNvPr id="102" name="Image 34" descr="/private/tmp/claude-501/-Users-salehhamed-Outcome-Engine/91861432-41e2-4884-bc97-63c6dff2d021/scratchpad/wk/brand/clear.png">
            <a:hlinkClick r:id="rId52" tooltip="Rotation rules" action="ppaction://hlinksldjump"/>
          </p:cNvPr>
          <p:cNvPicPr>
            <a:picLocks noChangeAspect="1"/>
          </p:cNvPicPr>
          <p:nvPr/>
        </p:nvPicPr>
        <p:blipFill>
          <a:blip r:embed="rId51"/>
          <a:stretch>
            <a:fillRect/>
          </a:stretch>
        </p:blipFill>
        <p:spPr>
          <a:xfrm>
            <a:off x="5562803" y="4343400"/>
            <a:ext cx="1066089" cy="1737360"/>
          </a:xfrm>
          <a:prstGeom prst="rect">
            <a:avLst/>
          </a:prstGeom>
        </p:spPr>
      </p:pic>
      <p:sp>
        <p:nvSpPr>
          <p:cNvPr id="103" name="Shape 66"/>
          <p:cNvSpPr/>
          <p:nvPr/>
        </p:nvSpPr>
        <p:spPr>
          <a:xfrm>
            <a:off x="6702044" y="4343400"/>
            <a:ext cx="1066089" cy="1737360"/>
          </a:xfrm>
          <a:prstGeom prst="roundRect">
            <a:avLst>
              <a:gd name="adj" fmla="val 5146"/>
            </a:avLst>
          </a:prstGeom>
          <a:solidFill>
            <a:srgbClr val="FFFFFF"/>
          </a:solidFill>
          <a:ln w="12700">
            <a:solidFill>
              <a:srgbClr val="D9DEE2"/>
            </a:solidFill>
            <a:prstDash val="solid"/>
          </a:ln>
        </p:spPr>
      </p:sp>
      <p:sp>
        <p:nvSpPr>
          <p:cNvPr id="104" name="Shape 67"/>
          <p:cNvSpPr/>
          <p:nvPr/>
        </p:nvSpPr>
        <p:spPr>
          <a:xfrm>
            <a:off x="6702044" y="4343400"/>
            <a:ext cx="1066089" cy="82296"/>
          </a:xfrm>
          <a:prstGeom prst="rect">
            <a:avLst/>
          </a:prstGeom>
          <a:solidFill>
            <a:srgbClr val="2E8656"/>
          </a:solidFill>
          <a:ln/>
        </p:spPr>
      </p:sp>
      <p:pic>
        <p:nvPicPr>
          <p:cNvPr id="105" name="Image 35" descr="/private/tmp/claude-501/-Users-salehhamed-Outcome-Engine/91861432-41e2-4884-bc97-63c6dff2d021/scratchpad/wk/icons/TbToolsKitchen2-green.png">    </p:cNvPr>
          <p:cNvPicPr>
            <a:picLocks noChangeAspect="1"/>
          </p:cNvPicPr>
          <p:nvPr/>
        </p:nvPicPr>
        <p:blipFill>
          <a:blip r:embed="rId53"/>
          <a:stretch>
            <a:fillRect/>
          </a:stretch>
        </p:blipFill>
        <p:spPr>
          <a:xfrm>
            <a:off x="6811772" y="4544568"/>
            <a:ext cx="329184" cy="329184"/>
          </a:xfrm>
          <a:prstGeom prst="rect">
            <a:avLst/>
          </a:prstGeom>
        </p:spPr>
      </p:pic>
      <p:sp>
        <p:nvSpPr>
          <p:cNvPr id="106" name="Text 68"/>
          <p:cNvSpPr txBox="1"/>
          <p:nvPr/>
        </p:nvSpPr>
        <p:spPr>
          <a:xfrm>
            <a:off x="7204964" y="4544568"/>
            <a:ext cx="517449" cy="329184"/>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13:00</a:t>
            </a:r>
            <a:endParaRPr lang="en-US" sz="1100" dirty="0"/>
          </a:p>
        </p:txBody>
      </p:sp>
      <p:sp>
        <p:nvSpPr>
          <p:cNvPr id="107" name="Text 69"/>
          <p:cNvSpPr txBox="1"/>
          <p:nvPr/>
        </p:nvSpPr>
        <p:spPr>
          <a:xfrm>
            <a:off x="6811772" y="4983480"/>
            <a:ext cx="883209" cy="1005840"/>
          </a:xfrm>
          <a:prstGeom prst="rect">
            <a:avLst/>
          </a:prstGeom>
          <a:noFill/>
          <a:ln/>
        </p:spPr>
        <p:txBody>
          <a:bodyPr wrap="square" lIns="0" tIns="0" rIns="0" bIns="0" rtlCol="0" anchor="t"/>
          <a:lstStyle/>
          <a:p>
            <a:pPr indent="0" marL="0">
              <a:buNone/>
            </a:pPr>
            <a:r>
              <a:rPr lang="en-US" sz="1200" b="1" dirty="0">
                <a:solidFill>
                  <a:srgbClr val="1F2A33"/>
                </a:solidFill>
                <a:latin typeface="Arial" pitchFamily="34" charset="0"/>
                <a:ea typeface="Arial" pitchFamily="34" charset="-122"/>
                <a:cs typeface="Arial" pitchFamily="34" charset="-120"/>
              </a:rPr>
              <a:t>Lunch · fixes</a:t>
            </a:r>
            <a:endParaRPr lang="en-US" sz="1200" dirty="0"/>
          </a:p>
        </p:txBody>
      </p:sp>
      <p:pic>
        <p:nvPicPr>
          <p:cNvPr id="108" name="Image 36" descr="/private/tmp/claude-501/-Users-salehhamed-Outcome-Engine/91861432-41e2-4884-bc97-63c6dff2d021/scratchpad/wk/brand/clear.png">
            <a:hlinkClick r:id="rId55" tooltip="Lunch · fixes" action="ppaction://hlinksldjump"/>
          </p:cNvPr>
          <p:cNvPicPr>
            <a:picLocks noChangeAspect="1"/>
          </p:cNvPicPr>
          <p:nvPr/>
        </p:nvPicPr>
        <p:blipFill>
          <a:blip r:embed="rId54"/>
          <a:stretch>
            <a:fillRect/>
          </a:stretch>
        </p:blipFill>
        <p:spPr>
          <a:xfrm>
            <a:off x="6702044" y="4343400"/>
            <a:ext cx="1066089" cy="1737360"/>
          </a:xfrm>
          <a:prstGeom prst="rect">
            <a:avLst/>
          </a:prstGeom>
        </p:spPr>
      </p:pic>
      <p:sp>
        <p:nvSpPr>
          <p:cNvPr id="109" name="Shape 70"/>
          <p:cNvSpPr/>
          <p:nvPr/>
        </p:nvSpPr>
        <p:spPr>
          <a:xfrm>
            <a:off x="7841285" y="4343400"/>
            <a:ext cx="1066089" cy="1737360"/>
          </a:xfrm>
          <a:prstGeom prst="roundRect">
            <a:avLst>
              <a:gd name="adj" fmla="val 5146"/>
            </a:avLst>
          </a:prstGeom>
          <a:solidFill>
            <a:srgbClr val="FFFFFF"/>
          </a:solidFill>
          <a:ln w="12700">
            <a:solidFill>
              <a:srgbClr val="D9DEE2"/>
            </a:solidFill>
            <a:prstDash val="solid"/>
          </a:ln>
        </p:spPr>
      </p:sp>
      <p:sp>
        <p:nvSpPr>
          <p:cNvPr id="110" name="Shape 71"/>
          <p:cNvSpPr/>
          <p:nvPr/>
        </p:nvSpPr>
        <p:spPr>
          <a:xfrm>
            <a:off x="7841285" y="4343400"/>
            <a:ext cx="1066089" cy="82296"/>
          </a:xfrm>
          <a:prstGeom prst="rect">
            <a:avLst/>
          </a:prstGeom>
          <a:solidFill>
            <a:srgbClr val="287079"/>
          </a:solidFill>
          <a:ln/>
        </p:spPr>
      </p:sp>
      <p:pic>
        <p:nvPicPr>
          <p:cNvPr id="111" name="Image 37" descr="/private/tmp/claude-501/-Users-salehhamed-Outcome-Engine/91861432-41e2-4884-bc97-63c6dff2d021/scratchpad/wk/icons/TbRoute-teal.png">    </p:cNvPr>
          <p:cNvPicPr>
            <a:picLocks noChangeAspect="1"/>
          </p:cNvPicPr>
          <p:nvPr/>
        </p:nvPicPr>
        <p:blipFill>
          <a:blip r:embed="rId56"/>
          <a:stretch>
            <a:fillRect/>
          </a:stretch>
        </p:blipFill>
        <p:spPr>
          <a:xfrm>
            <a:off x="7951013" y="4544568"/>
            <a:ext cx="329184" cy="329184"/>
          </a:xfrm>
          <a:prstGeom prst="rect">
            <a:avLst/>
          </a:prstGeom>
        </p:spPr>
      </p:pic>
      <p:sp>
        <p:nvSpPr>
          <p:cNvPr id="112" name="Text 72"/>
          <p:cNvSpPr txBox="1"/>
          <p:nvPr/>
        </p:nvSpPr>
        <p:spPr>
          <a:xfrm>
            <a:off x="8344205" y="4544568"/>
            <a:ext cx="517449" cy="329184"/>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13:45</a:t>
            </a:r>
            <a:endParaRPr lang="en-US" sz="1100" dirty="0"/>
          </a:p>
        </p:txBody>
      </p:sp>
      <p:sp>
        <p:nvSpPr>
          <p:cNvPr id="113" name="Text 73"/>
          <p:cNvSpPr txBox="1"/>
          <p:nvPr/>
        </p:nvSpPr>
        <p:spPr>
          <a:xfrm>
            <a:off x="7951013" y="4983480"/>
            <a:ext cx="883209" cy="1005840"/>
          </a:xfrm>
          <a:prstGeom prst="rect">
            <a:avLst/>
          </a:prstGeom>
          <a:noFill/>
          <a:ln/>
        </p:spPr>
        <p:txBody>
          <a:bodyPr wrap="square" lIns="0" tIns="0" rIns="0" bIns="0" rtlCol="0" anchor="t"/>
          <a:lstStyle/>
          <a:p>
            <a:pPr indent="0" marL="0">
              <a:buNone/>
            </a:pPr>
            <a:r>
              <a:rPr lang="en-US" sz="1200" b="1" dirty="0">
                <a:solidFill>
                  <a:srgbClr val="1F2A33"/>
                </a:solidFill>
                <a:latin typeface="Arial" pitchFamily="34" charset="0"/>
                <a:ea typeface="Arial" pitchFamily="34" charset="-122"/>
                <a:cs typeface="Arial" pitchFamily="34" charset="-120"/>
              </a:rPr>
              <a:t>What happens next</a:t>
            </a:r>
            <a:endParaRPr lang="en-US" sz="1200" dirty="0"/>
          </a:p>
        </p:txBody>
      </p:sp>
      <p:pic>
        <p:nvPicPr>
          <p:cNvPr id="114" name="Image 38" descr="/private/tmp/claude-501/-Users-salehhamed-Outcome-Engine/91861432-41e2-4884-bc97-63c6dff2d021/scratchpad/wk/brand/clear.png">
            <a:hlinkClick r:id="rId58" tooltip="What happens next" action="ppaction://hlinksldjump"/>
          </p:cNvPr>
          <p:cNvPicPr>
            <a:picLocks noChangeAspect="1"/>
          </p:cNvPicPr>
          <p:nvPr/>
        </p:nvPicPr>
        <p:blipFill>
          <a:blip r:embed="rId57"/>
          <a:stretch>
            <a:fillRect/>
          </a:stretch>
        </p:blipFill>
        <p:spPr>
          <a:xfrm>
            <a:off x="7841285" y="4343400"/>
            <a:ext cx="1066089" cy="1737360"/>
          </a:xfrm>
          <a:prstGeom prst="rect">
            <a:avLst/>
          </a:prstGeom>
        </p:spPr>
      </p:pic>
      <p:sp>
        <p:nvSpPr>
          <p:cNvPr id="115" name="Shape 74"/>
          <p:cNvSpPr/>
          <p:nvPr/>
        </p:nvSpPr>
        <p:spPr>
          <a:xfrm>
            <a:off x="8980526" y="4343400"/>
            <a:ext cx="384048" cy="1737360"/>
          </a:xfrm>
          <a:prstGeom prst="roundRect">
            <a:avLst>
              <a:gd name="adj" fmla="val 14286"/>
            </a:avLst>
          </a:prstGeom>
          <a:solidFill>
            <a:srgbClr val="F2F4F5"/>
          </a:solidFill>
          <a:ln/>
        </p:spPr>
      </p:sp>
      <p:pic>
        <p:nvPicPr>
          <p:cNvPr id="116" name="Image 39" descr="/private/tmp/claude-501/-Users-salehhamed-Outcome-Engine/91861432-41e2-4884-bc97-63c6dff2d021/scratchpad/wk/icons/TbCoffee-grey.png">    </p:cNvPr>
          <p:cNvPicPr>
            <a:picLocks noChangeAspect="1"/>
          </p:cNvPicPr>
          <p:nvPr/>
        </p:nvPicPr>
        <p:blipFill>
          <a:blip r:embed="rId59"/>
          <a:stretch>
            <a:fillRect/>
          </a:stretch>
        </p:blipFill>
        <p:spPr>
          <a:xfrm>
            <a:off x="9044534" y="4480560"/>
            <a:ext cx="256032" cy="256032"/>
          </a:xfrm>
          <a:prstGeom prst="rect">
            <a:avLst/>
          </a:prstGeom>
        </p:spPr>
      </p:pic>
      <p:pic>
        <p:nvPicPr>
          <p:cNvPr id="117" name="Image 40" descr="/private/tmp/claude-501/-Users-salehhamed-Outcome-Engine/91861432-41e2-4884-bc97-63c6dff2d021/scratchpad/wk/brand/clear.png">
            <a:hlinkClick r:id="rId61" tooltip="Break · freeze" action="ppaction://hlinksldjump"/>
          </p:cNvPr>
          <p:cNvPicPr>
            <a:picLocks noChangeAspect="1"/>
          </p:cNvPicPr>
          <p:nvPr/>
        </p:nvPicPr>
        <p:blipFill>
          <a:blip r:embed="rId60"/>
          <a:stretch>
            <a:fillRect/>
          </a:stretch>
        </p:blipFill>
        <p:spPr>
          <a:xfrm>
            <a:off x="8980526" y="4343400"/>
            <a:ext cx="384048" cy="1737360"/>
          </a:xfrm>
          <a:prstGeom prst="rect">
            <a:avLst/>
          </a:prstGeom>
        </p:spPr>
      </p:pic>
      <p:sp>
        <p:nvSpPr>
          <p:cNvPr id="118" name="Shape 75"/>
          <p:cNvSpPr/>
          <p:nvPr/>
        </p:nvSpPr>
        <p:spPr>
          <a:xfrm>
            <a:off x="9437726" y="4343400"/>
            <a:ext cx="1066089" cy="1737360"/>
          </a:xfrm>
          <a:prstGeom prst="roundRect">
            <a:avLst>
              <a:gd name="adj" fmla="val 5146"/>
            </a:avLst>
          </a:prstGeom>
          <a:solidFill>
            <a:srgbClr val="FFFFFF"/>
          </a:solidFill>
          <a:ln w="12700">
            <a:solidFill>
              <a:srgbClr val="D9DEE2"/>
            </a:solidFill>
            <a:prstDash val="solid"/>
          </a:ln>
        </p:spPr>
      </p:sp>
      <p:sp>
        <p:nvSpPr>
          <p:cNvPr id="119" name="Shape 76"/>
          <p:cNvSpPr/>
          <p:nvPr/>
        </p:nvSpPr>
        <p:spPr>
          <a:xfrm>
            <a:off x="9437726" y="4343400"/>
            <a:ext cx="1066089" cy="82296"/>
          </a:xfrm>
          <a:prstGeom prst="rect">
            <a:avLst/>
          </a:prstGeom>
          <a:solidFill>
            <a:srgbClr val="287079"/>
          </a:solidFill>
          <a:ln/>
        </p:spPr>
      </p:sp>
      <p:pic>
        <p:nvPicPr>
          <p:cNvPr id="120" name="Image 41" descr="/private/tmp/claude-501/-Users-salehhamed-Outcome-Engine/91861432-41e2-4884-bc97-63c6dff2d021/scratchpad/wk/icons/TbPlayerPlay-teal.png">    </p:cNvPr>
          <p:cNvPicPr>
            <a:picLocks noChangeAspect="1"/>
          </p:cNvPicPr>
          <p:nvPr/>
        </p:nvPicPr>
        <p:blipFill>
          <a:blip r:embed="rId62"/>
          <a:stretch>
            <a:fillRect/>
          </a:stretch>
        </p:blipFill>
        <p:spPr>
          <a:xfrm>
            <a:off x="9547454" y="4544568"/>
            <a:ext cx="329184" cy="329184"/>
          </a:xfrm>
          <a:prstGeom prst="rect">
            <a:avLst/>
          </a:prstGeom>
        </p:spPr>
      </p:pic>
      <p:sp>
        <p:nvSpPr>
          <p:cNvPr id="121" name="Text 77"/>
          <p:cNvSpPr txBox="1"/>
          <p:nvPr/>
        </p:nvSpPr>
        <p:spPr>
          <a:xfrm>
            <a:off x="9940646" y="4544568"/>
            <a:ext cx="517449" cy="329184"/>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15:15</a:t>
            </a:r>
            <a:endParaRPr lang="en-US" sz="1100" dirty="0"/>
          </a:p>
        </p:txBody>
      </p:sp>
      <p:sp>
        <p:nvSpPr>
          <p:cNvPr id="122" name="Text 78"/>
          <p:cNvSpPr txBox="1"/>
          <p:nvPr/>
        </p:nvSpPr>
        <p:spPr>
          <a:xfrm>
            <a:off x="9547454" y="4983480"/>
            <a:ext cx="883209" cy="1005840"/>
          </a:xfrm>
          <a:prstGeom prst="rect">
            <a:avLst/>
          </a:prstGeom>
          <a:noFill/>
          <a:ln/>
        </p:spPr>
        <p:txBody>
          <a:bodyPr wrap="square" lIns="0" tIns="0" rIns="0" bIns="0" rtlCol="0" anchor="t"/>
          <a:lstStyle/>
          <a:p>
            <a:pPr indent="0" marL="0">
              <a:buNone/>
            </a:pPr>
            <a:r>
              <a:rPr lang="en-US" sz="1200" b="1" dirty="0">
                <a:solidFill>
                  <a:srgbClr val="1F2A33"/>
                </a:solidFill>
                <a:latin typeface="Arial" pitchFamily="34" charset="0"/>
                <a:ea typeface="Arial" pitchFamily="34" charset="-122"/>
                <a:cs typeface="Arial" pitchFamily="34" charset="-120"/>
              </a:rPr>
              <a:t>Live review</a:t>
            </a:r>
            <a:endParaRPr lang="en-US" sz="1200" dirty="0"/>
          </a:p>
        </p:txBody>
      </p:sp>
      <p:pic>
        <p:nvPicPr>
          <p:cNvPr id="123" name="Image 42" descr="/private/tmp/claude-501/-Users-salehhamed-Outcome-Engine/91861432-41e2-4884-bc97-63c6dff2d021/scratchpad/wk/brand/clear.png">
            <a:hlinkClick r:id="rId64" tooltip="Live review" action="ppaction://hlinksldjump"/>
          </p:cNvPr>
          <p:cNvPicPr>
            <a:picLocks noChangeAspect="1"/>
          </p:cNvPicPr>
          <p:nvPr/>
        </p:nvPicPr>
        <p:blipFill>
          <a:blip r:embed="rId63"/>
          <a:stretch>
            <a:fillRect/>
          </a:stretch>
        </p:blipFill>
        <p:spPr>
          <a:xfrm>
            <a:off x="9437726" y="4343400"/>
            <a:ext cx="1066089" cy="1737360"/>
          </a:xfrm>
          <a:prstGeom prst="rect">
            <a:avLst/>
          </a:prstGeom>
        </p:spPr>
      </p:pic>
      <p:sp>
        <p:nvSpPr>
          <p:cNvPr id="124" name="Shape 79"/>
          <p:cNvSpPr/>
          <p:nvPr/>
        </p:nvSpPr>
        <p:spPr>
          <a:xfrm>
            <a:off x="10576966" y="4343400"/>
            <a:ext cx="1066089" cy="1737360"/>
          </a:xfrm>
          <a:prstGeom prst="roundRect">
            <a:avLst>
              <a:gd name="adj" fmla="val 5146"/>
            </a:avLst>
          </a:prstGeom>
          <a:solidFill>
            <a:srgbClr val="FFFFFF"/>
          </a:solidFill>
          <a:ln w="12700">
            <a:solidFill>
              <a:srgbClr val="D9DEE2"/>
            </a:solidFill>
            <a:prstDash val="solid"/>
          </a:ln>
        </p:spPr>
      </p:sp>
      <p:sp>
        <p:nvSpPr>
          <p:cNvPr id="125" name="Shape 80"/>
          <p:cNvSpPr/>
          <p:nvPr/>
        </p:nvSpPr>
        <p:spPr>
          <a:xfrm>
            <a:off x="10576966" y="4343400"/>
            <a:ext cx="1066089" cy="82296"/>
          </a:xfrm>
          <a:prstGeom prst="rect">
            <a:avLst/>
          </a:prstGeom>
          <a:solidFill>
            <a:srgbClr val="287079"/>
          </a:solidFill>
          <a:ln/>
        </p:spPr>
      </p:sp>
      <p:pic>
        <p:nvPicPr>
          <p:cNvPr id="126" name="Image 43" descr="/private/tmp/claude-501/-Users-salehhamed-Outcome-Engine/91861432-41e2-4884-bc97-63c6dff2d021/scratchpad/wk/icons/TbFlag3-teal.png">    </p:cNvPr>
          <p:cNvPicPr>
            <a:picLocks noChangeAspect="1"/>
          </p:cNvPicPr>
          <p:nvPr/>
        </p:nvPicPr>
        <p:blipFill>
          <a:blip r:embed="rId65"/>
          <a:stretch>
            <a:fillRect/>
          </a:stretch>
        </p:blipFill>
        <p:spPr>
          <a:xfrm>
            <a:off x="10686694" y="4544568"/>
            <a:ext cx="329184" cy="329184"/>
          </a:xfrm>
          <a:prstGeom prst="rect">
            <a:avLst/>
          </a:prstGeom>
        </p:spPr>
      </p:pic>
      <p:sp>
        <p:nvSpPr>
          <p:cNvPr id="127" name="Text 81"/>
          <p:cNvSpPr txBox="1"/>
          <p:nvPr/>
        </p:nvSpPr>
        <p:spPr>
          <a:xfrm>
            <a:off x="11079886" y="4544568"/>
            <a:ext cx="517449" cy="329184"/>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16:15</a:t>
            </a:r>
            <a:endParaRPr lang="en-US" sz="1100" dirty="0"/>
          </a:p>
        </p:txBody>
      </p:sp>
      <p:sp>
        <p:nvSpPr>
          <p:cNvPr id="128" name="Text 82"/>
          <p:cNvSpPr txBox="1"/>
          <p:nvPr/>
        </p:nvSpPr>
        <p:spPr>
          <a:xfrm>
            <a:off x="10686694" y="4983480"/>
            <a:ext cx="883209" cy="1005840"/>
          </a:xfrm>
          <a:prstGeom prst="rect">
            <a:avLst/>
          </a:prstGeom>
          <a:noFill/>
          <a:ln/>
        </p:spPr>
        <p:txBody>
          <a:bodyPr wrap="square" lIns="0" tIns="0" rIns="0" bIns="0" rtlCol="0" anchor="t"/>
          <a:lstStyle/>
          <a:p>
            <a:pPr indent="0" marL="0">
              <a:buNone/>
            </a:pPr>
            <a:r>
              <a:rPr lang="en-US" sz="1200" b="1" dirty="0">
                <a:solidFill>
                  <a:srgbClr val="1F2A33"/>
                </a:solidFill>
                <a:latin typeface="Arial" pitchFamily="34" charset="0"/>
                <a:ea typeface="Arial" pitchFamily="34" charset="-122"/>
                <a:cs typeface="Arial" pitchFamily="34" charset="-120"/>
              </a:rPr>
              <a:t>The decision</a:t>
            </a:r>
            <a:endParaRPr lang="en-US" sz="1200" dirty="0"/>
          </a:p>
        </p:txBody>
      </p:sp>
      <p:pic>
        <p:nvPicPr>
          <p:cNvPr id="129" name="Image 44" descr="/private/tmp/claude-501/-Users-salehhamed-Outcome-Engine/91861432-41e2-4884-bc97-63c6dff2d021/scratchpad/wk/brand/clear.png">
            <a:hlinkClick r:id="rId67" tooltip="The decision" action="ppaction://hlinksldjump"/>
          </p:cNvPr>
          <p:cNvPicPr>
            <a:picLocks noChangeAspect="1"/>
          </p:cNvPicPr>
          <p:nvPr/>
        </p:nvPicPr>
        <p:blipFill>
          <a:blip r:embed="rId66"/>
          <a:stretch>
            <a:fillRect/>
          </a:stretch>
        </p:blipFill>
        <p:spPr>
          <a:xfrm>
            <a:off x="10576966" y="4343400"/>
            <a:ext cx="1066089" cy="1737360"/>
          </a:xfrm>
          <a:prstGeom prst="rect">
            <a:avLst/>
          </a:prstGeom>
        </p:spPr>
      </p:pic>
      <p:sp>
        <p:nvSpPr>
          <p:cNvPr id="130" name="Text 83"/>
          <p:cNvSpPr txBox="1"/>
          <p:nvPr/>
        </p:nvSpPr>
        <p:spPr>
          <a:xfrm>
            <a:off x="548640" y="6144768"/>
            <a:ext cx="8229600" cy="256032"/>
          </a:xfrm>
          <a:prstGeom prst="rect">
            <a:avLst/>
          </a:prstGeom>
          <a:noFill/>
          <a:ln/>
        </p:spPr>
        <p:txBody>
          <a:bodyPr wrap="square" lIns="0" tIns="0" rIns="0" bIns="0" rtlCol="0" anchor="t"/>
          <a:lstStyle/>
          <a:p>
            <a:pPr indent="0" marL="0">
              <a:buNone/>
            </a:pPr>
            <a:r>
              <a:rPr lang="en-US" sz="1100" dirty="0">
                <a:solidFill>
                  <a:srgbClr val="5A5A5A"/>
                </a:solidFill>
                <a:latin typeface="Arial" pitchFamily="34" charset="0"/>
                <a:ea typeface="Arial" pitchFamily="34" charset="-122"/>
                <a:cs typeface="Arial" pitchFamily="34" charset="-120"/>
              </a:rPr>
              <a:t>Every slide has Hub and Options links in its bottom right corner.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87079"/>
        </a:solidFill>
      </p:bgPr>
    </p:bg>
    <p:spTree>
      <p:nvGrpSpPr>
        <p:cNvPr id="1" name=""/>
        <p:cNvGrpSpPr/>
        <p:nvPr/>
      </p:nvGrpSpPr>
      <p:grpSpPr>
        <a:xfrm>
          <a:off x="0" y="0"/>
          <a:ext cx="0" cy="0"/>
          <a:chOff x="0" y="0"/>
          <a:chExt cx="0" cy="0"/>
        </a:xfrm>
      </p:grpSpPr>
      <p:pic>
        <p:nvPicPr>
          <p:cNvPr id="2" name="Image 0" descr="/private/tmp/claude-501/-Users-salehhamed-Outcome-Engine/91861432-41e2-4884-bc97-63c6dff2d021/scratchpad/wk/brand/title-pattern-white.png">    </p:cNvPr>
          <p:cNvPicPr>
            <a:picLocks noChangeAspect="1"/>
          </p:cNvPicPr>
          <p:nvPr/>
        </p:nvPicPr>
        <p:blipFill>
          <a:blip r:embed="rId1"/>
          <a:srcRect l="0" r="0" t="0" b="0"/>
          <a:stretch/>
        </p:blipFill>
        <p:spPr>
          <a:xfrm>
            <a:off x="7818120" y="0"/>
            <a:ext cx="4373575" cy="6858000"/>
          </a:xfrm>
          <a:prstGeom prst="rect">
            <a:avLst/>
          </a:prstGeom>
        </p:spPr>
      </p:pic>
      <p:pic>
        <p:nvPicPr>
          <p:cNvPr id="3" name="Image 1" descr="/private/tmp/claude-501/-Users-salehhamed-Outcome-Engine/91861432-41e2-4884-bc97-63c6dff2d021/scratchpad/wk/brand/logo-white.png">    </p:cNvPr>
          <p:cNvPicPr>
            <a:picLocks noChangeAspect="1"/>
          </p:cNvPicPr>
          <p:nvPr/>
        </p:nvPicPr>
        <p:blipFill>
          <a:blip r:embed="rId2"/>
          <a:stretch>
            <a:fillRect/>
          </a:stretch>
        </p:blipFill>
        <p:spPr>
          <a:xfrm>
            <a:off x="548640" y="502920"/>
            <a:ext cx="1234440" cy="393192"/>
          </a:xfrm>
          <a:prstGeom prst="rect">
            <a:avLst/>
          </a:prstGeom>
        </p:spPr>
      </p:pic>
      <p:sp>
        <p:nvSpPr>
          <p:cNvPr id="4" name="Text 0"/>
          <p:cNvSpPr txBox="1"/>
          <p:nvPr/>
        </p:nvSpPr>
        <p:spPr>
          <a:xfrm>
            <a:off x="548640" y="2011680"/>
            <a:ext cx="7315200" cy="292608"/>
          </a:xfrm>
          <a:prstGeom prst="rect">
            <a:avLst/>
          </a:prstGeom>
          <a:noFill/>
          <a:ln/>
        </p:spPr>
        <p:txBody>
          <a:bodyPr wrap="square" lIns="0" tIns="0" rIns="0" bIns="0" rtlCol="0" anchor="t"/>
          <a:lstStyle/>
          <a:p>
            <a:pPr indent="0" marL="0">
              <a:buNone/>
            </a:pPr>
            <a:r>
              <a:rPr lang="en-US" sz="1400" b="1" spc="200" kern="0" dirty="0">
                <a:solidFill>
                  <a:srgbClr val="D9DEE2"/>
                </a:solidFill>
                <a:latin typeface="Arial" pitchFamily="34" charset="0"/>
                <a:ea typeface="Arial" pitchFamily="34" charset="-122"/>
                <a:cs typeface="Arial" pitchFamily="34" charset="-120"/>
              </a:rPr>
              <a:t>DAY 1 · TUESDAY 6 OCTOBER</a:t>
            </a:r>
            <a:endParaRPr lang="en-US" sz="1400" dirty="0"/>
          </a:p>
        </p:txBody>
      </p:sp>
      <p:sp>
        <p:nvSpPr>
          <p:cNvPr id="5" name="Text 1"/>
          <p:cNvSpPr txBox="1"/>
          <p:nvPr/>
        </p:nvSpPr>
        <p:spPr>
          <a:xfrm>
            <a:off x="548640" y="2423160"/>
            <a:ext cx="6949440" cy="1645920"/>
          </a:xfrm>
          <a:prstGeom prst="rect">
            <a:avLst/>
          </a:prstGeom>
          <a:noFill/>
          <a:ln/>
        </p:spPr>
        <p:txBody>
          <a:bodyPr wrap="square" lIns="0" tIns="0" rIns="0" bIns="0" rtlCol="0" anchor="t"/>
          <a:lstStyle/>
          <a:p>
            <a:pPr indent="0" marL="0">
              <a:buNone/>
            </a:pPr>
            <a:r>
              <a:rPr lang="en-US" sz="4000" b="1" dirty="0">
                <a:solidFill>
                  <a:srgbClr val="FFFFFF"/>
                </a:solidFill>
                <a:latin typeface="TWK Everett" pitchFamily="34" charset="0"/>
                <a:ea typeface="TWK Everett" pitchFamily="34" charset="-122"/>
                <a:cs typeface="TWK Everett" pitchFamily="34" charset="-120"/>
              </a:rPr>
              <a:t>Understand and agree how it should work</a:t>
            </a:r>
            <a:endParaRPr lang="en-US" sz="4000" dirty="0"/>
          </a:p>
        </p:txBody>
      </p:sp>
      <p:pic>
        <p:nvPicPr>
          <p:cNvPr id="6" name="Image 2" descr="/private/tmp/claude-501/-Users-salehhamed-Outcome-Engine/91861432-41e2-4884-bc97-63c6dff2d021/scratchpad/wk/icons/TbEye-white.png">    </p:cNvPr>
          <p:cNvPicPr>
            <a:picLocks noChangeAspect="1"/>
          </p:cNvPicPr>
          <p:nvPr/>
        </p:nvPicPr>
        <p:blipFill>
          <a:blip r:embed="rId3"/>
          <a:stretch>
            <a:fillRect/>
          </a:stretch>
        </p:blipFill>
        <p:spPr>
          <a:xfrm>
            <a:off x="548640" y="4343400"/>
            <a:ext cx="384048" cy="384048"/>
          </a:xfrm>
          <a:prstGeom prst="rect">
            <a:avLst/>
          </a:prstGeom>
        </p:spPr>
      </p:pic>
      <p:sp>
        <p:nvSpPr>
          <p:cNvPr id="7" name="Text 2"/>
          <p:cNvSpPr txBox="1"/>
          <p:nvPr/>
        </p:nvSpPr>
        <p:spPr>
          <a:xfrm>
            <a:off x="1097280" y="4343400"/>
            <a:ext cx="6400800" cy="384048"/>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See the real problem</a:t>
            </a:r>
            <a:endParaRPr lang="en-US" sz="1700" dirty="0"/>
          </a:p>
        </p:txBody>
      </p:sp>
      <p:pic>
        <p:nvPicPr>
          <p:cNvPr id="8" name="Image 3" descr="/private/tmp/claude-501/-Users-salehhamed-Outcome-Engine/91861432-41e2-4884-bc97-63c6dff2d021/scratchpad/wk/icons/TbTarget-white.png">    </p:cNvPr>
          <p:cNvPicPr>
            <a:picLocks noChangeAspect="1"/>
          </p:cNvPicPr>
          <p:nvPr/>
        </p:nvPicPr>
        <p:blipFill>
          <a:blip r:embed="rId4"/>
          <a:stretch>
            <a:fillRect/>
          </a:stretch>
        </p:blipFill>
        <p:spPr>
          <a:xfrm>
            <a:off x="548640" y="4892040"/>
            <a:ext cx="384048" cy="384048"/>
          </a:xfrm>
          <a:prstGeom prst="rect">
            <a:avLst/>
          </a:prstGeom>
        </p:spPr>
      </p:pic>
      <p:sp>
        <p:nvSpPr>
          <p:cNvPr id="9" name="Text 3"/>
          <p:cNvSpPr txBox="1"/>
          <p:nvPr/>
        </p:nvSpPr>
        <p:spPr>
          <a:xfrm>
            <a:off x="1097280" y="4892040"/>
            <a:ext cx="6400800" cy="384048"/>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Agree the result we want</a:t>
            </a:r>
            <a:endParaRPr lang="en-US" sz="1700" dirty="0"/>
          </a:p>
        </p:txBody>
      </p:sp>
      <p:pic>
        <p:nvPicPr>
          <p:cNvPr id="10" name="Image 4" descr="/private/tmp/claude-501/-Users-salehhamed-Outcome-Engine/91861432-41e2-4884-bc97-63c6dff2d021/scratchpad/wk/icons/TbUserCheck-white.png">    </p:cNvPr>
          <p:cNvPicPr>
            <a:picLocks noChangeAspect="1"/>
          </p:cNvPicPr>
          <p:nvPr/>
        </p:nvPicPr>
        <p:blipFill>
          <a:blip r:embed="rId5"/>
          <a:stretch>
            <a:fillRect/>
          </a:stretch>
        </p:blipFill>
        <p:spPr>
          <a:xfrm>
            <a:off x="548640" y="5440680"/>
            <a:ext cx="384048" cy="384048"/>
          </a:xfrm>
          <a:prstGeom prst="rect">
            <a:avLst/>
          </a:prstGeom>
        </p:spPr>
      </p:pic>
      <p:sp>
        <p:nvSpPr>
          <p:cNvPr id="11" name="Text 4"/>
          <p:cNvSpPr txBox="1"/>
          <p:nvPr/>
        </p:nvSpPr>
        <p:spPr>
          <a:xfrm>
            <a:off x="1097280" y="5440680"/>
            <a:ext cx="6400800" cy="384048"/>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Agree who decides, and the rules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BEFORE WE START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Join the room</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08:30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4</a:t>
            </a:r>
            <a:endParaRPr lang="en-US" sz="1000" dirty="0"/>
          </a:p>
        </p:txBody>
      </p:sp>
      <p:sp>
        <p:nvSpPr>
          <p:cNvPr id="7" name="Shape 4"/>
          <p:cNvSpPr/>
          <p:nvPr/>
        </p:nvSpPr>
        <p:spPr>
          <a:xfrm>
            <a:off x="548640" y="1737360"/>
            <a:ext cx="2331720" cy="2834640"/>
          </a:xfrm>
          <a:prstGeom prst="roundRect">
            <a:avLst>
              <a:gd name="adj" fmla="val 3137"/>
            </a:avLst>
          </a:prstGeom>
          <a:solidFill>
            <a:srgbClr val="FFFFFF"/>
          </a:solidFill>
          <a:ln w="12700">
            <a:solidFill>
              <a:srgbClr val="D9DEE2"/>
            </a:solidFill>
            <a:prstDash val="solid"/>
          </a:ln>
        </p:spPr>
      </p:sp>
      <p:sp>
        <p:nvSpPr>
          <p:cNvPr id="8" name="Shape 5"/>
          <p:cNvSpPr/>
          <p:nvPr/>
        </p:nvSpPr>
        <p:spPr>
          <a:xfrm>
            <a:off x="731520" y="1920240"/>
            <a:ext cx="457200" cy="457200"/>
          </a:xfrm>
          <a:prstGeom prst="ellipse">
            <a:avLst/>
          </a:prstGeom>
          <a:solidFill>
            <a:srgbClr val="FF462D"/>
          </a:solidFill>
          <a:ln/>
        </p:spPr>
      </p:sp>
      <p:sp>
        <p:nvSpPr>
          <p:cNvPr id="9" name="Text 6"/>
          <p:cNvSpPr txBox="1"/>
          <p:nvPr/>
        </p:nvSpPr>
        <p:spPr>
          <a:xfrm>
            <a:off x="73152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pic>
        <p:nvPicPr>
          <p:cNvPr id="10" name="Image 1" descr="/private/tmp/claude-501/-Users-salehhamed-Outcome-Engine/91861432-41e2-4884-bc97-63c6dff2d021/scratchpad/wk/icons/TbQrcode-teal.png">    </p:cNvPr>
          <p:cNvPicPr>
            <a:picLocks noChangeAspect="1"/>
          </p:cNvPicPr>
          <p:nvPr/>
        </p:nvPicPr>
        <p:blipFill>
          <a:blip r:embed="rId4"/>
          <a:stretch>
            <a:fillRect/>
          </a:stretch>
        </p:blipFill>
        <p:spPr>
          <a:xfrm>
            <a:off x="1207008" y="2514600"/>
            <a:ext cx="1005840" cy="1005840"/>
          </a:xfrm>
          <a:prstGeom prst="rect">
            <a:avLst/>
          </a:prstGeom>
        </p:spPr>
      </p:pic>
      <p:sp>
        <p:nvSpPr>
          <p:cNvPr id="11" name="Text 7"/>
          <p:cNvSpPr txBox="1"/>
          <p:nvPr/>
        </p:nvSpPr>
        <p:spPr>
          <a:xfrm>
            <a:off x="731520" y="3657600"/>
            <a:ext cx="1965960" cy="365760"/>
          </a:xfrm>
          <a:prstGeom prst="rect">
            <a:avLst/>
          </a:prstGeom>
          <a:noFill/>
          <a:ln/>
        </p:spPr>
        <p:txBody>
          <a:bodyPr wrap="square" lIns="0" tIns="0" rIns="0" bIns="0" rtlCol="0" anchor="t"/>
          <a:lstStyle/>
          <a:p>
            <a:pPr algn="ctr" indent="0" marL="0">
              <a:buNone/>
            </a:pPr>
            <a:r>
              <a:rPr lang="en-US" sz="1700" b="1" dirty="0">
                <a:solidFill>
                  <a:srgbClr val="1F2A33"/>
                </a:solidFill>
                <a:latin typeface="Arial" pitchFamily="34" charset="0"/>
                <a:ea typeface="Arial" pitchFamily="34" charset="-122"/>
                <a:cs typeface="Arial" pitchFamily="34" charset="-120"/>
              </a:rPr>
              <a:t>Scan the code</a:t>
            </a:r>
            <a:endParaRPr lang="en-US" sz="1700" dirty="0"/>
          </a:p>
        </p:txBody>
      </p:sp>
      <p:sp>
        <p:nvSpPr>
          <p:cNvPr id="12" name="Text 8"/>
          <p:cNvSpPr txBox="1"/>
          <p:nvPr/>
        </p:nvSpPr>
        <p:spPr>
          <a:xfrm>
            <a:off x="731520" y="4041648"/>
            <a:ext cx="1965960" cy="365760"/>
          </a:xfrm>
          <a:prstGeom prst="rect">
            <a:avLst/>
          </a:prstGeom>
          <a:noFill/>
          <a:ln/>
        </p:spPr>
        <p:txBody>
          <a:bodyPr wrap="square" lIns="0" tIns="0" rIns="0" bIns="0" rtlCol="0" anchor="t"/>
          <a:lstStyle/>
          <a:p>
            <a:pPr algn="ctr" indent="0" marL="0">
              <a:buNone/>
            </a:pPr>
            <a:r>
              <a:rPr lang="en-US" sz="1250" dirty="0">
                <a:solidFill>
                  <a:srgbClr val="5A5A5A"/>
                </a:solidFill>
                <a:latin typeface="Arial" pitchFamily="34" charset="0"/>
                <a:ea typeface="Arial" pitchFamily="34" charset="-122"/>
                <a:cs typeface="Arial" pitchFamily="34" charset="-120"/>
              </a:rPr>
              <a:t>on the room screen</a:t>
            </a:r>
            <a:endParaRPr lang="en-US" sz="1250" dirty="0"/>
          </a:p>
        </p:txBody>
      </p:sp>
      <p:sp>
        <p:nvSpPr>
          <p:cNvPr id="13" name="Shape 9"/>
          <p:cNvSpPr/>
          <p:nvPr/>
        </p:nvSpPr>
        <p:spPr>
          <a:xfrm>
            <a:off x="3063240" y="1737360"/>
            <a:ext cx="2331720" cy="2834640"/>
          </a:xfrm>
          <a:prstGeom prst="roundRect">
            <a:avLst>
              <a:gd name="adj" fmla="val 3137"/>
            </a:avLst>
          </a:prstGeom>
          <a:solidFill>
            <a:srgbClr val="FFFFFF"/>
          </a:solidFill>
          <a:ln w="12700">
            <a:solidFill>
              <a:srgbClr val="D9DEE2"/>
            </a:solidFill>
            <a:prstDash val="solid"/>
          </a:ln>
        </p:spPr>
      </p:sp>
      <p:sp>
        <p:nvSpPr>
          <p:cNvPr id="14" name="Shape 10"/>
          <p:cNvSpPr/>
          <p:nvPr/>
        </p:nvSpPr>
        <p:spPr>
          <a:xfrm>
            <a:off x="3246120" y="1920240"/>
            <a:ext cx="457200" cy="457200"/>
          </a:xfrm>
          <a:prstGeom prst="ellipse">
            <a:avLst/>
          </a:prstGeom>
          <a:solidFill>
            <a:srgbClr val="FF462D"/>
          </a:solidFill>
          <a:ln/>
        </p:spPr>
      </p:sp>
      <p:sp>
        <p:nvSpPr>
          <p:cNvPr id="15" name="Text 11"/>
          <p:cNvSpPr txBox="1"/>
          <p:nvPr/>
        </p:nvSpPr>
        <p:spPr>
          <a:xfrm>
            <a:off x="324612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pic>
        <p:nvPicPr>
          <p:cNvPr id="16" name="Image 2" descr="/private/tmp/claude-501/-Users-salehhamed-Outcome-Engine/91861432-41e2-4884-bc97-63c6dff2d021/scratchpad/wk/icons/TbUserCircle-teal.png">    </p:cNvPr>
          <p:cNvPicPr>
            <a:picLocks noChangeAspect="1"/>
          </p:cNvPicPr>
          <p:nvPr/>
        </p:nvPicPr>
        <p:blipFill>
          <a:blip r:embed="rId5"/>
          <a:stretch>
            <a:fillRect/>
          </a:stretch>
        </p:blipFill>
        <p:spPr>
          <a:xfrm>
            <a:off x="3721608" y="2514600"/>
            <a:ext cx="1005840" cy="1005840"/>
          </a:xfrm>
          <a:prstGeom prst="rect">
            <a:avLst/>
          </a:prstGeom>
        </p:spPr>
      </p:pic>
      <p:sp>
        <p:nvSpPr>
          <p:cNvPr id="17" name="Text 12"/>
          <p:cNvSpPr txBox="1"/>
          <p:nvPr/>
        </p:nvSpPr>
        <p:spPr>
          <a:xfrm>
            <a:off x="3246120" y="3657600"/>
            <a:ext cx="1965960" cy="365760"/>
          </a:xfrm>
          <a:prstGeom prst="rect">
            <a:avLst/>
          </a:prstGeom>
          <a:noFill/>
          <a:ln/>
        </p:spPr>
        <p:txBody>
          <a:bodyPr wrap="square" lIns="0" tIns="0" rIns="0" bIns="0" rtlCol="0" anchor="t"/>
          <a:lstStyle/>
          <a:p>
            <a:pPr algn="ctr" indent="0" marL="0">
              <a:buNone/>
            </a:pPr>
            <a:r>
              <a:rPr lang="en-US" sz="1700" b="1" dirty="0">
                <a:solidFill>
                  <a:srgbClr val="1F2A33"/>
                </a:solidFill>
                <a:latin typeface="Arial" pitchFamily="34" charset="0"/>
                <a:ea typeface="Arial" pitchFamily="34" charset="-122"/>
                <a:cs typeface="Arial" pitchFamily="34" charset="-120"/>
              </a:rPr>
              <a:t>Pick your name</a:t>
            </a:r>
            <a:endParaRPr lang="en-US" sz="1700" dirty="0"/>
          </a:p>
        </p:txBody>
      </p:sp>
      <p:sp>
        <p:nvSpPr>
          <p:cNvPr id="18" name="Text 13"/>
          <p:cNvSpPr txBox="1"/>
          <p:nvPr/>
        </p:nvSpPr>
        <p:spPr>
          <a:xfrm>
            <a:off x="3246120" y="4041648"/>
            <a:ext cx="1965960" cy="365760"/>
          </a:xfrm>
          <a:prstGeom prst="rect">
            <a:avLst/>
          </a:prstGeom>
          <a:noFill/>
          <a:ln/>
        </p:spPr>
        <p:txBody>
          <a:bodyPr wrap="square" lIns="0" tIns="0" rIns="0" bIns="0" rtlCol="0" anchor="t"/>
          <a:lstStyle/>
          <a:p>
            <a:pPr algn="ctr" indent="0" marL="0">
              <a:buNone/>
            </a:pPr>
            <a:r>
              <a:rPr lang="en-US" sz="1250" dirty="0">
                <a:solidFill>
                  <a:srgbClr val="5A5A5A"/>
                </a:solidFill>
                <a:latin typeface="Arial" pitchFamily="34" charset="0"/>
                <a:ea typeface="Arial" pitchFamily="34" charset="-122"/>
                <a:cs typeface="Arial" pitchFamily="34" charset="-120"/>
              </a:rPr>
              <a:t>or type it</a:t>
            </a:r>
            <a:endParaRPr lang="en-US" sz="1250" dirty="0"/>
          </a:p>
        </p:txBody>
      </p:sp>
      <p:sp>
        <p:nvSpPr>
          <p:cNvPr id="19" name="Shape 14"/>
          <p:cNvSpPr/>
          <p:nvPr/>
        </p:nvSpPr>
        <p:spPr>
          <a:xfrm>
            <a:off x="5577840" y="1737360"/>
            <a:ext cx="2331720" cy="2834640"/>
          </a:xfrm>
          <a:prstGeom prst="roundRect">
            <a:avLst>
              <a:gd name="adj" fmla="val 3137"/>
            </a:avLst>
          </a:prstGeom>
          <a:solidFill>
            <a:srgbClr val="FFFFFF"/>
          </a:solidFill>
          <a:ln w="12700">
            <a:solidFill>
              <a:srgbClr val="D9DEE2"/>
            </a:solidFill>
            <a:prstDash val="solid"/>
          </a:ln>
        </p:spPr>
      </p:sp>
      <p:sp>
        <p:nvSpPr>
          <p:cNvPr id="20" name="Shape 15"/>
          <p:cNvSpPr/>
          <p:nvPr/>
        </p:nvSpPr>
        <p:spPr>
          <a:xfrm>
            <a:off x="5760720" y="1920240"/>
            <a:ext cx="457200" cy="457200"/>
          </a:xfrm>
          <a:prstGeom prst="ellipse">
            <a:avLst/>
          </a:prstGeom>
          <a:solidFill>
            <a:srgbClr val="FF462D"/>
          </a:solidFill>
          <a:ln/>
        </p:spPr>
      </p:sp>
      <p:sp>
        <p:nvSpPr>
          <p:cNvPr id="21" name="Text 16"/>
          <p:cNvSpPr txBox="1"/>
          <p:nvPr/>
        </p:nvSpPr>
        <p:spPr>
          <a:xfrm>
            <a:off x="576072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pic>
        <p:nvPicPr>
          <p:cNvPr id="22" name="Image 3" descr="/private/tmp/claude-501/-Users-salehhamed-Outcome-Engine/91861432-41e2-4884-bc97-63c6dff2d021/scratchpad/wk/icons/TbKey-teal.png">    </p:cNvPr>
          <p:cNvPicPr>
            <a:picLocks noChangeAspect="1"/>
          </p:cNvPicPr>
          <p:nvPr/>
        </p:nvPicPr>
        <p:blipFill>
          <a:blip r:embed="rId6"/>
          <a:stretch>
            <a:fillRect/>
          </a:stretch>
        </p:blipFill>
        <p:spPr>
          <a:xfrm>
            <a:off x="6236208" y="2514600"/>
            <a:ext cx="1005840" cy="1005840"/>
          </a:xfrm>
          <a:prstGeom prst="rect">
            <a:avLst/>
          </a:prstGeom>
        </p:spPr>
      </p:pic>
      <p:sp>
        <p:nvSpPr>
          <p:cNvPr id="23" name="Text 17"/>
          <p:cNvSpPr txBox="1"/>
          <p:nvPr/>
        </p:nvSpPr>
        <p:spPr>
          <a:xfrm>
            <a:off x="5760720" y="3657600"/>
            <a:ext cx="1965960" cy="365760"/>
          </a:xfrm>
          <a:prstGeom prst="rect">
            <a:avLst/>
          </a:prstGeom>
          <a:noFill/>
          <a:ln/>
        </p:spPr>
        <p:txBody>
          <a:bodyPr wrap="square" lIns="0" tIns="0" rIns="0" bIns="0" rtlCol="0" anchor="t"/>
          <a:lstStyle/>
          <a:p>
            <a:pPr algn="ctr" indent="0" marL="0">
              <a:buNone/>
            </a:pPr>
            <a:r>
              <a:rPr lang="en-US" sz="1700" b="1" dirty="0">
                <a:solidFill>
                  <a:srgbClr val="1F2A33"/>
                </a:solidFill>
                <a:latin typeface="Arial" pitchFamily="34" charset="0"/>
                <a:ea typeface="Arial" pitchFamily="34" charset="-122"/>
                <a:cs typeface="Arial" pitchFamily="34" charset="-120"/>
              </a:rPr>
              <a:t>Choose a PIN</a:t>
            </a:r>
            <a:endParaRPr lang="en-US" sz="1700" dirty="0"/>
          </a:p>
        </p:txBody>
      </p:sp>
      <p:sp>
        <p:nvSpPr>
          <p:cNvPr id="24" name="Text 18"/>
          <p:cNvSpPr txBox="1"/>
          <p:nvPr/>
        </p:nvSpPr>
        <p:spPr>
          <a:xfrm>
            <a:off x="5760720" y="4041648"/>
            <a:ext cx="1965960" cy="365760"/>
          </a:xfrm>
          <a:prstGeom prst="rect">
            <a:avLst/>
          </a:prstGeom>
          <a:noFill/>
          <a:ln/>
        </p:spPr>
        <p:txBody>
          <a:bodyPr wrap="square" lIns="0" tIns="0" rIns="0" bIns="0" rtlCol="0" anchor="t"/>
          <a:lstStyle/>
          <a:p>
            <a:pPr algn="ctr" indent="0" marL="0">
              <a:buNone/>
            </a:pPr>
            <a:r>
              <a:rPr lang="en-US" sz="1250" dirty="0">
                <a:solidFill>
                  <a:srgbClr val="5A5A5A"/>
                </a:solidFill>
                <a:latin typeface="Arial" pitchFamily="34" charset="0"/>
                <a:ea typeface="Arial" pitchFamily="34" charset="-122"/>
                <a:cs typeface="Arial" pitchFamily="34" charset="-120"/>
              </a:rPr>
              <a:t>four digits, the same on any device</a:t>
            </a:r>
            <a:endParaRPr lang="en-US" sz="1250" dirty="0"/>
          </a:p>
        </p:txBody>
      </p:sp>
      <p:sp>
        <p:nvSpPr>
          <p:cNvPr id="25" name="Shape 19"/>
          <p:cNvSpPr/>
          <p:nvPr/>
        </p:nvSpPr>
        <p:spPr>
          <a:xfrm>
            <a:off x="8458200" y="1737360"/>
            <a:ext cx="3108960" cy="2057400"/>
          </a:xfrm>
          <a:prstGeom prst="roundRect">
            <a:avLst>
              <a:gd name="adj" fmla="val 3556"/>
            </a:avLst>
          </a:prstGeom>
          <a:solidFill>
            <a:srgbClr val="1F2A33"/>
          </a:solidFill>
          <a:ln/>
        </p:spPr>
      </p:sp>
      <p:sp>
        <p:nvSpPr>
          <p:cNvPr id="26" name="Shape 20"/>
          <p:cNvSpPr/>
          <p:nvPr/>
        </p:nvSpPr>
        <p:spPr>
          <a:xfrm>
            <a:off x="9372600" y="2011680"/>
            <a:ext cx="1280160" cy="1280160"/>
          </a:xfrm>
          <a:prstGeom prst="roundRect">
            <a:avLst>
              <a:gd name="adj" fmla="val 4286"/>
            </a:avLst>
          </a:prstGeom>
          <a:solidFill>
            <a:srgbClr val="FFFFFF"/>
          </a:solidFill>
          <a:ln/>
        </p:spPr>
      </p:sp>
      <p:pic>
        <p:nvPicPr>
          <p:cNvPr id="27" name="Image 4" descr="/private/tmp/claude-501/-Users-salehhamed-Outcome-Engine/91861432-41e2-4884-bc97-63c6dff2d021/scratchpad/wk/icons/TbQrcode-ink.png">    </p:cNvPr>
          <p:cNvPicPr>
            <a:picLocks noChangeAspect="1"/>
          </p:cNvPicPr>
          <p:nvPr/>
        </p:nvPicPr>
        <p:blipFill>
          <a:blip r:embed="rId7"/>
          <a:stretch>
            <a:fillRect/>
          </a:stretch>
        </p:blipFill>
        <p:spPr>
          <a:xfrm>
            <a:off x="9464040" y="2103120"/>
            <a:ext cx="1097280" cy="1097280"/>
          </a:xfrm>
          <a:prstGeom prst="rect">
            <a:avLst/>
          </a:prstGeom>
        </p:spPr>
      </p:pic>
      <p:sp>
        <p:nvSpPr>
          <p:cNvPr id="28" name="Text 21"/>
          <p:cNvSpPr txBox="1"/>
          <p:nvPr/>
        </p:nvSpPr>
        <p:spPr>
          <a:xfrm>
            <a:off x="8458200" y="3337560"/>
            <a:ext cx="3108960" cy="36576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Join on your phone</a:t>
            </a:r>
            <a:endParaRPr lang="en-US" sz="1100" dirty="0"/>
          </a:p>
        </p:txBody>
      </p:sp>
      <p:sp>
        <p:nvSpPr>
          <p:cNvPr id="29" name="Shape 22"/>
          <p:cNvSpPr/>
          <p:nvPr/>
        </p:nvSpPr>
        <p:spPr>
          <a:xfrm>
            <a:off x="9875520" y="3794760"/>
            <a:ext cx="274320" cy="292608"/>
          </a:xfrm>
          <a:prstGeom prst="rect">
            <a:avLst/>
          </a:prstGeom>
          <a:solidFill>
            <a:srgbClr val="8A94A4"/>
          </a:solidFill>
          <a:ln/>
        </p:spPr>
      </p:sp>
      <p:sp>
        <p:nvSpPr>
          <p:cNvPr id="30" name="Shape 23"/>
          <p:cNvSpPr/>
          <p:nvPr/>
        </p:nvSpPr>
        <p:spPr>
          <a:xfrm>
            <a:off x="9464040" y="4087368"/>
            <a:ext cx="1097280" cy="91440"/>
          </a:xfrm>
          <a:prstGeom prst="roundRect">
            <a:avLst>
              <a:gd name="adj" fmla="val 50000"/>
            </a:avLst>
          </a:prstGeom>
          <a:solidFill>
            <a:srgbClr val="8A94A4"/>
          </a:solidFill>
          <a:ln/>
        </p:spPr>
      </p:sp>
      <p:sp>
        <p:nvSpPr>
          <p:cNvPr id="31" name="Text 24"/>
          <p:cNvSpPr txBox="1"/>
          <p:nvPr/>
        </p:nvSpPr>
        <p:spPr>
          <a:xfrm>
            <a:off x="8366760" y="4224528"/>
            <a:ext cx="3291840" cy="365760"/>
          </a:xfrm>
          <a:prstGeom prst="rect">
            <a:avLst/>
          </a:prstGeom>
          <a:noFill/>
          <a:ln/>
        </p:spPr>
        <p:txBody>
          <a:bodyPr wrap="square" lIns="0" tIns="0" rIns="0" bIns="0" rtlCol="0" anchor="t"/>
          <a:lstStyle/>
          <a:p>
            <a:pPr algn="ctr" indent="0" marL="0">
              <a:buNone/>
            </a:pPr>
            <a:r>
              <a:rPr lang="en-US" sz="1300" dirty="0">
                <a:solidFill>
                  <a:srgbClr val="5A5A5A"/>
                </a:solidFill>
                <a:latin typeface="Arial" pitchFamily="34" charset="0"/>
                <a:ea typeface="Arial" pitchFamily="34" charset="-122"/>
                <a:cs typeface="Arial" pitchFamily="34" charset="-120"/>
              </a:rPr>
              <a:t>The code is on the room screen</a:t>
            </a:r>
            <a:endParaRPr lang="en-US" sz="1300" dirty="0"/>
          </a:p>
        </p:txBody>
      </p:sp>
      <p:sp>
        <p:nvSpPr>
          <p:cNvPr id="32" name="Shape 25"/>
          <p:cNvSpPr/>
          <p:nvPr/>
        </p:nvSpPr>
        <p:spPr>
          <a:xfrm>
            <a:off x="548640" y="4892040"/>
            <a:ext cx="11091672" cy="1005840"/>
          </a:xfrm>
          <a:prstGeom prst="roundRect">
            <a:avLst>
              <a:gd name="adj" fmla="val 9091"/>
            </a:avLst>
          </a:prstGeom>
          <a:solidFill>
            <a:srgbClr val="EEF6F7"/>
          </a:solidFill>
          <a:ln/>
        </p:spPr>
      </p:sp>
      <p:pic>
        <p:nvPicPr>
          <p:cNvPr id="33" name="Image 5" descr="/private/tmp/claude-501/-Users-salehhamed-Outcome-Engine/91861432-41e2-4884-bc97-63c6dff2d021/scratchpad/wk/icons/TbDeviceMobile-teal.png">    </p:cNvPr>
          <p:cNvPicPr>
            <a:picLocks noChangeAspect="1"/>
          </p:cNvPicPr>
          <p:nvPr/>
        </p:nvPicPr>
        <p:blipFill>
          <a:blip r:embed="rId8"/>
          <a:stretch>
            <a:fillRect/>
          </a:stretch>
        </p:blipFill>
        <p:spPr>
          <a:xfrm>
            <a:off x="777240" y="5074920"/>
            <a:ext cx="640080" cy="640080"/>
          </a:xfrm>
          <a:prstGeom prst="rect">
            <a:avLst/>
          </a:prstGeom>
        </p:spPr>
      </p:pic>
      <p:sp>
        <p:nvSpPr>
          <p:cNvPr id="34" name="Text 26"/>
          <p:cNvSpPr txBox="1"/>
          <p:nvPr/>
        </p:nvSpPr>
        <p:spPr>
          <a:xfrm>
            <a:off x="1600200" y="4892040"/>
            <a:ext cx="9875520" cy="1005840"/>
          </a:xfrm>
          <a:prstGeom prst="rect">
            <a:avLst/>
          </a:prstGeom>
          <a:noFill/>
          <a:ln/>
        </p:spPr>
        <p:txBody>
          <a:bodyPr wrap="square" lIns="0" tIns="0" rIns="0" bIns="0" rtlCol="0" anchor="ctr"/>
          <a:lstStyle/>
          <a:p>
            <a:pPr indent="0" marL="0">
              <a:buNone/>
            </a:pPr>
            <a:r>
              <a:rPr lang="en-US" sz="1500" b="1" dirty="0">
                <a:solidFill>
                  <a:srgbClr val="287079"/>
                </a:solidFill>
                <a:latin typeface="Arial" pitchFamily="34" charset="0"/>
                <a:ea typeface="Arial" pitchFamily="34" charset="-122"/>
                <a:cs typeface="Arial" pitchFamily="34" charset="-120"/>
              </a:rPr>
              <a:t>No phone? </a:t>
            </a:r>
            <a:pPr indent="0" marL="0">
              <a:buNone/>
            </a:pPr>
            <a:r>
              <a:rPr lang="en-US" sz="1500" dirty="0">
                <a:solidFill>
                  <a:srgbClr val="1F2A33"/>
                </a:solidFill>
                <a:latin typeface="Arial" pitchFamily="34" charset="0"/>
                <a:ea typeface="Arial" pitchFamily="34" charset="-122"/>
                <a:cs typeface="Arial" pitchFamily="34" charset="-120"/>
              </a:rPr>
              <a:t>Use a paper card on your table. Every activity works on paper too.</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ARRIVAL · ONE NOTE EACH</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Where did your last deal get stuck?</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08:30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5</a:t>
            </a:r>
            <a:endParaRPr lang="en-US" sz="1000" dirty="0"/>
          </a:p>
        </p:txBody>
      </p:sp>
      <p:sp>
        <p:nvSpPr>
          <p:cNvPr id="7" name="Shape 4"/>
          <p:cNvSpPr/>
          <p:nvPr/>
        </p:nvSpPr>
        <p:spPr>
          <a:xfrm>
            <a:off x="548640" y="1691640"/>
            <a:ext cx="1443446" cy="1828800"/>
          </a:xfrm>
          <a:prstGeom prst="roundRect">
            <a:avLst>
              <a:gd name="adj" fmla="val 6335"/>
            </a:avLst>
          </a:prstGeom>
          <a:solidFill>
            <a:srgbClr val="FFFFFF"/>
          </a:solidFill>
          <a:ln w="12700">
            <a:solidFill>
              <a:srgbClr val="D9DEE2"/>
            </a:solidFill>
            <a:prstDash val="solid"/>
          </a:ln>
        </p:spPr>
      </p:sp>
      <p:sp>
        <p:nvSpPr>
          <p:cNvPr id="8" name="Shape 5"/>
          <p:cNvSpPr/>
          <p:nvPr/>
        </p:nvSpPr>
        <p:spPr>
          <a:xfrm>
            <a:off x="685800" y="1828800"/>
            <a:ext cx="384048" cy="384048"/>
          </a:xfrm>
          <a:prstGeom prst="ellipse">
            <a:avLst/>
          </a:prstGeom>
          <a:solidFill>
            <a:srgbClr val="FF462D"/>
          </a:solidFill>
          <a:ln/>
        </p:spPr>
      </p:sp>
      <p:sp>
        <p:nvSpPr>
          <p:cNvPr id="9" name="Text 6"/>
          <p:cNvSpPr txBox="1"/>
          <p:nvPr/>
        </p:nvSpPr>
        <p:spPr>
          <a:xfrm>
            <a:off x="685800"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pic>
        <p:nvPicPr>
          <p:cNvPr id="10" name="Image 1" descr="/private/tmp/claude-501/-Users-salehhamed-Outcome-Engine/91861432-41e2-4884-bc97-63c6dff2d021/scratchpad/wk/icons/TbBuildingSkyscraper-teal.png">    </p:cNvPr>
          <p:cNvPicPr>
            <a:picLocks noChangeAspect="1"/>
          </p:cNvPicPr>
          <p:nvPr/>
        </p:nvPicPr>
        <p:blipFill>
          <a:blip r:embed="rId4"/>
          <a:stretch>
            <a:fillRect/>
          </a:stretch>
        </p:blipFill>
        <p:spPr>
          <a:xfrm>
            <a:off x="1425158" y="1801368"/>
            <a:ext cx="438912" cy="438912"/>
          </a:xfrm>
          <a:prstGeom prst="rect">
            <a:avLst/>
          </a:prstGeom>
        </p:spPr>
      </p:pic>
      <p:sp>
        <p:nvSpPr>
          <p:cNvPr id="11" name="Text 7"/>
          <p:cNvSpPr txBox="1"/>
          <p:nvPr/>
        </p:nvSpPr>
        <p:spPr>
          <a:xfrm>
            <a:off x="685800" y="2377440"/>
            <a:ext cx="1169126" cy="105156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Demand emerges</a:t>
            </a:r>
            <a:endParaRPr lang="en-US" sz="1500" dirty="0"/>
          </a:p>
        </p:txBody>
      </p:sp>
      <p:sp>
        <p:nvSpPr>
          <p:cNvPr id="12" name="Text 8"/>
          <p:cNvSpPr txBox="1"/>
          <p:nvPr/>
        </p:nvSpPr>
        <p:spPr>
          <a:xfrm>
            <a:off x="1973798" y="2423160"/>
            <a:ext cx="201168" cy="365760"/>
          </a:xfrm>
          <a:prstGeom prst="rect">
            <a:avLst/>
          </a:prstGeom>
          <a:noFill/>
          <a:ln/>
        </p:spPr>
        <p:txBody>
          <a:bodyPr wrap="square" lIns="0" tIns="0" rIns="0" bIns="0" rtlCol="0" anchor="t"/>
          <a:lstStyle/>
          <a:p>
            <a:pPr algn="ctr" indent="0" marL="0">
              <a:buNone/>
            </a:pPr>
            <a:r>
              <a:rPr lang="en-US" sz="1800" b="1" dirty="0">
                <a:solidFill>
                  <a:srgbClr val="8A94A4"/>
                </a:solidFill>
                <a:latin typeface="Arial" pitchFamily="34" charset="0"/>
                <a:ea typeface="Arial" pitchFamily="34" charset="-122"/>
                <a:cs typeface="Arial" pitchFamily="34" charset="-120"/>
              </a:rPr>
              <a:t>›</a:t>
            </a:r>
            <a:endParaRPr lang="en-US" sz="1800" dirty="0"/>
          </a:p>
        </p:txBody>
      </p:sp>
      <p:sp>
        <p:nvSpPr>
          <p:cNvPr id="13" name="Shape 9"/>
          <p:cNvSpPr/>
          <p:nvPr/>
        </p:nvSpPr>
        <p:spPr>
          <a:xfrm>
            <a:off x="2156678" y="1691640"/>
            <a:ext cx="1443446" cy="1828800"/>
          </a:xfrm>
          <a:prstGeom prst="roundRect">
            <a:avLst>
              <a:gd name="adj" fmla="val 6335"/>
            </a:avLst>
          </a:prstGeom>
          <a:solidFill>
            <a:srgbClr val="FFFFFF"/>
          </a:solidFill>
          <a:ln w="12700">
            <a:solidFill>
              <a:srgbClr val="D9DEE2"/>
            </a:solidFill>
            <a:prstDash val="solid"/>
          </a:ln>
        </p:spPr>
      </p:sp>
      <p:sp>
        <p:nvSpPr>
          <p:cNvPr id="14" name="Shape 10"/>
          <p:cNvSpPr/>
          <p:nvPr/>
        </p:nvSpPr>
        <p:spPr>
          <a:xfrm>
            <a:off x="2293838" y="1828800"/>
            <a:ext cx="384048" cy="384048"/>
          </a:xfrm>
          <a:prstGeom prst="ellipse">
            <a:avLst/>
          </a:prstGeom>
          <a:solidFill>
            <a:srgbClr val="FF462D"/>
          </a:solidFill>
          <a:ln/>
        </p:spPr>
      </p:sp>
      <p:sp>
        <p:nvSpPr>
          <p:cNvPr id="15" name="Text 11"/>
          <p:cNvSpPr txBox="1"/>
          <p:nvPr/>
        </p:nvSpPr>
        <p:spPr>
          <a:xfrm>
            <a:off x="2293838"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pic>
        <p:nvPicPr>
          <p:cNvPr id="16" name="Image 2" descr="/private/tmp/claude-501/-Users-salehhamed-Outcome-Engine/91861432-41e2-4884-bc97-63c6dff2d021/scratchpad/wk/icons/TbFileText-teal.png">    </p:cNvPr>
          <p:cNvPicPr>
            <a:picLocks noChangeAspect="1"/>
          </p:cNvPicPr>
          <p:nvPr/>
        </p:nvPicPr>
        <p:blipFill>
          <a:blip r:embed="rId5"/>
          <a:stretch>
            <a:fillRect/>
          </a:stretch>
        </p:blipFill>
        <p:spPr>
          <a:xfrm>
            <a:off x="3033195" y="1801368"/>
            <a:ext cx="438912" cy="438912"/>
          </a:xfrm>
          <a:prstGeom prst="rect">
            <a:avLst/>
          </a:prstGeom>
        </p:spPr>
      </p:pic>
      <p:sp>
        <p:nvSpPr>
          <p:cNvPr id="17" name="Text 12"/>
          <p:cNvSpPr txBox="1"/>
          <p:nvPr/>
        </p:nvSpPr>
        <p:spPr>
          <a:xfrm>
            <a:off x="2293838" y="2377440"/>
            <a:ext cx="1169126" cy="105156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Work becomes a staffing need</a:t>
            </a:r>
            <a:endParaRPr lang="en-US" sz="1500" dirty="0"/>
          </a:p>
        </p:txBody>
      </p:sp>
      <p:sp>
        <p:nvSpPr>
          <p:cNvPr id="18" name="Text 13"/>
          <p:cNvSpPr txBox="1"/>
          <p:nvPr/>
        </p:nvSpPr>
        <p:spPr>
          <a:xfrm>
            <a:off x="3581835" y="2423160"/>
            <a:ext cx="201168" cy="365760"/>
          </a:xfrm>
          <a:prstGeom prst="rect">
            <a:avLst/>
          </a:prstGeom>
          <a:noFill/>
          <a:ln/>
        </p:spPr>
        <p:txBody>
          <a:bodyPr wrap="square" lIns="0" tIns="0" rIns="0" bIns="0" rtlCol="0" anchor="t"/>
          <a:lstStyle/>
          <a:p>
            <a:pPr algn="ctr" indent="0" marL="0">
              <a:buNone/>
            </a:pPr>
            <a:r>
              <a:rPr lang="en-US" sz="1800" b="1" dirty="0">
                <a:solidFill>
                  <a:srgbClr val="8A94A4"/>
                </a:solidFill>
                <a:latin typeface="Arial" pitchFamily="34" charset="0"/>
                <a:ea typeface="Arial" pitchFamily="34" charset="-122"/>
                <a:cs typeface="Arial" pitchFamily="34" charset="-120"/>
              </a:rPr>
              <a:t>›</a:t>
            </a:r>
            <a:endParaRPr lang="en-US" sz="1800" dirty="0"/>
          </a:p>
        </p:txBody>
      </p:sp>
      <p:sp>
        <p:nvSpPr>
          <p:cNvPr id="19" name="Shape 14"/>
          <p:cNvSpPr/>
          <p:nvPr/>
        </p:nvSpPr>
        <p:spPr>
          <a:xfrm>
            <a:off x="3764715" y="1691640"/>
            <a:ext cx="1443446" cy="1828800"/>
          </a:xfrm>
          <a:prstGeom prst="roundRect">
            <a:avLst>
              <a:gd name="adj" fmla="val 6335"/>
            </a:avLst>
          </a:prstGeom>
          <a:solidFill>
            <a:srgbClr val="FFFFFF"/>
          </a:solidFill>
          <a:ln w="12700">
            <a:solidFill>
              <a:srgbClr val="D9DEE2"/>
            </a:solidFill>
            <a:prstDash val="solid"/>
          </a:ln>
        </p:spPr>
      </p:sp>
      <p:sp>
        <p:nvSpPr>
          <p:cNvPr id="20" name="Shape 15"/>
          <p:cNvSpPr/>
          <p:nvPr/>
        </p:nvSpPr>
        <p:spPr>
          <a:xfrm>
            <a:off x="3901875" y="1828800"/>
            <a:ext cx="384048" cy="384048"/>
          </a:xfrm>
          <a:prstGeom prst="ellipse">
            <a:avLst/>
          </a:prstGeom>
          <a:solidFill>
            <a:srgbClr val="FF462D"/>
          </a:solidFill>
          <a:ln/>
        </p:spPr>
      </p:sp>
      <p:sp>
        <p:nvSpPr>
          <p:cNvPr id="21" name="Text 16"/>
          <p:cNvSpPr txBox="1"/>
          <p:nvPr/>
        </p:nvSpPr>
        <p:spPr>
          <a:xfrm>
            <a:off x="3901875"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pic>
        <p:nvPicPr>
          <p:cNvPr id="22" name="Image 3" descr="/private/tmp/claude-501/-Users-salehhamed-Outcome-Engine/91861432-41e2-4884-bc97-63c6dff2d021/scratchpad/wk/icons/TbInbox-teal.png">    </p:cNvPr>
          <p:cNvPicPr>
            <a:picLocks noChangeAspect="1"/>
          </p:cNvPicPr>
          <p:nvPr/>
        </p:nvPicPr>
        <p:blipFill>
          <a:blip r:embed="rId6"/>
          <a:stretch>
            <a:fillRect/>
          </a:stretch>
        </p:blipFill>
        <p:spPr>
          <a:xfrm>
            <a:off x="4641233" y="1801368"/>
            <a:ext cx="438912" cy="438912"/>
          </a:xfrm>
          <a:prstGeom prst="rect">
            <a:avLst/>
          </a:prstGeom>
        </p:spPr>
      </p:pic>
      <p:sp>
        <p:nvSpPr>
          <p:cNvPr id="23" name="Text 17"/>
          <p:cNvSpPr txBox="1"/>
          <p:nvPr/>
        </p:nvSpPr>
        <p:spPr>
          <a:xfrm>
            <a:off x="3901875" y="2377440"/>
            <a:ext cx="1169126" cy="105156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Staffing sees the request</a:t>
            </a:r>
            <a:endParaRPr lang="en-US" sz="1500" dirty="0"/>
          </a:p>
        </p:txBody>
      </p:sp>
      <p:sp>
        <p:nvSpPr>
          <p:cNvPr id="24" name="Text 18"/>
          <p:cNvSpPr txBox="1"/>
          <p:nvPr/>
        </p:nvSpPr>
        <p:spPr>
          <a:xfrm>
            <a:off x="5189873" y="2423160"/>
            <a:ext cx="201168" cy="365760"/>
          </a:xfrm>
          <a:prstGeom prst="rect">
            <a:avLst/>
          </a:prstGeom>
          <a:noFill/>
          <a:ln/>
        </p:spPr>
        <p:txBody>
          <a:bodyPr wrap="square" lIns="0" tIns="0" rIns="0" bIns="0" rtlCol="0" anchor="t"/>
          <a:lstStyle/>
          <a:p>
            <a:pPr algn="ctr" indent="0" marL="0">
              <a:buNone/>
            </a:pPr>
            <a:r>
              <a:rPr lang="en-US" sz="1800" b="1" dirty="0">
                <a:solidFill>
                  <a:srgbClr val="8A94A4"/>
                </a:solidFill>
                <a:latin typeface="Arial" pitchFamily="34" charset="0"/>
                <a:ea typeface="Arial" pitchFamily="34" charset="-122"/>
                <a:cs typeface="Arial" pitchFamily="34" charset="-120"/>
              </a:rPr>
              <a:t>›</a:t>
            </a:r>
            <a:endParaRPr lang="en-US" sz="1800" dirty="0"/>
          </a:p>
        </p:txBody>
      </p:sp>
      <p:sp>
        <p:nvSpPr>
          <p:cNvPr id="25" name="Shape 19"/>
          <p:cNvSpPr/>
          <p:nvPr/>
        </p:nvSpPr>
        <p:spPr>
          <a:xfrm>
            <a:off x="5372753" y="1691640"/>
            <a:ext cx="1443446" cy="1828800"/>
          </a:xfrm>
          <a:prstGeom prst="roundRect">
            <a:avLst>
              <a:gd name="adj" fmla="val 6335"/>
            </a:avLst>
          </a:prstGeom>
          <a:solidFill>
            <a:srgbClr val="FFFFFF"/>
          </a:solidFill>
          <a:ln w="12700">
            <a:solidFill>
              <a:srgbClr val="D9DEE2"/>
            </a:solidFill>
            <a:prstDash val="solid"/>
          </a:ln>
        </p:spPr>
      </p:sp>
      <p:sp>
        <p:nvSpPr>
          <p:cNvPr id="26" name="Shape 20"/>
          <p:cNvSpPr/>
          <p:nvPr/>
        </p:nvSpPr>
        <p:spPr>
          <a:xfrm>
            <a:off x="5509913" y="1828800"/>
            <a:ext cx="384048" cy="384048"/>
          </a:xfrm>
          <a:prstGeom prst="ellipse">
            <a:avLst/>
          </a:prstGeom>
          <a:solidFill>
            <a:srgbClr val="FF462D"/>
          </a:solidFill>
          <a:ln/>
        </p:spPr>
      </p:sp>
      <p:sp>
        <p:nvSpPr>
          <p:cNvPr id="27" name="Text 21"/>
          <p:cNvSpPr txBox="1"/>
          <p:nvPr/>
        </p:nvSpPr>
        <p:spPr>
          <a:xfrm>
            <a:off x="5509913"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pic>
        <p:nvPicPr>
          <p:cNvPr id="28" name="Image 4" descr="/private/tmp/claude-501/-Users-salehhamed-Outcome-Engine/91861432-41e2-4884-bc97-63c6dff2d021/scratchpad/wk/icons/TbUserSearch-teal.png">    </p:cNvPr>
          <p:cNvPicPr>
            <a:picLocks noChangeAspect="1"/>
          </p:cNvPicPr>
          <p:nvPr/>
        </p:nvPicPr>
        <p:blipFill>
          <a:blip r:embed="rId7"/>
          <a:stretch>
            <a:fillRect/>
          </a:stretch>
        </p:blipFill>
        <p:spPr>
          <a:xfrm>
            <a:off x="6249271" y="1801368"/>
            <a:ext cx="438912" cy="438912"/>
          </a:xfrm>
          <a:prstGeom prst="rect">
            <a:avLst/>
          </a:prstGeom>
        </p:spPr>
      </p:pic>
      <p:sp>
        <p:nvSpPr>
          <p:cNvPr id="29" name="Text 22"/>
          <p:cNvSpPr txBox="1"/>
          <p:nvPr/>
        </p:nvSpPr>
        <p:spPr>
          <a:xfrm>
            <a:off x="5509913" y="2377440"/>
            <a:ext cx="1169126" cy="105156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Who could do it, and who is free</a:t>
            </a:r>
            <a:endParaRPr lang="en-US" sz="1500" dirty="0"/>
          </a:p>
        </p:txBody>
      </p:sp>
      <p:sp>
        <p:nvSpPr>
          <p:cNvPr id="30" name="Text 23"/>
          <p:cNvSpPr txBox="1"/>
          <p:nvPr/>
        </p:nvSpPr>
        <p:spPr>
          <a:xfrm>
            <a:off x="6797911" y="2423160"/>
            <a:ext cx="201168" cy="365760"/>
          </a:xfrm>
          <a:prstGeom prst="rect">
            <a:avLst/>
          </a:prstGeom>
          <a:noFill/>
          <a:ln/>
        </p:spPr>
        <p:txBody>
          <a:bodyPr wrap="square" lIns="0" tIns="0" rIns="0" bIns="0" rtlCol="0" anchor="t"/>
          <a:lstStyle/>
          <a:p>
            <a:pPr algn="ctr" indent="0" marL="0">
              <a:buNone/>
            </a:pPr>
            <a:r>
              <a:rPr lang="en-US" sz="1800" b="1" dirty="0">
                <a:solidFill>
                  <a:srgbClr val="8A94A4"/>
                </a:solidFill>
                <a:latin typeface="Arial" pitchFamily="34" charset="0"/>
                <a:ea typeface="Arial" pitchFamily="34" charset="-122"/>
                <a:cs typeface="Arial" pitchFamily="34" charset="-120"/>
              </a:rPr>
              <a:t>›</a:t>
            </a:r>
            <a:endParaRPr lang="en-US" sz="1800" dirty="0"/>
          </a:p>
        </p:txBody>
      </p:sp>
      <p:sp>
        <p:nvSpPr>
          <p:cNvPr id="31" name="Shape 24"/>
          <p:cNvSpPr/>
          <p:nvPr/>
        </p:nvSpPr>
        <p:spPr>
          <a:xfrm>
            <a:off x="6980791" y="1691640"/>
            <a:ext cx="1443446" cy="1828800"/>
          </a:xfrm>
          <a:prstGeom prst="roundRect">
            <a:avLst>
              <a:gd name="adj" fmla="val 6335"/>
            </a:avLst>
          </a:prstGeom>
          <a:solidFill>
            <a:srgbClr val="FFFFFF"/>
          </a:solidFill>
          <a:ln w="12700">
            <a:solidFill>
              <a:srgbClr val="D9DEE2"/>
            </a:solidFill>
            <a:prstDash val="solid"/>
          </a:ln>
        </p:spPr>
      </p:sp>
      <p:sp>
        <p:nvSpPr>
          <p:cNvPr id="32" name="Shape 25"/>
          <p:cNvSpPr/>
          <p:nvPr/>
        </p:nvSpPr>
        <p:spPr>
          <a:xfrm>
            <a:off x="7117951" y="1828800"/>
            <a:ext cx="384048" cy="384048"/>
          </a:xfrm>
          <a:prstGeom prst="ellipse">
            <a:avLst/>
          </a:prstGeom>
          <a:solidFill>
            <a:srgbClr val="FF462D"/>
          </a:solidFill>
          <a:ln/>
        </p:spPr>
      </p:sp>
      <p:sp>
        <p:nvSpPr>
          <p:cNvPr id="33" name="Text 26"/>
          <p:cNvSpPr txBox="1"/>
          <p:nvPr/>
        </p:nvSpPr>
        <p:spPr>
          <a:xfrm>
            <a:off x="7117951"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pic>
        <p:nvPicPr>
          <p:cNvPr id="34" name="Image 5" descr="/private/tmp/claude-501/-Users-salehhamed-Outcome-Engine/91861432-41e2-4884-bc97-63c6dff2d021/scratchpad/wk/icons/TbDoorExit-teal.png">    </p:cNvPr>
          <p:cNvPicPr>
            <a:picLocks noChangeAspect="1"/>
          </p:cNvPicPr>
          <p:nvPr/>
        </p:nvPicPr>
        <p:blipFill>
          <a:blip r:embed="rId8"/>
          <a:stretch>
            <a:fillRect/>
          </a:stretch>
        </p:blipFill>
        <p:spPr>
          <a:xfrm>
            <a:off x="7857309" y="1801368"/>
            <a:ext cx="438912" cy="438912"/>
          </a:xfrm>
          <a:prstGeom prst="rect">
            <a:avLst/>
          </a:prstGeom>
        </p:spPr>
      </p:pic>
      <p:sp>
        <p:nvSpPr>
          <p:cNvPr id="35" name="Text 27"/>
          <p:cNvSpPr txBox="1"/>
          <p:nvPr/>
        </p:nvSpPr>
        <p:spPr>
          <a:xfrm>
            <a:off x="7117951" y="2377440"/>
            <a:ext cx="1169126" cy="105156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Can they actually start</a:t>
            </a:r>
            <a:endParaRPr lang="en-US" sz="1500" dirty="0"/>
          </a:p>
        </p:txBody>
      </p:sp>
      <p:sp>
        <p:nvSpPr>
          <p:cNvPr id="36" name="Text 28"/>
          <p:cNvSpPr txBox="1"/>
          <p:nvPr/>
        </p:nvSpPr>
        <p:spPr>
          <a:xfrm>
            <a:off x="8405949" y="2423160"/>
            <a:ext cx="201168" cy="365760"/>
          </a:xfrm>
          <a:prstGeom prst="rect">
            <a:avLst/>
          </a:prstGeom>
          <a:noFill/>
          <a:ln/>
        </p:spPr>
        <p:txBody>
          <a:bodyPr wrap="square" lIns="0" tIns="0" rIns="0" bIns="0" rtlCol="0" anchor="t"/>
          <a:lstStyle/>
          <a:p>
            <a:pPr algn="ctr" indent="0" marL="0">
              <a:buNone/>
            </a:pPr>
            <a:r>
              <a:rPr lang="en-US" sz="1800" b="1" dirty="0">
                <a:solidFill>
                  <a:srgbClr val="8A94A4"/>
                </a:solidFill>
                <a:latin typeface="Arial" pitchFamily="34" charset="0"/>
                <a:ea typeface="Arial" pitchFamily="34" charset="-122"/>
                <a:cs typeface="Arial" pitchFamily="34" charset="-120"/>
              </a:rPr>
              <a:t>›</a:t>
            </a:r>
            <a:endParaRPr lang="en-US" sz="1800" dirty="0"/>
          </a:p>
        </p:txBody>
      </p:sp>
      <p:sp>
        <p:nvSpPr>
          <p:cNvPr id="37" name="Shape 29"/>
          <p:cNvSpPr/>
          <p:nvPr/>
        </p:nvSpPr>
        <p:spPr>
          <a:xfrm>
            <a:off x="8588829" y="1691640"/>
            <a:ext cx="1443446" cy="1828800"/>
          </a:xfrm>
          <a:prstGeom prst="roundRect">
            <a:avLst>
              <a:gd name="adj" fmla="val 6335"/>
            </a:avLst>
          </a:prstGeom>
          <a:solidFill>
            <a:srgbClr val="FFFFFF"/>
          </a:solidFill>
          <a:ln w="12700">
            <a:solidFill>
              <a:srgbClr val="D9DEE2"/>
            </a:solidFill>
            <a:prstDash val="solid"/>
          </a:ln>
        </p:spPr>
      </p:sp>
      <p:sp>
        <p:nvSpPr>
          <p:cNvPr id="38" name="Shape 30"/>
          <p:cNvSpPr/>
          <p:nvPr/>
        </p:nvSpPr>
        <p:spPr>
          <a:xfrm>
            <a:off x="8725989" y="1828800"/>
            <a:ext cx="384048" cy="384048"/>
          </a:xfrm>
          <a:prstGeom prst="ellipse">
            <a:avLst/>
          </a:prstGeom>
          <a:solidFill>
            <a:srgbClr val="FF462D"/>
          </a:solidFill>
          <a:ln/>
        </p:spPr>
      </p:sp>
      <p:sp>
        <p:nvSpPr>
          <p:cNvPr id="39" name="Text 31"/>
          <p:cNvSpPr txBox="1"/>
          <p:nvPr/>
        </p:nvSpPr>
        <p:spPr>
          <a:xfrm>
            <a:off x="8725989"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pic>
        <p:nvPicPr>
          <p:cNvPr id="40" name="Image 6" descr="/private/tmp/claude-501/-Users-salehhamed-Outcome-Engine/91861432-41e2-4884-bc97-63c6dff2d021/scratchpad/wk/icons/TbUserQuestion-teal.png">    </p:cNvPr>
          <p:cNvPicPr>
            <a:picLocks noChangeAspect="1"/>
          </p:cNvPicPr>
          <p:nvPr/>
        </p:nvPicPr>
        <p:blipFill>
          <a:blip r:embed="rId9"/>
          <a:stretch>
            <a:fillRect/>
          </a:stretch>
        </p:blipFill>
        <p:spPr>
          <a:xfrm>
            <a:off x="9465346" y="1801368"/>
            <a:ext cx="438912" cy="438912"/>
          </a:xfrm>
          <a:prstGeom prst="rect">
            <a:avLst/>
          </a:prstGeom>
        </p:spPr>
      </p:pic>
      <p:sp>
        <p:nvSpPr>
          <p:cNvPr id="41" name="Text 32"/>
          <p:cNvSpPr txBox="1"/>
          <p:nvPr/>
        </p:nvSpPr>
        <p:spPr>
          <a:xfrm>
            <a:off x="8725989" y="2377440"/>
            <a:ext cx="1169126" cy="105156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Is there a real gap</a:t>
            </a:r>
            <a:endParaRPr lang="en-US" sz="1500" dirty="0"/>
          </a:p>
        </p:txBody>
      </p:sp>
      <p:sp>
        <p:nvSpPr>
          <p:cNvPr id="42" name="Text 33"/>
          <p:cNvSpPr txBox="1"/>
          <p:nvPr/>
        </p:nvSpPr>
        <p:spPr>
          <a:xfrm>
            <a:off x="10013986" y="2423160"/>
            <a:ext cx="201168" cy="365760"/>
          </a:xfrm>
          <a:prstGeom prst="rect">
            <a:avLst/>
          </a:prstGeom>
          <a:noFill/>
          <a:ln/>
        </p:spPr>
        <p:txBody>
          <a:bodyPr wrap="square" lIns="0" tIns="0" rIns="0" bIns="0" rtlCol="0" anchor="t"/>
          <a:lstStyle/>
          <a:p>
            <a:pPr algn="ctr" indent="0" marL="0">
              <a:buNone/>
            </a:pPr>
            <a:r>
              <a:rPr lang="en-US" sz="1800" b="1" dirty="0">
                <a:solidFill>
                  <a:srgbClr val="8A94A4"/>
                </a:solidFill>
                <a:latin typeface="Arial" pitchFamily="34" charset="0"/>
                <a:ea typeface="Arial" pitchFamily="34" charset="-122"/>
                <a:cs typeface="Arial" pitchFamily="34" charset="-120"/>
              </a:rPr>
              <a:t>›</a:t>
            </a:r>
            <a:endParaRPr lang="en-US" sz="1800" dirty="0"/>
          </a:p>
        </p:txBody>
      </p:sp>
      <p:sp>
        <p:nvSpPr>
          <p:cNvPr id="43" name="Shape 34"/>
          <p:cNvSpPr/>
          <p:nvPr/>
        </p:nvSpPr>
        <p:spPr>
          <a:xfrm>
            <a:off x="10196866" y="1691640"/>
            <a:ext cx="1443446" cy="1828800"/>
          </a:xfrm>
          <a:prstGeom prst="roundRect">
            <a:avLst>
              <a:gd name="adj" fmla="val 6335"/>
            </a:avLst>
          </a:prstGeom>
          <a:solidFill>
            <a:srgbClr val="FFFFFF"/>
          </a:solidFill>
          <a:ln w="12700">
            <a:solidFill>
              <a:srgbClr val="D9DEE2"/>
            </a:solidFill>
            <a:prstDash val="solid"/>
          </a:ln>
        </p:spPr>
      </p:sp>
      <p:sp>
        <p:nvSpPr>
          <p:cNvPr id="44" name="Shape 35"/>
          <p:cNvSpPr/>
          <p:nvPr/>
        </p:nvSpPr>
        <p:spPr>
          <a:xfrm>
            <a:off x="10334026" y="1828800"/>
            <a:ext cx="384048" cy="384048"/>
          </a:xfrm>
          <a:prstGeom prst="ellipse">
            <a:avLst/>
          </a:prstGeom>
          <a:solidFill>
            <a:srgbClr val="FF462D"/>
          </a:solidFill>
          <a:ln/>
        </p:spPr>
      </p:sp>
      <p:sp>
        <p:nvSpPr>
          <p:cNvPr id="45" name="Text 36"/>
          <p:cNvSpPr txBox="1"/>
          <p:nvPr/>
        </p:nvSpPr>
        <p:spPr>
          <a:xfrm>
            <a:off x="10334026"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pic>
        <p:nvPicPr>
          <p:cNvPr id="46" name="Image 7" descr="/private/tmp/claude-501/-Users-salehhamed-Outcome-Engine/91861432-41e2-4884-bc97-63c6dff2d021/scratchpad/wk/icons/TbRocket-teal.png">    </p:cNvPr>
          <p:cNvPicPr>
            <a:picLocks noChangeAspect="1"/>
          </p:cNvPicPr>
          <p:nvPr/>
        </p:nvPicPr>
        <p:blipFill>
          <a:blip r:embed="rId10"/>
          <a:stretch>
            <a:fillRect/>
          </a:stretch>
        </p:blipFill>
        <p:spPr>
          <a:xfrm>
            <a:off x="11073384" y="1801368"/>
            <a:ext cx="438912" cy="438912"/>
          </a:xfrm>
          <a:prstGeom prst="rect">
            <a:avLst/>
          </a:prstGeom>
        </p:spPr>
      </p:pic>
      <p:sp>
        <p:nvSpPr>
          <p:cNvPr id="47" name="Text 37"/>
          <p:cNvSpPr txBox="1"/>
          <p:nvPr/>
        </p:nvSpPr>
        <p:spPr>
          <a:xfrm>
            <a:off x="10334026" y="2377440"/>
            <a:ext cx="1169126" cy="105156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The gap goes to action</a:t>
            </a:r>
            <a:endParaRPr lang="en-US" sz="1500" dirty="0"/>
          </a:p>
        </p:txBody>
      </p:sp>
      <p:pic>
        <p:nvPicPr>
          <p:cNvPr id="48" name="Image 8" descr="/private/tmp/claude-501/-Users-salehhamed-Outcome-Engine/91861432-41e2-4884-bc97-63c6dff2d021/scratchpad/wk/icons/TbPin-red.png">    </p:cNvPr>
          <p:cNvPicPr>
            <a:picLocks noChangeAspect="1"/>
          </p:cNvPicPr>
          <p:nvPr/>
        </p:nvPicPr>
        <p:blipFill>
          <a:blip r:embed="rId11"/>
          <a:stretch>
            <a:fillRect/>
          </a:stretch>
        </p:blipFill>
        <p:spPr>
          <a:xfrm>
            <a:off x="548640" y="3977640"/>
            <a:ext cx="548640" cy="548640"/>
          </a:xfrm>
          <a:prstGeom prst="rect">
            <a:avLst/>
          </a:prstGeom>
        </p:spPr>
      </p:pic>
      <p:sp>
        <p:nvSpPr>
          <p:cNvPr id="49" name="Text 38"/>
          <p:cNvSpPr txBox="1"/>
          <p:nvPr/>
        </p:nvSpPr>
        <p:spPr>
          <a:xfrm>
            <a:off x="1280160" y="3931920"/>
            <a:ext cx="10058400" cy="640080"/>
          </a:xfrm>
          <a:prstGeom prst="rect">
            <a:avLst/>
          </a:prstGeom>
          <a:noFill/>
          <a:ln/>
        </p:spPr>
        <p:txBody>
          <a:bodyPr wrap="square" lIns="0" tIns="0" rIns="0" bIns="0" rtlCol="0" anchor="ctr"/>
          <a:lstStyle/>
          <a:p>
            <a:pPr indent="0" marL="0">
              <a:buNone/>
            </a:pPr>
            <a:r>
              <a:rPr lang="en-US" sz="2200" b="1" dirty="0">
                <a:solidFill>
                  <a:srgbClr val="1F2A33"/>
                </a:solidFill>
                <a:latin typeface="Arial" pitchFamily="34" charset="0"/>
                <a:ea typeface="Arial" pitchFamily="34" charset="-122"/>
                <a:cs typeface="Arial" pitchFamily="34" charset="-120"/>
              </a:rPr>
              <a:t>Write it on a note. Put it on the stage where it got stuck.</a:t>
            </a:r>
            <a:endParaRPr lang="en-US" sz="2200" dirty="0"/>
          </a:p>
        </p:txBody>
      </p:sp>
      <p:sp>
        <p:nvSpPr>
          <p:cNvPr id="50" name="Text 39"/>
          <p:cNvSpPr txBox="1"/>
          <p:nvPr/>
        </p:nvSpPr>
        <p:spPr>
          <a:xfrm>
            <a:off x="1280160" y="4617720"/>
            <a:ext cx="10058400" cy="457200"/>
          </a:xfrm>
          <a:prstGeom prst="rect">
            <a:avLst/>
          </a:prstGeom>
          <a:noFill/>
          <a:ln/>
        </p:spPr>
        <p:txBody>
          <a:bodyPr wrap="square" lIns="0" tIns="0" rIns="0" bIns="0" rtlCol="0" anchor="t"/>
          <a:lstStyle/>
          <a:p>
            <a:pPr indent="0" marL="0">
              <a:buNone/>
            </a:pPr>
            <a:r>
              <a:rPr lang="en-US" sz="1600" dirty="0">
                <a:solidFill>
                  <a:srgbClr val="5A5A5A"/>
                </a:solidFill>
                <a:latin typeface="Arial" pitchFamily="34" charset="0"/>
                <a:ea typeface="Arial" pitchFamily="34" charset="-122"/>
                <a:cs typeface="Arial" pitchFamily="34" charset="-120"/>
              </a:rPr>
              <a:t>Coffee first. We start at 09:00.</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ARRIVAL</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Three ways to run this session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08:30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6</a:t>
            </a:r>
            <a:endParaRPr lang="en-US" sz="1000" dirty="0"/>
          </a:p>
        </p:txBody>
      </p:sp>
      <p:sp>
        <p:nvSpPr>
          <p:cNvPr id="7" name="Shape 4"/>
          <p:cNvSpPr/>
          <p:nvPr/>
        </p:nvSpPr>
        <p:spPr>
          <a:xfrm>
            <a:off x="548640" y="1463040"/>
            <a:ext cx="3566160" cy="4663440"/>
          </a:xfrm>
          <a:prstGeom prst="roundRect">
            <a:avLst>
              <a:gd name="adj" fmla="val 2051"/>
            </a:avLst>
          </a:prstGeom>
          <a:solidFill>
            <a:srgbClr val="FFFFFF"/>
          </a:solidFill>
          <a:ln w="12700">
            <a:solidFill>
              <a:srgbClr val="D9DEE2"/>
            </a:solidFill>
            <a:prstDash val="solid"/>
          </a:ln>
        </p:spPr>
      </p:sp>
      <p:sp>
        <p:nvSpPr>
          <p:cNvPr id="8" name="Shape 5"/>
          <p:cNvSpPr/>
          <p:nvPr/>
        </p:nvSpPr>
        <p:spPr>
          <a:xfrm>
            <a:off x="548640" y="1463040"/>
            <a:ext cx="3566160" cy="566928"/>
          </a:xfrm>
          <a:prstGeom prst="roundRect">
            <a:avLst>
              <a:gd name="adj" fmla="val 12903"/>
            </a:avLst>
          </a:prstGeom>
          <a:solidFill>
            <a:srgbClr val="287079"/>
          </a:solidFill>
          <a:ln/>
        </p:spPr>
      </p:sp>
      <p:sp>
        <p:nvSpPr>
          <p:cNvPr id="9" name="Shape 6"/>
          <p:cNvSpPr/>
          <p:nvPr/>
        </p:nvSpPr>
        <p:spPr>
          <a:xfrm>
            <a:off x="548640" y="1828800"/>
            <a:ext cx="3566160" cy="201168"/>
          </a:xfrm>
          <a:prstGeom prst="rect">
            <a:avLst/>
          </a:prstGeom>
          <a:solidFill>
            <a:srgbClr val="287079"/>
          </a:solidFill>
          <a:ln/>
        </p:spPr>
      </p:sp>
      <p:pic>
        <p:nvPicPr>
          <p:cNvPr id="10" name="Image 1" descr="/private/tmp/claude-501/-Users-salehhamed-Outcome-Engine/91861432-41e2-4884-bc97-63c6dff2d021/scratchpad/wk/icons/TbHandClick-white.png">    </p:cNvPr>
          <p:cNvPicPr>
            <a:picLocks noChangeAspect="1"/>
          </p:cNvPicPr>
          <p:nvPr/>
        </p:nvPicPr>
        <p:blipFill>
          <a:blip r:embed="rId4"/>
          <a:stretch>
            <a:fillRect/>
          </a:stretch>
        </p:blipFill>
        <p:spPr>
          <a:xfrm>
            <a:off x="713232" y="1554480"/>
            <a:ext cx="384048" cy="384048"/>
          </a:xfrm>
          <a:prstGeom prst="rect">
            <a:avLst/>
          </a:prstGeom>
        </p:spPr>
      </p:pic>
      <p:sp>
        <p:nvSpPr>
          <p:cNvPr id="11" name="Text 7"/>
          <p:cNvSpPr txBox="1"/>
          <p:nvPr/>
        </p:nvSpPr>
        <p:spPr>
          <a:xfrm>
            <a:off x="120700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A · HANDS-ON</a:t>
            </a:r>
            <a:endParaRPr lang="en-US" sz="1150" dirty="0"/>
          </a:p>
        </p:txBody>
      </p:sp>
      <p:sp>
        <p:nvSpPr>
          <p:cNvPr id="12" name="Text 8"/>
          <p:cNvSpPr txBox="1"/>
          <p:nvPr/>
        </p:nvSpPr>
        <p:spPr>
          <a:xfrm>
            <a:off x="77724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The case wall</a:t>
            </a:r>
            <a:endParaRPr lang="en-US" sz="2100" dirty="0"/>
          </a:p>
        </p:txBody>
      </p:sp>
      <p:sp>
        <p:nvSpPr>
          <p:cNvPr id="13" name="Text 9"/>
          <p:cNvSpPr txBox="1"/>
          <p:nvPr/>
        </p:nvSpPr>
        <p:spPr>
          <a:xfrm>
            <a:off x="77724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Each person posts where their last deal got stuck, on the seven-stage wall.</a:t>
            </a:r>
            <a:endParaRPr lang="en-US" sz="1400" dirty="0"/>
          </a:p>
        </p:txBody>
      </p:sp>
      <p:pic>
        <p:nvPicPr>
          <p:cNvPr id="14" name="Image 2" descr="/private/tmp/claude-501/-Users-salehhamed-Outcome-Engine/91861432-41e2-4884-bc97-63c6dff2d021/scratchpad/wk/icons/TbClock-grey.png">    </p:cNvPr>
          <p:cNvPicPr>
            <a:picLocks noChangeAspect="1"/>
          </p:cNvPicPr>
          <p:nvPr/>
        </p:nvPicPr>
        <p:blipFill>
          <a:blip r:embed="rId5"/>
          <a:stretch>
            <a:fillRect/>
          </a:stretch>
        </p:blipFill>
        <p:spPr>
          <a:xfrm>
            <a:off x="777240" y="4297680"/>
            <a:ext cx="274320" cy="274320"/>
          </a:xfrm>
          <a:prstGeom prst="rect">
            <a:avLst/>
          </a:prstGeom>
        </p:spPr>
      </p:pic>
      <p:sp>
        <p:nvSpPr>
          <p:cNvPr id="15" name="Text 10"/>
          <p:cNvSpPr txBox="1"/>
          <p:nvPr/>
        </p:nvSpPr>
        <p:spPr>
          <a:xfrm>
            <a:off x="114300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30 min</a:t>
            </a:r>
            <a:endParaRPr lang="en-US" sz="1200" dirty="0"/>
          </a:p>
        </p:txBody>
      </p:sp>
      <p:pic>
        <p:nvPicPr>
          <p:cNvPr id="16" name="Image 3" descr="/private/tmp/claude-501/-Users-salehhamed-Outcome-Engine/91861432-41e2-4884-bc97-63c6dff2d021/scratchpad/wk/icons/TbUsers-grey.png">    </p:cNvPr>
          <p:cNvPicPr>
            <a:picLocks noChangeAspect="1"/>
          </p:cNvPicPr>
          <p:nvPr/>
        </p:nvPicPr>
        <p:blipFill>
          <a:blip r:embed="rId6"/>
          <a:stretch>
            <a:fillRect/>
          </a:stretch>
        </p:blipFill>
        <p:spPr>
          <a:xfrm>
            <a:off x="777240" y="4681728"/>
            <a:ext cx="274320" cy="274320"/>
          </a:xfrm>
          <a:prstGeom prst="rect">
            <a:avLst/>
          </a:prstGeom>
        </p:spPr>
      </p:pic>
      <p:sp>
        <p:nvSpPr>
          <p:cNvPr id="17" name="Text 11"/>
          <p:cNvSpPr txBox="1"/>
          <p:nvPr/>
        </p:nvSpPr>
        <p:spPr>
          <a:xfrm>
            <a:off x="114300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Each person</a:t>
            </a:r>
            <a:endParaRPr lang="en-US" sz="1200" dirty="0"/>
          </a:p>
        </p:txBody>
      </p:sp>
      <p:pic>
        <p:nvPicPr>
          <p:cNvPr id="18" name="Image 4" descr="/private/tmp/claude-501/-Users-salehhamed-Outcome-Engine/91861432-41e2-4884-bc97-63c6dff2d021/scratchpad/wk/icons/TbGauge-grey.png">    </p:cNvPr>
          <p:cNvPicPr>
            <a:picLocks noChangeAspect="1"/>
          </p:cNvPicPr>
          <p:nvPr/>
        </p:nvPicPr>
        <p:blipFill>
          <a:blip r:embed="rId7"/>
          <a:stretch>
            <a:fillRect/>
          </a:stretch>
        </p:blipFill>
        <p:spPr>
          <a:xfrm>
            <a:off x="777240" y="5065776"/>
            <a:ext cx="274320" cy="274320"/>
          </a:xfrm>
          <a:prstGeom prst="rect">
            <a:avLst/>
          </a:prstGeom>
        </p:spPr>
      </p:pic>
      <p:sp>
        <p:nvSpPr>
          <p:cNvPr id="19" name="Text 12"/>
          <p:cNvSpPr txBox="1"/>
          <p:nvPr/>
        </p:nvSpPr>
        <p:spPr>
          <a:xfrm>
            <a:off x="114300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Calm energy</a:t>
            </a:r>
            <a:endParaRPr lang="en-US" sz="1200" dirty="0"/>
          </a:p>
        </p:txBody>
      </p:sp>
      <p:sp>
        <p:nvSpPr>
          <p:cNvPr id="20" name="Text 13"/>
          <p:cNvSpPr txBox="1"/>
          <p:nvPr/>
        </p:nvSpPr>
        <p:spPr>
          <a:xfrm>
            <a:off x="77724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People arrive in ones and twos.</a:t>
            </a:r>
            <a:endParaRPr lang="en-US" sz="1150" dirty="0"/>
          </a:p>
        </p:txBody>
      </p:sp>
      <p:pic>
        <p:nvPicPr>
          <p:cNvPr id="21" name="Image 5" descr="/private/tmp/claude-501/-Users-salehhamed-Outcome-Engine/91861432-41e2-4884-bc97-63c6dff2d021/scratchpad/wk/brand/clear.png">
            <a:hlinkClick r:id="rId9" tooltip="Option A" action="ppaction://hlinksldjump"/>
          </p:cNvPr>
          <p:cNvPicPr>
            <a:picLocks noChangeAspect="1"/>
          </p:cNvPicPr>
          <p:nvPr/>
        </p:nvPicPr>
        <p:blipFill>
          <a:blip r:embed="rId8"/>
          <a:stretch>
            <a:fillRect/>
          </a:stretch>
        </p:blipFill>
        <p:spPr>
          <a:xfrm>
            <a:off x="548640" y="1463040"/>
            <a:ext cx="3566160" cy="4663440"/>
          </a:xfrm>
          <a:prstGeom prst="rect">
            <a:avLst/>
          </a:prstGeom>
        </p:spPr>
      </p:pic>
      <p:sp>
        <p:nvSpPr>
          <p:cNvPr id="22" name="Shape 14"/>
          <p:cNvSpPr/>
          <p:nvPr/>
        </p:nvSpPr>
        <p:spPr>
          <a:xfrm>
            <a:off x="4297680" y="1463040"/>
            <a:ext cx="3566160" cy="4663440"/>
          </a:xfrm>
          <a:prstGeom prst="roundRect">
            <a:avLst>
              <a:gd name="adj" fmla="val 2051"/>
            </a:avLst>
          </a:prstGeom>
          <a:solidFill>
            <a:srgbClr val="FFFFFF"/>
          </a:solidFill>
          <a:ln w="12700">
            <a:solidFill>
              <a:srgbClr val="D9DEE2"/>
            </a:solidFill>
            <a:prstDash val="solid"/>
          </a:ln>
        </p:spPr>
      </p:sp>
      <p:sp>
        <p:nvSpPr>
          <p:cNvPr id="23" name="Shape 15"/>
          <p:cNvSpPr/>
          <p:nvPr/>
        </p:nvSpPr>
        <p:spPr>
          <a:xfrm>
            <a:off x="4297680" y="1463040"/>
            <a:ext cx="3566160" cy="566928"/>
          </a:xfrm>
          <a:prstGeom prst="roundRect">
            <a:avLst>
              <a:gd name="adj" fmla="val 12903"/>
            </a:avLst>
          </a:prstGeom>
          <a:solidFill>
            <a:srgbClr val="FF462D"/>
          </a:solidFill>
          <a:ln/>
        </p:spPr>
      </p:sp>
      <p:sp>
        <p:nvSpPr>
          <p:cNvPr id="24" name="Shape 16"/>
          <p:cNvSpPr/>
          <p:nvPr/>
        </p:nvSpPr>
        <p:spPr>
          <a:xfrm>
            <a:off x="4297680" y="1828800"/>
            <a:ext cx="3566160" cy="201168"/>
          </a:xfrm>
          <a:prstGeom prst="rect">
            <a:avLst/>
          </a:prstGeom>
          <a:solidFill>
            <a:srgbClr val="FF462D"/>
          </a:solidFill>
          <a:ln/>
        </p:spPr>
      </p:sp>
      <p:pic>
        <p:nvPicPr>
          <p:cNvPr id="25" name="Image 6" descr="/private/tmp/claude-501/-Users-salehhamed-Outcome-Engine/91861432-41e2-4884-bc97-63c6dff2d021/scratchpad/wk/icons/TbDeviceMobile-white.png">    </p:cNvPr>
          <p:cNvPicPr>
            <a:picLocks noChangeAspect="1"/>
          </p:cNvPicPr>
          <p:nvPr/>
        </p:nvPicPr>
        <p:blipFill>
          <a:blip r:embed="rId10"/>
          <a:stretch>
            <a:fillRect/>
          </a:stretch>
        </p:blipFill>
        <p:spPr>
          <a:xfrm>
            <a:off x="4462272" y="1554480"/>
            <a:ext cx="384048" cy="384048"/>
          </a:xfrm>
          <a:prstGeom prst="rect">
            <a:avLst/>
          </a:prstGeom>
        </p:spPr>
      </p:pic>
      <p:sp>
        <p:nvSpPr>
          <p:cNvPr id="26" name="Text 17"/>
          <p:cNvSpPr txBox="1"/>
          <p:nvPr/>
        </p:nvSpPr>
        <p:spPr>
          <a:xfrm>
            <a:off x="495604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B · LIVE VOTING</a:t>
            </a:r>
            <a:endParaRPr lang="en-US" sz="1150" dirty="0"/>
          </a:p>
        </p:txBody>
      </p:sp>
      <p:sp>
        <p:nvSpPr>
          <p:cNvPr id="27" name="Text 18"/>
          <p:cNvSpPr txBox="1"/>
          <p:nvPr/>
        </p:nvSpPr>
        <p:spPr>
          <a:xfrm>
            <a:off x="452628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Join and warm up</a:t>
            </a:r>
            <a:endParaRPr lang="en-US" sz="2100" dirty="0"/>
          </a:p>
        </p:txBody>
      </p:sp>
      <p:sp>
        <p:nvSpPr>
          <p:cNvPr id="28" name="Text 19"/>
          <p:cNvSpPr txBox="1"/>
          <p:nvPr/>
        </p:nvSpPr>
        <p:spPr>
          <a:xfrm>
            <a:off x="452628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Scan the code, join the room, answer two quick questions.</a:t>
            </a:r>
            <a:endParaRPr lang="en-US" sz="1400" dirty="0"/>
          </a:p>
        </p:txBody>
      </p:sp>
      <p:pic>
        <p:nvPicPr>
          <p:cNvPr id="29" name="Image 7" descr="/private/tmp/claude-501/-Users-salehhamed-Outcome-Engine/91861432-41e2-4884-bc97-63c6dff2d021/scratchpad/wk/icons/TbClock-grey.png">    </p:cNvPr>
          <p:cNvPicPr>
            <a:picLocks noChangeAspect="1"/>
          </p:cNvPicPr>
          <p:nvPr/>
        </p:nvPicPr>
        <p:blipFill>
          <a:blip r:embed="rId11"/>
          <a:stretch>
            <a:fillRect/>
          </a:stretch>
        </p:blipFill>
        <p:spPr>
          <a:xfrm>
            <a:off x="4526280" y="4297680"/>
            <a:ext cx="274320" cy="274320"/>
          </a:xfrm>
          <a:prstGeom prst="rect">
            <a:avLst/>
          </a:prstGeom>
        </p:spPr>
      </p:pic>
      <p:sp>
        <p:nvSpPr>
          <p:cNvPr id="30" name="Text 20"/>
          <p:cNvSpPr txBox="1"/>
          <p:nvPr/>
        </p:nvSpPr>
        <p:spPr>
          <a:xfrm>
            <a:off x="489204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30 min</a:t>
            </a:r>
            <a:endParaRPr lang="en-US" sz="1200" dirty="0"/>
          </a:p>
        </p:txBody>
      </p:sp>
      <p:pic>
        <p:nvPicPr>
          <p:cNvPr id="31" name="Image 8" descr="/private/tmp/claude-501/-Users-salehhamed-Outcome-Engine/91861432-41e2-4884-bc97-63c6dff2d021/scratchpad/wk/icons/TbUsers-grey.png">    </p:cNvPr>
          <p:cNvPicPr>
            <a:picLocks noChangeAspect="1"/>
          </p:cNvPicPr>
          <p:nvPr/>
        </p:nvPicPr>
        <p:blipFill>
          <a:blip r:embed="rId12"/>
          <a:stretch>
            <a:fillRect/>
          </a:stretch>
        </p:blipFill>
        <p:spPr>
          <a:xfrm>
            <a:off x="4526280" y="4681728"/>
            <a:ext cx="274320" cy="274320"/>
          </a:xfrm>
          <a:prstGeom prst="rect">
            <a:avLst/>
          </a:prstGeom>
        </p:spPr>
      </p:pic>
      <p:sp>
        <p:nvSpPr>
          <p:cNvPr id="32" name="Text 21"/>
          <p:cNvSpPr txBox="1"/>
          <p:nvPr/>
        </p:nvSpPr>
        <p:spPr>
          <a:xfrm>
            <a:off x="489204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Each person</a:t>
            </a:r>
            <a:endParaRPr lang="en-US" sz="1200" dirty="0"/>
          </a:p>
        </p:txBody>
      </p:sp>
      <p:pic>
        <p:nvPicPr>
          <p:cNvPr id="33" name="Image 9" descr="/private/tmp/claude-501/-Users-salehhamed-Outcome-Engine/91861432-41e2-4884-bc97-63c6dff2d021/scratchpad/wk/icons/TbGauge-grey.png">    </p:cNvPr>
          <p:cNvPicPr>
            <a:picLocks noChangeAspect="1"/>
          </p:cNvPicPr>
          <p:nvPr/>
        </p:nvPicPr>
        <p:blipFill>
          <a:blip r:embed="rId13"/>
          <a:stretch>
            <a:fillRect/>
          </a:stretch>
        </p:blipFill>
        <p:spPr>
          <a:xfrm>
            <a:off x="4526280" y="5065776"/>
            <a:ext cx="274320" cy="274320"/>
          </a:xfrm>
          <a:prstGeom prst="rect">
            <a:avLst/>
          </a:prstGeom>
        </p:spPr>
      </p:pic>
      <p:sp>
        <p:nvSpPr>
          <p:cNvPr id="34" name="Text 22"/>
          <p:cNvSpPr txBox="1"/>
          <p:nvPr/>
        </p:nvSpPr>
        <p:spPr>
          <a:xfrm>
            <a:off x="489204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Calm energy</a:t>
            </a:r>
            <a:endParaRPr lang="en-US" sz="1200" dirty="0"/>
          </a:p>
        </p:txBody>
      </p:sp>
      <p:sp>
        <p:nvSpPr>
          <p:cNvPr id="35" name="Text 23"/>
          <p:cNvSpPr txBox="1"/>
          <p:nvPr/>
        </p:nvSpPr>
        <p:spPr>
          <a:xfrm>
            <a:off x="452628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Most people have a phone, and you plan to use the room screen later.</a:t>
            </a:r>
            <a:endParaRPr lang="en-US" sz="1150" dirty="0"/>
          </a:p>
        </p:txBody>
      </p:sp>
      <p:pic>
        <p:nvPicPr>
          <p:cNvPr id="36" name="Image 10" descr="/private/tmp/claude-501/-Users-salehhamed-Outcome-Engine/91861432-41e2-4884-bc97-63c6dff2d021/scratchpad/wk/brand/clear.png">
            <a:hlinkClick r:id="rId15" tooltip="Option B" action="ppaction://hlinksldjump"/>
          </p:cNvPr>
          <p:cNvPicPr>
            <a:picLocks noChangeAspect="1"/>
          </p:cNvPicPr>
          <p:nvPr/>
        </p:nvPicPr>
        <p:blipFill>
          <a:blip r:embed="rId14"/>
          <a:stretch>
            <a:fillRect/>
          </a:stretch>
        </p:blipFill>
        <p:spPr>
          <a:xfrm>
            <a:off x="4297680" y="1463040"/>
            <a:ext cx="3566160" cy="4663440"/>
          </a:xfrm>
          <a:prstGeom prst="rect">
            <a:avLst/>
          </a:prstGeom>
        </p:spPr>
      </p:pic>
      <p:sp>
        <p:nvSpPr>
          <p:cNvPr id="37" name="Shape 24"/>
          <p:cNvSpPr/>
          <p:nvPr/>
        </p:nvSpPr>
        <p:spPr>
          <a:xfrm>
            <a:off x="8046720" y="1463040"/>
            <a:ext cx="3566160" cy="4663440"/>
          </a:xfrm>
          <a:prstGeom prst="roundRect">
            <a:avLst>
              <a:gd name="adj" fmla="val 2051"/>
            </a:avLst>
          </a:prstGeom>
          <a:solidFill>
            <a:srgbClr val="FFFFFF"/>
          </a:solidFill>
          <a:ln w="12700">
            <a:solidFill>
              <a:srgbClr val="D9DEE2"/>
            </a:solidFill>
            <a:prstDash val="solid"/>
          </a:ln>
        </p:spPr>
      </p:sp>
      <p:sp>
        <p:nvSpPr>
          <p:cNvPr id="38" name="Shape 25"/>
          <p:cNvSpPr/>
          <p:nvPr/>
        </p:nvSpPr>
        <p:spPr>
          <a:xfrm>
            <a:off x="8046720" y="1463040"/>
            <a:ext cx="3566160" cy="566928"/>
          </a:xfrm>
          <a:prstGeom prst="roundRect">
            <a:avLst>
              <a:gd name="adj" fmla="val 12903"/>
            </a:avLst>
          </a:prstGeom>
          <a:solidFill>
            <a:srgbClr val="36454F"/>
          </a:solidFill>
          <a:ln/>
        </p:spPr>
      </p:sp>
      <p:sp>
        <p:nvSpPr>
          <p:cNvPr id="39" name="Shape 26"/>
          <p:cNvSpPr/>
          <p:nvPr/>
        </p:nvSpPr>
        <p:spPr>
          <a:xfrm>
            <a:off x="8046720" y="1828800"/>
            <a:ext cx="3566160" cy="201168"/>
          </a:xfrm>
          <a:prstGeom prst="rect">
            <a:avLst/>
          </a:prstGeom>
          <a:solidFill>
            <a:srgbClr val="36454F"/>
          </a:solidFill>
          <a:ln/>
        </p:spPr>
      </p:sp>
      <p:pic>
        <p:nvPicPr>
          <p:cNvPr id="40" name="Image 11" descr="/private/tmp/claude-501/-Users-salehhamed-Outcome-Engine/91861432-41e2-4884-bc97-63c6dff2d021/scratchpad/wk/icons/TbMasksTheater-white.png">    </p:cNvPr>
          <p:cNvPicPr>
            <a:picLocks noChangeAspect="1"/>
          </p:cNvPicPr>
          <p:nvPr/>
        </p:nvPicPr>
        <p:blipFill>
          <a:blip r:embed="rId16"/>
          <a:stretch>
            <a:fillRect/>
          </a:stretch>
        </p:blipFill>
        <p:spPr>
          <a:xfrm>
            <a:off x="8211312" y="1554480"/>
            <a:ext cx="384048" cy="384048"/>
          </a:xfrm>
          <a:prstGeom prst="rect">
            <a:avLst/>
          </a:prstGeom>
        </p:spPr>
      </p:pic>
      <p:sp>
        <p:nvSpPr>
          <p:cNvPr id="41" name="Text 27"/>
          <p:cNvSpPr txBox="1"/>
          <p:nvPr/>
        </p:nvSpPr>
        <p:spPr>
          <a:xfrm>
            <a:off x="870508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C · CASES AND CONVERSATION</a:t>
            </a:r>
            <a:endParaRPr lang="en-US" sz="1150" dirty="0"/>
          </a:p>
        </p:txBody>
      </p:sp>
      <p:sp>
        <p:nvSpPr>
          <p:cNvPr id="42" name="Text 28"/>
          <p:cNvSpPr txBox="1"/>
          <p:nvPr/>
        </p:nvSpPr>
        <p:spPr>
          <a:xfrm>
            <a:off x="827532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Case swap</a:t>
            </a:r>
            <a:endParaRPr lang="en-US" sz="2100" dirty="0"/>
          </a:p>
        </p:txBody>
      </p:sp>
      <p:sp>
        <p:nvSpPr>
          <p:cNvPr id="43" name="Text 29"/>
          <p:cNvSpPr txBox="1"/>
          <p:nvPr/>
        </p:nvSpPr>
        <p:spPr>
          <a:xfrm>
            <a:off x="827532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Pairs swap one recent staffing case over coffee.</a:t>
            </a:r>
            <a:endParaRPr lang="en-US" sz="1400" dirty="0"/>
          </a:p>
        </p:txBody>
      </p:sp>
      <p:pic>
        <p:nvPicPr>
          <p:cNvPr id="44" name="Image 12" descr="/private/tmp/claude-501/-Users-salehhamed-Outcome-Engine/91861432-41e2-4884-bc97-63c6dff2d021/scratchpad/wk/icons/TbClock-grey.png">    </p:cNvPr>
          <p:cNvPicPr>
            <a:picLocks noChangeAspect="1"/>
          </p:cNvPicPr>
          <p:nvPr/>
        </p:nvPicPr>
        <p:blipFill>
          <a:blip r:embed="rId17"/>
          <a:stretch>
            <a:fillRect/>
          </a:stretch>
        </p:blipFill>
        <p:spPr>
          <a:xfrm>
            <a:off x="8275320" y="4297680"/>
            <a:ext cx="274320" cy="274320"/>
          </a:xfrm>
          <a:prstGeom prst="rect">
            <a:avLst/>
          </a:prstGeom>
        </p:spPr>
      </p:pic>
      <p:sp>
        <p:nvSpPr>
          <p:cNvPr id="45" name="Text 30"/>
          <p:cNvSpPr txBox="1"/>
          <p:nvPr/>
        </p:nvSpPr>
        <p:spPr>
          <a:xfrm>
            <a:off x="864108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30 min</a:t>
            </a:r>
            <a:endParaRPr lang="en-US" sz="1200" dirty="0"/>
          </a:p>
        </p:txBody>
      </p:sp>
      <p:pic>
        <p:nvPicPr>
          <p:cNvPr id="46" name="Image 13" descr="/private/tmp/claude-501/-Users-salehhamed-Outcome-Engine/91861432-41e2-4884-bc97-63c6dff2d021/scratchpad/wk/icons/TbUsers-grey.png">    </p:cNvPr>
          <p:cNvPicPr>
            <a:picLocks noChangeAspect="1"/>
          </p:cNvPicPr>
          <p:nvPr/>
        </p:nvPicPr>
        <p:blipFill>
          <a:blip r:embed="rId18"/>
          <a:stretch>
            <a:fillRect/>
          </a:stretch>
        </p:blipFill>
        <p:spPr>
          <a:xfrm>
            <a:off x="8275320" y="4681728"/>
            <a:ext cx="274320" cy="274320"/>
          </a:xfrm>
          <a:prstGeom prst="rect">
            <a:avLst/>
          </a:prstGeom>
        </p:spPr>
      </p:pic>
      <p:sp>
        <p:nvSpPr>
          <p:cNvPr id="47" name="Text 31"/>
          <p:cNvSpPr txBox="1"/>
          <p:nvPr/>
        </p:nvSpPr>
        <p:spPr>
          <a:xfrm>
            <a:off x="864108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Pairs</a:t>
            </a:r>
            <a:endParaRPr lang="en-US" sz="1200" dirty="0"/>
          </a:p>
        </p:txBody>
      </p:sp>
      <p:pic>
        <p:nvPicPr>
          <p:cNvPr id="48" name="Image 14" descr="/private/tmp/claude-501/-Users-salehhamed-Outcome-Engine/91861432-41e2-4884-bc97-63c6dff2d021/scratchpad/wk/icons/TbGauge-grey.png">    </p:cNvPr>
          <p:cNvPicPr>
            <a:picLocks noChangeAspect="1"/>
          </p:cNvPicPr>
          <p:nvPr/>
        </p:nvPicPr>
        <p:blipFill>
          <a:blip r:embed="rId19"/>
          <a:stretch>
            <a:fillRect/>
          </a:stretch>
        </p:blipFill>
        <p:spPr>
          <a:xfrm>
            <a:off x="8275320" y="5065776"/>
            <a:ext cx="274320" cy="274320"/>
          </a:xfrm>
          <a:prstGeom prst="rect">
            <a:avLst/>
          </a:prstGeom>
        </p:spPr>
      </p:pic>
      <p:sp>
        <p:nvSpPr>
          <p:cNvPr id="49" name="Text 32"/>
          <p:cNvSpPr txBox="1"/>
          <p:nvPr/>
        </p:nvSpPr>
        <p:spPr>
          <a:xfrm>
            <a:off x="864108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50" name="Text 33"/>
          <p:cNvSpPr txBox="1"/>
          <p:nvPr/>
        </p:nvSpPr>
        <p:spPr>
          <a:xfrm>
            <a:off x="827532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room already knows each other a little.</a:t>
            </a:r>
            <a:endParaRPr lang="en-US" sz="1150" dirty="0"/>
          </a:p>
        </p:txBody>
      </p:sp>
      <p:pic>
        <p:nvPicPr>
          <p:cNvPr id="51" name="Image 15" descr="/private/tmp/claude-501/-Users-salehhamed-Outcome-Engine/91861432-41e2-4884-bc97-63c6dff2d021/scratchpad/wk/brand/clear.png">
            <a:hlinkClick r:id="rId21" tooltip="Option C" action="ppaction://hlinksldjump"/>
          </p:cNvPr>
          <p:cNvPicPr>
            <a:picLocks noChangeAspect="1"/>
          </p:cNvPicPr>
          <p:nvPr/>
        </p:nvPicPr>
        <p:blipFill>
          <a:blip r:embed="rId20"/>
          <a:stretch>
            <a:fillRect/>
          </a:stretch>
        </p:blipFill>
        <p:spPr>
          <a:xfrm>
            <a:off x="8046720" y="1463040"/>
            <a:ext cx="3566160" cy="46634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OPTION A · HANDS-ON · ARRIVAL</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The case wall</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08:30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7</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Each person posts where their last deal got stuck, on the seven-stage wall.</a:t>
            </a:r>
            <a:endParaRPr lang="en-US" sz="1900" dirty="0"/>
          </a:p>
        </p:txBody>
      </p:sp>
      <p:sp>
        <p:nvSpPr>
          <p:cNvPr id="8" name="Shape 5"/>
          <p:cNvSpPr/>
          <p:nvPr/>
        </p:nvSpPr>
        <p:spPr>
          <a:xfrm>
            <a:off x="548640" y="2240280"/>
            <a:ext cx="9208770" cy="1417320"/>
          </a:xfrm>
          <a:prstGeom prst="rect">
            <a:avLst/>
          </a:prstGeom>
          <a:solidFill>
            <a:srgbClr val="287079"/>
          </a:solidFill>
          <a:ln/>
        </p:spPr>
      </p:sp>
      <p:sp>
        <p:nvSpPr>
          <p:cNvPr id="9" name="Text 6"/>
          <p:cNvSpPr txBox="1"/>
          <p:nvPr/>
        </p:nvSpPr>
        <p:spPr>
          <a:xfrm>
            <a:off x="640080" y="2331720"/>
            <a:ext cx="9062466"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25 min</a:t>
            </a:r>
            <a:endParaRPr lang="en-US" sz="1150" dirty="0"/>
          </a:p>
        </p:txBody>
      </p:sp>
      <p:sp>
        <p:nvSpPr>
          <p:cNvPr id="10" name="Text 7"/>
          <p:cNvSpPr txBox="1"/>
          <p:nvPr/>
        </p:nvSpPr>
        <p:spPr>
          <a:xfrm>
            <a:off x="640080" y="2651760"/>
            <a:ext cx="9099042"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Post your case</a:t>
            </a:r>
            <a:endParaRPr lang="en-US" sz="1500" dirty="0"/>
          </a:p>
        </p:txBody>
      </p:sp>
      <p:sp>
        <p:nvSpPr>
          <p:cNvPr id="11" name="Shape 8"/>
          <p:cNvSpPr/>
          <p:nvPr/>
        </p:nvSpPr>
        <p:spPr>
          <a:xfrm>
            <a:off x="9793986" y="2240280"/>
            <a:ext cx="1812493" cy="1417320"/>
          </a:xfrm>
          <a:prstGeom prst="rect">
            <a:avLst/>
          </a:prstGeom>
          <a:solidFill>
            <a:srgbClr val="5C8F95"/>
          </a:solidFill>
          <a:ln/>
        </p:spPr>
      </p:sp>
      <p:sp>
        <p:nvSpPr>
          <p:cNvPr id="12" name="Text 9"/>
          <p:cNvSpPr txBox="1"/>
          <p:nvPr/>
        </p:nvSpPr>
        <p:spPr>
          <a:xfrm>
            <a:off x="9885426"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3" name="Text 10"/>
          <p:cNvSpPr txBox="1"/>
          <p:nvPr/>
        </p:nvSpPr>
        <p:spPr>
          <a:xfrm>
            <a:off x="9885426"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Read the wall</a:t>
            </a:r>
            <a:endParaRPr lang="en-US" sz="1500" dirty="0"/>
          </a:p>
        </p:txBody>
      </p:sp>
      <p:sp>
        <p:nvSpPr>
          <p:cNvPr id="14" name="Shape 11"/>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5"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6" name="Text 12"/>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17" name="Text 13"/>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Each person</a:t>
            </a:r>
            <a:endParaRPr lang="en-US" sz="1300" dirty="0"/>
          </a:p>
        </p:txBody>
      </p:sp>
      <p:sp>
        <p:nvSpPr>
          <p:cNvPr id="18" name="Shape 14"/>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19"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0" name="Text 15"/>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1" name="Text 16"/>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Photo of the case wall. It opens the 09:30 session.</a:t>
            </a:r>
            <a:endParaRPr lang="en-US" sz="1300" dirty="0"/>
          </a:p>
        </p:txBody>
      </p:sp>
      <p:sp>
        <p:nvSpPr>
          <p:cNvPr id="22" name="Shape 17"/>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3"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24" name="Text 18"/>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25" name="Text 19"/>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FF462D"/>
                </a:solidFill>
                <a:latin typeface="Arial" pitchFamily="34" charset="0"/>
                <a:ea typeface="Arial" pitchFamily="34" charset="-122"/>
                <a:cs typeface="Arial" pitchFamily="34" charset="-120"/>
              </a:rPr>
              <a:t>OPTION B · LIVE VOTING · ARRIVAL</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Join and warm up</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08:30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8</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Scan the code, join the room, answer two quick questions.</a:t>
            </a:r>
            <a:endParaRPr lang="en-US" sz="1900" dirty="0"/>
          </a:p>
        </p:txBody>
      </p:sp>
      <p:sp>
        <p:nvSpPr>
          <p:cNvPr id="8" name="Shape 5"/>
          <p:cNvSpPr/>
          <p:nvPr/>
        </p:nvSpPr>
        <p:spPr>
          <a:xfrm>
            <a:off x="548640" y="2240280"/>
            <a:ext cx="9208770" cy="1417320"/>
          </a:xfrm>
          <a:prstGeom prst="rect">
            <a:avLst/>
          </a:prstGeom>
          <a:solidFill>
            <a:srgbClr val="FF462D"/>
          </a:solidFill>
          <a:ln/>
        </p:spPr>
      </p:sp>
      <p:sp>
        <p:nvSpPr>
          <p:cNvPr id="9" name="Text 6"/>
          <p:cNvSpPr txBox="1"/>
          <p:nvPr/>
        </p:nvSpPr>
        <p:spPr>
          <a:xfrm>
            <a:off x="640080" y="2331720"/>
            <a:ext cx="9062466"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25 min</a:t>
            </a:r>
            <a:endParaRPr lang="en-US" sz="1150" dirty="0"/>
          </a:p>
        </p:txBody>
      </p:sp>
      <p:sp>
        <p:nvSpPr>
          <p:cNvPr id="10" name="Text 7"/>
          <p:cNvSpPr txBox="1"/>
          <p:nvPr/>
        </p:nvSpPr>
        <p:spPr>
          <a:xfrm>
            <a:off x="640080" y="2651760"/>
            <a:ext cx="9099042"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Join and answer</a:t>
            </a:r>
            <a:endParaRPr lang="en-US" sz="1500" dirty="0"/>
          </a:p>
        </p:txBody>
      </p:sp>
      <p:sp>
        <p:nvSpPr>
          <p:cNvPr id="11" name="Shape 8"/>
          <p:cNvSpPr/>
          <p:nvPr/>
        </p:nvSpPr>
        <p:spPr>
          <a:xfrm>
            <a:off x="9793986" y="2240280"/>
            <a:ext cx="1812493" cy="1417320"/>
          </a:xfrm>
          <a:prstGeom prst="rect">
            <a:avLst/>
          </a:prstGeom>
          <a:solidFill>
            <a:srgbClr val="FF8A78"/>
          </a:solidFill>
          <a:ln/>
        </p:spPr>
      </p:sp>
      <p:sp>
        <p:nvSpPr>
          <p:cNvPr id="12" name="Text 9"/>
          <p:cNvSpPr txBox="1"/>
          <p:nvPr/>
        </p:nvSpPr>
        <p:spPr>
          <a:xfrm>
            <a:off x="9885426"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3" name="Text 10"/>
          <p:cNvSpPr txBox="1"/>
          <p:nvPr/>
        </p:nvSpPr>
        <p:spPr>
          <a:xfrm>
            <a:off x="9885426"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Help anyone stuck</a:t>
            </a:r>
            <a:endParaRPr lang="en-US" sz="1500" dirty="0"/>
          </a:p>
        </p:txBody>
      </p:sp>
      <p:sp>
        <p:nvSpPr>
          <p:cNvPr id="14" name="Shape 11"/>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5"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6" name="Text 12"/>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17" name="Text 13"/>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Each person</a:t>
            </a:r>
            <a:endParaRPr lang="en-US" sz="1300" dirty="0"/>
          </a:p>
        </p:txBody>
      </p:sp>
      <p:sp>
        <p:nvSpPr>
          <p:cNvPr id="18" name="Shape 14"/>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19"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0" name="Text 15"/>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1" name="Text 16"/>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Comfort scores and the five-word answers, saved in the room tool.</a:t>
            </a:r>
            <a:endParaRPr lang="en-US" sz="1300" dirty="0"/>
          </a:p>
        </p:txBody>
      </p:sp>
      <p:sp>
        <p:nvSpPr>
          <p:cNvPr id="22" name="Shape 17"/>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23"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24" name="Text 18"/>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25" name="Text 19"/>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36454F"/>
                </a:solidFill>
                <a:latin typeface="Arial" pitchFamily="34" charset="0"/>
                <a:ea typeface="Arial" pitchFamily="34" charset="-122"/>
                <a:cs typeface="Arial" pitchFamily="34" charset="-120"/>
              </a:rPr>
              <a:t>OPTION C · CASES AND CONVERSATION · ARRIVAL</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Case swap</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08:30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9</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Pairs swap one recent staffing case over coffee.</a:t>
            </a:r>
            <a:endParaRPr lang="en-US" sz="1900" dirty="0"/>
          </a:p>
        </p:txBody>
      </p:sp>
      <p:sp>
        <p:nvSpPr>
          <p:cNvPr id="8" name="Shape 5"/>
          <p:cNvSpPr/>
          <p:nvPr/>
        </p:nvSpPr>
        <p:spPr>
          <a:xfrm>
            <a:off x="548640" y="2240280"/>
            <a:ext cx="7359701" cy="1417320"/>
          </a:xfrm>
          <a:prstGeom prst="rect">
            <a:avLst/>
          </a:prstGeom>
          <a:solidFill>
            <a:srgbClr val="36454F"/>
          </a:solidFill>
          <a:ln/>
        </p:spPr>
      </p:sp>
      <p:sp>
        <p:nvSpPr>
          <p:cNvPr id="9" name="Text 6"/>
          <p:cNvSpPr txBox="1"/>
          <p:nvPr/>
        </p:nvSpPr>
        <p:spPr>
          <a:xfrm>
            <a:off x="640080" y="2331720"/>
            <a:ext cx="7213397"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20 min</a:t>
            </a:r>
            <a:endParaRPr lang="en-US" sz="1150" dirty="0"/>
          </a:p>
        </p:txBody>
      </p:sp>
      <p:sp>
        <p:nvSpPr>
          <p:cNvPr id="10" name="Text 7"/>
          <p:cNvSpPr txBox="1"/>
          <p:nvPr/>
        </p:nvSpPr>
        <p:spPr>
          <a:xfrm>
            <a:off x="640080" y="2651760"/>
            <a:ext cx="7249973"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Swap cases</a:t>
            </a:r>
            <a:endParaRPr lang="en-US" sz="1500" dirty="0"/>
          </a:p>
        </p:txBody>
      </p:sp>
      <p:sp>
        <p:nvSpPr>
          <p:cNvPr id="11" name="Shape 8"/>
          <p:cNvSpPr/>
          <p:nvPr/>
        </p:nvSpPr>
        <p:spPr>
          <a:xfrm>
            <a:off x="7944917" y="2240280"/>
            <a:ext cx="3661562" cy="1417320"/>
          </a:xfrm>
          <a:prstGeom prst="rect">
            <a:avLst/>
          </a:prstGeom>
          <a:solidFill>
            <a:srgbClr val="6B7B86"/>
          </a:solidFill>
          <a:ln/>
        </p:spPr>
      </p:sp>
      <p:sp>
        <p:nvSpPr>
          <p:cNvPr id="12" name="Text 9"/>
          <p:cNvSpPr txBox="1"/>
          <p:nvPr/>
        </p:nvSpPr>
        <p:spPr>
          <a:xfrm>
            <a:off x="8036357"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3" name="Text 10"/>
          <p:cNvSpPr txBox="1"/>
          <p:nvPr/>
        </p:nvSpPr>
        <p:spPr>
          <a:xfrm>
            <a:off x="8036357"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Post the titles</a:t>
            </a:r>
            <a:endParaRPr lang="en-US" sz="1500" dirty="0"/>
          </a:p>
        </p:txBody>
      </p:sp>
      <p:sp>
        <p:nvSpPr>
          <p:cNvPr id="14" name="Shape 11"/>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5"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6" name="Text 12"/>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17" name="Text 13"/>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Pairs</a:t>
            </a:r>
            <a:endParaRPr lang="en-US" sz="1300" dirty="0"/>
          </a:p>
        </p:txBody>
      </p:sp>
      <p:sp>
        <p:nvSpPr>
          <p:cNvPr id="18" name="Shape 14"/>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19"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0" name="Text 15"/>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1" name="Text 16"/>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Case titles on the wall, by stage.</a:t>
            </a:r>
            <a:endParaRPr lang="en-US" sz="1300" dirty="0"/>
          </a:p>
        </p:txBody>
      </p:sp>
      <p:sp>
        <p:nvSpPr>
          <p:cNvPr id="22" name="Shape 17"/>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3"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24" name="Text 18"/>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25" name="Text 19"/>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287079"/>
          </a:solidFill>
          <a:ln/>
        </p:spPr>
      </p:sp>
      <p:sp>
        <p:nvSpPr>
          <p:cNvPr id="3" name="Text 1"/>
          <p:cNvSpPr txBox="1"/>
          <p:nvPr/>
        </p:nvSpPr>
        <p:spPr>
          <a:xfrm>
            <a:off x="548640" y="548640"/>
            <a:ext cx="3474720" cy="274320"/>
          </a:xfrm>
          <a:prstGeom prst="rect">
            <a:avLst/>
          </a:prstGeom>
          <a:noFill/>
          <a:ln/>
        </p:spPr>
        <p:txBody>
          <a:bodyPr wrap="square" lIns="0" tIns="0" rIns="0" bIns="0" rtlCol="0" anchor="t"/>
          <a:lstStyle/>
          <a:p>
            <a:pPr indent="0" marL="0">
              <a:buNone/>
            </a:pPr>
            <a:r>
              <a:rPr lang="en-US" sz="1100" b="1" spc="150" kern="0" dirty="0">
                <a:solidFill>
                  <a:srgbClr val="D9DEE2"/>
                </a:solidFill>
                <a:latin typeface="Arial" pitchFamily="34" charset="0"/>
                <a:ea typeface="Arial" pitchFamily="34" charset="-122"/>
                <a:cs typeface="Arial" pitchFamily="34" charset="-120"/>
              </a:rPr>
              <a:t>DAY 1 · 09:00–09:30 · 30 MIN</a:t>
            </a:r>
            <a:endParaRPr lang="en-US" sz="1100" dirty="0"/>
          </a:p>
        </p:txBody>
      </p:sp>
      <p:sp>
        <p:nvSpPr>
          <p:cNvPr id="4" name="Text 2"/>
          <p:cNvSpPr txBox="1"/>
          <p:nvPr/>
        </p:nvSpPr>
        <p:spPr>
          <a:xfrm>
            <a:off x="548640" y="960120"/>
            <a:ext cx="3383280" cy="2377440"/>
          </a:xfrm>
          <a:prstGeom prst="rect">
            <a:avLst/>
          </a:prstGeom>
          <a:noFill/>
          <a:ln/>
        </p:spPr>
        <p:txBody>
          <a:bodyPr wrap="square" lIns="0" tIns="0" rIns="0" bIns="0" rtlCol="0" anchor="t"/>
          <a:lstStyle/>
          <a:p>
            <a:pPr indent="0" marL="0">
              <a:buNone/>
            </a:pPr>
            <a:r>
              <a:rPr lang="en-US" sz="3000" b="1" dirty="0">
                <a:solidFill>
                  <a:srgbClr val="FFFFFF"/>
                </a:solidFill>
                <a:latin typeface="TWK Everett" pitchFamily="34" charset="0"/>
                <a:ea typeface="TWK Everett" pitchFamily="34" charset="-122"/>
                <a:cs typeface="TWK Everett" pitchFamily="34" charset="-120"/>
              </a:rPr>
              <a:t>Welcome and how the two days work</a:t>
            </a:r>
            <a:endParaRPr lang="en-US" sz="3000" dirty="0"/>
          </a:p>
        </p:txBody>
      </p:sp>
      <p:pic>
        <p:nvPicPr>
          <p:cNvPr id="5" name="Image 0" descr="/private/tmp/claude-501/-Users-salehhamed-Outcome-Engine/91861432-41e2-4884-bc97-63c6dff2d021/scratchpad/wk/icons/TbDoorEnter-white.png">    </p:cNvPr>
          <p:cNvPicPr>
            <a:picLocks noChangeAspect="1"/>
          </p:cNvPicPr>
          <p:nvPr/>
        </p:nvPicPr>
        <p:blipFill>
          <a:blip r:embed="rId1"/>
          <a:stretch>
            <a:fillRect/>
          </a:stretch>
        </p:blipFill>
        <p:spPr>
          <a:xfrm>
            <a:off x="548640" y="3200400"/>
            <a:ext cx="685800" cy="685800"/>
          </a:xfrm>
          <a:prstGeom prst="rect">
            <a:avLst/>
          </a:prstGeom>
        </p:spPr>
      </p:pic>
      <p:sp>
        <p:nvSpPr>
          <p:cNvPr id="6" name="Shape 3"/>
          <p:cNvSpPr/>
          <p:nvPr/>
        </p:nvSpPr>
        <p:spPr>
          <a:xfrm>
            <a:off x="512064" y="4133088"/>
            <a:ext cx="310896" cy="310896"/>
          </a:xfrm>
          <a:prstGeom prst="ellipse">
            <a:avLst/>
          </a:prstGeom>
          <a:solidFill>
            <a:srgbClr val="FF462D"/>
          </a:solidFill>
          <a:ln w="19050">
            <a:solidFill>
              <a:srgbClr val="FFFFFF"/>
            </a:solidFill>
            <a:prstDash val="solid"/>
          </a:ln>
        </p:spPr>
      </p:sp>
      <p:sp>
        <p:nvSpPr>
          <p:cNvPr id="7" name="Shape 4"/>
          <p:cNvSpPr/>
          <p:nvPr/>
        </p:nvSpPr>
        <p:spPr>
          <a:xfrm>
            <a:off x="932688" y="4169664"/>
            <a:ext cx="237744" cy="237744"/>
          </a:xfrm>
          <a:prstGeom prst="ellipse">
            <a:avLst/>
          </a:prstGeom>
          <a:ln w="15875">
            <a:solidFill>
              <a:srgbClr val="D9DEE2"/>
            </a:solidFill>
            <a:prstDash val="solid"/>
          </a:ln>
        </p:spPr>
      </p:sp>
      <p:sp>
        <p:nvSpPr>
          <p:cNvPr id="8" name="Shape 5"/>
          <p:cNvSpPr/>
          <p:nvPr/>
        </p:nvSpPr>
        <p:spPr>
          <a:xfrm>
            <a:off x="1316736" y="4169664"/>
            <a:ext cx="237744" cy="237744"/>
          </a:xfrm>
          <a:prstGeom prst="ellipse">
            <a:avLst/>
          </a:prstGeom>
          <a:ln w="15875">
            <a:solidFill>
              <a:srgbClr val="D9DEE2"/>
            </a:solidFill>
            <a:prstDash val="solid"/>
          </a:ln>
        </p:spPr>
      </p:sp>
      <p:sp>
        <p:nvSpPr>
          <p:cNvPr id="9" name="Shape 6"/>
          <p:cNvSpPr/>
          <p:nvPr/>
        </p:nvSpPr>
        <p:spPr>
          <a:xfrm>
            <a:off x="1700784" y="4169664"/>
            <a:ext cx="237744" cy="237744"/>
          </a:xfrm>
          <a:prstGeom prst="ellipse">
            <a:avLst/>
          </a:prstGeom>
          <a:ln w="15875">
            <a:solidFill>
              <a:srgbClr val="D9DEE2"/>
            </a:solidFill>
            <a:prstDash val="solid"/>
          </a:ln>
        </p:spPr>
      </p:sp>
      <p:sp>
        <p:nvSpPr>
          <p:cNvPr id="10" name="Shape 7"/>
          <p:cNvSpPr/>
          <p:nvPr/>
        </p:nvSpPr>
        <p:spPr>
          <a:xfrm>
            <a:off x="2084832" y="4169664"/>
            <a:ext cx="237744" cy="237744"/>
          </a:xfrm>
          <a:prstGeom prst="ellipse">
            <a:avLst/>
          </a:prstGeom>
          <a:ln w="15875">
            <a:solidFill>
              <a:srgbClr val="D9DEE2"/>
            </a:solidFill>
            <a:prstDash val="solid"/>
          </a:ln>
        </p:spPr>
      </p:sp>
      <p:sp>
        <p:nvSpPr>
          <p:cNvPr id="11" name="Shape 8"/>
          <p:cNvSpPr/>
          <p:nvPr/>
        </p:nvSpPr>
        <p:spPr>
          <a:xfrm>
            <a:off x="2468880" y="4169664"/>
            <a:ext cx="237744" cy="237744"/>
          </a:xfrm>
          <a:prstGeom prst="ellipse">
            <a:avLst/>
          </a:prstGeom>
          <a:ln w="15875">
            <a:solidFill>
              <a:srgbClr val="D9DEE2"/>
            </a:solidFill>
            <a:prstDash val="solid"/>
          </a:ln>
        </p:spPr>
      </p:sp>
      <p:sp>
        <p:nvSpPr>
          <p:cNvPr id="12" name="Shape 9"/>
          <p:cNvSpPr/>
          <p:nvPr/>
        </p:nvSpPr>
        <p:spPr>
          <a:xfrm>
            <a:off x="2852928" y="4169664"/>
            <a:ext cx="237744" cy="237744"/>
          </a:xfrm>
          <a:prstGeom prst="ellipse">
            <a:avLst/>
          </a:prstGeom>
          <a:ln w="15875">
            <a:solidFill>
              <a:srgbClr val="D9DEE2"/>
            </a:solidFill>
            <a:prstDash val="solid"/>
          </a:ln>
        </p:spPr>
      </p:sp>
      <p:sp>
        <p:nvSpPr>
          <p:cNvPr id="13" name="Shape 10"/>
          <p:cNvSpPr/>
          <p:nvPr/>
        </p:nvSpPr>
        <p:spPr>
          <a:xfrm>
            <a:off x="3236976" y="4169664"/>
            <a:ext cx="237744" cy="237744"/>
          </a:xfrm>
          <a:prstGeom prst="ellipse">
            <a:avLst/>
          </a:prstGeom>
          <a:ln w="15875">
            <a:solidFill>
              <a:srgbClr val="D9DEE2"/>
            </a:solidFill>
            <a:prstDash val="solid"/>
          </a:ln>
        </p:spPr>
      </p:sp>
      <p:sp>
        <p:nvSpPr>
          <p:cNvPr id="14" name="Text 11"/>
          <p:cNvSpPr txBox="1"/>
          <p:nvPr/>
        </p:nvSpPr>
        <p:spPr>
          <a:xfrm>
            <a:off x="548640" y="4553712"/>
            <a:ext cx="338328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Step 1 of 8: Why we are here</a:t>
            </a:r>
            <a:endParaRPr lang="en-US" sz="1100" dirty="0"/>
          </a:p>
        </p:txBody>
      </p:sp>
      <p:sp>
        <p:nvSpPr>
          <p:cNvPr id="15" name="Text 12"/>
          <p:cNvSpPr txBox="1"/>
          <p:nvPr/>
        </p:nvSpPr>
        <p:spPr>
          <a:xfrm>
            <a:off x="4709160" y="685800"/>
            <a:ext cx="6400800" cy="320040"/>
          </a:xfrm>
          <a:prstGeom prst="rect">
            <a:avLst/>
          </a:prstGeom>
          <a:noFill/>
          <a:ln/>
        </p:spPr>
        <p:txBody>
          <a:bodyPr wrap="square" lIns="0" tIns="0" rIns="0" bIns="0" rtlCol="0" anchor="t"/>
          <a:lstStyle/>
          <a:p>
            <a:pPr indent="0" marL="0">
              <a:buNone/>
            </a:pPr>
            <a:r>
              <a:rPr lang="en-US" sz="1400" b="1" dirty="0">
                <a:solidFill>
                  <a:srgbClr val="287079"/>
                </a:solidFill>
                <a:latin typeface="Arial" pitchFamily="34" charset="0"/>
                <a:ea typeface="Arial" pitchFamily="34" charset="-122"/>
                <a:cs typeface="Arial" pitchFamily="34" charset="-120"/>
              </a:rPr>
              <a:t>By the end of this session, you can</a:t>
            </a:r>
            <a:endParaRPr lang="en-US" sz="1400" dirty="0"/>
          </a:p>
        </p:txBody>
      </p:sp>
      <p:pic>
        <p:nvPicPr>
          <p:cNvPr id="16" name="Image 1" descr="/private/tmp/claude-501/-Users-salehhamed-Outcome-Engine/91861432-41e2-4884-bc97-63c6dff2d021/scratchpad/wk/icons/TbCircleCheck-teal.png">    </p:cNvPr>
          <p:cNvPicPr>
            <a:picLocks noChangeAspect="1"/>
          </p:cNvPicPr>
          <p:nvPr/>
        </p:nvPicPr>
        <p:blipFill>
          <a:blip r:embed="rId2"/>
          <a:stretch>
            <a:fillRect/>
          </a:stretch>
        </p:blipFill>
        <p:spPr>
          <a:xfrm>
            <a:off x="4709160" y="1225296"/>
            <a:ext cx="411480" cy="411480"/>
          </a:xfrm>
          <a:prstGeom prst="rect">
            <a:avLst/>
          </a:prstGeom>
        </p:spPr>
      </p:pic>
      <p:sp>
        <p:nvSpPr>
          <p:cNvPr id="17" name="Text 13"/>
          <p:cNvSpPr txBox="1"/>
          <p:nvPr/>
        </p:nvSpPr>
        <p:spPr>
          <a:xfrm>
            <a:off x="5303520" y="118872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Say in one sentence why we are here.</a:t>
            </a:r>
            <a:endParaRPr lang="en-US" sz="1700" dirty="0"/>
          </a:p>
        </p:txBody>
      </p:sp>
      <p:pic>
        <p:nvPicPr>
          <p:cNvPr id="18" name="Image 2" descr="/private/tmp/claude-501/-Users-salehhamed-Outcome-Engine/91861432-41e2-4884-bc97-63c6dff2d021/scratchpad/wk/icons/TbCircleCheck-teal.png">    </p:cNvPr>
          <p:cNvPicPr>
            <a:picLocks noChangeAspect="1"/>
          </p:cNvPicPr>
          <p:nvPr/>
        </p:nvPicPr>
        <p:blipFill>
          <a:blip r:embed="rId3"/>
          <a:stretch>
            <a:fillRect/>
          </a:stretch>
        </p:blipFill>
        <p:spPr>
          <a:xfrm>
            <a:off x="4709160" y="2093976"/>
            <a:ext cx="411480" cy="411480"/>
          </a:xfrm>
          <a:prstGeom prst="rect">
            <a:avLst/>
          </a:prstGeom>
        </p:spPr>
      </p:pic>
      <p:sp>
        <p:nvSpPr>
          <p:cNvPr id="19" name="Text 14"/>
          <p:cNvSpPr txBox="1"/>
          <p:nvPr/>
        </p:nvSpPr>
        <p:spPr>
          <a:xfrm>
            <a:off x="5303520" y="205740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Know the decision at the end, Proceed, Narrow or Stop, and what it rests on.</a:t>
            </a:r>
            <a:endParaRPr lang="en-US" sz="1700" dirty="0"/>
          </a:p>
        </p:txBody>
      </p:sp>
      <p:pic>
        <p:nvPicPr>
          <p:cNvPr id="20" name="Image 3" descr="/private/tmp/claude-501/-Users-salehhamed-Outcome-Engine/91861432-41e2-4884-bc97-63c6dff2d021/scratchpad/wk/icons/TbCircleCheck-teal.png">    </p:cNvPr>
          <p:cNvPicPr>
            <a:picLocks noChangeAspect="1"/>
          </p:cNvPicPr>
          <p:nvPr/>
        </p:nvPicPr>
        <p:blipFill>
          <a:blip r:embed="rId4"/>
          <a:stretch>
            <a:fillRect/>
          </a:stretch>
        </p:blipFill>
        <p:spPr>
          <a:xfrm>
            <a:off x="4709160" y="2962656"/>
            <a:ext cx="411480" cy="411480"/>
          </a:xfrm>
          <a:prstGeom prst="rect">
            <a:avLst/>
          </a:prstGeom>
        </p:spPr>
      </p:pic>
      <p:sp>
        <p:nvSpPr>
          <p:cNvPr id="21" name="Text 15"/>
          <p:cNvSpPr txBox="1"/>
          <p:nvPr/>
        </p:nvSpPr>
        <p:spPr>
          <a:xfrm>
            <a:off x="5303520" y="292608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Know that a working version is built alongside, and when we will see it.</a:t>
            </a:r>
            <a:endParaRPr lang="en-US" sz="1700" dirty="0"/>
          </a:p>
        </p:txBody>
      </p:sp>
      <p:pic>
        <p:nvPicPr>
          <p:cNvPr id="22" name="Image 4" descr="/private/tmp/claude-501/-Users-salehhamed-Outcome-Engine/91861432-41e2-4884-bc97-63c6dff2d021/scratchpad/wk/icons/TbCircleCheck-teal.png">    </p:cNvPr>
          <p:cNvPicPr>
            <a:picLocks noChangeAspect="1"/>
          </p:cNvPicPr>
          <p:nvPr/>
        </p:nvPicPr>
        <p:blipFill>
          <a:blip r:embed="rId5"/>
          <a:stretch>
            <a:fillRect/>
          </a:stretch>
        </p:blipFill>
        <p:spPr>
          <a:xfrm>
            <a:off x="4709160" y="3831336"/>
            <a:ext cx="411480" cy="411480"/>
          </a:xfrm>
          <a:prstGeom prst="rect">
            <a:avLst/>
          </a:prstGeom>
        </p:spPr>
      </p:pic>
      <p:sp>
        <p:nvSpPr>
          <p:cNvPr id="23" name="Text 16"/>
          <p:cNvSpPr txBox="1"/>
          <p:nvPr/>
        </p:nvSpPr>
        <p:spPr>
          <a:xfrm>
            <a:off x="5303520" y="379476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Agree how we will work together.</a:t>
            </a:r>
            <a:endParaRPr lang="en-US" sz="1700" dirty="0"/>
          </a:p>
        </p:txBody>
      </p:sp>
      <p:sp>
        <p:nvSpPr>
          <p:cNvPr id="24" name="Shape 17"/>
          <p:cNvSpPr/>
          <p:nvPr/>
        </p:nvSpPr>
        <p:spPr>
          <a:xfrm>
            <a:off x="4709160" y="4800600"/>
            <a:ext cx="6931152" cy="1234440"/>
          </a:xfrm>
          <a:prstGeom prst="roundRect">
            <a:avLst>
              <a:gd name="adj" fmla="val 5926"/>
            </a:avLst>
          </a:prstGeom>
          <a:solidFill>
            <a:srgbClr val="FFF0EC"/>
          </a:solidFill>
          <a:ln/>
        </p:spPr>
      </p:sp>
      <p:sp>
        <p:nvSpPr>
          <p:cNvPr id="25" name="Text 18"/>
          <p:cNvSpPr txBox="1"/>
          <p:nvPr/>
        </p:nvSpPr>
        <p:spPr>
          <a:xfrm>
            <a:off x="4937760" y="4800600"/>
            <a:ext cx="6492240" cy="1234440"/>
          </a:xfrm>
          <a:prstGeom prst="rect">
            <a:avLst/>
          </a:prstGeom>
          <a:noFill/>
          <a:ln/>
        </p:spPr>
        <p:txBody>
          <a:bodyPr wrap="square" lIns="0" tIns="0" rIns="0" bIns="0" rtlCol="0" anchor="ctr"/>
          <a:lstStyle/>
          <a:p>
            <a:pPr indent="0" marL="0">
              <a:buNone/>
            </a:pPr>
            <a:r>
              <a:rPr lang="en-US" sz="1800" b="1" dirty="0">
                <a:solidFill>
                  <a:srgbClr val="FF462D"/>
                </a:solidFill>
                <a:latin typeface="Arial" pitchFamily="34" charset="0"/>
                <a:ea typeface="Arial" pitchFamily="34" charset="-122"/>
                <a:cs typeface="Arial" pitchFamily="34" charset="-120"/>
              </a:rPr>
              <a:t>Before a deal is signed, we know whether we can staff it. If not, a named person owns the gap.</a:t>
            </a:r>
            <a:endParaRPr lang="en-US" sz="1800" dirty="0"/>
          </a:p>
        </p:txBody>
      </p:sp>
      <p:sp>
        <p:nvSpPr>
          <p:cNvPr id="26" name="Text 19"/>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6"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7" action="ppaction://hlinksldjump" tooltip="The thre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WELCOME AND HOW THE TWO DAYS WORK</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Why we are here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11</a:t>
            </a:r>
            <a:endParaRPr lang="en-US" sz="1000" dirty="0"/>
          </a:p>
        </p:txBody>
      </p:sp>
      <p:sp>
        <p:nvSpPr>
          <p:cNvPr id="7" name="Shape 4"/>
          <p:cNvSpPr/>
          <p:nvPr/>
        </p:nvSpPr>
        <p:spPr>
          <a:xfrm>
            <a:off x="1783080" y="1600200"/>
            <a:ext cx="1371600" cy="1371600"/>
          </a:xfrm>
          <a:prstGeom prst="ellipse">
            <a:avLst/>
          </a:prstGeom>
          <a:solidFill>
            <a:srgbClr val="287079"/>
          </a:solidFill>
          <a:ln/>
        </p:spPr>
      </p:sp>
      <p:pic>
        <p:nvPicPr>
          <p:cNvPr id="8" name="Image 1" descr="/private/tmp/claude-501/-Users-salehhamed-Outcome-Engine/91861432-41e2-4884-bc97-63c6dff2d021/scratchpad/wk/icons/TbBriefcase-white.png">    </p:cNvPr>
          <p:cNvPicPr>
            <a:picLocks noChangeAspect="1"/>
          </p:cNvPicPr>
          <p:nvPr/>
        </p:nvPicPr>
        <p:blipFill>
          <a:blip r:embed="rId4"/>
          <a:stretch>
            <a:fillRect/>
          </a:stretch>
        </p:blipFill>
        <p:spPr>
          <a:xfrm>
            <a:off x="2057400" y="1874520"/>
            <a:ext cx="822960" cy="822960"/>
          </a:xfrm>
          <a:prstGeom prst="rect">
            <a:avLst/>
          </a:prstGeom>
        </p:spPr>
      </p:pic>
      <p:sp>
        <p:nvSpPr>
          <p:cNvPr id="9" name="Text 5"/>
          <p:cNvSpPr txBox="1"/>
          <p:nvPr/>
        </p:nvSpPr>
        <p:spPr>
          <a:xfrm>
            <a:off x="822960" y="3108960"/>
            <a:ext cx="3291840" cy="822960"/>
          </a:xfrm>
          <a:prstGeom prst="rect">
            <a:avLst/>
          </a:prstGeom>
          <a:noFill/>
          <a:ln/>
        </p:spPr>
        <p:txBody>
          <a:bodyPr wrap="square" lIns="0" tIns="0" rIns="0" bIns="0" rtlCol="0" anchor="t"/>
          <a:lstStyle/>
          <a:p>
            <a:pPr algn="ctr" indent="0" marL="0">
              <a:buNone/>
            </a:pPr>
            <a:r>
              <a:rPr lang="en-US" sz="1800" b="1" dirty="0">
                <a:solidFill>
                  <a:srgbClr val="1F2A33"/>
                </a:solidFill>
                <a:latin typeface="Arial" pitchFamily="34" charset="0"/>
                <a:ea typeface="Arial" pitchFamily="34" charset="-122"/>
                <a:cs typeface="Arial" pitchFamily="34" charset="-120"/>
              </a:rPr>
              <a:t>A deal we are likely to win</a:t>
            </a:r>
            <a:endParaRPr lang="en-US" sz="1800" dirty="0"/>
          </a:p>
        </p:txBody>
      </p:sp>
      <p:sp>
        <p:nvSpPr>
          <p:cNvPr id="10" name="Shape 6"/>
          <p:cNvSpPr/>
          <p:nvPr/>
        </p:nvSpPr>
        <p:spPr>
          <a:xfrm>
            <a:off x="3566160" y="2286000"/>
            <a:ext cx="868680" cy="914"/>
          </a:xfrm>
          <a:prstGeom prst="line">
            <a:avLst/>
          </a:prstGeom>
          <a:noFill/>
          <a:ln w="38100">
            <a:solidFill>
              <a:srgbClr val="8A94A4"/>
            </a:solidFill>
            <a:prstDash val="solid"/>
            <a:tailEnd type="arrow"/>
          </a:ln>
        </p:spPr>
      </p:sp>
      <p:sp>
        <p:nvSpPr>
          <p:cNvPr id="11" name="Shape 7"/>
          <p:cNvSpPr/>
          <p:nvPr/>
        </p:nvSpPr>
        <p:spPr>
          <a:xfrm>
            <a:off x="5577840" y="1600200"/>
            <a:ext cx="1371600" cy="1371600"/>
          </a:xfrm>
          <a:prstGeom prst="ellipse">
            <a:avLst/>
          </a:prstGeom>
          <a:solidFill>
            <a:srgbClr val="FF462D"/>
          </a:solidFill>
          <a:ln/>
        </p:spPr>
      </p:sp>
      <p:pic>
        <p:nvPicPr>
          <p:cNvPr id="12" name="Image 2" descr="/private/tmp/claude-501/-Users-salehhamed-Outcome-Engine/91861432-41e2-4884-bc97-63c6dff2d021/scratchpad/wk/icons/TbUserQuestion-white.png">    </p:cNvPr>
          <p:cNvPicPr>
            <a:picLocks noChangeAspect="1"/>
          </p:cNvPicPr>
          <p:nvPr/>
        </p:nvPicPr>
        <p:blipFill>
          <a:blip r:embed="rId5"/>
          <a:stretch>
            <a:fillRect/>
          </a:stretch>
        </p:blipFill>
        <p:spPr>
          <a:xfrm>
            <a:off x="5852160" y="1874520"/>
            <a:ext cx="822960" cy="822960"/>
          </a:xfrm>
          <a:prstGeom prst="rect">
            <a:avLst/>
          </a:prstGeom>
        </p:spPr>
      </p:pic>
      <p:sp>
        <p:nvSpPr>
          <p:cNvPr id="13" name="Text 8"/>
          <p:cNvSpPr txBox="1"/>
          <p:nvPr/>
        </p:nvSpPr>
        <p:spPr>
          <a:xfrm>
            <a:off x="4617720" y="3108960"/>
            <a:ext cx="3291840" cy="822960"/>
          </a:xfrm>
          <a:prstGeom prst="rect">
            <a:avLst/>
          </a:prstGeom>
          <a:noFill/>
          <a:ln/>
        </p:spPr>
        <p:txBody>
          <a:bodyPr wrap="square" lIns="0" tIns="0" rIns="0" bIns="0" rtlCol="0" anchor="t"/>
          <a:lstStyle/>
          <a:p>
            <a:pPr algn="ctr" indent="0" marL="0">
              <a:buNone/>
            </a:pPr>
            <a:r>
              <a:rPr lang="en-US" sz="1800" b="1" dirty="0">
                <a:solidFill>
                  <a:srgbClr val="1F2A33"/>
                </a:solidFill>
                <a:latin typeface="Arial" pitchFamily="34" charset="0"/>
                <a:ea typeface="Arial" pitchFamily="34" charset="-122"/>
                <a:cs typeface="Arial" pitchFamily="34" charset="-120"/>
              </a:rPr>
              <a:t>Can we staff it, at the right level, on time?</a:t>
            </a:r>
            <a:endParaRPr lang="en-US" sz="1800" dirty="0"/>
          </a:p>
        </p:txBody>
      </p:sp>
      <p:sp>
        <p:nvSpPr>
          <p:cNvPr id="14" name="Shape 9"/>
          <p:cNvSpPr/>
          <p:nvPr/>
        </p:nvSpPr>
        <p:spPr>
          <a:xfrm>
            <a:off x="7360920" y="2286000"/>
            <a:ext cx="868680" cy="914"/>
          </a:xfrm>
          <a:prstGeom prst="line">
            <a:avLst/>
          </a:prstGeom>
          <a:noFill/>
          <a:ln w="38100">
            <a:solidFill>
              <a:srgbClr val="8A94A4"/>
            </a:solidFill>
            <a:prstDash val="solid"/>
            <a:tailEnd type="arrow"/>
          </a:ln>
        </p:spPr>
      </p:sp>
      <p:sp>
        <p:nvSpPr>
          <p:cNvPr id="15" name="Shape 10"/>
          <p:cNvSpPr/>
          <p:nvPr/>
        </p:nvSpPr>
        <p:spPr>
          <a:xfrm>
            <a:off x="9372600" y="1600200"/>
            <a:ext cx="1371600" cy="1371600"/>
          </a:xfrm>
          <a:prstGeom prst="ellipse">
            <a:avLst/>
          </a:prstGeom>
          <a:solidFill>
            <a:srgbClr val="2E8656"/>
          </a:solidFill>
          <a:ln/>
        </p:spPr>
      </p:sp>
      <p:pic>
        <p:nvPicPr>
          <p:cNvPr id="16" name="Image 3" descr="/private/tmp/claude-501/-Users-salehhamed-Outcome-Engine/91861432-41e2-4884-bc97-63c6dff2d021/scratchpad/wk/icons/TbUsersGroup-white.png">    </p:cNvPr>
          <p:cNvPicPr>
            <a:picLocks noChangeAspect="1"/>
          </p:cNvPicPr>
          <p:nvPr/>
        </p:nvPicPr>
        <p:blipFill>
          <a:blip r:embed="rId6"/>
          <a:stretch>
            <a:fillRect/>
          </a:stretch>
        </p:blipFill>
        <p:spPr>
          <a:xfrm>
            <a:off x="9646920" y="1874520"/>
            <a:ext cx="822960" cy="822960"/>
          </a:xfrm>
          <a:prstGeom prst="rect">
            <a:avLst/>
          </a:prstGeom>
        </p:spPr>
      </p:pic>
      <p:sp>
        <p:nvSpPr>
          <p:cNvPr id="17" name="Text 11"/>
          <p:cNvSpPr txBox="1"/>
          <p:nvPr/>
        </p:nvSpPr>
        <p:spPr>
          <a:xfrm>
            <a:off x="8412480" y="3108960"/>
            <a:ext cx="3291840" cy="822960"/>
          </a:xfrm>
          <a:prstGeom prst="rect">
            <a:avLst/>
          </a:prstGeom>
          <a:noFill/>
          <a:ln/>
        </p:spPr>
        <p:txBody>
          <a:bodyPr wrap="square" lIns="0" tIns="0" rIns="0" bIns="0" rtlCol="0" anchor="t"/>
          <a:lstStyle/>
          <a:p>
            <a:pPr algn="ctr" indent="0" marL="0">
              <a:buNone/>
            </a:pPr>
            <a:r>
              <a:rPr lang="en-US" sz="1800" b="1" dirty="0">
                <a:solidFill>
                  <a:srgbClr val="1F2A33"/>
                </a:solidFill>
                <a:latin typeface="Arial" pitchFamily="34" charset="0"/>
                <a:ea typeface="Arial" pitchFamily="34" charset="-122"/>
                <a:cs typeface="Arial" pitchFamily="34" charset="-120"/>
              </a:rPr>
              <a:t>The right people, ready to start</a:t>
            </a:r>
            <a:endParaRPr lang="en-US" sz="1800" dirty="0"/>
          </a:p>
        </p:txBody>
      </p:sp>
      <p:sp>
        <p:nvSpPr>
          <p:cNvPr id="18" name="Shape 12"/>
          <p:cNvSpPr/>
          <p:nvPr/>
        </p:nvSpPr>
        <p:spPr>
          <a:xfrm>
            <a:off x="548640" y="4343400"/>
            <a:ext cx="11091672" cy="1691640"/>
          </a:xfrm>
          <a:prstGeom prst="roundRect">
            <a:avLst>
              <a:gd name="adj" fmla="val 5405"/>
            </a:avLst>
          </a:prstGeom>
          <a:solidFill>
            <a:srgbClr val="F2F4F5"/>
          </a:solidFill>
          <a:ln/>
        </p:spPr>
      </p:sp>
      <p:sp>
        <p:nvSpPr>
          <p:cNvPr id="19" name="Text 13"/>
          <p:cNvSpPr txBox="1"/>
          <p:nvPr/>
        </p:nvSpPr>
        <p:spPr>
          <a:xfrm>
            <a:off x="914400" y="4343400"/>
            <a:ext cx="10332720" cy="1691640"/>
          </a:xfrm>
          <a:prstGeom prst="rect">
            <a:avLst/>
          </a:prstGeom>
          <a:noFill/>
          <a:ln/>
        </p:spPr>
        <p:txBody>
          <a:bodyPr wrap="square" lIns="0" tIns="0" rIns="0" bIns="0" rtlCol="0" anchor="ctr"/>
          <a:lstStyle/>
          <a:p>
            <a:pPr indent="0" marL="0">
              <a:buNone/>
            </a:pPr>
            <a:r>
              <a:rPr lang="en-US" sz="2400" b="1" dirty="0">
                <a:solidFill>
                  <a:srgbClr val="1F2A33"/>
                </a:solidFill>
                <a:latin typeface="Arial" pitchFamily="34" charset="0"/>
                <a:ea typeface="Arial" pitchFamily="34" charset="-122"/>
                <a:cs typeface="Arial" pitchFamily="34" charset="-120"/>
              </a:rPr>
              <a:t>Before a deal is signed, we know whether we can staff it. If we cannot, a named person owns the gap.</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WELCOME AND HOW THE TWO DAYS WORK</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Two days, and a build running alongside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12</a:t>
            </a:r>
            <a:endParaRPr lang="en-US" sz="1000" dirty="0"/>
          </a:p>
        </p:txBody>
      </p:sp>
      <p:sp>
        <p:nvSpPr>
          <p:cNvPr id="7" name="Text 4"/>
          <p:cNvSpPr txBox="1"/>
          <p:nvPr/>
        </p:nvSpPr>
        <p:spPr>
          <a:xfrm>
            <a:off x="548640" y="1554480"/>
            <a:ext cx="1097280" cy="457200"/>
          </a:xfrm>
          <a:prstGeom prst="rect">
            <a:avLst/>
          </a:prstGeom>
          <a:noFill/>
          <a:ln/>
        </p:spPr>
        <p:txBody>
          <a:bodyPr wrap="square" lIns="0" tIns="0" rIns="0" bIns="0" rtlCol="0" anchor="ctr"/>
          <a:lstStyle/>
          <a:p>
            <a:pPr indent="0" marL="0">
              <a:buNone/>
            </a:pPr>
            <a:r>
              <a:rPr lang="en-US" sz="1800" b="1" dirty="0">
                <a:solidFill>
                  <a:srgbClr val="287079"/>
                </a:solidFill>
                <a:latin typeface="Arial" pitchFamily="34" charset="0"/>
                <a:ea typeface="Arial" pitchFamily="34" charset="-122"/>
                <a:cs typeface="Arial" pitchFamily="34" charset="-120"/>
              </a:rPr>
              <a:t>Day 1</a:t>
            </a:r>
            <a:endParaRPr lang="en-US" sz="1800" dirty="0"/>
          </a:p>
        </p:txBody>
      </p:sp>
      <p:sp>
        <p:nvSpPr>
          <p:cNvPr id="8" name="Shape 5"/>
          <p:cNvSpPr/>
          <p:nvPr/>
        </p:nvSpPr>
        <p:spPr>
          <a:xfrm>
            <a:off x="1737360" y="1554480"/>
            <a:ext cx="2560320" cy="685800"/>
          </a:xfrm>
          <a:prstGeom prst="chevron">
            <a:avLst/>
          </a:prstGeom>
          <a:solidFill>
            <a:srgbClr val="287079"/>
          </a:solidFill>
          <a:ln/>
        </p:spPr>
      </p:sp>
      <p:sp>
        <p:nvSpPr>
          <p:cNvPr id="9" name="Text 6"/>
          <p:cNvSpPr txBox="1"/>
          <p:nvPr/>
        </p:nvSpPr>
        <p:spPr>
          <a:xfrm>
            <a:off x="2057400" y="1554480"/>
            <a:ext cx="20116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Ground in reality</a:t>
            </a:r>
            <a:endParaRPr lang="en-US" sz="1400" dirty="0"/>
          </a:p>
        </p:txBody>
      </p:sp>
      <p:sp>
        <p:nvSpPr>
          <p:cNvPr id="10" name="Shape 7"/>
          <p:cNvSpPr/>
          <p:nvPr/>
        </p:nvSpPr>
        <p:spPr>
          <a:xfrm>
            <a:off x="4251960" y="1554480"/>
            <a:ext cx="2560320" cy="685800"/>
          </a:xfrm>
          <a:prstGeom prst="chevron">
            <a:avLst/>
          </a:prstGeom>
          <a:solidFill>
            <a:srgbClr val="287079"/>
          </a:solidFill>
          <a:ln/>
        </p:spPr>
      </p:sp>
      <p:sp>
        <p:nvSpPr>
          <p:cNvPr id="11" name="Text 8"/>
          <p:cNvSpPr txBox="1"/>
          <p:nvPr/>
        </p:nvSpPr>
        <p:spPr>
          <a:xfrm>
            <a:off x="4572000" y="1554480"/>
            <a:ext cx="20116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The outcome</a:t>
            </a:r>
            <a:endParaRPr lang="en-US" sz="1400" dirty="0"/>
          </a:p>
        </p:txBody>
      </p:sp>
      <p:sp>
        <p:nvSpPr>
          <p:cNvPr id="12" name="Shape 9"/>
          <p:cNvSpPr/>
          <p:nvPr/>
        </p:nvSpPr>
        <p:spPr>
          <a:xfrm>
            <a:off x="6766560" y="1554480"/>
            <a:ext cx="2560320" cy="685800"/>
          </a:xfrm>
          <a:prstGeom prst="chevron">
            <a:avLst/>
          </a:prstGeom>
          <a:solidFill>
            <a:srgbClr val="287079"/>
          </a:solidFill>
          <a:ln/>
        </p:spPr>
      </p:sp>
      <p:sp>
        <p:nvSpPr>
          <p:cNvPr id="13" name="Text 10"/>
          <p:cNvSpPr txBox="1"/>
          <p:nvPr/>
        </p:nvSpPr>
        <p:spPr>
          <a:xfrm>
            <a:off x="7086600" y="1554480"/>
            <a:ext cx="20116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Decisions</a:t>
            </a:r>
            <a:endParaRPr lang="en-US" sz="1400" dirty="0"/>
          </a:p>
        </p:txBody>
      </p:sp>
      <p:sp>
        <p:nvSpPr>
          <p:cNvPr id="14" name="Shape 11"/>
          <p:cNvSpPr/>
          <p:nvPr/>
        </p:nvSpPr>
        <p:spPr>
          <a:xfrm>
            <a:off x="9281160" y="1554480"/>
            <a:ext cx="2560320" cy="685800"/>
          </a:xfrm>
          <a:prstGeom prst="chevron">
            <a:avLst/>
          </a:prstGeom>
          <a:solidFill>
            <a:srgbClr val="287079"/>
          </a:solidFill>
          <a:ln/>
        </p:spPr>
      </p:sp>
      <p:sp>
        <p:nvSpPr>
          <p:cNvPr id="15" name="Text 12"/>
          <p:cNvSpPr txBox="1"/>
          <p:nvPr/>
        </p:nvSpPr>
        <p:spPr>
          <a:xfrm>
            <a:off x="9601200" y="1554480"/>
            <a:ext cx="20116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Rules</a:t>
            </a:r>
            <a:endParaRPr lang="en-US" sz="1400" dirty="0"/>
          </a:p>
        </p:txBody>
      </p:sp>
      <p:pic>
        <p:nvPicPr>
          <p:cNvPr id="16" name="Image 1" descr="/private/tmp/claude-501/-Users-salehhamed-Outcome-Engine/91861432-41e2-4884-bc97-63c6dff2d021/scratchpad/wk/icons/TbHammer-green.png">    </p:cNvPr>
          <p:cNvPicPr>
            <a:picLocks noChangeAspect="1"/>
          </p:cNvPicPr>
          <p:nvPr/>
        </p:nvPicPr>
        <p:blipFill>
          <a:blip r:embed="rId4"/>
          <a:stretch>
            <a:fillRect/>
          </a:stretch>
        </p:blipFill>
        <p:spPr>
          <a:xfrm>
            <a:off x="731520" y="2487168"/>
            <a:ext cx="384048" cy="384048"/>
          </a:xfrm>
          <a:prstGeom prst="rect">
            <a:avLst/>
          </a:prstGeom>
        </p:spPr>
      </p:pic>
      <p:sp>
        <p:nvSpPr>
          <p:cNvPr id="17" name="Shape 13"/>
          <p:cNvSpPr/>
          <p:nvPr/>
        </p:nvSpPr>
        <p:spPr>
          <a:xfrm>
            <a:off x="1737360" y="2450592"/>
            <a:ext cx="10058400" cy="502920"/>
          </a:xfrm>
          <a:prstGeom prst="roundRect">
            <a:avLst>
              <a:gd name="adj" fmla="val 14545"/>
            </a:avLst>
          </a:prstGeom>
          <a:solidFill>
            <a:srgbClr val="E3F1E9"/>
          </a:solidFill>
          <a:ln/>
        </p:spPr>
      </p:sp>
      <p:sp>
        <p:nvSpPr>
          <p:cNvPr id="18" name="Text 14"/>
          <p:cNvSpPr txBox="1"/>
          <p:nvPr/>
        </p:nvSpPr>
        <p:spPr>
          <a:xfrm>
            <a:off x="1920240" y="2450592"/>
            <a:ext cx="3291840" cy="502920"/>
          </a:xfrm>
          <a:prstGeom prst="rect">
            <a:avLst/>
          </a:prstGeom>
          <a:noFill/>
          <a:ln/>
        </p:spPr>
        <p:txBody>
          <a:bodyPr wrap="square" lIns="0" tIns="0" rIns="0" bIns="0" rtlCol="0" anchor="ctr"/>
          <a:lstStyle/>
          <a:p>
            <a:pPr indent="0" marL="0">
              <a:buNone/>
            </a:pPr>
            <a:r>
              <a:rPr lang="en-US" sz="1300" b="1" dirty="0">
                <a:solidFill>
                  <a:srgbClr val="2E8656"/>
                </a:solidFill>
                <a:latin typeface="Arial" pitchFamily="34" charset="0"/>
                <a:ea typeface="Arial" pitchFamily="34" charset="-122"/>
                <a:cs typeface="Arial" pitchFamily="34" charset="-120"/>
              </a:rPr>
              <a:t>12:30 build starts</a:t>
            </a:r>
            <a:endParaRPr lang="en-US" sz="1300" dirty="0"/>
          </a:p>
        </p:txBody>
      </p:sp>
      <p:sp>
        <p:nvSpPr>
          <p:cNvPr id="19" name="Text 15"/>
          <p:cNvSpPr txBox="1"/>
          <p:nvPr/>
        </p:nvSpPr>
        <p:spPr>
          <a:xfrm>
            <a:off x="5303520" y="2450592"/>
            <a:ext cx="3291840" cy="502920"/>
          </a:xfrm>
          <a:prstGeom prst="rect">
            <a:avLst/>
          </a:prstGeom>
          <a:noFill/>
          <a:ln/>
        </p:spPr>
        <p:txBody>
          <a:bodyPr wrap="square" lIns="0" tIns="0" rIns="0" bIns="0" rtlCol="0" anchor="ctr"/>
          <a:lstStyle/>
          <a:p>
            <a:pPr indent="0" marL="0">
              <a:buNone/>
            </a:pPr>
            <a:r>
              <a:rPr lang="en-US" sz="1300" b="1" dirty="0">
                <a:solidFill>
                  <a:srgbClr val="2E8656"/>
                </a:solidFill>
                <a:latin typeface="Arial" pitchFamily="34" charset="0"/>
                <a:ea typeface="Arial" pitchFamily="34" charset="-122"/>
                <a:cs typeface="Arial" pitchFamily="34" charset="-120"/>
              </a:rPr>
              <a:t>16:15 first steps</a:t>
            </a:r>
            <a:endParaRPr lang="en-US" sz="1300" dirty="0"/>
          </a:p>
        </p:txBody>
      </p:sp>
      <p:sp>
        <p:nvSpPr>
          <p:cNvPr id="20" name="Text 16"/>
          <p:cNvSpPr txBox="1"/>
          <p:nvPr/>
        </p:nvSpPr>
        <p:spPr>
          <a:xfrm>
            <a:off x="8686800" y="2450592"/>
            <a:ext cx="3291840" cy="502920"/>
          </a:xfrm>
          <a:prstGeom prst="rect">
            <a:avLst/>
          </a:prstGeom>
          <a:noFill/>
          <a:ln/>
        </p:spPr>
        <p:txBody>
          <a:bodyPr wrap="square" lIns="0" tIns="0" rIns="0" bIns="0" rtlCol="0" anchor="ctr"/>
          <a:lstStyle/>
          <a:p>
            <a:pPr indent="0" marL="0">
              <a:buNone/>
            </a:pPr>
            <a:r>
              <a:rPr lang="en-US" sz="1300" b="1" dirty="0">
                <a:solidFill>
                  <a:srgbClr val="2E8656"/>
                </a:solidFill>
                <a:latin typeface="Arial" pitchFamily="34" charset="0"/>
                <a:ea typeface="Arial" pitchFamily="34" charset="-122"/>
                <a:cs typeface="Arial" pitchFamily="34" charset="-120"/>
              </a:rPr>
              <a:t>Overnight: first working version</a:t>
            </a:r>
            <a:endParaRPr lang="en-US" sz="1300" dirty="0"/>
          </a:p>
        </p:txBody>
      </p:sp>
      <p:sp>
        <p:nvSpPr>
          <p:cNvPr id="21" name="Text 17"/>
          <p:cNvSpPr txBox="1"/>
          <p:nvPr/>
        </p:nvSpPr>
        <p:spPr>
          <a:xfrm>
            <a:off x="548640" y="3886200"/>
            <a:ext cx="1097280" cy="457200"/>
          </a:xfrm>
          <a:prstGeom prst="rect">
            <a:avLst/>
          </a:prstGeom>
          <a:noFill/>
          <a:ln/>
        </p:spPr>
        <p:txBody>
          <a:bodyPr wrap="square" lIns="0" tIns="0" rIns="0" bIns="0" rtlCol="0" anchor="ctr"/>
          <a:lstStyle/>
          <a:p>
            <a:pPr indent="0" marL="0">
              <a:buNone/>
            </a:pPr>
            <a:r>
              <a:rPr lang="en-US" sz="1800" b="1" dirty="0">
                <a:solidFill>
                  <a:srgbClr val="36454F"/>
                </a:solidFill>
                <a:latin typeface="Arial" pitchFamily="34" charset="0"/>
                <a:ea typeface="Arial" pitchFamily="34" charset="-122"/>
                <a:cs typeface="Arial" pitchFamily="34" charset="-120"/>
              </a:rPr>
              <a:t>Day 2</a:t>
            </a:r>
            <a:endParaRPr lang="en-US" sz="1800" dirty="0"/>
          </a:p>
        </p:txBody>
      </p:sp>
      <p:sp>
        <p:nvSpPr>
          <p:cNvPr id="22" name="Shape 18"/>
          <p:cNvSpPr/>
          <p:nvPr/>
        </p:nvSpPr>
        <p:spPr>
          <a:xfrm>
            <a:off x="1737360" y="3886200"/>
            <a:ext cx="2560320" cy="685800"/>
          </a:xfrm>
          <a:prstGeom prst="chevron">
            <a:avLst/>
          </a:prstGeom>
          <a:solidFill>
            <a:srgbClr val="36454F"/>
          </a:solidFill>
          <a:ln/>
        </p:spPr>
      </p:sp>
      <p:sp>
        <p:nvSpPr>
          <p:cNvPr id="23" name="Text 19"/>
          <p:cNvSpPr txBox="1"/>
          <p:nvPr/>
        </p:nvSpPr>
        <p:spPr>
          <a:xfrm>
            <a:off x="2057400" y="3886200"/>
            <a:ext cx="20116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Test it</a:t>
            </a:r>
            <a:endParaRPr lang="en-US" sz="1400" dirty="0"/>
          </a:p>
        </p:txBody>
      </p:sp>
      <p:sp>
        <p:nvSpPr>
          <p:cNvPr id="24" name="Shape 20"/>
          <p:cNvSpPr/>
          <p:nvPr/>
        </p:nvSpPr>
        <p:spPr>
          <a:xfrm>
            <a:off x="4251960" y="3886200"/>
            <a:ext cx="2560320" cy="685800"/>
          </a:xfrm>
          <a:prstGeom prst="chevron">
            <a:avLst/>
          </a:prstGeom>
          <a:solidFill>
            <a:srgbClr val="36454F"/>
          </a:solidFill>
          <a:ln/>
        </p:spPr>
      </p:sp>
      <p:sp>
        <p:nvSpPr>
          <p:cNvPr id="25" name="Text 21"/>
          <p:cNvSpPr txBox="1"/>
          <p:nvPr/>
        </p:nvSpPr>
        <p:spPr>
          <a:xfrm>
            <a:off x="4572000" y="3886200"/>
            <a:ext cx="20116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Boundaries</a:t>
            </a:r>
            <a:endParaRPr lang="en-US" sz="1400" dirty="0"/>
          </a:p>
        </p:txBody>
      </p:sp>
      <p:sp>
        <p:nvSpPr>
          <p:cNvPr id="26" name="Shape 22"/>
          <p:cNvSpPr/>
          <p:nvPr/>
        </p:nvSpPr>
        <p:spPr>
          <a:xfrm>
            <a:off x="6766560" y="3886200"/>
            <a:ext cx="2560320" cy="685800"/>
          </a:xfrm>
          <a:prstGeom prst="chevron">
            <a:avLst/>
          </a:prstGeom>
          <a:solidFill>
            <a:srgbClr val="36454F"/>
          </a:solidFill>
          <a:ln/>
        </p:spPr>
      </p:sp>
      <p:sp>
        <p:nvSpPr>
          <p:cNvPr id="27" name="Text 23"/>
          <p:cNvSpPr txBox="1"/>
          <p:nvPr/>
        </p:nvSpPr>
        <p:spPr>
          <a:xfrm>
            <a:off x="7086600" y="3886200"/>
            <a:ext cx="20116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Rules for moves</a:t>
            </a:r>
            <a:endParaRPr lang="en-US" sz="1400" dirty="0"/>
          </a:p>
        </p:txBody>
      </p:sp>
      <p:sp>
        <p:nvSpPr>
          <p:cNvPr id="28" name="Shape 24"/>
          <p:cNvSpPr/>
          <p:nvPr/>
        </p:nvSpPr>
        <p:spPr>
          <a:xfrm>
            <a:off x="9281160" y="3886200"/>
            <a:ext cx="2560320" cy="685800"/>
          </a:xfrm>
          <a:prstGeom prst="chevron">
            <a:avLst/>
          </a:prstGeom>
          <a:solidFill>
            <a:srgbClr val="36454F"/>
          </a:solidFill>
          <a:ln/>
        </p:spPr>
      </p:sp>
      <p:sp>
        <p:nvSpPr>
          <p:cNvPr id="29" name="Text 25"/>
          <p:cNvSpPr txBox="1"/>
          <p:nvPr/>
        </p:nvSpPr>
        <p:spPr>
          <a:xfrm>
            <a:off x="9601200" y="3886200"/>
            <a:ext cx="201168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Next steps</a:t>
            </a:r>
            <a:endParaRPr lang="en-US" sz="1400" dirty="0"/>
          </a:p>
        </p:txBody>
      </p:sp>
      <p:pic>
        <p:nvPicPr>
          <p:cNvPr id="30" name="Image 2" descr="/private/tmp/claude-501/-Users-salehhamed-Outcome-Engine/91861432-41e2-4884-bc97-63c6dff2d021/scratchpad/wk/icons/TbHammer-green.png">    </p:cNvPr>
          <p:cNvPicPr>
            <a:picLocks noChangeAspect="1"/>
          </p:cNvPicPr>
          <p:nvPr/>
        </p:nvPicPr>
        <p:blipFill>
          <a:blip r:embed="rId5"/>
          <a:stretch>
            <a:fillRect/>
          </a:stretch>
        </p:blipFill>
        <p:spPr>
          <a:xfrm>
            <a:off x="731520" y="4818888"/>
            <a:ext cx="384048" cy="384048"/>
          </a:xfrm>
          <a:prstGeom prst="rect">
            <a:avLst/>
          </a:prstGeom>
        </p:spPr>
      </p:pic>
      <p:sp>
        <p:nvSpPr>
          <p:cNvPr id="31" name="Shape 26"/>
          <p:cNvSpPr/>
          <p:nvPr/>
        </p:nvSpPr>
        <p:spPr>
          <a:xfrm>
            <a:off x="1737360" y="4782312"/>
            <a:ext cx="10058400" cy="502920"/>
          </a:xfrm>
          <a:prstGeom prst="roundRect">
            <a:avLst>
              <a:gd name="adj" fmla="val 14545"/>
            </a:avLst>
          </a:prstGeom>
          <a:solidFill>
            <a:srgbClr val="E3F1E9"/>
          </a:solidFill>
          <a:ln/>
        </p:spPr>
      </p:sp>
      <p:sp>
        <p:nvSpPr>
          <p:cNvPr id="32" name="Text 27"/>
          <p:cNvSpPr txBox="1"/>
          <p:nvPr/>
        </p:nvSpPr>
        <p:spPr>
          <a:xfrm>
            <a:off x="1920240" y="4782312"/>
            <a:ext cx="3291840" cy="502920"/>
          </a:xfrm>
          <a:prstGeom prst="rect">
            <a:avLst/>
          </a:prstGeom>
          <a:noFill/>
          <a:ln/>
        </p:spPr>
        <p:txBody>
          <a:bodyPr wrap="square" lIns="0" tIns="0" rIns="0" bIns="0" rtlCol="0" anchor="ctr"/>
          <a:lstStyle/>
          <a:p>
            <a:pPr indent="0" marL="0">
              <a:buNone/>
            </a:pPr>
            <a:r>
              <a:rPr lang="en-US" sz="1300" b="1" dirty="0">
                <a:solidFill>
                  <a:srgbClr val="2E8656"/>
                </a:solidFill>
                <a:latin typeface="Arial" pitchFamily="34" charset="0"/>
                <a:ea typeface="Arial" pitchFamily="34" charset="-122"/>
                <a:cs typeface="Arial" pitchFamily="34" charset="-120"/>
              </a:rPr>
              <a:t>13:00 fixes</a:t>
            </a:r>
            <a:endParaRPr lang="en-US" sz="1300" dirty="0"/>
          </a:p>
        </p:txBody>
      </p:sp>
      <p:sp>
        <p:nvSpPr>
          <p:cNvPr id="33" name="Text 28"/>
          <p:cNvSpPr txBox="1"/>
          <p:nvPr/>
        </p:nvSpPr>
        <p:spPr>
          <a:xfrm>
            <a:off x="5303520" y="4782312"/>
            <a:ext cx="3291840" cy="502920"/>
          </a:xfrm>
          <a:prstGeom prst="rect">
            <a:avLst/>
          </a:prstGeom>
          <a:noFill/>
          <a:ln/>
        </p:spPr>
        <p:txBody>
          <a:bodyPr wrap="square" lIns="0" tIns="0" rIns="0" bIns="0" rtlCol="0" anchor="ctr"/>
          <a:lstStyle/>
          <a:p>
            <a:pPr indent="0" marL="0">
              <a:buNone/>
            </a:pPr>
            <a:r>
              <a:rPr lang="en-US" sz="1300" b="1" dirty="0">
                <a:solidFill>
                  <a:srgbClr val="2E8656"/>
                </a:solidFill>
                <a:latin typeface="Arial" pitchFamily="34" charset="0"/>
                <a:ea typeface="Arial" pitchFamily="34" charset="-122"/>
                <a:cs typeface="Arial" pitchFamily="34" charset="-120"/>
              </a:rPr>
              <a:t>15:00 freeze</a:t>
            </a:r>
            <a:endParaRPr lang="en-US" sz="1300" dirty="0"/>
          </a:p>
        </p:txBody>
      </p:sp>
      <p:sp>
        <p:nvSpPr>
          <p:cNvPr id="34" name="Text 29"/>
          <p:cNvSpPr txBox="1"/>
          <p:nvPr/>
        </p:nvSpPr>
        <p:spPr>
          <a:xfrm>
            <a:off x="8686800" y="4782312"/>
            <a:ext cx="3291840" cy="502920"/>
          </a:xfrm>
          <a:prstGeom prst="rect">
            <a:avLst/>
          </a:prstGeom>
          <a:noFill/>
          <a:ln/>
        </p:spPr>
        <p:txBody>
          <a:bodyPr wrap="square" lIns="0" tIns="0" rIns="0" bIns="0" rtlCol="0" anchor="ctr"/>
          <a:lstStyle/>
          <a:p>
            <a:pPr indent="0" marL="0">
              <a:buNone/>
            </a:pPr>
            <a:r>
              <a:rPr lang="en-US" sz="1300" b="1" dirty="0">
                <a:solidFill>
                  <a:srgbClr val="2E8656"/>
                </a:solidFill>
                <a:latin typeface="Arial" pitchFamily="34" charset="0"/>
                <a:ea typeface="Arial" pitchFamily="34" charset="-122"/>
                <a:cs typeface="Arial" pitchFamily="34" charset="-120"/>
              </a:rPr>
              <a:t>15:15 live review</a:t>
            </a:r>
            <a:endParaRPr lang="en-US" sz="1300" dirty="0"/>
          </a:p>
        </p:txBody>
      </p:sp>
      <p:sp>
        <p:nvSpPr>
          <p:cNvPr id="35" name="Text 30"/>
          <p:cNvSpPr txBox="1"/>
          <p:nvPr/>
        </p:nvSpPr>
        <p:spPr>
          <a:xfrm>
            <a:off x="548640" y="5989320"/>
            <a:ext cx="10972800" cy="320040"/>
          </a:xfrm>
          <a:prstGeom prst="rect">
            <a:avLst/>
          </a:prstGeom>
          <a:noFill/>
          <a:ln/>
        </p:spPr>
        <p:txBody>
          <a:bodyPr wrap="square" lIns="0" tIns="0" rIns="0" bIns="0" rtlCol="0" anchor="t"/>
          <a:lstStyle/>
          <a:p>
            <a:pPr indent="0" marL="0">
              <a:buNone/>
            </a:pPr>
            <a:r>
              <a:rPr lang="en-US" sz="1300" b="1" dirty="0">
                <a:solidFill>
                  <a:srgbClr val="2E8656"/>
                </a:solidFill>
                <a:latin typeface="Arial" pitchFamily="34" charset="0"/>
                <a:ea typeface="Arial" pitchFamily="34" charset="-122"/>
                <a:cs typeface="Arial" pitchFamily="34" charset="-120"/>
              </a:rPr>
              <a:t>Green: </a:t>
            </a:r>
            <a:pPr indent="0" marL="0">
              <a:buNone/>
            </a:pPr>
            <a:r>
              <a:rPr lang="en-US" sz="1300" dirty="0">
                <a:solidFill>
                  <a:srgbClr val="5A5A5A"/>
                </a:solidFill>
                <a:latin typeface="Arial" pitchFamily="34" charset="0"/>
                <a:ea typeface="Arial" pitchFamily="34" charset="-122"/>
                <a:cs typeface="Arial" pitchFamily="34" charset="-120"/>
              </a:rPr>
              <a:t>the engineering team builds what the room agrees, and shows it at set times.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WELCOME AND HOW THE TWO DAYS WORK</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What we decide at the end of Day 2</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13</a:t>
            </a:r>
            <a:endParaRPr lang="en-US" sz="1000" dirty="0"/>
          </a:p>
        </p:txBody>
      </p:sp>
      <p:sp>
        <p:nvSpPr>
          <p:cNvPr id="7" name="Shape 4"/>
          <p:cNvSpPr/>
          <p:nvPr/>
        </p:nvSpPr>
        <p:spPr>
          <a:xfrm>
            <a:off x="548640" y="1554480"/>
            <a:ext cx="2103120" cy="2926080"/>
          </a:xfrm>
          <a:prstGeom prst="roundRect">
            <a:avLst>
              <a:gd name="adj" fmla="val 5217"/>
            </a:avLst>
          </a:prstGeom>
          <a:solidFill>
            <a:srgbClr val="2E8656"/>
          </a:solidFill>
          <a:ln/>
        </p:spPr>
      </p:sp>
      <p:pic>
        <p:nvPicPr>
          <p:cNvPr id="8" name="Image 1" descr="/private/tmp/claude-501/-Users-salehhamed-Outcome-Engine/91861432-41e2-4884-bc97-63c6dff2d021/scratchpad/wk/icons/TbCircleCheck-white.png">    </p:cNvPr>
          <p:cNvPicPr>
            <a:picLocks noChangeAspect="1"/>
          </p:cNvPicPr>
          <p:nvPr/>
        </p:nvPicPr>
        <p:blipFill>
          <a:blip r:embed="rId4"/>
          <a:stretch>
            <a:fillRect/>
          </a:stretch>
        </p:blipFill>
        <p:spPr>
          <a:xfrm>
            <a:off x="1234440" y="1828800"/>
            <a:ext cx="731520" cy="731520"/>
          </a:xfrm>
          <a:prstGeom prst="rect">
            <a:avLst/>
          </a:prstGeom>
        </p:spPr>
      </p:pic>
      <p:sp>
        <p:nvSpPr>
          <p:cNvPr id="9" name="Text 5"/>
          <p:cNvSpPr txBox="1"/>
          <p:nvPr/>
        </p:nvSpPr>
        <p:spPr>
          <a:xfrm>
            <a:off x="548640" y="2697480"/>
            <a:ext cx="2103120" cy="548640"/>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Proceed</a:t>
            </a:r>
            <a:endParaRPr lang="en-US" sz="2400" dirty="0"/>
          </a:p>
        </p:txBody>
      </p:sp>
      <p:sp>
        <p:nvSpPr>
          <p:cNvPr id="10" name="Text 6"/>
          <p:cNvSpPr txBox="1"/>
          <p:nvPr/>
        </p:nvSpPr>
        <p:spPr>
          <a:xfrm>
            <a:off x="685800" y="3291840"/>
            <a:ext cx="1828800" cy="914400"/>
          </a:xfrm>
          <a:prstGeom prst="rect">
            <a:avLst/>
          </a:prstGeom>
          <a:noFill/>
          <a:ln/>
        </p:spPr>
        <p:txBody>
          <a:bodyPr wrap="square" lIns="0" tIns="0" rIns="0" bIns="0" rtlCol="0" anchor="t"/>
          <a:lstStyle/>
          <a:p>
            <a:pPr algn="ctr" indent="0" marL="0">
              <a:buNone/>
            </a:pPr>
            <a:r>
              <a:rPr lang="en-US" sz="1350" dirty="0">
                <a:solidFill>
                  <a:srgbClr val="FFFFFF"/>
                </a:solidFill>
                <a:latin typeface="Arial" pitchFamily="34" charset="0"/>
                <a:ea typeface="Arial" pitchFamily="34" charset="-122"/>
                <a:cs typeface="Arial" pitchFamily="34" charset="-120"/>
              </a:rPr>
              <a:t>Go ahead as planned</a:t>
            </a:r>
            <a:endParaRPr lang="en-US" sz="1350" dirty="0"/>
          </a:p>
        </p:txBody>
      </p:sp>
      <p:sp>
        <p:nvSpPr>
          <p:cNvPr id="11" name="Shape 7"/>
          <p:cNvSpPr/>
          <p:nvPr/>
        </p:nvSpPr>
        <p:spPr>
          <a:xfrm>
            <a:off x="2926080" y="1554480"/>
            <a:ext cx="2103120" cy="2926080"/>
          </a:xfrm>
          <a:prstGeom prst="roundRect">
            <a:avLst>
              <a:gd name="adj" fmla="val 5217"/>
            </a:avLst>
          </a:prstGeom>
          <a:solidFill>
            <a:srgbClr val="C98A1A"/>
          </a:solidFill>
          <a:ln/>
        </p:spPr>
      </p:sp>
      <p:pic>
        <p:nvPicPr>
          <p:cNvPr id="12" name="Image 2" descr="/private/tmp/claude-501/-Users-salehhamed-Outcome-Engine/91861432-41e2-4884-bc97-63c6dff2d021/scratchpad/wk/icons/TbScissors-white.png">    </p:cNvPr>
          <p:cNvPicPr>
            <a:picLocks noChangeAspect="1"/>
          </p:cNvPicPr>
          <p:nvPr/>
        </p:nvPicPr>
        <p:blipFill>
          <a:blip r:embed="rId5"/>
          <a:stretch>
            <a:fillRect/>
          </a:stretch>
        </p:blipFill>
        <p:spPr>
          <a:xfrm>
            <a:off x="3611880" y="1828800"/>
            <a:ext cx="731520" cy="731520"/>
          </a:xfrm>
          <a:prstGeom prst="rect">
            <a:avLst/>
          </a:prstGeom>
        </p:spPr>
      </p:pic>
      <p:sp>
        <p:nvSpPr>
          <p:cNvPr id="13" name="Text 8"/>
          <p:cNvSpPr txBox="1"/>
          <p:nvPr/>
        </p:nvSpPr>
        <p:spPr>
          <a:xfrm>
            <a:off x="2926080" y="2697480"/>
            <a:ext cx="2103120" cy="548640"/>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Narrow</a:t>
            </a:r>
            <a:endParaRPr lang="en-US" sz="2400" dirty="0"/>
          </a:p>
        </p:txBody>
      </p:sp>
      <p:sp>
        <p:nvSpPr>
          <p:cNvPr id="14" name="Text 9"/>
          <p:cNvSpPr txBox="1"/>
          <p:nvPr/>
        </p:nvSpPr>
        <p:spPr>
          <a:xfrm>
            <a:off x="3063240" y="3291840"/>
            <a:ext cx="1828800" cy="914400"/>
          </a:xfrm>
          <a:prstGeom prst="rect">
            <a:avLst/>
          </a:prstGeom>
          <a:noFill/>
          <a:ln/>
        </p:spPr>
        <p:txBody>
          <a:bodyPr wrap="square" lIns="0" tIns="0" rIns="0" bIns="0" rtlCol="0" anchor="t"/>
          <a:lstStyle/>
          <a:p>
            <a:pPr algn="ctr" indent="0" marL="0">
              <a:buNone/>
            </a:pPr>
            <a:r>
              <a:rPr lang="en-US" sz="1350" dirty="0">
                <a:solidFill>
                  <a:srgbClr val="FFFFFF"/>
                </a:solidFill>
                <a:latin typeface="Arial" pitchFamily="34" charset="0"/>
                <a:ea typeface="Arial" pitchFamily="34" charset="-122"/>
                <a:cs typeface="Arial" pitchFamily="34" charset="-120"/>
              </a:rPr>
              <a:t>Go ahead with a smaller scope</a:t>
            </a:r>
            <a:endParaRPr lang="en-US" sz="1350" dirty="0"/>
          </a:p>
        </p:txBody>
      </p:sp>
      <p:sp>
        <p:nvSpPr>
          <p:cNvPr id="15" name="Shape 10"/>
          <p:cNvSpPr/>
          <p:nvPr/>
        </p:nvSpPr>
        <p:spPr>
          <a:xfrm>
            <a:off x="5303520" y="1554480"/>
            <a:ext cx="2103120" cy="2926080"/>
          </a:xfrm>
          <a:prstGeom prst="roundRect">
            <a:avLst>
              <a:gd name="adj" fmla="val 5217"/>
            </a:avLst>
          </a:prstGeom>
          <a:solidFill>
            <a:srgbClr val="36454F"/>
          </a:solidFill>
          <a:ln/>
        </p:spPr>
      </p:sp>
      <p:pic>
        <p:nvPicPr>
          <p:cNvPr id="16" name="Image 3" descr="/private/tmp/claude-501/-Users-salehhamed-Outcome-Engine/91861432-41e2-4884-bc97-63c6dff2d021/scratchpad/wk/icons/TbPlayerStop-white.png">    </p:cNvPr>
          <p:cNvPicPr>
            <a:picLocks noChangeAspect="1"/>
          </p:cNvPicPr>
          <p:nvPr/>
        </p:nvPicPr>
        <p:blipFill>
          <a:blip r:embed="rId6"/>
          <a:stretch>
            <a:fillRect/>
          </a:stretch>
        </p:blipFill>
        <p:spPr>
          <a:xfrm>
            <a:off x="5989320" y="1828800"/>
            <a:ext cx="731520" cy="731520"/>
          </a:xfrm>
          <a:prstGeom prst="rect">
            <a:avLst/>
          </a:prstGeom>
        </p:spPr>
      </p:pic>
      <p:sp>
        <p:nvSpPr>
          <p:cNvPr id="17" name="Text 11"/>
          <p:cNvSpPr txBox="1"/>
          <p:nvPr/>
        </p:nvSpPr>
        <p:spPr>
          <a:xfrm>
            <a:off x="5303520" y="2697480"/>
            <a:ext cx="2103120" cy="548640"/>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Stop</a:t>
            </a:r>
            <a:endParaRPr lang="en-US" sz="2400" dirty="0"/>
          </a:p>
        </p:txBody>
      </p:sp>
      <p:sp>
        <p:nvSpPr>
          <p:cNvPr id="18" name="Text 12"/>
          <p:cNvSpPr txBox="1"/>
          <p:nvPr/>
        </p:nvSpPr>
        <p:spPr>
          <a:xfrm>
            <a:off x="5440680" y="3291840"/>
            <a:ext cx="1828800" cy="914400"/>
          </a:xfrm>
          <a:prstGeom prst="rect">
            <a:avLst/>
          </a:prstGeom>
          <a:noFill/>
          <a:ln/>
        </p:spPr>
        <p:txBody>
          <a:bodyPr wrap="square" lIns="0" tIns="0" rIns="0" bIns="0" rtlCol="0" anchor="t"/>
          <a:lstStyle/>
          <a:p>
            <a:pPr algn="ctr" indent="0" marL="0">
              <a:buNone/>
            </a:pPr>
            <a:r>
              <a:rPr lang="en-US" sz="1350" dirty="0">
                <a:solidFill>
                  <a:srgbClr val="FFFFFF"/>
                </a:solidFill>
                <a:latin typeface="Arial" pitchFamily="34" charset="0"/>
                <a:ea typeface="Arial" pitchFamily="34" charset="-122"/>
                <a:cs typeface="Arial" pitchFamily="34" charset="-120"/>
              </a:rPr>
              <a:t>Not now, and we say why</a:t>
            </a:r>
            <a:endParaRPr lang="en-US" sz="1350" dirty="0"/>
          </a:p>
        </p:txBody>
      </p:sp>
      <p:sp>
        <p:nvSpPr>
          <p:cNvPr id="19" name="Text 13"/>
          <p:cNvSpPr txBox="1"/>
          <p:nvPr/>
        </p:nvSpPr>
        <p:spPr>
          <a:xfrm>
            <a:off x="7863840" y="1554480"/>
            <a:ext cx="3749040" cy="365760"/>
          </a:xfrm>
          <a:prstGeom prst="rect">
            <a:avLst/>
          </a:prstGeom>
          <a:noFill/>
          <a:ln/>
        </p:spPr>
        <p:txBody>
          <a:bodyPr wrap="square" lIns="0" tIns="0" rIns="0" bIns="0" rtlCol="0" anchor="t"/>
          <a:lstStyle/>
          <a:p>
            <a:pPr indent="0" marL="0">
              <a:buNone/>
            </a:pPr>
            <a:r>
              <a:rPr lang="en-US" sz="1500" b="1" dirty="0">
                <a:solidFill>
                  <a:srgbClr val="287079"/>
                </a:solidFill>
                <a:latin typeface="Arial" pitchFamily="34" charset="0"/>
                <a:ea typeface="Arial" pitchFamily="34" charset="-122"/>
                <a:cs typeface="Arial" pitchFamily="34" charset="-120"/>
              </a:rPr>
              <a:t>Decided against six criteria</a:t>
            </a:r>
            <a:endParaRPr lang="en-US" sz="1500" dirty="0"/>
          </a:p>
        </p:txBody>
      </p:sp>
      <p:pic>
        <p:nvPicPr>
          <p:cNvPr id="20" name="Image 4" descr="/private/tmp/claude-501/-Users-salehhamed-Outcome-Engine/91861432-41e2-4884-bc97-63c6dff2d021/scratchpad/wk/icons/TbTarget-teal.png">    </p:cNvPr>
          <p:cNvPicPr>
            <a:picLocks noChangeAspect="1"/>
          </p:cNvPicPr>
          <p:nvPr/>
        </p:nvPicPr>
        <p:blipFill>
          <a:blip r:embed="rId7"/>
          <a:stretch>
            <a:fillRect/>
          </a:stretch>
        </p:blipFill>
        <p:spPr>
          <a:xfrm>
            <a:off x="7863840" y="2039112"/>
            <a:ext cx="292608" cy="292608"/>
          </a:xfrm>
          <a:prstGeom prst="rect">
            <a:avLst/>
          </a:prstGeom>
        </p:spPr>
      </p:pic>
      <p:sp>
        <p:nvSpPr>
          <p:cNvPr id="21" name="Text 14"/>
          <p:cNvSpPr txBox="1"/>
          <p:nvPr/>
        </p:nvSpPr>
        <p:spPr>
          <a:xfrm>
            <a:off x="8275320" y="2011680"/>
            <a:ext cx="3291840" cy="365760"/>
          </a:xfrm>
          <a:prstGeom prst="rect">
            <a:avLst/>
          </a:prstGeom>
          <a:noFill/>
          <a:ln/>
        </p:spPr>
        <p:txBody>
          <a:bodyPr wrap="square" lIns="0" tIns="0" rIns="0" bIns="0" rtlCol="0" anchor="ctr"/>
          <a:lstStyle/>
          <a:p>
            <a:pPr indent="0" marL="0">
              <a:buNone/>
            </a:pPr>
            <a:r>
              <a:rPr lang="en-US" sz="1400" dirty="0">
                <a:solidFill>
                  <a:srgbClr val="1F2A33"/>
                </a:solidFill>
                <a:latin typeface="Arial" pitchFamily="34" charset="0"/>
                <a:ea typeface="Arial" pitchFamily="34" charset="-122"/>
                <a:cs typeface="Arial" pitchFamily="34" charset="-120"/>
              </a:rPr>
              <a:t>Outcome agreed</a:t>
            </a:r>
            <a:endParaRPr lang="en-US" sz="1400" dirty="0"/>
          </a:p>
        </p:txBody>
      </p:sp>
      <p:pic>
        <p:nvPicPr>
          <p:cNvPr id="22" name="Image 5" descr="/private/tmp/claude-501/-Users-salehhamed-Outcome-Engine/91861432-41e2-4884-bc97-63c6dff2d021/scratchpad/wk/icons/TbUserCheck-teal.png">    </p:cNvPr>
          <p:cNvPicPr>
            <a:picLocks noChangeAspect="1"/>
          </p:cNvPicPr>
          <p:nvPr/>
        </p:nvPicPr>
        <p:blipFill>
          <a:blip r:embed="rId8"/>
          <a:stretch>
            <a:fillRect/>
          </a:stretch>
        </p:blipFill>
        <p:spPr>
          <a:xfrm>
            <a:off x="7863840" y="2468880"/>
            <a:ext cx="292608" cy="292608"/>
          </a:xfrm>
          <a:prstGeom prst="rect">
            <a:avLst/>
          </a:prstGeom>
        </p:spPr>
      </p:pic>
      <p:sp>
        <p:nvSpPr>
          <p:cNvPr id="23" name="Text 15"/>
          <p:cNvSpPr txBox="1"/>
          <p:nvPr/>
        </p:nvSpPr>
        <p:spPr>
          <a:xfrm>
            <a:off x="8275320" y="2441448"/>
            <a:ext cx="3291840" cy="365760"/>
          </a:xfrm>
          <a:prstGeom prst="rect">
            <a:avLst/>
          </a:prstGeom>
          <a:noFill/>
          <a:ln/>
        </p:spPr>
        <p:txBody>
          <a:bodyPr wrap="square" lIns="0" tIns="0" rIns="0" bIns="0" rtlCol="0" anchor="ctr"/>
          <a:lstStyle/>
          <a:p>
            <a:pPr indent="0" marL="0">
              <a:buNone/>
            </a:pPr>
            <a:r>
              <a:rPr lang="en-US" sz="1400" dirty="0">
                <a:solidFill>
                  <a:srgbClr val="1F2A33"/>
                </a:solidFill>
                <a:latin typeface="Arial" pitchFamily="34" charset="0"/>
                <a:ea typeface="Arial" pitchFamily="34" charset="-122"/>
                <a:cs typeface="Arial" pitchFamily="34" charset="-120"/>
              </a:rPr>
              <a:t>A person for each decision</a:t>
            </a:r>
            <a:endParaRPr lang="en-US" sz="1400" dirty="0"/>
          </a:p>
        </p:txBody>
      </p:sp>
      <p:pic>
        <p:nvPicPr>
          <p:cNvPr id="24" name="Image 6" descr="/private/tmp/claude-501/-Users-salehhamed-Outcome-Engine/91861432-41e2-4884-bc97-63c6dff2d021/scratchpad/wk/icons/TbPlayerPlay-teal.png">    </p:cNvPr>
          <p:cNvPicPr>
            <a:picLocks noChangeAspect="1"/>
          </p:cNvPicPr>
          <p:nvPr/>
        </p:nvPicPr>
        <p:blipFill>
          <a:blip r:embed="rId9"/>
          <a:stretch>
            <a:fillRect/>
          </a:stretch>
        </p:blipFill>
        <p:spPr>
          <a:xfrm>
            <a:off x="7863840" y="2898648"/>
            <a:ext cx="292608" cy="292608"/>
          </a:xfrm>
          <a:prstGeom prst="rect">
            <a:avLst/>
          </a:prstGeom>
        </p:spPr>
      </p:pic>
      <p:sp>
        <p:nvSpPr>
          <p:cNvPr id="25" name="Text 16"/>
          <p:cNvSpPr txBox="1"/>
          <p:nvPr/>
        </p:nvSpPr>
        <p:spPr>
          <a:xfrm>
            <a:off x="8275320" y="2871216"/>
            <a:ext cx="3291840" cy="365760"/>
          </a:xfrm>
          <a:prstGeom prst="rect">
            <a:avLst/>
          </a:prstGeom>
          <a:noFill/>
          <a:ln/>
        </p:spPr>
        <p:txBody>
          <a:bodyPr wrap="square" lIns="0" tIns="0" rIns="0" bIns="0" rtlCol="0" anchor="ctr"/>
          <a:lstStyle/>
          <a:p>
            <a:pPr indent="0" marL="0">
              <a:buNone/>
            </a:pPr>
            <a:r>
              <a:rPr lang="en-US" sz="1400" dirty="0">
                <a:solidFill>
                  <a:srgbClr val="1F2A33"/>
                </a:solidFill>
                <a:latin typeface="Arial" pitchFamily="34" charset="0"/>
                <a:ea typeface="Arial" pitchFamily="34" charset="-122"/>
                <a:cs typeface="Arial" pitchFamily="34" charset="-120"/>
              </a:rPr>
              <a:t>Live run, checked</a:t>
            </a:r>
            <a:endParaRPr lang="en-US" sz="1400" dirty="0"/>
          </a:p>
        </p:txBody>
      </p:sp>
      <p:pic>
        <p:nvPicPr>
          <p:cNvPr id="26" name="Image 7" descr="/private/tmp/claude-501/-Users-salehhamed-Outcome-Engine/91861432-41e2-4884-bc97-63c6dff2d021/scratchpad/wk/icons/TbStairsUp-teal.png">    </p:cNvPr>
          <p:cNvPicPr>
            <a:picLocks noChangeAspect="1"/>
          </p:cNvPicPr>
          <p:nvPr/>
        </p:nvPicPr>
        <p:blipFill>
          <a:blip r:embed="rId10"/>
          <a:stretch>
            <a:fillRect/>
          </a:stretch>
        </p:blipFill>
        <p:spPr>
          <a:xfrm>
            <a:off x="7863840" y="3328416"/>
            <a:ext cx="292608" cy="292608"/>
          </a:xfrm>
          <a:prstGeom prst="rect">
            <a:avLst/>
          </a:prstGeom>
        </p:spPr>
      </p:pic>
      <p:sp>
        <p:nvSpPr>
          <p:cNvPr id="27" name="Text 17"/>
          <p:cNvSpPr txBox="1"/>
          <p:nvPr/>
        </p:nvSpPr>
        <p:spPr>
          <a:xfrm>
            <a:off x="8275320" y="3300984"/>
            <a:ext cx="3291840" cy="365760"/>
          </a:xfrm>
          <a:prstGeom prst="rect">
            <a:avLst/>
          </a:prstGeom>
          <a:noFill/>
          <a:ln/>
        </p:spPr>
        <p:txBody>
          <a:bodyPr wrap="square" lIns="0" tIns="0" rIns="0" bIns="0" rtlCol="0" anchor="ctr"/>
          <a:lstStyle/>
          <a:p>
            <a:pPr indent="0" marL="0">
              <a:buNone/>
            </a:pPr>
            <a:r>
              <a:rPr lang="en-US" sz="1400" dirty="0">
                <a:solidFill>
                  <a:srgbClr val="1F2A33"/>
                </a:solidFill>
                <a:latin typeface="Arial" pitchFamily="34" charset="0"/>
                <a:ea typeface="Arial" pitchFamily="34" charset="-122"/>
                <a:cs typeface="Arial" pitchFamily="34" charset="-120"/>
              </a:rPr>
              <a:t>Rules for moving people</a:t>
            </a:r>
            <a:endParaRPr lang="en-US" sz="1400" dirty="0"/>
          </a:p>
        </p:txBody>
      </p:sp>
      <p:pic>
        <p:nvPicPr>
          <p:cNvPr id="28" name="Image 8" descr="/private/tmp/claude-501/-Users-salehhamed-Outcome-Engine/91861432-41e2-4884-bc97-63c6dff2d021/scratchpad/wk/icons/TbKey-teal.png">    </p:cNvPr>
          <p:cNvPicPr>
            <a:picLocks noChangeAspect="1"/>
          </p:cNvPicPr>
          <p:nvPr/>
        </p:nvPicPr>
        <p:blipFill>
          <a:blip r:embed="rId11"/>
          <a:stretch>
            <a:fillRect/>
          </a:stretch>
        </p:blipFill>
        <p:spPr>
          <a:xfrm>
            <a:off x="7863840" y="3758184"/>
            <a:ext cx="292608" cy="292608"/>
          </a:xfrm>
          <a:prstGeom prst="rect">
            <a:avLst/>
          </a:prstGeom>
        </p:spPr>
      </p:pic>
      <p:sp>
        <p:nvSpPr>
          <p:cNvPr id="29" name="Text 18"/>
          <p:cNvSpPr txBox="1"/>
          <p:nvPr/>
        </p:nvSpPr>
        <p:spPr>
          <a:xfrm>
            <a:off x="8275320" y="3730752"/>
            <a:ext cx="3291840" cy="365760"/>
          </a:xfrm>
          <a:prstGeom prst="rect">
            <a:avLst/>
          </a:prstGeom>
          <a:noFill/>
          <a:ln/>
        </p:spPr>
        <p:txBody>
          <a:bodyPr wrap="square" lIns="0" tIns="0" rIns="0" bIns="0" rtlCol="0" anchor="ctr"/>
          <a:lstStyle/>
          <a:p>
            <a:pPr indent="0" marL="0">
              <a:buNone/>
            </a:pPr>
            <a:r>
              <a:rPr lang="en-US" sz="1400" dirty="0">
                <a:solidFill>
                  <a:srgbClr val="1F2A33"/>
                </a:solidFill>
                <a:latin typeface="Arial" pitchFamily="34" charset="0"/>
                <a:ea typeface="Arial" pitchFamily="34" charset="-122"/>
                <a:cs typeface="Arial" pitchFamily="34" charset="-120"/>
              </a:rPr>
              <a:t>Path to data access</a:t>
            </a:r>
            <a:endParaRPr lang="en-US" sz="1400" dirty="0"/>
          </a:p>
        </p:txBody>
      </p:sp>
      <p:pic>
        <p:nvPicPr>
          <p:cNvPr id="30" name="Image 9" descr="/private/tmp/claude-501/-Users-salehhamed-Outcome-Engine/91861432-41e2-4884-bc97-63c6dff2d021/scratchpad/wk/icons/TbCalendarCheck-teal.png">    </p:cNvPr>
          <p:cNvPicPr>
            <a:picLocks noChangeAspect="1"/>
          </p:cNvPicPr>
          <p:nvPr/>
        </p:nvPicPr>
        <p:blipFill>
          <a:blip r:embed="rId12"/>
          <a:stretch>
            <a:fillRect/>
          </a:stretch>
        </p:blipFill>
        <p:spPr>
          <a:xfrm>
            <a:off x="7863840" y="4187952"/>
            <a:ext cx="292608" cy="292608"/>
          </a:xfrm>
          <a:prstGeom prst="rect">
            <a:avLst/>
          </a:prstGeom>
        </p:spPr>
      </p:pic>
      <p:sp>
        <p:nvSpPr>
          <p:cNvPr id="31" name="Text 19"/>
          <p:cNvSpPr txBox="1"/>
          <p:nvPr/>
        </p:nvSpPr>
        <p:spPr>
          <a:xfrm>
            <a:off x="8275320" y="4160520"/>
            <a:ext cx="3291840" cy="365760"/>
          </a:xfrm>
          <a:prstGeom prst="rect">
            <a:avLst/>
          </a:prstGeom>
          <a:noFill/>
          <a:ln/>
        </p:spPr>
        <p:txBody>
          <a:bodyPr wrap="square" lIns="0" tIns="0" rIns="0" bIns="0" rtlCol="0" anchor="ctr"/>
          <a:lstStyle/>
          <a:p>
            <a:pPr indent="0" marL="0">
              <a:buNone/>
            </a:pPr>
            <a:r>
              <a:rPr lang="en-US" sz="1400" dirty="0">
                <a:solidFill>
                  <a:srgbClr val="1F2A33"/>
                </a:solidFill>
                <a:latin typeface="Arial" pitchFamily="34" charset="0"/>
                <a:ea typeface="Arial" pitchFamily="34" charset="-122"/>
                <a:cs typeface="Arial" pitchFamily="34" charset="-120"/>
              </a:rPr>
              <a:t>Owners and dates</a:t>
            </a:r>
            <a:endParaRPr lang="en-US" sz="1400" dirty="0"/>
          </a:p>
        </p:txBody>
      </p:sp>
      <p:sp>
        <p:nvSpPr>
          <p:cNvPr id="32" name="Shape 20"/>
          <p:cNvSpPr/>
          <p:nvPr/>
        </p:nvSpPr>
        <p:spPr>
          <a:xfrm>
            <a:off x="548640" y="4846320"/>
            <a:ext cx="11091672" cy="1097280"/>
          </a:xfrm>
          <a:prstGeom prst="roundRect">
            <a:avLst>
              <a:gd name="adj" fmla="val 6667"/>
            </a:avLst>
          </a:prstGeom>
          <a:solidFill>
            <a:srgbClr val="FFF0EC"/>
          </a:solidFill>
          <a:ln/>
        </p:spPr>
      </p:sp>
      <p:sp>
        <p:nvSpPr>
          <p:cNvPr id="33" name="Text 21"/>
          <p:cNvSpPr txBox="1"/>
          <p:nvPr/>
        </p:nvSpPr>
        <p:spPr>
          <a:xfrm>
            <a:off x="868680" y="4846320"/>
            <a:ext cx="10515600" cy="1097280"/>
          </a:xfrm>
          <a:prstGeom prst="rect">
            <a:avLst/>
          </a:prstGeom>
          <a:noFill/>
          <a:ln/>
        </p:spPr>
        <p:txBody>
          <a:bodyPr wrap="square" lIns="0" tIns="0" rIns="0" bIns="0" rtlCol="0" anchor="ctr"/>
          <a:lstStyle/>
          <a:p>
            <a:pPr indent="0" marL="0">
              <a:buNone/>
            </a:pPr>
            <a:r>
              <a:rPr lang="en-US" sz="2200" b="1" dirty="0">
                <a:solidFill>
                  <a:srgbClr val="FF462D"/>
                </a:solidFill>
                <a:latin typeface="Arial" pitchFamily="34" charset="0"/>
                <a:ea typeface="Arial" pitchFamily="34" charset="-122"/>
                <a:cs typeface="Arial" pitchFamily="34" charset="-120"/>
              </a:rPr>
              <a:t>A clear Narrow or Stop is also a success.</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WELCOME AND HOW THE TWO DAYS WORK</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How we work together</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14</a:t>
            </a:r>
            <a:endParaRPr lang="en-US" sz="1000" dirty="0"/>
          </a:p>
        </p:txBody>
      </p:sp>
      <p:sp>
        <p:nvSpPr>
          <p:cNvPr id="7" name="Shape 4"/>
          <p:cNvSpPr/>
          <p:nvPr/>
        </p:nvSpPr>
        <p:spPr>
          <a:xfrm>
            <a:off x="548640" y="1600200"/>
            <a:ext cx="2651760" cy="3657600"/>
          </a:xfrm>
          <a:prstGeom prst="roundRect">
            <a:avLst>
              <a:gd name="adj" fmla="val 2759"/>
            </a:avLst>
          </a:prstGeom>
          <a:solidFill>
            <a:srgbClr val="FFFFFF"/>
          </a:solidFill>
          <a:ln w="12700">
            <a:solidFill>
              <a:srgbClr val="D9DEE2"/>
            </a:solidFill>
            <a:prstDash val="solid"/>
          </a:ln>
        </p:spPr>
      </p:sp>
      <p:sp>
        <p:nvSpPr>
          <p:cNvPr id="8" name="Shape 5"/>
          <p:cNvSpPr/>
          <p:nvPr/>
        </p:nvSpPr>
        <p:spPr>
          <a:xfrm>
            <a:off x="1417320" y="1874520"/>
            <a:ext cx="914400" cy="914400"/>
          </a:xfrm>
          <a:prstGeom prst="ellipse">
            <a:avLst/>
          </a:prstGeom>
          <a:solidFill>
            <a:srgbClr val="287079"/>
          </a:solidFill>
          <a:ln/>
        </p:spPr>
      </p:sp>
      <p:pic>
        <p:nvPicPr>
          <p:cNvPr id="9" name="Image 1" descr="/private/tmp/claude-501/-Users-salehhamed-Outcome-Engine/91861432-41e2-4884-bc97-63c6dff2d021/scratchpad/wk/icons/TbPencil-white.png">    </p:cNvPr>
          <p:cNvPicPr>
            <a:picLocks noChangeAspect="1"/>
          </p:cNvPicPr>
          <p:nvPr/>
        </p:nvPicPr>
        <p:blipFill>
          <a:blip r:embed="rId4"/>
          <a:stretch>
            <a:fillRect/>
          </a:stretch>
        </p:blipFill>
        <p:spPr>
          <a:xfrm>
            <a:off x="1600200" y="2057400"/>
            <a:ext cx="548640" cy="548640"/>
          </a:xfrm>
          <a:prstGeom prst="rect">
            <a:avLst/>
          </a:prstGeom>
        </p:spPr>
      </p:pic>
      <p:sp>
        <p:nvSpPr>
          <p:cNvPr id="10" name="Text 6"/>
          <p:cNvSpPr txBox="1"/>
          <p:nvPr/>
        </p:nvSpPr>
        <p:spPr>
          <a:xfrm>
            <a:off x="731520" y="3017520"/>
            <a:ext cx="2286000" cy="731520"/>
          </a:xfrm>
          <a:prstGeom prst="rect">
            <a:avLst/>
          </a:prstGeom>
          <a:noFill/>
          <a:ln/>
        </p:spPr>
        <p:txBody>
          <a:bodyPr wrap="square" lIns="0" tIns="0" rIns="0" bIns="0" rtlCol="0" anchor="t"/>
          <a:lstStyle/>
          <a:p>
            <a:pPr algn="ctr" indent="0" marL="0">
              <a:buNone/>
            </a:pPr>
            <a:r>
              <a:rPr lang="en-US" sz="1800" b="1" dirty="0">
                <a:solidFill>
                  <a:srgbClr val="1F2A33"/>
                </a:solidFill>
                <a:latin typeface="Arial" pitchFamily="34" charset="0"/>
                <a:ea typeface="Arial" pitchFamily="34" charset="-122"/>
                <a:cs typeface="Arial" pitchFamily="34" charset="-120"/>
              </a:rPr>
              <a:t>Correct the draft</a:t>
            </a:r>
            <a:endParaRPr lang="en-US" sz="1800" dirty="0"/>
          </a:p>
        </p:txBody>
      </p:sp>
      <p:sp>
        <p:nvSpPr>
          <p:cNvPr id="11" name="Text 7"/>
          <p:cNvSpPr txBox="1"/>
          <p:nvPr/>
        </p:nvSpPr>
        <p:spPr>
          <a:xfrm>
            <a:off x="731520" y="3794760"/>
            <a:ext cx="2286000" cy="1280160"/>
          </a:xfrm>
          <a:prstGeom prst="rect">
            <a:avLst/>
          </a:prstGeom>
          <a:noFill/>
          <a:ln/>
        </p:spPr>
        <p:txBody>
          <a:bodyPr wrap="square" lIns="0" tIns="0" rIns="0" bIns="0" rtlCol="0" anchor="t"/>
          <a:lstStyle/>
          <a:p>
            <a:pPr algn="ctr" indent="0" marL="0">
              <a:buNone/>
            </a:pPr>
            <a:r>
              <a:rPr lang="en-US" sz="1400" dirty="0">
                <a:solidFill>
                  <a:srgbClr val="5A5A5A"/>
                </a:solidFill>
                <a:latin typeface="Arial" pitchFamily="34" charset="0"/>
                <a:ea typeface="Arial" pitchFamily="34" charset="-122"/>
                <a:cs typeface="Arial" pitchFamily="34" charset="-120"/>
              </a:rPr>
              <a:t>Everything starts from a draft. Fix it, don't start over.</a:t>
            </a:r>
            <a:endParaRPr lang="en-US" sz="1400" dirty="0"/>
          </a:p>
        </p:txBody>
      </p:sp>
      <p:sp>
        <p:nvSpPr>
          <p:cNvPr id="12" name="Shape 8"/>
          <p:cNvSpPr/>
          <p:nvPr/>
        </p:nvSpPr>
        <p:spPr>
          <a:xfrm>
            <a:off x="3364992" y="1600200"/>
            <a:ext cx="2651760" cy="3657600"/>
          </a:xfrm>
          <a:prstGeom prst="roundRect">
            <a:avLst>
              <a:gd name="adj" fmla="val 2759"/>
            </a:avLst>
          </a:prstGeom>
          <a:solidFill>
            <a:srgbClr val="FFFFFF"/>
          </a:solidFill>
          <a:ln w="12700">
            <a:solidFill>
              <a:srgbClr val="D9DEE2"/>
            </a:solidFill>
            <a:prstDash val="solid"/>
          </a:ln>
        </p:spPr>
      </p:sp>
      <p:sp>
        <p:nvSpPr>
          <p:cNvPr id="13" name="Shape 9"/>
          <p:cNvSpPr/>
          <p:nvPr/>
        </p:nvSpPr>
        <p:spPr>
          <a:xfrm>
            <a:off x="4233672" y="1874520"/>
            <a:ext cx="914400" cy="914400"/>
          </a:xfrm>
          <a:prstGeom prst="ellipse">
            <a:avLst/>
          </a:prstGeom>
          <a:solidFill>
            <a:srgbClr val="287079"/>
          </a:solidFill>
          <a:ln/>
        </p:spPr>
      </p:sp>
      <p:pic>
        <p:nvPicPr>
          <p:cNvPr id="14" name="Image 2" descr="/private/tmp/claude-501/-Users-salehhamed-Outcome-Engine/91861432-41e2-4884-bc97-63c6dff2d021/scratchpad/wk/icons/TbGavel-white.png">    </p:cNvPr>
          <p:cNvPicPr>
            <a:picLocks noChangeAspect="1"/>
          </p:cNvPicPr>
          <p:nvPr/>
        </p:nvPicPr>
        <p:blipFill>
          <a:blip r:embed="rId5"/>
          <a:stretch>
            <a:fillRect/>
          </a:stretch>
        </p:blipFill>
        <p:spPr>
          <a:xfrm>
            <a:off x="4416552" y="2057400"/>
            <a:ext cx="548640" cy="548640"/>
          </a:xfrm>
          <a:prstGeom prst="rect">
            <a:avLst/>
          </a:prstGeom>
        </p:spPr>
      </p:pic>
      <p:sp>
        <p:nvSpPr>
          <p:cNvPr id="15" name="Text 10"/>
          <p:cNvSpPr txBox="1"/>
          <p:nvPr/>
        </p:nvSpPr>
        <p:spPr>
          <a:xfrm>
            <a:off x="3547872" y="3017520"/>
            <a:ext cx="2286000" cy="731520"/>
          </a:xfrm>
          <a:prstGeom prst="rect">
            <a:avLst/>
          </a:prstGeom>
          <a:noFill/>
          <a:ln/>
        </p:spPr>
        <p:txBody>
          <a:bodyPr wrap="square" lIns="0" tIns="0" rIns="0" bIns="0" rtlCol="0" anchor="t"/>
          <a:lstStyle/>
          <a:p>
            <a:pPr algn="ctr" indent="0" marL="0">
              <a:buNone/>
            </a:pPr>
            <a:r>
              <a:rPr lang="en-US" sz="1800" b="1" dirty="0">
                <a:solidFill>
                  <a:srgbClr val="1F2A33"/>
                </a:solidFill>
                <a:latin typeface="Arial" pitchFamily="34" charset="0"/>
                <a:ea typeface="Arial" pitchFamily="34" charset="-122"/>
                <a:cs typeface="Arial" pitchFamily="34" charset="-120"/>
              </a:rPr>
              <a:t>Decide, don't wait for everyone</a:t>
            </a:r>
            <a:endParaRPr lang="en-US" sz="1800" dirty="0"/>
          </a:p>
        </p:txBody>
      </p:sp>
      <p:sp>
        <p:nvSpPr>
          <p:cNvPr id="16" name="Text 11"/>
          <p:cNvSpPr txBox="1"/>
          <p:nvPr/>
        </p:nvSpPr>
        <p:spPr>
          <a:xfrm>
            <a:off x="3547872" y="3794760"/>
            <a:ext cx="2286000" cy="1280160"/>
          </a:xfrm>
          <a:prstGeom prst="rect">
            <a:avLst/>
          </a:prstGeom>
          <a:noFill/>
          <a:ln/>
        </p:spPr>
        <p:txBody>
          <a:bodyPr wrap="square" lIns="0" tIns="0" rIns="0" bIns="0" rtlCol="0" anchor="t"/>
          <a:lstStyle/>
          <a:p>
            <a:pPr algn="ctr" indent="0" marL="0">
              <a:buNone/>
            </a:pPr>
            <a:r>
              <a:rPr lang="en-US" sz="1400" dirty="0">
                <a:solidFill>
                  <a:srgbClr val="5A5A5A"/>
                </a:solidFill>
                <a:latin typeface="Arial" pitchFamily="34" charset="0"/>
                <a:ea typeface="Arial" pitchFamily="34" charset="-122"/>
                <a:cs typeface="Arial" pitchFamily="34" charset="-120"/>
              </a:rPr>
              <a:t>Every session ends with a decision, an owner and a date.</a:t>
            </a:r>
            <a:endParaRPr lang="en-US" sz="1400" dirty="0"/>
          </a:p>
        </p:txBody>
      </p:sp>
      <p:sp>
        <p:nvSpPr>
          <p:cNvPr id="17" name="Shape 12"/>
          <p:cNvSpPr/>
          <p:nvPr/>
        </p:nvSpPr>
        <p:spPr>
          <a:xfrm>
            <a:off x="6181344" y="1600200"/>
            <a:ext cx="2651760" cy="3657600"/>
          </a:xfrm>
          <a:prstGeom prst="roundRect">
            <a:avLst>
              <a:gd name="adj" fmla="val 2759"/>
            </a:avLst>
          </a:prstGeom>
          <a:solidFill>
            <a:srgbClr val="FFFFFF"/>
          </a:solidFill>
          <a:ln w="12700">
            <a:solidFill>
              <a:srgbClr val="D9DEE2"/>
            </a:solidFill>
            <a:prstDash val="solid"/>
          </a:ln>
        </p:spPr>
      </p:sp>
      <p:sp>
        <p:nvSpPr>
          <p:cNvPr id="18" name="Shape 13"/>
          <p:cNvSpPr/>
          <p:nvPr/>
        </p:nvSpPr>
        <p:spPr>
          <a:xfrm>
            <a:off x="7050024" y="1874520"/>
            <a:ext cx="914400" cy="914400"/>
          </a:xfrm>
          <a:prstGeom prst="ellipse">
            <a:avLst/>
          </a:prstGeom>
          <a:solidFill>
            <a:srgbClr val="287079"/>
          </a:solidFill>
          <a:ln/>
        </p:spPr>
      </p:sp>
      <p:pic>
        <p:nvPicPr>
          <p:cNvPr id="19" name="Image 3" descr="/private/tmp/claude-501/-Users-salehhamed-Outcome-Engine/91861432-41e2-4884-bc97-63c6dff2d021/scratchpad/wk/icons/TbMessage-white.png">    </p:cNvPr>
          <p:cNvPicPr>
            <a:picLocks noChangeAspect="1"/>
          </p:cNvPicPr>
          <p:nvPr/>
        </p:nvPicPr>
        <p:blipFill>
          <a:blip r:embed="rId6"/>
          <a:stretch>
            <a:fillRect/>
          </a:stretch>
        </p:blipFill>
        <p:spPr>
          <a:xfrm>
            <a:off x="7232904" y="2057400"/>
            <a:ext cx="548640" cy="548640"/>
          </a:xfrm>
          <a:prstGeom prst="rect">
            <a:avLst/>
          </a:prstGeom>
        </p:spPr>
      </p:pic>
      <p:sp>
        <p:nvSpPr>
          <p:cNvPr id="20" name="Text 14"/>
          <p:cNvSpPr txBox="1"/>
          <p:nvPr/>
        </p:nvSpPr>
        <p:spPr>
          <a:xfrm>
            <a:off x="6364224" y="3017520"/>
            <a:ext cx="2286000" cy="731520"/>
          </a:xfrm>
          <a:prstGeom prst="rect">
            <a:avLst/>
          </a:prstGeom>
          <a:noFill/>
          <a:ln/>
        </p:spPr>
        <p:txBody>
          <a:bodyPr wrap="square" lIns="0" tIns="0" rIns="0" bIns="0" rtlCol="0" anchor="t"/>
          <a:lstStyle/>
          <a:p>
            <a:pPr algn="ctr" indent="0" marL="0">
              <a:buNone/>
            </a:pPr>
            <a:r>
              <a:rPr lang="en-US" sz="1800" b="1" dirty="0">
                <a:solidFill>
                  <a:srgbClr val="1F2A33"/>
                </a:solidFill>
                <a:latin typeface="Arial" pitchFamily="34" charset="0"/>
                <a:ea typeface="Arial" pitchFamily="34" charset="-122"/>
                <a:cs typeface="Arial" pitchFamily="34" charset="-120"/>
              </a:rPr>
              <a:t>Plain words</a:t>
            </a:r>
            <a:endParaRPr lang="en-US" sz="1800" dirty="0"/>
          </a:p>
        </p:txBody>
      </p:sp>
      <p:sp>
        <p:nvSpPr>
          <p:cNvPr id="21" name="Text 15"/>
          <p:cNvSpPr txBox="1"/>
          <p:nvPr/>
        </p:nvSpPr>
        <p:spPr>
          <a:xfrm>
            <a:off x="6364224" y="3794760"/>
            <a:ext cx="2286000" cy="1280160"/>
          </a:xfrm>
          <a:prstGeom prst="rect">
            <a:avLst/>
          </a:prstGeom>
          <a:noFill/>
          <a:ln/>
        </p:spPr>
        <p:txBody>
          <a:bodyPr wrap="square" lIns="0" tIns="0" rIns="0" bIns="0" rtlCol="0" anchor="t"/>
          <a:lstStyle/>
          <a:p>
            <a:pPr algn="ctr" indent="0" marL="0">
              <a:buNone/>
            </a:pPr>
            <a:r>
              <a:rPr lang="en-US" sz="1400" dirty="0">
                <a:solidFill>
                  <a:srgbClr val="5A5A5A"/>
                </a:solidFill>
                <a:latin typeface="Arial" pitchFamily="34" charset="0"/>
                <a:ea typeface="Arial" pitchFamily="34" charset="-122"/>
                <a:cs typeface="Arial" pitchFamily="34" charset="-120"/>
              </a:rPr>
              <a:t>Anyone can say: stop, explain that.</a:t>
            </a:r>
            <a:endParaRPr lang="en-US" sz="1400" dirty="0"/>
          </a:p>
        </p:txBody>
      </p:sp>
      <p:sp>
        <p:nvSpPr>
          <p:cNvPr id="22" name="Shape 16"/>
          <p:cNvSpPr/>
          <p:nvPr/>
        </p:nvSpPr>
        <p:spPr>
          <a:xfrm>
            <a:off x="8997696" y="1600200"/>
            <a:ext cx="2651760" cy="3657600"/>
          </a:xfrm>
          <a:prstGeom prst="roundRect">
            <a:avLst>
              <a:gd name="adj" fmla="val 2759"/>
            </a:avLst>
          </a:prstGeom>
          <a:solidFill>
            <a:srgbClr val="FFFFFF"/>
          </a:solidFill>
          <a:ln w="12700">
            <a:solidFill>
              <a:srgbClr val="D9DEE2"/>
            </a:solidFill>
            <a:prstDash val="solid"/>
          </a:ln>
        </p:spPr>
      </p:sp>
      <p:sp>
        <p:nvSpPr>
          <p:cNvPr id="23" name="Shape 17"/>
          <p:cNvSpPr/>
          <p:nvPr/>
        </p:nvSpPr>
        <p:spPr>
          <a:xfrm>
            <a:off x="9866376" y="1874520"/>
            <a:ext cx="914400" cy="914400"/>
          </a:xfrm>
          <a:prstGeom prst="ellipse">
            <a:avLst/>
          </a:prstGeom>
          <a:solidFill>
            <a:srgbClr val="FF462D"/>
          </a:solidFill>
          <a:ln/>
        </p:spPr>
      </p:sp>
      <p:pic>
        <p:nvPicPr>
          <p:cNvPr id="24" name="Image 4" descr="/private/tmp/claude-501/-Users-salehhamed-Outcome-Engine/91861432-41e2-4884-bc97-63c6dff2d021/scratchpad/wk/icons/TbBug-white.png">    </p:cNvPr>
          <p:cNvPicPr>
            <a:picLocks noChangeAspect="1"/>
          </p:cNvPicPr>
          <p:nvPr/>
        </p:nvPicPr>
        <p:blipFill>
          <a:blip r:embed="rId7"/>
          <a:stretch>
            <a:fillRect/>
          </a:stretch>
        </p:blipFill>
        <p:spPr>
          <a:xfrm>
            <a:off x="10049256" y="2057400"/>
            <a:ext cx="548640" cy="548640"/>
          </a:xfrm>
          <a:prstGeom prst="rect">
            <a:avLst/>
          </a:prstGeom>
        </p:spPr>
      </p:pic>
      <p:sp>
        <p:nvSpPr>
          <p:cNvPr id="25" name="Text 18"/>
          <p:cNvSpPr txBox="1"/>
          <p:nvPr/>
        </p:nvSpPr>
        <p:spPr>
          <a:xfrm>
            <a:off x="9180576" y="3017520"/>
            <a:ext cx="2286000" cy="731520"/>
          </a:xfrm>
          <a:prstGeom prst="rect">
            <a:avLst/>
          </a:prstGeom>
          <a:noFill/>
          <a:ln/>
        </p:spPr>
        <p:txBody>
          <a:bodyPr wrap="square" lIns="0" tIns="0" rIns="0" bIns="0" rtlCol="0" anchor="t"/>
          <a:lstStyle/>
          <a:p>
            <a:pPr algn="ctr" indent="0" marL="0">
              <a:buNone/>
            </a:pPr>
            <a:r>
              <a:rPr lang="en-US" sz="1800" b="1" dirty="0">
                <a:solidFill>
                  <a:srgbClr val="1F2A33"/>
                </a:solidFill>
                <a:latin typeface="Arial" pitchFamily="34" charset="0"/>
                <a:ea typeface="Arial" pitchFamily="34" charset="-122"/>
                <a:cs typeface="Arial" pitchFamily="34" charset="-120"/>
              </a:rPr>
              <a:t>Finding problems is the job</a:t>
            </a:r>
            <a:endParaRPr lang="en-US" sz="1800" dirty="0"/>
          </a:p>
        </p:txBody>
      </p:sp>
      <p:sp>
        <p:nvSpPr>
          <p:cNvPr id="26" name="Text 19"/>
          <p:cNvSpPr txBox="1"/>
          <p:nvPr/>
        </p:nvSpPr>
        <p:spPr>
          <a:xfrm>
            <a:off x="9180576" y="3794760"/>
            <a:ext cx="2286000" cy="1280160"/>
          </a:xfrm>
          <a:prstGeom prst="rect">
            <a:avLst/>
          </a:prstGeom>
          <a:noFill/>
          <a:ln/>
        </p:spPr>
        <p:txBody>
          <a:bodyPr wrap="square" lIns="0" tIns="0" rIns="0" bIns="0" rtlCol="0" anchor="t"/>
          <a:lstStyle/>
          <a:p>
            <a:pPr algn="ctr" indent="0" marL="0">
              <a:buNone/>
            </a:pPr>
            <a:r>
              <a:rPr lang="en-US" sz="1400" dirty="0">
                <a:solidFill>
                  <a:srgbClr val="5A5A5A"/>
                </a:solidFill>
                <a:latin typeface="Arial" pitchFamily="34" charset="0"/>
                <a:ea typeface="Arial" pitchFamily="34" charset="-122"/>
                <a:cs typeface="Arial" pitchFamily="34" charset="-120"/>
              </a:rPr>
              <a:t>A test that finds nothing is not good enough.</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WELCOME AND HOW THE TWO DAYS WORK</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Four words we use today</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15</a:t>
            </a:r>
            <a:endParaRPr lang="en-US" sz="1000" dirty="0"/>
          </a:p>
        </p:txBody>
      </p:sp>
      <p:sp>
        <p:nvSpPr>
          <p:cNvPr id="7" name="Shape 4"/>
          <p:cNvSpPr/>
          <p:nvPr/>
        </p:nvSpPr>
        <p:spPr>
          <a:xfrm>
            <a:off x="548640" y="1554480"/>
            <a:ext cx="5440680" cy="2057400"/>
          </a:xfrm>
          <a:prstGeom prst="roundRect">
            <a:avLst>
              <a:gd name="adj" fmla="val 3556"/>
            </a:avLst>
          </a:prstGeom>
          <a:solidFill>
            <a:srgbClr val="FFFFFF"/>
          </a:solidFill>
          <a:ln w="12700">
            <a:solidFill>
              <a:srgbClr val="D9DEE2"/>
            </a:solidFill>
            <a:prstDash val="solid"/>
          </a:ln>
        </p:spPr>
      </p:sp>
      <p:pic>
        <p:nvPicPr>
          <p:cNvPr id="8" name="Image 1" descr="/private/tmp/claude-501/-Users-salehhamed-Outcome-Engine/91861432-41e2-4884-bc97-63c6dff2d021/scratchpad/wk/icons/TbBriefcase-teal.png">    </p:cNvPr>
          <p:cNvPicPr>
            <a:picLocks noChangeAspect="1"/>
          </p:cNvPicPr>
          <p:nvPr/>
        </p:nvPicPr>
        <p:blipFill>
          <a:blip r:embed="rId4"/>
          <a:stretch>
            <a:fillRect/>
          </a:stretch>
        </p:blipFill>
        <p:spPr>
          <a:xfrm>
            <a:off x="777240" y="1783080"/>
            <a:ext cx="548640" cy="548640"/>
          </a:xfrm>
          <a:prstGeom prst="rect">
            <a:avLst/>
          </a:prstGeom>
        </p:spPr>
      </p:pic>
      <p:sp>
        <p:nvSpPr>
          <p:cNvPr id="9" name="Text 5"/>
          <p:cNvSpPr txBox="1"/>
          <p:nvPr/>
        </p:nvSpPr>
        <p:spPr>
          <a:xfrm>
            <a:off x="1508760" y="1783080"/>
            <a:ext cx="4297680" cy="548640"/>
          </a:xfrm>
          <a:prstGeom prst="rect">
            <a:avLst/>
          </a:prstGeom>
          <a:noFill/>
          <a:ln/>
        </p:spPr>
        <p:txBody>
          <a:bodyPr wrap="square" lIns="0" tIns="0" rIns="0" bIns="0" rtlCol="0" anchor="ctr"/>
          <a:lstStyle/>
          <a:p>
            <a:pPr indent="0" marL="0">
              <a:buNone/>
            </a:pPr>
            <a:r>
              <a:rPr lang="en-US" sz="1800" b="1" dirty="0">
                <a:solidFill>
                  <a:srgbClr val="1F2A33"/>
                </a:solidFill>
                <a:latin typeface="Arial" pitchFamily="34" charset="0"/>
                <a:ea typeface="Arial" pitchFamily="34" charset="-122"/>
                <a:cs typeface="Arial" pitchFamily="34" charset="-120"/>
              </a:rPr>
              <a:t>Contract-to-Capacity</a:t>
            </a:r>
            <a:endParaRPr lang="en-US" sz="1800" dirty="0"/>
          </a:p>
        </p:txBody>
      </p:sp>
      <p:sp>
        <p:nvSpPr>
          <p:cNvPr id="10" name="Text 6"/>
          <p:cNvSpPr txBox="1"/>
          <p:nvPr/>
        </p:nvSpPr>
        <p:spPr>
          <a:xfrm>
            <a:off x="777240" y="2468880"/>
            <a:ext cx="4983480" cy="105156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Turning a deal we are likely to win into a staffing plan, checking who is really free, and giving every unfilled role an owner.</a:t>
            </a:r>
            <a:endParaRPr lang="en-US" sz="1400" dirty="0"/>
          </a:p>
        </p:txBody>
      </p:sp>
      <p:sp>
        <p:nvSpPr>
          <p:cNvPr id="11" name="Shape 7"/>
          <p:cNvSpPr/>
          <p:nvPr/>
        </p:nvSpPr>
        <p:spPr>
          <a:xfrm>
            <a:off x="6172200" y="1554480"/>
            <a:ext cx="5440680" cy="2057400"/>
          </a:xfrm>
          <a:prstGeom prst="roundRect">
            <a:avLst>
              <a:gd name="adj" fmla="val 3556"/>
            </a:avLst>
          </a:prstGeom>
          <a:solidFill>
            <a:srgbClr val="FFFFFF"/>
          </a:solidFill>
          <a:ln w="12700">
            <a:solidFill>
              <a:srgbClr val="D9DEE2"/>
            </a:solidFill>
            <a:prstDash val="solid"/>
          </a:ln>
        </p:spPr>
      </p:sp>
      <p:pic>
        <p:nvPicPr>
          <p:cNvPr id="12" name="Image 2" descr="/private/tmp/claude-501/-Users-salehhamed-Outcome-Engine/91861432-41e2-4884-bc97-63c6dff2d021/scratchpad/wk/icons/TbRoute-teal.png">    </p:cNvPr>
          <p:cNvPicPr>
            <a:picLocks noChangeAspect="1"/>
          </p:cNvPicPr>
          <p:nvPr/>
        </p:nvPicPr>
        <p:blipFill>
          <a:blip r:embed="rId5"/>
          <a:stretch>
            <a:fillRect/>
          </a:stretch>
        </p:blipFill>
        <p:spPr>
          <a:xfrm>
            <a:off x="6400800" y="1783080"/>
            <a:ext cx="548640" cy="548640"/>
          </a:xfrm>
          <a:prstGeom prst="rect">
            <a:avLst/>
          </a:prstGeom>
        </p:spPr>
      </p:pic>
      <p:sp>
        <p:nvSpPr>
          <p:cNvPr id="13" name="Text 8"/>
          <p:cNvSpPr txBox="1"/>
          <p:nvPr/>
        </p:nvSpPr>
        <p:spPr>
          <a:xfrm>
            <a:off x="7132320" y="1783080"/>
            <a:ext cx="4297680" cy="548640"/>
          </a:xfrm>
          <a:prstGeom prst="rect">
            <a:avLst/>
          </a:prstGeom>
          <a:noFill/>
          <a:ln/>
        </p:spPr>
        <p:txBody>
          <a:bodyPr wrap="square" lIns="0" tIns="0" rIns="0" bIns="0" rtlCol="0" anchor="ctr"/>
          <a:lstStyle/>
          <a:p>
            <a:pPr indent="0" marL="0">
              <a:buNone/>
            </a:pPr>
            <a:r>
              <a:rPr lang="en-US" sz="1800" b="1" dirty="0">
                <a:solidFill>
                  <a:srgbClr val="1F2A33"/>
                </a:solidFill>
                <a:latin typeface="Arial" pitchFamily="34" charset="0"/>
                <a:ea typeface="Arial" pitchFamily="34" charset="-122"/>
                <a:cs typeface="Arial" pitchFamily="34" charset="-120"/>
              </a:rPr>
              <a:t>Engine</a:t>
            </a:r>
            <a:endParaRPr lang="en-US" sz="1800" dirty="0"/>
          </a:p>
        </p:txBody>
      </p:sp>
      <p:sp>
        <p:nvSpPr>
          <p:cNvPr id="14" name="Text 9"/>
          <p:cNvSpPr txBox="1"/>
          <p:nvPr/>
        </p:nvSpPr>
        <p:spPr>
          <a:xfrm>
            <a:off x="6400800" y="2468880"/>
            <a:ext cx="4983480" cy="105156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A system that runs one kind of work from start to a checked finish. It drafts, follows agreed rules, and sends the hard calls to named people.</a:t>
            </a:r>
            <a:endParaRPr lang="en-US" sz="1400" dirty="0"/>
          </a:p>
        </p:txBody>
      </p:sp>
      <p:sp>
        <p:nvSpPr>
          <p:cNvPr id="15" name="Shape 10"/>
          <p:cNvSpPr/>
          <p:nvPr/>
        </p:nvSpPr>
        <p:spPr>
          <a:xfrm>
            <a:off x="548640" y="3794760"/>
            <a:ext cx="5440680" cy="2057400"/>
          </a:xfrm>
          <a:prstGeom prst="roundRect">
            <a:avLst>
              <a:gd name="adj" fmla="val 3556"/>
            </a:avLst>
          </a:prstGeom>
          <a:solidFill>
            <a:srgbClr val="FFFFFF"/>
          </a:solidFill>
          <a:ln w="12700">
            <a:solidFill>
              <a:srgbClr val="D9DEE2"/>
            </a:solidFill>
            <a:prstDash val="solid"/>
          </a:ln>
        </p:spPr>
      </p:sp>
      <p:pic>
        <p:nvPicPr>
          <p:cNvPr id="16" name="Image 3" descr="/private/tmp/claude-501/-Users-salehhamed-Outcome-Engine/91861432-41e2-4884-bc97-63c6dff2d021/scratchpad/wk/icons/TbHammer-teal.png">    </p:cNvPr>
          <p:cNvPicPr>
            <a:picLocks noChangeAspect="1"/>
          </p:cNvPicPr>
          <p:nvPr/>
        </p:nvPicPr>
        <p:blipFill>
          <a:blip r:embed="rId6"/>
          <a:stretch>
            <a:fillRect/>
          </a:stretch>
        </p:blipFill>
        <p:spPr>
          <a:xfrm>
            <a:off x="777240" y="4023360"/>
            <a:ext cx="548640" cy="548640"/>
          </a:xfrm>
          <a:prstGeom prst="rect">
            <a:avLst/>
          </a:prstGeom>
        </p:spPr>
      </p:pic>
      <p:sp>
        <p:nvSpPr>
          <p:cNvPr id="17" name="Text 11"/>
          <p:cNvSpPr txBox="1"/>
          <p:nvPr/>
        </p:nvSpPr>
        <p:spPr>
          <a:xfrm>
            <a:off x="1508760" y="4023360"/>
            <a:ext cx="4297680" cy="548640"/>
          </a:xfrm>
          <a:prstGeom prst="rect">
            <a:avLst/>
          </a:prstGeom>
          <a:noFill/>
          <a:ln/>
        </p:spPr>
        <p:txBody>
          <a:bodyPr wrap="square" lIns="0" tIns="0" rIns="0" bIns="0" rtlCol="0" anchor="ctr"/>
          <a:lstStyle/>
          <a:p>
            <a:pPr indent="0" marL="0">
              <a:buNone/>
            </a:pPr>
            <a:r>
              <a:rPr lang="en-US" sz="1800" b="1" dirty="0">
                <a:solidFill>
                  <a:srgbClr val="1F2A33"/>
                </a:solidFill>
                <a:latin typeface="Arial" pitchFamily="34" charset="0"/>
                <a:ea typeface="Arial" pitchFamily="34" charset="-122"/>
                <a:cs typeface="Arial" pitchFamily="34" charset="-120"/>
              </a:rPr>
              <a:t>Proof of Concept</a:t>
            </a:r>
            <a:endParaRPr lang="en-US" sz="1800" dirty="0"/>
          </a:p>
        </p:txBody>
      </p:sp>
      <p:sp>
        <p:nvSpPr>
          <p:cNvPr id="18" name="Text 12"/>
          <p:cNvSpPr txBox="1"/>
          <p:nvPr/>
        </p:nvSpPr>
        <p:spPr>
          <a:xfrm>
            <a:off x="777240" y="4709160"/>
            <a:ext cx="4983480" cy="105156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A first working version, built during these two days, to test the idea on real cases.</a:t>
            </a:r>
            <a:endParaRPr lang="en-US" sz="1400" dirty="0"/>
          </a:p>
        </p:txBody>
      </p:sp>
      <p:sp>
        <p:nvSpPr>
          <p:cNvPr id="19" name="Shape 13"/>
          <p:cNvSpPr/>
          <p:nvPr/>
        </p:nvSpPr>
        <p:spPr>
          <a:xfrm>
            <a:off x="6172200" y="3794760"/>
            <a:ext cx="5440680" cy="2057400"/>
          </a:xfrm>
          <a:prstGeom prst="roundRect">
            <a:avLst>
              <a:gd name="adj" fmla="val 3556"/>
            </a:avLst>
          </a:prstGeom>
          <a:solidFill>
            <a:srgbClr val="FFFFFF"/>
          </a:solidFill>
          <a:ln w="12700">
            <a:solidFill>
              <a:srgbClr val="D9DEE2"/>
            </a:solidFill>
            <a:prstDash val="solid"/>
          </a:ln>
        </p:spPr>
      </p:sp>
      <p:pic>
        <p:nvPicPr>
          <p:cNvPr id="20" name="Image 4" descr="/private/tmp/claude-501/-Users-salehhamed-Outcome-Engine/91861432-41e2-4884-bc97-63c6dff2d021/scratchpad/wk/icons/TbFlag3-teal.png">    </p:cNvPr>
          <p:cNvPicPr>
            <a:picLocks noChangeAspect="1"/>
          </p:cNvPicPr>
          <p:nvPr/>
        </p:nvPicPr>
        <p:blipFill>
          <a:blip r:embed="rId7"/>
          <a:stretch>
            <a:fillRect/>
          </a:stretch>
        </p:blipFill>
        <p:spPr>
          <a:xfrm>
            <a:off x="6400800" y="4023360"/>
            <a:ext cx="548640" cy="548640"/>
          </a:xfrm>
          <a:prstGeom prst="rect">
            <a:avLst/>
          </a:prstGeom>
        </p:spPr>
      </p:pic>
      <p:sp>
        <p:nvSpPr>
          <p:cNvPr id="21" name="Text 14"/>
          <p:cNvSpPr txBox="1"/>
          <p:nvPr/>
        </p:nvSpPr>
        <p:spPr>
          <a:xfrm>
            <a:off x="7132320" y="4023360"/>
            <a:ext cx="4297680" cy="548640"/>
          </a:xfrm>
          <a:prstGeom prst="rect">
            <a:avLst/>
          </a:prstGeom>
          <a:noFill/>
          <a:ln/>
        </p:spPr>
        <p:txBody>
          <a:bodyPr wrap="square" lIns="0" tIns="0" rIns="0" bIns="0" rtlCol="0" anchor="ctr"/>
          <a:lstStyle/>
          <a:p>
            <a:pPr indent="0" marL="0">
              <a:buNone/>
            </a:pPr>
            <a:r>
              <a:rPr lang="en-US" sz="1800" b="1" dirty="0">
                <a:solidFill>
                  <a:srgbClr val="1F2A33"/>
                </a:solidFill>
                <a:latin typeface="Arial" pitchFamily="34" charset="0"/>
                <a:ea typeface="Arial" pitchFamily="34" charset="-122"/>
                <a:cs typeface="Arial" pitchFamily="34" charset="-120"/>
              </a:rPr>
              <a:t>Proceed, Narrow or Stop</a:t>
            </a:r>
            <a:endParaRPr lang="en-US" sz="1800" dirty="0"/>
          </a:p>
        </p:txBody>
      </p:sp>
      <p:sp>
        <p:nvSpPr>
          <p:cNvPr id="22" name="Text 15"/>
          <p:cNvSpPr txBox="1"/>
          <p:nvPr/>
        </p:nvSpPr>
        <p:spPr>
          <a:xfrm>
            <a:off x="6400800" y="4709160"/>
            <a:ext cx="4983480" cy="105156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The three possible decisions at the end of Day 2. Proceed: go ahead as planned. Narrow: go ahead with a smaller scope. Stop: not now, and we say why.</a:t>
            </a:r>
            <a:endParaRPr lang="en-US" sz="1400" dirty="0"/>
          </a:p>
        </p:txBody>
      </p:sp>
      <p:sp>
        <p:nvSpPr>
          <p:cNvPr id="23" name="Text 16"/>
          <p:cNvSpPr txBox="1"/>
          <p:nvPr/>
        </p:nvSpPr>
        <p:spPr>
          <a:xfrm>
            <a:off x="548640" y="6080760"/>
            <a:ext cx="10972800" cy="274320"/>
          </a:xfrm>
          <a:prstGeom prst="rect">
            <a:avLst/>
          </a:prstGeom>
          <a:noFill/>
          <a:ln/>
        </p:spPr>
        <p:txBody>
          <a:bodyPr wrap="square" lIns="0" tIns="0" rIns="0" bIns="0" rtlCol="0" anchor="t"/>
          <a:lstStyle/>
          <a:p>
            <a:pPr indent="0" marL="0">
              <a:buNone/>
            </a:pPr>
            <a:r>
              <a:rPr lang="en-US" sz="1200" i="1" dirty="0">
                <a:solidFill>
                  <a:srgbClr val="5A5A5A"/>
                </a:solidFill>
                <a:latin typeface="Arial" pitchFamily="34" charset="0"/>
                <a:ea typeface="Arial" pitchFamily="34" charset="-122"/>
                <a:cs typeface="Arial" pitchFamily="34" charset="-120"/>
              </a:rPr>
              <a:t>More words arrive only when we need them. The pocket guide lists them all.</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WELCOME AND HOW THE TWO DAYS WORK</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Three ways to run this session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16</a:t>
            </a:r>
            <a:endParaRPr lang="en-US" sz="1000" dirty="0"/>
          </a:p>
        </p:txBody>
      </p:sp>
      <p:sp>
        <p:nvSpPr>
          <p:cNvPr id="7" name="Shape 4"/>
          <p:cNvSpPr/>
          <p:nvPr/>
        </p:nvSpPr>
        <p:spPr>
          <a:xfrm>
            <a:off x="548640" y="1463040"/>
            <a:ext cx="3566160" cy="4663440"/>
          </a:xfrm>
          <a:prstGeom prst="roundRect">
            <a:avLst>
              <a:gd name="adj" fmla="val 2051"/>
            </a:avLst>
          </a:prstGeom>
          <a:solidFill>
            <a:srgbClr val="FFFFFF"/>
          </a:solidFill>
          <a:ln w="12700">
            <a:solidFill>
              <a:srgbClr val="D9DEE2"/>
            </a:solidFill>
            <a:prstDash val="solid"/>
          </a:ln>
        </p:spPr>
      </p:sp>
      <p:sp>
        <p:nvSpPr>
          <p:cNvPr id="8" name="Shape 5"/>
          <p:cNvSpPr/>
          <p:nvPr/>
        </p:nvSpPr>
        <p:spPr>
          <a:xfrm>
            <a:off x="548640" y="1463040"/>
            <a:ext cx="3566160" cy="566928"/>
          </a:xfrm>
          <a:prstGeom prst="roundRect">
            <a:avLst>
              <a:gd name="adj" fmla="val 12903"/>
            </a:avLst>
          </a:prstGeom>
          <a:solidFill>
            <a:srgbClr val="287079"/>
          </a:solidFill>
          <a:ln/>
        </p:spPr>
      </p:sp>
      <p:sp>
        <p:nvSpPr>
          <p:cNvPr id="9" name="Shape 6"/>
          <p:cNvSpPr/>
          <p:nvPr/>
        </p:nvSpPr>
        <p:spPr>
          <a:xfrm>
            <a:off x="548640" y="1828800"/>
            <a:ext cx="3566160" cy="201168"/>
          </a:xfrm>
          <a:prstGeom prst="rect">
            <a:avLst/>
          </a:prstGeom>
          <a:solidFill>
            <a:srgbClr val="287079"/>
          </a:solidFill>
          <a:ln/>
        </p:spPr>
      </p:sp>
      <p:pic>
        <p:nvPicPr>
          <p:cNvPr id="10" name="Image 1" descr="/private/tmp/claude-501/-Users-salehhamed-Outcome-Engine/91861432-41e2-4884-bc97-63c6dff2d021/scratchpad/wk/icons/TbHandClick-white.png">    </p:cNvPr>
          <p:cNvPicPr>
            <a:picLocks noChangeAspect="1"/>
          </p:cNvPicPr>
          <p:nvPr/>
        </p:nvPicPr>
        <p:blipFill>
          <a:blip r:embed="rId4"/>
          <a:stretch>
            <a:fillRect/>
          </a:stretch>
        </p:blipFill>
        <p:spPr>
          <a:xfrm>
            <a:off x="713232" y="1554480"/>
            <a:ext cx="384048" cy="384048"/>
          </a:xfrm>
          <a:prstGeom prst="rect">
            <a:avLst/>
          </a:prstGeom>
        </p:spPr>
      </p:pic>
      <p:sp>
        <p:nvSpPr>
          <p:cNvPr id="11" name="Text 7"/>
          <p:cNvSpPr txBox="1"/>
          <p:nvPr/>
        </p:nvSpPr>
        <p:spPr>
          <a:xfrm>
            <a:off x="120700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A · HANDS-ON</a:t>
            </a:r>
            <a:endParaRPr lang="en-US" sz="1150" dirty="0"/>
          </a:p>
        </p:txBody>
      </p:sp>
      <p:sp>
        <p:nvSpPr>
          <p:cNvPr id="12" name="Text 8"/>
          <p:cNvSpPr txBox="1"/>
          <p:nvPr/>
        </p:nvSpPr>
        <p:spPr>
          <a:xfrm>
            <a:off x="77724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Expectation line</a:t>
            </a:r>
            <a:endParaRPr lang="en-US" sz="2100" dirty="0"/>
          </a:p>
        </p:txBody>
      </p:sp>
      <p:sp>
        <p:nvSpPr>
          <p:cNvPr id="13" name="Text 9"/>
          <p:cNvSpPr txBox="1"/>
          <p:nvPr/>
        </p:nvSpPr>
        <p:spPr>
          <a:xfrm>
            <a:off x="77724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Stand on a line from doubtful to convinced, and hear why.</a:t>
            </a:r>
            <a:endParaRPr lang="en-US" sz="1400" dirty="0"/>
          </a:p>
        </p:txBody>
      </p:sp>
      <p:pic>
        <p:nvPicPr>
          <p:cNvPr id="14" name="Image 2" descr="/private/tmp/claude-501/-Users-salehhamed-Outcome-Engine/91861432-41e2-4884-bc97-63c6dff2d021/scratchpad/wk/icons/TbClock-grey.png">    </p:cNvPr>
          <p:cNvPicPr>
            <a:picLocks noChangeAspect="1"/>
          </p:cNvPicPr>
          <p:nvPr/>
        </p:nvPicPr>
        <p:blipFill>
          <a:blip r:embed="rId5"/>
          <a:stretch>
            <a:fillRect/>
          </a:stretch>
        </p:blipFill>
        <p:spPr>
          <a:xfrm>
            <a:off x="777240" y="4297680"/>
            <a:ext cx="274320" cy="274320"/>
          </a:xfrm>
          <a:prstGeom prst="rect">
            <a:avLst/>
          </a:prstGeom>
        </p:spPr>
      </p:pic>
      <p:sp>
        <p:nvSpPr>
          <p:cNvPr id="15" name="Text 10"/>
          <p:cNvSpPr txBox="1"/>
          <p:nvPr/>
        </p:nvSpPr>
        <p:spPr>
          <a:xfrm>
            <a:off x="114300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30 min</a:t>
            </a:r>
            <a:endParaRPr lang="en-US" sz="1200" dirty="0"/>
          </a:p>
        </p:txBody>
      </p:sp>
      <p:pic>
        <p:nvPicPr>
          <p:cNvPr id="16" name="Image 3" descr="/private/tmp/claude-501/-Users-salehhamed-Outcome-Engine/91861432-41e2-4884-bc97-63c6dff2d021/scratchpad/wk/icons/TbUsers-grey.png">    </p:cNvPr>
          <p:cNvPicPr>
            <a:picLocks noChangeAspect="1"/>
          </p:cNvPicPr>
          <p:nvPr/>
        </p:nvPicPr>
        <p:blipFill>
          <a:blip r:embed="rId6"/>
          <a:stretch>
            <a:fillRect/>
          </a:stretch>
        </p:blipFill>
        <p:spPr>
          <a:xfrm>
            <a:off x="777240" y="4681728"/>
            <a:ext cx="274320" cy="274320"/>
          </a:xfrm>
          <a:prstGeom prst="rect">
            <a:avLst/>
          </a:prstGeom>
        </p:spPr>
      </p:pic>
      <p:sp>
        <p:nvSpPr>
          <p:cNvPr id="17" name="Text 11"/>
          <p:cNvSpPr txBox="1"/>
          <p:nvPr/>
        </p:nvSpPr>
        <p:spPr>
          <a:xfrm>
            <a:off x="114300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Whole room</a:t>
            </a:r>
            <a:endParaRPr lang="en-US" sz="1200" dirty="0"/>
          </a:p>
        </p:txBody>
      </p:sp>
      <p:pic>
        <p:nvPicPr>
          <p:cNvPr id="18" name="Image 4" descr="/private/tmp/claude-501/-Users-salehhamed-Outcome-Engine/91861432-41e2-4884-bc97-63c6dff2d021/scratchpad/wk/icons/TbGauge-grey.png">    </p:cNvPr>
          <p:cNvPicPr>
            <a:picLocks noChangeAspect="1"/>
          </p:cNvPicPr>
          <p:nvPr/>
        </p:nvPicPr>
        <p:blipFill>
          <a:blip r:embed="rId7"/>
          <a:stretch>
            <a:fillRect/>
          </a:stretch>
        </p:blipFill>
        <p:spPr>
          <a:xfrm>
            <a:off x="777240" y="5065776"/>
            <a:ext cx="274320" cy="274320"/>
          </a:xfrm>
          <a:prstGeom prst="rect">
            <a:avLst/>
          </a:prstGeom>
        </p:spPr>
      </p:pic>
      <p:sp>
        <p:nvSpPr>
          <p:cNvPr id="19" name="Text 12"/>
          <p:cNvSpPr txBox="1"/>
          <p:nvPr/>
        </p:nvSpPr>
        <p:spPr>
          <a:xfrm>
            <a:off x="114300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High energy</a:t>
            </a:r>
            <a:endParaRPr lang="en-US" sz="1200" dirty="0"/>
          </a:p>
        </p:txBody>
      </p:sp>
      <p:sp>
        <p:nvSpPr>
          <p:cNvPr id="20" name="Text 13"/>
          <p:cNvSpPr txBox="1"/>
          <p:nvPr/>
        </p:nvSpPr>
        <p:spPr>
          <a:xfrm>
            <a:off x="77724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room is new to AI and you want doubts said out loud early.</a:t>
            </a:r>
            <a:endParaRPr lang="en-US" sz="1150" dirty="0"/>
          </a:p>
        </p:txBody>
      </p:sp>
      <p:pic>
        <p:nvPicPr>
          <p:cNvPr id="21" name="Image 5" descr="/private/tmp/claude-501/-Users-salehhamed-Outcome-Engine/91861432-41e2-4884-bc97-63c6dff2d021/scratchpad/wk/brand/clear.png">
            <a:hlinkClick r:id="rId9" tooltip="Option A" action="ppaction://hlinksldjump"/>
          </p:cNvPr>
          <p:cNvPicPr>
            <a:picLocks noChangeAspect="1"/>
          </p:cNvPicPr>
          <p:nvPr/>
        </p:nvPicPr>
        <p:blipFill>
          <a:blip r:embed="rId8"/>
          <a:stretch>
            <a:fillRect/>
          </a:stretch>
        </p:blipFill>
        <p:spPr>
          <a:xfrm>
            <a:off x="548640" y="1463040"/>
            <a:ext cx="3566160" cy="4663440"/>
          </a:xfrm>
          <a:prstGeom prst="rect">
            <a:avLst/>
          </a:prstGeom>
        </p:spPr>
      </p:pic>
      <p:sp>
        <p:nvSpPr>
          <p:cNvPr id="22" name="Shape 14"/>
          <p:cNvSpPr/>
          <p:nvPr/>
        </p:nvSpPr>
        <p:spPr>
          <a:xfrm>
            <a:off x="4297680" y="1463040"/>
            <a:ext cx="3566160" cy="4663440"/>
          </a:xfrm>
          <a:prstGeom prst="roundRect">
            <a:avLst>
              <a:gd name="adj" fmla="val 2051"/>
            </a:avLst>
          </a:prstGeom>
          <a:solidFill>
            <a:srgbClr val="FFFFFF"/>
          </a:solidFill>
          <a:ln w="12700">
            <a:solidFill>
              <a:srgbClr val="D9DEE2"/>
            </a:solidFill>
            <a:prstDash val="solid"/>
          </a:ln>
        </p:spPr>
      </p:sp>
      <p:sp>
        <p:nvSpPr>
          <p:cNvPr id="23" name="Shape 15"/>
          <p:cNvSpPr/>
          <p:nvPr/>
        </p:nvSpPr>
        <p:spPr>
          <a:xfrm>
            <a:off x="4297680" y="1463040"/>
            <a:ext cx="3566160" cy="566928"/>
          </a:xfrm>
          <a:prstGeom prst="roundRect">
            <a:avLst>
              <a:gd name="adj" fmla="val 12903"/>
            </a:avLst>
          </a:prstGeom>
          <a:solidFill>
            <a:srgbClr val="FF462D"/>
          </a:solidFill>
          <a:ln/>
        </p:spPr>
      </p:sp>
      <p:sp>
        <p:nvSpPr>
          <p:cNvPr id="24" name="Shape 16"/>
          <p:cNvSpPr/>
          <p:nvPr/>
        </p:nvSpPr>
        <p:spPr>
          <a:xfrm>
            <a:off x="4297680" y="1828800"/>
            <a:ext cx="3566160" cy="201168"/>
          </a:xfrm>
          <a:prstGeom prst="rect">
            <a:avLst/>
          </a:prstGeom>
          <a:solidFill>
            <a:srgbClr val="FF462D"/>
          </a:solidFill>
          <a:ln/>
        </p:spPr>
      </p:sp>
      <p:pic>
        <p:nvPicPr>
          <p:cNvPr id="25" name="Image 6" descr="/private/tmp/claude-501/-Users-salehhamed-Outcome-Engine/91861432-41e2-4884-bc97-63c6dff2d021/scratchpad/wk/icons/TbDeviceMobile-white.png">    </p:cNvPr>
          <p:cNvPicPr>
            <a:picLocks noChangeAspect="1"/>
          </p:cNvPicPr>
          <p:nvPr/>
        </p:nvPicPr>
        <p:blipFill>
          <a:blip r:embed="rId10"/>
          <a:stretch>
            <a:fillRect/>
          </a:stretch>
        </p:blipFill>
        <p:spPr>
          <a:xfrm>
            <a:off x="4462272" y="1554480"/>
            <a:ext cx="384048" cy="384048"/>
          </a:xfrm>
          <a:prstGeom prst="rect">
            <a:avLst/>
          </a:prstGeom>
        </p:spPr>
      </p:pic>
      <p:sp>
        <p:nvSpPr>
          <p:cNvPr id="26" name="Text 17"/>
          <p:cNvSpPr txBox="1"/>
          <p:nvPr/>
        </p:nvSpPr>
        <p:spPr>
          <a:xfrm>
            <a:off x="495604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B · LIVE VOTING</a:t>
            </a:r>
            <a:endParaRPr lang="en-US" sz="1150" dirty="0"/>
          </a:p>
        </p:txBody>
      </p:sp>
      <p:sp>
        <p:nvSpPr>
          <p:cNvPr id="27" name="Text 18"/>
          <p:cNvSpPr txBox="1"/>
          <p:nvPr/>
        </p:nvSpPr>
        <p:spPr>
          <a:xfrm>
            <a:off x="452628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Hopes and doubts</a:t>
            </a:r>
            <a:endParaRPr lang="en-US" sz="2100" dirty="0"/>
          </a:p>
        </p:txBody>
      </p:sp>
      <p:sp>
        <p:nvSpPr>
          <p:cNvPr id="28" name="Text 19"/>
          <p:cNvSpPr txBox="1"/>
          <p:nvPr/>
        </p:nvSpPr>
        <p:spPr>
          <a:xfrm>
            <a:off x="452628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Everyone answers on their phone; the screen shows the room's hopes and doubts.</a:t>
            </a:r>
            <a:endParaRPr lang="en-US" sz="1400" dirty="0"/>
          </a:p>
        </p:txBody>
      </p:sp>
      <p:pic>
        <p:nvPicPr>
          <p:cNvPr id="29" name="Image 7" descr="/private/tmp/claude-501/-Users-salehhamed-Outcome-Engine/91861432-41e2-4884-bc97-63c6dff2d021/scratchpad/wk/icons/TbClock-grey.png">    </p:cNvPr>
          <p:cNvPicPr>
            <a:picLocks noChangeAspect="1"/>
          </p:cNvPicPr>
          <p:nvPr/>
        </p:nvPicPr>
        <p:blipFill>
          <a:blip r:embed="rId11"/>
          <a:stretch>
            <a:fillRect/>
          </a:stretch>
        </p:blipFill>
        <p:spPr>
          <a:xfrm>
            <a:off x="4526280" y="4297680"/>
            <a:ext cx="274320" cy="274320"/>
          </a:xfrm>
          <a:prstGeom prst="rect">
            <a:avLst/>
          </a:prstGeom>
        </p:spPr>
      </p:pic>
      <p:sp>
        <p:nvSpPr>
          <p:cNvPr id="30" name="Text 20"/>
          <p:cNvSpPr txBox="1"/>
          <p:nvPr/>
        </p:nvSpPr>
        <p:spPr>
          <a:xfrm>
            <a:off x="489204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30 min</a:t>
            </a:r>
            <a:endParaRPr lang="en-US" sz="1200" dirty="0"/>
          </a:p>
        </p:txBody>
      </p:sp>
      <p:pic>
        <p:nvPicPr>
          <p:cNvPr id="31" name="Image 8" descr="/private/tmp/claude-501/-Users-salehhamed-Outcome-Engine/91861432-41e2-4884-bc97-63c6dff2d021/scratchpad/wk/icons/TbUsers-grey.png">    </p:cNvPr>
          <p:cNvPicPr>
            <a:picLocks noChangeAspect="1"/>
          </p:cNvPicPr>
          <p:nvPr/>
        </p:nvPicPr>
        <p:blipFill>
          <a:blip r:embed="rId12"/>
          <a:stretch>
            <a:fillRect/>
          </a:stretch>
        </p:blipFill>
        <p:spPr>
          <a:xfrm>
            <a:off x="4526280" y="4681728"/>
            <a:ext cx="274320" cy="274320"/>
          </a:xfrm>
          <a:prstGeom prst="rect">
            <a:avLst/>
          </a:prstGeom>
        </p:spPr>
      </p:pic>
      <p:sp>
        <p:nvSpPr>
          <p:cNvPr id="32" name="Text 21"/>
          <p:cNvSpPr txBox="1"/>
          <p:nvPr/>
        </p:nvSpPr>
        <p:spPr>
          <a:xfrm>
            <a:off x="489204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Whole room</a:t>
            </a:r>
            <a:endParaRPr lang="en-US" sz="1200" dirty="0"/>
          </a:p>
        </p:txBody>
      </p:sp>
      <p:pic>
        <p:nvPicPr>
          <p:cNvPr id="33" name="Image 9" descr="/private/tmp/claude-501/-Users-salehhamed-Outcome-Engine/91861432-41e2-4884-bc97-63c6dff2d021/scratchpad/wk/icons/TbGauge-grey.png">    </p:cNvPr>
          <p:cNvPicPr>
            <a:picLocks noChangeAspect="1"/>
          </p:cNvPicPr>
          <p:nvPr/>
        </p:nvPicPr>
        <p:blipFill>
          <a:blip r:embed="rId13"/>
          <a:stretch>
            <a:fillRect/>
          </a:stretch>
        </p:blipFill>
        <p:spPr>
          <a:xfrm>
            <a:off x="4526280" y="5065776"/>
            <a:ext cx="274320" cy="274320"/>
          </a:xfrm>
          <a:prstGeom prst="rect">
            <a:avLst/>
          </a:prstGeom>
        </p:spPr>
      </p:pic>
      <p:sp>
        <p:nvSpPr>
          <p:cNvPr id="34" name="Text 22"/>
          <p:cNvSpPr txBox="1"/>
          <p:nvPr/>
        </p:nvSpPr>
        <p:spPr>
          <a:xfrm>
            <a:off x="489204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35" name="Text 23"/>
          <p:cNvSpPr txBox="1"/>
          <p:nvPr/>
        </p:nvSpPr>
        <p:spPr>
          <a:xfrm>
            <a:off x="452628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People joined the room tool at arrival.</a:t>
            </a:r>
            <a:endParaRPr lang="en-US" sz="1150" dirty="0"/>
          </a:p>
        </p:txBody>
      </p:sp>
      <p:pic>
        <p:nvPicPr>
          <p:cNvPr id="36" name="Image 10" descr="/private/tmp/claude-501/-Users-salehhamed-Outcome-Engine/91861432-41e2-4884-bc97-63c6dff2d021/scratchpad/wk/brand/clear.png">
            <a:hlinkClick r:id="rId15" tooltip="Option B" action="ppaction://hlinksldjump"/>
          </p:cNvPr>
          <p:cNvPicPr>
            <a:picLocks noChangeAspect="1"/>
          </p:cNvPicPr>
          <p:nvPr/>
        </p:nvPicPr>
        <p:blipFill>
          <a:blip r:embed="rId14"/>
          <a:stretch>
            <a:fillRect/>
          </a:stretch>
        </p:blipFill>
        <p:spPr>
          <a:xfrm>
            <a:off x="4297680" y="1463040"/>
            <a:ext cx="3566160" cy="4663440"/>
          </a:xfrm>
          <a:prstGeom prst="rect">
            <a:avLst/>
          </a:prstGeom>
        </p:spPr>
      </p:pic>
      <p:sp>
        <p:nvSpPr>
          <p:cNvPr id="37" name="Shape 24"/>
          <p:cNvSpPr/>
          <p:nvPr/>
        </p:nvSpPr>
        <p:spPr>
          <a:xfrm>
            <a:off x="8046720" y="1463040"/>
            <a:ext cx="3566160" cy="4663440"/>
          </a:xfrm>
          <a:prstGeom prst="roundRect">
            <a:avLst>
              <a:gd name="adj" fmla="val 2051"/>
            </a:avLst>
          </a:prstGeom>
          <a:solidFill>
            <a:srgbClr val="FFFFFF"/>
          </a:solidFill>
          <a:ln w="12700">
            <a:solidFill>
              <a:srgbClr val="D9DEE2"/>
            </a:solidFill>
            <a:prstDash val="solid"/>
          </a:ln>
        </p:spPr>
      </p:sp>
      <p:sp>
        <p:nvSpPr>
          <p:cNvPr id="38" name="Shape 25"/>
          <p:cNvSpPr/>
          <p:nvPr/>
        </p:nvSpPr>
        <p:spPr>
          <a:xfrm>
            <a:off x="8046720" y="1463040"/>
            <a:ext cx="3566160" cy="566928"/>
          </a:xfrm>
          <a:prstGeom prst="roundRect">
            <a:avLst>
              <a:gd name="adj" fmla="val 12903"/>
            </a:avLst>
          </a:prstGeom>
          <a:solidFill>
            <a:srgbClr val="36454F"/>
          </a:solidFill>
          <a:ln/>
        </p:spPr>
      </p:sp>
      <p:sp>
        <p:nvSpPr>
          <p:cNvPr id="39" name="Shape 26"/>
          <p:cNvSpPr/>
          <p:nvPr/>
        </p:nvSpPr>
        <p:spPr>
          <a:xfrm>
            <a:off x="8046720" y="1828800"/>
            <a:ext cx="3566160" cy="201168"/>
          </a:xfrm>
          <a:prstGeom prst="rect">
            <a:avLst/>
          </a:prstGeom>
          <a:solidFill>
            <a:srgbClr val="36454F"/>
          </a:solidFill>
          <a:ln/>
        </p:spPr>
      </p:sp>
      <p:pic>
        <p:nvPicPr>
          <p:cNvPr id="40" name="Image 11" descr="/private/tmp/claude-501/-Users-salehhamed-Outcome-Engine/91861432-41e2-4884-bc97-63c6dff2d021/scratchpad/wk/icons/TbMasksTheater-white.png">    </p:cNvPr>
          <p:cNvPicPr>
            <a:picLocks noChangeAspect="1"/>
          </p:cNvPicPr>
          <p:nvPr/>
        </p:nvPicPr>
        <p:blipFill>
          <a:blip r:embed="rId16"/>
          <a:stretch>
            <a:fillRect/>
          </a:stretch>
        </p:blipFill>
        <p:spPr>
          <a:xfrm>
            <a:off x="8211312" y="1554480"/>
            <a:ext cx="384048" cy="384048"/>
          </a:xfrm>
          <a:prstGeom prst="rect">
            <a:avLst/>
          </a:prstGeom>
        </p:spPr>
      </p:pic>
      <p:sp>
        <p:nvSpPr>
          <p:cNvPr id="41" name="Text 27"/>
          <p:cNvSpPr txBox="1"/>
          <p:nvPr/>
        </p:nvSpPr>
        <p:spPr>
          <a:xfrm>
            <a:off x="870508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C · CASES AND CONVERSATION</a:t>
            </a:r>
            <a:endParaRPr lang="en-US" sz="1150" dirty="0"/>
          </a:p>
        </p:txBody>
      </p:sp>
      <p:sp>
        <p:nvSpPr>
          <p:cNvPr id="42" name="Text 28"/>
          <p:cNvSpPr txBox="1"/>
          <p:nvPr/>
        </p:nvSpPr>
        <p:spPr>
          <a:xfrm>
            <a:off x="827532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The case that went wrong</a:t>
            </a:r>
            <a:endParaRPr lang="en-US" sz="2100" dirty="0"/>
          </a:p>
        </p:txBody>
      </p:sp>
      <p:sp>
        <p:nvSpPr>
          <p:cNvPr id="43" name="Text 29"/>
          <p:cNvSpPr txBox="1"/>
          <p:nvPr/>
        </p:nvSpPr>
        <p:spPr>
          <a:xfrm>
            <a:off x="827532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The sponsor tells one real staffing case that went wrong; the room says how often it happens.</a:t>
            </a:r>
            <a:endParaRPr lang="en-US" sz="1400" dirty="0"/>
          </a:p>
        </p:txBody>
      </p:sp>
      <p:pic>
        <p:nvPicPr>
          <p:cNvPr id="44" name="Image 12" descr="/private/tmp/claude-501/-Users-salehhamed-Outcome-Engine/91861432-41e2-4884-bc97-63c6dff2d021/scratchpad/wk/icons/TbClock-grey.png">    </p:cNvPr>
          <p:cNvPicPr>
            <a:picLocks noChangeAspect="1"/>
          </p:cNvPicPr>
          <p:nvPr/>
        </p:nvPicPr>
        <p:blipFill>
          <a:blip r:embed="rId17"/>
          <a:stretch>
            <a:fillRect/>
          </a:stretch>
        </p:blipFill>
        <p:spPr>
          <a:xfrm>
            <a:off x="8275320" y="4297680"/>
            <a:ext cx="274320" cy="274320"/>
          </a:xfrm>
          <a:prstGeom prst="rect">
            <a:avLst/>
          </a:prstGeom>
        </p:spPr>
      </p:pic>
      <p:sp>
        <p:nvSpPr>
          <p:cNvPr id="45" name="Text 30"/>
          <p:cNvSpPr txBox="1"/>
          <p:nvPr/>
        </p:nvSpPr>
        <p:spPr>
          <a:xfrm>
            <a:off x="864108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30 min</a:t>
            </a:r>
            <a:endParaRPr lang="en-US" sz="1200" dirty="0"/>
          </a:p>
        </p:txBody>
      </p:sp>
      <p:pic>
        <p:nvPicPr>
          <p:cNvPr id="46" name="Image 13" descr="/private/tmp/claude-501/-Users-salehhamed-Outcome-Engine/91861432-41e2-4884-bc97-63c6dff2d021/scratchpad/wk/icons/TbUsers-grey.png">    </p:cNvPr>
          <p:cNvPicPr>
            <a:picLocks noChangeAspect="1"/>
          </p:cNvPicPr>
          <p:nvPr/>
        </p:nvPicPr>
        <p:blipFill>
          <a:blip r:embed="rId18"/>
          <a:stretch>
            <a:fillRect/>
          </a:stretch>
        </p:blipFill>
        <p:spPr>
          <a:xfrm>
            <a:off x="8275320" y="4681728"/>
            <a:ext cx="274320" cy="274320"/>
          </a:xfrm>
          <a:prstGeom prst="rect">
            <a:avLst/>
          </a:prstGeom>
        </p:spPr>
      </p:pic>
      <p:sp>
        <p:nvSpPr>
          <p:cNvPr id="47" name="Text 31"/>
          <p:cNvSpPr txBox="1"/>
          <p:nvPr/>
        </p:nvSpPr>
        <p:spPr>
          <a:xfrm>
            <a:off x="864108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Whole room</a:t>
            </a:r>
            <a:endParaRPr lang="en-US" sz="1200" dirty="0"/>
          </a:p>
        </p:txBody>
      </p:sp>
      <p:pic>
        <p:nvPicPr>
          <p:cNvPr id="48" name="Image 14" descr="/private/tmp/claude-501/-Users-salehhamed-Outcome-Engine/91861432-41e2-4884-bc97-63c6dff2d021/scratchpad/wk/icons/TbGauge-grey.png">    </p:cNvPr>
          <p:cNvPicPr>
            <a:picLocks noChangeAspect="1"/>
          </p:cNvPicPr>
          <p:nvPr/>
        </p:nvPicPr>
        <p:blipFill>
          <a:blip r:embed="rId19"/>
          <a:stretch>
            <a:fillRect/>
          </a:stretch>
        </p:blipFill>
        <p:spPr>
          <a:xfrm>
            <a:off x="8275320" y="5065776"/>
            <a:ext cx="274320" cy="274320"/>
          </a:xfrm>
          <a:prstGeom prst="rect">
            <a:avLst/>
          </a:prstGeom>
        </p:spPr>
      </p:pic>
      <p:sp>
        <p:nvSpPr>
          <p:cNvPr id="49" name="Text 32"/>
          <p:cNvSpPr txBox="1"/>
          <p:nvPr/>
        </p:nvSpPr>
        <p:spPr>
          <a:xfrm>
            <a:off x="864108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50" name="Text 33"/>
          <p:cNvSpPr txBox="1"/>
          <p:nvPr/>
        </p:nvSpPr>
        <p:spPr>
          <a:xfrm>
            <a:off x="827532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sponsor has a real story and is comfortable telling it.</a:t>
            </a:r>
            <a:endParaRPr lang="en-US" sz="1150" dirty="0"/>
          </a:p>
        </p:txBody>
      </p:sp>
      <p:pic>
        <p:nvPicPr>
          <p:cNvPr id="51" name="Image 15" descr="/private/tmp/claude-501/-Users-salehhamed-Outcome-Engine/91861432-41e2-4884-bc97-63c6dff2d021/scratchpad/wk/brand/clear.png">
            <a:hlinkClick r:id="rId21" tooltip="Option C" action="ppaction://hlinksldjump"/>
          </p:cNvPr>
          <p:cNvPicPr>
            <a:picLocks noChangeAspect="1"/>
          </p:cNvPicPr>
          <p:nvPr/>
        </p:nvPicPr>
        <p:blipFill>
          <a:blip r:embed="rId20"/>
          <a:stretch>
            <a:fillRect/>
          </a:stretch>
        </p:blipFill>
        <p:spPr>
          <a:xfrm>
            <a:off x="8046720" y="1463040"/>
            <a:ext cx="3566160" cy="46634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OPTION A · HANDS-ON · WELCOME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Expectation line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17</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Stand on a line from doubtful to convinced, and hear why.</a:t>
            </a:r>
            <a:endParaRPr lang="en-US" sz="1900" dirty="0"/>
          </a:p>
        </p:txBody>
      </p:sp>
      <p:sp>
        <p:nvSpPr>
          <p:cNvPr id="8" name="Shape 5"/>
          <p:cNvSpPr/>
          <p:nvPr/>
        </p:nvSpPr>
        <p:spPr>
          <a:xfrm>
            <a:off x="548640" y="2240280"/>
            <a:ext cx="1812493" cy="1417320"/>
          </a:xfrm>
          <a:prstGeom prst="rect">
            <a:avLst/>
          </a:prstGeom>
          <a:solidFill>
            <a:srgbClr val="287079"/>
          </a:solidFill>
          <a:ln/>
        </p:spPr>
      </p:sp>
      <p:sp>
        <p:nvSpPr>
          <p:cNvPr id="9" name="Text 6"/>
          <p:cNvSpPr txBox="1"/>
          <p:nvPr/>
        </p:nvSpPr>
        <p:spPr>
          <a:xfrm>
            <a:off x="640080"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0" name="Text 7"/>
          <p:cNvSpPr txBox="1"/>
          <p:nvPr/>
        </p:nvSpPr>
        <p:spPr>
          <a:xfrm>
            <a:off x="640080"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Sponsor: why now</a:t>
            </a:r>
            <a:endParaRPr lang="en-US" sz="1500" dirty="0"/>
          </a:p>
        </p:txBody>
      </p:sp>
      <p:sp>
        <p:nvSpPr>
          <p:cNvPr id="11" name="Shape 8"/>
          <p:cNvSpPr/>
          <p:nvPr/>
        </p:nvSpPr>
        <p:spPr>
          <a:xfrm>
            <a:off x="2397709" y="2240280"/>
            <a:ext cx="2921935" cy="1417320"/>
          </a:xfrm>
          <a:prstGeom prst="rect">
            <a:avLst/>
          </a:prstGeom>
          <a:solidFill>
            <a:srgbClr val="5C8F95"/>
          </a:solidFill>
          <a:ln/>
        </p:spPr>
      </p:sp>
      <p:sp>
        <p:nvSpPr>
          <p:cNvPr id="12" name="Text 9"/>
          <p:cNvSpPr txBox="1"/>
          <p:nvPr/>
        </p:nvSpPr>
        <p:spPr>
          <a:xfrm>
            <a:off x="2489149" y="2331720"/>
            <a:ext cx="2775631"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8 min</a:t>
            </a:r>
            <a:endParaRPr lang="en-US" sz="1150" dirty="0"/>
          </a:p>
        </p:txBody>
      </p:sp>
      <p:sp>
        <p:nvSpPr>
          <p:cNvPr id="13" name="Text 10"/>
          <p:cNvSpPr txBox="1"/>
          <p:nvPr/>
        </p:nvSpPr>
        <p:spPr>
          <a:xfrm>
            <a:off x="2489149" y="2651760"/>
            <a:ext cx="2812207"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The two days</a:t>
            </a:r>
            <a:endParaRPr lang="en-US" sz="1500" dirty="0"/>
          </a:p>
        </p:txBody>
      </p:sp>
      <p:sp>
        <p:nvSpPr>
          <p:cNvPr id="14" name="Shape 11"/>
          <p:cNvSpPr/>
          <p:nvPr/>
        </p:nvSpPr>
        <p:spPr>
          <a:xfrm>
            <a:off x="5356220" y="2240280"/>
            <a:ext cx="1442679" cy="1417320"/>
          </a:xfrm>
          <a:prstGeom prst="rect">
            <a:avLst/>
          </a:prstGeom>
          <a:solidFill>
            <a:srgbClr val="287079"/>
          </a:solidFill>
          <a:ln/>
        </p:spPr>
      </p:sp>
      <p:sp>
        <p:nvSpPr>
          <p:cNvPr id="15" name="Text 12"/>
          <p:cNvSpPr txBox="1"/>
          <p:nvPr/>
        </p:nvSpPr>
        <p:spPr>
          <a:xfrm>
            <a:off x="544766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4 min</a:t>
            </a:r>
            <a:endParaRPr lang="en-US" sz="1150" dirty="0"/>
          </a:p>
        </p:txBody>
      </p:sp>
      <p:sp>
        <p:nvSpPr>
          <p:cNvPr id="16" name="Text 13"/>
          <p:cNvSpPr txBox="1"/>
          <p:nvPr/>
        </p:nvSpPr>
        <p:spPr>
          <a:xfrm>
            <a:off x="544766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Built alongside</a:t>
            </a:r>
            <a:endParaRPr lang="en-US" sz="1500" dirty="0"/>
          </a:p>
        </p:txBody>
      </p:sp>
      <p:sp>
        <p:nvSpPr>
          <p:cNvPr id="17" name="Shape 14"/>
          <p:cNvSpPr/>
          <p:nvPr/>
        </p:nvSpPr>
        <p:spPr>
          <a:xfrm>
            <a:off x="6835475" y="2240280"/>
            <a:ext cx="3661562" cy="1417320"/>
          </a:xfrm>
          <a:prstGeom prst="rect">
            <a:avLst/>
          </a:prstGeom>
          <a:solidFill>
            <a:srgbClr val="5C8F95"/>
          </a:solidFill>
          <a:ln/>
        </p:spPr>
      </p:sp>
      <p:sp>
        <p:nvSpPr>
          <p:cNvPr id="18" name="Text 15"/>
          <p:cNvSpPr txBox="1"/>
          <p:nvPr/>
        </p:nvSpPr>
        <p:spPr>
          <a:xfrm>
            <a:off x="6926915"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9" name="Text 16"/>
          <p:cNvSpPr txBox="1"/>
          <p:nvPr/>
        </p:nvSpPr>
        <p:spPr>
          <a:xfrm>
            <a:off x="6926915"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Expectation line</a:t>
            </a:r>
            <a:endParaRPr lang="en-US" sz="1500" dirty="0"/>
          </a:p>
        </p:txBody>
      </p:sp>
      <p:sp>
        <p:nvSpPr>
          <p:cNvPr id="20" name="Shape 17"/>
          <p:cNvSpPr/>
          <p:nvPr/>
        </p:nvSpPr>
        <p:spPr>
          <a:xfrm>
            <a:off x="10533614" y="2240280"/>
            <a:ext cx="1072866" cy="1417320"/>
          </a:xfrm>
          <a:prstGeom prst="rect">
            <a:avLst/>
          </a:prstGeom>
          <a:solidFill>
            <a:srgbClr val="287079"/>
          </a:solidFill>
          <a:ln/>
        </p:spPr>
      </p:sp>
      <p:sp>
        <p:nvSpPr>
          <p:cNvPr id="21" name="Text 18"/>
          <p:cNvSpPr txBox="1"/>
          <p:nvPr/>
        </p:nvSpPr>
        <p:spPr>
          <a:xfrm>
            <a:off x="10625054" y="2331720"/>
            <a:ext cx="926562"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 min</a:t>
            </a:r>
            <a:endParaRPr lang="en-US" sz="1150" dirty="0"/>
          </a:p>
        </p:txBody>
      </p:sp>
      <p:sp>
        <p:nvSpPr>
          <p:cNvPr id="22" name="Text 19"/>
          <p:cNvSpPr txBox="1"/>
          <p:nvPr/>
        </p:nvSpPr>
        <p:spPr>
          <a:xfrm>
            <a:off x="10625054" y="2651760"/>
            <a:ext cx="963138" cy="91440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How we work</a:t>
            </a:r>
            <a:endParaRPr lang="en-US" sz="1200" dirty="0"/>
          </a:p>
        </p:txBody>
      </p:sp>
      <p:sp>
        <p:nvSpPr>
          <p:cNvPr id="23" name="Shape 20"/>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4"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5" name="Text 21"/>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6" name="Text 22"/>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Whole room</a:t>
            </a:r>
            <a:endParaRPr lang="en-US" sz="1300" dirty="0"/>
          </a:p>
        </p:txBody>
      </p:sp>
      <p:sp>
        <p:nvSpPr>
          <p:cNvPr id="27" name="Shape 23"/>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8"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9" name="Text 24"/>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30" name="Text 25"/>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Concerns on notes, parked on the wall with the session that answers each.</a:t>
            </a:r>
            <a:endParaRPr lang="en-US" sz="1300" dirty="0"/>
          </a:p>
        </p:txBody>
      </p:sp>
      <p:sp>
        <p:nvSpPr>
          <p:cNvPr id="31" name="Shape 26"/>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32"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33" name="Text 27"/>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34" name="Text 28"/>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FF462D"/>
                </a:solidFill>
                <a:latin typeface="Arial" pitchFamily="34" charset="0"/>
                <a:ea typeface="Arial" pitchFamily="34" charset="-122"/>
                <a:cs typeface="Arial" pitchFamily="34" charset="-120"/>
              </a:rPr>
              <a:t>OPTION B · LIVE VOTING · WELCOME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Hopes and doubts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18</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Everyone answers on their phone; the screen shows the room's hopes and doubts.</a:t>
            </a:r>
            <a:endParaRPr lang="en-US" sz="1900" dirty="0"/>
          </a:p>
        </p:txBody>
      </p:sp>
      <p:sp>
        <p:nvSpPr>
          <p:cNvPr id="8" name="Shape 5"/>
          <p:cNvSpPr/>
          <p:nvPr/>
        </p:nvSpPr>
        <p:spPr>
          <a:xfrm>
            <a:off x="548640" y="2240280"/>
            <a:ext cx="1812493" cy="1417320"/>
          </a:xfrm>
          <a:prstGeom prst="rect">
            <a:avLst/>
          </a:prstGeom>
          <a:solidFill>
            <a:srgbClr val="FF462D"/>
          </a:solidFill>
          <a:ln/>
        </p:spPr>
      </p:sp>
      <p:sp>
        <p:nvSpPr>
          <p:cNvPr id="9" name="Text 6"/>
          <p:cNvSpPr txBox="1"/>
          <p:nvPr/>
        </p:nvSpPr>
        <p:spPr>
          <a:xfrm>
            <a:off x="640080"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0" name="Text 7"/>
          <p:cNvSpPr txBox="1"/>
          <p:nvPr/>
        </p:nvSpPr>
        <p:spPr>
          <a:xfrm>
            <a:off x="640080"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Sponsor: why now</a:t>
            </a:r>
            <a:endParaRPr lang="en-US" sz="1500" dirty="0"/>
          </a:p>
        </p:txBody>
      </p:sp>
      <p:sp>
        <p:nvSpPr>
          <p:cNvPr id="11" name="Shape 8"/>
          <p:cNvSpPr/>
          <p:nvPr/>
        </p:nvSpPr>
        <p:spPr>
          <a:xfrm>
            <a:off x="2397709" y="2240280"/>
            <a:ext cx="2921935" cy="1417320"/>
          </a:xfrm>
          <a:prstGeom prst="rect">
            <a:avLst/>
          </a:prstGeom>
          <a:solidFill>
            <a:srgbClr val="FF8A78"/>
          </a:solidFill>
          <a:ln/>
        </p:spPr>
      </p:sp>
      <p:sp>
        <p:nvSpPr>
          <p:cNvPr id="12" name="Text 9"/>
          <p:cNvSpPr txBox="1"/>
          <p:nvPr/>
        </p:nvSpPr>
        <p:spPr>
          <a:xfrm>
            <a:off x="2489149" y="2331720"/>
            <a:ext cx="2775631"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8 min</a:t>
            </a:r>
            <a:endParaRPr lang="en-US" sz="1150" dirty="0"/>
          </a:p>
        </p:txBody>
      </p:sp>
      <p:sp>
        <p:nvSpPr>
          <p:cNvPr id="13" name="Text 10"/>
          <p:cNvSpPr txBox="1"/>
          <p:nvPr/>
        </p:nvSpPr>
        <p:spPr>
          <a:xfrm>
            <a:off x="2489149" y="2651760"/>
            <a:ext cx="2812207"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The two days</a:t>
            </a:r>
            <a:endParaRPr lang="en-US" sz="1500" dirty="0"/>
          </a:p>
        </p:txBody>
      </p:sp>
      <p:sp>
        <p:nvSpPr>
          <p:cNvPr id="14" name="Shape 11"/>
          <p:cNvSpPr/>
          <p:nvPr/>
        </p:nvSpPr>
        <p:spPr>
          <a:xfrm>
            <a:off x="5356220" y="2240280"/>
            <a:ext cx="1442679" cy="1417320"/>
          </a:xfrm>
          <a:prstGeom prst="rect">
            <a:avLst/>
          </a:prstGeom>
          <a:solidFill>
            <a:srgbClr val="FF462D"/>
          </a:solidFill>
          <a:ln/>
        </p:spPr>
      </p:sp>
      <p:sp>
        <p:nvSpPr>
          <p:cNvPr id="15" name="Text 12"/>
          <p:cNvSpPr txBox="1"/>
          <p:nvPr/>
        </p:nvSpPr>
        <p:spPr>
          <a:xfrm>
            <a:off x="544766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4 min</a:t>
            </a:r>
            <a:endParaRPr lang="en-US" sz="1150" dirty="0"/>
          </a:p>
        </p:txBody>
      </p:sp>
      <p:sp>
        <p:nvSpPr>
          <p:cNvPr id="16" name="Text 13"/>
          <p:cNvSpPr txBox="1"/>
          <p:nvPr/>
        </p:nvSpPr>
        <p:spPr>
          <a:xfrm>
            <a:off x="544766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Built alongside</a:t>
            </a:r>
            <a:endParaRPr lang="en-US" sz="1500" dirty="0"/>
          </a:p>
        </p:txBody>
      </p:sp>
      <p:sp>
        <p:nvSpPr>
          <p:cNvPr id="17" name="Shape 14"/>
          <p:cNvSpPr/>
          <p:nvPr/>
        </p:nvSpPr>
        <p:spPr>
          <a:xfrm>
            <a:off x="6835475" y="2240280"/>
            <a:ext cx="3661562" cy="1417320"/>
          </a:xfrm>
          <a:prstGeom prst="rect">
            <a:avLst/>
          </a:prstGeom>
          <a:solidFill>
            <a:srgbClr val="FF8A78"/>
          </a:solidFill>
          <a:ln/>
        </p:spPr>
      </p:sp>
      <p:sp>
        <p:nvSpPr>
          <p:cNvPr id="18" name="Text 15"/>
          <p:cNvSpPr txBox="1"/>
          <p:nvPr/>
        </p:nvSpPr>
        <p:spPr>
          <a:xfrm>
            <a:off x="6926915"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9" name="Text 16"/>
          <p:cNvSpPr txBox="1"/>
          <p:nvPr/>
        </p:nvSpPr>
        <p:spPr>
          <a:xfrm>
            <a:off x="6926915"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Hopes and doubts</a:t>
            </a:r>
            <a:endParaRPr lang="en-US" sz="1500" dirty="0"/>
          </a:p>
        </p:txBody>
      </p:sp>
      <p:sp>
        <p:nvSpPr>
          <p:cNvPr id="20" name="Shape 17"/>
          <p:cNvSpPr/>
          <p:nvPr/>
        </p:nvSpPr>
        <p:spPr>
          <a:xfrm>
            <a:off x="10533614" y="2240280"/>
            <a:ext cx="1072866" cy="1417320"/>
          </a:xfrm>
          <a:prstGeom prst="rect">
            <a:avLst/>
          </a:prstGeom>
          <a:solidFill>
            <a:srgbClr val="FF462D"/>
          </a:solidFill>
          <a:ln/>
        </p:spPr>
      </p:sp>
      <p:sp>
        <p:nvSpPr>
          <p:cNvPr id="21" name="Text 18"/>
          <p:cNvSpPr txBox="1"/>
          <p:nvPr/>
        </p:nvSpPr>
        <p:spPr>
          <a:xfrm>
            <a:off x="10625054" y="2331720"/>
            <a:ext cx="926562"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 min</a:t>
            </a:r>
            <a:endParaRPr lang="en-US" sz="1150" dirty="0"/>
          </a:p>
        </p:txBody>
      </p:sp>
      <p:sp>
        <p:nvSpPr>
          <p:cNvPr id="22" name="Text 19"/>
          <p:cNvSpPr txBox="1"/>
          <p:nvPr/>
        </p:nvSpPr>
        <p:spPr>
          <a:xfrm>
            <a:off x="10625054" y="2651760"/>
            <a:ext cx="963138" cy="91440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How we work</a:t>
            </a:r>
            <a:endParaRPr lang="en-US" sz="1200" dirty="0"/>
          </a:p>
        </p:txBody>
      </p:sp>
      <p:sp>
        <p:nvSpPr>
          <p:cNvPr id="23" name="Shape 20"/>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4"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5" name="Text 21"/>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6" name="Text 22"/>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Whole room</a:t>
            </a:r>
            <a:endParaRPr lang="en-US" sz="1300" dirty="0"/>
          </a:p>
        </p:txBody>
      </p:sp>
      <p:sp>
        <p:nvSpPr>
          <p:cNvPr id="27" name="Shape 23"/>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8"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9" name="Text 24"/>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30" name="Text 25"/>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Hopes and doubts saved in the room tool; the top doubts go on the parking wall.</a:t>
            </a:r>
            <a:endParaRPr lang="en-US" sz="1300" dirty="0"/>
          </a:p>
        </p:txBody>
      </p:sp>
      <p:sp>
        <p:nvSpPr>
          <p:cNvPr id="31" name="Shape 26"/>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32"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33" name="Text 27"/>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34" name="Text 28"/>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36454F"/>
                </a:solidFill>
                <a:latin typeface="Arial" pitchFamily="34" charset="0"/>
                <a:ea typeface="Arial" pitchFamily="34" charset="-122"/>
                <a:cs typeface="Arial" pitchFamily="34" charset="-120"/>
              </a:rPr>
              <a:t>OPTION C · CASES AND CONVERSATION · WELCOME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The case that went wrong</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19</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The sponsor tells one real staffing case that went wrong; the room says how often it happens.</a:t>
            </a:r>
            <a:endParaRPr lang="en-US" sz="1900" dirty="0"/>
          </a:p>
        </p:txBody>
      </p:sp>
      <p:sp>
        <p:nvSpPr>
          <p:cNvPr id="8" name="Shape 5"/>
          <p:cNvSpPr/>
          <p:nvPr/>
        </p:nvSpPr>
        <p:spPr>
          <a:xfrm>
            <a:off x="548640" y="2240280"/>
            <a:ext cx="1442679" cy="1417320"/>
          </a:xfrm>
          <a:prstGeom prst="rect">
            <a:avLst/>
          </a:prstGeom>
          <a:solidFill>
            <a:srgbClr val="36454F"/>
          </a:solidFill>
          <a:ln/>
        </p:spPr>
      </p:sp>
      <p:sp>
        <p:nvSpPr>
          <p:cNvPr id="9" name="Text 6"/>
          <p:cNvSpPr txBox="1"/>
          <p:nvPr/>
        </p:nvSpPr>
        <p:spPr>
          <a:xfrm>
            <a:off x="64008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4 min</a:t>
            </a:r>
            <a:endParaRPr lang="en-US" sz="1150" dirty="0"/>
          </a:p>
        </p:txBody>
      </p:sp>
      <p:sp>
        <p:nvSpPr>
          <p:cNvPr id="10" name="Text 7"/>
          <p:cNvSpPr txBox="1"/>
          <p:nvPr/>
        </p:nvSpPr>
        <p:spPr>
          <a:xfrm>
            <a:off x="64008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Sponsor's case</a:t>
            </a:r>
            <a:endParaRPr lang="en-US" sz="1500" dirty="0"/>
          </a:p>
        </p:txBody>
      </p:sp>
      <p:sp>
        <p:nvSpPr>
          <p:cNvPr id="11" name="Shape 8"/>
          <p:cNvSpPr/>
          <p:nvPr/>
        </p:nvSpPr>
        <p:spPr>
          <a:xfrm>
            <a:off x="2027895" y="2240280"/>
            <a:ext cx="1442679" cy="1417320"/>
          </a:xfrm>
          <a:prstGeom prst="rect">
            <a:avLst/>
          </a:prstGeom>
          <a:solidFill>
            <a:srgbClr val="6B7B86"/>
          </a:solidFill>
          <a:ln/>
        </p:spPr>
      </p:sp>
      <p:sp>
        <p:nvSpPr>
          <p:cNvPr id="12" name="Text 9"/>
          <p:cNvSpPr txBox="1"/>
          <p:nvPr/>
        </p:nvSpPr>
        <p:spPr>
          <a:xfrm>
            <a:off x="2119335"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4 min</a:t>
            </a:r>
            <a:endParaRPr lang="en-US" sz="1150" dirty="0"/>
          </a:p>
        </p:txBody>
      </p:sp>
      <p:sp>
        <p:nvSpPr>
          <p:cNvPr id="13" name="Text 10"/>
          <p:cNvSpPr txBox="1"/>
          <p:nvPr/>
        </p:nvSpPr>
        <p:spPr>
          <a:xfrm>
            <a:off x="2119335"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How often?</a:t>
            </a:r>
            <a:endParaRPr lang="en-US" sz="1500" dirty="0"/>
          </a:p>
        </p:txBody>
      </p:sp>
      <p:sp>
        <p:nvSpPr>
          <p:cNvPr id="14" name="Shape 11"/>
          <p:cNvSpPr/>
          <p:nvPr/>
        </p:nvSpPr>
        <p:spPr>
          <a:xfrm>
            <a:off x="3507151" y="2240280"/>
            <a:ext cx="2182307" cy="1417320"/>
          </a:xfrm>
          <a:prstGeom prst="rect">
            <a:avLst/>
          </a:prstGeom>
          <a:solidFill>
            <a:srgbClr val="36454F"/>
          </a:solidFill>
          <a:ln/>
        </p:spPr>
      </p:sp>
      <p:sp>
        <p:nvSpPr>
          <p:cNvPr id="15" name="Text 12"/>
          <p:cNvSpPr txBox="1"/>
          <p:nvPr/>
        </p:nvSpPr>
        <p:spPr>
          <a:xfrm>
            <a:off x="3598591" y="2331720"/>
            <a:ext cx="203600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6 min</a:t>
            </a:r>
            <a:endParaRPr lang="en-US" sz="1150" dirty="0"/>
          </a:p>
        </p:txBody>
      </p:sp>
      <p:sp>
        <p:nvSpPr>
          <p:cNvPr id="16" name="Text 13"/>
          <p:cNvSpPr txBox="1"/>
          <p:nvPr/>
        </p:nvSpPr>
        <p:spPr>
          <a:xfrm>
            <a:off x="3598591" y="2651760"/>
            <a:ext cx="2072579"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The two days</a:t>
            </a:r>
            <a:endParaRPr lang="en-US" sz="1500" dirty="0"/>
          </a:p>
        </p:txBody>
      </p:sp>
      <p:sp>
        <p:nvSpPr>
          <p:cNvPr id="17" name="Shape 14"/>
          <p:cNvSpPr/>
          <p:nvPr/>
        </p:nvSpPr>
        <p:spPr>
          <a:xfrm>
            <a:off x="5726034" y="2240280"/>
            <a:ext cx="1442679" cy="1417320"/>
          </a:xfrm>
          <a:prstGeom prst="rect">
            <a:avLst/>
          </a:prstGeom>
          <a:solidFill>
            <a:srgbClr val="6B7B86"/>
          </a:solidFill>
          <a:ln/>
        </p:spPr>
      </p:sp>
      <p:sp>
        <p:nvSpPr>
          <p:cNvPr id="18" name="Text 15"/>
          <p:cNvSpPr txBox="1"/>
          <p:nvPr/>
        </p:nvSpPr>
        <p:spPr>
          <a:xfrm>
            <a:off x="5817474"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4 min</a:t>
            </a:r>
            <a:endParaRPr lang="en-US" sz="1150" dirty="0"/>
          </a:p>
        </p:txBody>
      </p:sp>
      <p:sp>
        <p:nvSpPr>
          <p:cNvPr id="19" name="Text 16"/>
          <p:cNvSpPr txBox="1"/>
          <p:nvPr/>
        </p:nvSpPr>
        <p:spPr>
          <a:xfrm>
            <a:off x="5817474"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Built alongside</a:t>
            </a:r>
            <a:endParaRPr lang="en-US" sz="1500" dirty="0"/>
          </a:p>
        </p:txBody>
      </p:sp>
      <p:sp>
        <p:nvSpPr>
          <p:cNvPr id="20" name="Shape 17"/>
          <p:cNvSpPr/>
          <p:nvPr/>
        </p:nvSpPr>
        <p:spPr>
          <a:xfrm>
            <a:off x="7205289" y="2240280"/>
            <a:ext cx="3291749" cy="1417320"/>
          </a:xfrm>
          <a:prstGeom prst="rect">
            <a:avLst/>
          </a:prstGeom>
          <a:solidFill>
            <a:srgbClr val="36454F"/>
          </a:solidFill>
          <a:ln/>
        </p:spPr>
      </p:sp>
      <p:sp>
        <p:nvSpPr>
          <p:cNvPr id="21" name="Text 18"/>
          <p:cNvSpPr txBox="1"/>
          <p:nvPr/>
        </p:nvSpPr>
        <p:spPr>
          <a:xfrm>
            <a:off x="7296729" y="2331720"/>
            <a:ext cx="314544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9 min</a:t>
            </a:r>
            <a:endParaRPr lang="en-US" sz="1150" dirty="0"/>
          </a:p>
        </p:txBody>
      </p:sp>
      <p:sp>
        <p:nvSpPr>
          <p:cNvPr id="22" name="Text 19"/>
          <p:cNvSpPr txBox="1"/>
          <p:nvPr/>
        </p:nvSpPr>
        <p:spPr>
          <a:xfrm>
            <a:off x="7296729" y="2651760"/>
            <a:ext cx="318202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What would change</a:t>
            </a:r>
            <a:endParaRPr lang="en-US" sz="1500" dirty="0"/>
          </a:p>
        </p:txBody>
      </p:sp>
      <p:sp>
        <p:nvSpPr>
          <p:cNvPr id="23" name="Shape 20"/>
          <p:cNvSpPr/>
          <p:nvPr/>
        </p:nvSpPr>
        <p:spPr>
          <a:xfrm>
            <a:off x="10533614" y="2240280"/>
            <a:ext cx="1072866" cy="1417320"/>
          </a:xfrm>
          <a:prstGeom prst="rect">
            <a:avLst/>
          </a:prstGeom>
          <a:solidFill>
            <a:srgbClr val="6B7B86"/>
          </a:solidFill>
          <a:ln/>
        </p:spPr>
      </p:sp>
      <p:sp>
        <p:nvSpPr>
          <p:cNvPr id="24" name="Text 21"/>
          <p:cNvSpPr txBox="1"/>
          <p:nvPr/>
        </p:nvSpPr>
        <p:spPr>
          <a:xfrm>
            <a:off x="10625054" y="2331720"/>
            <a:ext cx="926562"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 min</a:t>
            </a:r>
            <a:endParaRPr lang="en-US" sz="1150" dirty="0"/>
          </a:p>
        </p:txBody>
      </p:sp>
      <p:sp>
        <p:nvSpPr>
          <p:cNvPr id="25" name="Text 22"/>
          <p:cNvSpPr txBox="1"/>
          <p:nvPr/>
        </p:nvSpPr>
        <p:spPr>
          <a:xfrm>
            <a:off x="10625054" y="2651760"/>
            <a:ext cx="963138" cy="91440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How we work</a:t>
            </a:r>
            <a:endParaRPr lang="en-US" sz="1200" dirty="0"/>
          </a:p>
        </p:txBody>
      </p:sp>
      <p:sp>
        <p:nvSpPr>
          <p:cNvPr id="26" name="Shape 23"/>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7"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8" name="Text 24"/>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9" name="Text 25"/>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Whole room</a:t>
            </a:r>
            <a:endParaRPr lang="en-US" sz="1300" dirty="0"/>
          </a:p>
        </p:txBody>
      </p:sp>
      <p:sp>
        <p:nvSpPr>
          <p:cNvPr id="30" name="Shape 26"/>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31"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32" name="Text 27"/>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33" name="Text 28"/>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The sponsor's case, in three lines, on the wall. It is the second running case.</a:t>
            </a:r>
            <a:endParaRPr lang="en-US" sz="1300" dirty="0"/>
          </a:p>
        </p:txBody>
      </p:sp>
      <p:sp>
        <p:nvSpPr>
          <p:cNvPr id="34" name="Shape 29"/>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35"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36" name="Text 30"/>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37" name="Text 31"/>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QUICK CHECK · HANDS UP OR PHONES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What will the sponsor decide at the end of tomorrow?</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20</a:t>
            </a:r>
            <a:endParaRPr lang="en-US" sz="1000" dirty="0"/>
          </a:p>
        </p:txBody>
      </p:sp>
      <p:sp>
        <p:nvSpPr>
          <p:cNvPr id="7" name="Shape 4"/>
          <p:cNvSpPr/>
          <p:nvPr/>
        </p:nvSpPr>
        <p:spPr>
          <a:xfrm>
            <a:off x="548640" y="1828800"/>
            <a:ext cx="11091672" cy="1005840"/>
          </a:xfrm>
          <a:prstGeom prst="roundRect">
            <a:avLst>
              <a:gd name="adj" fmla="val 7273"/>
            </a:avLst>
          </a:prstGeom>
          <a:solidFill>
            <a:srgbClr val="FFFFFF"/>
          </a:solidFill>
          <a:ln w="12700">
            <a:solidFill>
              <a:srgbClr val="D9DEE2"/>
            </a:solidFill>
            <a:prstDash val="solid"/>
          </a:ln>
        </p:spPr>
      </p:sp>
      <p:sp>
        <p:nvSpPr>
          <p:cNvPr id="8" name="Shape 5"/>
          <p:cNvSpPr/>
          <p:nvPr/>
        </p:nvSpPr>
        <p:spPr>
          <a:xfrm>
            <a:off x="777240" y="2057400"/>
            <a:ext cx="548640" cy="548640"/>
          </a:xfrm>
          <a:prstGeom prst="ellipse">
            <a:avLst/>
          </a:prstGeom>
          <a:solidFill>
            <a:srgbClr val="36454F"/>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Proceed, Narrow or Stop</a:t>
            </a:r>
            <a:endParaRPr lang="en-US" sz="2000" dirty="0"/>
          </a:p>
        </p:txBody>
      </p:sp>
      <p:sp>
        <p:nvSpPr>
          <p:cNvPr id="11" name="Shape 8"/>
          <p:cNvSpPr/>
          <p:nvPr/>
        </p:nvSpPr>
        <p:spPr>
          <a:xfrm>
            <a:off x="548640" y="3017520"/>
            <a:ext cx="11091672" cy="1005840"/>
          </a:xfrm>
          <a:prstGeom prst="roundRect">
            <a:avLst>
              <a:gd name="adj" fmla="val 7273"/>
            </a:avLst>
          </a:prstGeom>
          <a:solidFill>
            <a:srgbClr val="FFFFFF"/>
          </a:solidFill>
          <a:ln w="12700">
            <a:solidFill>
              <a:srgbClr val="D9DEE2"/>
            </a:solidFill>
            <a:prstDash val="solid"/>
          </a:ln>
        </p:spPr>
      </p:sp>
      <p:sp>
        <p:nvSpPr>
          <p:cNvPr id="12" name="Shape 9"/>
          <p:cNvSpPr/>
          <p:nvPr/>
        </p:nvSpPr>
        <p:spPr>
          <a:xfrm>
            <a:off x="777240" y="3246120"/>
            <a:ext cx="548640" cy="548640"/>
          </a:xfrm>
          <a:prstGeom prst="ellipse">
            <a:avLst/>
          </a:prstGeom>
          <a:solidFill>
            <a:srgbClr val="36454F"/>
          </a:solidFill>
          <a:ln/>
        </p:spPr>
      </p:sp>
      <p:sp>
        <p:nvSpPr>
          <p:cNvPr id="13"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4"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Which software to buy</a:t>
            </a:r>
            <a:endParaRPr lang="en-US" sz="2000" dirty="0"/>
          </a:p>
        </p:txBody>
      </p:sp>
      <p:sp>
        <p:nvSpPr>
          <p:cNvPr id="15" name="Shape 12"/>
          <p:cNvSpPr/>
          <p:nvPr/>
        </p:nvSpPr>
        <p:spPr>
          <a:xfrm>
            <a:off x="548640" y="4206240"/>
            <a:ext cx="11091672" cy="1005840"/>
          </a:xfrm>
          <a:prstGeom prst="roundRect">
            <a:avLst>
              <a:gd name="adj" fmla="val 7273"/>
            </a:avLst>
          </a:prstGeom>
          <a:solidFill>
            <a:srgbClr val="FFFFFF"/>
          </a:solidFill>
          <a:ln w="12700">
            <a:solidFill>
              <a:srgbClr val="D9DEE2"/>
            </a:solidFill>
            <a:prstDash val="solid"/>
          </a:ln>
        </p:spPr>
      </p:sp>
      <p:sp>
        <p:nvSpPr>
          <p:cNvPr id="16" name="Shape 13"/>
          <p:cNvSpPr/>
          <p:nvPr/>
        </p:nvSpPr>
        <p:spPr>
          <a:xfrm>
            <a:off x="777240" y="4434840"/>
            <a:ext cx="548640" cy="548640"/>
          </a:xfrm>
          <a:prstGeom prst="ellipse">
            <a:avLst/>
          </a:prstGeom>
          <a:solidFill>
            <a:srgbClr val="36454F"/>
          </a:solidFill>
          <a:ln/>
        </p:spPr>
      </p:sp>
      <p:sp>
        <p:nvSpPr>
          <p:cNvPr id="17"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8"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Who joins the project team</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CHECK · THE ANSWER</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What will the sponsor decide at the end of tomorrow?</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21</a:t>
            </a:r>
            <a:endParaRPr lang="en-US" sz="1000" dirty="0"/>
          </a:p>
        </p:txBody>
      </p:sp>
      <p:sp>
        <p:nvSpPr>
          <p:cNvPr id="7" name="Shape 4"/>
          <p:cNvSpPr/>
          <p:nvPr/>
        </p:nvSpPr>
        <p:spPr>
          <a:xfrm>
            <a:off x="548640" y="1828800"/>
            <a:ext cx="11091672" cy="1005840"/>
          </a:xfrm>
          <a:prstGeom prst="roundRect">
            <a:avLst>
              <a:gd name="adj" fmla="val 7273"/>
            </a:avLst>
          </a:prstGeom>
          <a:solidFill>
            <a:srgbClr val="E3F1E9"/>
          </a:solidFill>
          <a:ln w="12700">
            <a:solidFill>
              <a:srgbClr val="2E8656"/>
            </a:solidFill>
            <a:prstDash val="solid"/>
          </a:ln>
        </p:spPr>
      </p:sp>
      <p:sp>
        <p:nvSpPr>
          <p:cNvPr id="8" name="Shape 5"/>
          <p:cNvSpPr/>
          <p:nvPr/>
        </p:nvSpPr>
        <p:spPr>
          <a:xfrm>
            <a:off x="777240" y="2057400"/>
            <a:ext cx="548640" cy="548640"/>
          </a:xfrm>
          <a:prstGeom prst="ellipse">
            <a:avLst/>
          </a:prstGeom>
          <a:solidFill>
            <a:srgbClr val="2E8656"/>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Proceed, Narrow or Stop</a:t>
            </a:r>
            <a:endParaRPr lang="en-US" sz="2000" dirty="0"/>
          </a:p>
        </p:txBody>
      </p:sp>
      <p:pic>
        <p:nvPicPr>
          <p:cNvPr id="11" name="Image 1" descr="/private/tmp/claude-501/-Users-salehhamed-Outcome-Engine/91861432-41e2-4884-bc97-63c6dff2d021/scratchpad/wk/icons/TbCircleCheck-green.png">    </p:cNvPr>
          <p:cNvPicPr>
            <a:picLocks noChangeAspect="1"/>
          </p:cNvPicPr>
          <p:nvPr/>
        </p:nvPicPr>
        <p:blipFill>
          <a:blip r:embed="rId4"/>
          <a:stretch>
            <a:fillRect/>
          </a:stretch>
        </p:blipFill>
        <p:spPr>
          <a:xfrm>
            <a:off x="10927080" y="2057400"/>
            <a:ext cx="548640" cy="548640"/>
          </a:xfrm>
          <a:prstGeom prst="rect">
            <a:avLst/>
          </a:prstGeom>
        </p:spPr>
      </p:pic>
      <p:sp>
        <p:nvSpPr>
          <p:cNvPr id="12" name="Shape 8"/>
          <p:cNvSpPr/>
          <p:nvPr/>
        </p:nvSpPr>
        <p:spPr>
          <a:xfrm>
            <a:off x="548640" y="3017520"/>
            <a:ext cx="11091672" cy="1005840"/>
          </a:xfrm>
          <a:prstGeom prst="roundRect">
            <a:avLst>
              <a:gd name="adj" fmla="val 7273"/>
            </a:avLst>
          </a:prstGeom>
          <a:solidFill>
            <a:srgbClr val="FFFFFF"/>
          </a:solidFill>
          <a:ln w="12700">
            <a:solidFill>
              <a:srgbClr val="D9DEE2"/>
            </a:solidFill>
            <a:prstDash val="solid"/>
          </a:ln>
        </p:spPr>
      </p:sp>
      <p:sp>
        <p:nvSpPr>
          <p:cNvPr id="13" name="Shape 9"/>
          <p:cNvSpPr/>
          <p:nvPr/>
        </p:nvSpPr>
        <p:spPr>
          <a:xfrm>
            <a:off x="777240" y="3246120"/>
            <a:ext cx="548640" cy="548640"/>
          </a:xfrm>
          <a:prstGeom prst="ellipse">
            <a:avLst/>
          </a:prstGeom>
          <a:solidFill>
            <a:srgbClr val="8A94A4"/>
          </a:solidFill>
          <a:ln/>
        </p:spPr>
      </p:sp>
      <p:sp>
        <p:nvSpPr>
          <p:cNvPr id="14"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5"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Which software to buy</a:t>
            </a:r>
            <a:endParaRPr lang="en-US" sz="2000" dirty="0"/>
          </a:p>
        </p:txBody>
      </p:sp>
      <p:sp>
        <p:nvSpPr>
          <p:cNvPr id="16" name="Shape 12"/>
          <p:cNvSpPr/>
          <p:nvPr/>
        </p:nvSpPr>
        <p:spPr>
          <a:xfrm>
            <a:off x="548640" y="4206240"/>
            <a:ext cx="11091672" cy="1005840"/>
          </a:xfrm>
          <a:prstGeom prst="roundRect">
            <a:avLst>
              <a:gd name="adj" fmla="val 7273"/>
            </a:avLst>
          </a:prstGeom>
          <a:solidFill>
            <a:srgbClr val="FFFFFF"/>
          </a:solidFill>
          <a:ln w="12700">
            <a:solidFill>
              <a:srgbClr val="D9DEE2"/>
            </a:solidFill>
            <a:prstDash val="solid"/>
          </a:ln>
        </p:spPr>
      </p:sp>
      <p:sp>
        <p:nvSpPr>
          <p:cNvPr id="17" name="Shape 13"/>
          <p:cNvSpPr/>
          <p:nvPr/>
        </p:nvSpPr>
        <p:spPr>
          <a:xfrm>
            <a:off x="777240" y="4434840"/>
            <a:ext cx="548640" cy="548640"/>
          </a:xfrm>
          <a:prstGeom prst="ellipse">
            <a:avLst/>
          </a:prstGeom>
          <a:solidFill>
            <a:srgbClr val="8A94A4"/>
          </a:solidFill>
          <a:ln/>
        </p:spPr>
      </p:sp>
      <p:sp>
        <p:nvSpPr>
          <p:cNvPr id="18"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9"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Who joins the project team</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287079"/>
          </a:solidFill>
          <a:ln/>
        </p:spPr>
      </p:sp>
      <p:sp>
        <p:nvSpPr>
          <p:cNvPr id="3" name="Text 1"/>
          <p:cNvSpPr txBox="1"/>
          <p:nvPr/>
        </p:nvSpPr>
        <p:spPr>
          <a:xfrm>
            <a:off x="548640" y="548640"/>
            <a:ext cx="3474720" cy="274320"/>
          </a:xfrm>
          <a:prstGeom prst="rect">
            <a:avLst/>
          </a:prstGeom>
          <a:noFill/>
          <a:ln/>
        </p:spPr>
        <p:txBody>
          <a:bodyPr wrap="square" lIns="0" tIns="0" rIns="0" bIns="0" rtlCol="0" anchor="t"/>
          <a:lstStyle/>
          <a:p>
            <a:pPr indent="0" marL="0">
              <a:buNone/>
            </a:pPr>
            <a:r>
              <a:rPr lang="en-US" sz="1100" b="1" spc="150" kern="0" dirty="0">
                <a:solidFill>
                  <a:srgbClr val="D9DEE2"/>
                </a:solidFill>
                <a:latin typeface="Arial" pitchFamily="34" charset="0"/>
                <a:ea typeface="Arial" pitchFamily="34" charset="-122"/>
                <a:cs typeface="Arial" pitchFamily="34" charset="-120"/>
              </a:rPr>
              <a:t>DAY 1 · 09:30–10:45 · 75 MIN</a:t>
            </a:r>
            <a:endParaRPr lang="en-US" sz="1100" dirty="0"/>
          </a:p>
        </p:txBody>
      </p:sp>
      <p:sp>
        <p:nvSpPr>
          <p:cNvPr id="4" name="Text 2"/>
          <p:cNvSpPr txBox="1"/>
          <p:nvPr/>
        </p:nvSpPr>
        <p:spPr>
          <a:xfrm>
            <a:off x="548640" y="960120"/>
            <a:ext cx="3383280" cy="2377440"/>
          </a:xfrm>
          <a:prstGeom prst="rect">
            <a:avLst/>
          </a:prstGeom>
          <a:noFill/>
          <a:ln/>
        </p:spPr>
        <p:txBody>
          <a:bodyPr wrap="square" lIns="0" tIns="0" rIns="0" bIns="0" rtlCol="0" anchor="t"/>
          <a:lstStyle/>
          <a:p>
            <a:pPr indent="0" marL="0">
              <a:buNone/>
            </a:pPr>
            <a:r>
              <a:rPr lang="en-US" sz="3000" b="1" dirty="0">
                <a:solidFill>
                  <a:srgbClr val="FFFFFF"/>
                </a:solidFill>
                <a:latin typeface="TWK Everett" pitchFamily="34" charset="0"/>
                <a:ea typeface="TWK Everett" pitchFamily="34" charset="-122"/>
                <a:cs typeface="TWK Everett" pitchFamily="34" charset="-120"/>
              </a:rPr>
              <a:t>Ground in reality</a:t>
            </a:r>
            <a:endParaRPr lang="en-US" sz="3000" dirty="0"/>
          </a:p>
        </p:txBody>
      </p:sp>
      <p:pic>
        <p:nvPicPr>
          <p:cNvPr id="5" name="Image 0" descr="/private/tmp/claude-501/-Users-salehhamed-Outcome-Engine/91861432-41e2-4884-bc97-63c6dff2d021/scratchpad/wk/icons/TbEye-white.png">    </p:cNvPr>
          <p:cNvPicPr>
            <a:picLocks noChangeAspect="1"/>
          </p:cNvPicPr>
          <p:nvPr/>
        </p:nvPicPr>
        <p:blipFill>
          <a:blip r:embed="rId1"/>
          <a:stretch>
            <a:fillRect/>
          </a:stretch>
        </p:blipFill>
        <p:spPr>
          <a:xfrm>
            <a:off x="548640" y="3200400"/>
            <a:ext cx="685800" cy="685800"/>
          </a:xfrm>
          <a:prstGeom prst="rect">
            <a:avLst/>
          </a:prstGeom>
        </p:spPr>
      </p:pic>
      <p:sp>
        <p:nvSpPr>
          <p:cNvPr id="6" name="Shape 3"/>
          <p:cNvSpPr/>
          <p:nvPr/>
        </p:nvSpPr>
        <p:spPr>
          <a:xfrm>
            <a:off x="548640" y="4169664"/>
            <a:ext cx="237744" cy="237744"/>
          </a:xfrm>
          <a:prstGeom prst="ellipse">
            <a:avLst/>
          </a:prstGeom>
          <a:solidFill>
            <a:srgbClr val="FFFFFF"/>
          </a:solidFill>
          <a:ln/>
        </p:spPr>
      </p:sp>
      <p:sp>
        <p:nvSpPr>
          <p:cNvPr id="7" name="Shape 4"/>
          <p:cNvSpPr/>
          <p:nvPr/>
        </p:nvSpPr>
        <p:spPr>
          <a:xfrm>
            <a:off x="896112" y="4133088"/>
            <a:ext cx="310896" cy="310896"/>
          </a:xfrm>
          <a:prstGeom prst="ellipse">
            <a:avLst/>
          </a:prstGeom>
          <a:solidFill>
            <a:srgbClr val="FF462D"/>
          </a:solidFill>
          <a:ln w="19050">
            <a:solidFill>
              <a:srgbClr val="FFFFFF"/>
            </a:solidFill>
            <a:prstDash val="solid"/>
          </a:ln>
        </p:spPr>
      </p:sp>
      <p:sp>
        <p:nvSpPr>
          <p:cNvPr id="8" name="Shape 5"/>
          <p:cNvSpPr/>
          <p:nvPr/>
        </p:nvSpPr>
        <p:spPr>
          <a:xfrm>
            <a:off x="1316736" y="4169664"/>
            <a:ext cx="237744" cy="237744"/>
          </a:xfrm>
          <a:prstGeom prst="ellipse">
            <a:avLst/>
          </a:prstGeom>
          <a:ln w="15875">
            <a:solidFill>
              <a:srgbClr val="D9DEE2"/>
            </a:solidFill>
            <a:prstDash val="solid"/>
          </a:ln>
        </p:spPr>
      </p:sp>
      <p:sp>
        <p:nvSpPr>
          <p:cNvPr id="9" name="Shape 6"/>
          <p:cNvSpPr/>
          <p:nvPr/>
        </p:nvSpPr>
        <p:spPr>
          <a:xfrm>
            <a:off x="1700784" y="4169664"/>
            <a:ext cx="237744" cy="237744"/>
          </a:xfrm>
          <a:prstGeom prst="ellipse">
            <a:avLst/>
          </a:prstGeom>
          <a:ln w="15875">
            <a:solidFill>
              <a:srgbClr val="D9DEE2"/>
            </a:solidFill>
            <a:prstDash val="solid"/>
          </a:ln>
        </p:spPr>
      </p:sp>
      <p:sp>
        <p:nvSpPr>
          <p:cNvPr id="10" name="Shape 7"/>
          <p:cNvSpPr/>
          <p:nvPr/>
        </p:nvSpPr>
        <p:spPr>
          <a:xfrm>
            <a:off x="2084832" y="4169664"/>
            <a:ext cx="237744" cy="237744"/>
          </a:xfrm>
          <a:prstGeom prst="ellipse">
            <a:avLst/>
          </a:prstGeom>
          <a:ln w="15875">
            <a:solidFill>
              <a:srgbClr val="D9DEE2"/>
            </a:solidFill>
            <a:prstDash val="solid"/>
          </a:ln>
        </p:spPr>
      </p:sp>
      <p:sp>
        <p:nvSpPr>
          <p:cNvPr id="11" name="Shape 8"/>
          <p:cNvSpPr/>
          <p:nvPr/>
        </p:nvSpPr>
        <p:spPr>
          <a:xfrm>
            <a:off x="2468880" y="4169664"/>
            <a:ext cx="237744" cy="237744"/>
          </a:xfrm>
          <a:prstGeom prst="ellipse">
            <a:avLst/>
          </a:prstGeom>
          <a:ln w="15875">
            <a:solidFill>
              <a:srgbClr val="D9DEE2"/>
            </a:solidFill>
            <a:prstDash val="solid"/>
          </a:ln>
        </p:spPr>
      </p:sp>
      <p:sp>
        <p:nvSpPr>
          <p:cNvPr id="12" name="Shape 9"/>
          <p:cNvSpPr/>
          <p:nvPr/>
        </p:nvSpPr>
        <p:spPr>
          <a:xfrm>
            <a:off x="2852928" y="4169664"/>
            <a:ext cx="237744" cy="237744"/>
          </a:xfrm>
          <a:prstGeom prst="ellipse">
            <a:avLst/>
          </a:prstGeom>
          <a:ln w="15875">
            <a:solidFill>
              <a:srgbClr val="D9DEE2"/>
            </a:solidFill>
            <a:prstDash val="solid"/>
          </a:ln>
        </p:spPr>
      </p:sp>
      <p:sp>
        <p:nvSpPr>
          <p:cNvPr id="13" name="Shape 10"/>
          <p:cNvSpPr/>
          <p:nvPr/>
        </p:nvSpPr>
        <p:spPr>
          <a:xfrm>
            <a:off x="3236976" y="4169664"/>
            <a:ext cx="237744" cy="237744"/>
          </a:xfrm>
          <a:prstGeom prst="ellipse">
            <a:avLst/>
          </a:prstGeom>
          <a:ln w="15875">
            <a:solidFill>
              <a:srgbClr val="D9DEE2"/>
            </a:solidFill>
            <a:prstDash val="solid"/>
          </a:ln>
        </p:spPr>
      </p:sp>
      <p:sp>
        <p:nvSpPr>
          <p:cNvPr id="14" name="Text 11"/>
          <p:cNvSpPr txBox="1"/>
          <p:nvPr/>
        </p:nvSpPr>
        <p:spPr>
          <a:xfrm>
            <a:off x="548640" y="4553712"/>
            <a:ext cx="338328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Step 2 of 8: The real problem</a:t>
            </a:r>
            <a:endParaRPr lang="en-US" sz="1100" dirty="0"/>
          </a:p>
        </p:txBody>
      </p:sp>
      <p:sp>
        <p:nvSpPr>
          <p:cNvPr id="15" name="Text 12"/>
          <p:cNvSpPr txBox="1"/>
          <p:nvPr/>
        </p:nvSpPr>
        <p:spPr>
          <a:xfrm>
            <a:off x="4709160" y="685800"/>
            <a:ext cx="6400800" cy="320040"/>
          </a:xfrm>
          <a:prstGeom prst="rect">
            <a:avLst/>
          </a:prstGeom>
          <a:noFill/>
          <a:ln/>
        </p:spPr>
        <p:txBody>
          <a:bodyPr wrap="square" lIns="0" tIns="0" rIns="0" bIns="0" rtlCol="0" anchor="t"/>
          <a:lstStyle/>
          <a:p>
            <a:pPr indent="0" marL="0">
              <a:buNone/>
            </a:pPr>
            <a:r>
              <a:rPr lang="en-US" sz="1400" b="1" dirty="0">
                <a:solidFill>
                  <a:srgbClr val="287079"/>
                </a:solidFill>
                <a:latin typeface="Arial" pitchFamily="34" charset="0"/>
                <a:ea typeface="Arial" pitchFamily="34" charset="-122"/>
                <a:cs typeface="Arial" pitchFamily="34" charset="-120"/>
              </a:rPr>
              <a:t>By the end of this session, you can</a:t>
            </a:r>
            <a:endParaRPr lang="en-US" sz="1400" dirty="0"/>
          </a:p>
        </p:txBody>
      </p:sp>
      <p:pic>
        <p:nvPicPr>
          <p:cNvPr id="16" name="Image 1" descr="/private/tmp/claude-501/-Users-salehhamed-Outcome-Engine/91861432-41e2-4884-bc97-63c6dff2d021/scratchpad/wk/icons/TbCircleCheck-teal.png">    </p:cNvPr>
          <p:cNvPicPr>
            <a:picLocks noChangeAspect="1"/>
          </p:cNvPicPr>
          <p:nvPr/>
        </p:nvPicPr>
        <p:blipFill>
          <a:blip r:embed="rId2"/>
          <a:stretch>
            <a:fillRect/>
          </a:stretch>
        </p:blipFill>
        <p:spPr>
          <a:xfrm>
            <a:off x="4709160" y="1225296"/>
            <a:ext cx="411480" cy="411480"/>
          </a:xfrm>
          <a:prstGeom prst="rect">
            <a:avLst/>
          </a:prstGeom>
        </p:spPr>
      </p:pic>
      <p:sp>
        <p:nvSpPr>
          <p:cNvPr id="17" name="Text 13"/>
          <p:cNvSpPr txBox="1"/>
          <p:nvPr/>
        </p:nvSpPr>
        <p:spPr>
          <a:xfrm>
            <a:off x="5303520" y="118872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Follow one deal through the seven stages.</a:t>
            </a:r>
            <a:endParaRPr lang="en-US" sz="1700" dirty="0"/>
          </a:p>
        </p:txBody>
      </p:sp>
      <p:pic>
        <p:nvPicPr>
          <p:cNvPr id="18" name="Image 2" descr="/private/tmp/claude-501/-Users-salehhamed-Outcome-Engine/91861432-41e2-4884-bc97-63c6dff2d021/scratchpad/wk/icons/TbCircleCheck-teal.png">    </p:cNvPr>
          <p:cNvPicPr>
            <a:picLocks noChangeAspect="1"/>
          </p:cNvPicPr>
          <p:nvPr/>
        </p:nvPicPr>
        <p:blipFill>
          <a:blip r:embed="rId3"/>
          <a:stretch>
            <a:fillRect/>
          </a:stretch>
        </p:blipFill>
        <p:spPr>
          <a:xfrm>
            <a:off x="4709160" y="2093976"/>
            <a:ext cx="411480" cy="411480"/>
          </a:xfrm>
          <a:prstGeom prst="rect">
            <a:avLst/>
          </a:prstGeom>
        </p:spPr>
      </p:pic>
      <p:sp>
        <p:nvSpPr>
          <p:cNvPr id="19" name="Text 14"/>
          <p:cNvSpPr txBox="1"/>
          <p:nvPr/>
        </p:nvSpPr>
        <p:spPr>
          <a:xfrm>
            <a:off x="5303520" y="205740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Spot where the record and reality parted, at each stage.</a:t>
            </a:r>
            <a:endParaRPr lang="en-US" sz="1700" dirty="0"/>
          </a:p>
        </p:txBody>
      </p:sp>
      <p:pic>
        <p:nvPicPr>
          <p:cNvPr id="20" name="Image 3" descr="/private/tmp/claude-501/-Users-salehhamed-Outcome-Engine/91861432-41e2-4884-bc97-63c6dff2d021/scratchpad/wk/icons/TbCircleCheck-teal.png">    </p:cNvPr>
          <p:cNvPicPr>
            <a:picLocks noChangeAspect="1"/>
          </p:cNvPicPr>
          <p:nvPr/>
        </p:nvPicPr>
        <p:blipFill>
          <a:blip r:embed="rId4"/>
          <a:stretch>
            <a:fillRect/>
          </a:stretch>
        </p:blipFill>
        <p:spPr>
          <a:xfrm>
            <a:off x="4709160" y="2962656"/>
            <a:ext cx="411480" cy="411480"/>
          </a:xfrm>
          <a:prstGeom prst="rect">
            <a:avLst/>
          </a:prstGeom>
        </p:spPr>
      </p:pic>
      <p:sp>
        <p:nvSpPr>
          <p:cNvPr id="21" name="Text 15"/>
          <p:cNvSpPr txBox="1"/>
          <p:nvPr/>
        </p:nvSpPr>
        <p:spPr>
          <a:xfrm>
            <a:off x="5303520" y="292608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Tell a shortfall from a gap.</a:t>
            </a:r>
            <a:endParaRPr lang="en-US" sz="1700" dirty="0"/>
          </a:p>
        </p:txBody>
      </p:sp>
      <p:pic>
        <p:nvPicPr>
          <p:cNvPr id="22" name="Image 4" descr="/private/tmp/claude-501/-Users-salehhamed-Outcome-Engine/91861432-41e2-4884-bc97-63c6dff2d021/scratchpad/wk/icons/TbCircleCheck-teal.png">    </p:cNvPr>
          <p:cNvPicPr>
            <a:picLocks noChangeAspect="1"/>
          </p:cNvPicPr>
          <p:nvPr/>
        </p:nvPicPr>
        <p:blipFill>
          <a:blip r:embed="rId5"/>
          <a:stretch>
            <a:fillRect/>
          </a:stretch>
        </p:blipFill>
        <p:spPr>
          <a:xfrm>
            <a:off x="4709160" y="3831336"/>
            <a:ext cx="411480" cy="411480"/>
          </a:xfrm>
          <a:prstGeom prst="rect">
            <a:avLst/>
          </a:prstGeom>
        </p:spPr>
      </p:pic>
      <p:sp>
        <p:nvSpPr>
          <p:cNvPr id="23" name="Text 16"/>
          <p:cNvSpPr txBox="1"/>
          <p:nvPr/>
        </p:nvSpPr>
        <p:spPr>
          <a:xfrm>
            <a:off x="5303520" y="379476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Agree the room's top three pain points.</a:t>
            </a:r>
            <a:endParaRPr lang="en-US" sz="1700" dirty="0"/>
          </a:p>
        </p:txBody>
      </p:sp>
      <p:sp>
        <p:nvSpPr>
          <p:cNvPr id="24" name="Shape 17"/>
          <p:cNvSpPr/>
          <p:nvPr/>
        </p:nvSpPr>
        <p:spPr>
          <a:xfrm>
            <a:off x="4709160" y="4800600"/>
            <a:ext cx="6931152" cy="1234440"/>
          </a:xfrm>
          <a:prstGeom prst="roundRect">
            <a:avLst>
              <a:gd name="adj" fmla="val 5926"/>
            </a:avLst>
          </a:prstGeom>
          <a:solidFill>
            <a:srgbClr val="FFF0EC"/>
          </a:solidFill>
          <a:ln/>
        </p:spPr>
      </p:sp>
      <p:sp>
        <p:nvSpPr>
          <p:cNvPr id="25" name="Text 18"/>
          <p:cNvSpPr txBox="1"/>
          <p:nvPr/>
        </p:nvSpPr>
        <p:spPr>
          <a:xfrm>
            <a:off x="4937760" y="4800600"/>
            <a:ext cx="6492240" cy="1234440"/>
          </a:xfrm>
          <a:prstGeom prst="rect">
            <a:avLst/>
          </a:prstGeom>
          <a:noFill/>
          <a:ln/>
        </p:spPr>
        <p:txBody>
          <a:bodyPr wrap="square" lIns="0" tIns="0" rIns="0" bIns="0" rtlCol="0" anchor="ctr"/>
          <a:lstStyle/>
          <a:p>
            <a:pPr indent="0" marL="0">
              <a:buNone/>
            </a:pPr>
            <a:r>
              <a:rPr lang="en-US" sz="1800" b="1" dirty="0">
                <a:solidFill>
                  <a:srgbClr val="FF462D"/>
                </a:solidFill>
                <a:latin typeface="Arial" pitchFamily="34" charset="0"/>
                <a:ea typeface="Arial" pitchFamily="34" charset="-122"/>
                <a:cs typeface="Arial" pitchFamily="34" charset="-120"/>
              </a:rPr>
              <a:t>What the records say is not always true. The new way of working has to check.</a:t>
            </a:r>
            <a:endParaRPr lang="en-US" sz="1800" dirty="0"/>
          </a:p>
        </p:txBody>
      </p:sp>
      <p:sp>
        <p:nvSpPr>
          <p:cNvPr id="26" name="Text 19"/>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6"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7" action="ppaction://hlinksldjump" tooltip="The thre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OUR RUNNING CASE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Meet the Northgate deal</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23</a:t>
            </a:r>
            <a:endParaRPr lang="en-US" sz="1000" dirty="0"/>
          </a:p>
        </p:txBody>
      </p:sp>
      <p:sp>
        <p:nvSpPr>
          <p:cNvPr id="7" name="Shape 4"/>
          <p:cNvSpPr/>
          <p:nvPr/>
        </p:nvSpPr>
        <p:spPr>
          <a:xfrm>
            <a:off x="548640" y="1508760"/>
            <a:ext cx="4754880" cy="4480560"/>
          </a:xfrm>
          <a:prstGeom prst="roundRect">
            <a:avLst>
              <a:gd name="adj" fmla="val 2041"/>
            </a:avLst>
          </a:prstGeom>
          <a:solidFill>
            <a:srgbClr val="36454F"/>
          </a:solidFill>
          <a:ln/>
        </p:spPr>
      </p:sp>
      <p:pic>
        <p:nvPicPr>
          <p:cNvPr id="8" name="Image 1" descr="/private/tmp/claude-501/-Users-salehhamed-Outcome-Engine/91861432-41e2-4884-bc97-63c6dff2d021/scratchpad/wk/icons/TbBuildingSkyscraper-white.png">    </p:cNvPr>
          <p:cNvPicPr>
            <a:picLocks noChangeAspect="1"/>
          </p:cNvPicPr>
          <p:nvPr/>
        </p:nvPicPr>
        <p:blipFill>
          <a:blip r:embed="rId4"/>
          <a:stretch>
            <a:fillRect/>
          </a:stretch>
        </p:blipFill>
        <p:spPr>
          <a:xfrm>
            <a:off x="868680" y="1783080"/>
            <a:ext cx="914400" cy="914400"/>
          </a:xfrm>
          <a:prstGeom prst="rect">
            <a:avLst/>
          </a:prstGeom>
        </p:spPr>
      </p:pic>
      <p:sp>
        <p:nvSpPr>
          <p:cNvPr id="9" name="Text 5"/>
          <p:cNvSpPr txBox="1"/>
          <p:nvPr/>
        </p:nvSpPr>
        <p:spPr>
          <a:xfrm>
            <a:off x="1965960" y="1783080"/>
            <a:ext cx="3200400" cy="50292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Northgate</a:t>
            </a:r>
            <a:endParaRPr lang="en-US" sz="2800" dirty="0"/>
          </a:p>
        </p:txBody>
      </p:sp>
      <p:sp>
        <p:nvSpPr>
          <p:cNvPr id="10" name="Text 6"/>
          <p:cNvSpPr txBox="1"/>
          <p:nvPr/>
        </p:nvSpPr>
        <p:spPr>
          <a:xfrm>
            <a:off x="1965960" y="2286000"/>
            <a:ext cx="3200400" cy="457200"/>
          </a:xfrm>
          <a:prstGeom prst="rect">
            <a:avLst/>
          </a:prstGeom>
          <a:noFill/>
          <a:ln/>
        </p:spPr>
        <p:txBody>
          <a:bodyPr wrap="square" lIns="0" tIns="0" rIns="0" bIns="0" rtlCol="0" anchor="t"/>
          <a:lstStyle/>
          <a:p>
            <a:pPr indent="0" marL="0">
              <a:buNone/>
            </a:pPr>
            <a:r>
              <a:rPr lang="en-US" sz="1400" dirty="0">
                <a:solidFill>
                  <a:srgbClr val="D9DEE2"/>
                </a:solidFill>
                <a:latin typeface="Arial" pitchFamily="34" charset="0"/>
                <a:ea typeface="Arial" pitchFamily="34" charset="-122"/>
                <a:cs typeface="Arial" pitchFamily="34" charset="-120"/>
              </a:rPr>
              <a:t>Network and cloud migration</a:t>
            </a:r>
            <a:endParaRPr lang="en-US" sz="1400" dirty="0"/>
          </a:p>
        </p:txBody>
      </p:sp>
      <p:pic>
        <p:nvPicPr>
          <p:cNvPr id="11" name="Image 2" descr="/private/tmp/claude-501/-Users-salehhamed-Outcome-Engine/91861432-41e2-4884-bc97-63c6dff2d021/scratchpad/wk/icons/TbCurrencyPound-white.png">    </p:cNvPr>
          <p:cNvPicPr>
            <a:picLocks noChangeAspect="1"/>
          </p:cNvPicPr>
          <p:nvPr/>
        </p:nvPicPr>
        <p:blipFill>
          <a:blip r:embed="rId5"/>
          <a:stretch>
            <a:fillRect/>
          </a:stretch>
        </p:blipFill>
        <p:spPr>
          <a:xfrm>
            <a:off x="914400" y="3017520"/>
            <a:ext cx="384048" cy="384048"/>
          </a:xfrm>
          <a:prstGeom prst="rect">
            <a:avLst/>
          </a:prstGeom>
        </p:spPr>
      </p:pic>
      <p:sp>
        <p:nvSpPr>
          <p:cNvPr id="12" name="Text 7"/>
          <p:cNvSpPr txBox="1"/>
          <p:nvPr/>
        </p:nvSpPr>
        <p:spPr>
          <a:xfrm>
            <a:off x="1463040" y="3017520"/>
            <a:ext cx="3657600" cy="384048"/>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£2.4m</a:t>
            </a:r>
            <a:endParaRPr lang="en-US" sz="1700" dirty="0"/>
          </a:p>
        </p:txBody>
      </p:sp>
      <p:pic>
        <p:nvPicPr>
          <p:cNvPr id="13" name="Image 3" descr="/private/tmp/claude-501/-Users-salehhamed-Outcome-Engine/91861432-41e2-4884-bc97-63c6dff2d021/scratchpad/wk/icons/TbCalendar-white.png">    </p:cNvPr>
          <p:cNvPicPr>
            <a:picLocks noChangeAspect="1"/>
          </p:cNvPicPr>
          <p:nvPr/>
        </p:nvPicPr>
        <p:blipFill>
          <a:blip r:embed="rId6"/>
          <a:stretch>
            <a:fillRect/>
          </a:stretch>
        </p:blipFill>
        <p:spPr>
          <a:xfrm>
            <a:off x="914400" y="3639312"/>
            <a:ext cx="384048" cy="384048"/>
          </a:xfrm>
          <a:prstGeom prst="rect">
            <a:avLst/>
          </a:prstGeom>
        </p:spPr>
      </p:pic>
      <p:sp>
        <p:nvSpPr>
          <p:cNvPr id="14" name="Text 8"/>
          <p:cNvSpPr txBox="1"/>
          <p:nvPr/>
        </p:nvSpPr>
        <p:spPr>
          <a:xfrm>
            <a:off x="1463040" y="3639312"/>
            <a:ext cx="3657600" cy="384048"/>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Start 2 November</a:t>
            </a:r>
            <a:endParaRPr lang="en-US" sz="1700" dirty="0"/>
          </a:p>
        </p:txBody>
      </p:sp>
      <p:pic>
        <p:nvPicPr>
          <p:cNvPr id="15" name="Image 4" descr="/private/tmp/claude-501/-Users-salehhamed-Outcome-Engine/91861432-41e2-4884-bc97-63c6dff2d021/scratchpad/wk/icons/TbMapPin-white.png">    </p:cNvPr>
          <p:cNvPicPr>
            <a:picLocks noChangeAspect="1"/>
          </p:cNvPicPr>
          <p:nvPr/>
        </p:nvPicPr>
        <p:blipFill>
          <a:blip r:embed="rId7"/>
          <a:stretch>
            <a:fillRect/>
          </a:stretch>
        </p:blipFill>
        <p:spPr>
          <a:xfrm>
            <a:off x="914400" y="4261104"/>
            <a:ext cx="384048" cy="384048"/>
          </a:xfrm>
          <a:prstGeom prst="rect">
            <a:avLst/>
          </a:prstGeom>
        </p:spPr>
      </p:pic>
      <p:sp>
        <p:nvSpPr>
          <p:cNvPr id="16" name="Text 9"/>
          <p:cNvSpPr txBox="1"/>
          <p:nvPr/>
        </p:nvSpPr>
        <p:spPr>
          <a:xfrm>
            <a:off x="1463040" y="4261104"/>
            <a:ext cx="3657600" cy="384048"/>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Liverpool</a:t>
            </a:r>
            <a:endParaRPr lang="en-US" sz="1700" dirty="0"/>
          </a:p>
        </p:txBody>
      </p:sp>
      <p:pic>
        <p:nvPicPr>
          <p:cNvPr id="17" name="Image 5" descr="/private/tmp/claude-501/-Users-salehhamed-Outcome-Engine/91861432-41e2-4884-bc97-63c6dff2d021/scratchpad/wk/icons/TbHistory-white.png">    </p:cNvPr>
          <p:cNvPicPr>
            <a:picLocks noChangeAspect="1"/>
          </p:cNvPicPr>
          <p:nvPr/>
        </p:nvPicPr>
        <p:blipFill>
          <a:blip r:embed="rId8"/>
          <a:stretch>
            <a:fillRect/>
          </a:stretch>
        </p:blipFill>
        <p:spPr>
          <a:xfrm>
            <a:off x="914400" y="4882896"/>
            <a:ext cx="384048" cy="384048"/>
          </a:xfrm>
          <a:prstGeom prst="rect">
            <a:avLst/>
          </a:prstGeom>
        </p:spPr>
      </p:pic>
      <p:sp>
        <p:nvSpPr>
          <p:cNvPr id="18" name="Text 10"/>
          <p:cNvSpPr txBox="1"/>
          <p:nvPr/>
        </p:nvSpPr>
        <p:spPr>
          <a:xfrm>
            <a:off x="1463040" y="4882896"/>
            <a:ext cx="3657600" cy="384048"/>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 deal from last year, replayed</a:t>
            </a:r>
            <a:endParaRPr lang="en-US" sz="1700" dirty="0"/>
          </a:p>
        </p:txBody>
      </p:sp>
      <p:sp>
        <p:nvSpPr>
          <p:cNvPr id="19" name="Shape 11"/>
          <p:cNvSpPr/>
          <p:nvPr/>
        </p:nvSpPr>
        <p:spPr>
          <a:xfrm>
            <a:off x="868680" y="5486400"/>
            <a:ext cx="2651760" cy="329184"/>
          </a:xfrm>
          <a:prstGeom prst="roundRect">
            <a:avLst>
              <a:gd name="adj" fmla="val 50000"/>
            </a:avLst>
          </a:prstGeom>
          <a:solidFill>
            <a:srgbClr val="FDF3E1"/>
          </a:solidFill>
          <a:ln/>
        </p:spPr>
      </p:sp>
      <p:sp>
        <p:nvSpPr>
          <p:cNvPr id="20" name="Text 12"/>
          <p:cNvSpPr txBox="1"/>
          <p:nvPr/>
        </p:nvSpPr>
        <p:spPr>
          <a:xfrm>
            <a:off x="868680" y="5486400"/>
            <a:ext cx="2651760" cy="329184"/>
          </a:xfrm>
          <a:prstGeom prst="rect">
            <a:avLst/>
          </a:prstGeom>
          <a:noFill/>
          <a:ln/>
        </p:spPr>
        <p:txBody>
          <a:bodyPr wrap="square" lIns="0" tIns="0" rIns="0" bIns="0" rtlCol="0" anchor="ctr"/>
          <a:lstStyle/>
          <a:p>
            <a:pPr algn="ctr" indent="0" marL="0">
              <a:buNone/>
            </a:pPr>
            <a:r>
              <a:rPr lang="en-US" sz="1050" b="1" dirty="0">
                <a:solidFill>
                  <a:srgbClr val="C98A1A"/>
                </a:solidFill>
                <a:latin typeface="Arial" pitchFamily="34" charset="0"/>
                <a:ea typeface="Arial" pitchFamily="34" charset="-122"/>
                <a:cs typeface="Arial" pitchFamily="34" charset="-120"/>
              </a:rPr>
              <a:t>Invented for this workshop</a:t>
            </a:r>
            <a:endParaRPr lang="en-US" sz="1050" dirty="0"/>
          </a:p>
        </p:txBody>
      </p:sp>
      <p:sp>
        <p:nvSpPr>
          <p:cNvPr id="21" name="Text 13"/>
          <p:cNvSpPr txBox="1"/>
          <p:nvPr/>
        </p:nvSpPr>
        <p:spPr>
          <a:xfrm>
            <a:off x="5669280" y="1508760"/>
            <a:ext cx="5486400" cy="365760"/>
          </a:xfrm>
          <a:prstGeom prst="rect">
            <a:avLst/>
          </a:prstGeom>
          <a:noFill/>
          <a:ln/>
        </p:spPr>
        <p:txBody>
          <a:bodyPr wrap="square" lIns="0" tIns="0" rIns="0" bIns="0" rtlCol="0" anchor="t"/>
          <a:lstStyle/>
          <a:p>
            <a:pPr indent="0" marL="0">
              <a:buNone/>
            </a:pPr>
            <a:r>
              <a:rPr lang="en-US" sz="1500" b="1" dirty="0">
                <a:solidFill>
                  <a:srgbClr val="287079"/>
                </a:solidFill>
                <a:latin typeface="Arial" pitchFamily="34" charset="0"/>
                <a:ea typeface="Arial" pitchFamily="34" charset="-122"/>
                <a:cs typeface="Arial" pitchFamily="34" charset="-120"/>
              </a:rPr>
              <a:t>Four roles to staff</a:t>
            </a:r>
            <a:endParaRPr lang="en-US" sz="1500" dirty="0"/>
          </a:p>
        </p:txBody>
      </p:sp>
      <p:sp>
        <p:nvSpPr>
          <p:cNvPr id="22" name="Shape 14"/>
          <p:cNvSpPr/>
          <p:nvPr/>
        </p:nvSpPr>
        <p:spPr>
          <a:xfrm>
            <a:off x="5669280" y="1965960"/>
            <a:ext cx="2834640" cy="1828800"/>
          </a:xfrm>
          <a:prstGeom prst="roundRect">
            <a:avLst>
              <a:gd name="adj" fmla="val 4000"/>
            </a:avLst>
          </a:prstGeom>
          <a:solidFill>
            <a:srgbClr val="FFFFFF"/>
          </a:solidFill>
          <a:ln w="12700">
            <a:solidFill>
              <a:srgbClr val="D9DEE2"/>
            </a:solidFill>
            <a:prstDash val="solid"/>
          </a:ln>
        </p:spPr>
      </p:sp>
      <p:sp>
        <p:nvSpPr>
          <p:cNvPr id="23" name="Shape 15"/>
          <p:cNvSpPr/>
          <p:nvPr/>
        </p:nvSpPr>
        <p:spPr>
          <a:xfrm>
            <a:off x="5852160" y="2148840"/>
            <a:ext cx="685800" cy="685800"/>
          </a:xfrm>
          <a:prstGeom prst="ellipse">
            <a:avLst/>
          </a:prstGeom>
          <a:solidFill>
            <a:srgbClr val="287079"/>
          </a:solidFill>
          <a:ln/>
        </p:spPr>
      </p:sp>
      <p:pic>
        <p:nvPicPr>
          <p:cNvPr id="24" name="Image 6" descr="/private/tmp/claude-501/-Users-salehhamed-Outcome-Engine/91861432-41e2-4884-bc97-63c6dff2d021/scratchpad/wk/icons/TbCloudNetwork-white.png">    </p:cNvPr>
          <p:cNvPicPr>
            <a:picLocks noChangeAspect="1"/>
          </p:cNvPicPr>
          <p:nvPr/>
        </p:nvPicPr>
        <p:blipFill>
          <a:blip r:embed="rId9"/>
          <a:stretch>
            <a:fillRect/>
          </a:stretch>
        </p:blipFill>
        <p:spPr>
          <a:xfrm>
            <a:off x="5989320" y="2286000"/>
            <a:ext cx="411480" cy="411480"/>
          </a:xfrm>
          <a:prstGeom prst="rect">
            <a:avLst/>
          </a:prstGeom>
        </p:spPr>
      </p:pic>
      <p:sp>
        <p:nvSpPr>
          <p:cNvPr id="25" name="Text 16"/>
          <p:cNvSpPr txBox="1"/>
          <p:nvPr/>
        </p:nvSpPr>
        <p:spPr>
          <a:xfrm>
            <a:off x="6675120" y="2148840"/>
            <a:ext cx="1737360" cy="685800"/>
          </a:xfrm>
          <a:prstGeom prst="rect">
            <a:avLst/>
          </a:prstGeom>
          <a:noFill/>
          <a:ln/>
        </p:spPr>
        <p:txBody>
          <a:bodyPr wrap="square" lIns="0" tIns="0" rIns="0" bIns="0" rtlCol="0" anchor="ctr"/>
          <a:lstStyle/>
          <a:p>
            <a:pPr indent="0" marL="0">
              <a:buNone/>
            </a:pPr>
            <a:r>
              <a:rPr lang="en-US" sz="1450" b="1" dirty="0">
                <a:solidFill>
                  <a:srgbClr val="1F2A33"/>
                </a:solidFill>
                <a:latin typeface="Arial" pitchFamily="34" charset="0"/>
                <a:ea typeface="Arial" pitchFamily="34" charset="-122"/>
                <a:cs typeface="Arial" pitchFamily="34" charset="-120"/>
              </a:rPr>
              <a:t>Cloud network engineer</a:t>
            </a:r>
            <a:endParaRPr lang="en-US" sz="1450" dirty="0"/>
          </a:p>
        </p:txBody>
      </p:sp>
      <p:sp>
        <p:nvSpPr>
          <p:cNvPr id="26" name="Text 17"/>
          <p:cNvSpPr txBox="1"/>
          <p:nvPr/>
        </p:nvSpPr>
        <p:spPr>
          <a:xfrm>
            <a:off x="5852160" y="2971800"/>
            <a:ext cx="2468880" cy="320040"/>
          </a:xfrm>
          <a:prstGeom prst="rect">
            <a:avLst/>
          </a:prstGeom>
          <a:noFill/>
          <a:ln/>
        </p:spPr>
        <p:txBody>
          <a:bodyPr wrap="square" lIns="0" tIns="0" rIns="0" bIns="0" rtlCol="0" anchor="t"/>
          <a:lstStyle/>
          <a:p>
            <a:pPr indent="0" marL="0">
              <a:buNone/>
            </a:pPr>
            <a:r>
              <a:rPr lang="en-US" sz="1300" dirty="0">
                <a:solidFill>
                  <a:srgbClr val="5A5A5A"/>
                </a:solidFill>
                <a:latin typeface="Arial" pitchFamily="34" charset="0"/>
                <a:ea typeface="Arial" pitchFamily="34" charset="-122"/>
                <a:cs typeface="Arial" pitchFamily="34" charset="-120"/>
              </a:rPr>
              <a:t>Band 7</a:t>
            </a:r>
            <a:endParaRPr lang="en-US" sz="1300" dirty="0"/>
          </a:p>
        </p:txBody>
      </p:sp>
      <p:sp>
        <p:nvSpPr>
          <p:cNvPr id="27" name="Text 18"/>
          <p:cNvSpPr txBox="1"/>
          <p:nvPr/>
        </p:nvSpPr>
        <p:spPr>
          <a:xfrm>
            <a:off x="5852160" y="3291840"/>
            <a:ext cx="2468880" cy="320040"/>
          </a:xfrm>
          <a:prstGeom prst="rect">
            <a:avLst/>
          </a:prstGeom>
          <a:noFill/>
          <a:ln/>
        </p:spPr>
        <p:txBody>
          <a:bodyPr wrap="square" lIns="0" tIns="0" rIns="0" bIns="0" rtlCol="0" anchor="t"/>
          <a:lstStyle/>
          <a:p>
            <a:pPr indent="0" marL="0">
              <a:buNone/>
            </a:pPr>
            <a:r>
              <a:rPr lang="en-US" sz="1100" b="1" dirty="0">
                <a:solidFill>
                  <a:srgbClr val="8A94A4"/>
                </a:solidFill>
                <a:latin typeface="Arial" pitchFamily="34" charset="0"/>
                <a:ea typeface="Arial" pitchFamily="34" charset="-122"/>
                <a:cs typeface="Arial" pitchFamily="34" charset="-120"/>
              </a:rPr>
              <a:t>R1</a:t>
            </a:r>
            <a:endParaRPr lang="en-US" sz="1100" dirty="0"/>
          </a:p>
        </p:txBody>
      </p:sp>
      <p:sp>
        <p:nvSpPr>
          <p:cNvPr id="28" name="Shape 19"/>
          <p:cNvSpPr/>
          <p:nvPr/>
        </p:nvSpPr>
        <p:spPr>
          <a:xfrm>
            <a:off x="8686800" y="1965960"/>
            <a:ext cx="2834640" cy="1828800"/>
          </a:xfrm>
          <a:prstGeom prst="roundRect">
            <a:avLst>
              <a:gd name="adj" fmla="val 4000"/>
            </a:avLst>
          </a:prstGeom>
          <a:solidFill>
            <a:srgbClr val="FFFFFF"/>
          </a:solidFill>
          <a:ln w="12700">
            <a:solidFill>
              <a:srgbClr val="D9DEE2"/>
            </a:solidFill>
            <a:prstDash val="solid"/>
          </a:ln>
        </p:spPr>
      </p:sp>
      <p:sp>
        <p:nvSpPr>
          <p:cNvPr id="29" name="Shape 20"/>
          <p:cNvSpPr/>
          <p:nvPr/>
        </p:nvSpPr>
        <p:spPr>
          <a:xfrm>
            <a:off x="8869680" y="2148840"/>
            <a:ext cx="685800" cy="685800"/>
          </a:xfrm>
          <a:prstGeom prst="ellipse">
            <a:avLst/>
          </a:prstGeom>
          <a:solidFill>
            <a:srgbClr val="FF462D"/>
          </a:solidFill>
          <a:ln/>
        </p:spPr>
      </p:sp>
      <p:pic>
        <p:nvPicPr>
          <p:cNvPr id="30" name="Image 7" descr="/private/tmp/claude-501/-Users-salehhamed-Outcome-Engine/91861432-41e2-4884-bc97-63c6dff2d021/scratchpad/wk/icons/TbShieldLock-white.png">    </p:cNvPr>
          <p:cNvPicPr>
            <a:picLocks noChangeAspect="1"/>
          </p:cNvPicPr>
          <p:nvPr/>
        </p:nvPicPr>
        <p:blipFill>
          <a:blip r:embed="rId10"/>
          <a:stretch>
            <a:fillRect/>
          </a:stretch>
        </p:blipFill>
        <p:spPr>
          <a:xfrm>
            <a:off x="9006840" y="2286000"/>
            <a:ext cx="411480" cy="411480"/>
          </a:xfrm>
          <a:prstGeom prst="rect">
            <a:avLst/>
          </a:prstGeom>
        </p:spPr>
      </p:pic>
      <p:sp>
        <p:nvSpPr>
          <p:cNvPr id="31" name="Text 21"/>
          <p:cNvSpPr txBox="1"/>
          <p:nvPr/>
        </p:nvSpPr>
        <p:spPr>
          <a:xfrm>
            <a:off x="9692640" y="2148840"/>
            <a:ext cx="1737360" cy="685800"/>
          </a:xfrm>
          <a:prstGeom prst="rect">
            <a:avLst/>
          </a:prstGeom>
          <a:noFill/>
          <a:ln/>
        </p:spPr>
        <p:txBody>
          <a:bodyPr wrap="square" lIns="0" tIns="0" rIns="0" bIns="0" rtlCol="0" anchor="ctr"/>
          <a:lstStyle/>
          <a:p>
            <a:pPr indent="0" marL="0">
              <a:buNone/>
            </a:pPr>
            <a:r>
              <a:rPr lang="en-US" sz="1450" b="1" dirty="0">
                <a:solidFill>
                  <a:srgbClr val="1F2A33"/>
                </a:solidFill>
                <a:latin typeface="Arial" pitchFamily="34" charset="0"/>
                <a:ea typeface="Arial" pitchFamily="34" charset="-122"/>
                <a:cs typeface="Arial" pitchFamily="34" charset="-120"/>
              </a:rPr>
              <a:t>Firewall specialist</a:t>
            </a:r>
            <a:endParaRPr lang="en-US" sz="1450" dirty="0"/>
          </a:p>
        </p:txBody>
      </p:sp>
      <p:sp>
        <p:nvSpPr>
          <p:cNvPr id="32" name="Text 22"/>
          <p:cNvSpPr txBox="1"/>
          <p:nvPr/>
        </p:nvSpPr>
        <p:spPr>
          <a:xfrm>
            <a:off x="8869680" y="2971800"/>
            <a:ext cx="2468880" cy="320040"/>
          </a:xfrm>
          <a:prstGeom prst="rect">
            <a:avLst/>
          </a:prstGeom>
          <a:noFill/>
          <a:ln/>
        </p:spPr>
        <p:txBody>
          <a:bodyPr wrap="square" lIns="0" tIns="0" rIns="0" bIns="0" rtlCol="0" anchor="t"/>
          <a:lstStyle/>
          <a:p>
            <a:pPr indent="0" marL="0">
              <a:buNone/>
            </a:pPr>
            <a:r>
              <a:rPr lang="en-US" sz="1300" dirty="0">
                <a:solidFill>
                  <a:srgbClr val="5A5A5A"/>
                </a:solidFill>
                <a:latin typeface="Arial" pitchFamily="34" charset="0"/>
                <a:ea typeface="Arial" pitchFamily="34" charset="-122"/>
                <a:cs typeface="Arial" pitchFamily="34" charset="-120"/>
              </a:rPr>
              <a:t>Band 6</a:t>
            </a:r>
            <a:endParaRPr lang="en-US" sz="1300" dirty="0"/>
          </a:p>
        </p:txBody>
      </p:sp>
      <p:sp>
        <p:nvSpPr>
          <p:cNvPr id="33" name="Text 23"/>
          <p:cNvSpPr txBox="1"/>
          <p:nvPr/>
        </p:nvSpPr>
        <p:spPr>
          <a:xfrm>
            <a:off x="8869680" y="3291840"/>
            <a:ext cx="2468880" cy="320040"/>
          </a:xfrm>
          <a:prstGeom prst="rect">
            <a:avLst/>
          </a:prstGeom>
          <a:noFill/>
          <a:ln/>
        </p:spPr>
        <p:txBody>
          <a:bodyPr wrap="square" lIns="0" tIns="0" rIns="0" bIns="0" rtlCol="0" anchor="t"/>
          <a:lstStyle/>
          <a:p>
            <a:pPr indent="0" marL="0">
              <a:buNone/>
            </a:pPr>
            <a:r>
              <a:rPr lang="en-US" sz="1100" b="1" dirty="0">
                <a:solidFill>
                  <a:srgbClr val="8A94A4"/>
                </a:solidFill>
                <a:latin typeface="Arial" pitchFamily="34" charset="0"/>
                <a:ea typeface="Arial" pitchFamily="34" charset="-122"/>
                <a:cs typeface="Arial" pitchFamily="34" charset="-120"/>
              </a:rPr>
              <a:t>R2</a:t>
            </a:r>
            <a:endParaRPr lang="en-US" sz="1100" dirty="0"/>
          </a:p>
        </p:txBody>
      </p:sp>
      <p:sp>
        <p:nvSpPr>
          <p:cNvPr id="34" name="Shape 24"/>
          <p:cNvSpPr/>
          <p:nvPr/>
        </p:nvSpPr>
        <p:spPr>
          <a:xfrm>
            <a:off x="5669280" y="3977640"/>
            <a:ext cx="2834640" cy="1828800"/>
          </a:xfrm>
          <a:prstGeom prst="roundRect">
            <a:avLst>
              <a:gd name="adj" fmla="val 4000"/>
            </a:avLst>
          </a:prstGeom>
          <a:solidFill>
            <a:srgbClr val="FFFFFF"/>
          </a:solidFill>
          <a:ln w="12700">
            <a:solidFill>
              <a:srgbClr val="D9DEE2"/>
            </a:solidFill>
            <a:prstDash val="solid"/>
          </a:ln>
        </p:spPr>
      </p:sp>
      <p:sp>
        <p:nvSpPr>
          <p:cNvPr id="35" name="Shape 25"/>
          <p:cNvSpPr/>
          <p:nvPr/>
        </p:nvSpPr>
        <p:spPr>
          <a:xfrm>
            <a:off x="5852160" y="4160520"/>
            <a:ext cx="685800" cy="685800"/>
          </a:xfrm>
          <a:prstGeom prst="ellipse">
            <a:avLst/>
          </a:prstGeom>
          <a:solidFill>
            <a:srgbClr val="287079"/>
          </a:solidFill>
          <a:ln/>
        </p:spPr>
      </p:sp>
      <p:pic>
        <p:nvPicPr>
          <p:cNvPr id="36" name="Image 8" descr="/private/tmp/claude-501/-Users-salehhamed-Outcome-Engine/91861432-41e2-4884-bc97-63c6dff2d021/scratchpad/wk/icons/TbClipboardList-white.png">    </p:cNvPr>
          <p:cNvPicPr>
            <a:picLocks noChangeAspect="1"/>
          </p:cNvPicPr>
          <p:nvPr/>
        </p:nvPicPr>
        <p:blipFill>
          <a:blip r:embed="rId11"/>
          <a:stretch>
            <a:fillRect/>
          </a:stretch>
        </p:blipFill>
        <p:spPr>
          <a:xfrm>
            <a:off x="5989320" y="4297680"/>
            <a:ext cx="411480" cy="411480"/>
          </a:xfrm>
          <a:prstGeom prst="rect">
            <a:avLst/>
          </a:prstGeom>
        </p:spPr>
      </p:pic>
      <p:sp>
        <p:nvSpPr>
          <p:cNvPr id="37" name="Text 26"/>
          <p:cNvSpPr txBox="1"/>
          <p:nvPr/>
        </p:nvSpPr>
        <p:spPr>
          <a:xfrm>
            <a:off x="6675120" y="4160520"/>
            <a:ext cx="1737360" cy="685800"/>
          </a:xfrm>
          <a:prstGeom prst="rect">
            <a:avLst/>
          </a:prstGeom>
          <a:noFill/>
          <a:ln/>
        </p:spPr>
        <p:txBody>
          <a:bodyPr wrap="square" lIns="0" tIns="0" rIns="0" bIns="0" rtlCol="0" anchor="ctr"/>
          <a:lstStyle/>
          <a:p>
            <a:pPr indent="0" marL="0">
              <a:buNone/>
            </a:pPr>
            <a:r>
              <a:rPr lang="en-US" sz="1450" b="1" dirty="0">
                <a:solidFill>
                  <a:srgbClr val="1F2A33"/>
                </a:solidFill>
                <a:latin typeface="Arial" pitchFamily="34" charset="0"/>
                <a:ea typeface="Arial" pitchFamily="34" charset="-122"/>
                <a:cs typeface="Arial" pitchFamily="34" charset="-120"/>
              </a:rPr>
              <a:t>Project manager</a:t>
            </a:r>
            <a:endParaRPr lang="en-US" sz="1450" dirty="0"/>
          </a:p>
        </p:txBody>
      </p:sp>
      <p:sp>
        <p:nvSpPr>
          <p:cNvPr id="38" name="Text 27"/>
          <p:cNvSpPr txBox="1"/>
          <p:nvPr/>
        </p:nvSpPr>
        <p:spPr>
          <a:xfrm>
            <a:off x="5852160" y="4983480"/>
            <a:ext cx="2468880" cy="320040"/>
          </a:xfrm>
          <a:prstGeom prst="rect">
            <a:avLst/>
          </a:prstGeom>
          <a:noFill/>
          <a:ln/>
        </p:spPr>
        <p:txBody>
          <a:bodyPr wrap="square" lIns="0" tIns="0" rIns="0" bIns="0" rtlCol="0" anchor="t"/>
          <a:lstStyle/>
          <a:p>
            <a:pPr indent="0" marL="0">
              <a:buNone/>
            </a:pPr>
            <a:r>
              <a:rPr lang="en-US" sz="1300" dirty="0">
                <a:solidFill>
                  <a:srgbClr val="5A5A5A"/>
                </a:solidFill>
                <a:latin typeface="Arial" pitchFamily="34" charset="0"/>
                <a:ea typeface="Arial" pitchFamily="34" charset="-122"/>
                <a:cs typeface="Arial" pitchFamily="34" charset="-120"/>
              </a:rPr>
              <a:t>Band 7</a:t>
            </a:r>
            <a:endParaRPr lang="en-US" sz="1300" dirty="0"/>
          </a:p>
        </p:txBody>
      </p:sp>
      <p:sp>
        <p:nvSpPr>
          <p:cNvPr id="39" name="Text 28"/>
          <p:cNvSpPr txBox="1"/>
          <p:nvPr/>
        </p:nvSpPr>
        <p:spPr>
          <a:xfrm>
            <a:off x="5852160" y="5303520"/>
            <a:ext cx="2468880" cy="320040"/>
          </a:xfrm>
          <a:prstGeom prst="rect">
            <a:avLst/>
          </a:prstGeom>
          <a:noFill/>
          <a:ln/>
        </p:spPr>
        <p:txBody>
          <a:bodyPr wrap="square" lIns="0" tIns="0" rIns="0" bIns="0" rtlCol="0" anchor="t"/>
          <a:lstStyle/>
          <a:p>
            <a:pPr indent="0" marL="0">
              <a:buNone/>
            </a:pPr>
            <a:r>
              <a:rPr lang="en-US" sz="1100" b="1" dirty="0">
                <a:solidFill>
                  <a:srgbClr val="8A94A4"/>
                </a:solidFill>
                <a:latin typeface="Arial" pitchFamily="34" charset="0"/>
                <a:ea typeface="Arial" pitchFamily="34" charset="-122"/>
                <a:cs typeface="Arial" pitchFamily="34" charset="-120"/>
              </a:rPr>
              <a:t>R3</a:t>
            </a:r>
            <a:endParaRPr lang="en-US" sz="1100" dirty="0"/>
          </a:p>
        </p:txBody>
      </p:sp>
      <p:sp>
        <p:nvSpPr>
          <p:cNvPr id="40" name="Shape 29"/>
          <p:cNvSpPr/>
          <p:nvPr/>
        </p:nvSpPr>
        <p:spPr>
          <a:xfrm>
            <a:off x="8686800" y="3977640"/>
            <a:ext cx="2834640" cy="1828800"/>
          </a:xfrm>
          <a:prstGeom prst="roundRect">
            <a:avLst>
              <a:gd name="adj" fmla="val 4000"/>
            </a:avLst>
          </a:prstGeom>
          <a:solidFill>
            <a:srgbClr val="FFFFFF"/>
          </a:solidFill>
          <a:ln w="12700">
            <a:solidFill>
              <a:srgbClr val="D9DEE2"/>
            </a:solidFill>
            <a:prstDash val="solid"/>
          </a:ln>
        </p:spPr>
      </p:sp>
      <p:sp>
        <p:nvSpPr>
          <p:cNvPr id="41" name="Shape 30"/>
          <p:cNvSpPr/>
          <p:nvPr/>
        </p:nvSpPr>
        <p:spPr>
          <a:xfrm>
            <a:off x="8869680" y="4160520"/>
            <a:ext cx="685800" cy="685800"/>
          </a:xfrm>
          <a:prstGeom prst="ellipse">
            <a:avLst/>
          </a:prstGeom>
          <a:solidFill>
            <a:srgbClr val="287079"/>
          </a:solidFill>
          <a:ln/>
        </p:spPr>
      </p:sp>
      <p:pic>
        <p:nvPicPr>
          <p:cNvPr id="42" name="Image 9" descr="/private/tmp/claude-501/-Users-salehhamed-Outcome-Engine/91861432-41e2-4884-bc97-63c6dff2d021/scratchpad/wk/icons/TbSchool-white.png">    </p:cNvPr>
          <p:cNvPicPr>
            <a:picLocks noChangeAspect="1"/>
          </p:cNvPicPr>
          <p:nvPr/>
        </p:nvPicPr>
        <p:blipFill>
          <a:blip r:embed="rId12"/>
          <a:stretch>
            <a:fillRect/>
          </a:stretch>
        </p:blipFill>
        <p:spPr>
          <a:xfrm>
            <a:off x="9006840" y="4297680"/>
            <a:ext cx="411480" cy="411480"/>
          </a:xfrm>
          <a:prstGeom prst="rect">
            <a:avLst/>
          </a:prstGeom>
        </p:spPr>
      </p:pic>
      <p:sp>
        <p:nvSpPr>
          <p:cNvPr id="43" name="Text 31"/>
          <p:cNvSpPr txBox="1"/>
          <p:nvPr/>
        </p:nvSpPr>
        <p:spPr>
          <a:xfrm>
            <a:off x="9692640" y="4160520"/>
            <a:ext cx="1737360" cy="685800"/>
          </a:xfrm>
          <a:prstGeom prst="rect">
            <a:avLst/>
          </a:prstGeom>
          <a:noFill/>
          <a:ln/>
        </p:spPr>
        <p:txBody>
          <a:bodyPr wrap="square" lIns="0" tIns="0" rIns="0" bIns="0" rtlCol="0" anchor="ctr"/>
          <a:lstStyle/>
          <a:p>
            <a:pPr indent="0" marL="0">
              <a:buNone/>
            </a:pPr>
            <a:r>
              <a:rPr lang="en-US" sz="1450" b="1" dirty="0">
                <a:solidFill>
                  <a:srgbClr val="1F2A33"/>
                </a:solidFill>
                <a:latin typeface="Arial" pitchFamily="34" charset="0"/>
                <a:ea typeface="Arial" pitchFamily="34" charset="-122"/>
                <a:cs typeface="Arial" pitchFamily="34" charset="-120"/>
              </a:rPr>
              <a:t>Knowledge-transfer lead</a:t>
            </a:r>
            <a:endParaRPr lang="en-US" sz="1450" dirty="0"/>
          </a:p>
        </p:txBody>
      </p:sp>
      <p:sp>
        <p:nvSpPr>
          <p:cNvPr id="44" name="Text 32"/>
          <p:cNvSpPr txBox="1"/>
          <p:nvPr/>
        </p:nvSpPr>
        <p:spPr>
          <a:xfrm>
            <a:off x="8869680" y="4983480"/>
            <a:ext cx="2468880" cy="320040"/>
          </a:xfrm>
          <a:prstGeom prst="rect">
            <a:avLst/>
          </a:prstGeom>
          <a:noFill/>
          <a:ln/>
        </p:spPr>
        <p:txBody>
          <a:bodyPr wrap="square" lIns="0" tIns="0" rIns="0" bIns="0" rtlCol="0" anchor="t"/>
          <a:lstStyle/>
          <a:p>
            <a:pPr indent="0" marL="0">
              <a:buNone/>
            </a:pPr>
            <a:r>
              <a:rPr lang="en-US" sz="1300" dirty="0">
                <a:solidFill>
                  <a:srgbClr val="5A5A5A"/>
                </a:solidFill>
                <a:latin typeface="Arial" pitchFamily="34" charset="0"/>
                <a:ea typeface="Arial" pitchFamily="34" charset="-122"/>
                <a:cs typeface="Arial" pitchFamily="34" charset="-120"/>
              </a:rPr>
              <a:t>To be sized</a:t>
            </a:r>
            <a:endParaRPr lang="en-US" sz="1300" dirty="0"/>
          </a:p>
        </p:txBody>
      </p:sp>
      <p:sp>
        <p:nvSpPr>
          <p:cNvPr id="45" name="Text 33"/>
          <p:cNvSpPr txBox="1"/>
          <p:nvPr/>
        </p:nvSpPr>
        <p:spPr>
          <a:xfrm>
            <a:off x="8869680" y="5303520"/>
            <a:ext cx="2468880" cy="320040"/>
          </a:xfrm>
          <a:prstGeom prst="rect">
            <a:avLst/>
          </a:prstGeom>
          <a:noFill/>
          <a:ln/>
        </p:spPr>
        <p:txBody>
          <a:bodyPr wrap="square" lIns="0" tIns="0" rIns="0" bIns="0" rtlCol="0" anchor="t"/>
          <a:lstStyle/>
          <a:p>
            <a:pPr indent="0" marL="0">
              <a:buNone/>
            </a:pPr>
            <a:r>
              <a:rPr lang="en-US" sz="1100" b="1" dirty="0">
                <a:solidFill>
                  <a:srgbClr val="8A94A4"/>
                </a:solidFill>
                <a:latin typeface="Arial" pitchFamily="34" charset="0"/>
                <a:ea typeface="Arial" pitchFamily="34" charset="-122"/>
                <a:cs typeface="Arial" pitchFamily="34" charset="-120"/>
              </a:rPr>
              <a:t>R4</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FROM HR'S RESEARCH</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One deal, seven stages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24</a:t>
            </a:r>
            <a:endParaRPr lang="en-US" sz="1000" dirty="0"/>
          </a:p>
        </p:txBody>
      </p:sp>
      <p:sp>
        <p:nvSpPr>
          <p:cNvPr id="7" name="Shape 4"/>
          <p:cNvSpPr/>
          <p:nvPr/>
        </p:nvSpPr>
        <p:spPr>
          <a:xfrm>
            <a:off x="548640" y="1691640"/>
            <a:ext cx="1443446" cy="2194560"/>
          </a:xfrm>
          <a:prstGeom prst="roundRect">
            <a:avLst>
              <a:gd name="adj" fmla="val 6335"/>
            </a:avLst>
          </a:prstGeom>
          <a:solidFill>
            <a:srgbClr val="FFFFFF"/>
          </a:solidFill>
          <a:ln w="12700">
            <a:solidFill>
              <a:srgbClr val="D9DEE2"/>
            </a:solidFill>
            <a:prstDash val="solid"/>
          </a:ln>
        </p:spPr>
      </p:sp>
      <p:sp>
        <p:nvSpPr>
          <p:cNvPr id="8" name="Shape 5"/>
          <p:cNvSpPr/>
          <p:nvPr/>
        </p:nvSpPr>
        <p:spPr>
          <a:xfrm>
            <a:off x="685800" y="1828800"/>
            <a:ext cx="384048" cy="384048"/>
          </a:xfrm>
          <a:prstGeom prst="ellipse">
            <a:avLst/>
          </a:prstGeom>
          <a:solidFill>
            <a:srgbClr val="FF462D"/>
          </a:solidFill>
          <a:ln/>
        </p:spPr>
      </p:sp>
      <p:sp>
        <p:nvSpPr>
          <p:cNvPr id="9" name="Text 6"/>
          <p:cNvSpPr txBox="1"/>
          <p:nvPr/>
        </p:nvSpPr>
        <p:spPr>
          <a:xfrm>
            <a:off x="685800"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pic>
        <p:nvPicPr>
          <p:cNvPr id="10" name="Image 1" descr="/private/tmp/claude-501/-Users-salehhamed-Outcome-Engine/91861432-41e2-4884-bc97-63c6dff2d021/scratchpad/wk/icons/TbBuildingSkyscraper-teal.png">    </p:cNvPr>
          <p:cNvPicPr>
            <a:picLocks noChangeAspect="1"/>
          </p:cNvPicPr>
          <p:nvPr/>
        </p:nvPicPr>
        <p:blipFill>
          <a:blip r:embed="rId4"/>
          <a:stretch>
            <a:fillRect/>
          </a:stretch>
        </p:blipFill>
        <p:spPr>
          <a:xfrm>
            <a:off x="1425158" y="1801368"/>
            <a:ext cx="438912" cy="438912"/>
          </a:xfrm>
          <a:prstGeom prst="rect">
            <a:avLst/>
          </a:prstGeom>
        </p:spPr>
      </p:pic>
      <p:sp>
        <p:nvSpPr>
          <p:cNvPr id="11" name="Text 7"/>
          <p:cNvSpPr txBox="1"/>
          <p:nvPr/>
        </p:nvSpPr>
        <p:spPr>
          <a:xfrm>
            <a:off x="685800" y="2377440"/>
            <a:ext cx="1169126" cy="141732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Demand emerges</a:t>
            </a:r>
            <a:endParaRPr lang="en-US" sz="1500" dirty="0"/>
          </a:p>
        </p:txBody>
      </p:sp>
      <p:sp>
        <p:nvSpPr>
          <p:cNvPr id="12" name="Text 8"/>
          <p:cNvSpPr txBox="1"/>
          <p:nvPr/>
        </p:nvSpPr>
        <p:spPr>
          <a:xfrm>
            <a:off x="1973798" y="2606040"/>
            <a:ext cx="201168" cy="365760"/>
          </a:xfrm>
          <a:prstGeom prst="rect">
            <a:avLst/>
          </a:prstGeom>
          <a:noFill/>
          <a:ln/>
        </p:spPr>
        <p:txBody>
          <a:bodyPr wrap="square" lIns="0" tIns="0" rIns="0" bIns="0" rtlCol="0" anchor="t"/>
          <a:lstStyle/>
          <a:p>
            <a:pPr algn="ctr" indent="0" marL="0">
              <a:buNone/>
            </a:pPr>
            <a:r>
              <a:rPr lang="en-US" sz="1800" b="1" dirty="0">
                <a:solidFill>
                  <a:srgbClr val="8A94A4"/>
                </a:solidFill>
                <a:latin typeface="Arial" pitchFamily="34" charset="0"/>
                <a:ea typeface="Arial" pitchFamily="34" charset="-122"/>
                <a:cs typeface="Arial" pitchFamily="34" charset="-120"/>
              </a:rPr>
              <a:t>›</a:t>
            </a:r>
            <a:endParaRPr lang="en-US" sz="1800" dirty="0"/>
          </a:p>
        </p:txBody>
      </p:sp>
      <p:sp>
        <p:nvSpPr>
          <p:cNvPr id="13" name="Shape 9"/>
          <p:cNvSpPr/>
          <p:nvPr/>
        </p:nvSpPr>
        <p:spPr>
          <a:xfrm>
            <a:off x="2156678" y="1691640"/>
            <a:ext cx="1443446" cy="2194560"/>
          </a:xfrm>
          <a:prstGeom prst="roundRect">
            <a:avLst>
              <a:gd name="adj" fmla="val 6335"/>
            </a:avLst>
          </a:prstGeom>
          <a:solidFill>
            <a:srgbClr val="FFFFFF"/>
          </a:solidFill>
          <a:ln w="12700">
            <a:solidFill>
              <a:srgbClr val="D9DEE2"/>
            </a:solidFill>
            <a:prstDash val="solid"/>
          </a:ln>
        </p:spPr>
      </p:sp>
      <p:sp>
        <p:nvSpPr>
          <p:cNvPr id="14" name="Shape 10"/>
          <p:cNvSpPr/>
          <p:nvPr/>
        </p:nvSpPr>
        <p:spPr>
          <a:xfrm>
            <a:off x="2293838" y="1828800"/>
            <a:ext cx="384048" cy="384048"/>
          </a:xfrm>
          <a:prstGeom prst="ellipse">
            <a:avLst/>
          </a:prstGeom>
          <a:solidFill>
            <a:srgbClr val="FF462D"/>
          </a:solidFill>
          <a:ln/>
        </p:spPr>
      </p:sp>
      <p:sp>
        <p:nvSpPr>
          <p:cNvPr id="15" name="Text 11"/>
          <p:cNvSpPr txBox="1"/>
          <p:nvPr/>
        </p:nvSpPr>
        <p:spPr>
          <a:xfrm>
            <a:off x="2293838"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pic>
        <p:nvPicPr>
          <p:cNvPr id="16" name="Image 2" descr="/private/tmp/claude-501/-Users-salehhamed-Outcome-Engine/91861432-41e2-4884-bc97-63c6dff2d021/scratchpad/wk/icons/TbFileText-teal.png">    </p:cNvPr>
          <p:cNvPicPr>
            <a:picLocks noChangeAspect="1"/>
          </p:cNvPicPr>
          <p:nvPr/>
        </p:nvPicPr>
        <p:blipFill>
          <a:blip r:embed="rId5"/>
          <a:stretch>
            <a:fillRect/>
          </a:stretch>
        </p:blipFill>
        <p:spPr>
          <a:xfrm>
            <a:off x="3033195" y="1801368"/>
            <a:ext cx="438912" cy="438912"/>
          </a:xfrm>
          <a:prstGeom prst="rect">
            <a:avLst/>
          </a:prstGeom>
        </p:spPr>
      </p:pic>
      <p:sp>
        <p:nvSpPr>
          <p:cNvPr id="17" name="Text 12"/>
          <p:cNvSpPr txBox="1"/>
          <p:nvPr/>
        </p:nvSpPr>
        <p:spPr>
          <a:xfrm>
            <a:off x="2293838" y="2377440"/>
            <a:ext cx="1169126" cy="141732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Work becomes a staffing need</a:t>
            </a:r>
            <a:endParaRPr lang="en-US" sz="1500" dirty="0"/>
          </a:p>
        </p:txBody>
      </p:sp>
      <p:sp>
        <p:nvSpPr>
          <p:cNvPr id="18" name="Text 13"/>
          <p:cNvSpPr txBox="1"/>
          <p:nvPr/>
        </p:nvSpPr>
        <p:spPr>
          <a:xfrm>
            <a:off x="3581835" y="2606040"/>
            <a:ext cx="201168" cy="365760"/>
          </a:xfrm>
          <a:prstGeom prst="rect">
            <a:avLst/>
          </a:prstGeom>
          <a:noFill/>
          <a:ln/>
        </p:spPr>
        <p:txBody>
          <a:bodyPr wrap="square" lIns="0" tIns="0" rIns="0" bIns="0" rtlCol="0" anchor="t"/>
          <a:lstStyle/>
          <a:p>
            <a:pPr algn="ctr" indent="0" marL="0">
              <a:buNone/>
            </a:pPr>
            <a:r>
              <a:rPr lang="en-US" sz="1800" b="1" dirty="0">
                <a:solidFill>
                  <a:srgbClr val="8A94A4"/>
                </a:solidFill>
                <a:latin typeface="Arial" pitchFamily="34" charset="0"/>
                <a:ea typeface="Arial" pitchFamily="34" charset="-122"/>
                <a:cs typeface="Arial" pitchFamily="34" charset="-120"/>
              </a:rPr>
              <a:t>›</a:t>
            </a:r>
            <a:endParaRPr lang="en-US" sz="1800" dirty="0"/>
          </a:p>
        </p:txBody>
      </p:sp>
      <p:sp>
        <p:nvSpPr>
          <p:cNvPr id="19" name="Shape 14"/>
          <p:cNvSpPr/>
          <p:nvPr/>
        </p:nvSpPr>
        <p:spPr>
          <a:xfrm>
            <a:off x="3764715" y="1691640"/>
            <a:ext cx="1443446" cy="2194560"/>
          </a:xfrm>
          <a:prstGeom prst="roundRect">
            <a:avLst>
              <a:gd name="adj" fmla="val 6335"/>
            </a:avLst>
          </a:prstGeom>
          <a:solidFill>
            <a:srgbClr val="FFFFFF"/>
          </a:solidFill>
          <a:ln w="12700">
            <a:solidFill>
              <a:srgbClr val="D9DEE2"/>
            </a:solidFill>
            <a:prstDash val="solid"/>
          </a:ln>
        </p:spPr>
      </p:sp>
      <p:sp>
        <p:nvSpPr>
          <p:cNvPr id="20" name="Shape 15"/>
          <p:cNvSpPr/>
          <p:nvPr/>
        </p:nvSpPr>
        <p:spPr>
          <a:xfrm>
            <a:off x="3901875" y="1828800"/>
            <a:ext cx="384048" cy="384048"/>
          </a:xfrm>
          <a:prstGeom prst="ellipse">
            <a:avLst/>
          </a:prstGeom>
          <a:solidFill>
            <a:srgbClr val="FF462D"/>
          </a:solidFill>
          <a:ln/>
        </p:spPr>
      </p:sp>
      <p:sp>
        <p:nvSpPr>
          <p:cNvPr id="21" name="Text 16"/>
          <p:cNvSpPr txBox="1"/>
          <p:nvPr/>
        </p:nvSpPr>
        <p:spPr>
          <a:xfrm>
            <a:off x="3901875"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pic>
        <p:nvPicPr>
          <p:cNvPr id="22" name="Image 3" descr="/private/tmp/claude-501/-Users-salehhamed-Outcome-Engine/91861432-41e2-4884-bc97-63c6dff2d021/scratchpad/wk/icons/TbInbox-teal.png">    </p:cNvPr>
          <p:cNvPicPr>
            <a:picLocks noChangeAspect="1"/>
          </p:cNvPicPr>
          <p:nvPr/>
        </p:nvPicPr>
        <p:blipFill>
          <a:blip r:embed="rId6"/>
          <a:stretch>
            <a:fillRect/>
          </a:stretch>
        </p:blipFill>
        <p:spPr>
          <a:xfrm>
            <a:off x="4641233" y="1801368"/>
            <a:ext cx="438912" cy="438912"/>
          </a:xfrm>
          <a:prstGeom prst="rect">
            <a:avLst/>
          </a:prstGeom>
        </p:spPr>
      </p:pic>
      <p:sp>
        <p:nvSpPr>
          <p:cNvPr id="23" name="Text 17"/>
          <p:cNvSpPr txBox="1"/>
          <p:nvPr/>
        </p:nvSpPr>
        <p:spPr>
          <a:xfrm>
            <a:off x="3901875" y="2377440"/>
            <a:ext cx="1169126" cy="141732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Staffing sees the request</a:t>
            </a:r>
            <a:endParaRPr lang="en-US" sz="1500" dirty="0"/>
          </a:p>
        </p:txBody>
      </p:sp>
      <p:sp>
        <p:nvSpPr>
          <p:cNvPr id="24" name="Text 18"/>
          <p:cNvSpPr txBox="1"/>
          <p:nvPr/>
        </p:nvSpPr>
        <p:spPr>
          <a:xfrm>
            <a:off x="5189873" y="2606040"/>
            <a:ext cx="201168" cy="365760"/>
          </a:xfrm>
          <a:prstGeom prst="rect">
            <a:avLst/>
          </a:prstGeom>
          <a:noFill/>
          <a:ln/>
        </p:spPr>
        <p:txBody>
          <a:bodyPr wrap="square" lIns="0" tIns="0" rIns="0" bIns="0" rtlCol="0" anchor="t"/>
          <a:lstStyle/>
          <a:p>
            <a:pPr algn="ctr" indent="0" marL="0">
              <a:buNone/>
            </a:pPr>
            <a:r>
              <a:rPr lang="en-US" sz="1800" b="1" dirty="0">
                <a:solidFill>
                  <a:srgbClr val="8A94A4"/>
                </a:solidFill>
                <a:latin typeface="Arial" pitchFamily="34" charset="0"/>
                <a:ea typeface="Arial" pitchFamily="34" charset="-122"/>
                <a:cs typeface="Arial" pitchFamily="34" charset="-120"/>
              </a:rPr>
              <a:t>›</a:t>
            </a:r>
            <a:endParaRPr lang="en-US" sz="1800" dirty="0"/>
          </a:p>
        </p:txBody>
      </p:sp>
      <p:sp>
        <p:nvSpPr>
          <p:cNvPr id="25" name="Shape 19"/>
          <p:cNvSpPr/>
          <p:nvPr/>
        </p:nvSpPr>
        <p:spPr>
          <a:xfrm>
            <a:off x="5372753" y="1691640"/>
            <a:ext cx="1443446" cy="2194560"/>
          </a:xfrm>
          <a:prstGeom prst="roundRect">
            <a:avLst>
              <a:gd name="adj" fmla="val 6335"/>
            </a:avLst>
          </a:prstGeom>
          <a:solidFill>
            <a:srgbClr val="FFFFFF"/>
          </a:solidFill>
          <a:ln w="12700">
            <a:solidFill>
              <a:srgbClr val="D9DEE2"/>
            </a:solidFill>
            <a:prstDash val="solid"/>
          </a:ln>
        </p:spPr>
      </p:sp>
      <p:sp>
        <p:nvSpPr>
          <p:cNvPr id="26" name="Shape 20"/>
          <p:cNvSpPr/>
          <p:nvPr/>
        </p:nvSpPr>
        <p:spPr>
          <a:xfrm>
            <a:off x="5509913" y="1828800"/>
            <a:ext cx="384048" cy="384048"/>
          </a:xfrm>
          <a:prstGeom prst="ellipse">
            <a:avLst/>
          </a:prstGeom>
          <a:solidFill>
            <a:srgbClr val="FF462D"/>
          </a:solidFill>
          <a:ln/>
        </p:spPr>
      </p:sp>
      <p:sp>
        <p:nvSpPr>
          <p:cNvPr id="27" name="Text 21"/>
          <p:cNvSpPr txBox="1"/>
          <p:nvPr/>
        </p:nvSpPr>
        <p:spPr>
          <a:xfrm>
            <a:off x="5509913"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pic>
        <p:nvPicPr>
          <p:cNvPr id="28" name="Image 4" descr="/private/tmp/claude-501/-Users-salehhamed-Outcome-Engine/91861432-41e2-4884-bc97-63c6dff2d021/scratchpad/wk/icons/TbUserSearch-teal.png">    </p:cNvPr>
          <p:cNvPicPr>
            <a:picLocks noChangeAspect="1"/>
          </p:cNvPicPr>
          <p:nvPr/>
        </p:nvPicPr>
        <p:blipFill>
          <a:blip r:embed="rId7"/>
          <a:stretch>
            <a:fillRect/>
          </a:stretch>
        </p:blipFill>
        <p:spPr>
          <a:xfrm>
            <a:off x="6249271" y="1801368"/>
            <a:ext cx="438912" cy="438912"/>
          </a:xfrm>
          <a:prstGeom prst="rect">
            <a:avLst/>
          </a:prstGeom>
        </p:spPr>
      </p:pic>
      <p:sp>
        <p:nvSpPr>
          <p:cNvPr id="29" name="Text 22"/>
          <p:cNvSpPr txBox="1"/>
          <p:nvPr/>
        </p:nvSpPr>
        <p:spPr>
          <a:xfrm>
            <a:off x="5509913" y="2377440"/>
            <a:ext cx="1169126" cy="141732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Who could do it, and who is free</a:t>
            </a:r>
            <a:endParaRPr lang="en-US" sz="1500" dirty="0"/>
          </a:p>
        </p:txBody>
      </p:sp>
      <p:sp>
        <p:nvSpPr>
          <p:cNvPr id="30" name="Text 23"/>
          <p:cNvSpPr txBox="1"/>
          <p:nvPr/>
        </p:nvSpPr>
        <p:spPr>
          <a:xfrm>
            <a:off x="6797911" y="2606040"/>
            <a:ext cx="201168" cy="365760"/>
          </a:xfrm>
          <a:prstGeom prst="rect">
            <a:avLst/>
          </a:prstGeom>
          <a:noFill/>
          <a:ln/>
        </p:spPr>
        <p:txBody>
          <a:bodyPr wrap="square" lIns="0" tIns="0" rIns="0" bIns="0" rtlCol="0" anchor="t"/>
          <a:lstStyle/>
          <a:p>
            <a:pPr algn="ctr" indent="0" marL="0">
              <a:buNone/>
            </a:pPr>
            <a:r>
              <a:rPr lang="en-US" sz="1800" b="1" dirty="0">
                <a:solidFill>
                  <a:srgbClr val="8A94A4"/>
                </a:solidFill>
                <a:latin typeface="Arial" pitchFamily="34" charset="0"/>
                <a:ea typeface="Arial" pitchFamily="34" charset="-122"/>
                <a:cs typeface="Arial" pitchFamily="34" charset="-120"/>
              </a:rPr>
              <a:t>›</a:t>
            </a:r>
            <a:endParaRPr lang="en-US" sz="1800" dirty="0"/>
          </a:p>
        </p:txBody>
      </p:sp>
      <p:sp>
        <p:nvSpPr>
          <p:cNvPr id="31" name="Shape 24"/>
          <p:cNvSpPr/>
          <p:nvPr/>
        </p:nvSpPr>
        <p:spPr>
          <a:xfrm>
            <a:off x="6980791" y="1691640"/>
            <a:ext cx="1443446" cy="2194560"/>
          </a:xfrm>
          <a:prstGeom prst="roundRect">
            <a:avLst>
              <a:gd name="adj" fmla="val 6335"/>
            </a:avLst>
          </a:prstGeom>
          <a:solidFill>
            <a:srgbClr val="FFFFFF"/>
          </a:solidFill>
          <a:ln w="12700">
            <a:solidFill>
              <a:srgbClr val="D9DEE2"/>
            </a:solidFill>
            <a:prstDash val="solid"/>
          </a:ln>
        </p:spPr>
      </p:sp>
      <p:sp>
        <p:nvSpPr>
          <p:cNvPr id="32" name="Shape 25"/>
          <p:cNvSpPr/>
          <p:nvPr/>
        </p:nvSpPr>
        <p:spPr>
          <a:xfrm>
            <a:off x="7117951" y="1828800"/>
            <a:ext cx="384048" cy="384048"/>
          </a:xfrm>
          <a:prstGeom prst="ellipse">
            <a:avLst/>
          </a:prstGeom>
          <a:solidFill>
            <a:srgbClr val="FF462D"/>
          </a:solidFill>
          <a:ln/>
        </p:spPr>
      </p:sp>
      <p:sp>
        <p:nvSpPr>
          <p:cNvPr id="33" name="Text 26"/>
          <p:cNvSpPr txBox="1"/>
          <p:nvPr/>
        </p:nvSpPr>
        <p:spPr>
          <a:xfrm>
            <a:off x="7117951"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pic>
        <p:nvPicPr>
          <p:cNvPr id="34" name="Image 5" descr="/private/tmp/claude-501/-Users-salehhamed-Outcome-Engine/91861432-41e2-4884-bc97-63c6dff2d021/scratchpad/wk/icons/TbDoorExit-teal.png">    </p:cNvPr>
          <p:cNvPicPr>
            <a:picLocks noChangeAspect="1"/>
          </p:cNvPicPr>
          <p:nvPr/>
        </p:nvPicPr>
        <p:blipFill>
          <a:blip r:embed="rId8"/>
          <a:stretch>
            <a:fillRect/>
          </a:stretch>
        </p:blipFill>
        <p:spPr>
          <a:xfrm>
            <a:off x="7857309" y="1801368"/>
            <a:ext cx="438912" cy="438912"/>
          </a:xfrm>
          <a:prstGeom prst="rect">
            <a:avLst/>
          </a:prstGeom>
        </p:spPr>
      </p:pic>
      <p:sp>
        <p:nvSpPr>
          <p:cNvPr id="35" name="Text 27"/>
          <p:cNvSpPr txBox="1"/>
          <p:nvPr/>
        </p:nvSpPr>
        <p:spPr>
          <a:xfrm>
            <a:off x="7117951" y="2377440"/>
            <a:ext cx="1169126" cy="141732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Can they actually start</a:t>
            </a:r>
            <a:endParaRPr lang="en-US" sz="1500" dirty="0"/>
          </a:p>
        </p:txBody>
      </p:sp>
      <p:sp>
        <p:nvSpPr>
          <p:cNvPr id="36" name="Text 28"/>
          <p:cNvSpPr txBox="1"/>
          <p:nvPr/>
        </p:nvSpPr>
        <p:spPr>
          <a:xfrm>
            <a:off x="8405949" y="2606040"/>
            <a:ext cx="201168" cy="365760"/>
          </a:xfrm>
          <a:prstGeom prst="rect">
            <a:avLst/>
          </a:prstGeom>
          <a:noFill/>
          <a:ln/>
        </p:spPr>
        <p:txBody>
          <a:bodyPr wrap="square" lIns="0" tIns="0" rIns="0" bIns="0" rtlCol="0" anchor="t"/>
          <a:lstStyle/>
          <a:p>
            <a:pPr algn="ctr" indent="0" marL="0">
              <a:buNone/>
            </a:pPr>
            <a:r>
              <a:rPr lang="en-US" sz="1800" b="1" dirty="0">
                <a:solidFill>
                  <a:srgbClr val="8A94A4"/>
                </a:solidFill>
                <a:latin typeface="Arial" pitchFamily="34" charset="0"/>
                <a:ea typeface="Arial" pitchFamily="34" charset="-122"/>
                <a:cs typeface="Arial" pitchFamily="34" charset="-120"/>
              </a:rPr>
              <a:t>›</a:t>
            </a:r>
            <a:endParaRPr lang="en-US" sz="1800" dirty="0"/>
          </a:p>
        </p:txBody>
      </p:sp>
      <p:sp>
        <p:nvSpPr>
          <p:cNvPr id="37" name="Shape 29"/>
          <p:cNvSpPr/>
          <p:nvPr/>
        </p:nvSpPr>
        <p:spPr>
          <a:xfrm>
            <a:off x="8588829" y="1691640"/>
            <a:ext cx="1443446" cy="2194560"/>
          </a:xfrm>
          <a:prstGeom prst="roundRect">
            <a:avLst>
              <a:gd name="adj" fmla="val 6335"/>
            </a:avLst>
          </a:prstGeom>
          <a:solidFill>
            <a:srgbClr val="FFFFFF"/>
          </a:solidFill>
          <a:ln w="12700">
            <a:solidFill>
              <a:srgbClr val="D9DEE2"/>
            </a:solidFill>
            <a:prstDash val="solid"/>
          </a:ln>
        </p:spPr>
      </p:sp>
      <p:sp>
        <p:nvSpPr>
          <p:cNvPr id="38" name="Shape 30"/>
          <p:cNvSpPr/>
          <p:nvPr/>
        </p:nvSpPr>
        <p:spPr>
          <a:xfrm>
            <a:off x="8725989" y="1828800"/>
            <a:ext cx="384048" cy="384048"/>
          </a:xfrm>
          <a:prstGeom prst="ellipse">
            <a:avLst/>
          </a:prstGeom>
          <a:solidFill>
            <a:srgbClr val="FF462D"/>
          </a:solidFill>
          <a:ln/>
        </p:spPr>
      </p:sp>
      <p:sp>
        <p:nvSpPr>
          <p:cNvPr id="39" name="Text 31"/>
          <p:cNvSpPr txBox="1"/>
          <p:nvPr/>
        </p:nvSpPr>
        <p:spPr>
          <a:xfrm>
            <a:off x="8725989"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pic>
        <p:nvPicPr>
          <p:cNvPr id="40" name="Image 6" descr="/private/tmp/claude-501/-Users-salehhamed-Outcome-Engine/91861432-41e2-4884-bc97-63c6dff2d021/scratchpad/wk/icons/TbUserQuestion-teal.png">    </p:cNvPr>
          <p:cNvPicPr>
            <a:picLocks noChangeAspect="1"/>
          </p:cNvPicPr>
          <p:nvPr/>
        </p:nvPicPr>
        <p:blipFill>
          <a:blip r:embed="rId9"/>
          <a:stretch>
            <a:fillRect/>
          </a:stretch>
        </p:blipFill>
        <p:spPr>
          <a:xfrm>
            <a:off x="9465346" y="1801368"/>
            <a:ext cx="438912" cy="438912"/>
          </a:xfrm>
          <a:prstGeom prst="rect">
            <a:avLst/>
          </a:prstGeom>
        </p:spPr>
      </p:pic>
      <p:sp>
        <p:nvSpPr>
          <p:cNvPr id="41" name="Text 32"/>
          <p:cNvSpPr txBox="1"/>
          <p:nvPr/>
        </p:nvSpPr>
        <p:spPr>
          <a:xfrm>
            <a:off x="8725989" y="2377440"/>
            <a:ext cx="1169126" cy="141732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Is there a real gap</a:t>
            </a:r>
            <a:endParaRPr lang="en-US" sz="1500" dirty="0"/>
          </a:p>
        </p:txBody>
      </p:sp>
      <p:sp>
        <p:nvSpPr>
          <p:cNvPr id="42" name="Text 33"/>
          <p:cNvSpPr txBox="1"/>
          <p:nvPr/>
        </p:nvSpPr>
        <p:spPr>
          <a:xfrm>
            <a:off x="10013986" y="2606040"/>
            <a:ext cx="201168" cy="365760"/>
          </a:xfrm>
          <a:prstGeom prst="rect">
            <a:avLst/>
          </a:prstGeom>
          <a:noFill/>
          <a:ln/>
        </p:spPr>
        <p:txBody>
          <a:bodyPr wrap="square" lIns="0" tIns="0" rIns="0" bIns="0" rtlCol="0" anchor="t"/>
          <a:lstStyle/>
          <a:p>
            <a:pPr algn="ctr" indent="0" marL="0">
              <a:buNone/>
            </a:pPr>
            <a:r>
              <a:rPr lang="en-US" sz="1800" b="1" dirty="0">
                <a:solidFill>
                  <a:srgbClr val="8A94A4"/>
                </a:solidFill>
                <a:latin typeface="Arial" pitchFamily="34" charset="0"/>
                <a:ea typeface="Arial" pitchFamily="34" charset="-122"/>
                <a:cs typeface="Arial" pitchFamily="34" charset="-120"/>
              </a:rPr>
              <a:t>›</a:t>
            </a:r>
            <a:endParaRPr lang="en-US" sz="1800" dirty="0"/>
          </a:p>
        </p:txBody>
      </p:sp>
      <p:sp>
        <p:nvSpPr>
          <p:cNvPr id="43" name="Shape 34"/>
          <p:cNvSpPr/>
          <p:nvPr/>
        </p:nvSpPr>
        <p:spPr>
          <a:xfrm>
            <a:off x="10196866" y="1691640"/>
            <a:ext cx="1443446" cy="2194560"/>
          </a:xfrm>
          <a:prstGeom prst="roundRect">
            <a:avLst>
              <a:gd name="adj" fmla="val 6335"/>
            </a:avLst>
          </a:prstGeom>
          <a:solidFill>
            <a:srgbClr val="FFFFFF"/>
          </a:solidFill>
          <a:ln w="12700">
            <a:solidFill>
              <a:srgbClr val="D9DEE2"/>
            </a:solidFill>
            <a:prstDash val="solid"/>
          </a:ln>
        </p:spPr>
      </p:sp>
      <p:sp>
        <p:nvSpPr>
          <p:cNvPr id="44" name="Shape 35"/>
          <p:cNvSpPr/>
          <p:nvPr/>
        </p:nvSpPr>
        <p:spPr>
          <a:xfrm>
            <a:off x="10334026" y="1828800"/>
            <a:ext cx="384048" cy="384048"/>
          </a:xfrm>
          <a:prstGeom prst="ellipse">
            <a:avLst/>
          </a:prstGeom>
          <a:solidFill>
            <a:srgbClr val="FF462D"/>
          </a:solidFill>
          <a:ln/>
        </p:spPr>
      </p:sp>
      <p:sp>
        <p:nvSpPr>
          <p:cNvPr id="45" name="Text 36"/>
          <p:cNvSpPr txBox="1"/>
          <p:nvPr/>
        </p:nvSpPr>
        <p:spPr>
          <a:xfrm>
            <a:off x="10334026" y="1828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pic>
        <p:nvPicPr>
          <p:cNvPr id="46" name="Image 7" descr="/private/tmp/claude-501/-Users-salehhamed-Outcome-Engine/91861432-41e2-4884-bc97-63c6dff2d021/scratchpad/wk/icons/TbRocket-teal.png">    </p:cNvPr>
          <p:cNvPicPr>
            <a:picLocks noChangeAspect="1"/>
          </p:cNvPicPr>
          <p:nvPr/>
        </p:nvPicPr>
        <p:blipFill>
          <a:blip r:embed="rId10"/>
          <a:stretch>
            <a:fillRect/>
          </a:stretch>
        </p:blipFill>
        <p:spPr>
          <a:xfrm>
            <a:off x="11073384" y="1801368"/>
            <a:ext cx="438912" cy="438912"/>
          </a:xfrm>
          <a:prstGeom prst="rect">
            <a:avLst/>
          </a:prstGeom>
        </p:spPr>
      </p:pic>
      <p:sp>
        <p:nvSpPr>
          <p:cNvPr id="47" name="Text 37"/>
          <p:cNvSpPr txBox="1"/>
          <p:nvPr/>
        </p:nvSpPr>
        <p:spPr>
          <a:xfrm>
            <a:off x="10334026" y="2377440"/>
            <a:ext cx="1169126" cy="141732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The gap goes to action</a:t>
            </a:r>
            <a:endParaRPr lang="en-US" sz="1500" dirty="0"/>
          </a:p>
        </p:txBody>
      </p:sp>
      <p:sp>
        <p:nvSpPr>
          <p:cNvPr id="48" name="Shape 38"/>
          <p:cNvSpPr/>
          <p:nvPr/>
        </p:nvSpPr>
        <p:spPr>
          <a:xfrm>
            <a:off x="548640" y="4297680"/>
            <a:ext cx="11091672" cy="1463040"/>
          </a:xfrm>
          <a:prstGeom prst="roundRect">
            <a:avLst>
              <a:gd name="adj" fmla="val 6250"/>
            </a:avLst>
          </a:prstGeom>
          <a:solidFill>
            <a:srgbClr val="F2F4F5"/>
          </a:solidFill>
          <a:ln/>
        </p:spPr>
      </p:sp>
      <p:pic>
        <p:nvPicPr>
          <p:cNvPr id="49" name="Image 8" descr="/private/tmp/claude-501/-Users-salehhamed-Outcome-Engine/91861432-41e2-4884-bc97-63c6dff2d021/scratchpad/wk/icons/TbEye-teal.png">    </p:cNvPr>
          <p:cNvPicPr>
            <a:picLocks noChangeAspect="1"/>
          </p:cNvPicPr>
          <p:nvPr/>
        </p:nvPicPr>
        <p:blipFill>
          <a:blip r:embed="rId11"/>
          <a:stretch>
            <a:fillRect/>
          </a:stretch>
        </p:blipFill>
        <p:spPr>
          <a:xfrm>
            <a:off x="868680" y="4663440"/>
            <a:ext cx="731520" cy="731520"/>
          </a:xfrm>
          <a:prstGeom prst="rect">
            <a:avLst/>
          </a:prstGeom>
        </p:spPr>
      </p:pic>
      <p:sp>
        <p:nvSpPr>
          <p:cNvPr id="50" name="Text 39"/>
          <p:cNvSpPr txBox="1"/>
          <p:nvPr/>
        </p:nvSpPr>
        <p:spPr>
          <a:xfrm>
            <a:off x="1828800" y="4297680"/>
            <a:ext cx="9601200" cy="14630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At each stage we ask two things: what did the record say, and what was really true?</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THE NORTHGATE DEAL · RECORD OR REALITY?</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Stage 1 · Demand emerges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25</a:t>
            </a:r>
            <a:endParaRPr lang="en-US" sz="1000" dirty="0"/>
          </a:p>
        </p:txBody>
      </p:sp>
      <p:sp>
        <p:nvSpPr>
          <p:cNvPr id="7" name="Shape 4"/>
          <p:cNvSpPr/>
          <p:nvPr/>
        </p:nvSpPr>
        <p:spPr>
          <a:xfrm>
            <a:off x="548640" y="1344168"/>
            <a:ext cx="420624" cy="420624"/>
          </a:xfrm>
          <a:prstGeom prst="ellipse">
            <a:avLst/>
          </a:prstGeom>
          <a:solidFill>
            <a:srgbClr val="FF462D"/>
          </a:solidFill>
          <a:ln/>
        </p:spPr>
      </p:sp>
      <p:sp>
        <p:nvSpPr>
          <p:cNvPr id="8" name="Text 5"/>
          <p:cNvSpPr txBox="1"/>
          <p:nvPr/>
        </p:nvSpPr>
        <p:spPr>
          <a:xfrm>
            <a:off x="548640" y="1344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1115568" y="1344168"/>
            <a:ext cx="420624" cy="420624"/>
          </a:xfrm>
          <a:prstGeom prst="ellipse">
            <a:avLst/>
          </a:prstGeom>
          <a:solidFill>
            <a:srgbClr val="FFFFFF"/>
          </a:solidFill>
          <a:ln w="15875">
            <a:solidFill>
              <a:srgbClr val="D9DEE2"/>
            </a:solidFill>
            <a:prstDash val="solid"/>
          </a:ln>
        </p:spPr>
      </p:sp>
      <p:sp>
        <p:nvSpPr>
          <p:cNvPr id="10" name="Text 7"/>
          <p:cNvSpPr txBox="1"/>
          <p:nvPr/>
        </p:nvSpPr>
        <p:spPr>
          <a:xfrm>
            <a:off x="1115568"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1682496" y="1344168"/>
            <a:ext cx="420624" cy="420624"/>
          </a:xfrm>
          <a:prstGeom prst="ellipse">
            <a:avLst/>
          </a:prstGeom>
          <a:solidFill>
            <a:srgbClr val="FFFFFF"/>
          </a:solidFill>
          <a:ln w="15875">
            <a:solidFill>
              <a:srgbClr val="D9DEE2"/>
            </a:solidFill>
            <a:prstDash val="solid"/>
          </a:ln>
        </p:spPr>
      </p:sp>
      <p:sp>
        <p:nvSpPr>
          <p:cNvPr id="12" name="Text 9"/>
          <p:cNvSpPr txBox="1"/>
          <p:nvPr/>
        </p:nvSpPr>
        <p:spPr>
          <a:xfrm>
            <a:off x="1682496"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2249424" y="1344168"/>
            <a:ext cx="420624" cy="420624"/>
          </a:xfrm>
          <a:prstGeom prst="ellipse">
            <a:avLst/>
          </a:prstGeom>
          <a:solidFill>
            <a:srgbClr val="FFFFFF"/>
          </a:solidFill>
          <a:ln w="15875">
            <a:solidFill>
              <a:srgbClr val="D9DEE2"/>
            </a:solidFill>
            <a:prstDash val="solid"/>
          </a:ln>
        </p:spPr>
      </p:sp>
      <p:sp>
        <p:nvSpPr>
          <p:cNvPr id="14" name="Text 11"/>
          <p:cNvSpPr txBox="1"/>
          <p:nvPr/>
        </p:nvSpPr>
        <p:spPr>
          <a:xfrm>
            <a:off x="2249424"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2816352" y="1344168"/>
            <a:ext cx="420624" cy="420624"/>
          </a:xfrm>
          <a:prstGeom prst="ellipse">
            <a:avLst/>
          </a:prstGeom>
          <a:solidFill>
            <a:srgbClr val="FFFFFF"/>
          </a:solidFill>
          <a:ln w="15875">
            <a:solidFill>
              <a:srgbClr val="D9DEE2"/>
            </a:solidFill>
            <a:prstDash val="solid"/>
          </a:ln>
        </p:spPr>
      </p:sp>
      <p:sp>
        <p:nvSpPr>
          <p:cNvPr id="16" name="Text 13"/>
          <p:cNvSpPr txBox="1"/>
          <p:nvPr/>
        </p:nvSpPr>
        <p:spPr>
          <a:xfrm>
            <a:off x="2816352"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3383280" y="1344168"/>
            <a:ext cx="420624" cy="420624"/>
          </a:xfrm>
          <a:prstGeom prst="ellipse">
            <a:avLst/>
          </a:prstGeom>
          <a:solidFill>
            <a:srgbClr val="FFFFFF"/>
          </a:solidFill>
          <a:ln w="15875">
            <a:solidFill>
              <a:srgbClr val="D9DEE2"/>
            </a:solidFill>
            <a:prstDash val="solid"/>
          </a:ln>
        </p:spPr>
      </p:sp>
      <p:sp>
        <p:nvSpPr>
          <p:cNvPr id="18" name="Text 15"/>
          <p:cNvSpPr txBox="1"/>
          <p:nvPr/>
        </p:nvSpPr>
        <p:spPr>
          <a:xfrm>
            <a:off x="3383280"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3950208" y="1344168"/>
            <a:ext cx="420624" cy="420624"/>
          </a:xfrm>
          <a:prstGeom prst="ellipse">
            <a:avLst/>
          </a:prstGeom>
          <a:solidFill>
            <a:srgbClr val="FFFFFF"/>
          </a:solidFill>
          <a:ln w="15875">
            <a:solidFill>
              <a:srgbClr val="D9DEE2"/>
            </a:solidFill>
            <a:prstDash val="solid"/>
          </a:ln>
        </p:spPr>
      </p:sp>
      <p:sp>
        <p:nvSpPr>
          <p:cNvPr id="20" name="Text 17"/>
          <p:cNvSpPr txBox="1"/>
          <p:nvPr/>
        </p:nvSpPr>
        <p:spPr>
          <a:xfrm>
            <a:off x="3950208"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7</a:t>
            </a:r>
            <a:endParaRPr lang="en-US" sz="1300" dirty="0"/>
          </a:p>
        </p:txBody>
      </p:sp>
      <p:pic>
        <p:nvPicPr>
          <p:cNvPr id="21" name="Image 1" descr="/private/tmp/claude-501/-Users-salehhamed-Outcome-Engine/91861432-41e2-4884-bc97-63c6dff2d021/scratchpad/wk/icons/TbBuildingSkyscraper-teal.png">    </p:cNvPr>
          <p:cNvPicPr>
            <a:picLocks noChangeAspect="1"/>
          </p:cNvPicPr>
          <p:nvPr/>
        </p:nvPicPr>
        <p:blipFill>
          <a:blip r:embed="rId4"/>
          <a:stretch>
            <a:fillRect/>
          </a:stretch>
        </p:blipFill>
        <p:spPr>
          <a:xfrm>
            <a:off x="10927080" y="1261872"/>
            <a:ext cx="685800" cy="685800"/>
          </a:xfrm>
          <a:prstGeom prst="rect">
            <a:avLst/>
          </a:prstGeom>
        </p:spPr>
      </p:pic>
      <p:sp>
        <p:nvSpPr>
          <p:cNvPr id="22" name="Shape 18"/>
          <p:cNvSpPr/>
          <p:nvPr/>
        </p:nvSpPr>
        <p:spPr>
          <a:xfrm>
            <a:off x="548640" y="2057400"/>
            <a:ext cx="5349240" cy="2834640"/>
          </a:xfrm>
          <a:prstGeom prst="roundRect">
            <a:avLst>
              <a:gd name="adj" fmla="val 2581"/>
            </a:avLst>
          </a:prstGeom>
          <a:solidFill>
            <a:srgbClr val="F2F4F5"/>
          </a:solidFill>
          <a:ln w="12700">
            <a:solidFill>
              <a:srgbClr val="D9DEE2"/>
            </a:solidFill>
            <a:prstDash val="solid"/>
          </a:ln>
        </p:spPr>
      </p:sp>
      <p:sp>
        <p:nvSpPr>
          <p:cNvPr id="23" name="Shape 19"/>
          <p:cNvSpPr/>
          <p:nvPr/>
        </p:nvSpPr>
        <p:spPr>
          <a:xfrm>
            <a:off x="548640" y="2057400"/>
            <a:ext cx="5349240" cy="457200"/>
          </a:xfrm>
          <a:prstGeom prst="rect">
            <a:avLst/>
          </a:prstGeom>
          <a:solidFill>
            <a:srgbClr val="D9DEE2"/>
          </a:solidFill>
          <a:ln/>
        </p:spPr>
      </p:sp>
      <p:sp>
        <p:nvSpPr>
          <p:cNvPr id="24" name="Shape 20"/>
          <p:cNvSpPr/>
          <p:nvPr/>
        </p:nvSpPr>
        <p:spPr>
          <a:xfrm>
            <a:off x="713232" y="2212848"/>
            <a:ext cx="146304" cy="146304"/>
          </a:xfrm>
          <a:prstGeom prst="ellipse">
            <a:avLst/>
          </a:prstGeom>
          <a:solidFill>
            <a:srgbClr val="FF5F57"/>
          </a:solidFill>
          <a:ln/>
        </p:spPr>
      </p:sp>
      <p:sp>
        <p:nvSpPr>
          <p:cNvPr id="25" name="Shape 21"/>
          <p:cNvSpPr/>
          <p:nvPr/>
        </p:nvSpPr>
        <p:spPr>
          <a:xfrm>
            <a:off x="941832" y="2212848"/>
            <a:ext cx="146304" cy="146304"/>
          </a:xfrm>
          <a:prstGeom prst="ellipse">
            <a:avLst/>
          </a:prstGeom>
          <a:solidFill>
            <a:srgbClr val="FEBC2E"/>
          </a:solidFill>
          <a:ln/>
        </p:spPr>
      </p:sp>
      <p:sp>
        <p:nvSpPr>
          <p:cNvPr id="26" name="Shape 22"/>
          <p:cNvSpPr/>
          <p:nvPr/>
        </p:nvSpPr>
        <p:spPr>
          <a:xfrm>
            <a:off x="1170432" y="2212848"/>
            <a:ext cx="146304" cy="146304"/>
          </a:xfrm>
          <a:prstGeom prst="ellipse">
            <a:avLst/>
          </a:prstGeom>
          <a:solidFill>
            <a:srgbClr val="28C840"/>
          </a:solidFill>
          <a:ln/>
        </p:spPr>
      </p:sp>
      <p:sp>
        <p:nvSpPr>
          <p:cNvPr id="27" name="Text 23"/>
          <p:cNvSpPr txBox="1"/>
          <p:nvPr/>
        </p:nvSpPr>
        <p:spPr>
          <a:xfrm>
            <a:off x="1463040" y="2057400"/>
            <a:ext cx="4206240" cy="457200"/>
          </a:xfrm>
          <a:prstGeom prst="rect">
            <a:avLst/>
          </a:prstGeom>
          <a:noFill/>
          <a:ln/>
        </p:spPr>
        <p:txBody>
          <a:bodyPr wrap="square" lIns="0" tIns="0" rIns="0" bIns="0" rtlCol="0" anchor="ctr"/>
          <a:lstStyle/>
          <a:p>
            <a:pPr indent="0" marL="0">
              <a:buNone/>
            </a:pPr>
            <a:r>
              <a:rPr lang="en-US" sz="1200" b="1" spc="150" kern="0" dirty="0">
                <a:solidFill>
                  <a:srgbClr val="36454F"/>
                </a:solidFill>
                <a:latin typeface="Arial" pitchFamily="34" charset="0"/>
                <a:ea typeface="Arial" pitchFamily="34" charset="-122"/>
                <a:cs typeface="Arial" pitchFamily="34" charset="-120"/>
              </a:rPr>
              <a:t>THE RECORD SAID</a:t>
            </a:r>
            <a:endParaRPr lang="en-US" sz="1200" dirty="0"/>
          </a:p>
        </p:txBody>
      </p:sp>
      <p:sp>
        <p:nvSpPr>
          <p:cNvPr id="28" name="Text 24"/>
          <p:cNvSpPr txBox="1"/>
          <p:nvPr/>
        </p:nvSpPr>
        <p:spPr>
          <a:xfrm>
            <a:off x="822960" y="2697480"/>
            <a:ext cx="4800600" cy="2103120"/>
          </a:xfrm>
          <a:prstGeom prst="rect">
            <a:avLst/>
          </a:prstGeom>
          <a:noFill/>
          <a:ln/>
        </p:spPr>
        <p:txBody>
          <a:bodyPr wrap="square" lIns="0" tIns="0" rIns="0" bIns="0" rtlCol="0" anchor="t"/>
          <a:lstStyle/>
          <a:p>
            <a:pPr indent="0" marL="0">
              <a:buNone/>
            </a:pPr>
            <a:r>
              <a:rPr lang="en-US" sz="2200" dirty="0">
                <a:solidFill>
                  <a:srgbClr val="1F2A33"/>
                </a:solidFill>
                <a:latin typeface="Arial" pitchFamily="34" charset="0"/>
                <a:ea typeface="Arial" pitchFamily="34" charset="-122"/>
                <a:cs typeface="Arial" pitchFamily="34" charset="-120"/>
              </a:rPr>
              <a:t>Atlas shows the deal entering contract drafting on 8 September.</a:t>
            </a:r>
            <a:endParaRPr lang="en-US" sz="2200" dirty="0"/>
          </a:p>
        </p:txBody>
      </p:sp>
      <p:sp>
        <p:nvSpPr>
          <p:cNvPr id="29" name="Shape 25"/>
          <p:cNvSpPr/>
          <p:nvPr/>
        </p:nvSpPr>
        <p:spPr>
          <a:xfrm>
            <a:off x="6291072" y="2057400"/>
            <a:ext cx="5349240" cy="2834640"/>
          </a:xfrm>
          <a:prstGeom prst="roundRect">
            <a:avLst>
              <a:gd name="adj" fmla="val 2581"/>
            </a:avLst>
          </a:prstGeom>
          <a:solidFill>
            <a:srgbClr val="FFFFFF"/>
          </a:solidFill>
          <a:ln w="25400">
            <a:solidFill>
              <a:srgbClr val="287079"/>
            </a:solidFill>
            <a:prstDash val="dash"/>
          </a:ln>
        </p:spPr>
      </p:sp>
      <p:sp>
        <p:nvSpPr>
          <p:cNvPr id="30" name="Text 26"/>
          <p:cNvSpPr txBox="1"/>
          <p:nvPr/>
        </p:nvSpPr>
        <p:spPr>
          <a:xfrm>
            <a:off x="6291072" y="2194560"/>
            <a:ext cx="5349240" cy="1463040"/>
          </a:xfrm>
          <a:prstGeom prst="rect">
            <a:avLst/>
          </a:prstGeom>
          <a:noFill/>
          <a:ln/>
        </p:spPr>
        <p:txBody>
          <a:bodyPr wrap="square" lIns="0" tIns="0" rIns="0" bIns="0" rtlCol="0" anchor="ctr"/>
          <a:lstStyle/>
          <a:p>
            <a:pPr algn="ctr" indent="0" marL="0">
              <a:buNone/>
            </a:pPr>
            <a:r>
              <a:rPr lang="en-US" sz="8000" b="1" dirty="0">
                <a:solidFill>
                  <a:srgbClr val="287079"/>
                </a:solidFill>
                <a:latin typeface="Arial" pitchFamily="34" charset="0"/>
                <a:ea typeface="Arial" pitchFamily="34" charset="-122"/>
                <a:cs typeface="Arial" pitchFamily="34" charset="-120"/>
              </a:rPr>
              <a:t>?</a:t>
            </a:r>
            <a:endParaRPr lang="en-US" sz="8000" dirty="0"/>
          </a:p>
        </p:txBody>
      </p:sp>
      <p:sp>
        <p:nvSpPr>
          <p:cNvPr id="31" name="Text 27"/>
          <p:cNvSpPr txBox="1"/>
          <p:nvPr/>
        </p:nvSpPr>
        <p:spPr>
          <a:xfrm>
            <a:off x="6492240" y="3749040"/>
            <a:ext cx="4937760" cy="731520"/>
          </a:xfrm>
          <a:prstGeom prst="rect">
            <a:avLst/>
          </a:prstGeom>
          <a:noFill/>
          <a:ln/>
        </p:spPr>
        <p:txBody>
          <a:bodyPr wrap="square" lIns="0" tIns="0" rIns="0" bIns="0" rtlCol="0" anchor="ctr"/>
          <a:lstStyle/>
          <a:p>
            <a:pPr algn="ctr" indent="0" marL="0">
              <a:buNone/>
            </a:pPr>
            <a:r>
              <a:rPr lang="en-US" sz="2000" b="1" dirty="0">
                <a:solidFill>
                  <a:srgbClr val="287079"/>
                </a:solidFill>
                <a:latin typeface="Arial" pitchFamily="34" charset="0"/>
                <a:ea typeface="Arial" pitchFamily="34" charset="-122"/>
                <a:cs typeface="Arial" pitchFamily="34" charset="-120"/>
              </a:rPr>
              <a:t>What was really true? Guess first.</a:t>
            </a:r>
            <a:endParaRPr lang="en-US" sz="2000" dirty="0"/>
          </a:p>
        </p:txBody>
      </p:sp>
      <p:sp>
        <p:nvSpPr>
          <p:cNvPr id="32" name="Shape 28"/>
          <p:cNvSpPr/>
          <p:nvPr/>
        </p:nvSpPr>
        <p:spPr>
          <a:xfrm>
            <a:off x="548640" y="5120640"/>
            <a:ext cx="11091672" cy="914400"/>
          </a:xfrm>
          <a:prstGeom prst="roundRect">
            <a:avLst>
              <a:gd name="adj" fmla="val 8000"/>
            </a:avLst>
          </a:prstGeom>
          <a:solidFill>
            <a:srgbClr val="F2F4F5"/>
          </a:solidFill>
          <a:ln/>
        </p:spPr>
      </p:sp>
      <p:pic>
        <p:nvPicPr>
          <p:cNvPr id="33" name="Image 2" descr="/private/tmp/claude-501/-Users-salehhamed-Outcome-Engine/91861432-41e2-4884-bc97-63c6dff2d021/scratchpad/wk/icons/TbMessageCircle-slate.png">    </p:cNvPr>
          <p:cNvPicPr>
            <a:picLocks noChangeAspect="1"/>
          </p:cNvPicPr>
          <p:nvPr/>
        </p:nvPicPr>
        <p:blipFill>
          <a:blip r:embed="rId5"/>
          <a:stretch>
            <a:fillRect/>
          </a:stretch>
        </p:blipFill>
        <p:spPr>
          <a:xfrm>
            <a:off x="822960" y="5285232"/>
            <a:ext cx="566928" cy="566928"/>
          </a:xfrm>
          <a:prstGeom prst="rect">
            <a:avLst/>
          </a:prstGeom>
        </p:spPr>
      </p:pic>
      <p:sp>
        <p:nvSpPr>
          <p:cNvPr id="34" name="Text 29"/>
          <p:cNvSpPr txBox="1"/>
          <p:nvPr/>
        </p:nvSpPr>
        <p:spPr>
          <a:xfrm>
            <a:off x="1600200" y="5120640"/>
            <a:ext cx="9875520" cy="914400"/>
          </a:xfrm>
          <a:prstGeom prst="rect">
            <a:avLst/>
          </a:prstGeom>
          <a:noFill/>
          <a:ln/>
        </p:spPr>
        <p:txBody>
          <a:bodyPr wrap="square" lIns="0" tIns="0" rIns="0" bIns="0" rtlCol="0" anchor="ctr"/>
          <a:lstStyle/>
          <a:p>
            <a:pPr indent="0" marL="0">
              <a:buNone/>
            </a:pPr>
            <a:r>
              <a:rPr lang="en-US" sz="2000" b="1" dirty="0">
                <a:solidFill>
                  <a:srgbClr val="36454F"/>
                </a:solidFill>
                <a:latin typeface="Arial" pitchFamily="34" charset="0"/>
                <a:ea typeface="Arial" pitchFamily="34" charset="-122"/>
                <a:cs typeface="Arial" pitchFamily="34" charset="-120"/>
              </a:rPr>
              <a:t>Would you have believed the record?</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THE NORTHGATE DEAL · WHAT WAS TRUE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Stage 1 · Demand emerges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26</a:t>
            </a:r>
            <a:endParaRPr lang="en-US" sz="1000" dirty="0"/>
          </a:p>
        </p:txBody>
      </p:sp>
      <p:sp>
        <p:nvSpPr>
          <p:cNvPr id="7" name="Shape 4"/>
          <p:cNvSpPr/>
          <p:nvPr/>
        </p:nvSpPr>
        <p:spPr>
          <a:xfrm>
            <a:off x="548640" y="1344168"/>
            <a:ext cx="420624" cy="420624"/>
          </a:xfrm>
          <a:prstGeom prst="ellipse">
            <a:avLst/>
          </a:prstGeom>
          <a:solidFill>
            <a:srgbClr val="FF462D"/>
          </a:solidFill>
          <a:ln/>
        </p:spPr>
      </p:sp>
      <p:sp>
        <p:nvSpPr>
          <p:cNvPr id="8" name="Text 5"/>
          <p:cNvSpPr txBox="1"/>
          <p:nvPr/>
        </p:nvSpPr>
        <p:spPr>
          <a:xfrm>
            <a:off x="548640" y="1344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1115568" y="1344168"/>
            <a:ext cx="420624" cy="420624"/>
          </a:xfrm>
          <a:prstGeom prst="ellipse">
            <a:avLst/>
          </a:prstGeom>
          <a:solidFill>
            <a:srgbClr val="FFFFFF"/>
          </a:solidFill>
          <a:ln w="15875">
            <a:solidFill>
              <a:srgbClr val="D9DEE2"/>
            </a:solidFill>
            <a:prstDash val="solid"/>
          </a:ln>
        </p:spPr>
      </p:sp>
      <p:sp>
        <p:nvSpPr>
          <p:cNvPr id="10" name="Text 7"/>
          <p:cNvSpPr txBox="1"/>
          <p:nvPr/>
        </p:nvSpPr>
        <p:spPr>
          <a:xfrm>
            <a:off x="1115568"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1682496" y="1344168"/>
            <a:ext cx="420624" cy="420624"/>
          </a:xfrm>
          <a:prstGeom prst="ellipse">
            <a:avLst/>
          </a:prstGeom>
          <a:solidFill>
            <a:srgbClr val="FFFFFF"/>
          </a:solidFill>
          <a:ln w="15875">
            <a:solidFill>
              <a:srgbClr val="D9DEE2"/>
            </a:solidFill>
            <a:prstDash val="solid"/>
          </a:ln>
        </p:spPr>
      </p:sp>
      <p:sp>
        <p:nvSpPr>
          <p:cNvPr id="12" name="Text 9"/>
          <p:cNvSpPr txBox="1"/>
          <p:nvPr/>
        </p:nvSpPr>
        <p:spPr>
          <a:xfrm>
            <a:off x="1682496"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2249424" y="1344168"/>
            <a:ext cx="420624" cy="420624"/>
          </a:xfrm>
          <a:prstGeom prst="ellipse">
            <a:avLst/>
          </a:prstGeom>
          <a:solidFill>
            <a:srgbClr val="FFFFFF"/>
          </a:solidFill>
          <a:ln w="15875">
            <a:solidFill>
              <a:srgbClr val="D9DEE2"/>
            </a:solidFill>
            <a:prstDash val="solid"/>
          </a:ln>
        </p:spPr>
      </p:sp>
      <p:sp>
        <p:nvSpPr>
          <p:cNvPr id="14" name="Text 11"/>
          <p:cNvSpPr txBox="1"/>
          <p:nvPr/>
        </p:nvSpPr>
        <p:spPr>
          <a:xfrm>
            <a:off x="2249424"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2816352" y="1344168"/>
            <a:ext cx="420624" cy="420624"/>
          </a:xfrm>
          <a:prstGeom prst="ellipse">
            <a:avLst/>
          </a:prstGeom>
          <a:solidFill>
            <a:srgbClr val="FFFFFF"/>
          </a:solidFill>
          <a:ln w="15875">
            <a:solidFill>
              <a:srgbClr val="D9DEE2"/>
            </a:solidFill>
            <a:prstDash val="solid"/>
          </a:ln>
        </p:spPr>
      </p:sp>
      <p:sp>
        <p:nvSpPr>
          <p:cNvPr id="16" name="Text 13"/>
          <p:cNvSpPr txBox="1"/>
          <p:nvPr/>
        </p:nvSpPr>
        <p:spPr>
          <a:xfrm>
            <a:off x="2816352"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3383280" y="1344168"/>
            <a:ext cx="420624" cy="420624"/>
          </a:xfrm>
          <a:prstGeom prst="ellipse">
            <a:avLst/>
          </a:prstGeom>
          <a:solidFill>
            <a:srgbClr val="FFFFFF"/>
          </a:solidFill>
          <a:ln w="15875">
            <a:solidFill>
              <a:srgbClr val="D9DEE2"/>
            </a:solidFill>
            <a:prstDash val="solid"/>
          </a:ln>
        </p:spPr>
      </p:sp>
      <p:sp>
        <p:nvSpPr>
          <p:cNvPr id="18" name="Text 15"/>
          <p:cNvSpPr txBox="1"/>
          <p:nvPr/>
        </p:nvSpPr>
        <p:spPr>
          <a:xfrm>
            <a:off x="3383280"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3950208" y="1344168"/>
            <a:ext cx="420624" cy="420624"/>
          </a:xfrm>
          <a:prstGeom prst="ellipse">
            <a:avLst/>
          </a:prstGeom>
          <a:solidFill>
            <a:srgbClr val="FFFFFF"/>
          </a:solidFill>
          <a:ln w="15875">
            <a:solidFill>
              <a:srgbClr val="D9DEE2"/>
            </a:solidFill>
            <a:prstDash val="solid"/>
          </a:ln>
        </p:spPr>
      </p:sp>
      <p:sp>
        <p:nvSpPr>
          <p:cNvPr id="20" name="Text 17"/>
          <p:cNvSpPr txBox="1"/>
          <p:nvPr/>
        </p:nvSpPr>
        <p:spPr>
          <a:xfrm>
            <a:off x="3950208"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7</a:t>
            </a:r>
            <a:endParaRPr lang="en-US" sz="1300" dirty="0"/>
          </a:p>
        </p:txBody>
      </p:sp>
      <p:pic>
        <p:nvPicPr>
          <p:cNvPr id="21" name="Image 1" descr="/private/tmp/claude-501/-Users-salehhamed-Outcome-Engine/91861432-41e2-4884-bc97-63c6dff2d021/scratchpad/wk/icons/TbBuildingSkyscraper-teal.png">    </p:cNvPr>
          <p:cNvPicPr>
            <a:picLocks noChangeAspect="1"/>
          </p:cNvPicPr>
          <p:nvPr/>
        </p:nvPicPr>
        <p:blipFill>
          <a:blip r:embed="rId4"/>
          <a:stretch>
            <a:fillRect/>
          </a:stretch>
        </p:blipFill>
        <p:spPr>
          <a:xfrm>
            <a:off x="10927080" y="1261872"/>
            <a:ext cx="685800" cy="685800"/>
          </a:xfrm>
          <a:prstGeom prst="rect">
            <a:avLst/>
          </a:prstGeom>
        </p:spPr>
      </p:pic>
      <p:sp>
        <p:nvSpPr>
          <p:cNvPr id="22" name="Shape 18"/>
          <p:cNvSpPr/>
          <p:nvPr/>
        </p:nvSpPr>
        <p:spPr>
          <a:xfrm>
            <a:off x="548640" y="2057400"/>
            <a:ext cx="5349240" cy="2834640"/>
          </a:xfrm>
          <a:prstGeom prst="roundRect">
            <a:avLst>
              <a:gd name="adj" fmla="val 2581"/>
            </a:avLst>
          </a:prstGeom>
          <a:solidFill>
            <a:srgbClr val="F2F4F5"/>
          </a:solidFill>
          <a:ln w="12700">
            <a:solidFill>
              <a:srgbClr val="D9DEE2"/>
            </a:solidFill>
            <a:prstDash val="solid"/>
          </a:ln>
        </p:spPr>
      </p:sp>
      <p:sp>
        <p:nvSpPr>
          <p:cNvPr id="23" name="Shape 19"/>
          <p:cNvSpPr/>
          <p:nvPr/>
        </p:nvSpPr>
        <p:spPr>
          <a:xfrm>
            <a:off x="548640" y="2057400"/>
            <a:ext cx="5349240" cy="457200"/>
          </a:xfrm>
          <a:prstGeom prst="rect">
            <a:avLst/>
          </a:prstGeom>
          <a:solidFill>
            <a:srgbClr val="D9DEE2"/>
          </a:solidFill>
          <a:ln/>
        </p:spPr>
      </p:sp>
      <p:sp>
        <p:nvSpPr>
          <p:cNvPr id="24" name="Shape 20"/>
          <p:cNvSpPr/>
          <p:nvPr/>
        </p:nvSpPr>
        <p:spPr>
          <a:xfrm>
            <a:off x="713232" y="2212848"/>
            <a:ext cx="146304" cy="146304"/>
          </a:xfrm>
          <a:prstGeom prst="ellipse">
            <a:avLst/>
          </a:prstGeom>
          <a:solidFill>
            <a:srgbClr val="FF5F57"/>
          </a:solidFill>
          <a:ln/>
        </p:spPr>
      </p:sp>
      <p:sp>
        <p:nvSpPr>
          <p:cNvPr id="25" name="Shape 21"/>
          <p:cNvSpPr/>
          <p:nvPr/>
        </p:nvSpPr>
        <p:spPr>
          <a:xfrm>
            <a:off x="941832" y="2212848"/>
            <a:ext cx="146304" cy="146304"/>
          </a:xfrm>
          <a:prstGeom prst="ellipse">
            <a:avLst/>
          </a:prstGeom>
          <a:solidFill>
            <a:srgbClr val="FEBC2E"/>
          </a:solidFill>
          <a:ln/>
        </p:spPr>
      </p:sp>
      <p:sp>
        <p:nvSpPr>
          <p:cNvPr id="26" name="Shape 22"/>
          <p:cNvSpPr/>
          <p:nvPr/>
        </p:nvSpPr>
        <p:spPr>
          <a:xfrm>
            <a:off x="1170432" y="2212848"/>
            <a:ext cx="146304" cy="146304"/>
          </a:xfrm>
          <a:prstGeom prst="ellipse">
            <a:avLst/>
          </a:prstGeom>
          <a:solidFill>
            <a:srgbClr val="28C840"/>
          </a:solidFill>
          <a:ln/>
        </p:spPr>
      </p:sp>
      <p:sp>
        <p:nvSpPr>
          <p:cNvPr id="27" name="Text 23"/>
          <p:cNvSpPr txBox="1"/>
          <p:nvPr/>
        </p:nvSpPr>
        <p:spPr>
          <a:xfrm>
            <a:off x="1463040" y="2057400"/>
            <a:ext cx="4206240" cy="457200"/>
          </a:xfrm>
          <a:prstGeom prst="rect">
            <a:avLst/>
          </a:prstGeom>
          <a:noFill/>
          <a:ln/>
        </p:spPr>
        <p:txBody>
          <a:bodyPr wrap="square" lIns="0" tIns="0" rIns="0" bIns="0" rtlCol="0" anchor="ctr"/>
          <a:lstStyle/>
          <a:p>
            <a:pPr indent="0" marL="0">
              <a:buNone/>
            </a:pPr>
            <a:r>
              <a:rPr lang="en-US" sz="1200" b="1" spc="150" kern="0" dirty="0">
                <a:solidFill>
                  <a:srgbClr val="36454F"/>
                </a:solidFill>
                <a:latin typeface="Arial" pitchFamily="34" charset="0"/>
                <a:ea typeface="Arial" pitchFamily="34" charset="-122"/>
                <a:cs typeface="Arial" pitchFamily="34" charset="-120"/>
              </a:rPr>
              <a:t>THE RECORD SAID</a:t>
            </a:r>
            <a:endParaRPr lang="en-US" sz="1200" dirty="0"/>
          </a:p>
        </p:txBody>
      </p:sp>
      <p:sp>
        <p:nvSpPr>
          <p:cNvPr id="28" name="Text 24"/>
          <p:cNvSpPr txBox="1"/>
          <p:nvPr/>
        </p:nvSpPr>
        <p:spPr>
          <a:xfrm>
            <a:off x="822960" y="2697480"/>
            <a:ext cx="4800600" cy="2103120"/>
          </a:xfrm>
          <a:prstGeom prst="rect">
            <a:avLst/>
          </a:prstGeom>
          <a:noFill/>
          <a:ln/>
        </p:spPr>
        <p:txBody>
          <a:bodyPr wrap="square" lIns="0" tIns="0" rIns="0" bIns="0" rtlCol="0" anchor="t"/>
          <a:lstStyle/>
          <a:p>
            <a:pPr indent="0" marL="0">
              <a:buNone/>
            </a:pPr>
            <a:r>
              <a:rPr lang="en-US" sz="2200" dirty="0">
                <a:solidFill>
                  <a:srgbClr val="1F2A33"/>
                </a:solidFill>
                <a:latin typeface="Arial" pitchFamily="34" charset="0"/>
                <a:ea typeface="Arial" pitchFamily="34" charset="-122"/>
                <a:cs typeface="Arial" pitchFamily="34" charset="-120"/>
              </a:rPr>
              <a:t>Atlas shows the deal entering contract drafting on 8 September.</a:t>
            </a:r>
            <a:endParaRPr lang="en-US" sz="2200" dirty="0"/>
          </a:p>
        </p:txBody>
      </p:sp>
      <p:sp>
        <p:nvSpPr>
          <p:cNvPr id="29" name="Shape 25"/>
          <p:cNvSpPr/>
          <p:nvPr/>
        </p:nvSpPr>
        <p:spPr>
          <a:xfrm>
            <a:off x="6291072" y="2057400"/>
            <a:ext cx="5349240" cy="2834640"/>
          </a:xfrm>
          <a:prstGeom prst="roundRect">
            <a:avLst>
              <a:gd name="adj" fmla="val 2581"/>
            </a:avLst>
          </a:prstGeom>
          <a:solidFill>
            <a:srgbClr val="FFFFFF"/>
          </a:solidFill>
          <a:ln w="25400">
            <a:solidFill>
              <a:srgbClr val="287079"/>
            </a:solidFill>
            <a:prstDash val="solid"/>
          </a:ln>
        </p:spPr>
      </p:sp>
      <p:sp>
        <p:nvSpPr>
          <p:cNvPr id="30" name="Shape 26"/>
          <p:cNvSpPr/>
          <p:nvPr/>
        </p:nvSpPr>
        <p:spPr>
          <a:xfrm>
            <a:off x="6492240" y="2194560"/>
            <a:ext cx="502920" cy="502920"/>
          </a:xfrm>
          <a:prstGeom prst="ellipse">
            <a:avLst/>
          </a:prstGeom>
          <a:solidFill>
            <a:srgbClr val="287079"/>
          </a:solidFill>
          <a:ln/>
        </p:spPr>
      </p:sp>
      <p:pic>
        <p:nvPicPr>
          <p:cNvPr id="31" name="Image 2" descr="/private/tmp/claude-501/-Users-salehhamed-Outcome-Engine/91861432-41e2-4884-bc97-63c6dff2d021/scratchpad/wk/icons/TbEye-white.png">    </p:cNvPr>
          <p:cNvPicPr>
            <a:picLocks noChangeAspect="1"/>
          </p:cNvPicPr>
          <p:nvPr/>
        </p:nvPicPr>
        <p:blipFill>
          <a:blip r:embed="rId5"/>
          <a:stretch>
            <a:fillRect/>
          </a:stretch>
        </p:blipFill>
        <p:spPr>
          <a:xfrm>
            <a:off x="6592824" y="2295144"/>
            <a:ext cx="301752" cy="301752"/>
          </a:xfrm>
          <a:prstGeom prst="rect">
            <a:avLst/>
          </a:prstGeom>
        </p:spPr>
      </p:pic>
      <p:sp>
        <p:nvSpPr>
          <p:cNvPr id="32" name="Text 27"/>
          <p:cNvSpPr txBox="1"/>
          <p:nvPr/>
        </p:nvSpPr>
        <p:spPr>
          <a:xfrm>
            <a:off x="7132320" y="2194560"/>
            <a:ext cx="3657600" cy="502920"/>
          </a:xfrm>
          <a:prstGeom prst="rect">
            <a:avLst/>
          </a:prstGeom>
          <a:noFill/>
          <a:ln/>
        </p:spPr>
        <p:txBody>
          <a:bodyPr wrap="square" lIns="0" tIns="0" rIns="0" bIns="0" rtlCol="0" anchor="ctr"/>
          <a:lstStyle/>
          <a:p>
            <a:pPr indent="0" marL="0">
              <a:buNone/>
            </a:pPr>
            <a:r>
              <a:rPr lang="en-US" sz="1200" b="1" spc="150" kern="0" dirty="0">
                <a:solidFill>
                  <a:srgbClr val="287079"/>
                </a:solidFill>
                <a:latin typeface="Arial" pitchFamily="34" charset="0"/>
                <a:ea typeface="Arial" pitchFamily="34" charset="-122"/>
                <a:cs typeface="Arial" pitchFamily="34" charset="-120"/>
              </a:rPr>
              <a:t>WHAT WAS TRUE</a:t>
            </a:r>
            <a:endParaRPr lang="en-US" sz="1200" dirty="0"/>
          </a:p>
        </p:txBody>
      </p:sp>
      <p:sp>
        <p:nvSpPr>
          <p:cNvPr id="33" name="Text 28"/>
          <p:cNvSpPr txBox="1"/>
          <p:nvPr/>
        </p:nvSpPr>
        <p:spPr>
          <a:xfrm>
            <a:off x="6537960" y="2834640"/>
            <a:ext cx="4892040" cy="1965960"/>
          </a:xfrm>
          <a:prstGeom prst="rect">
            <a:avLst/>
          </a:prstGeom>
          <a:noFill/>
          <a:ln/>
        </p:spPr>
        <p:txBody>
          <a:bodyPr wrap="square" lIns="0" tIns="0" rIns="0" bIns="0" rtlCol="0" anchor="t"/>
          <a:lstStyle/>
          <a:p>
            <a:pPr indent="0" marL="0">
              <a:buNone/>
            </a:pPr>
            <a:r>
              <a:rPr lang="en-US" sz="2100" dirty="0">
                <a:solidFill>
                  <a:srgbClr val="1F2A33"/>
                </a:solidFill>
                <a:latin typeface="Arial" pitchFamily="34" charset="0"/>
                <a:ea typeface="Arial" pitchFamily="34" charset="-122"/>
                <a:cs typeface="Arial" pitchFamily="34" charset="-120"/>
              </a:rPr>
              <a:t>The client first raised it in April. Nobody decided whether it was real enough to prepare for.</a:t>
            </a:r>
            <a:endParaRPr lang="en-US" sz="2100" dirty="0"/>
          </a:p>
        </p:txBody>
      </p:sp>
      <p:sp>
        <p:nvSpPr>
          <p:cNvPr id="34" name="Shape 29"/>
          <p:cNvSpPr/>
          <p:nvPr/>
        </p:nvSpPr>
        <p:spPr>
          <a:xfrm>
            <a:off x="548640" y="5120640"/>
            <a:ext cx="11091672" cy="914400"/>
          </a:xfrm>
          <a:prstGeom prst="roundRect">
            <a:avLst>
              <a:gd name="adj" fmla="val 8000"/>
            </a:avLst>
          </a:prstGeom>
          <a:solidFill>
            <a:srgbClr val="FFF0EC"/>
          </a:solidFill>
          <a:ln/>
        </p:spPr>
      </p:sp>
      <p:pic>
        <p:nvPicPr>
          <p:cNvPr id="35" name="Image 3" descr="/private/tmp/claude-501/-Users-salehhamed-Outcome-Engine/91861432-41e2-4884-bc97-63c6dff2d021/scratchpad/wk/icons/TbBulb-red.png">    </p:cNvPr>
          <p:cNvPicPr>
            <a:picLocks noChangeAspect="1"/>
          </p:cNvPicPr>
          <p:nvPr/>
        </p:nvPicPr>
        <p:blipFill>
          <a:blip r:embed="rId6"/>
          <a:stretch>
            <a:fillRect/>
          </a:stretch>
        </p:blipFill>
        <p:spPr>
          <a:xfrm>
            <a:off x="822960" y="5285232"/>
            <a:ext cx="566928" cy="566928"/>
          </a:xfrm>
          <a:prstGeom prst="rect">
            <a:avLst/>
          </a:prstGeom>
        </p:spPr>
      </p:pic>
      <p:sp>
        <p:nvSpPr>
          <p:cNvPr id="36" name="Text 30"/>
          <p:cNvSpPr txBox="1"/>
          <p:nvPr/>
        </p:nvSpPr>
        <p:spPr>
          <a:xfrm>
            <a:off x="1600200" y="5120640"/>
            <a:ext cx="9875520" cy="914400"/>
          </a:xfrm>
          <a:prstGeom prst="rect">
            <a:avLst/>
          </a:prstGeom>
          <a:noFill/>
          <a:ln/>
        </p:spPr>
        <p:txBody>
          <a:bodyPr wrap="square" lIns="0" tIns="0" rIns="0" bIns="0" rtlCol="0" anchor="ctr"/>
          <a:lstStyle/>
          <a:p>
            <a:pPr indent="0" marL="0">
              <a:buNone/>
            </a:pPr>
            <a:r>
              <a:rPr lang="en-US" sz="2100" b="1" dirty="0">
                <a:solidFill>
                  <a:srgbClr val="FF462D"/>
                </a:solidFill>
                <a:latin typeface="Arial" pitchFamily="34" charset="0"/>
                <a:ea typeface="Arial" pitchFamily="34" charset="-122"/>
                <a:cs typeface="Arial" pitchFamily="34" charset="-120"/>
              </a:rPr>
              <a:t>Nobody decides when demand is real enough to start.</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THE NORTHGATE DEAL · RECORD OR REALITY?</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Stage 2 · Work becomes a staffing need</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27</a:t>
            </a:r>
            <a:endParaRPr lang="en-US" sz="1000" dirty="0"/>
          </a:p>
        </p:txBody>
      </p:sp>
      <p:sp>
        <p:nvSpPr>
          <p:cNvPr id="7" name="Shape 4"/>
          <p:cNvSpPr/>
          <p:nvPr/>
        </p:nvSpPr>
        <p:spPr>
          <a:xfrm>
            <a:off x="548640" y="1344168"/>
            <a:ext cx="420624" cy="420624"/>
          </a:xfrm>
          <a:prstGeom prst="ellipse">
            <a:avLst/>
          </a:prstGeom>
          <a:solidFill>
            <a:srgbClr val="E1EFF1"/>
          </a:solidFill>
          <a:ln w="15875">
            <a:solidFill>
              <a:srgbClr val="D9DEE2"/>
            </a:solidFill>
            <a:prstDash val="solid"/>
          </a:ln>
        </p:spPr>
      </p:sp>
      <p:sp>
        <p:nvSpPr>
          <p:cNvPr id="8" name="Text 5"/>
          <p:cNvSpPr txBox="1"/>
          <p:nvPr/>
        </p:nvSpPr>
        <p:spPr>
          <a:xfrm>
            <a:off x="548640"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1115568" y="1344168"/>
            <a:ext cx="420624" cy="420624"/>
          </a:xfrm>
          <a:prstGeom prst="ellipse">
            <a:avLst/>
          </a:prstGeom>
          <a:solidFill>
            <a:srgbClr val="FF462D"/>
          </a:solidFill>
          <a:ln/>
        </p:spPr>
      </p:sp>
      <p:sp>
        <p:nvSpPr>
          <p:cNvPr id="10" name="Text 7"/>
          <p:cNvSpPr txBox="1"/>
          <p:nvPr/>
        </p:nvSpPr>
        <p:spPr>
          <a:xfrm>
            <a:off x="1115568" y="1344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1682496" y="1344168"/>
            <a:ext cx="420624" cy="420624"/>
          </a:xfrm>
          <a:prstGeom prst="ellipse">
            <a:avLst/>
          </a:prstGeom>
          <a:solidFill>
            <a:srgbClr val="FFFFFF"/>
          </a:solidFill>
          <a:ln w="15875">
            <a:solidFill>
              <a:srgbClr val="D9DEE2"/>
            </a:solidFill>
            <a:prstDash val="solid"/>
          </a:ln>
        </p:spPr>
      </p:sp>
      <p:sp>
        <p:nvSpPr>
          <p:cNvPr id="12" name="Text 9"/>
          <p:cNvSpPr txBox="1"/>
          <p:nvPr/>
        </p:nvSpPr>
        <p:spPr>
          <a:xfrm>
            <a:off x="1682496"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2249424" y="1344168"/>
            <a:ext cx="420624" cy="420624"/>
          </a:xfrm>
          <a:prstGeom prst="ellipse">
            <a:avLst/>
          </a:prstGeom>
          <a:solidFill>
            <a:srgbClr val="FFFFFF"/>
          </a:solidFill>
          <a:ln w="15875">
            <a:solidFill>
              <a:srgbClr val="D9DEE2"/>
            </a:solidFill>
            <a:prstDash val="solid"/>
          </a:ln>
        </p:spPr>
      </p:sp>
      <p:sp>
        <p:nvSpPr>
          <p:cNvPr id="14" name="Text 11"/>
          <p:cNvSpPr txBox="1"/>
          <p:nvPr/>
        </p:nvSpPr>
        <p:spPr>
          <a:xfrm>
            <a:off x="2249424"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2816352" y="1344168"/>
            <a:ext cx="420624" cy="420624"/>
          </a:xfrm>
          <a:prstGeom prst="ellipse">
            <a:avLst/>
          </a:prstGeom>
          <a:solidFill>
            <a:srgbClr val="FFFFFF"/>
          </a:solidFill>
          <a:ln w="15875">
            <a:solidFill>
              <a:srgbClr val="D9DEE2"/>
            </a:solidFill>
            <a:prstDash val="solid"/>
          </a:ln>
        </p:spPr>
      </p:sp>
      <p:sp>
        <p:nvSpPr>
          <p:cNvPr id="16" name="Text 13"/>
          <p:cNvSpPr txBox="1"/>
          <p:nvPr/>
        </p:nvSpPr>
        <p:spPr>
          <a:xfrm>
            <a:off x="2816352"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3383280" y="1344168"/>
            <a:ext cx="420624" cy="420624"/>
          </a:xfrm>
          <a:prstGeom prst="ellipse">
            <a:avLst/>
          </a:prstGeom>
          <a:solidFill>
            <a:srgbClr val="FFFFFF"/>
          </a:solidFill>
          <a:ln w="15875">
            <a:solidFill>
              <a:srgbClr val="D9DEE2"/>
            </a:solidFill>
            <a:prstDash val="solid"/>
          </a:ln>
        </p:spPr>
      </p:sp>
      <p:sp>
        <p:nvSpPr>
          <p:cNvPr id="18" name="Text 15"/>
          <p:cNvSpPr txBox="1"/>
          <p:nvPr/>
        </p:nvSpPr>
        <p:spPr>
          <a:xfrm>
            <a:off x="3383280"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3950208" y="1344168"/>
            <a:ext cx="420624" cy="420624"/>
          </a:xfrm>
          <a:prstGeom prst="ellipse">
            <a:avLst/>
          </a:prstGeom>
          <a:solidFill>
            <a:srgbClr val="FFFFFF"/>
          </a:solidFill>
          <a:ln w="15875">
            <a:solidFill>
              <a:srgbClr val="D9DEE2"/>
            </a:solidFill>
            <a:prstDash val="solid"/>
          </a:ln>
        </p:spPr>
      </p:sp>
      <p:sp>
        <p:nvSpPr>
          <p:cNvPr id="20" name="Text 17"/>
          <p:cNvSpPr txBox="1"/>
          <p:nvPr/>
        </p:nvSpPr>
        <p:spPr>
          <a:xfrm>
            <a:off x="3950208"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7</a:t>
            </a:r>
            <a:endParaRPr lang="en-US" sz="1300" dirty="0"/>
          </a:p>
        </p:txBody>
      </p:sp>
      <p:pic>
        <p:nvPicPr>
          <p:cNvPr id="21" name="Image 1" descr="/private/tmp/claude-501/-Users-salehhamed-Outcome-Engine/91861432-41e2-4884-bc97-63c6dff2d021/scratchpad/wk/icons/TbFileText-teal.png">    </p:cNvPr>
          <p:cNvPicPr>
            <a:picLocks noChangeAspect="1"/>
          </p:cNvPicPr>
          <p:nvPr/>
        </p:nvPicPr>
        <p:blipFill>
          <a:blip r:embed="rId4"/>
          <a:stretch>
            <a:fillRect/>
          </a:stretch>
        </p:blipFill>
        <p:spPr>
          <a:xfrm>
            <a:off x="10927080" y="1261872"/>
            <a:ext cx="685800" cy="685800"/>
          </a:xfrm>
          <a:prstGeom prst="rect">
            <a:avLst/>
          </a:prstGeom>
        </p:spPr>
      </p:pic>
      <p:sp>
        <p:nvSpPr>
          <p:cNvPr id="22" name="Shape 18"/>
          <p:cNvSpPr/>
          <p:nvPr/>
        </p:nvSpPr>
        <p:spPr>
          <a:xfrm>
            <a:off x="548640" y="2057400"/>
            <a:ext cx="5349240" cy="2834640"/>
          </a:xfrm>
          <a:prstGeom prst="roundRect">
            <a:avLst>
              <a:gd name="adj" fmla="val 2581"/>
            </a:avLst>
          </a:prstGeom>
          <a:solidFill>
            <a:srgbClr val="F2F4F5"/>
          </a:solidFill>
          <a:ln w="12700">
            <a:solidFill>
              <a:srgbClr val="D9DEE2"/>
            </a:solidFill>
            <a:prstDash val="solid"/>
          </a:ln>
        </p:spPr>
      </p:sp>
      <p:sp>
        <p:nvSpPr>
          <p:cNvPr id="23" name="Shape 19"/>
          <p:cNvSpPr/>
          <p:nvPr/>
        </p:nvSpPr>
        <p:spPr>
          <a:xfrm>
            <a:off x="548640" y="2057400"/>
            <a:ext cx="5349240" cy="457200"/>
          </a:xfrm>
          <a:prstGeom prst="rect">
            <a:avLst/>
          </a:prstGeom>
          <a:solidFill>
            <a:srgbClr val="D9DEE2"/>
          </a:solidFill>
          <a:ln/>
        </p:spPr>
      </p:sp>
      <p:sp>
        <p:nvSpPr>
          <p:cNvPr id="24" name="Shape 20"/>
          <p:cNvSpPr/>
          <p:nvPr/>
        </p:nvSpPr>
        <p:spPr>
          <a:xfrm>
            <a:off x="713232" y="2212848"/>
            <a:ext cx="146304" cy="146304"/>
          </a:xfrm>
          <a:prstGeom prst="ellipse">
            <a:avLst/>
          </a:prstGeom>
          <a:solidFill>
            <a:srgbClr val="FF5F57"/>
          </a:solidFill>
          <a:ln/>
        </p:spPr>
      </p:sp>
      <p:sp>
        <p:nvSpPr>
          <p:cNvPr id="25" name="Shape 21"/>
          <p:cNvSpPr/>
          <p:nvPr/>
        </p:nvSpPr>
        <p:spPr>
          <a:xfrm>
            <a:off x="941832" y="2212848"/>
            <a:ext cx="146304" cy="146304"/>
          </a:xfrm>
          <a:prstGeom prst="ellipse">
            <a:avLst/>
          </a:prstGeom>
          <a:solidFill>
            <a:srgbClr val="FEBC2E"/>
          </a:solidFill>
          <a:ln/>
        </p:spPr>
      </p:sp>
      <p:sp>
        <p:nvSpPr>
          <p:cNvPr id="26" name="Shape 22"/>
          <p:cNvSpPr/>
          <p:nvPr/>
        </p:nvSpPr>
        <p:spPr>
          <a:xfrm>
            <a:off x="1170432" y="2212848"/>
            <a:ext cx="146304" cy="146304"/>
          </a:xfrm>
          <a:prstGeom prst="ellipse">
            <a:avLst/>
          </a:prstGeom>
          <a:solidFill>
            <a:srgbClr val="28C840"/>
          </a:solidFill>
          <a:ln/>
        </p:spPr>
      </p:sp>
      <p:sp>
        <p:nvSpPr>
          <p:cNvPr id="27" name="Text 23"/>
          <p:cNvSpPr txBox="1"/>
          <p:nvPr/>
        </p:nvSpPr>
        <p:spPr>
          <a:xfrm>
            <a:off x="1463040" y="2057400"/>
            <a:ext cx="4206240" cy="457200"/>
          </a:xfrm>
          <a:prstGeom prst="rect">
            <a:avLst/>
          </a:prstGeom>
          <a:noFill/>
          <a:ln/>
        </p:spPr>
        <p:txBody>
          <a:bodyPr wrap="square" lIns="0" tIns="0" rIns="0" bIns="0" rtlCol="0" anchor="ctr"/>
          <a:lstStyle/>
          <a:p>
            <a:pPr indent="0" marL="0">
              <a:buNone/>
            </a:pPr>
            <a:r>
              <a:rPr lang="en-US" sz="1200" b="1" spc="150" kern="0" dirty="0">
                <a:solidFill>
                  <a:srgbClr val="36454F"/>
                </a:solidFill>
                <a:latin typeface="Arial" pitchFamily="34" charset="0"/>
                <a:ea typeface="Arial" pitchFamily="34" charset="-122"/>
                <a:cs typeface="Arial" pitchFamily="34" charset="-120"/>
              </a:rPr>
              <a:t>THE RECORD SAID</a:t>
            </a:r>
            <a:endParaRPr lang="en-US" sz="1200" dirty="0"/>
          </a:p>
        </p:txBody>
      </p:sp>
      <p:sp>
        <p:nvSpPr>
          <p:cNvPr id="28" name="Text 24"/>
          <p:cNvSpPr txBox="1"/>
          <p:nvPr/>
        </p:nvSpPr>
        <p:spPr>
          <a:xfrm>
            <a:off x="822960" y="2697480"/>
            <a:ext cx="4800600" cy="2103120"/>
          </a:xfrm>
          <a:prstGeom prst="rect">
            <a:avLst/>
          </a:prstGeom>
          <a:noFill/>
          <a:ln/>
        </p:spPr>
        <p:txBody>
          <a:bodyPr wrap="square" lIns="0" tIns="0" rIns="0" bIns="0" rtlCol="0" anchor="t"/>
          <a:lstStyle/>
          <a:p>
            <a:pPr indent="0" marL="0">
              <a:buNone/>
            </a:pPr>
            <a:r>
              <a:rPr lang="en-US" sz="2200" dirty="0">
                <a:solidFill>
                  <a:srgbClr val="1F2A33"/>
                </a:solidFill>
                <a:latin typeface="Arial" pitchFamily="34" charset="0"/>
                <a:ea typeface="Arial" pitchFamily="34" charset="-122"/>
                <a:cs typeface="Arial" pitchFamily="34" charset="-120"/>
              </a:rPr>
              <a:t>The cost case prices six people across four roles, at Bands 6 and 7, by service.</a:t>
            </a:r>
            <a:endParaRPr lang="en-US" sz="2200" dirty="0"/>
          </a:p>
        </p:txBody>
      </p:sp>
      <p:sp>
        <p:nvSpPr>
          <p:cNvPr id="29" name="Shape 25"/>
          <p:cNvSpPr/>
          <p:nvPr/>
        </p:nvSpPr>
        <p:spPr>
          <a:xfrm>
            <a:off x="6291072" y="2057400"/>
            <a:ext cx="5349240" cy="2834640"/>
          </a:xfrm>
          <a:prstGeom prst="roundRect">
            <a:avLst>
              <a:gd name="adj" fmla="val 2581"/>
            </a:avLst>
          </a:prstGeom>
          <a:solidFill>
            <a:srgbClr val="FFFFFF"/>
          </a:solidFill>
          <a:ln w="25400">
            <a:solidFill>
              <a:srgbClr val="287079"/>
            </a:solidFill>
            <a:prstDash val="dash"/>
          </a:ln>
        </p:spPr>
      </p:sp>
      <p:sp>
        <p:nvSpPr>
          <p:cNvPr id="30" name="Text 26"/>
          <p:cNvSpPr txBox="1"/>
          <p:nvPr/>
        </p:nvSpPr>
        <p:spPr>
          <a:xfrm>
            <a:off x="6291072" y="2194560"/>
            <a:ext cx="5349240" cy="1463040"/>
          </a:xfrm>
          <a:prstGeom prst="rect">
            <a:avLst/>
          </a:prstGeom>
          <a:noFill/>
          <a:ln/>
        </p:spPr>
        <p:txBody>
          <a:bodyPr wrap="square" lIns="0" tIns="0" rIns="0" bIns="0" rtlCol="0" anchor="ctr"/>
          <a:lstStyle/>
          <a:p>
            <a:pPr algn="ctr" indent="0" marL="0">
              <a:buNone/>
            </a:pPr>
            <a:r>
              <a:rPr lang="en-US" sz="8000" b="1" dirty="0">
                <a:solidFill>
                  <a:srgbClr val="287079"/>
                </a:solidFill>
                <a:latin typeface="Arial" pitchFamily="34" charset="0"/>
                <a:ea typeface="Arial" pitchFamily="34" charset="-122"/>
                <a:cs typeface="Arial" pitchFamily="34" charset="-120"/>
              </a:rPr>
              <a:t>?</a:t>
            </a:r>
            <a:endParaRPr lang="en-US" sz="8000" dirty="0"/>
          </a:p>
        </p:txBody>
      </p:sp>
      <p:sp>
        <p:nvSpPr>
          <p:cNvPr id="31" name="Text 27"/>
          <p:cNvSpPr txBox="1"/>
          <p:nvPr/>
        </p:nvSpPr>
        <p:spPr>
          <a:xfrm>
            <a:off x="6492240" y="3749040"/>
            <a:ext cx="4937760" cy="731520"/>
          </a:xfrm>
          <a:prstGeom prst="rect">
            <a:avLst/>
          </a:prstGeom>
          <a:noFill/>
          <a:ln/>
        </p:spPr>
        <p:txBody>
          <a:bodyPr wrap="square" lIns="0" tIns="0" rIns="0" bIns="0" rtlCol="0" anchor="ctr"/>
          <a:lstStyle/>
          <a:p>
            <a:pPr algn="ctr" indent="0" marL="0">
              <a:buNone/>
            </a:pPr>
            <a:r>
              <a:rPr lang="en-US" sz="2000" b="1" dirty="0">
                <a:solidFill>
                  <a:srgbClr val="287079"/>
                </a:solidFill>
                <a:latin typeface="Arial" pitchFamily="34" charset="0"/>
                <a:ea typeface="Arial" pitchFamily="34" charset="-122"/>
                <a:cs typeface="Arial" pitchFamily="34" charset="-120"/>
              </a:rPr>
              <a:t>What was really true? Guess first.</a:t>
            </a:r>
            <a:endParaRPr lang="en-US" sz="2000" dirty="0"/>
          </a:p>
        </p:txBody>
      </p:sp>
      <p:sp>
        <p:nvSpPr>
          <p:cNvPr id="32" name="Shape 28"/>
          <p:cNvSpPr/>
          <p:nvPr/>
        </p:nvSpPr>
        <p:spPr>
          <a:xfrm>
            <a:off x="548640" y="5120640"/>
            <a:ext cx="11091672" cy="914400"/>
          </a:xfrm>
          <a:prstGeom prst="roundRect">
            <a:avLst>
              <a:gd name="adj" fmla="val 8000"/>
            </a:avLst>
          </a:prstGeom>
          <a:solidFill>
            <a:srgbClr val="F2F4F5"/>
          </a:solidFill>
          <a:ln/>
        </p:spPr>
      </p:sp>
      <p:pic>
        <p:nvPicPr>
          <p:cNvPr id="33" name="Image 2" descr="/private/tmp/claude-501/-Users-salehhamed-Outcome-Engine/91861432-41e2-4884-bc97-63c6dff2d021/scratchpad/wk/icons/TbMessageCircle-slate.png">    </p:cNvPr>
          <p:cNvPicPr>
            <a:picLocks noChangeAspect="1"/>
          </p:cNvPicPr>
          <p:nvPr/>
        </p:nvPicPr>
        <p:blipFill>
          <a:blip r:embed="rId5"/>
          <a:stretch>
            <a:fillRect/>
          </a:stretch>
        </p:blipFill>
        <p:spPr>
          <a:xfrm>
            <a:off x="822960" y="5285232"/>
            <a:ext cx="566928" cy="566928"/>
          </a:xfrm>
          <a:prstGeom prst="rect">
            <a:avLst/>
          </a:prstGeom>
        </p:spPr>
      </p:pic>
      <p:sp>
        <p:nvSpPr>
          <p:cNvPr id="34" name="Text 29"/>
          <p:cNvSpPr txBox="1"/>
          <p:nvPr/>
        </p:nvSpPr>
        <p:spPr>
          <a:xfrm>
            <a:off x="1600200" y="5120640"/>
            <a:ext cx="9875520" cy="914400"/>
          </a:xfrm>
          <a:prstGeom prst="rect">
            <a:avLst/>
          </a:prstGeom>
          <a:noFill/>
          <a:ln/>
        </p:spPr>
        <p:txBody>
          <a:bodyPr wrap="square" lIns="0" tIns="0" rIns="0" bIns="0" rtlCol="0" anchor="ctr"/>
          <a:lstStyle/>
          <a:p>
            <a:pPr indent="0" marL="0">
              <a:buNone/>
            </a:pPr>
            <a:r>
              <a:rPr lang="en-US" sz="2000" b="1" dirty="0">
                <a:solidFill>
                  <a:srgbClr val="36454F"/>
                </a:solidFill>
                <a:latin typeface="Arial" pitchFamily="34" charset="0"/>
                <a:ea typeface="Arial" pitchFamily="34" charset="-122"/>
                <a:cs typeface="Arial" pitchFamily="34" charset="-120"/>
              </a:rPr>
              <a:t>Would you have believed the record?</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THE NORTHGATE DEAL · WHAT WAS TRUE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Stage 2 · Work becomes a staffing need</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28</a:t>
            </a:r>
            <a:endParaRPr lang="en-US" sz="1000" dirty="0"/>
          </a:p>
        </p:txBody>
      </p:sp>
      <p:sp>
        <p:nvSpPr>
          <p:cNvPr id="7" name="Shape 4"/>
          <p:cNvSpPr/>
          <p:nvPr/>
        </p:nvSpPr>
        <p:spPr>
          <a:xfrm>
            <a:off x="548640" y="1344168"/>
            <a:ext cx="420624" cy="420624"/>
          </a:xfrm>
          <a:prstGeom prst="ellipse">
            <a:avLst/>
          </a:prstGeom>
          <a:solidFill>
            <a:srgbClr val="E1EFF1"/>
          </a:solidFill>
          <a:ln w="15875">
            <a:solidFill>
              <a:srgbClr val="D9DEE2"/>
            </a:solidFill>
            <a:prstDash val="solid"/>
          </a:ln>
        </p:spPr>
      </p:sp>
      <p:sp>
        <p:nvSpPr>
          <p:cNvPr id="8" name="Text 5"/>
          <p:cNvSpPr txBox="1"/>
          <p:nvPr/>
        </p:nvSpPr>
        <p:spPr>
          <a:xfrm>
            <a:off x="548640"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1115568" y="1344168"/>
            <a:ext cx="420624" cy="420624"/>
          </a:xfrm>
          <a:prstGeom prst="ellipse">
            <a:avLst/>
          </a:prstGeom>
          <a:solidFill>
            <a:srgbClr val="FF462D"/>
          </a:solidFill>
          <a:ln/>
        </p:spPr>
      </p:sp>
      <p:sp>
        <p:nvSpPr>
          <p:cNvPr id="10" name="Text 7"/>
          <p:cNvSpPr txBox="1"/>
          <p:nvPr/>
        </p:nvSpPr>
        <p:spPr>
          <a:xfrm>
            <a:off x="1115568" y="1344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1682496" y="1344168"/>
            <a:ext cx="420624" cy="420624"/>
          </a:xfrm>
          <a:prstGeom prst="ellipse">
            <a:avLst/>
          </a:prstGeom>
          <a:solidFill>
            <a:srgbClr val="FFFFFF"/>
          </a:solidFill>
          <a:ln w="15875">
            <a:solidFill>
              <a:srgbClr val="D9DEE2"/>
            </a:solidFill>
            <a:prstDash val="solid"/>
          </a:ln>
        </p:spPr>
      </p:sp>
      <p:sp>
        <p:nvSpPr>
          <p:cNvPr id="12" name="Text 9"/>
          <p:cNvSpPr txBox="1"/>
          <p:nvPr/>
        </p:nvSpPr>
        <p:spPr>
          <a:xfrm>
            <a:off x="1682496"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2249424" y="1344168"/>
            <a:ext cx="420624" cy="420624"/>
          </a:xfrm>
          <a:prstGeom prst="ellipse">
            <a:avLst/>
          </a:prstGeom>
          <a:solidFill>
            <a:srgbClr val="FFFFFF"/>
          </a:solidFill>
          <a:ln w="15875">
            <a:solidFill>
              <a:srgbClr val="D9DEE2"/>
            </a:solidFill>
            <a:prstDash val="solid"/>
          </a:ln>
        </p:spPr>
      </p:sp>
      <p:sp>
        <p:nvSpPr>
          <p:cNvPr id="14" name="Text 11"/>
          <p:cNvSpPr txBox="1"/>
          <p:nvPr/>
        </p:nvSpPr>
        <p:spPr>
          <a:xfrm>
            <a:off x="2249424"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2816352" y="1344168"/>
            <a:ext cx="420624" cy="420624"/>
          </a:xfrm>
          <a:prstGeom prst="ellipse">
            <a:avLst/>
          </a:prstGeom>
          <a:solidFill>
            <a:srgbClr val="FFFFFF"/>
          </a:solidFill>
          <a:ln w="15875">
            <a:solidFill>
              <a:srgbClr val="D9DEE2"/>
            </a:solidFill>
            <a:prstDash val="solid"/>
          </a:ln>
        </p:spPr>
      </p:sp>
      <p:sp>
        <p:nvSpPr>
          <p:cNvPr id="16" name="Text 13"/>
          <p:cNvSpPr txBox="1"/>
          <p:nvPr/>
        </p:nvSpPr>
        <p:spPr>
          <a:xfrm>
            <a:off x="2816352"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3383280" y="1344168"/>
            <a:ext cx="420624" cy="420624"/>
          </a:xfrm>
          <a:prstGeom prst="ellipse">
            <a:avLst/>
          </a:prstGeom>
          <a:solidFill>
            <a:srgbClr val="FFFFFF"/>
          </a:solidFill>
          <a:ln w="15875">
            <a:solidFill>
              <a:srgbClr val="D9DEE2"/>
            </a:solidFill>
            <a:prstDash val="solid"/>
          </a:ln>
        </p:spPr>
      </p:sp>
      <p:sp>
        <p:nvSpPr>
          <p:cNvPr id="18" name="Text 15"/>
          <p:cNvSpPr txBox="1"/>
          <p:nvPr/>
        </p:nvSpPr>
        <p:spPr>
          <a:xfrm>
            <a:off x="3383280"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3950208" y="1344168"/>
            <a:ext cx="420624" cy="420624"/>
          </a:xfrm>
          <a:prstGeom prst="ellipse">
            <a:avLst/>
          </a:prstGeom>
          <a:solidFill>
            <a:srgbClr val="FFFFFF"/>
          </a:solidFill>
          <a:ln w="15875">
            <a:solidFill>
              <a:srgbClr val="D9DEE2"/>
            </a:solidFill>
            <a:prstDash val="solid"/>
          </a:ln>
        </p:spPr>
      </p:sp>
      <p:sp>
        <p:nvSpPr>
          <p:cNvPr id="20" name="Text 17"/>
          <p:cNvSpPr txBox="1"/>
          <p:nvPr/>
        </p:nvSpPr>
        <p:spPr>
          <a:xfrm>
            <a:off x="3950208"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7</a:t>
            </a:r>
            <a:endParaRPr lang="en-US" sz="1300" dirty="0"/>
          </a:p>
        </p:txBody>
      </p:sp>
      <p:pic>
        <p:nvPicPr>
          <p:cNvPr id="21" name="Image 1" descr="/private/tmp/claude-501/-Users-salehhamed-Outcome-Engine/91861432-41e2-4884-bc97-63c6dff2d021/scratchpad/wk/icons/TbFileText-teal.png">    </p:cNvPr>
          <p:cNvPicPr>
            <a:picLocks noChangeAspect="1"/>
          </p:cNvPicPr>
          <p:nvPr/>
        </p:nvPicPr>
        <p:blipFill>
          <a:blip r:embed="rId4"/>
          <a:stretch>
            <a:fillRect/>
          </a:stretch>
        </p:blipFill>
        <p:spPr>
          <a:xfrm>
            <a:off x="10927080" y="1261872"/>
            <a:ext cx="685800" cy="685800"/>
          </a:xfrm>
          <a:prstGeom prst="rect">
            <a:avLst/>
          </a:prstGeom>
        </p:spPr>
      </p:pic>
      <p:sp>
        <p:nvSpPr>
          <p:cNvPr id="22" name="Shape 18"/>
          <p:cNvSpPr/>
          <p:nvPr/>
        </p:nvSpPr>
        <p:spPr>
          <a:xfrm>
            <a:off x="548640" y="2057400"/>
            <a:ext cx="5349240" cy="2834640"/>
          </a:xfrm>
          <a:prstGeom prst="roundRect">
            <a:avLst>
              <a:gd name="adj" fmla="val 2581"/>
            </a:avLst>
          </a:prstGeom>
          <a:solidFill>
            <a:srgbClr val="F2F4F5"/>
          </a:solidFill>
          <a:ln w="12700">
            <a:solidFill>
              <a:srgbClr val="D9DEE2"/>
            </a:solidFill>
            <a:prstDash val="solid"/>
          </a:ln>
        </p:spPr>
      </p:sp>
      <p:sp>
        <p:nvSpPr>
          <p:cNvPr id="23" name="Shape 19"/>
          <p:cNvSpPr/>
          <p:nvPr/>
        </p:nvSpPr>
        <p:spPr>
          <a:xfrm>
            <a:off x="548640" y="2057400"/>
            <a:ext cx="5349240" cy="457200"/>
          </a:xfrm>
          <a:prstGeom prst="rect">
            <a:avLst/>
          </a:prstGeom>
          <a:solidFill>
            <a:srgbClr val="D9DEE2"/>
          </a:solidFill>
          <a:ln/>
        </p:spPr>
      </p:sp>
      <p:sp>
        <p:nvSpPr>
          <p:cNvPr id="24" name="Shape 20"/>
          <p:cNvSpPr/>
          <p:nvPr/>
        </p:nvSpPr>
        <p:spPr>
          <a:xfrm>
            <a:off x="713232" y="2212848"/>
            <a:ext cx="146304" cy="146304"/>
          </a:xfrm>
          <a:prstGeom prst="ellipse">
            <a:avLst/>
          </a:prstGeom>
          <a:solidFill>
            <a:srgbClr val="FF5F57"/>
          </a:solidFill>
          <a:ln/>
        </p:spPr>
      </p:sp>
      <p:sp>
        <p:nvSpPr>
          <p:cNvPr id="25" name="Shape 21"/>
          <p:cNvSpPr/>
          <p:nvPr/>
        </p:nvSpPr>
        <p:spPr>
          <a:xfrm>
            <a:off x="941832" y="2212848"/>
            <a:ext cx="146304" cy="146304"/>
          </a:xfrm>
          <a:prstGeom prst="ellipse">
            <a:avLst/>
          </a:prstGeom>
          <a:solidFill>
            <a:srgbClr val="FEBC2E"/>
          </a:solidFill>
          <a:ln/>
        </p:spPr>
      </p:sp>
      <p:sp>
        <p:nvSpPr>
          <p:cNvPr id="26" name="Shape 22"/>
          <p:cNvSpPr/>
          <p:nvPr/>
        </p:nvSpPr>
        <p:spPr>
          <a:xfrm>
            <a:off x="1170432" y="2212848"/>
            <a:ext cx="146304" cy="146304"/>
          </a:xfrm>
          <a:prstGeom prst="ellipse">
            <a:avLst/>
          </a:prstGeom>
          <a:solidFill>
            <a:srgbClr val="28C840"/>
          </a:solidFill>
          <a:ln/>
        </p:spPr>
      </p:sp>
      <p:sp>
        <p:nvSpPr>
          <p:cNvPr id="27" name="Text 23"/>
          <p:cNvSpPr txBox="1"/>
          <p:nvPr/>
        </p:nvSpPr>
        <p:spPr>
          <a:xfrm>
            <a:off x="1463040" y="2057400"/>
            <a:ext cx="4206240" cy="457200"/>
          </a:xfrm>
          <a:prstGeom prst="rect">
            <a:avLst/>
          </a:prstGeom>
          <a:noFill/>
          <a:ln/>
        </p:spPr>
        <p:txBody>
          <a:bodyPr wrap="square" lIns="0" tIns="0" rIns="0" bIns="0" rtlCol="0" anchor="ctr"/>
          <a:lstStyle/>
          <a:p>
            <a:pPr indent="0" marL="0">
              <a:buNone/>
            </a:pPr>
            <a:r>
              <a:rPr lang="en-US" sz="1200" b="1" spc="150" kern="0" dirty="0">
                <a:solidFill>
                  <a:srgbClr val="36454F"/>
                </a:solidFill>
                <a:latin typeface="Arial" pitchFamily="34" charset="0"/>
                <a:ea typeface="Arial" pitchFamily="34" charset="-122"/>
                <a:cs typeface="Arial" pitchFamily="34" charset="-120"/>
              </a:rPr>
              <a:t>THE RECORD SAID</a:t>
            </a:r>
            <a:endParaRPr lang="en-US" sz="1200" dirty="0"/>
          </a:p>
        </p:txBody>
      </p:sp>
      <p:sp>
        <p:nvSpPr>
          <p:cNvPr id="28" name="Text 24"/>
          <p:cNvSpPr txBox="1"/>
          <p:nvPr/>
        </p:nvSpPr>
        <p:spPr>
          <a:xfrm>
            <a:off x="822960" y="2697480"/>
            <a:ext cx="4800600" cy="2103120"/>
          </a:xfrm>
          <a:prstGeom prst="rect">
            <a:avLst/>
          </a:prstGeom>
          <a:noFill/>
          <a:ln/>
        </p:spPr>
        <p:txBody>
          <a:bodyPr wrap="square" lIns="0" tIns="0" rIns="0" bIns="0" rtlCol="0" anchor="t"/>
          <a:lstStyle/>
          <a:p>
            <a:pPr indent="0" marL="0">
              <a:buNone/>
            </a:pPr>
            <a:r>
              <a:rPr lang="en-US" sz="2200" dirty="0">
                <a:solidFill>
                  <a:srgbClr val="1F2A33"/>
                </a:solidFill>
                <a:latin typeface="Arial" pitchFamily="34" charset="0"/>
                <a:ea typeface="Arial" pitchFamily="34" charset="-122"/>
                <a:cs typeface="Arial" pitchFamily="34" charset="-120"/>
              </a:rPr>
              <a:t>The cost case prices six people across four roles, at Bands 6 and 7, by service.</a:t>
            </a:r>
            <a:endParaRPr lang="en-US" sz="2200" dirty="0"/>
          </a:p>
        </p:txBody>
      </p:sp>
      <p:sp>
        <p:nvSpPr>
          <p:cNvPr id="29" name="Shape 25"/>
          <p:cNvSpPr/>
          <p:nvPr/>
        </p:nvSpPr>
        <p:spPr>
          <a:xfrm>
            <a:off x="6291072" y="2057400"/>
            <a:ext cx="5349240" cy="2834640"/>
          </a:xfrm>
          <a:prstGeom prst="roundRect">
            <a:avLst>
              <a:gd name="adj" fmla="val 2581"/>
            </a:avLst>
          </a:prstGeom>
          <a:solidFill>
            <a:srgbClr val="FFFFFF"/>
          </a:solidFill>
          <a:ln w="25400">
            <a:solidFill>
              <a:srgbClr val="287079"/>
            </a:solidFill>
            <a:prstDash val="solid"/>
          </a:ln>
        </p:spPr>
      </p:sp>
      <p:sp>
        <p:nvSpPr>
          <p:cNvPr id="30" name="Shape 26"/>
          <p:cNvSpPr/>
          <p:nvPr/>
        </p:nvSpPr>
        <p:spPr>
          <a:xfrm>
            <a:off x="6492240" y="2194560"/>
            <a:ext cx="502920" cy="502920"/>
          </a:xfrm>
          <a:prstGeom prst="ellipse">
            <a:avLst/>
          </a:prstGeom>
          <a:solidFill>
            <a:srgbClr val="287079"/>
          </a:solidFill>
          <a:ln/>
        </p:spPr>
      </p:sp>
      <p:pic>
        <p:nvPicPr>
          <p:cNvPr id="31" name="Image 2" descr="/private/tmp/claude-501/-Users-salehhamed-Outcome-Engine/91861432-41e2-4884-bc97-63c6dff2d021/scratchpad/wk/icons/TbEye-white.png">    </p:cNvPr>
          <p:cNvPicPr>
            <a:picLocks noChangeAspect="1"/>
          </p:cNvPicPr>
          <p:nvPr/>
        </p:nvPicPr>
        <p:blipFill>
          <a:blip r:embed="rId5"/>
          <a:stretch>
            <a:fillRect/>
          </a:stretch>
        </p:blipFill>
        <p:spPr>
          <a:xfrm>
            <a:off x="6592824" y="2295144"/>
            <a:ext cx="301752" cy="301752"/>
          </a:xfrm>
          <a:prstGeom prst="rect">
            <a:avLst/>
          </a:prstGeom>
        </p:spPr>
      </p:pic>
      <p:sp>
        <p:nvSpPr>
          <p:cNvPr id="32" name="Text 27"/>
          <p:cNvSpPr txBox="1"/>
          <p:nvPr/>
        </p:nvSpPr>
        <p:spPr>
          <a:xfrm>
            <a:off x="7132320" y="2194560"/>
            <a:ext cx="3657600" cy="502920"/>
          </a:xfrm>
          <a:prstGeom prst="rect">
            <a:avLst/>
          </a:prstGeom>
          <a:noFill/>
          <a:ln/>
        </p:spPr>
        <p:txBody>
          <a:bodyPr wrap="square" lIns="0" tIns="0" rIns="0" bIns="0" rtlCol="0" anchor="ctr"/>
          <a:lstStyle/>
          <a:p>
            <a:pPr indent="0" marL="0">
              <a:buNone/>
            </a:pPr>
            <a:r>
              <a:rPr lang="en-US" sz="1200" b="1" spc="150" kern="0" dirty="0">
                <a:solidFill>
                  <a:srgbClr val="287079"/>
                </a:solidFill>
                <a:latin typeface="Arial" pitchFamily="34" charset="0"/>
                <a:ea typeface="Arial" pitchFamily="34" charset="-122"/>
                <a:cs typeface="Arial" pitchFamily="34" charset="-120"/>
              </a:rPr>
              <a:t>WHAT WAS TRUE</a:t>
            </a:r>
            <a:endParaRPr lang="en-US" sz="1200" dirty="0"/>
          </a:p>
        </p:txBody>
      </p:sp>
      <p:sp>
        <p:nvSpPr>
          <p:cNvPr id="33" name="Text 28"/>
          <p:cNvSpPr txBox="1"/>
          <p:nvPr/>
        </p:nvSpPr>
        <p:spPr>
          <a:xfrm>
            <a:off x="6537960" y="2834640"/>
            <a:ext cx="4892040" cy="1965960"/>
          </a:xfrm>
          <a:prstGeom prst="rect">
            <a:avLst/>
          </a:prstGeom>
          <a:noFill/>
          <a:ln/>
        </p:spPr>
        <p:txBody>
          <a:bodyPr wrap="square" lIns="0" tIns="0" rIns="0" bIns="0" rtlCol="0" anchor="t"/>
          <a:lstStyle/>
          <a:p>
            <a:pPr indent="0" marL="0">
              <a:buNone/>
            </a:pPr>
            <a:r>
              <a:rPr lang="en-US" sz="2100" dirty="0">
                <a:solidFill>
                  <a:srgbClr val="1F2A33"/>
                </a:solidFill>
                <a:latin typeface="Arial" pitchFamily="34" charset="0"/>
                <a:ea typeface="Arial" pitchFamily="34" charset="-122"/>
                <a:cs typeface="Arial" pitchFamily="34" charset="-120"/>
              </a:rPr>
              <a:t>Nobody turned that into skills. One line says "knowledge transfer as agreed".</a:t>
            </a:r>
            <a:endParaRPr lang="en-US" sz="2100" dirty="0"/>
          </a:p>
        </p:txBody>
      </p:sp>
      <p:sp>
        <p:nvSpPr>
          <p:cNvPr id="34" name="Shape 29"/>
          <p:cNvSpPr/>
          <p:nvPr/>
        </p:nvSpPr>
        <p:spPr>
          <a:xfrm>
            <a:off x="548640" y="5120640"/>
            <a:ext cx="11091672" cy="914400"/>
          </a:xfrm>
          <a:prstGeom prst="roundRect">
            <a:avLst>
              <a:gd name="adj" fmla="val 8000"/>
            </a:avLst>
          </a:prstGeom>
          <a:solidFill>
            <a:srgbClr val="FFF0EC"/>
          </a:solidFill>
          <a:ln/>
        </p:spPr>
      </p:sp>
      <p:pic>
        <p:nvPicPr>
          <p:cNvPr id="35" name="Image 3" descr="/private/tmp/claude-501/-Users-salehhamed-Outcome-Engine/91861432-41e2-4884-bc97-63c6dff2d021/scratchpad/wk/icons/TbBulb-red.png">    </p:cNvPr>
          <p:cNvPicPr>
            <a:picLocks noChangeAspect="1"/>
          </p:cNvPicPr>
          <p:nvPr/>
        </p:nvPicPr>
        <p:blipFill>
          <a:blip r:embed="rId6"/>
          <a:stretch>
            <a:fillRect/>
          </a:stretch>
        </p:blipFill>
        <p:spPr>
          <a:xfrm>
            <a:off x="822960" y="5285232"/>
            <a:ext cx="566928" cy="566928"/>
          </a:xfrm>
          <a:prstGeom prst="rect">
            <a:avLst/>
          </a:prstGeom>
        </p:spPr>
      </p:pic>
      <p:sp>
        <p:nvSpPr>
          <p:cNvPr id="36" name="Text 30"/>
          <p:cNvSpPr txBox="1"/>
          <p:nvPr/>
        </p:nvSpPr>
        <p:spPr>
          <a:xfrm>
            <a:off x="1600200" y="5120640"/>
            <a:ext cx="9875520" cy="914400"/>
          </a:xfrm>
          <a:prstGeom prst="rect">
            <a:avLst/>
          </a:prstGeom>
          <a:noFill/>
          <a:ln/>
        </p:spPr>
        <p:txBody>
          <a:bodyPr wrap="square" lIns="0" tIns="0" rIns="0" bIns="0" rtlCol="0" anchor="ctr"/>
          <a:lstStyle/>
          <a:p>
            <a:pPr indent="0" marL="0">
              <a:buNone/>
            </a:pPr>
            <a:r>
              <a:rPr lang="en-US" sz="2100" b="1" dirty="0">
                <a:solidFill>
                  <a:srgbClr val="FF462D"/>
                </a:solidFill>
                <a:latin typeface="Arial" pitchFamily="34" charset="0"/>
                <a:ea typeface="Arial" pitchFamily="34" charset="-122"/>
                <a:cs typeface="Arial" pitchFamily="34" charset="-120"/>
              </a:rPr>
              <a:t>Sales and staffing describe the same work differently.</a:t>
            </a:r>
            <a:endParaRPr lang="en-US" sz="2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THE NORTHGATE DEAL · RECORD OR REALITY?</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Stage 3 · Staffing sees the request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29</a:t>
            </a:r>
            <a:endParaRPr lang="en-US" sz="1000" dirty="0"/>
          </a:p>
        </p:txBody>
      </p:sp>
      <p:sp>
        <p:nvSpPr>
          <p:cNvPr id="7" name="Shape 4"/>
          <p:cNvSpPr/>
          <p:nvPr/>
        </p:nvSpPr>
        <p:spPr>
          <a:xfrm>
            <a:off x="548640" y="1344168"/>
            <a:ext cx="420624" cy="420624"/>
          </a:xfrm>
          <a:prstGeom prst="ellipse">
            <a:avLst/>
          </a:prstGeom>
          <a:solidFill>
            <a:srgbClr val="E1EFF1"/>
          </a:solidFill>
          <a:ln w="15875">
            <a:solidFill>
              <a:srgbClr val="D9DEE2"/>
            </a:solidFill>
            <a:prstDash val="solid"/>
          </a:ln>
        </p:spPr>
      </p:sp>
      <p:sp>
        <p:nvSpPr>
          <p:cNvPr id="8" name="Text 5"/>
          <p:cNvSpPr txBox="1"/>
          <p:nvPr/>
        </p:nvSpPr>
        <p:spPr>
          <a:xfrm>
            <a:off x="548640"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1115568" y="1344168"/>
            <a:ext cx="420624" cy="420624"/>
          </a:xfrm>
          <a:prstGeom prst="ellipse">
            <a:avLst/>
          </a:prstGeom>
          <a:solidFill>
            <a:srgbClr val="E1EFF1"/>
          </a:solidFill>
          <a:ln w="15875">
            <a:solidFill>
              <a:srgbClr val="D9DEE2"/>
            </a:solidFill>
            <a:prstDash val="solid"/>
          </a:ln>
        </p:spPr>
      </p:sp>
      <p:sp>
        <p:nvSpPr>
          <p:cNvPr id="10" name="Text 7"/>
          <p:cNvSpPr txBox="1"/>
          <p:nvPr/>
        </p:nvSpPr>
        <p:spPr>
          <a:xfrm>
            <a:off x="1115568"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1682496" y="1344168"/>
            <a:ext cx="420624" cy="420624"/>
          </a:xfrm>
          <a:prstGeom prst="ellipse">
            <a:avLst/>
          </a:prstGeom>
          <a:solidFill>
            <a:srgbClr val="FF462D"/>
          </a:solidFill>
          <a:ln/>
        </p:spPr>
      </p:sp>
      <p:sp>
        <p:nvSpPr>
          <p:cNvPr id="12" name="Text 9"/>
          <p:cNvSpPr txBox="1"/>
          <p:nvPr/>
        </p:nvSpPr>
        <p:spPr>
          <a:xfrm>
            <a:off x="1682496" y="1344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2249424" y="1344168"/>
            <a:ext cx="420624" cy="420624"/>
          </a:xfrm>
          <a:prstGeom prst="ellipse">
            <a:avLst/>
          </a:prstGeom>
          <a:solidFill>
            <a:srgbClr val="FFFFFF"/>
          </a:solidFill>
          <a:ln w="15875">
            <a:solidFill>
              <a:srgbClr val="D9DEE2"/>
            </a:solidFill>
            <a:prstDash val="solid"/>
          </a:ln>
        </p:spPr>
      </p:sp>
      <p:sp>
        <p:nvSpPr>
          <p:cNvPr id="14" name="Text 11"/>
          <p:cNvSpPr txBox="1"/>
          <p:nvPr/>
        </p:nvSpPr>
        <p:spPr>
          <a:xfrm>
            <a:off x="2249424"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2816352" y="1344168"/>
            <a:ext cx="420624" cy="420624"/>
          </a:xfrm>
          <a:prstGeom prst="ellipse">
            <a:avLst/>
          </a:prstGeom>
          <a:solidFill>
            <a:srgbClr val="FFFFFF"/>
          </a:solidFill>
          <a:ln w="15875">
            <a:solidFill>
              <a:srgbClr val="D9DEE2"/>
            </a:solidFill>
            <a:prstDash val="solid"/>
          </a:ln>
        </p:spPr>
      </p:sp>
      <p:sp>
        <p:nvSpPr>
          <p:cNvPr id="16" name="Text 13"/>
          <p:cNvSpPr txBox="1"/>
          <p:nvPr/>
        </p:nvSpPr>
        <p:spPr>
          <a:xfrm>
            <a:off x="2816352"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3383280" y="1344168"/>
            <a:ext cx="420624" cy="420624"/>
          </a:xfrm>
          <a:prstGeom prst="ellipse">
            <a:avLst/>
          </a:prstGeom>
          <a:solidFill>
            <a:srgbClr val="FFFFFF"/>
          </a:solidFill>
          <a:ln w="15875">
            <a:solidFill>
              <a:srgbClr val="D9DEE2"/>
            </a:solidFill>
            <a:prstDash val="solid"/>
          </a:ln>
        </p:spPr>
      </p:sp>
      <p:sp>
        <p:nvSpPr>
          <p:cNvPr id="18" name="Text 15"/>
          <p:cNvSpPr txBox="1"/>
          <p:nvPr/>
        </p:nvSpPr>
        <p:spPr>
          <a:xfrm>
            <a:off x="3383280"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3950208" y="1344168"/>
            <a:ext cx="420624" cy="420624"/>
          </a:xfrm>
          <a:prstGeom prst="ellipse">
            <a:avLst/>
          </a:prstGeom>
          <a:solidFill>
            <a:srgbClr val="FFFFFF"/>
          </a:solidFill>
          <a:ln w="15875">
            <a:solidFill>
              <a:srgbClr val="D9DEE2"/>
            </a:solidFill>
            <a:prstDash val="solid"/>
          </a:ln>
        </p:spPr>
      </p:sp>
      <p:sp>
        <p:nvSpPr>
          <p:cNvPr id="20" name="Text 17"/>
          <p:cNvSpPr txBox="1"/>
          <p:nvPr/>
        </p:nvSpPr>
        <p:spPr>
          <a:xfrm>
            <a:off x="3950208"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7</a:t>
            </a:r>
            <a:endParaRPr lang="en-US" sz="1300" dirty="0"/>
          </a:p>
        </p:txBody>
      </p:sp>
      <p:pic>
        <p:nvPicPr>
          <p:cNvPr id="21" name="Image 1" descr="/private/tmp/claude-501/-Users-salehhamed-Outcome-Engine/91861432-41e2-4884-bc97-63c6dff2d021/scratchpad/wk/icons/TbInbox-teal.png">    </p:cNvPr>
          <p:cNvPicPr>
            <a:picLocks noChangeAspect="1"/>
          </p:cNvPicPr>
          <p:nvPr/>
        </p:nvPicPr>
        <p:blipFill>
          <a:blip r:embed="rId4"/>
          <a:stretch>
            <a:fillRect/>
          </a:stretch>
        </p:blipFill>
        <p:spPr>
          <a:xfrm>
            <a:off x="10927080" y="1261872"/>
            <a:ext cx="685800" cy="685800"/>
          </a:xfrm>
          <a:prstGeom prst="rect">
            <a:avLst/>
          </a:prstGeom>
        </p:spPr>
      </p:pic>
      <p:sp>
        <p:nvSpPr>
          <p:cNvPr id="22" name="Shape 18"/>
          <p:cNvSpPr/>
          <p:nvPr/>
        </p:nvSpPr>
        <p:spPr>
          <a:xfrm>
            <a:off x="548640" y="2057400"/>
            <a:ext cx="5349240" cy="2834640"/>
          </a:xfrm>
          <a:prstGeom prst="roundRect">
            <a:avLst>
              <a:gd name="adj" fmla="val 2581"/>
            </a:avLst>
          </a:prstGeom>
          <a:solidFill>
            <a:srgbClr val="F2F4F5"/>
          </a:solidFill>
          <a:ln w="12700">
            <a:solidFill>
              <a:srgbClr val="D9DEE2"/>
            </a:solidFill>
            <a:prstDash val="solid"/>
          </a:ln>
        </p:spPr>
      </p:sp>
      <p:sp>
        <p:nvSpPr>
          <p:cNvPr id="23" name="Shape 19"/>
          <p:cNvSpPr/>
          <p:nvPr/>
        </p:nvSpPr>
        <p:spPr>
          <a:xfrm>
            <a:off x="548640" y="2057400"/>
            <a:ext cx="5349240" cy="457200"/>
          </a:xfrm>
          <a:prstGeom prst="rect">
            <a:avLst/>
          </a:prstGeom>
          <a:solidFill>
            <a:srgbClr val="D9DEE2"/>
          </a:solidFill>
          <a:ln/>
        </p:spPr>
      </p:sp>
      <p:sp>
        <p:nvSpPr>
          <p:cNvPr id="24" name="Shape 20"/>
          <p:cNvSpPr/>
          <p:nvPr/>
        </p:nvSpPr>
        <p:spPr>
          <a:xfrm>
            <a:off x="713232" y="2212848"/>
            <a:ext cx="146304" cy="146304"/>
          </a:xfrm>
          <a:prstGeom prst="ellipse">
            <a:avLst/>
          </a:prstGeom>
          <a:solidFill>
            <a:srgbClr val="FF5F57"/>
          </a:solidFill>
          <a:ln/>
        </p:spPr>
      </p:sp>
      <p:sp>
        <p:nvSpPr>
          <p:cNvPr id="25" name="Shape 21"/>
          <p:cNvSpPr/>
          <p:nvPr/>
        </p:nvSpPr>
        <p:spPr>
          <a:xfrm>
            <a:off x="941832" y="2212848"/>
            <a:ext cx="146304" cy="146304"/>
          </a:xfrm>
          <a:prstGeom prst="ellipse">
            <a:avLst/>
          </a:prstGeom>
          <a:solidFill>
            <a:srgbClr val="FEBC2E"/>
          </a:solidFill>
          <a:ln/>
        </p:spPr>
      </p:sp>
      <p:sp>
        <p:nvSpPr>
          <p:cNvPr id="26" name="Shape 22"/>
          <p:cNvSpPr/>
          <p:nvPr/>
        </p:nvSpPr>
        <p:spPr>
          <a:xfrm>
            <a:off x="1170432" y="2212848"/>
            <a:ext cx="146304" cy="146304"/>
          </a:xfrm>
          <a:prstGeom prst="ellipse">
            <a:avLst/>
          </a:prstGeom>
          <a:solidFill>
            <a:srgbClr val="28C840"/>
          </a:solidFill>
          <a:ln/>
        </p:spPr>
      </p:sp>
      <p:sp>
        <p:nvSpPr>
          <p:cNvPr id="27" name="Text 23"/>
          <p:cNvSpPr txBox="1"/>
          <p:nvPr/>
        </p:nvSpPr>
        <p:spPr>
          <a:xfrm>
            <a:off x="1463040" y="2057400"/>
            <a:ext cx="4206240" cy="457200"/>
          </a:xfrm>
          <a:prstGeom prst="rect">
            <a:avLst/>
          </a:prstGeom>
          <a:noFill/>
          <a:ln/>
        </p:spPr>
        <p:txBody>
          <a:bodyPr wrap="square" lIns="0" tIns="0" rIns="0" bIns="0" rtlCol="0" anchor="ctr"/>
          <a:lstStyle/>
          <a:p>
            <a:pPr indent="0" marL="0">
              <a:buNone/>
            </a:pPr>
            <a:r>
              <a:rPr lang="en-US" sz="1200" b="1" spc="150" kern="0" dirty="0">
                <a:solidFill>
                  <a:srgbClr val="36454F"/>
                </a:solidFill>
                <a:latin typeface="Arial" pitchFamily="34" charset="0"/>
                <a:ea typeface="Arial" pitchFamily="34" charset="-122"/>
                <a:cs typeface="Arial" pitchFamily="34" charset="-120"/>
              </a:rPr>
              <a:t>THE RECORD SAID</a:t>
            </a:r>
            <a:endParaRPr lang="en-US" sz="1200" dirty="0"/>
          </a:p>
        </p:txBody>
      </p:sp>
      <p:sp>
        <p:nvSpPr>
          <p:cNvPr id="28" name="Text 24"/>
          <p:cNvSpPr txBox="1"/>
          <p:nvPr/>
        </p:nvSpPr>
        <p:spPr>
          <a:xfrm>
            <a:off x="822960" y="2697480"/>
            <a:ext cx="4800600" cy="2103120"/>
          </a:xfrm>
          <a:prstGeom prst="rect">
            <a:avLst/>
          </a:prstGeom>
          <a:noFill/>
          <a:ln/>
        </p:spPr>
        <p:txBody>
          <a:bodyPr wrap="square" lIns="0" tIns="0" rIns="0" bIns="0" rtlCol="0" anchor="t"/>
          <a:lstStyle/>
          <a:p>
            <a:pPr indent="0" marL="0">
              <a:buNone/>
            </a:pPr>
            <a:r>
              <a:rPr lang="en-US" sz="2200" dirty="0">
                <a:solidFill>
                  <a:srgbClr val="1F2A33"/>
                </a:solidFill>
                <a:latin typeface="Arial" pitchFamily="34" charset="0"/>
                <a:ea typeface="Arial" pitchFamily="34" charset="-122"/>
                <a:cs typeface="Arial" pitchFamily="34" charset="-120"/>
              </a:rPr>
              <a:t>The staffing request was raised three weeks before the start date.</a:t>
            </a:r>
            <a:endParaRPr lang="en-US" sz="2200" dirty="0"/>
          </a:p>
        </p:txBody>
      </p:sp>
      <p:sp>
        <p:nvSpPr>
          <p:cNvPr id="29" name="Shape 25"/>
          <p:cNvSpPr/>
          <p:nvPr/>
        </p:nvSpPr>
        <p:spPr>
          <a:xfrm>
            <a:off x="6291072" y="2057400"/>
            <a:ext cx="5349240" cy="2834640"/>
          </a:xfrm>
          <a:prstGeom prst="roundRect">
            <a:avLst>
              <a:gd name="adj" fmla="val 2581"/>
            </a:avLst>
          </a:prstGeom>
          <a:solidFill>
            <a:srgbClr val="FFFFFF"/>
          </a:solidFill>
          <a:ln w="25400">
            <a:solidFill>
              <a:srgbClr val="287079"/>
            </a:solidFill>
            <a:prstDash val="dash"/>
          </a:ln>
        </p:spPr>
      </p:sp>
      <p:sp>
        <p:nvSpPr>
          <p:cNvPr id="30" name="Text 26"/>
          <p:cNvSpPr txBox="1"/>
          <p:nvPr/>
        </p:nvSpPr>
        <p:spPr>
          <a:xfrm>
            <a:off x="6291072" y="2194560"/>
            <a:ext cx="5349240" cy="1463040"/>
          </a:xfrm>
          <a:prstGeom prst="rect">
            <a:avLst/>
          </a:prstGeom>
          <a:noFill/>
          <a:ln/>
        </p:spPr>
        <p:txBody>
          <a:bodyPr wrap="square" lIns="0" tIns="0" rIns="0" bIns="0" rtlCol="0" anchor="ctr"/>
          <a:lstStyle/>
          <a:p>
            <a:pPr algn="ctr" indent="0" marL="0">
              <a:buNone/>
            </a:pPr>
            <a:r>
              <a:rPr lang="en-US" sz="8000" b="1" dirty="0">
                <a:solidFill>
                  <a:srgbClr val="287079"/>
                </a:solidFill>
                <a:latin typeface="Arial" pitchFamily="34" charset="0"/>
                <a:ea typeface="Arial" pitchFamily="34" charset="-122"/>
                <a:cs typeface="Arial" pitchFamily="34" charset="-120"/>
              </a:rPr>
              <a:t>?</a:t>
            </a:r>
            <a:endParaRPr lang="en-US" sz="8000" dirty="0"/>
          </a:p>
        </p:txBody>
      </p:sp>
      <p:sp>
        <p:nvSpPr>
          <p:cNvPr id="31" name="Text 27"/>
          <p:cNvSpPr txBox="1"/>
          <p:nvPr/>
        </p:nvSpPr>
        <p:spPr>
          <a:xfrm>
            <a:off x="6492240" y="3749040"/>
            <a:ext cx="4937760" cy="731520"/>
          </a:xfrm>
          <a:prstGeom prst="rect">
            <a:avLst/>
          </a:prstGeom>
          <a:noFill/>
          <a:ln/>
        </p:spPr>
        <p:txBody>
          <a:bodyPr wrap="square" lIns="0" tIns="0" rIns="0" bIns="0" rtlCol="0" anchor="ctr"/>
          <a:lstStyle/>
          <a:p>
            <a:pPr algn="ctr" indent="0" marL="0">
              <a:buNone/>
            </a:pPr>
            <a:r>
              <a:rPr lang="en-US" sz="2000" b="1" dirty="0">
                <a:solidFill>
                  <a:srgbClr val="287079"/>
                </a:solidFill>
                <a:latin typeface="Arial" pitchFamily="34" charset="0"/>
                <a:ea typeface="Arial" pitchFamily="34" charset="-122"/>
                <a:cs typeface="Arial" pitchFamily="34" charset="-120"/>
              </a:rPr>
              <a:t>What was really true? Guess first.</a:t>
            </a:r>
            <a:endParaRPr lang="en-US" sz="2000" dirty="0"/>
          </a:p>
        </p:txBody>
      </p:sp>
      <p:sp>
        <p:nvSpPr>
          <p:cNvPr id="32" name="Shape 28"/>
          <p:cNvSpPr/>
          <p:nvPr/>
        </p:nvSpPr>
        <p:spPr>
          <a:xfrm>
            <a:off x="548640" y="5120640"/>
            <a:ext cx="11091672" cy="914400"/>
          </a:xfrm>
          <a:prstGeom prst="roundRect">
            <a:avLst>
              <a:gd name="adj" fmla="val 8000"/>
            </a:avLst>
          </a:prstGeom>
          <a:solidFill>
            <a:srgbClr val="F2F4F5"/>
          </a:solidFill>
          <a:ln/>
        </p:spPr>
      </p:sp>
      <p:pic>
        <p:nvPicPr>
          <p:cNvPr id="33" name="Image 2" descr="/private/tmp/claude-501/-Users-salehhamed-Outcome-Engine/91861432-41e2-4884-bc97-63c6dff2d021/scratchpad/wk/icons/TbMessageCircle-slate.png">    </p:cNvPr>
          <p:cNvPicPr>
            <a:picLocks noChangeAspect="1"/>
          </p:cNvPicPr>
          <p:nvPr/>
        </p:nvPicPr>
        <p:blipFill>
          <a:blip r:embed="rId5"/>
          <a:stretch>
            <a:fillRect/>
          </a:stretch>
        </p:blipFill>
        <p:spPr>
          <a:xfrm>
            <a:off x="822960" y="5285232"/>
            <a:ext cx="566928" cy="566928"/>
          </a:xfrm>
          <a:prstGeom prst="rect">
            <a:avLst/>
          </a:prstGeom>
        </p:spPr>
      </p:pic>
      <p:sp>
        <p:nvSpPr>
          <p:cNvPr id="34" name="Text 29"/>
          <p:cNvSpPr txBox="1"/>
          <p:nvPr/>
        </p:nvSpPr>
        <p:spPr>
          <a:xfrm>
            <a:off x="1600200" y="5120640"/>
            <a:ext cx="9875520" cy="914400"/>
          </a:xfrm>
          <a:prstGeom prst="rect">
            <a:avLst/>
          </a:prstGeom>
          <a:noFill/>
          <a:ln/>
        </p:spPr>
        <p:txBody>
          <a:bodyPr wrap="square" lIns="0" tIns="0" rIns="0" bIns="0" rtlCol="0" anchor="ctr"/>
          <a:lstStyle/>
          <a:p>
            <a:pPr indent="0" marL="0">
              <a:buNone/>
            </a:pPr>
            <a:r>
              <a:rPr lang="en-US" sz="2000" b="1" dirty="0">
                <a:solidFill>
                  <a:srgbClr val="36454F"/>
                </a:solidFill>
                <a:latin typeface="Arial" pitchFamily="34" charset="0"/>
                <a:ea typeface="Arial" pitchFamily="34" charset="-122"/>
                <a:cs typeface="Arial" pitchFamily="34" charset="-120"/>
              </a:rPr>
              <a:t>Would you have believed the record?</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THE NORTHGATE DEAL · WHAT WAS TRUE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Stage 3 · Staffing sees the request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30</a:t>
            </a:r>
            <a:endParaRPr lang="en-US" sz="1000" dirty="0"/>
          </a:p>
        </p:txBody>
      </p:sp>
      <p:sp>
        <p:nvSpPr>
          <p:cNvPr id="7" name="Shape 4"/>
          <p:cNvSpPr/>
          <p:nvPr/>
        </p:nvSpPr>
        <p:spPr>
          <a:xfrm>
            <a:off x="548640" y="1344168"/>
            <a:ext cx="420624" cy="420624"/>
          </a:xfrm>
          <a:prstGeom prst="ellipse">
            <a:avLst/>
          </a:prstGeom>
          <a:solidFill>
            <a:srgbClr val="E1EFF1"/>
          </a:solidFill>
          <a:ln w="15875">
            <a:solidFill>
              <a:srgbClr val="D9DEE2"/>
            </a:solidFill>
            <a:prstDash val="solid"/>
          </a:ln>
        </p:spPr>
      </p:sp>
      <p:sp>
        <p:nvSpPr>
          <p:cNvPr id="8" name="Text 5"/>
          <p:cNvSpPr txBox="1"/>
          <p:nvPr/>
        </p:nvSpPr>
        <p:spPr>
          <a:xfrm>
            <a:off x="548640"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1115568" y="1344168"/>
            <a:ext cx="420624" cy="420624"/>
          </a:xfrm>
          <a:prstGeom prst="ellipse">
            <a:avLst/>
          </a:prstGeom>
          <a:solidFill>
            <a:srgbClr val="E1EFF1"/>
          </a:solidFill>
          <a:ln w="15875">
            <a:solidFill>
              <a:srgbClr val="D9DEE2"/>
            </a:solidFill>
            <a:prstDash val="solid"/>
          </a:ln>
        </p:spPr>
      </p:sp>
      <p:sp>
        <p:nvSpPr>
          <p:cNvPr id="10" name="Text 7"/>
          <p:cNvSpPr txBox="1"/>
          <p:nvPr/>
        </p:nvSpPr>
        <p:spPr>
          <a:xfrm>
            <a:off x="1115568"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1682496" y="1344168"/>
            <a:ext cx="420624" cy="420624"/>
          </a:xfrm>
          <a:prstGeom prst="ellipse">
            <a:avLst/>
          </a:prstGeom>
          <a:solidFill>
            <a:srgbClr val="FF462D"/>
          </a:solidFill>
          <a:ln/>
        </p:spPr>
      </p:sp>
      <p:sp>
        <p:nvSpPr>
          <p:cNvPr id="12" name="Text 9"/>
          <p:cNvSpPr txBox="1"/>
          <p:nvPr/>
        </p:nvSpPr>
        <p:spPr>
          <a:xfrm>
            <a:off x="1682496" y="1344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2249424" y="1344168"/>
            <a:ext cx="420624" cy="420624"/>
          </a:xfrm>
          <a:prstGeom prst="ellipse">
            <a:avLst/>
          </a:prstGeom>
          <a:solidFill>
            <a:srgbClr val="FFFFFF"/>
          </a:solidFill>
          <a:ln w="15875">
            <a:solidFill>
              <a:srgbClr val="D9DEE2"/>
            </a:solidFill>
            <a:prstDash val="solid"/>
          </a:ln>
        </p:spPr>
      </p:sp>
      <p:sp>
        <p:nvSpPr>
          <p:cNvPr id="14" name="Text 11"/>
          <p:cNvSpPr txBox="1"/>
          <p:nvPr/>
        </p:nvSpPr>
        <p:spPr>
          <a:xfrm>
            <a:off x="2249424"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2816352" y="1344168"/>
            <a:ext cx="420624" cy="420624"/>
          </a:xfrm>
          <a:prstGeom prst="ellipse">
            <a:avLst/>
          </a:prstGeom>
          <a:solidFill>
            <a:srgbClr val="FFFFFF"/>
          </a:solidFill>
          <a:ln w="15875">
            <a:solidFill>
              <a:srgbClr val="D9DEE2"/>
            </a:solidFill>
            <a:prstDash val="solid"/>
          </a:ln>
        </p:spPr>
      </p:sp>
      <p:sp>
        <p:nvSpPr>
          <p:cNvPr id="16" name="Text 13"/>
          <p:cNvSpPr txBox="1"/>
          <p:nvPr/>
        </p:nvSpPr>
        <p:spPr>
          <a:xfrm>
            <a:off x="2816352"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3383280" y="1344168"/>
            <a:ext cx="420624" cy="420624"/>
          </a:xfrm>
          <a:prstGeom prst="ellipse">
            <a:avLst/>
          </a:prstGeom>
          <a:solidFill>
            <a:srgbClr val="FFFFFF"/>
          </a:solidFill>
          <a:ln w="15875">
            <a:solidFill>
              <a:srgbClr val="D9DEE2"/>
            </a:solidFill>
            <a:prstDash val="solid"/>
          </a:ln>
        </p:spPr>
      </p:sp>
      <p:sp>
        <p:nvSpPr>
          <p:cNvPr id="18" name="Text 15"/>
          <p:cNvSpPr txBox="1"/>
          <p:nvPr/>
        </p:nvSpPr>
        <p:spPr>
          <a:xfrm>
            <a:off x="3383280"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3950208" y="1344168"/>
            <a:ext cx="420624" cy="420624"/>
          </a:xfrm>
          <a:prstGeom prst="ellipse">
            <a:avLst/>
          </a:prstGeom>
          <a:solidFill>
            <a:srgbClr val="FFFFFF"/>
          </a:solidFill>
          <a:ln w="15875">
            <a:solidFill>
              <a:srgbClr val="D9DEE2"/>
            </a:solidFill>
            <a:prstDash val="solid"/>
          </a:ln>
        </p:spPr>
      </p:sp>
      <p:sp>
        <p:nvSpPr>
          <p:cNvPr id="20" name="Text 17"/>
          <p:cNvSpPr txBox="1"/>
          <p:nvPr/>
        </p:nvSpPr>
        <p:spPr>
          <a:xfrm>
            <a:off x="3950208"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7</a:t>
            </a:r>
            <a:endParaRPr lang="en-US" sz="1300" dirty="0"/>
          </a:p>
        </p:txBody>
      </p:sp>
      <p:pic>
        <p:nvPicPr>
          <p:cNvPr id="21" name="Image 1" descr="/private/tmp/claude-501/-Users-salehhamed-Outcome-Engine/91861432-41e2-4884-bc97-63c6dff2d021/scratchpad/wk/icons/TbInbox-teal.png">    </p:cNvPr>
          <p:cNvPicPr>
            <a:picLocks noChangeAspect="1"/>
          </p:cNvPicPr>
          <p:nvPr/>
        </p:nvPicPr>
        <p:blipFill>
          <a:blip r:embed="rId4"/>
          <a:stretch>
            <a:fillRect/>
          </a:stretch>
        </p:blipFill>
        <p:spPr>
          <a:xfrm>
            <a:off x="10927080" y="1261872"/>
            <a:ext cx="685800" cy="685800"/>
          </a:xfrm>
          <a:prstGeom prst="rect">
            <a:avLst/>
          </a:prstGeom>
        </p:spPr>
      </p:pic>
      <p:sp>
        <p:nvSpPr>
          <p:cNvPr id="22" name="Shape 18"/>
          <p:cNvSpPr/>
          <p:nvPr/>
        </p:nvSpPr>
        <p:spPr>
          <a:xfrm>
            <a:off x="548640" y="2057400"/>
            <a:ext cx="5349240" cy="2834640"/>
          </a:xfrm>
          <a:prstGeom prst="roundRect">
            <a:avLst>
              <a:gd name="adj" fmla="val 2581"/>
            </a:avLst>
          </a:prstGeom>
          <a:solidFill>
            <a:srgbClr val="F2F4F5"/>
          </a:solidFill>
          <a:ln w="12700">
            <a:solidFill>
              <a:srgbClr val="D9DEE2"/>
            </a:solidFill>
            <a:prstDash val="solid"/>
          </a:ln>
        </p:spPr>
      </p:sp>
      <p:sp>
        <p:nvSpPr>
          <p:cNvPr id="23" name="Shape 19"/>
          <p:cNvSpPr/>
          <p:nvPr/>
        </p:nvSpPr>
        <p:spPr>
          <a:xfrm>
            <a:off x="548640" y="2057400"/>
            <a:ext cx="5349240" cy="457200"/>
          </a:xfrm>
          <a:prstGeom prst="rect">
            <a:avLst/>
          </a:prstGeom>
          <a:solidFill>
            <a:srgbClr val="D9DEE2"/>
          </a:solidFill>
          <a:ln/>
        </p:spPr>
      </p:sp>
      <p:sp>
        <p:nvSpPr>
          <p:cNvPr id="24" name="Shape 20"/>
          <p:cNvSpPr/>
          <p:nvPr/>
        </p:nvSpPr>
        <p:spPr>
          <a:xfrm>
            <a:off x="713232" y="2212848"/>
            <a:ext cx="146304" cy="146304"/>
          </a:xfrm>
          <a:prstGeom prst="ellipse">
            <a:avLst/>
          </a:prstGeom>
          <a:solidFill>
            <a:srgbClr val="FF5F57"/>
          </a:solidFill>
          <a:ln/>
        </p:spPr>
      </p:sp>
      <p:sp>
        <p:nvSpPr>
          <p:cNvPr id="25" name="Shape 21"/>
          <p:cNvSpPr/>
          <p:nvPr/>
        </p:nvSpPr>
        <p:spPr>
          <a:xfrm>
            <a:off x="941832" y="2212848"/>
            <a:ext cx="146304" cy="146304"/>
          </a:xfrm>
          <a:prstGeom prst="ellipse">
            <a:avLst/>
          </a:prstGeom>
          <a:solidFill>
            <a:srgbClr val="FEBC2E"/>
          </a:solidFill>
          <a:ln/>
        </p:spPr>
      </p:sp>
      <p:sp>
        <p:nvSpPr>
          <p:cNvPr id="26" name="Shape 22"/>
          <p:cNvSpPr/>
          <p:nvPr/>
        </p:nvSpPr>
        <p:spPr>
          <a:xfrm>
            <a:off x="1170432" y="2212848"/>
            <a:ext cx="146304" cy="146304"/>
          </a:xfrm>
          <a:prstGeom prst="ellipse">
            <a:avLst/>
          </a:prstGeom>
          <a:solidFill>
            <a:srgbClr val="28C840"/>
          </a:solidFill>
          <a:ln/>
        </p:spPr>
      </p:sp>
      <p:sp>
        <p:nvSpPr>
          <p:cNvPr id="27" name="Text 23"/>
          <p:cNvSpPr txBox="1"/>
          <p:nvPr/>
        </p:nvSpPr>
        <p:spPr>
          <a:xfrm>
            <a:off x="1463040" y="2057400"/>
            <a:ext cx="4206240" cy="457200"/>
          </a:xfrm>
          <a:prstGeom prst="rect">
            <a:avLst/>
          </a:prstGeom>
          <a:noFill/>
          <a:ln/>
        </p:spPr>
        <p:txBody>
          <a:bodyPr wrap="square" lIns="0" tIns="0" rIns="0" bIns="0" rtlCol="0" anchor="ctr"/>
          <a:lstStyle/>
          <a:p>
            <a:pPr indent="0" marL="0">
              <a:buNone/>
            </a:pPr>
            <a:r>
              <a:rPr lang="en-US" sz="1200" b="1" spc="150" kern="0" dirty="0">
                <a:solidFill>
                  <a:srgbClr val="36454F"/>
                </a:solidFill>
                <a:latin typeface="Arial" pitchFamily="34" charset="0"/>
                <a:ea typeface="Arial" pitchFamily="34" charset="-122"/>
                <a:cs typeface="Arial" pitchFamily="34" charset="-120"/>
              </a:rPr>
              <a:t>THE RECORD SAID</a:t>
            </a:r>
            <a:endParaRPr lang="en-US" sz="1200" dirty="0"/>
          </a:p>
        </p:txBody>
      </p:sp>
      <p:sp>
        <p:nvSpPr>
          <p:cNvPr id="28" name="Text 24"/>
          <p:cNvSpPr txBox="1"/>
          <p:nvPr/>
        </p:nvSpPr>
        <p:spPr>
          <a:xfrm>
            <a:off x="822960" y="2697480"/>
            <a:ext cx="4800600" cy="2103120"/>
          </a:xfrm>
          <a:prstGeom prst="rect">
            <a:avLst/>
          </a:prstGeom>
          <a:noFill/>
          <a:ln/>
        </p:spPr>
        <p:txBody>
          <a:bodyPr wrap="square" lIns="0" tIns="0" rIns="0" bIns="0" rtlCol="0" anchor="t"/>
          <a:lstStyle/>
          <a:p>
            <a:pPr indent="0" marL="0">
              <a:buNone/>
            </a:pPr>
            <a:r>
              <a:rPr lang="en-US" sz="2200" dirty="0">
                <a:solidFill>
                  <a:srgbClr val="1F2A33"/>
                </a:solidFill>
                <a:latin typeface="Arial" pitchFamily="34" charset="0"/>
                <a:ea typeface="Arial" pitchFamily="34" charset="-122"/>
                <a:cs typeface="Arial" pitchFamily="34" charset="-120"/>
              </a:rPr>
              <a:t>The staffing request was raised three weeks before the start date.</a:t>
            </a:r>
            <a:endParaRPr lang="en-US" sz="2200" dirty="0"/>
          </a:p>
        </p:txBody>
      </p:sp>
      <p:sp>
        <p:nvSpPr>
          <p:cNvPr id="29" name="Shape 25"/>
          <p:cNvSpPr/>
          <p:nvPr/>
        </p:nvSpPr>
        <p:spPr>
          <a:xfrm>
            <a:off x="6291072" y="2057400"/>
            <a:ext cx="5349240" cy="2834640"/>
          </a:xfrm>
          <a:prstGeom prst="roundRect">
            <a:avLst>
              <a:gd name="adj" fmla="val 2581"/>
            </a:avLst>
          </a:prstGeom>
          <a:solidFill>
            <a:srgbClr val="FFFFFF"/>
          </a:solidFill>
          <a:ln w="25400">
            <a:solidFill>
              <a:srgbClr val="287079"/>
            </a:solidFill>
            <a:prstDash val="solid"/>
          </a:ln>
        </p:spPr>
      </p:sp>
      <p:sp>
        <p:nvSpPr>
          <p:cNvPr id="30" name="Shape 26"/>
          <p:cNvSpPr/>
          <p:nvPr/>
        </p:nvSpPr>
        <p:spPr>
          <a:xfrm>
            <a:off x="6492240" y="2194560"/>
            <a:ext cx="502920" cy="502920"/>
          </a:xfrm>
          <a:prstGeom prst="ellipse">
            <a:avLst/>
          </a:prstGeom>
          <a:solidFill>
            <a:srgbClr val="287079"/>
          </a:solidFill>
          <a:ln/>
        </p:spPr>
      </p:sp>
      <p:pic>
        <p:nvPicPr>
          <p:cNvPr id="31" name="Image 2" descr="/private/tmp/claude-501/-Users-salehhamed-Outcome-Engine/91861432-41e2-4884-bc97-63c6dff2d021/scratchpad/wk/icons/TbEye-white.png">    </p:cNvPr>
          <p:cNvPicPr>
            <a:picLocks noChangeAspect="1"/>
          </p:cNvPicPr>
          <p:nvPr/>
        </p:nvPicPr>
        <p:blipFill>
          <a:blip r:embed="rId5"/>
          <a:stretch>
            <a:fillRect/>
          </a:stretch>
        </p:blipFill>
        <p:spPr>
          <a:xfrm>
            <a:off x="6592824" y="2295144"/>
            <a:ext cx="301752" cy="301752"/>
          </a:xfrm>
          <a:prstGeom prst="rect">
            <a:avLst/>
          </a:prstGeom>
        </p:spPr>
      </p:pic>
      <p:sp>
        <p:nvSpPr>
          <p:cNvPr id="32" name="Text 27"/>
          <p:cNvSpPr txBox="1"/>
          <p:nvPr/>
        </p:nvSpPr>
        <p:spPr>
          <a:xfrm>
            <a:off x="7132320" y="2194560"/>
            <a:ext cx="3657600" cy="502920"/>
          </a:xfrm>
          <a:prstGeom prst="rect">
            <a:avLst/>
          </a:prstGeom>
          <a:noFill/>
          <a:ln/>
        </p:spPr>
        <p:txBody>
          <a:bodyPr wrap="square" lIns="0" tIns="0" rIns="0" bIns="0" rtlCol="0" anchor="ctr"/>
          <a:lstStyle/>
          <a:p>
            <a:pPr indent="0" marL="0">
              <a:buNone/>
            </a:pPr>
            <a:r>
              <a:rPr lang="en-US" sz="1200" b="1" spc="150" kern="0" dirty="0">
                <a:solidFill>
                  <a:srgbClr val="287079"/>
                </a:solidFill>
                <a:latin typeface="Arial" pitchFamily="34" charset="0"/>
                <a:ea typeface="Arial" pitchFamily="34" charset="-122"/>
                <a:cs typeface="Arial" pitchFamily="34" charset="-120"/>
              </a:rPr>
              <a:t>WHAT WAS TRUE</a:t>
            </a:r>
            <a:endParaRPr lang="en-US" sz="1200" dirty="0"/>
          </a:p>
        </p:txBody>
      </p:sp>
      <p:sp>
        <p:nvSpPr>
          <p:cNvPr id="33" name="Text 28"/>
          <p:cNvSpPr txBox="1"/>
          <p:nvPr/>
        </p:nvSpPr>
        <p:spPr>
          <a:xfrm>
            <a:off x="6537960" y="2834640"/>
            <a:ext cx="4892040" cy="1965960"/>
          </a:xfrm>
          <a:prstGeom prst="rect">
            <a:avLst/>
          </a:prstGeom>
          <a:noFill/>
          <a:ln/>
        </p:spPr>
        <p:txBody>
          <a:bodyPr wrap="square" lIns="0" tIns="0" rIns="0" bIns="0" rtlCol="0" anchor="t"/>
          <a:lstStyle/>
          <a:p>
            <a:pPr indent="0" marL="0">
              <a:buNone/>
            </a:pPr>
            <a:r>
              <a:rPr lang="en-US" sz="2100" dirty="0">
                <a:solidFill>
                  <a:srgbClr val="1F2A33"/>
                </a:solidFill>
                <a:latin typeface="Arial" pitchFamily="34" charset="0"/>
                <a:ea typeface="Arial" pitchFamily="34" charset="-122"/>
                <a:cs typeface="Arial" pitchFamily="34" charset="-120"/>
              </a:rPr>
              <a:t>Staffing heard about it in a corridor a month earlier, and some work had started outside the tools.</a:t>
            </a:r>
            <a:endParaRPr lang="en-US" sz="2100" dirty="0"/>
          </a:p>
        </p:txBody>
      </p:sp>
      <p:sp>
        <p:nvSpPr>
          <p:cNvPr id="34" name="Shape 29"/>
          <p:cNvSpPr/>
          <p:nvPr/>
        </p:nvSpPr>
        <p:spPr>
          <a:xfrm>
            <a:off x="548640" y="5120640"/>
            <a:ext cx="11091672" cy="914400"/>
          </a:xfrm>
          <a:prstGeom prst="roundRect">
            <a:avLst>
              <a:gd name="adj" fmla="val 8000"/>
            </a:avLst>
          </a:prstGeom>
          <a:solidFill>
            <a:srgbClr val="FFF0EC"/>
          </a:solidFill>
          <a:ln/>
        </p:spPr>
      </p:sp>
      <p:pic>
        <p:nvPicPr>
          <p:cNvPr id="35" name="Image 3" descr="/private/tmp/claude-501/-Users-salehhamed-Outcome-Engine/91861432-41e2-4884-bc97-63c6dff2d021/scratchpad/wk/icons/TbBulb-red.png">    </p:cNvPr>
          <p:cNvPicPr>
            <a:picLocks noChangeAspect="1"/>
          </p:cNvPicPr>
          <p:nvPr/>
        </p:nvPicPr>
        <p:blipFill>
          <a:blip r:embed="rId6"/>
          <a:stretch>
            <a:fillRect/>
          </a:stretch>
        </p:blipFill>
        <p:spPr>
          <a:xfrm>
            <a:off x="822960" y="5285232"/>
            <a:ext cx="566928" cy="566928"/>
          </a:xfrm>
          <a:prstGeom prst="rect">
            <a:avLst/>
          </a:prstGeom>
        </p:spPr>
      </p:pic>
      <p:sp>
        <p:nvSpPr>
          <p:cNvPr id="36" name="Text 30"/>
          <p:cNvSpPr txBox="1"/>
          <p:nvPr/>
        </p:nvSpPr>
        <p:spPr>
          <a:xfrm>
            <a:off x="1600200" y="5120640"/>
            <a:ext cx="9875520" cy="914400"/>
          </a:xfrm>
          <a:prstGeom prst="rect">
            <a:avLst/>
          </a:prstGeom>
          <a:noFill/>
          <a:ln/>
        </p:spPr>
        <p:txBody>
          <a:bodyPr wrap="square" lIns="0" tIns="0" rIns="0" bIns="0" rtlCol="0" anchor="ctr"/>
          <a:lstStyle/>
          <a:p>
            <a:pPr indent="0" marL="0">
              <a:buNone/>
            </a:pPr>
            <a:r>
              <a:rPr lang="en-US" sz="2100" b="1" dirty="0">
                <a:solidFill>
                  <a:srgbClr val="FF462D"/>
                </a:solidFill>
                <a:latin typeface="Arial" pitchFamily="34" charset="0"/>
                <a:ea typeface="Arial" pitchFamily="34" charset="-122"/>
                <a:cs typeface="Arial" pitchFamily="34" charset="-120"/>
              </a:rPr>
              <a:t>The request arrives late, and some staffing happens outside the tools.</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THE NORTHGATE DEAL · RECORD OR REALITY?</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Stage 4 · Who could do it, and who is free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31</a:t>
            </a:r>
            <a:endParaRPr lang="en-US" sz="1000" dirty="0"/>
          </a:p>
        </p:txBody>
      </p:sp>
      <p:sp>
        <p:nvSpPr>
          <p:cNvPr id="7" name="Shape 4"/>
          <p:cNvSpPr/>
          <p:nvPr/>
        </p:nvSpPr>
        <p:spPr>
          <a:xfrm>
            <a:off x="548640" y="1344168"/>
            <a:ext cx="420624" cy="420624"/>
          </a:xfrm>
          <a:prstGeom prst="ellipse">
            <a:avLst/>
          </a:prstGeom>
          <a:solidFill>
            <a:srgbClr val="E1EFF1"/>
          </a:solidFill>
          <a:ln w="15875">
            <a:solidFill>
              <a:srgbClr val="D9DEE2"/>
            </a:solidFill>
            <a:prstDash val="solid"/>
          </a:ln>
        </p:spPr>
      </p:sp>
      <p:sp>
        <p:nvSpPr>
          <p:cNvPr id="8" name="Text 5"/>
          <p:cNvSpPr txBox="1"/>
          <p:nvPr/>
        </p:nvSpPr>
        <p:spPr>
          <a:xfrm>
            <a:off x="548640"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1115568" y="1344168"/>
            <a:ext cx="420624" cy="420624"/>
          </a:xfrm>
          <a:prstGeom prst="ellipse">
            <a:avLst/>
          </a:prstGeom>
          <a:solidFill>
            <a:srgbClr val="E1EFF1"/>
          </a:solidFill>
          <a:ln w="15875">
            <a:solidFill>
              <a:srgbClr val="D9DEE2"/>
            </a:solidFill>
            <a:prstDash val="solid"/>
          </a:ln>
        </p:spPr>
      </p:sp>
      <p:sp>
        <p:nvSpPr>
          <p:cNvPr id="10" name="Text 7"/>
          <p:cNvSpPr txBox="1"/>
          <p:nvPr/>
        </p:nvSpPr>
        <p:spPr>
          <a:xfrm>
            <a:off x="1115568"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1682496" y="1344168"/>
            <a:ext cx="420624" cy="420624"/>
          </a:xfrm>
          <a:prstGeom prst="ellipse">
            <a:avLst/>
          </a:prstGeom>
          <a:solidFill>
            <a:srgbClr val="E1EFF1"/>
          </a:solidFill>
          <a:ln w="15875">
            <a:solidFill>
              <a:srgbClr val="D9DEE2"/>
            </a:solidFill>
            <a:prstDash val="solid"/>
          </a:ln>
        </p:spPr>
      </p:sp>
      <p:sp>
        <p:nvSpPr>
          <p:cNvPr id="12" name="Text 9"/>
          <p:cNvSpPr txBox="1"/>
          <p:nvPr/>
        </p:nvSpPr>
        <p:spPr>
          <a:xfrm>
            <a:off x="1682496"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2249424" y="1344168"/>
            <a:ext cx="420624" cy="420624"/>
          </a:xfrm>
          <a:prstGeom prst="ellipse">
            <a:avLst/>
          </a:prstGeom>
          <a:solidFill>
            <a:srgbClr val="FF462D"/>
          </a:solidFill>
          <a:ln/>
        </p:spPr>
      </p:sp>
      <p:sp>
        <p:nvSpPr>
          <p:cNvPr id="14" name="Text 11"/>
          <p:cNvSpPr txBox="1"/>
          <p:nvPr/>
        </p:nvSpPr>
        <p:spPr>
          <a:xfrm>
            <a:off x="2249424" y="1344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2816352" y="1344168"/>
            <a:ext cx="420624" cy="420624"/>
          </a:xfrm>
          <a:prstGeom prst="ellipse">
            <a:avLst/>
          </a:prstGeom>
          <a:solidFill>
            <a:srgbClr val="FFFFFF"/>
          </a:solidFill>
          <a:ln w="15875">
            <a:solidFill>
              <a:srgbClr val="D9DEE2"/>
            </a:solidFill>
            <a:prstDash val="solid"/>
          </a:ln>
        </p:spPr>
      </p:sp>
      <p:sp>
        <p:nvSpPr>
          <p:cNvPr id="16" name="Text 13"/>
          <p:cNvSpPr txBox="1"/>
          <p:nvPr/>
        </p:nvSpPr>
        <p:spPr>
          <a:xfrm>
            <a:off x="2816352"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3383280" y="1344168"/>
            <a:ext cx="420624" cy="420624"/>
          </a:xfrm>
          <a:prstGeom prst="ellipse">
            <a:avLst/>
          </a:prstGeom>
          <a:solidFill>
            <a:srgbClr val="FFFFFF"/>
          </a:solidFill>
          <a:ln w="15875">
            <a:solidFill>
              <a:srgbClr val="D9DEE2"/>
            </a:solidFill>
            <a:prstDash val="solid"/>
          </a:ln>
        </p:spPr>
      </p:sp>
      <p:sp>
        <p:nvSpPr>
          <p:cNvPr id="18" name="Text 15"/>
          <p:cNvSpPr txBox="1"/>
          <p:nvPr/>
        </p:nvSpPr>
        <p:spPr>
          <a:xfrm>
            <a:off x="3383280"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3950208" y="1344168"/>
            <a:ext cx="420624" cy="420624"/>
          </a:xfrm>
          <a:prstGeom prst="ellipse">
            <a:avLst/>
          </a:prstGeom>
          <a:solidFill>
            <a:srgbClr val="FFFFFF"/>
          </a:solidFill>
          <a:ln w="15875">
            <a:solidFill>
              <a:srgbClr val="D9DEE2"/>
            </a:solidFill>
            <a:prstDash val="solid"/>
          </a:ln>
        </p:spPr>
      </p:sp>
      <p:sp>
        <p:nvSpPr>
          <p:cNvPr id="20" name="Text 17"/>
          <p:cNvSpPr txBox="1"/>
          <p:nvPr/>
        </p:nvSpPr>
        <p:spPr>
          <a:xfrm>
            <a:off x="3950208"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7</a:t>
            </a:r>
            <a:endParaRPr lang="en-US" sz="1300" dirty="0"/>
          </a:p>
        </p:txBody>
      </p:sp>
      <p:pic>
        <p:nvPicPr>
          <p:cNvPr id="21" name="Image 1" descr="/private/tmp/claude-501/-Users-salehhamed-Outcome-Engine/91861432-41e2-4884-bc97-63c6dff2d021/scratchpad/wk/icons/TbUserSearch-teal.png">    </p:cNvPr>
          <p:cNvPicPr>
            <a:picLocks noChangeAspect="1"/>
          </p:cNvPicPr>
          <p:nvPr/>
        </p:nvPicPr>
        <p:blipFill>
          <a:blip r:embed="rId4"/>
          <a:stretch>
            <a:fillRect/>
          </a:stretch>
        </p:blipFill>
        <p:spPr>
          <a:xfrm>
            <a:off x="10927080" y="1261872"/>
            <a:ext cx="685800" cy="685800"/>
          </a:xfrm>
          <a:prstGeom prst="rect">
            <a:avLst/>
          </a:prstGeom>
        </p:spPr>
      </p:pic>
      <p:sp>
        <p:nvSpPr>
          <p:cNvPr id="22" name="Shape 18"/>
          <p:cNvSpPr/>
          <p:nvPr/>
        </p:nvSpPr>
        <p:spPr>
          <a:xfrm>
            <a:off x="548640" y="2057400"/>
            <a:ext cx="5349240" cy="2834640"/>
          </a:xfrm>
          <a:prstGeom prst="roundRect">
            <a:avLst>
              <a:gd name="adj" fmla="val 2581"/>
            </a:avLst>
          </a:prstGeom>
          <a:solidFill>
            <a:srgbClr val="F2F4F5"/>
          </a:solidFill>
          <a:ln w="12700">
            <a:solidFill>
              <a:srgbClr val="D9DEE2"/>
            </a:solidFill>
            <a:prstDash val="solid"/>
          </a:ln>
        </p:spPr>
      </p:sp>
      <p:sp>
        <p:nvSpPr>
          <p:cNvPr id="23" name="Shape 19"/>
          <p:cNvSpPr/>
          <p:nvPr/>
        </p:nvSpPr>
        <p:spPr>
          <a:xfrm>
            <a:off x="548640" y="2057400"/>
            <a:ext cx="5349240" cy="457200"/>
          </a:xfrm>
          <a:prstGeom prst="rect">
            <a:avLst/>
          </a:prstGeom>
          <a:solidFill>
            <a:srgbClr val="D9DEE2"/>
          </a:solidFill>
          <a:ln/>
        </p:spPr>
      </p:sp>
      <p:sp>
        <p:nvSpPr>
          <p:cNvPr id="24" name="Shape 20"/>
          <p:cNvSpPr/>
          <p:nvPr/>
        </p:nvSpPr>
        <p:spPr>
          <a:xfrm>
            <a:off x="713232" y="2212848"/>
            <a:ext cx="146304" cy="146304"/>
          </a:xfrm>
          <a:prstGeom prst="ellipse">
            <a:avLst/>
          </a:prstGeom>
          <a:solidFill>
            <a:srgbClr val="FF5F57"/>
          </a:solidFill>
          <a:ln/>
        </p:spPr>
      </p:sp>
      <p:sp>
        <p:nvSpPr>
          <p:cNvPr id="25" name="Shape 21"/>
          <p:cNvSpPr/>
          <p:nvPr/>
        </p:nvSpPr>
        <p:spPr>
          <a:xfrm>
            <a:off x="941832" y="2212848"/>
            <a:ext cx="146304" cy="146304"/>
          </a:xfrm>
          <a:prstGeom prst="ellipse">
            <a:avLst/>
          </a:prstGeom>
          <a:solidFill>
            <a:srgbClr val="FEBC2E"/>
          </a:solidFill>
          <a:ln/>
        </p:spPr>
      </p:sp>
      <p:sp>
        <p:nvSpPr>
          <p:cNvPr id="26" name="Shape 22"/>
          <p:cNvSpPr/>
          <p:nvPr/>
        </p:nvSpPr>
        <p:spPr>
          <a:xfrm>
            <a:off x="1170432" y="2212848"/>
            <a:ext cx="146304" cy="146304"/>
          </a:xfrm>
          <a:prstGeom prst="ellipse">
            <a:avLst/>
          </a:prstGeom>
          <a:solidFill>
            <a:srgbClr val="28C840"/>
          </a:solidFill>
          <a:ln/>
        </p:spPr>
      </p:sp>
      <p:sp>
        <p:nvSpPr>
          <p:cNvPr id="27" name="Text 23"/>
          <p:cNvSpPr txBox="1"/>
          <p:nvPr/>
        </p:nvSpPr>
        <p:spPr>
          <a:xfrm>
            <a:off x="1463040" y="2057400"/>
            <a:ext cx="4206240" cy="457200"/>
          </a:xfrm>
          <a:prstGeom prst="rect">
            <a:avLst/>
          </a:prstGeom>
          <a:noFill/>
          <a:ln/>
        </p:spPr>
        <p:txBody>
          <a:bodyPr wrap="square" lIns="0" tIns="0" rIns="0" bIns="0" rtlCol="0" anchor="ctr"/>
          <a:lstStyle/>
          <a:p>
            <a:pPr indent="0" marL="0">
              <a:buNone/>
            </a:pPr>
            <a:r>
              <a:rPr lang="en-US" sz="1200" b="1" spc="150" kern="0" dirty="0">
                <a:solidFill>
                  <a:srgbClr val="36454F"/>
                </a:solidFill>
                <a:latin typeface="Arial" pitchFamily="34" charset="0"/>
                <a:ea typeface="Arial" pitchFamily="34" charset="-122"/>
                <a:cs typeface="Arial" pitchFamily="34" charset="-120"/>
              </a:rPr>
              <a:t>THE RECORD SAID</a:t>
            </a:r>
            <a:endParaRPr lang="en-US" sz="1200" dirty="0"/>
          </a:p>
        </p:txBody>
      </p:sp>
      <p:sp>
        <p:nvSpPr>
          <p:cNvPr id="28" name="Text 24"/>
          <p:cNvSpPr txBox="1"/>
          <p:nvPr/>
        </p:nvSpPr>
        <p:spPr>
          <a:xfrm>
            <a:off x="822960" y="2697480"/>
            <a:ext cx="4800600" cy="2103120"/>
          </a:xfrm>
          <a:prstGeom prst="rect">
            <a:avLst/>
          </a:prstGeom>
          <a:noFill/>
          <a:ln/>
        </p:spPr>
        <p:txBody>
          <a:bodyPr wrap="square" lIns="0" tIns="0" rIns="0" bIns="0" rtlCol="0" anchor="t"/>
          <a:lstStyle/>
          <a:p>
            <a:pPr indent="0" marL="0">
              <a:buNone/>
            </a:pPr>
            <a:r>
              <a:rPr lang="en-US" sz="2200" dirty="0">
                <a:solidFill>
                  <a:srgbClr val="1F2A33"/>
                </a:solidFill>
                <a:latin typeface="Arial" pitchFamily="34" charset="0"/>
                <a:ea typeface="Arial" pitchFamily="34" charset="-122"/>
                <a:cs typeface="Arial" pitchFamily="34" charset="-120"/>
              </a:rPr>
              <a:t>Workday shows the cloud network engineer free from 1 November.</a:t>
            </a:r>
            <a:endParaRPr lang="en-US" sz="2200" dirty="0"/>
          </a:p>
        </p:txBody>
      </p:sp>
      <p:sp>
        <p:nvSpPr>
          <p:cNvPr id="29" name="Shape 25"/>
          <p:cNvSpPr/>
          <p:nvPr/>
        </p:nvSpPr>
        <p:spPr>
          <a:xfrm>
            <a:off x="6291072" y="2057400"/>
            <a:ext cx="5349240" cy="2834640"/>
          </a:xfrm>
          <a:prstGeom prst="roundRect">
            <a:avLst>
              <a:gd name="adj" fmla="val 2581"/>
            </a:avLst>
          </a:prstGeom>
          <a:solidFill>
            <a:srgbClr val="FFFFFF"/>
          </a:solidFill>
          <a:ln w="25400">
            <a:solidFill>
              <a:srgbClr val="287079"/>
            </a:solidFill>
            <a:prstDash val="dash"/>
          </a:ln>
        </p:spPr>
      </p:sp>
      <p:sp>
        <p:nvSpPr>
          <p:cNvPr id="30" name="Text 26"/>
          <p:cNvSpPr txBox="1"/>
          <p:nvPr/>
        </p:nvSpPr>
        <p:spPr>
          <a:xfrm>
            <a:off x="6291072" y="2194560"/>
            <a:ext cx="5349240" cy="1463040"/>
          </a:xfrm>
          <a:prstGeom prst="rect">
            <a:avLst/>
          </a:prstGeom>
          <a:noFill/>
          <a:ln/>
        </p:spPr>
        <p:txBody>
          <a:bodyPr wrap="square" lIns="0" tIns="0" rIns="0" bIns="0" rtlCol="0" anchor="ctr"/>
          <a:lstStyle/>
          <a:p>
            <a:pPr algn="ctr" indent="0" marL="0">
              <a:buNone/>
            </a:pPr>
            <a:r>
              <a:rPr lang="en-US" sz="8000" b="1" dirty="0">
                <a:solidFill>
                  <a:srgbClr val="287079"/>
                </a:solidFill>
                <a:latin typeface="Arial" pitchFamily="34" charset="0"/>
                <a:ea typeface="Arial" pitchFamily="34" charset="-122"/>
                <a:cs typeface="Arial" pitchFamily="34" charset="-120"/>
              </a:rPr>
              <a:t>?</a:t>
            </a:r>
            <a:endParaRPr lang="en-US" sz="8000" dirty="0"/>
          </a:p>
        </p:txBody>
      </p:sp>
      <p:sp>
        <p:nvSpPr>
          <p:cNvPr id="31" name="Text 27"/>
          <p:cNvSpPr txBox="1"/>
          <p:nvPr/>
        </p:nvSpPr>
        <p:spPr>
          <a:xfrm>
            <a:off x="6492240" y="3749040"/>
            <a:ext cx="4937760" cy="731520"/>
          </a:xfrm>
          <a:prstGeom prst="rect">
            <a:avLst/>
          </a:prstGeom>
          <a:noFill/>
          <a:ln/>
        </p:spPr>
        <p:txBody>
          <a:bodyPr wrap="square" lIns="0" tIns="0" rIns="0" bIns="0" rtlCol="0" anchor="ctr"/>
          <a:lstStyle/>
          <a:p>
            <a:pPr algn="ctr" indent="0" marL="0">
              <a:buNone/>
            </a:pPr>
            <a:r>
              <a:rPr lang="en-US" sz="2000" b="1" dirty="0">
                <a:solidFill>
                  <a:srgbClr val="287079"/>
                </a:solidFill>
                <a:latin typeface="Arial" pitchFamily="34" charset="0"/>
                <a:ea typeface="Arial" pitchFamily="34" charset="-122"/>
                <a:cs typeface="Arial" pitchFamily="34" charset="-120"/>
              </a:rPr>
              <a:t>What was really true? Guess first.</a:t>
            </a:r>
            <a:endParaRPr lang="en-US" sz="2000" dirty="0"/>
          </a:p>
        </p:txBody>
      </p:sp>
      <p:sp>
        <p:nvSpPr>
          <p:cNvPr id="32" name="Shape 28"/>
          <p:cNvSpPr/>
          <p:nvPr/>
        </p:nvSpPr>
        <p:spPr>
          <a:xfrm>
            <a:off x="548640" y="5120640"/>
            <a:ext cx="11091672" cy="914400"/>
          </a:xfrm>
          <a:prstGeom prst="roundRect">
            <a:avLst>
              <a:gd name="adj" fmla="val 8000"/>
            </a:avLst>
          </a:prstGeom>
          <a:solidFill>
            <a:srgbClr val="F2F4F5"/>
          </a:solidFill>
          <a:ln/>
        </p:spPr>
      </p:sp>
      <p:pic>
        <p:nvPicPr>
          <p:cNvPr id="33" name="Image 2" descr="/private/tmp/claude-501/-Users-salehhamed-Outcome-Engine/91861432-41e2-4884-bc97-63c6dff2d021/scratchpad/wk/icons/TbMessageCircle-slate.png">    </p:cNvPr>
          <p:cNvPicPr>
            <a:picLocks noChangeAspect="1"/>
          </p:cNvPicPr>
          <p:nvPr/>
        </p:nvPicPr>
        <p:blipFill>
          <a:blip r:embed="rId5"/>
          <a:stretch>
            <a:fillRect/>
          </a:stretch>
        </p:blipFill>
        <p:spPr>
          <a:xfrm>
            <a:off x="822960" y="5285232"/>
            <a:ext cx="566928" cy="566928"/>
          </a:xfrm>
          <a:prstGeom prst="rect">
            <a:avLst/>
          </a:prstGeom>
        </p:spPr>
      </p:pic>
      <p:sp>
        <p:nvSpPr>
          <p:cNvPr id="34" name="Text 29"/>
          <p:cNvSpPr txBox="1"/>
          <p:nvPr/>
        </p:nvSpPr>
        <p:spPr>
          <a:xfrm>
            <a:off x="1600200" y="5120640"/>
            <a:ext cx="9875520" cy="914400"/>
          </a:xfrm>
          <a:prstGeom prst="rect">
            <a:avLst/>
          </a:prstGeom>
          <a:noFill/>
          <a:ln/>
        </p:spPr>
        <p:txBody>
          <a:bodyPr wrap="square" lIns="0" tIns="0" rIns="0" bIns="0" rtlCol="0" anchor="ctr"/>
          <a:lstStyle/>
          <a:p>
            <a:pPr indent="0" marL="0">
              <a:buNone/>
            </a:pPr>
            <a:r>
              <a:rPr lang="en-US" sz="2000" b="1" dirty="0">
                <a:solidFill>
                  <a:srgbClr val="36454F"/>
                </a:solidFill>
                <a:latin typeface="Arial" pitchFamily="34" charset="0"/>
                <a:ea typeface="Arial" pitchFamily="34" charset="-122"/>
                <a:cs typeface="Arial" pitchFamily="34" charset="-120"/>
              </a:rPr>
              <a:t>Would you have believed the record?</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THE NORTHGATE DEAL · WHAT WAS TRUE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Stage 4 · Who could do it, and who is free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32</a:t>
            </a:r>
            <a:endParaRPr lang="en-US" sz="1000" dirty="0"/>
          </a:p>
        </p:txBody>
      </p:sp>
      <p:sp>
        <p:nvSpPr>
          <p:cNvPr id="7" name="Shape 4"/>
          <p:cNvSpPr/>
          <p:nvPr/>
        </p:nvSpPr>
        <p:spPr>
          <a:xfrm>
            <a:off x="548640" y="1344168"/>
            <a:ext cx="420624" cy="420624"/>
          </a:xfrm>
          <a:prstGeom prst="ellipse">
            <a:avLst/>
          </a:prstGeom>
          <a:solidFill>
            <a:srgbClr val="E1EFF1"/>
          </a:solidFill>
          <a:ln w="15875">
            <a:solidFill>
              <a:srgbClr val="D9DEE2"/>
            </a:solidFill>
            <a:prstDash val="solid"/>
          </a:ln>
        </p:spPr>
      </p:sp>
      <p:sp>
        <p:nvSpPr>
          <p:cNvPr id="8" name="Text 5"/>
          <p:cNvSpPr txBox="1"/>
          <p:nvPr/>
        </p:nvSpPr>
        <p:spPr>
          <a:xfrm>
            <a:off x="548640"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1115568" y="1344168"/>
            <a:ext cx="420624" cy="420624"/>
          </a:xfrm>
          <a:prstGeom prst="ellipse">
            <a:avLst/>
          </a:prstGeom>
          <a:solidFill>
            <a:srgbClr val="E1EFF1"/>
          </a:solidFill>
          <a:ln w="15875">
            <a:solidFill>
              <a:srgbClr val="D9DEE2"/>
            </a:solidFill>
            <a:prstDash val="solid"/>
          </a:ln>
        </p:spPr>
      </p:sp>
      <p:sp>
        <p:nvSpPr>
          <p:cNvPr id="10" name="Text 7"/>
          <p:cNvSpPr txBox="1"/>
          <p:nvPr/>
        </p:nvSpPr>
        <p:spPr>
          <a:xfrm>
            <a:off x="1115568"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1682496" y="1344168"/>
            <a:ext cx="420624" cy="420624"/>
          </a:xfrm>
          <a:prstGeom prst="ellipse">
            <a:avLst/>
          </a:prstGeom>
          <a:solidFill>
            <a:srgbClr val="E1EFF1"/>
          </a:solidFill>
          <a:ln w="15875">
            <a:solidFill>
              <a:srgbClr val="D9DEE2"/>
            </a:solidFill>
            <a:prstDash val="solid"/>
          </a:ln>
        </p:spPr>
      </p:sp>
      <p:sp>
        <p:nvSpPr>
          <p:cNvPr id="12" name="Text 9"/>
          <p:cNvSpPr txBox="1"/>
          <p:nvPr/>
        </p:nvSpPr>
        <p:spPr>
          <a:xfrm>
            <a:off x="1682496"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2249424" y="1344168"/>
            <a:ext cx="420624" cy="420624"/>
          </a:xfrm>
          <a:prstGeom prst="ellipse">
            <a:avLst/>
          </a:prstGeom>
          <a:solidFill>
            <a:srgbClr val="FF462D"/>
          </a:solidFill>
          <a:ln/>
        </p:spPr>
      </p:sp>
      <p:sp>
        <p:nvSpPr>
          <p:cNvPr id="14" name="Text 11"/>
          <p:cNvSpPr txBox="1"/>
          <p:nvPr/>
        </p:nvSpPr>
        <p:spPr>
          <a:xfrm>
            <a:off x="2249424" y="1344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2816352" y="1344168"/>
            <a:ext cx="420624" cy="420624"/>
          </a:xfrm>
          <a:prstGeom prst="ellipse">
            <a:avLst/>
          </a:prstGeom>
          <a:solidFill>
            <a:srgbClr val="FFFFFF"/>
          </a:solidFill>
          <a:ln w="15875">
            <a:solidFill>
              <a:srgbClr val="D9DEE2"/>
            </a:solidFill>
            <a:prstDash val="solid"/>
          </a:ln>
        </p:spPr>
      </p:sp>
      <p:sp>
        <p:nvSpPr>
          <p:cNvPr id="16" name="Text 13"/>
          <p:cNvSpPr txBox="1"/>
          <p:nvPr/>
        </p:nvSpPr>
        <p:spPr>
          <a:xfrm>
            <a:off x="2816352"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3383280" y="1344168"/>
            <a:ext cx="420624" cy="420624"/>
          </a:xfrm>
          <a:prstGeom prst="ellipse">
            <a:avLst/>
          </a:prstGeom>
          <a:solidFill>
            <a:srgbClr val="FFFFFF"/>
          </a:solidFill>
          <a:ln w="15875">
            <a:solidFill>
              <a:srgbClr val="D9DEE2"/>
            </a:solidFill>
            <a:prstDash val="solid"/>
          </a:ln>
        </p:spPr>
      </p:sp>
      <p:sp>
        <p:nvSpPr>
          <p:cNvPr id="18" name="Text 15"/>
          <p:cNvSpPr txBox="1"/>
          <p:nvPr/>
        </p:nvSpPr>
        <p:spPr>
          <a:xfrm>
            <a:off x="3383280"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3950208" y="1344168"/>
            <a:ext cx="420624" cy="420624"/>
          </a:xfrm>
          <a:prstGeom prst="ellipse">
            <a:avLst/>
          </a:prstGeom>
          <a:solidFill>
            <a:srgbClr val="FFFFFF"/>
          </a:solidFill>
          <a:ln w="15875">
            <a:solidFill>
              <a:srgbClr val="D9DEE2"/>
            </a:solidFill>
            <a:prstDash val="solid"/>
          </a:ln>
        </p:spPr>
      </p:sp>
      <p:sp>
        <p:nvSpPr>
          <p:cNvPr id="20" name="Text 17"/>
          <p:cNvSpPr txBox="1"/>
          <p:nvPr/>
        </p:nvSpPr>
        <p:spPr>
          <a:xfrm>
            <a:off x="3950208"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7</a:t>
            </a:r>
            <a:endParaRPr lang="en-US" sz="1300" dirty="0"/>
          </a:p>
        </p:txBody>
      </p:sp>
      <p:pic>
        <p:nvPicPr>
          <p:cNvPr id="21" name="Image 1" descr="/private/tmp/claude-501/-Users-salehhamed-Outcome-Engine/91861432-41e2-4884-bc97-63c6dff2d021/scratchpad/wk/icons/TbUserSearch-teal.png">    </p:cNvPr>
          <p:cNvPicPr>
            <a:picLocks noChangeAspect="1"/>
          </p:cNvPicPr>
          <p:nvPr/>
        </p:nvPicPr>
        <p:blipFill>
          <a:blip r:embed="rId4"/>
          <a:stretch>
            <a:fillRect/>
          </a:stretch>
        </p:blipFill>
        <p:spPr>
          <a:xfrm>
            <a:off x="10927080" y="1261872"/>
            <a:ext cx="685800" cy="685800"/>
          </a:xfrm>
          <a:prstGeom prst="rect">
            <a:avLst/>
          </a:prstGeom>
        </p:spPr>
      </p:pic>
      <p:sp>
        <p:nvSpPr>
          <p:cNvPr id="22" name="Shape 18"/>
          <p:cNvSpPr/>
          <p:nvPr/>
        </p:nvSpPr>
        <p:spPr>
          <a:xfrm>
            <a:off x="548640" y="2057400"/>
            <a:ext cx="5349240" cy="2834640"/>
          </a:xfrm>
          <a:prstGeom prst="roundRect">
            <a:avLst>
              <a:gd name="adj" fmla="val 2581"/>
            </a:avLst>
          </a:prstGeom>
          <a:solidFill>
            <a:srgbClr val="F2F4F5"/>
          </a:solidFill>
          <a:ln w="12700">
            <a:solidFill>
              <a:srgbClr val="D9DEE2"/>
            </a:solidFill>
            <a:prstDash val="solid"/>
          </a:ln>
        </p:spPr>
      </p:sp>
      <p:sp>
        <p:nvSpPr>
          <p:cNvPr id="23" name="Shape 19"/>
          <p:cNvSpPr/>
          <p:nvPr/>
        </p:nvSpPr>
        <p:spPr>
          <a:xfrm>
            <a:off x="548640" y="2057400"/>
            <a:ext cx="5349240" cy="457200"/>
          </a:xfrm>
          <a:prstGeom prst="rect">
            <a:avLst/>
          </a:prstGeom>
          <a:solidFill>
            <a:srgbClr val="D9DEE2"/>
          </a:solidFill>
          <a:ln/>
        </p:spPr>
      </p:sp>
      <p:sp>
        <p:nvSpPr>
          <p:cNvPr id="24" name="Shape 20"/>
          <p:cNvSpPr/>
          <p:nvPr/>
        </p:nvSpPr>
        <p:spPr>
          <a:xfrm>
            <a:off x="713232" y="2212848"/>
            <a:ext cx="146304" cy="146304"/>
          </a:xfrm>
          <a:prstGeom prst="ellipse">
            <a:avLst/>
          </a:prstGeom>
          <a:solidFill>
            <a:srgbClr val="FF5F57"/>
          </a:solidFill>
          <a:ln/>
        </p:spPr>
      </p:sp>
      <p:sp>
        <p:nvSpPr>
          <p:cNvPr id="25" name="Shape 21"/>
          <p:cNvSpPr/>
          <p:nvPr/>
        </p:nvSpPr>
        <p:spPr>
          <a:xfrm>
            <a:off x="941832" y="2212848"/>
            <a:ext cx="146304" cy="146304"/>
          </a:xfrm>
          <a:prstGeom prst="ellipse">
            <a:avLst/>
          </a:prstGeom>
          <a:solidFill>
            <a:srgbClr val="FEBC2E"/>
          </a:solidFill>
          <a:ln/>
        </p:spPr>
      </p:sp>
      <p:sp>
        <p:nvSpPr>
          <p:cNvPr id="26" name="Shape 22"/>
          <p:cNvSpPr/>
          <p:nvPr/>
        </p:nvSpPr>
        <p:spPr>
          <a:xfrm>
            <a:off x="1170432" y="2212848"/>
            <a:ext cx="146304" cy="146304"/>
          </a:xfrm>
          <a:prstGeom prst="ellipse">
            <a:avLst/>
          </a:prstGeom>
          <a:solidFill>
            <a:srgbClr val="28C840"/>
          </a:solidFill>
          <a:ln/>
        </p:spPr>
      </p:sp>
      <p:sp>
        <p:nvSpPr>
          <p:cNvPr id="27" name="Text 23"/>
          <p:cNvSpPr txBox="1"/>
          <p:nvPr/>
        </p:nvSpPr>
        <p:spPr>
          <a:xfrm>
            <a:off x="1463040" y="2057400"/>
            <a:ext cx="4206240" cy="457200"/>
          </a:xfrm>
          <a:prstGeom prst="rect">
            <a:avLst/>
          </a:prstGeom>
          <a:noFill/>
          <a:ln/>
        </p:spPr>
        <p:txBody>
          <a:bodyPr wrap="square" lIns="0" tIns="0" rIns="0" bIns="0" rtlCol="0" anchor="ctr"/>
          <a:lstStyle/>
          <a:p>
            <a:pPr indent="0" marL="0">
              <a:buNone/>
            </a:pPr>
            <a:r>
              <a:rPr lang="en-US" sz="1200" b="1" spc="150" kern="0" dirty="0">
                <a:solidFill>
                  <a:srgbClr val="36454F"/>
                </a:solidFill>
                <a:latin typeface="Arial" pitchFamily="34" charset="0"/>
                <a:ea typeface="Arial" pitchFamily="34" charset="-122"/>
                <a:cs typeface="Arial" pitchFamily="34" charset="-120"/>
              </a:rPr>
              <a:t>THE RECORD SAID</a:t>
            </a:r>
            <a:endParaRPr lang="en-US" sz="1200" dirty="0"/>
          </a:p>
        </p:txBody>
      </p:sp>
      <p:sp>
        <p:nvSpPr>
          <p:cNvPr id="28" name="Text 24"/>
          <p:cNvSpPr txBox="1"/>
          <p:nvPr/>
        </p:nvSpPr>
        <p:spPr>
          <a:xfrm>
            <a:off x="822960" y="2697480"/>
            <a:ext cx="4800600" cy="2103120"/>
          </a:xfrm>
          <a:prstGeom prst="rect">
            <a:avLst/>
          </a:prstGeom>
          <a:noFill/>
          <a:ln/>
        </p:spPr>
        <p:txBody>
          <a:bodyPr wrap="square" lIns="0" tIns="0" rIns="0" bIns="0" rtlCol="0" anchor="t"/>
          <a:lstStyle/>
          <a:p>
            <a:pPr indent="0" marL="0">
              <a:buNone/>
            </a:pPr>
            <a:r>
              <a:rPr lang="en-US" sz="2200" dirty="0">
                <a:solidFill>
                  <a:srgbClr val="1F2A33"/>
                </a:solidFill>
                <a:latin typeface="Arial" pitchFamily="34" charset="0"/>
                <a:ea typeface="Arial" pitchFamily="34" charset="-122"/>
                <a:cs typeface="Arial" pitchFamily="34" charset="-120"/>
              </a:rPr>
              <a:t>Workday shows the cloud network engineer free from 1 November.</a:t>
            </a:r>
            <a:endParaRPr lang="en-US" sz="2200" dirty="0"/>
          </a:p>
        </p:txBody>
      </p:sp>
      <p:sp>
        <p:nvSpPr>
          <p:cNvPr id="29" name="Shape 25"/>
          <p:cNvSpPr/>
          <p:nvPr/>
        </p:nvSpPr>
        <p:spPr>
          <a:xfrm>
            <a:off x="6291072" y="2057400"/>
            <a:ext cx="5349240" cy="2834640"/>
          </a:xfrm>
          <a:prstGeom prst="roundRect">
            <a:avLst>
              <a:gd name="adj" fmla="val 2581"/>
            </a:avLst>
          </a:prstGeom>
          <a:solidFill>
            <a:srgbClr val="FFFFFF"/>
          </a:solidFill>
          <a:ln w="25400">
            <a:solidFill>
              <a:srgbClr val="287079"/>
            </a:solidFill>
            <a:prstDash val="solid"/>
          </a:ln>
        </p:spPr>
      </p:sp>
      <p:sp>
        <p:nvSpPr>
          <p:cNvPr id="30" name="Shape 26"/>
          <p:cNvSpPr/>
          <p:nvPr/>
        </p:nvSpPr>
        <p:spPr>
          <a:xfrm>
            <a:off x="6492240" y="2194560"/>
            <a:ext cx="502920" cy="502920"/>
          </a:xfrm>
          <a:prstGeom prst="ellipse">
            <a:avLst/>
          </a:prstGeom>
          <a:solidFill>
            <a:srgbClr val="287079"/>
          </a:solidFill>
          <a:ln/>
        </p:spPr>
      </p:sp>
      <p:pic>
        <p:nvPicPr>
          <p:cNvPr id="31" name="Image 2" descr="/private/tmp/claude-501/-Users-salehhamed-Outcome-Engine/91861432-41e2-4884-bc97-63c6dff2d021/scratchpad/wk/icons/TbEye-white.png">    </p:cNvPr>
          <p:cNvPicPr>
            <a:picLocks noChangeAspect="1"/>
          </p:cNvPicPr>
          <p:nvPr/>
        </p:nvPicPr>
        <p:blipFill>
          <a:blip r:embed="rId5"/>
          <a:stretch>
            <a:fillRect/>
          </a:stretch>
        </p:blipFill>
        <p:spPr>
          <a:xfrm>
            <a:off x="6592824" y="2295144"/>
            <a:ext cx="301752" cy="301752"/>
          </a:xfrm>
          <a:prstGeom prst="rect">
            <a:avLst/>
          </a:prstGeom>
        </p:spPr>
      </p:pic>
      <p:sp>
        <p:nvSpPr>
          <p:cNvPr id="32" name="Text 27"/>
          <p:cNvSpPr txBox="1"/>
          <p:nvPr/>
        </p:nvSpPr>
        <p:spPr>
          <a:xfrm>
            <a:off x="7132320" y="2194560"/>
            <a:ext cx="3657600" cy="502920"/>
          </a:xfrm>
          <a:prstGeom prst="rect">
            <a:avLst/>
          </a:prstGeom>
          <a:noFill/>
          <a:ln/>
        </p:spPr>
        <p:txBody>
          <a:bodyPr wrap="square" lIns="0" tIns="0" rIns="0" bIns="0" rtlCol="0" anchor="ctr"/>
          <a:lstStyle/>
          <a:p>
            <a:pPr indent="0" marL="0">
              <a:buNone/>
            </a:pPr>
            <a:r>
              <a:rPr lang="en-US" sz="1200" b="1" spc="150" kern="0" dirty="0">
                <a:solidFill>
                  <a:srgbClr val="287079"/>
                </a:solidFill>
                <a:latin typeface="Arial" pitchFamily="34" charset="0"/>
                <a:ea typeface="Arial" pitchFamily="34" charset="-122"/>
                <a:cs typeface="Arial" pitchFamily="34" charset="-120"/>
              </a:rPr>
              <a:t>WHAT WAS TRUE</a:t>
            </a:r>
            <a:endParaRPr lang="en-US" sz="1200" dirty="0"/>
          </a:p>
        </p:txBody>
      </p:sp>
      <p:sp>
        <p:nvSpPr>
          <p:cNvPr id="33" name="Text 28"/>
          <p:cNvSpPr txBox="1"/>
          <p:nvPr/>
        </p:nvSpPr>
        <p:spPr>
          <a:xfrm>
            <a:off x="6537960" y="2834640"/>
            <a:ext cx="4892040" cy="1965960"/>
          </a:xfrm>
          <a:prstGeom prst="rect">
            <a:avLst/>
          </a:prstGeom>
          <a:noFill/>
          <a:ln/>
        </p:spPr>
        <p:txBody>
          <a:bodyPr wrap="square" lIns="0" tIns="0" rIns="0" bIns="0" rtlCol="0" anchor="t"/>
          <a:lstStyle/>
          <a:p>
            <a:pPr indent="0" marL="0">
              <a:buNone/>
            </a:pPr>
            <a:r>
              <a:rPr lang="en-US" sz="2100" dirty="0">
                <a:solidFill>
                  <a:srgbClr val="1F2A33"/>
                </a:solidFill>
                <a:latin typeface="Arial" pitchFamily="34" charset="0"/>
                <a:ea typeface="Arial" pitchFamily="34" charset="-122"/>
                <a:cs typeface="Arial" pitchFamily="34" charset="-120"/>
              </a:rPr>
              <a:t>Their current project runs to late November. Only their manager knew.</a:t>
            </a:r>
            <a:endParaRPr lang="en-US" sz="2100" dirty="0"/>
          </a:p>
        </p:txBody>
      </p:sp>
      <p:sp>
        <p:nvSpPr>
          <p:cNvPr id="34" name="Shape 29"/>
          <p:cNvSpPr/>
          <p:nvPr/>
        </p:nvSpPr>
        <p:spPr>
          <a:xfrm>
            <a:off x="548640" y="5120640"/>
            <a:ext cx="11091672" cy="914400"/>
          </a:xfrm>
          <a:prstGeom prst="roundRect">
            <a:avLst>
              <a:gd name="adj" fmla="val 8000"/>
            </a:avLst>
          </a:prstGeom>
          <a:solidFill>
            <a:srgbClr val="FFF0EC"/>
          </a:solidFill>
          <a:ln/>
        </p:spPr>
      </p:sp>
      <p:pic>
        <p:nvPicPr>
          <p:cNvPr id="35" name="Image 3" descr="/private/tmp/claude-501/-Users-salehhamed-Outcome-Engine/91861432-41e2-4884-bc97-63c6dff2d021/scratchpad/wk/icons/TbBulb-red.png">    </p:cNvPr>
          <p:cNvPicPr>
            <a:picLocks noChangeAspect="1"/>
          </p:cNvPicPr>
          <p:nvPr/>
        </p:nvPicPr>
        <p:blipFill>
          <a:blip r:embed="rId6"/>
          <a:stretch>
            <a:fillRect/>
          </a:stretch>
        </p:blipFill>
        <p:spPr>
          <a:xfrm>
            <a:off x="822960" y="5285232"/>
            <a:ext cx="566928" cy="566928"/>
          </a:xfrm>
          <a:prstGeom prst="rect">
            <a:avLst/>
          </a:prstGeom>
        </p:spPr>
      </p:pic>
      <p:sp>
        <p:nvSpPr>
          <p:cNvPr id="36" name="Text 30"/>
          <p:cNvSpPr txBox="1"/>
          <p:nvPr/>
        </p:nvSpPr>
        <p:spPr>
          <a:xfrm>
            <a:off x="1600200" y="5120640"/>
            <a:ext cx="9875520" cy="914400"/>
          </a:xfrm>
          <a:prstGeom prst="rect">
            <a:avLst/>
          </a:prstGeom>
          <a:noFill/>
          <a:ln/>
        </p:spPr>
        <p:txBody>
          <a:bodyPr wrap="square" lIns="0" tIns="0" rIns="0" bIns="0" rtlCol="0" anchor="ctr"/>
          <a:lstStyle/>
          <a:p>
            <a:pPr indent="0" marL="0">
              <a:buNone/>
            </a:pPr>
            <a:r>
              <a:rPr lang="en-US" sz="2100" b="1" dirty="0">
                <a:solidFill>
                  <a:srgbClr val="FF462D"/>
                </a:solidFill>
                <a:latin typeface="Arial" pitchFamily="34" charset="0"/>
                <a:ea typeface="Arial" pitchFamily="34" charset="-122"/>
                <a:cs typeface="Arial" pitchFamily="34" charset="-120"/>
              </a:rPr>
              <a:t>Free in the system is not free in reality.</a:t>
            </a:r>
            <a:endParaRPr lang="en-US" sz="2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THE NORTHGATE DEAL · RECORD OR REALITY?</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Stage 5 · Can they actually start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33</a:t>
            </a:r>
            <a:endParaRPr lang="en-US" sz="1000" dirty="0"/>
          </a:p>
        </p:txBody>
      </p:sp>
      <p:sp>
        <p:nvSpPr>
          <p:cNvPr id="7" name="Shape 4"/>
          <p:cNvSpPr/>
          <p:nvPr/>
        </p:nvSpPr>
        <p:spPr>
          <a:xfrm>
            <a:off x="548640" y="1344168"/>
            <a:ext cx="420624" cy="420624"/>
          </a:xfrm>
          <a:prstGeom prst="ellipse">
            <a:avLst/>
          </a:prstGeom>
          <a:solidFill>
            <a:srgbClr val="E1EFF1"/>
          </a:solidFill>
          <a:ln w="15875">
            <a:solidFill>
              <a:srgbClr val="D9DEE2"/>
            </a:solidFill>
            <a:prstDash val="solid"/>
          </a:ln>
        </p:spPr>
      </p:sp>
      <p:sp>
        <p:nvSpPr>
          <p:cNvPr id="8" name="Text 5"/>
          <p:cNvSpPr txBox="1"/>
          <p:nvPr/>
        </p:nvSpPr>
        <p:spPr>
          <a:xfrm>
            <a:off x="548640"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1115568" y="1344168"/>
            <a:ext cx="420624" cy="420624"/>
          </a:xfrm>
          <a:prstGeom prst="ellipse">
            <a:avLst/>
          </a:prstGeom>
          <a:solidFill>
            <a:srgbClr val="E1EFF1"/>
          </a:solidFill>
          <a:ln w="15875">
            <a:solidFill>
              <a:srgbClr val="D9DEE2"/>
            </a:solidFill>
            <a:prstDash val="solid"/>
          </a:ln>
        </p:spPr>
      </p:sp>
      <p:sp>
        <p:nvSpPr>
          <p:cNvPr id="10" name="Text 7"/>
          <p:cNvSpPr txBox="1"/>
          <p:nvPr/>
        </p:nvSpPr>
        <p:spPr>
          <a:xfrm>
            <a:off x="1115568"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1682496" y="1344168"/>
            <a:ext cx="420624" cy="420624"/>
          </a:xfrm>
          <a:prstGeom prst="ellipse">
            <a:avLst/>
          </a:prstGeom>
          <a:solidFill>
            <a:srgbClr val="E1EFF1"/>
          </a:solidFill>
          <a:ln w="15875">
            <a:solidFill>
              <a:srgbClr val="D9DEE2"/>
            </a:solidFill>
            <a:prstDash val="solid"/>
          </a:ln>
        </p:spPr>
      </p:sp>
      <p:sp>
        <p:nvSpPr>
          <p:cNvPr id="12" name="Text 9"/>
          <p:cNvSpPr txBox="1"/>
          <p:nvPr/>
        </p:nvSpPr>
        <p:spPr>
          <a:xfrm>
            <a:off x="1682496"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2249424" y="1344168"/>
            <a:ext cx="420624" cy="420624"/>
          </a:xfrm>
          <a:prstGeom prst="ellipse">
            <a:avLst/>
          </a:prstGeom>
          <a:solidFill>
            <a:srgbClr val="E1EFF1"/>
          </a:solidFill>
          <a:ln w="15875">
            <a:solidFill>
              <a:srgbClr val="D9DEE2"/>
            </a:solidFill>
            <a:prstDash val="solid"/>
          </a:ln>
        </p:spPr>
      </p:sp>
      <p:sp>
        <p:nvSpPr>
          <p:cNvPr id="14" name="Text 11"/>
          <p:cNvSpPr txBox="1"/>
          <p:nvPr/>
        </p:nvSpPr>
        <p:spPr>
          <a:xfrm>
            <a:off x="2249424"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2816352" y="1344168"/>
            <a:ext cx="420624" cy="420624"/>
          </a:xfrm>
          <a:prstGeom prst="ellipse">
            <a:avLst/>
          </a:prstGeom>
          <a:solidFill>
            <a:srgbClr val="FF462D"/>
          </a:solidFill>
          <a:ln/>
        </p:spPr>
      </p:sp>
      <p:sp>
        <p:nvSpPr>
          <p:cNvPr id="16" name="Text 13"/>
          <p:cNvSpPr txBox="1"/>
          <p:nvPr/>
        </p:nvSpPr>
        <p:spPr>
          <a:xfrm>
            <a:off x="2816352" y="1344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3383280" y="1344168"/>
            <a:ext cx="420624" cy="420624"/>
          </a:xfrm>
          <a:prstGeom prst="ellipse">
            <a:avLst/>
          </a:prstGeom>
          <a:solidFill>
            <a:srgbClr val="FFFFFF"/>
          </a:solidFill>
          <a:ln w="15875">
            <a:solidFill>
              <a:srgbClr val="D9DEE2"/>
            </a:solidFill>
            <a:prstDash val="solid"/>
          </a:ln>
        </p:spPr>
      </p:sp>
      <p:sp>
        <p:nvSpPr>
          <p:cNvPr id="18" name="Text 15"/>
          <p:cNvSpPr txBox="1"/>
          <p:nvPr/>
        </p:nvSpPr>
        <p:spPr>
          <a:xfrm>
            <a:off x="3383280"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3950208" y="1344168"/>
            <a:ext cx="420624" cy="420624"/>
          </a:xfrm>
          <a:prstGeom prst="ellipse">
            <a:avLst/>
          </a:prstGeom>
          <a:solidFill>
            <a:srgbClr val="FFFFFF"/>
          </a:solidFill>
          <a:ln w="15875">
            <a:solidFill>
              <a:srgbClr val="D9DEE2"/>
            </a:solidFill>
            <a:prstDash val="solid"/>
          </a:ln>
        </p:spPr>
      </p:sp>
      <p:sp>
        <p:nvSpPr>
          <p:cNvPr id="20" name="Text 17"/>
          <p:cNvSpPr txBox="1"/>
          <p:nvPr/>
        </p:nvSpPr>
        <p:spPr>
          <a:xfrm>
            <a:off x="3950208"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7</a:t>
            </a:r>
            <a:endParaRPr lang="en-US" sz="1300" dirty="0"/>
          </a:p>
        </p:txBody>
      </p:sp>
      <p:pic>
        <p:nvPicPr>
          <p:cNvPr id="21" name="Image 1" descr="/private/tmp/claude-501/-Users-salehhamed-Outcome-Engine/91861432-41e2-4884-bc97-63c6dff2d021/scratchpad/wk/icons/TbDoorExit-teal.png">    </p:cNvPr>
          <p:cNvPicPr>
            <a:picLocks noChangeAspect="1"/>
          </p:cNvPicPr>
          <p:nvPr/>
        </p:nvPicPr>
        <p:blipFill>
          <a:blip r:embed="rId4"/>
          <a:stretch>
            <a:fillRect/>
          </a:stretch>
        </p:blipFill>
        <p:spPr>
          <a:xfrm>
            <a:off x="10927080" y="1261872"/>
            <a:ext cx="685800" cy="685800"/>
          </a:xfrm>
          <a:prstGeom prst="rect">
            <a:avLst/>
          </a:prstGeom>
        </p:spPr>
      </p:pic>
      <p:sp>
        <p:nvSpPr>
          <p:cNvPr id="22" name="Shape 18"/>
          <p:cNvSpPr/>
          <p:nvPr/>
        </p:nvSpPr>
        <p:spPr>
          <a:xfrm>
            <a:off x="548640" y="2057400"/>
            <a:ext cx="5349240" cy="2834640"/>
          </a:xfrm>
          <a:prstGeom prst="roundRect">
            <a:avLst>
              <a:gd name="adj" fmla="val 2581"/>
            </a:avLst>
          </a:prstGeom>
          <a:solidFill>
            <a:srgbClr val="F2F4F5"/>
          </a:solidFill>
          <a:ln w="12700">
            <a:solidFill>
              <a:srgbClr val="D9DEE2"/>
            </a:solidFill>
            <a:prstDash val="solid"/>
          </a:ln>
        </p:spPr>
      </p:sp>
      <p:sp>
        <p:nvSpPr>
          <p:cNvPr id="23" name="Shape 19"/>
          <p:cNvSpPr/>
          <p:nvPr/>
        </p:nvSpPr>
        <p:spPr>
          <a:xfrm>
            <a:off x="548640" y="2057400"/>
            <a:ext cx="5349240" cy="457200"/>
          </a:xfrm>
          <a:prstGeom prst="rect">
            <a:avLst/>
          </a:prstGeom>
          <a:solidFill>
            <a:srgbClr val="D9DEE2"/>
          </a:solidFill>
          <a:ln/>
        </p:spPr>
      </p:sp>
      <p:sp>
        <p:nvSpPr>
          <p:cNvPr id="24" name="Shape 20"/>
          <p:cNvSpPr/>
          <p:nvPr/>
        </p:nvSpPr>
        <p:spPr>
          <a:xfrm>
            <a:off x="713232" y="2212848"/>
            <a:ext cx="146304" cy="146304"/>
          </a:xfrm>
          <a:prstGeom prst="ellipse">
            <a:avLst/>
          </a:prstGeom>
          <a:solidFill>
            <a:srgbClr val="FF5F57"/>
          </a:solidFill>
          <a:ln/>
        </p:spPr>
      </p:sp>
      <p:sp>
        <p:nvSpPr>
          <p:cNvPr id="25" name="Shape 21"/>
          <p:cNvSpPr/>
          <p:nvPr/>
        </p:nvSpPr>
        <p:spPr>
          <a:xfrm>
            <a:off x="941832" y="2212848"/>
            <a:ext cx="146304" cy="146304"/>
          </a:xfrm>
          <a:prstGeom prst="ellipse">
            <a:avLst/>
          </a:prstGeom>
          <a:solidFill>
            <a:srgbClr val="FEBC2E"/>
          </a:solidFill>
          <a:ln/>
        </p:spPr>
      </p:sp>
      <p:sp>
        <p:nvSpPr>
          <p:cNvPr id="26" name="Shape 22"/>
          <p:cNvSpPr/>
          <p:nvPr/>
        </p:nvSpPr>
        <p:spPr>
          <a:xfrm>
            <a:off x="1170432" y="2212848"/>
            <a:ext cx="146304" cy="146304"/>
          </a:xfrm>
          <a:prstGeom prst="ellipse">
            <a:avLst/>
          </a:prstGeom>
          <a:solidFill>
            <a:srgbClr val="28C840"/>
          </a:solidFill>
          <a:ln/>
        </p:spPr>
      </p:sp>
      <p:sp>
        <p:nvSpPr>
          <p:cNvPr id="27" name="Text 23"/>
          <p:cNvSpPr txBox="1"/>
          <p:nvPr/>
        </p:nvSpPr>
        <p:spPr>
          <a:xfrm>
            <a:off x="1463040" y="2057400"/>
            <a:ext cx="4206240" cy="457200"/>
          </a:xfrm>
          <a:prstGeom prst="rect">
            <a:avLst/>
          </a:prstGeom>
          <a:noFill/>
          <a:ln/>
        </p:spPr>
        <p:txBody>
          <a:bodyPr wrap="square" lIns="0" tIns="0" rIns="0" bIns="0" rtlCol="0" anchor="ctr"/>
          <a:lstStyle/>
          <a:p>
            <a:pPr indent="0" marL="0">
              <a:buNone/>
            </a:pPr>
            <a:r>
              <a:rPr lang="en-US" sz="1200" b="1" spc="150" kern="0" dirty="0">
                <a:solidFill>
                  <a:srgbClr val="36454F"/>
                </a:solidFill>
                <a:latin typeface="Arial" pitchFamily="34" charset="0"/>
                <a:ea typeface="Arial" pitchFamily="34" charset="-122"/>
                <a:cs typeface="Arial" pitchFamily="34" charset="-120"/>
              </a:rPr>
              <a:t>THE RECORD SAID</a:t>
            </a:r>
            <a:endParaRPr lang="en-US" sz="1200" dirty="0"/>
          </a:p>
        </p:txBody>
      </p:sp>
      <p:sp>
        <p:nvSpPr>
          <p:cNvPr id="28" name="Text 24"/>
          <p:cNvSpPr txBox="1"/>
          <p:nvPr/>
        </p:nvSpPr>
        <p:spPr>
          <a:xfrm>
            <a:off x="822960" y="2697480"/>
            <a:ext cx="4800600" cy="2103120"/>
          </a:xfrm>
          <a:prstGeom prst="rect">
            <a:avLst/>
          </a:prstGeom>
          <a:noFill/>
          <a:ln/>
        </p:spPr>
        <p:txBody>
          <a:bodyPr wrap="square" lIns="0" tIns="0" rIns="0" bIns="0" rtlCol="0" anchor="t"/>
          <a:lstStyle/>
          <a:p>
            <a:pPr indent="0" marL="0">
              <a:buNone/>
            </a:pPr>
            <a:r>
              <a:rPr lang="en-US" sz="2200" dirty="0">
                <a:solidFill>
                  <a:srgbClr val="1F2A33"/>
                </a:solidFill>
                <a:latin typeface="Arial" pitchFamily="34" charset="0"/>
                <a:ea typeface="Arial" pitchFamily="34" charset="-122"/>
                <a:cs typeface="Arial" pitchFamily="34" charset="-120"/>
              </a:rPr>
              <a:t>Nothing. Nobody asked.</a:t>
            </a:r>
            <a:endParaRPr lang="en-US" sz="2200" dirty="0"/>
          </a:p>
        </p:txBody>
      </p:sp>
      <p:sp>
        <p:nvSpPr>
          <p:cNvPr id="29" name="Shape 25"/>
          <p:cNvSpPr/>
          <p:nvPr/>
        </p:nvSpPr>
        <p:spPr>
          <a:xfrm>
            <a:off x="6291072" y="2057400"/>
            <a:ext cx="5349240" cy="2834640"/>
          </a:xfrm>
          <a:prstGeom prst="roundRect">
            <a:avLst>
              <a:gd name="adj" fmla="val 2581"/>
            </a:avLst>
          </a:prstGeom>
          <a:solidFill>
            <a:srgbClr val="FFFFFF"/>
          </a:solidFill>
          <a:ln w="25400">
            <a:solidFill>
              <a:srgbClr val="287079"/>
            </a:solidFill>
            <a:prstDash val="dash"/>
          </a:ln>
        </p:spPr>
      </p:sp>
      <p:sp>
        <p:nvSpPr>
          <p:cNvPr id="30" name="Text 26"/>
          <p:cNvSpPr txBox="1"/>
          <p:nvPr/>
        </p:nvSpPr>
        <p:spPr>
          <a:xfrm>
            <a:off x="6291072" y="2194560"/>
            <a:ext cx="5349240" cy="1463040"/>
          </a:xfrm>
          <a:prstGeom prst="rect">
            <a:avLst/>
          </a:prstGeom>
          <a:noFill/>
          <a:ln/>
        </p:spPr>
        <p:txBody>
          <a:bodyPr wrap="square" lIns="0" tIns="0" rIns="0" bIns="0" rtlCol="0" anchor="ctr"/>
          <a:lstStyle/>
          <a:p>
            <a:pPr algn="ctr" indent="0" marL="0">
              <a:buNone/>
            </a:pPr>
            <a:r>
              <a:rPr lang="en-US" sz="8000" b="1" dirty="0">
                <a:solidFill>
                  <a:srgbClr val="287079"/>
                </a:solidFill>
                <a:latin typeface="Arial" pitchFamily="34" charset="0"/>
                <a:ea typeface="Arial" pitchFamily="34" charset="-122"/>
                <a:cs typeface="Arial" pitchFamily="34" charset="-120"/>
              </a:rPr>
              <a:t>?</a:t>
            </a:r>
            <a:endParaRPr lang="en-US" sz="8000" dirty="0"/>
          </a:p>
        </p:txBody>
      </p:sp>
      <p:sp>
        <p:nvSpPr>
          <p:cNvPr id="31" name="Text 27"/>
          <p:cNvSpPr txBox="1"/>
          <p:nvPr/>
        </p:nvSpPr>
        <p:spPr>
          <a:xfrm>
            <a:off x="6492240" y="3749040"/>
            <a:ext cx="4937760" cy="731520"/>
          </a:xfrm>
          <a:prstGeom prst="rect">
            <a:avLst/>
          </a:prstGeom>
          <a:noFill/>
          <a:ln/>
        </p:spPr>
        <p:txBody>
          <a:bodyPr wrap="square" lIns="0" tIns="0" rIns="0" bIns="0" rtlCol="0" anchor="ctr"/>
          <a:lstStyle/>
          <a:p>
            <a:pPr algn="ctr" indent="0" marL="0">
              <a:buNone/>
            </a:pPr>
            <a:r>
              <a:rPr lang="en-US" sz="2000" b="1" dirty="0">
                <a:solidFill>
                  <a:srgbClr val="287079"/>
                </a:solidFill>
                <a:latin typeface="Arial" pitchFamily="34" charset="0"/>
                <a:ea typeface="Arial" pitchFamily="34" charset="-122"/>
                <a:cs typeface="Arial" pitchFamily="34" charset="-120"/>
              </a:rPr>
              <a:t>What was really true? Guess first.</a:t>
            </a:r>
            <a:endParaRPr lang="en-US" sz="2000" dirty="0"/>
          </a:p>
        </p:txBody>
      </p:sp>
      <p:sp>
        <p:nvSpPr>
          <p:cNvPr id="32" name="Shape 28"/>
          <p:cNvSpPr/>
          <p:nvPr/>
        </p:nvSpPr>
        <p:spPr>
          <a:xfrm>
            <a:off x="548640" y="5120640"/>
            <a:ext cx="11091672" cy="914400"/>
          </a:xfrm>
          <a:prstGeom prst="roundRect">
            <a:avLst>
              <a:gd name="adj" fmla="val 8000"/>
            </a:avLst>
          </a:prstGeom>
          <a:solidFill>
            <a:srgbClr val="F2F4F5"/>
          </a:solidFill>
          <a:ln/>
        </p:spPr>
      </p:sp>
      <p:pic>
        <p:nvPicPr>
          <p:cNvPr id="33" name="Image 2" descr="/private/tmp/claude-501/-Users-salehhamed-Outcome-Engine/91861432-41e2-4884-bc97-63c6dff2d021/scratchpad/wk/icons/TbMessageCircle-slate.png">    </p:cNvPr>
          <p:cNvPicPr>
            <a:picLocks noChangeAspect="1"/>
          </p:cNvPicPr>
          <p:nvPr/>
        </p:nvPicPr>
        <p:blipFill>
          <a:blip r:embed="rId5"/>
          <a:stretch>
            <a:fillRect/>
          </a:stretch>
        </p:blipFill>
        <p:spPr>
          <a:xfrm>
            <a:off x="822960" y="5285232"/>
            <a:ext cx="566928" cy="566928"/>
          </a:xfrm>
          <a:prstGeom prst="rect">
            <a:avLst/>
          </a:prstGeom>
        </p:spPr>
      </p:pic>
      <p:sp>
        <p:nvSpPr>
          <p:cNvPr id="34" name="Text 29"/>
          <p:cNvSpPr txBox="1"/>
          <p:nvPr/>
        </p:nvSpPr>
        <p:spPr>
          <a:xfrm>
            <a:off x="1600200" y="5120640"/>
            <a:ext cx="9875520" cy="914400"/>
          </a:xfrm>
          <a:prstGeom prst="rect">
            <a:avLst/>
          </a:prstGeom>
          <a:noFill/>
          <a:ln/>
        </p:spPr>
        <p:txBody>
          <a:bodyPr wrap="square" lIns="0" tIns="0" rIns="0" bIns="0" rtlCol="0" anchor="ctr"/>
          <a:lstStyle/>
          <a:p>
            <a:pPr indent="0" marL="0">
              <a:buNone/>
            </a:pPr>
            <a:r>
              <a:rPr lang="en-US" sz="2000" b="1" dirty="0">
                <a:solidFill>
                  <a:srgbClr val="36454F"/>
                </a:solidFill>
                <a:latin typeface="Arial" pitchFamily="34" charset="0"/>
                <a:ea typeface="Arial" pitchFamily="34" charset="-122"/>
                <a:cs typeface="Arial" pitchFamily="34" charset="-120"/>
              </a:rPr>
              <a:t>Would you have believed the record?</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THE NORTHGATE DEAL · WHAT WAS TRUE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Stage 5 · Can they actually start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34</a:t>
            </a:r>
            <a:endParaRPr lang="en-US" sz="1000" dirty="0"/>
          </a:p>
        </p:txBody>
      </p:sp>
      <p:sp>
        <p:nvSpPr>
          <p:cNvPr id="7" name="Shape 4"/>
          <p:cNvSpPr/>
          <p:nvPr/>
        </p:nvSpPr>
        <p:spPr>
          <a:xfrm>
            <a:off x="548640" y="1344168"/>
            <a:ext cx="420624" cy="420624"/>
          </a:xfrm>
          <a:prstGeom prst="ellipse">
            <a:avLst/>
          </a:prstGeom>
          <a:solidFill>
            <a:srgbClr val="E1EFF1"/>
          </a:solidFill>
          <a:ln w="15875">
            <a:solidFill>
              <a:srgbClr val="D9DEE2"/>
            </a:solidFill>
            <a:prstDash val="solid"/>
          </a:ln>
        </p:spPr>
      </p:sp>
      <p:sp>
        <p:nvSpPr>
          <p:cNvPr id="8" name="Text 5"/>
          <p:cNvSpPr txBox="1"/>
          <p:nvPr/>
        </p:nvSpPr>
        <p:spPr>
          <a:xfrm>
            <a:off x="548640"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1115568" y="1344168"/>
            <a:ext cx="420624" cy="420624"/>
          </a:xfrm>
          <a:prstGeom prst="ellipse">
            <a:avLst/>
          </a:prstGeom>
          <a:solidFill>
            <a:srgbClr val="E1EFF1"/>
          </a:solidFill>
          <a:ln w="15875">
            <a:solidFill>
              <a:srgbClr val="D9DEE2"/>
            </a:solidFill>
            <a:prstDash val="solid"/>
          </a:ln>
        </p:spPr>
      </p:sp>
      <p:sp>
        <p:nvSpPr>
          <p:cNvPr id="10" name="Text 7"/>
          <p:cNvSpPr txBox="1"/>
          <p:nvPr/>
        </p:nvSpPr>
        <p:spPr>
          <a:xfrm>
            <a:off x="1115568"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1682496" y="1344168"/>
            <a:ext cx="420624" cy="420624"/>
          </a:xfrm>
          <a:prstGeom prst="ellipse">
            <a:avLst/>
          </a:prstGeom>
          <a:solidFill>
            <a:srgbClr val="E1EFF1"/>
          </a:solidFill>
          <a:ln w="15875">
            <a:solidFill>
              <a:srgbClr val="D9DEE2"/>
            </a:solidFill>
            <a:prstDash val="solid"/>
          </a:ln>
        </p:spPr>
      </p:sp>
      <p:sp>
        <p:nvSpPr>
          <p:cNvPr id="12" name="Text 9"/>
          <p:cNvSpPr txBox="1"/>
          <p:nvPr/>
        </p:nvSpPr>
        <p:spPr>
          <a:xfrm>
            <a:off x="1682496"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2249424" y="1344168"/>
            <a:ext cx="420624" cy="420624"/>
          </a:xfrm>
          <a:prstGeom prst="ellipse">
            <a:avLst/>
          </a:prstGeom>
          <a:solidFill>
            <a:srgbClr val="E1EFF1"/>
          </a:solidFill>
          <a:ln w="15875">
            <a:solidFill>
              <a:srgbClr val="D9DEE2"/>
            </a:solidFill>
            <a:prstDash val="solid"/>
          </a:ln>
        </p:spPr>
      </p:sp>
      <p:sp>
        <p:nvSpPr>
          <p:cNvPr id="14" name="Text 11"/>
          <p:cNvSpPr txBox="1"/>
          <p:nvPr/>
        </p:nvSpPr>
        <p:spPr>
          <a:xfrm>
            <a:off x="2249424"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2816352" y="1344168"/>
            <a:ext cx="420624" cy="420624"/>
          </a:xfrm>
          <a:prstGeom prst="ellipse">
            <a:avLst/>
          </a:prstGeom>
          <a:solidFill>
            <a:srgbClr val="FF462D"/>
          </a:solidFill>
          <a:ln/>
        </p:spPr>
      </p:sp>
      <p:sp>
        <p:nvSpPr>
          <p:cNvPr id="16" name="Text 13"/>
          <p:cNvSpPr txBox="1"/>
          <p:nvPr/>
        </p:nvSpPr>
        <p:spPr>
          <a:xfrm>
            <a:off x="2816352" y="1344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3383280" y="1344168"/>
            <a:ext cx="420624" cy="420624"/>
          </a:xfrm>
          <a:prstGeom prst="ellipse">
            <a:avLst/>
          </a:prstGeom>
          <a:solidFill>
            <a:srgbClr val="FFFFFF"/>
          </a:solidFill>
          <a:ln w="15875">
            <a:solidFill>
              <a:srgbClr val="D9DEE2"/>
            </a:solidFill>
            <a:prstDash val="solid"/>
          </a:ln>
        </p:spPr>
      </p:sp>
      <p:sp>
        <p:nvSpPr>
          <p:cNvPr id="18" name="Text 15"/>
          <p:cNvSpPr txBox="1"/>
          <p:nvPr/>
        </p:nvSpPr>
        <p:spPr>
          <a:xfrm>
            <a:off x="3383280"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3950208" y="1344168"/>
            <a:ext cx="420624" cy="420624"/>
          </a:xfrm>
          <a:prstGeom prst="ellipse">
            <a:avLst/>
          </a:prstGeom>
          <a:solidFill>
            <a:srgbClr val="FFFFFF"/>
          </a:solidFill>
          <a:ln w="15875">
            <a:solidFill>
              <a:srgbClr val="D9DEE2"/>
            </a:solidFill>
            <a:prstDash val="solid"/>
          </a:ln>
        </p:spPr>
      </p:sp>
      <p:sp>
        <p:nvSpPr>
          <p:cNvPr id="20" name="Text 17"/>
          <p:cNvSpPr txBox="1"/>
          <p:nvPr/>
        </p:nvSpPr>
        <p:spPr>
          <a:xfrm>
            <a:off x="3950208"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7</a:t>
            </a:r>
            <a:endParaRPr lang="en-US" sz="1300" dirty="0"/>
          </a:p>
        </p:txBody>
      </p:sp>
      <p:pic>
        <p:nvPicPr>
          <p:cNvPr id="21" name="Image 1" descr="/private/tmp/claude-501/-Users-salehhamed-Outcome-Engine/91861432-41e2-4884-bc97-63c6dff2d021/scratchpad/wk/icons/TbDoorExit-teal.png">    </p:cNvPr>
          <p:cNvPicPr>
            <a:picLocks noChangeAspect="1"/>
          </p:cNvPicPr>
          <p:nvPr/>
        </p:nvPicPr>
        <p:blipFill>
          <a:blip r:embed="rId4"/>
          <a:stretch>
            <a:fillRect/>
          </a:stretch>
        </p:blipFill>
        <p:spPr>
          <a:xfrm>
            <a:off x="10927080" y="1261872"/>
            <a:ext cx="685800" cy="685800"/>
          </a:xfrm>
          <a:prstGeom prst="rect">
            <a:avLst/>
          </a:prstGeom>
        </p:spPr>
      </p:pic>
      <p:sp>
        <p:nvSpPr>
          <p:cNvPr id="22" name="Shape 18"/>
          <p:cNvSpPr/>
          <p:nvPr/>
        </p:nvSpPr>
        <p:spPr>
          <a:xfrm>
            <a:off x="548640" y="2057400"/>
            <a:ext cx="5349240" cy="2834640"/>
          </a:xfrm>
          <a:prstGeom prst="roundRect">
            <a:avLst>
              <a:gd name="adj" fmla="val 2581"/>
            </a:avLst>
          </a:prstGeom>
          <a:solidFill>
            <a:srgbClr val="F2F4F5"/>
          </a:solidFill>
          <a:ln w="12700">
            <a:solidFill>
              <a:srgbClr val="D9DEE2"/>
            </a:solidFill>
            <a:prstDash val="solid"/>
          </a:ln>
        </p:spPr>
      </p:sp>
      <p:sp>
        <p:nvSpPr>
          <p:cNvPr id="23" name="Shape 19"/>
          <p:cNvSpPr/>
          <p:nvPr/>
        </p:nvSpPr>
        <p:spPr>
          <a:xfrm>
            <a:off x="548640" y="2057400"/>
            <a:ext cx="5349240" cy="457200"/>
          </a:xfrm>
          <a:prstGeom prst="rect">
            <a:avLst/>
          </a:prstGeom>
          <a:solidFill>
            <a:srgbClr val="D9DEE2"/>
          </a:solidFill>
          <a:ln/>
        </p:spPr>
      </p:sp>
      <p:sp>
        <p:nvSpPr>
          <p:cNvPr id="24" name="Shape 20"/>
          <p:cNvSpPr/>
          <p:nvPr/>
        </p:nvSpPr>
        <p:spPr>
          <a:xfrm>
            <a:off x="713232" y="2212848"/>
            <a:ext cx="146304" cy="146304"/>
          </a:xfrm>
          <a:prstGeom prst="ellipse">
            <a:avLst/>
          </a:prstGeom>
          <a:solidFill>
            <a:srgbClr val="FF5F57"/>
          </a:solidFill>
          <a:ln/>
        </p:spPr>
      </p:sp>
      <p:sp>
        <p:nvSpPr>
          <p:cNvPr id="25" name="Shape 21"/>
          <p:cNvSpPr/>
          <p:nvPr/>
        </p:nvSpPr>
        <p:spPr>
          <a:xfrm>
            <a:off x="941832" y="2212848"/>
            <a:ext cx="146304" cy="146304"/>
          </a:xfrm>
          <a:prstGeom prst="ellipse">
            <a:avLst/>
          </a:prstGeom>
          <a:solidFill>
            <a:srgbClr val="FEBC2E"/>
          </a:solidFill>
          <a:ln/>
        </p:spPr>
      </p:sp>
      <p:sp>
        <p:nvSpPr>
          <p:cNvPr id="26" name="Shape 22"/>
          <p:cNvSpPr/>
          <p:nvPr/>
        </p:nvSpPr>
        <p:spPr>
          <a:xfrm>
            <a:off x="1170432" y="2212848"/>
            <a:ext cx="146304" cy="146304"/>
          </a:xfrm>
          <a:prstGeom prst="ellipse">
            <a:avLst/>
          </a:prstGeom>
          <a:solidFill>
            <a:srgbClr val="28C840"/>
          </a:solidFill>
          <a:ln/>
        </p:spPr>
      </p:sp>
      <p:sp>
        <p:nvSpPr>
          <p:cNvPr id="27" name="Text 23"/>
          <p:cNvSpPr txBox="1"/>
          <p:nvPr/>
        </p:nvSpPr>
        <p:spPr>
          <a:xfrm>
            <a:off x="1463040" y="2057400"/>
            <a:ext cx="4206240" cy="457200"/>
          </a:xfrm>
          <a:prstGeom prst="rect">
            <a:avLst/>
          </a:prstGeom>
          <a:noFill/>
          <a:ln/>
        </p:spPr>
        <p:txBody>
          <a:bodyPr wrap="square" lIns="0" tIns="0" rIns="0" bIns="0" rtlCol="0" anchor="ctr"/>
          <a:lstStyle/>
          <a:p>
            <a:pPr indent="0" marL="0">
              <a:buNone/>
            </a:pPr>
            <a:r>
              <a:rPr lang="en-US" sz="1200" b="1" spc="150" kern="0" dirty="0">
                <a:solidFill>
                  <a:srgbClr val="36454F"/>
                </a:solidFill>
                <a:latin typeface="Arial" pitchFamily="34" charset="0"/>
                <a:ea typeface="Arial" pitchFamily="34" charset="-122"/>
                <a:cs typeface="Arial" pitchFamily="34" charset="-120"/>
              </a:rPr>
              <a:t>THE RECORD SAID</a:t>
            </a:r>
            <a:endParaRPr lang="en-US" sz="1200" dirty="0"/>
          </a:p>
        </p:txBody>
      </p:sp>
      <p:sp>
        <p:nvSpPr>
          <p:cNvPr id="28" name="Text 24"/>
          <p:cNvSpPr txBox="1"/>
          <p:nvPr/>
        </p:nvSpPr>
        <p:spPr>
          <a:xfrm>
            <a:off x="822960" y="2697480"/>
            <a:ext cx="4800600" cy="2103120"/>
          </a:xfrm>
          <a:prstGeom prst="rect">
            <a:avLst/>
          </a:prstGeom>
          <a:noFill/>
          <a:ln/>
        </p:spPr>
        <p:txBody>
          <a:bodyPr wrap="square" lIns="0" tIns="0" rIns="0" bIns="0" rtlCol="0" anchor="t"/>
          <a:lstStyle/>
          <a:p>
            <a:pPr indent="0" marL="0">
              <a:buNone/>
            </a:pPr>
            <a:r>
              <a:rPr lang="en-US" sz="2200" dirty="0">
                <a:solidFill>
                  <a:srgbClr val="1F2A33"/>
                </a:solidFill>
                <a:latin typeface="Arial" pitchFamily="34" charset="0"/>
                <a:ea typeface="Arial" pitchFamily="34" charset="-122"/>
                <a:cs typeface="Arial" pitchFamily="34" charset="-120"/>
              </a:rPr>
              <a:t>Nothing. Nobody asked.</a:t>
            </a:r>
            <a:endParaRPr lang="en-US" sz="2200" dirty="0"/>
          </a:p>
        </p:txBody>
      </p:sp>
      <p:sp>
        <p:nvSpPr>
          <p:cNvPr id="29" name="Shape 25"/>
          <p:cNvSpPr/>
          <p:nvPr/>
        </p:nvSpPr>
        <p:spPr>
          <a:xfrm>
            <a:off x="6291072" y="2057400"/>
            <a:ext cx="5349240" cy="2834640"/>
          </a:xfrm>
          <a:prstGeom prst="roundRect">
            <a:avLst>
              <a:gd name="adj" fmla="val 2581"/>
            </a:avLst>
          </a:prstGeom>
          <a:solidFill>
            <a:srgbClr val="FFFFFF"/>
          </a:solidFill>
          <a:ln w="25400">
            <a:solidFill>
              <a:srgbClr val="287079"/>
            </a:solidFill>
            <a:prstDash val="solid"/>
          </a:ln>
        </p:spPr>
      </p:sp>
      <p:sp>
        <p:nvSpPr>
          <p:cNvPr id="30" name="Shape 26"/>
          <p:cNvSpPr/>
          <p:nvPr/>
        </p:nvSpPr>
        <p:spPr>
          <a:xfrm>
            <a:off x="6492240" y="2194560"/>
            <a:ext cx="502920" cy="502920"/>
          </a:xfrm>
          <a:prstGeom prst="ellipse">
            <a:avLst/>
          </a:prstGeom>
          <a:solidFill>
            <a:srgbClr val="287079"/>
          </a:solidFill>
          <a:ln/>
        </p:spPr>
      </p:sp>
      <p:pic>
        <p:nvPicPr>
          <p:cNvPr id="31" name="Image 2" descr="/private/tmp/claude-501/-Users-salehhamed-Outcome-Engine/91861432-41e2-4884-bc97-63c6dff2d021/scratchpad/wk/icons/TbEye-white.png">    </p:cNvPr>
          <p:cNvPicPr>
            <a:picLocks noChangeAspect="1"/>
          </p:cNvPicPr>
          <p:nvPr/>
        </p:nvPicPr>
        <p:blipFill>
          <a:blip r:embed="rId5"/>
          <a:stretch>
            <a:fillRect/>
          </a:stretch>
        </p:blipFill>
        <p:spPr>
          <a:xfrm>
            <a:off x="6592824" y="2295144"/>
            <a:ext cx="301752" cy="301752"/>
          </a:xfrm>
          <a:prstGeom prst="rect">
            <a:avLst/>
          </a:prstGeom>
        </p:spPr>
      </p:pic>
      <p:sp>
        <p:nvSpPr>
          <p:cNvPr id="32" name="Text 27"/>
          <p:cNvSpPr txBox="1"/>
          <p:nvPr/>
        </p:nvSpPr>
        <p:spPr>
          <a:xfrm>
            <a:off x="7132320" y="2194560"/>
            <a:ext cx="3657600" cy="502920"/>
          </a:xfrm>
          <a:prstGeom prst="rect">
            <a:avLst/>
          </a:prstGeom>
          <a:noFill/>
          <a:ln/>
        </p:spPr>
        <p:txBody>
          <a:bodyPr wrap="square" lIns="0" tIns="0" rIns="0" bIns="0" rtlCol="0" anchor="ctr"/>
          <a:lstStyle/>
          <a:p>
            <a:pPr indent="0" marL="0">
              <a:buNone/>
            </a:pPr>
            <a:r>
              <a:rPr lang="en-US" sz="1200" b="1" spc="150" kern="0" dirty="0">
                <a:solidFill>
                  <a:srgbClr val="287079"/>
                </a:solidFill>
                <a:latin typeface="Arial" pitchFamily="34" charset="0"/>
                <a:ea typeface="Arial" pitchFamily="34" charset="-122"/>
                <a:cs typeface="Arial" pitchFamily="34" charset="-120"/>
              </a:rPr>
              <a:t>WHAT WAS TRUE</a:t>
            </a:r>
            <a:endParaRPr lang="en-US" sz="1200" dirty="0"/>
          </a:p>
        </p:txBody>
      </p:sp>
      <p:sp>
        <p:nvSpPr>
          <p:cNvPr id="33" name="Text 28"/>
          <p:cNvSpPr txBox="1"/>
          <p:nvPr/>
        </p:nvSpPr>
        <p:spPr>
          <a:xfrm>
            <a:off x="6537960" y="2834640"/>
            <a:ext cx="4892040" cy="1965960"/>
          </a:xfrm>
          <a:prstGeom prst="rect">
            <a:avLst/>
          </a:prstGeom>
          <a:noFill/>
          <a:ln/>
        </p:spPr>
        <p:txBody>
          <a:bodyPr wrap="square" lIns="0" tIns="0" rIns="0" bIns="0" rtlCol="0" anchor="t"/>
          <a:lstStyle/>
          <a:p>
            <a:pPr indent="0" marL="0">
              <a:buNone/>
            </a:pPr>
            <a:r>
              <a:rPr lang="en-US" sz="2100" dirty="0">
                <a:solidFill>
                  <a:srgbClr val="1F2A33"/>
                </a:solidFill>
                <a:latin typeface="Arial" pitchFamily="34" charset="0"/>
                <a:ea typeface="Arial" pitchFamily="34" charset="-122"/>
                <a:cs typeface="Arial" pitchFamily="34" charset="-120"/>
              </a:rPr>
              <a:t>Their manager would have released them two weeks early, if asked.</a:t>
            </a:r>
            <a:endParaRPr lang="en-US" sz="2100" dirty="0"/>
          </a:p>
        </p:txBody>
      </p:sp>
      <p:sp>
        <p:nvSpPr>
          <p:cNvPr id="34" name="Shape 29"/>
          <p:cNvSpPr/>
          <p:nvPr/>
        </p:nvSpPr>
        <p:spPr>
          <a:xfrm>
            <a:off x="548640" y="5120640"/>
            <a:ext cx="11091672" cy="914400"/>
          </a:xfrm>
          <a:prstGeom prst="roundRect">
            <a:avLst>
              <a:gd name="adj" fmla="val 8000"/>
            </a:avLst>
          </a:prstGeom>
          <a:solidFill>
            <a:srgbClr val="FFF0EC"/>
          </a:solidFill>
          <a:ln/>
        </p:spPr>
      </p:sp>
      <p:pic>
        <p:nvPicPr>
          <p:cNvPr id="35" name="Image 3" descr="/private/tmp/claude-501/-Users-salehhamed-Outcome-Engine/91861432-41e2-4884-bc97-63c6dff2d021/scratchpad/wk/icons/TbBulb-red.png">    </p:cNvPr>
          <p:cNvPicPr>
            <a:picLocks noChangeAspect="1"/>
          </p:cNvPicPr>
          <p:nvPr/>
        </p:nvPicPr>
        <p:blipFill>
          <a:blip r:embed="rId6"/>
          <a:stretch>
            <a:fillRect/>
          </a:stretch>
        </p:blipFill>
        <p:spPr>
          <a:xfrm>
            <a:off x="822960" y="5285232"/>
            <a:ext cx="566928" cy="566928"/>
          </a:xfrm>
          <a:prstGeom prst="rect">
            <a:avLst/>
          </a:prstGeom>
        </p:spPr>
      </p:pic>
      <p:sp>
        <p:nvSpPr>
          <p:cNvPr id="36" name="Text 30"/>
          <p:cNvSpPr txBox="1"/>
          <p:nvPr/>
        </p:nvSpPr>
        <p:spPr>
          <a:xfrm>
            <a:off x="1600200" y="5120640"/>
            <a:ext cx="9875520" cy="914400"/>
          </a:xfrm>
          <a:prstGeom prst="rect">
            <a:avLst/>
          </a:prstGeom>
          <a:noFill/>
          <a:ln/>
        </p:spPr>
        <p:txBody>
          <a:bodyPr wrap="square" lIns="0" tIns="0" rIns="0" bIns="0" rtlCol="0" anchor="ctr"/>
          <a:lstStyle/>
          <a:p>
            <a:pPr indent="0" marL="0">
              <a:buNone/>
            </a:pPr>
            <a:r>
              <a:rPr lang="en-US" sz="2100" b="1" dirty="0">
                <a:solidFill>
                  <a:srgbClr val="FF462D"/>
                </a:solidFill>
                <a:latin typeface="Arial" pitchFamily="34" charset="0"/>
                <a:ea typeface="Arial" pitchFamily="34" charset="-122"/>
                <a:cs typeface="Arial" pitchFamily="34" charset="-120"/>
              </a:rPr>
              <a:t>Free, releasable and ready to start are three different things.</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THE NORTHGATE DEAL · RECORD OR REALITY?</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Stage 6 · Is there a real gap</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35</a:t>
            </a:r>
            <a:endParaRPr lang="en-US" sz="1000" dirty="0"/>
          </a:p>
        </p:txBody>
      </p:sp>
      <p:sp>
        <p:nvSpPr>
          <p:cNvPr id="7" name="Shape 4"/>
          <p:cNvSpPr/>
          <p:nvPr/>
        </p:nvSpPr>
        <p:spPr>
          <a:xfrm>
            <a:off x="548640" y="1344168"/>
            <a:ext cx="420624" cy="420624"/>
          </a:xfrm>
          <a:prstGeom prst="ellipse">
            <a:avLst/>
          </a:prstGeom>
          <a:solidFill>
            <a:srgbClr val="E1EFF1"/>
          </a:solidFill>
          <a:ln w="15875">
            <a:solidFill>
              <a:srgbClr val="D9DEE2"/>
            </a:solidFill>
            <a:prstDash val="solid"/>
          </a:ln>
        </p:spPr>
      </p:sp>
      <p:sp>
        <p:nvSpPr>
          <p:cNvPr id="8" name="Text 5"/>
          <p:cNvSpPr txBox="1"/>
          <p:nvPr/>
        </p:nvSpPr>
        <p:spPr>
          <a:xfrm>
            <a:off x="548640"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1115568" y="1344168"/>
            <a:ext cx="420624" cy="420624"/>
          </a:xfrm>
          <a:prstGeom prst="ellipse">
            <a:avLst/>
          </a:prstGeom>
          <a:solidFill>
            <a:srgbClr val="E1EFF1"/>
          </a:solidFill>
          <a:ln w="15875">
            <a:solidFill>
              <a:srgbClr val="D9DEE2"/>
            </a:solidFill>
            <a:prstDash val="solid"/>
          </a:ln>
        </p:spPr>
      </p:sp>
      <p:sp>
        <p:nvSpPr>
          <p:cNvPr id="10" name="Text 7"/>
          <p:cNvSpPr txBox="1"/>
          <p:nvPr/>
        </p:nvSpPr>
        <p:spPr>
          <a:xfrm>
            <a:off x="1115568"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1682496" y="1344168"/>
            <a:ext cx="420624" cy="420624"/>
          </a:xfrm>
          <a:prstGeom prst="ellipse">
            <a:avLst/>
          </a:prstGeom>
          <a:solidFill>
            <a:srgbClr val="E1EFF1"/>
          </a:solidFill>
          <a:ln w="15875">
            <a:solidFill>
              <a:srgbClr val="D9DEE2"/>
            </a:solidFill>
            <a:prstDash val="solid"/>
          </a:ln>
        </p:spPr>
      </p:sp>
      <p:sp>
        <p:nvSpPr>
          <p:cNvPr id="12" name="Text 9"/>
          <p:cNvSpPr txBox="1"/>
          <p:nvPr/>
        </p:nvSpPr>
        <p:spPr>
          <a:xfrm>
            <a:off x="1682496"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2249424" y="1344168"/>
            <a:ext cx="420624" cy="420624"/>
          </a:xfrm>
          <a:prstGeom prst="ellipse">
            <a:avLst/>
          </a:prstGeom>
          <a:solidFill>
            <a:srgbClr val="E1EFF1"/>
          </a:solidFill>
          <a:ln w="15875">
            <a:solidFill>
              <a:srgbClr val="D9DEE2"/>
            </a:solidFill>
            <a:prstDash val="solid"/>
          </a:ln>
        </p:spPr>
      </p:sp>
      <p:sp>
        <p:nvSpPr>
          <p:cNvPr id="14" name="Text 11"/>
          <p:cNvSpPr txBox="1"/>
          <p:nvPr/>
        </p:nvSpPr>
        <p:spPr>
          <a:xfrm>
            <a:off x="2249424"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2816352" y="1344168"/>
            <a:ext cx="420624" cy="420624"/>
          </a:xfrm>
          <a:prstGeom prst="ellipse">
            <a:avLst/>
          </a:prstGeom>
          <a:solidFill>
            <a:srgbClr val="E1EFF1"/>
          </a:solidFill>
          <a:ln w="15875">
            <a:solidFill>
              <a:srgbClr val="D9DEE2"/>
            </a:solidFill>
            <a:prstDash val="solid"/>
          </a:ln>
        </p:spPr>
      </p:sp>
      <p:sp>
        <p:nvSpPr>
          <p:cNvPr id="16" name="Text 13"/>
          <p:cNvSpPr txBox="1"/>
          <p:nvPr/>
        </p:nvSpPr>
        <p:spPr>
          <a:xfrm>
            <a:off x="2816352"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3383280" y="1344168"/>
            <a:ext cx="420624" cy="420624"/>
          </a:xfrm>
          <a:prstGeom prst="ellipse">
            <a:avLst/>
          </a:prstGeom>
          <a:solidFill>
            <a:srgbClr val="FF462D"/>
          </a:solidFill>
          <a:ln/>
        </p:spPr>
      </p:sp>
      <p:sp>
        <p:nvSpPr>
          <p:cNvPr id="18" name="Text 15"/>
          <p:cNvSpPr txBox="1"/>
          <p:nvPr/>
        </p:nvSpPr>
        <p:spPr>
          <a:xfrm>
            <a:off x="3383280" y="1344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3950208" y="1344168"/>
            <a:ext cx="420624" cy="420624"/>
          </a:xfrm>
          <a:prstGeom prst="ellipse">
            <a:avLst/>
          </a:prstGeom>
          <a:solidFill>
            <a:srgbClr val="FFFFFF"/>
          </a:solidFill>
          <a:ln w="15875">
            <a:solidFill>
              <a:srgbClr val="D9DEE2"/>
            </a:solidFill>
            <a:prstDash val="solid"/>
          </a:ln>
        </p:spPr>
      </p:sp>
      <p:sp>
        <p:nvSpPr>
          <p:cNvPr id="20" name="Text 17"/>
          <p:cNvSpPr txBox="1"/>
          <p:nvPr/>
        </p:nvSpPr>
        <p:spPr>
          <a:xfrm>
            <a:off x="3950208"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7</a:t>
            </a:r>
            <a:endParaRPr lang="en-US" sz="1300" dirty="0"/>
          </a:p>
        </p:txBody>
      </p:sp>
      <p:pic>
        <p:nvPicPr>
          <p:cNvPr id="21" name="Image 1" descr="/private/tmp/claude-501/-Users-salehhamed-Outcome-Engine/91861432-41e2-4884-bc97-63c6dff2d021/scratchpad/wk/icons/TbUserQuestion-teal.png">    </p:cNvPr>
          <p:cNvPicPr>
            <a:picLocks noChangeAspect="1"/>
          </p:cNvPicPr>
          <p:nvPr/>
        </p:nvPicPr>
        <p:blipFill>
          <a:blip r:embed="rId4"/>
          <a:stretch>
            <a:fillRect/>
          </a:stretch>
        </p:blipFill>
        <p:spPr>
          <a:xfrm>
            <a:off x="10927080" y="1261872"/>
            <a:ext cx="685800" cy="685800"/>
          </a:xfrm>
          <a:prstGeom prst="rect">
            <a:avLst/>
          </a:prstGeom>
        </p:spPr>
      </p:pic>
      <p:sp>
        <p:nvSpPr>
          <p:cNvPr id="22" name="Shape 18"/>
          <p:cNvSpPr/>
          <p:nvPr/>
        </p:nvSpPr>
        <p:spPr>
          <a:xfrm>
            <a:off x="548640" y="2057400"/>
            <a:ext cx="5349240" cy="2834640"/>
          </a:xfrm>
          <a:prstGeom prst="roundRect">
            <a:avLst>
              <a:gd name="adj" fmla="val 2581"/>
            </a:avLst>
          </a:prstGeom>
          <a:solidFill>
            <a:srgbClr val="F2F4F5"/>
          </a:solidFill>
          <a:ln w="12700">
            <a:solidFill>
              <a:srgbClr val="D9DEE2"/>
            </a:solidFill>
            <a:prstDash val="solid"/>
          </a:ln>
        </p:spPr>
      </p:sp>
      <p:sp>
        <p:nvSpPr>
          <p:cNvPr id="23" name="Shape 19"/>
          <p:cNvSpPr/>
          <p:nvPr/>
        </p:nvSpPr>
        <p:spPr>
          <a:xfrm>
            <a:off x="548640" y="2057400"/>
            <a:ext cx="5349240" cy="457200"/>
          </a:xfrm>
          <a:prstGeom prst="rect">
            <a:avLst/>
          </a:prstGeom>
          <a:solidFill>
            <a:srgbClr val="D9DEE2"/>
          </a:solidFill>
          <a:ln/>
        </p:spPr>
      </p:sp>
      <p:sp>
        <p:nvSpPr>
          <p:cNvPr id="24" name="Shape 20"/>
          <p:cNvSpPr/>
          <p:nvPr/>
        </p:nvSpPr>
        <p:spPr>
          <a:xfrm>
            <a:off x="713232" y="2212848"/>
            <a:ext cx="146304" cy="146304"/>
          </a:xfrm>
          <a:prstGeom prst="ellipse">
            <a:avLst/>
          </a:prstGeom>
          <a:solidFill>
            <a:srgbClr val="FF5F57"/>
          </a:solidFill>
          <a:ln/>
        </p:spPr>
      </p:sp>
      <p:sp>
        <p:nvSpPr>
          <p:cNvPr id="25" name="Shape 21"/>
          <p:cNvSpPr/>
          <p:nvPr/>
        </p:nvSpPr>
        <p:spPr>
          <a:xfrm>
            <a:off x="941832" y="2212848"/>
            <a:ext cx="146304" cy="146304"/>
          </a:xfrm>
          <a:prstGeom prst="ellipse">
            <a:avLst/>
          </a:prstGeom>
          <a:solidFill>
            <a:srgbClr val="FEBC2E"/>
          </a:solidFill>
          <a:ln/>
        </p:spPr>
      </p:sp>
      <p:sp>
        <p:nvSpPr>
          <p:cNvPr id="26" name="Shape 22"/>
          <p:cNvSpPr/>
          <p:nvPr/>
        </p:nvSpPr>
        <p:spPr>
          <a:xfrm>
            <a:off x="1170432" y="2212848"/>
            <a:ext cx="146304" cy="146304"/>
          </a:xfrm>
          <a:prstGeom prst="ellipse">
            <a:avLst/>
          </a:prstGeom>
          <a:solidFill>
            <a:srgbClr val="28C840"/>
          </a:solidFill>
          <a:ln/>
        </p:spPr>
      </p:sp>
      <p:sp>
        <p:nvSpPr>
          <p:cNvPr id="27" name="Text 23"/>
          <p:cNvSpPr txBox="1"/>
          <p:nvPr/>
        </p:nvSpPr>
        <p:spPr>
          <a:xfrm>
            <a:off x="1463040" y="2057400"/>
            <a:ext cx="4206240" cy="457200"/>
          </a:xfrm>
          <a:prstGeom prst="rect">
            <a:avLst/>
          </a:prstGeom>
          <a:noFill/>
          <a:ln/>
        </p:spPr>
        <p:txBody>
          <a:bodyPr wrap="square" lIns="0" tIns="0" rIns="0" bIns="0" rtlCol="0" anchor="ctr"/>
          <a:lstStyle/>
          <a:p>
            <a:pPr indent="0" marL="0">
              <a:buNone/>
            </a:pPr>
            <a:r>
              <a:rPr lang="en-US" sz="1200" b="1" spc="150" kern="0" dirty="0">
                <a:solidFill>
                  <a:srgbClr val="36454F"/>
                </a:solidFill>
                <a:latin typeface="Arial" pitchFamily="34" charset="0"/>
                <a:ea typeface="Arial" pitchFamily="34" charset="-122"/>
                <a:cs typeface="Arial" pitchFamily="34" charset="-120"/>
              </a:rPr>
              <a:t>THE RECORD SAID</a:t>
            </a:r>
            <a:endParaRPr lang="en-US" sz="1200" dirty="0"/>
          </a:p>
        </p:txBody>
      </p:sp>
      <p:sp>
        <p:nvSpPr>
          <p:cNvPr id="28" name="Text 24"/>
          <p:cNvSpPr txBox="1"/>
          <p:nvPr/>
        </p:nvSpPr>
        <p:spPr>
          <a:xfrm>
            <a:off x="822960" y="2697480"/>
            <a:ext cx="4800600" cy="2103120"/>
          </a:xfrm>
          <a:prstGeom prst="rect">
            <a:avLst/>
          </a:prstGeom>
          <a:noFill/>
          <a:ln/>
        </p:spPr>
        <p:txBody>
          <a:bodyPr wrap="square" lIns="0" tIns="0" rIns="0" bIns="0" rtlCol="0" anchor="t"/>
          <a:lstStyle/>
          <a:p>
            <a:pPr indent="0" marL="0">
              <a:buNone/>
            </a:pPr>
            <a:r>
              <a:rPr lang="en-US" sz="2200" dirty="0">
                <a:solidFill>
                  <a:srgbClr val="1F2A33"/>
                </a:solidFill>
                <a:latin typeface="Arial" pitchFamily="34" charset="0"/>
                <a:ea typeface="Arial" pitchFamily="34" charset="-122"/>
                <a:cs typeface="Arial" pitchFamily="34" charset="-120"/>
              </a:rPr>
              <a:t>The search for a firewall specialist found no match. A gap was recorded and a hire requested.</a:t>
            </a:r>
            <a:endParaRPr lang="en-US" sz="2200" dirty="0"/>
          </a:p>
        </p:txBody>
      </p:sp>
      <p:sp>
        <p:nvSpPr>
          <p:cNvPr id="29" name="Shape 25"/>
          <p:cNvSpPr/>
          <p:nvPr/>
        </p:nvSpPr>
        <p:spPr>
          <a:xfrm>
            <a:off x="6291072" y="2057400"/>
            <a:ext cx="5349240" cy="2834640"/>
          </a:xfrm>
          <a:prstGeom prst="roundRect">
            <a:avLst>
              <a:gd name="adj" fmla="val 2581"/>
            </a:avLst>
          </a:prstGeom>
          <a:solidFill>
            <a:srgbClr val="FFFFFF"/>
          </a:solidFill>
          <a:ln w="25400">
            <a:solidFill>
              <a:srgbClr val="287079"/>
            </a:solidFill>
            <a:prstDash val="dash"/>
          </a:ln>
        </p:spPr>
      </p:sp>
      <p:sp>
        <p:nvSpPr>
          <p:cNvPr id="30" name="Text 26"/>
          <p:cNvSpPr txBox="1"/>
          <p:nvPr/>
        </p:nvSpPr>
        <p:spPr>
          <a:xfrm>
            <a:off x="6291072" y="2194560"/>
            <a:ext cx="5349240" cy="1463040"/>
          </a:xfrm>
          <a:prstGeom prst="rect">
            <a:avLst/>
          </a:prstGeom>
          <a:noFill/>
          <a:ln/>
        </p:spPr>
        <p:txBody>
          <a:bodyPr wrap="square" lIns="0" tIns="0" rIns="0" bIns="0" rtlCol="0" anchor="ctr"/>
          <a:lstStyle/>
          <a:p>
            <a:pPr algn="ctr" indent="0" marL="0">
              <a:buNone/>
            </a:pPr>
            <a:r>
              <a:rPr lang="en-US" sz="8000" b="1" dirty="0">
                <a:solidFill>
                  <a:srgbClr val="287079"/>
                </a:solidFill>
                <a:latin typeface="Arial" pitchFamily="34" charset="0"/>
                <a:ea typeface="Arial" pitchFamily="34" charset="-122"/>
                <a:cs typeface="Arial" pitchFamily="34" charset="-120"/>
              </a:rPr>
              <a:t>?</a:t>
            </a:r>
            <a:endParaRPr lang="en-US" sz="8000" dirty="0"/>
          </a:p>
        </p:txBody>
      </p:sp>
      <p:sp>
        <p:nvSpPr>
          <p:cNvPr id="31" name="Text 27"/>
          <p:cNvSpPr txBox="1"/>
          <p:nvPr/>
        </p:nvSpPr>
        <p:spPr>
          <a:xfrm>
            <a:off x="6492240" y="3749040"/>
            <a:ext cx="4937760" cy="731520"/>
          </a:xfrm>
          <a:prstGeom prst="rect">
            <a:avLst/>
          </a:prstGeom>
          <a:noFill/>
          <a:ln/>
        </p:spPr>
        <p:txBody>
          <a:bodyPr wrap="square" lIns="0" tIns="0" rIns="0" bIns="0" rtlCol="0" anchor="ctr"/>
          <a:lstStyle/>
          <a:p>
            <a:pPr algn="ctr" indent="0" marL="0">
              <a:buNone/>
            </a:pPr>
            <a:r>
              <a:rPr lang="en-US" sz="2000" b="1" dirty="0">
                <a:solidFill>
                  <a:srgbClr val="287079"/>
                </a:solidFill>
                <a:latin typeface="Arial" pitchFamily="34" charset="0"/>
                <a:ea typeface="Arial" pitchFamily="34" charset="-122"/>
                <a:cs typeface="Arial" pitchFamily="34" charset="-120"/>
              </a:rPr>
              <a:t>What was really true? Guess first.</a:t>
            </a:r>
            <a:endParaRPr lang="en-US" sz="2000" dirty="0"/>
          </a:p>
        </p:txBody>
      </p:sp>
      <p:sp>
        <p:nvSpPr>
          <p:cNvPr id="32" name="Shape 28"/>
          <p:cNvSpPr/>
          <p:nvPr/>
        </p:nvSpPr>
        <p:spPr>
          <a:xfrm>
            <a:off x="548640" y="5120640"/>
            <a:ext cx="11091672" cy="914400"/>
          </a:xfrm>
          <a:prstGeom prst="roundRect">
            <a:avLst>
              <a:gd name="adj" fmla="val 8000"/>
            </a:avLst>
          </a:prstGeom>
          <a:solidFill>
            <a:srgbClr val="F2F4F5"/>
          </a:solidFill>
          <a:ln/>
        </p:spPr>
      </p:sp>
      <p:pic>
        <p:nvPicPr>
          <p:cNvPr id="33" name="Image 2" descr="/private/tmp/claude-501/-Users-salehhamed-Outcome-Engine/91861432-41e2-4884-bc97-63c6dff2d021/scratchpad/wk/icons/TbMessageCircle-slate.png">    </p:cNvPr>
          <p:cNvPicPr>
            <a:picLocks noChangeAspect="1"/>
          </p:cNvPicPr>
          <p:nvPr/>
        </p:nvPicPr>
        <p:blipFill>
          <a:blip r:embed="rId5"/>
          <a:stretch>
            <a:fillRect/>
          </a:stretch>
        </p:blipFill>
        <p:spPr>
          <a:xfrm>
            <a:off x="822960" y="5285232"/>
            <a:ext cx="566928" cy="566928"/>
          </a:xfrm>
          <a:prstGeom prst="rect">
            <a:avLst/>
          </a:prstGeom>
        </p:spPr>
      </p:pic>
      <p:sp>
        <p:nvSpPr>
          <p:cNvPr id="34" name="Text 29"/>
          <p:cNvSpPr txBox="1"/>
          <p:nvPr/>
        </p:nvSpPr>
        <p:spPr>
          <a:xfrm>
            <a:off x="1600200" y="5120640"/>
            <a:ext cx="9875520" cy="914400"/>
          </a:xfrm>
          <a:prstGeom prst="rect">
            <a:avLst/>
          </a:prstGeom>
          <a:noFill/>
          <a:ln/>
        </p:spPr>
        <p:txBody>
          <a:bodyPr wrap="square" lIns="0" tIns="0" rIns="0" bIns="0" rtlCol="0" anchor="ctr"/>
          <a:lstStyle/>
          <a:p>
            <a:pPr indent="0" marL="0">
              <a:buNone/>
            </a:pPr>
            <a:r>
              <a:rPr lang="en-US" sz="2000" b="1" dirty="0">
                <a:solidFill>
                  <a:srgbClr val="36454F"/>
                </a:solidFill>
                <a:latin typeface="Arial" pitchFamily="34" charset="0"/>
                <a:ea typeface="Arial" pitchFamily="34" charset="-122"/>
                <a:cs typeface="Arial" pitchFamily="34" charset="-120"/>
              </a:rPr>
              <a:t>Would you have believed the record?</a:t>
            </a: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THE NORTHGATE DEAL · WHAT WAS TRUE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Stage 6 · Is there a real gap</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36</a:t>
            </a:r>
            <a:endParaRPr lang="en-US" sz="1000" dirty="0"/>
          </a:p>
        </p:txBody>
      </p:sp>
      <p:sp>
        <p:nvSpPr>
          <p:cNvPr id="7" name="Shape 4"/>
          <p:cNvSpPr/>
          <p:nvPr/>
        </p:nvSpPr>
        <p:spPr>
          <a:xfrm>
            <a:off x="548640" y="1344168"/>
            <a:ext cx="420624" cy="420624"/>
          </a:xfrm>
          <a:prstGeom prst="ellipse">
            <a:avLst/>
          </a:prstGeom>
          <a:solidFill>
            <a:srgbClr val="E1EFF1"/>
          </a:solidFill>
          <a:ln w="15875">
            <a:solidFill>
              <a:srgbClr val="D9DEE2"/>
            </a:solidFill>
            <a:prstDash val="solid"/>
          </a:ln>
        </p:spPr>
      </p:sp>
      <p:sp>
        <p:nvSpPr>
          <p:cNvPr id="8" name="Text 5"/>
          <p:cNvSpPr txBox="1"/>
          <p:nvPr/>
        </p:nvSpPr>
        <p:spPr>
          <a:xfrm>
            <a:off x="548640"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1115568" y="1344168"/>
            <a:ext cx="420624" cy="420624"/>
          </a:xfrm>
          <a:prstGeom prst="ellipse">
            <a:avLst/>
          </a:prstGeom>
          <a:solidFill>
            <a:srgbClr val="E1EFF1"/>
          </a:solidFill>
          <a:ln w="15875">
            <a:solidFill>
              <a:srgbClr val="D9DEE2"/>
            </a:solidFill>
            <a:prstDash val="solid"/>
          </a:ln>
        </p:spPr>
      </p:sp>
      <p:sp>
        <p:nvSpPr>
          <p:cNvPr id="10" name="Text 7"/>
          <p:cNvSpPr txBox="1"/>
          <p:nvPr/>
        </p:nvSpPr>
        <p:spPr>
          <a:xfrm>
            <a:off x="1115568"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1682496" y="1344168"/>
            <a:ext cx="420624" cy="420624"/>
          </a:xfrm>
          <a:prstGeom prst="ellipse">
            <a:avLst/>
          </a:prstGeom>
          <a:solidFill>
            <a:srgbClr val="E1EFF1"/>
          </a:solidFill>
          <a:ln w="15875">
            <a:solidFill>
              <a:srgbClr val="D9DEE2"/>
            </a:solidFill>
            <a:prstDash val="solid"/>
          </a:ln>
        </p:spPr>
      </p:sp>
      <p:sp>
        <p:nvSpPr>
          <p:cNvPr id="12" name="Text 9"/>
          <p:cNvSpPr txBox="1"/>
          <p:nvPr/>
        </p:nvSpPr>
        <p:spPr>
          <a:xfrm>
            <a:off x="1682496"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2249424" y="1344168"/>
            <a:ext cx="420624" cy="420624"/>
          </a:xfrm>
          <a:prstGeom prst="ellipse">
            <a:avLst/>
          </a:prstGeom>
          <a:solidFill>
            <a:srgbClr val="E1EFF1"/>
          </a:solidFill>
          <a:ln w="15875">
            <a:solidFill>
              <a:srgbClr val="D9DEE2"/>
            </a:solidFill>
            <a:prstDash val="solid"/>
          </a:ln>
        </p:spPr>
      </p:sp>
      <p:sp>
        <p:nvSpPr>
          <p:cNvPr id="14" name="Text 11"/>
          <p:cNvSpPr txBox="1"/>
          <p:nvPr/>
        </p:nvSpPr>
        <p:spPr>
          <a:xfrm>
            <a:off x="2249424"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2816352" y="1344168"/>
            <a:ext cx="420624" cy="420624"/>
          </a:xfrm>
          <a:prstGeom prst="ellipse">
            <a:avLst/>
          </a:prstGeom>
          <a:solidFill>
            <a:srgbClr val="E1EFF1"/>
          </a:solidFill>
          <a:ln w="15875">
            <a:solidFill>
              <a:srgbClr val="D9DEE2"/>
            </a:solidFill>
            <a:prstDash val="solid"/>
          </a:ln>
        </p:spPr>
      </p:sp>
      <p:sp>
        <p:nvSpPr>
          <p:cNvPr id="16" name="Text 13"/>
          <p:cNvSpPr txBox="1"/>
          <p:nvPr/>
        </p:nvSpPr>
        <p:spPr>
          <a:xfrm>
            <a:off x="2816352"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3383280" y="1344168"/>
            <a:ext cx="420624" cy="420624"/>
          </a:xfrm>
          <a:prstGeom prst="ellipse">
            <a:avLst/>
          </a:prstGeom>
          <a:solidFill>
            <a:srgbClr val="FF462D"/>
          </a:solidFill>
          <a:ln/>
        </p:spPr>
      </p:sp>
      <p:sp>
        <p:nvSpPr>
          <p:cNvPr id="18" name="Text 15"/>
          <p:cNvSpPr txBox="1"/>
          <p:nvPr/>
        </p:nvSpPr>
        <p:spPr>
          <a:xfrm>
            <a:off x="3383280" y="1344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3950208" y="1344168"/>
            <a:ext cx="420624" cy="420624"/>
          </a:xfrm>
          <a:prstGeom prst="ellipse">
            <a:avLst/>
          </a:prstGeom>
          <a:solidFill>
            <a:srgbClr val="FFFFFF"/>
          </a:solidFill>
          <a:ln w="15875">
            <a:solidFill>
              <a:srgbClr val="D9DEE2"/>
            </a:solidFill>
            <a:prstDash val="solid"/>
          </a:ln>
        </p:spPr>
      </p:sp>
      <p:sp>
        <p:nvSpPr>
          <p:cNvPr id="20" name="Text 17"/>
          <p:cNvSpPr txBox="1"/>
          <p:nvPr/>
        </p:nvSpPr>
        <p:spPr>
          <a:xfrm>
            <a:off x="3950208" y="1344168"/>
            <a:ext cx="420624" cy="420624"/>
          </a:xfrm>
          <a:prstGeom prst="rect">
            <a:avLst/>
          </a:prstGeom>
          <a:noFill/>
          <a:ln/>
        </p:spPr>
        <p:txBody>
          <a:bodyPr wrap="square" lIns="0" tIns="0" rIns="0" bIns="0" rtlCol="0" anchor="ctr"/>
          <a:lstStyle/>
          <a:p>
            <a:pPr algn="ctr" indent="0" marL="0">
              <a:buNone/>
            </a:pPr>
            <a:r>
              <a:rPr lang="en-US" sz="1300" b="1" dirty="0">
                <a:solidFill>
                  <a:srgbClr val="8A94A4"/>
                </a:solidFill>
                <a:latin typeface="Arial" pitchFamily="34" charset="0"/>
                <a:ea typeface="Arial" pitchFamily="34" charset="-122"/>
                <a:cs typeface="Arial" pitchFamily="34" charset="-120"/>
              </a:rPr>
              <a:t>7</a:t>
            </a:r>
            <a:endParaRPr lang="en-US" sz="1300" dirty="0"/>
          </a:p>
        </p:txBody>
      </p:sp>
      <p:pic>
        <p:nvPicPr>
          <p:cNvPr id="21" name="Image 1" descr="/private/tmp/claude-501/-Users-salehhamed-Outcome-Engine/91861432-41e2-4884-bc97-63c6dff2d021/scratchpad/wk/icons/TbUserQuestion-teal.png">    </p:cNvPr>
          <p:cNvPicPr>
            <a:picLocks noChangeAspect="1"/>
          </p:cNvPicPr>
          <p:nvPr/>
        </p:nvPicPr>
        <p:blipFill>
          <a:blip r:embed="rId4"/>
          <a:stretch>
            <a:fillRect/>
          </a:stretch>
        </p:blipFill>
        <p:spPr>
          <a:xfrm>
            <a:off x="10927080" y="1261872"/>
            <a:ext cx="685800" cy="685800"/>
          </a:xfrm>
          <a:prstGeom prst="rect">
            <a:avLst/>
          </a:prstGeom>
        </p:spPr>
      </p:pic>
      <p:sp>
        <p:nvSpPr>
          <p:cNvPr id="22" name="Shape 18"/>
          <p:cNvSpPr/>
          <p:nvPr/>
        </p:nvSpPr>
        <p:spPr>
          <a:xfrm>
            <a:off x="548640" y="2057400"/>
            <a:ext cx="5349240" cy="2834640"/>
          </a:xfrm>
          <a:prstGeom prst="roundRect">
            <a:avLst>
              <a:gd name="adj" fmla="val 2581"/>
            </a:avLst>
          </a:prstGeom>
          <a:solidFill>
            <a:srgbClr val="F2F4F5"/>
          </a:solidFill>
          <a:ln w="12700">
            <a:solidFill>
              <a:srgbClr val="D9DEE2"/>
            </a:solidFill>
            <a:prstDash val="solid"/>
          </a:ln>
        </p:spPr>
      </p:sp>
      <p:sp>
        <p:nvSpPr>
          <p:cNvPr id="23" name="Shape 19"/>
          <p:cNvSpPr/>
          <p:nvPr/>
        </p:nvSpPr>
        <p:spPr>
          <a:xfrm>
            <a:off x="548640" y="2057400"/>
            <a:ext cx="5349240" cy="457200"/>
          </a:xfrm>
          <a:prstGeom prst="rect">
            <a:avLst/>
          </a:prstGeom>
          <a:solidFill>
            <a:srgbClr val="D9DEE2"/>
          </a:solidFill>
          <a:ln/>
        </p:spPr>
      </p:sp>
      <p:sp>
        <p:nvSpPr>
          <p:cNvPr id="24" name="Shape 20"/>
          <p:cNvSpPr/>
          <p:nvPr/>
        </p:nvSpPr>
        <p:spPr>
          <a:xfrm>
            <a:off x="713232" y="2212848"/>
            <a:ext cx="146304" cy="146304"/>
          </a:xfrm>
          <a:prstGeom prst="ellipse">
            <a:avLst/>
          </a:prstGeom>
          <a:solidFill>
            <a:srgbClr val="FF5F57"/>
          </a:solidFill>
          <a:ln/>
        </p:spPr>
      </p:sp>
      <p:sp>
        <p:nvSpPr>
          <p:cNvPr id="25" name="Shape 21"/>
          <p:cNvSpPr/>
          <p:nvPr/>
        </p:nvSpPr>
        <p:spPr>
          <a:xfrm>
            <a:off x="941832" y="2212848"/>
            <a:ext cx="146304" cy="146304"/>
          </a:xfrm>
          <a:prstGeom prst="ellipse">
            <a:avLst/>
          </a:prstGeom>
          <a:solidFill>
            <a:srgbClr val="FEBC2E"/>
          </a:solidFill>
          <a:ln/>
        </p:spPr>
      </p:sp>
      <p:sp>
        <p:nvSpPr>
          <p:cNvPr id="26" name="Shape 22"/>
          <p:cNvSpPr/>
          <p:nvPr/>
        </p:nvSpPr>
        <p:spPr>
          <a:xfrm>
            <a:off x="1170432" y="2212848"/>
            <a:ext cx="146304" cy="146304"/>
          </a:xfrm>
          <a:prstGeom prst="ellipse">
            <a:avLst/>
          </a:prstGeom>
          <a:solidFill>
            <a:srgbClr val="28C840"/>
          </a:solidFill>
          <a:ln/>
        </p:spPr>
      </p:sp>
      <p:sp>
        <p:nvSpPr>
          <p:cNvPr id="27" name="Text 23"/>
          <p:cNvSpPr txBox="1"/>
          <p:nvPr/>
        </p:nvSpPr>
        <p:spPr>
          <a:xfrm>
            <a:off x="1463040" y="2057400"/>
            <a:ext cx="4206240" cy="457200"/>
          </a:xfrm>
          <a:prstGeom prst="rect">
            <a:avLst/>
          </a:prstGeom>
          <a:noFill/>
          <a:ln/>
        </p:spPr>
        <p:txBody>
          <a:bodyPr wrap="square" lIns="0" tIns="0" rIns="0" bIns="0" rtlCol="0" anchor="ctr"/>
          <a:lstStyle/>
          <a:p>
            <a:pPr indent="0" marL="0">
              <a:buNone/>
            </a:pPr>
            <a:r>
              <a:rPr lang="en-US" sz="1200" b="1" spc="150" kern="0" dirty="0">
                <a:solidFill>
                  <a:srgbClr val="36454F"/>
                </a:solidFill>
                <a:latin typeface="Arial" pitchFamily="34" charset="0"/>
                <a:ea typeface="Arial" pitchFamily="34" charset="-122"/>
                <a:cs typeface="Arial" pitchFamily="34" charset="-120"/>
              </a:rPr>
              <a:t>THE RECORD SAID</a:t>
            </a:r>
            <a:endParaRPr lang="en-US" sz="1200" dirty="0"/>
          </a:p>
        </p:txBody>
      </p:sp>
      <p:sp>
        <p:nvSpPr>
          <p:cNvPr id="28" name="Text 24"/>
          <p:cNvSpPr txBox="1"/>
          <p:nvPr/>
        </p:nvSpPr>
        <p:spPr>
          <a:xfrm>
            <a:off x="822960" y="2697480"/>
            <a:ext cx="4800600" cy="2103120"/>
          </a:xfrm>
          <a:prstGeom prst="rect">
            <a:avLst/>
          </a:prstGeom>
          <a:noFill/>
          <a:ln/>
        </p:spPr>
        <p:txBody>
          <a:bodyPr wrap="square" lIns="0" tIns="0" rIns="0" bIns="0" rtlCol="0" anchor="t"/>
          <a:lstStyle/>
          <a:p>
            <a:pPr indent="0" marL="0">
              <a:buNone/>
            </a:pPr>
            <a:r>
              <a:rPr lang="en-US" sz="2200" dirty="0">
                <a:solidFill>
                  <a:srgbClr val="1F2A33"/>
                </a:solidFill>
                <a:latin typeface="Arial" pitchFamily="34" charset="0"/>
                <a:ea typeface="Arial" pitchFamily="34" charset="-122"/>
                <a:cs typeface="Arial" pitchFamily="34" charset="-120"/>
              </a:rPr>
              <a:t>The search for a firewall specialist found no match. A gap was recorded and a hire requested.</a:t>
            </a:r>
            <a:endParaRPr lang="en-US" sz="2200" dirty="0"/>
          </a:p>
        </p:txBody>
      </p:sp>
      <p:sp>
        <p:nvSpPr>
          <p:cNvPr id="29" name="Shape 25"/>
          <p:cNvSpPr/>
          <p:nvPr/>
        </p:nvSpPr>
        <p:spPr>
          <a:xfrm>
            <a:off x="6291072" y="2057400"/>
            <a:ext cx="5349240" cy="2834640"/>
          </a:xfrm>
          <a:prstGeom prst="roundRect">
            <a:avLst>
              <a:gd name="adj" fmla="val 2581"/>
            </a:avLst>
          </a:prstGeom>
          <a:solidFill>
            <a:srgbClr val="FFFFFF"/>
          </a:solidFill>
          <a:ln w="25400">
            <a:solidFill>
              <a:srgbClr val="287079"/>
            </a:solidFill>
            <a:prstDash val="solid"/>
          </a:ln>
        </p:spPr>
      </p:sp>
      <p:sp>
        <p:nvSpPr>
          <p:cNvPr id="30" name="Shape 26"/>
          <p:cNvSpPr/>
          <p:nvPr/>
        </p:nvSpPr>
        <p:spPr>
          <a:xfrm>
            <a:off x="6492240" y="2194560"/>
            <a:ext cx="502920" cy="502920"/>
          </a:xfrm>
          <a:prstGeom prst="ellipse">
            <a:avLst/>
          </a:prstGeom>
          <a:solidFill>
            <a:srgbClr val="287079"/>
          </a:solidFill>
          <a:ln/>
        </p:spPr>
      </p:sp>
      <p:pic>
        <p:nvPicPr>
          <p:cNvPr id="31" name="Image 2" descr="/private/tmp/claude-501/-Users-salehhamed-Outcome-Engine/91861432-41e2-4884-bc97-63c6dff2d021/scratchpad/wk/icons/TbEye-white.png">    </p:cNvPr>
          <p:cNvPicPr>
            <a:picLocks noChangeAspect="1"/>
          </p:cNvPicPr>
          <p:nvPr/>
        </p:nvPicPr>
        <p:blipFill>
          <a:blip r:embed="rId5"/>
          <a:stretch>
            <a:fillRect/>
          </a:stretch>
        </p:blipFill>
        <p:spPr>
          <a:xfrm>
            <a:off x="6592824" y="2295144"/>
            <a:ext cx="301752" cy="301752"/>
          </a:xfrm>
          <a:prstGeom prst="rect">
            <a:avLst/>
          </a:prstGeom>
        </p:spPr>
      </p:pic>
      <p:sp>
        <p:nvSpPr>
          <p:cNvPr id="32" name="Text 27"/>
          <p:cNvSpPr txBox="1"/>
          <p:nvPr/>
        </p:nvSpPr>
        <p:spPr>
          <a:xfrm>
            <a:off x="7132320" y="2194560"/>
            <a:ext cx="3657600" cy="502920"/>
          </a:xfrm>
          <a:prstGeom prst="rect">
            <a:avLst/>
          </a:prstGeom>
          <a:noFill/>
          <a:ln/>
        </p:spPr>
        <p:txBody>
          <a:bodyPr wrap="square" lIns="0" tIns="0" rIns="0" bIns="0" rtlCol="0" anchor="ctr"/>
          <a:lstStyle/>
          <a:p>
            <a:pPr indent="0" marL="0">
              <a:buNone/>
            </a:pPr>
            <a:r>
              <a:rPr lang="en-US" sz="1200" b="1" spc="150" kern="0" dirty="0">
                <a:solidFill>
                  <a:srgbClr val="287079"/>
                </a:solidFill>
                <a:latin typeface="Arial" pitchFamily="34" charset="0"/>
                <a:ea typeface="Arial" pitchFamily="34" charset="-122"/>
                <a:cs typeface="Arial" pitchFamily="34" charset="-120"/>
              </a:rPr>
              <a:t>WHAT WAS TRUE</a:t>
            </a:r>
            <a:endParaRPr lang="en-US" sz="1200" dirty="0"/>
          </a:p>
        </p:txBody>
      </p:sp>
      <p:sp>
        <p:nvSpPr>
          <p:cNvPr id="33" name="Text 28"/>
          <p:cNvSpPr txBox="1"/>
          <p:nvPr/>
        </p:nvSpPr>
        <p:spPr>
          <a:xfrm>
            <a:off x="6537960" y="2834640"/>
            <a:ext cx="4892040" cy="1965960"/>
          </a:xfrm>
          <a:prstGeom prst="rect">
            <a:avLst/>
          </a:prstGeom>
          <a:noFill/>
          <a:ln/>
        </p:spPr>
        <p:txBody>
          <a:bodyPr wrap="square" lIns="0" tIns="0" rIns="0" bIns="0" rtlCol="0" anchor="t"/>
          <a:lstStyle/>
          <a:p>
            <a:pPr indent="0" marL="0">
              <a:buNone/>
            </a:pPr>
            <a:r>
              <a:rPr lang="en-US" sz="2100" dirty="0">
                <a:solidFill>
                  <a:srgbClr val="1F2A33"/>
                </a:solidFill>
                <a:latin typeface="Arial" pitchFamily="34" charset="0"/>
                <a:ea typeface="Arial" pitchFamily="34" charset="-122"/>
                <a:cs typeface="Arial" pitchFamily="34" charset="-120"/>
              </a:rPr>
              <a:t>Someone with the skill worked on another account. Nobody asked whether they could move, or whether moves could free someone.</a:t>
            </a:r>
            <a:endParaRPr lang="en-US" sz="2100" dirty="0"/>
          </a:p>
        </p:txBody>
      </p:sp>
      <p:sp>
        <p:nvSpPr>
          <p:cNvPr id="34" name="Shape 29"/>
          <p:cNvSpPr/>
          <p:nvPr/>
        </p:nvSpPr>
        <p:spPr>
          <a:xfrm>
            <a:off x="548640" y="5120640"/>
            <a:ext cx="11091672" cy="914400"/>
          </a:xfrm>
          <a:prstGeom prst="roundRect">
            <a:avLst>
              <a:gd name="adj" fmla="val 8000"/>
            </a:avLst>
          </a:prstGeom>
          <a:solidFill>
            <a:srgbClr val="FFF0EC"/>
          </a:solidFill>
          <a:ln/>
        </p:spPr>
      </p:sp>
      <p:pic>
        <p:nvPicPr>
          <p:cNvPr id="35" name="Image 3" descr="/private/tmp/claude-501/-Users-salehhamed-Outcome-Engine/91861432-41e2-4884-bc97-63c6dff2d021/scratchpad/wk/icons/TbBulb-red.png">    </p:cNvPr>
          <p:cNvPicPr>
            <a:picLocks noChangeAspect="1"/>
          </p:cNvPicPr>
          <p:nvPr/>
        </p:nvPicPr>
        <p:blipFill>
          <a:blip r:embed="rId6"/>
          <a:stretch>
            <a:fillRect/>
          </a:stretch>
        </p:blipFill>
        <p:spPr>
          <a:xfrm>
            <a:off x="822960" y="5285232"/>
            <a:ext cx="566928" cy="566928"/>
          </a:xfrm>
          <a:prstGeom prst="rect">
            <a:avLst/>
          </a:prstGeom>
        </p:spPr>
      </p:pic>
      <p:sp>
        <p:nvSpPr>
          <p:cNvPr id="36" name="Text 30"/>
          <p:cNvSpPr txBox="1"/>
          <p:nvPr/>
        </p:nvSpPr>
        <p:spPr>
          <a:xfrm>
            <a:off x="1600200" y="5120640"/>
            <a:ext cx="9875520" cy="914400"/>
          </a:xfrm>
          <a:prstGeom prst="rect">
            <a:avLst/>
          </a:prstGeom>
          <a:noFill/>
          <a:ln/>
        </p:spPr>
        <p:txBody>
          <a:bodyPr wrap="square" lIns="0" tIns="0" rIns="0" bIns="0" rtlCol="0" anchor="ctr"/>
          <a:lstStyle/>
          <a:p>
            <a:pPr indent="0" marL="0">
              <a:buNone/>
            </a:pPr>
            <a:r>
              <a:rPr lang="en-US" sz="2100" b="1" dirty="0">
                <a:solidFill>
                  <a:srgbClr val="FF462D"/>
                </a:solidFill>
                <a:latin typeface="Arial" pitchFamily="34" charset="0"/>
                <a:ea typeface="Arial" pitchFamily="34" charset="-122"/>
                <a:cs typeface="Arial" pitchFamily="34" charset="-120"/>
              </a:rPr>
              <a:t>No match is not a confirmed gap.</a:t>
            </a:r>
            <a:endParaRPr lang="en-US" sz="2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THE NORTHGATE DEAL · RECORD OR REALITY?</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Stage 7 · The gap goes to action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37</a:t>
            </a:r>
            <a:endParaRPr lang="en-US" sz="1000" dirty="0"/>
          </a:p>
        </p:txBody>
      </p:sp>
      <p:sp>
        <p:nvSpPr>
          <p:cNvPr id="7" name="Shape 4"/>
          <p:cNvSpPr/>
          <p:nvPr/>
        </p:nvSpPr>
        <p:spPr>
          <a:xfrm>
            <a:off x="548640" y="1344168"/>
            <a:ext cx="420624" cy="420624"/>
          </a:xfrm>
          <a:prstGeom prst="ellipse">
            <a:avLst/>
          </a:prstGeom>
          <a:solidFill>
            <a:srgbClr val="E1EFF1"/>
          </a:solidFill>
          <a:ln w="15875">
            <a:solidFill>
              <a:srgbClr val="D9DEE2"/>
            </a:solidFill>
            <a:prstDash val="solid"/>
          </a:ln>
        </p:spPr>
      </p:sp>
      <p:sp>
        <p:nvSpPr>
          <p:cNvPr id="8" name="Text 5"/>
          <p:cNvSpPr txBox="1"/>
          <p:nvPr/>
        </p:nvSpPr>
        <p:spPr>
          <a:xfrm>
            <a:off x="548640"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1115568" y="1344168"/>
            <a:ext cx="420624" cy="420624"/>
          </a:xfrm>
          <a:prstGeom prst="ellipse">
            <a:avLst/>
          </a:prstGeom>
          <a:solidFill>
            <a:srgbClr val="E1EFF1"/>
          </a:solidFill>
          <a:ln w="15875">
            <a:solidFill>
              <a:srgbClr val="D9DEE2"/>
            </a:solidFill>
            <a:prstDash val="solid"/>
          </a:ln>
        </p:spPr>
      </p:sp>
      <p:sp>
        <p:nvSpPr>
          <p:cNvPr id="10" name="Text 7"/>
          <p:cNvSpPr txBox="1"/>
          <p:nvPr/>
        </p:nvSpPr>
        <p:spPr>
          <a:xfrm>
            <a:off x="1115568"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1682496" y="1344168"/>
            <a:ext cx="420624" cy="420624"/>
          </a:xfrm>
          <a:prstGeom prst="ellipse">
            <a:avLst/>
          </a:prstGeom>
          <a:solidFill>
            <a:srgbClr val="E1EFF1"/>
          </a:solidFill>
          <a:ln w="15875">
            <a:solidFill>
              <a:srgbClr val="D9DEE2"/>
            </a:solidFill>
            <a:prstDash val="solid"/>
          </a:ln>
        </p:spPr>
      </p:sp>
      <p:sp>
        <p:nvSpPr>
          <p:cNvPr id="12" name="Text 9"/>
          <p:cNvSpPr txBox="1"/>
          <p:nvPr/>
        </p:nvSpPr>
        <p:spPr>
          <a:xfrm>
            <a:off x="1682496"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2249424" y="1344168"/>
            <a:ext cx="420624" cy="420624"/>
          </a:xfrm>
          <a:prstGeom prst="ellipse">
            <a:avLst/>
          </a:prstGeom>
          <a:solidFill>
            <a:srgbClr val="E1EFF1"/>
          </a:solidFill>
          <a:ln w="15875">
            <a:solidFill>
              <a:srgbClr val="D9DEE2"/>
            </a:solidFill>
            <a:prstDash val="solid"/>
          </a:ln>
        </p:spPr>
      </p:sp>
      <p:sp>
        <p:nvSpPr>
          <p:cNvPr id="14" name="Text 11"/>
          <p:cNvSpPr txBox="1"/>
          <p:nvPr/>
        </p:nvSpPr>
        <p:spPr>
          <a:xfrm>
            <a:off x="2249424"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2816352" y="1344168"/>
            <a:ext cx="420624" cy="420624"/>
          </a:xfrm>
          <a:prstGeom prst="ellipse">
            <a:avLst/>
          </a:prstGeom>
          <a:solidFill>
            <a:srgbClr val="E1EFF1"/>
          </a:solidFill>
          <a:ln w="15875">
            <a:solidFill>
              <a:srgbClr val="D9DEE2"/>
            </a:solidFill>
            <a:prstDash val="solid"/>
          </a:ln>
        </p:spPr>
      </p:sp>
      <p:sp>
        <p:nvSpPr>
          <p:cNvPr id="16" name="Text 13"/>
          <p:cNvSpPr txBox="1"/>
          <p:nvPr/>
        </p:nvSpPr>
        <p:spPr>
          <a:xfrm>
            <a:off x="2816352"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3383280" y="1344168"/>
            <a:ext cx="420624" cy="420624"/>
          </a:xfrm>
          <a:prstGeom prst="ellipse">
            <a:avLst/>
          </a:prstGeom>
          <a:solidFill>
            <a:srgbClr val="E1EFF1"/>
          </a:solidFill>
          <a:ln w="15875">
            <a:solidFill>
              <a:srgbClr val="D9DEE2"/>
            </a:solidFill>
            <a:prstDash val="solid"/>
          </a:ln>
        </p:spPr>
      </p:sp>
      <p:sp>
        <p:nvSpPr>
          <p:cNvPr id="18" name="Text 15"/>
          <p:cNvSpPr txBox="1"/>
          <p:nvPr/>
        </p:nvSpPr>
        <p:spPr>
          <a:xfrm>
            <a:off x="3383280"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3950208" y="1344168"/>
            <a:ext cx="420624" cy="420624"/>
          </a:xfrm>
          <a:prstGeom prst="ellipse">
            <a:avLst/>
          </a:prstGeom>
          <a:solidFill>
            <a:srgbClr val="FF462D"/>
          </a:solidFill>
          <a:ln/>
        </p:spPr>
      </p:sp>
      <p:sp>
        <p:nvSpPr>
          <p:cNvPr id="20" name="Text 17"/>
          <p:cNvSpPr txBox="1"/>
          <p:nvPr/>
        </p:nvSpPr>
        <p:spPr>
          <a:xfrm>
            <a:off x="3950208" y="1344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pic>
        <p:nvPicPr>
          <p:cNvPr id="21" name="Image 1" descr="/private/tmp/claude-501/-Users-salehhamed-Outcome-Engine/91861432-41e2-4884-bc97-63c6dff2d021/scratchpad/wk/icons/TbRocket-teal.png">    </p:cNvPr>
          <p:cNvPicPr>
            <a:picLocks noChangeAspect="1"/>
          </p:cNvPicPr>
          <p:nvPr/>
        </p:nvPicPr>
        <p:blipFill>
          <a:blip r:embed="rId4"/>
          <a:stretch>
            <a:fillRect/>
          </a:stretch>
        </p:blipFill>
        <p:spPr>
          <a:xfrm>
            <a:off x="10927080" y="1261872"/>
            <a:ext cx="685800" cy="685800"/>
          </a:xfrm>
          <a:prstGeom prst="rect">
            <a:avLst/>
          </a:prstGeom>
        </p:spPr>
      </p:pic>
      <p:sp>
        <p:nvSpPr>
          <p:cNvPr id="22" name="Shape 18"/>
          <p:cNvSpPr/>
          <p:nvPr/>
        </p:nvSpPr>
        <p:spPr>
          <a:xfrm>
            <a:off x="548640" y="2057400"/>
            <a:ext cx="5349240" cy="2834640"/>
          </a:xfrm>
          <a:prstGeom prst="roundRect">
            <a:avLst>
              <a:gd name="adj" fmla="val 2581"/>
            </a:avLst>
          </a:prstGeom>
          <a:solidFill>
            <a:srgbClr val="F2F4F5"/>
          </a:solidFill>
          <a:ln w="12700">
            <a:solidFill>
              <a:srgbClr val="D9DEE2"/>
            </a:solidFill>
            <a:prstDash val="solid"/>
          </a:ln>
        </p:spPr>
      </p:sp>
      <p:sp>
        <p:nvSpPr>
          <p:cNvPr id="23" name="Shape 19"/>
          <p:cNvSpPr/>
          <p:nvPr/>
        </p:nvSpPr>
        <p:spPr>
          <a:xfrm>
            <a:off x="548640" y="2057400"/>
            <a:ext cx="5349240" cy="457200"/>
          </a:xfrm>
          <a:prstGeom prst="rect">
            <a:avLst/>
          </a:prstGeom>
          <a:solidFill>
            <a:srgbClr val="D9DEE2"/>
          </a:solidFill>
          <a:ln/>
        </p:spPr>
      </p:sp>
      <p:sp>
        <p:nvSpPr>
          <p:cNvPr id="24" name="Shape 20"/>
          <p:cNvSpPr/>
          <p:nvPr/>
        </p:nvSpPr>
        <p:spPr>
          <a:xfrm>
            <a:off x="713232" y="2212848"/>
            <a:ext cx="146304" cy="146304"/>
          </a:xfrm>
          <a:prstGeom prst="ellipse">
            <a:avLst/>
          </a:prstGeom>
          <a:solidFill>
            <a:srgbClr val="FF5F57"/>
          </a:solidFill>
          <a:ln/>
        </p:spPr>
      </p:sp>
      <p:sp>
        <p:nvSpPr>
          <p:cNvPr id="25" name="Shape 21"/>
          <p:cNvSpPr/>
          <p:nvPr/>
        </p:nvSpPr>
        <p:spPr>
          <a:xfrm>
            <a:off x="941832" y="2212848"/>
            <a:ext cx="146304" cy="146304"/>
          </a:xfrm>
          <a:prstGeom prst="ellipse">
            <a:avLst/>
          </a:prstGeom>
          <a:solidFill>
            <a:srgbClr val="FEBC2E"/>
          </a:solidFill>
          <a:ln/>
        </p:spPr>
      </p:sp>
      <p:sp>
        <p:nvSpPr>
          <p:cNvPr id="26" name="Shape 22"/>
          <p:cNvSpPr/>
          <p:nvPr/>
        </p:nvSpPr>
        <p:spPr>
          <a:xfrm>
            <a:off x="1170432" y="2212848"/>
            <a:ext cx="146304" cy="146304"/>
          </a:xfrm>
          <a:prstGeom prst="ellipse">
            <a:avLst/>
          </a:prstGeom>
          <a:solidFill>
            <a:srgbClr val="28C840"/>
          </a:solidFill>
          <a:ln/>
        </p:spPr>
      </p:sp>
      <p:sp>
        <p:nvSpPr>
          <p:cNvPr id="27" name="Text 23"/>
          <p:cNvSpPr txBox="1"/>
          <p:nvPr/>
        </p:nvSpPr>
        <p:spPr>
          <a:xfrm>
            <a:off x="1463040" y="2057400"/>
            <a:ext cx="4206240" cy="457200"/>
          </a:xfrm>
          <a:prstGeom prst="rect">
            <a:avLst/>
          </a:prstGeom>
          <a:noFill/>
          <a:ln/>
        </p:spPr>
        <p:txBody>
          <a:bodyPr wrap="square" lIns="0" tIns="0" rIns="0" bIns="0" rtlCol="0" anchor="ctr"/>
          <a:lstStyle/>
          <a:p>
            <a:pPr indent="0" marL="0">
              <a:buNone/>
            </a:pPr>
            <a:r>
              <a:rPr lang="en-US" sz="1200" b="1" spc="150" kern="0" dirty="0">
                <a:solidFill>
                  <a:srgbClr val="36454F"/>
                </a:solidFill>
                <a:latin typeface="Arial" pitchFamily="34" charset="0"/>
                <a:ea typeface="Arial" pitchFamily="34" charset="-122"/>
                <a:cs typeface="Arial" pitchFamily="34" charset="-120"/>
              </a:rPr>
              <a:t>THE RECORD SAID</a:t>
            </a:r>
            <a:endParaRPr lang="en-US" sz="1200" dirty="0"/>
          </a:p>
        </p:txBody>
      </p:sp>
      <p:sp>
        <p:nvSpPr>
          <p:cNvPr id="28" name="Text 24"/>
          <p:cNvSpPr txBox="1"/>
          <p:nvPr/>
        </p:nvSpPr>
        <p:spPr>
          <a:xfrm>
            <a:off x="822960" y="2697480"/>
            <a:ext cx="4800600" cy="2103120"/>
          </a:xfrm>
          <a:prstGeom prst="rect">
            <a:avLst/>
          </a:prstGeom>
          <a:noFill/>
          <a:ln/>
        </p:spPr>
        <p:txBody>
          <a:bodyPr wrap="square" lIns="0" tIns="0" rIns="0" bIns="0" rtlCol="0" anchor="t"/>
          <a:lstStyle/>
          <a:p>
            <a:pPr indent="0" marL="0">
              <a:buNone/>
            </a:pPr>
            <a:r>
              <a:rPr lang="en-US" sz="2200" dirty="0">
                <a:solidFill>
                  <a:srgbClr val="1F2A33"/>
                </a:solidFill>
                <a:latin typeface="Arial" pitchFamily="34" charset="0"/>
                <a:ea typeface="Arial" pitchFamily="34" charset="-122"/>
                <a:cs typeface="Arial" pitchFamily="34" charset="-120"/>
              </a:rPr>
              <a:t>A hiring request and a subcontractor quote at a higher cost. The deal was signed on 29 September.</a:t>
            </a:r>
            <a:endParaRPr lang="en-US" sz="2200" dirty="0"/>
          </a:p>
        </p:txBody>
      </p:sp>
      <p:sp>
        <p:nvSpPr>
          <p:cNvPr id="29" name="Shape 25"/>
          <p:cNvSpPr/>
          <p:nvPr/>
        </p:nvSpPr>
        <p:spPr>
          <a:xfrm>
            <a:off x="6291072" y="2057400"/>
            <a:ext cx="5349240" cy="2834640"/>
          </a:xfrm>
          <a:prstGeom prst="roundRect">
            <a:avLst>
              <a:gd name="adj" fmla="val 2581"/>
            </a:avLst>
          </a:prstGeom>
          <a:solidFill>
            <a:srgbClr val="FFFFFF"/>
          </a:solidFill>
          <a:ln w="25400">
            <a:solidFill>
              <a:srgbClr val="287079"/>
            </a:solidFill>
            <a:prstDash val="dash"/>
          </a:ln>
        </p:spPr>
      </p:sp>
      <p:sp>
        <p:nvSpPr>
          <p:cNvPr id="30" name="Text 26"/>
          <p:cNvSpPr txBox="1"/>
          <p:nvPr/>
        </p:nvSpPr>
        <p:spPr>
          <a:xfrm>
            <a:off x="6291072" y="2194560"/>
            <a:ext cx="5349240" cy="1463040"/>
          </a:xfrm>
          <a:prstGeom prst="rect">
            <a:avLst/>
          </a:prstGeom>
          <a:noFill/>
          <a:ln/>
        </p:spPr>
        <p:txBody>
          <a:bodyPr wrap="square" lIns="0" tIns="0" rIns="0" bIns="0" rtlCol="0" anchor="ctr"/>
          <a:lstStyle/>
          <a:p>
            <a:pPr algn="ctr" indent="0" marL="0">
              <a:buNone/>
            </a:pPr>
            <a:r>
              <a:rPr lang="en-US" sz="8000" b="1" dirty="0">
                <a:solidFill>
                  <a:srgbClr val="287079"/>
                </a:solidFill>
                <a:latin typeface="Arial" pitchFamily="34" charset="0"/>
                <a:ea typeface="Arial" pitchFamily="34" charset="-122"/>
                <a:cs typeface="Arial" pitchFamily="34" charset="-120"/>
              </a:rPr>
              <a:t>?</a:t>
            </a:r>
            <a:endParaRPr lang="en-US" sz="8000" dirty="0"/>
          </a:p>
        </p:txBody>
      </p:sp>
      <p:sp>
        <p:nvSpPr>
          <p:cNvPr id="31" name="Text 27"/>
          <p:cNvSpPr txBox="1"/>
          <p:nvPr/>
        </p:nvSpPr>
        <p:spPr>
          <a:xfrm>
            <a:off x="6492240" y="3749040"/>
            <a:ext cx="4937760" cy="731520"/>
          </a:xfrm>
          <a:prstGeom prst="rect">
            <a:avLst/>
          </a:prstGeom>
          <a:noFill/>
          <a:ln/>
        </p:spPr>
        <p:txBody>
          <a:bodyPr wrap="square" lIns="0" tIns="0" rIns="0" bIns="0" rtlCol="0" anchor="ctr"/>
          <a:lstStyle/>
          <a:p>
            <a:pPr algn="ctr" indent="0" marL="0">
              <a:buNone/>
            </a:pPr>
            <a:r>
              <a:rPr lang="en-US" sz="2000" b="1" dirty="0">
                <a:solidFill>
                  <a:srgbClr val="287079"/>
                </a:solidFill>
                <a:latin typeface="Arial" pitchFamily="34" charset="0"/>
                <a:ea typeface="Arial" pitchFamily="34" charset="-122"/>
                <a:cs typeface="Arial" pitchFamily="34" charset="-120"/>
              </a:rPr>
              <a:t>What was really true? Guess first.</a:t>
            </a:r>
            <a:endParaRPr lang="en-US" sz="2000" dirty="0"/>
          </a:p>
        </p:txBody>
      </p:sp>
      <p:sp>
        <p:nvSpPr>
          <p:cNvPr id="32" name="Shape 28"/>
          <p:cNvSpPr/>
          <p:nvPr/>
        </p:nvSpPr>
        <p:spPr>
          <a:xfrm>
            <a:off x="548640" y="5120640"/>
            <a:ext cx="11091672" cy="914400"/>
          </a:xfrm>
          <a:prstGeom prst="roundRect">
            <a:avLst>
              <a:gd name="adj" fmla="val 8000"/>
            </a:avLst>
          </a:prstGeom>
          <a:solidFill>
            <a:srgbClr val="F2F4F5"/>
          </a:solidFill>
          <a:ln/>
        </p:spPr>
      </p:sp>
      <p:pic>
        <p:nvPicPr>
          <p:cNvPr id="33" name="Image 2" descr="/private/tmp/claude-501/-Users-salehhamed-Outcome-Engine/91861432-41e2-4884-bc97-63c6dff2d021/scratchpad/wk/icons/TbMessageCircle-slate.png">    </p:cNvPr>
          <p:cNvPicPr>
            <a:picLocks noChangeAspect="1"/>
          </p:cNvPicPr>
          <p:nvPr/>
        </p:nvPicPr>
        <p:blipFill>
          <a:blip r:embed="rId5"/>
          <a:stretch>
            <a:fillRect/>
          </a:stretch>
        </p:blipFill>
        <p:spPr>
          <a:xfrm>
            <a:off x="822960" y="5285232"/>
            <a:ext cx="566928" cy="566928"/>
          </a:xfrm>
          <a:prstGeom prst="rect">
            <a:avLst/>
          </a:prstGeom>
        </p:spPr>
      </p:pic>
      <p:sp>
        <p:nvSpPr>
          <p:cNvPr id="34" name="Text 29"/>
          <p:cNvSpPr txBox="1"/>
          <p:nvPr/>
        </p:nvSpPr>
        <p:spPr>
          <a:xfrm>
            <a:off x="1600200" y="5120640"/>
            <a:ext cx="9875520" cy="914400"/>
          </a:xfrm>
          <a:prstGeom prst="rect">
            <a:avLst/>
          </a:prstGeom>
          <a:noFill/>
          <a:ln/>
        </p:spPr>
        <p:txBody>
          <a:bodyPr wrap="square" lIns="0" tIns="0" rIns="0" bIns="0" rtlCol="0" anchor="ctr"/>
          <a:lstStyle/>
          <a:p>
            <a:pPr indent="0" marL="0">
              <a:buNone/>
            </a:pPr>
            <a:r>
              <a:rPr lang="en-US" sz="2000" b="1" dirty="0">
                <a:solidFill>
                  <a:srgbClr val="36454F"/>
                </a:solidFill>
                <a:latin typeface="Arial" pitchFamily="34" charset="0"/>
                <a:ea typeface="Arial" pitchFamily="34" charset="-122"/>
                <a:cs typeface="Arial" pitchFamily="34" charset="-120"/>
              </a:rPr>
              <a:t>Would you have believed the record?</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THE NORTHGATE DEAL · WHAT WAS TRUE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Stage 7 · The gap goes to action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38</a:t>
            </a:r>
            <a:endParaRPr lang="en-US" sz="1000" dirty="0"/>
          </a:p>
        </p:txBody>
      </p:sp>
      <p:sp>
        <p:nvSpPr>
          <p:cNvPr id="7" name="Shape 4"/>
          <p:cNvSpPr/>
          <p:nvPr/>
        </p:nvSpPr>
        <p:spPr>
          <a:xfrm>
            <a:off x="548640" y="1344168"/>
            <a:ext cx="420624" cy="420624"/>
          </a:xfrm>
          <a:prstGeom prst="ellipse">
            <a:avLst/>
          </a:prstGeom>
          <a:solidFill>
            <a:srgbClr val="E1EFF1"/>
          </a:solidFill>
          <a:ln w="15875">
            <a:solidFill>
              <a:srgbClr val="D9DEE2"/>
            </a:solidFill>
            <a:prstDash val="solid"/>
          </a:ln>
        </p:spPr>
      </p:sp>
      <p:sp>
        <p:nvSpPr>
          <p:cNvPr id="8" name="Text 5"/>
          <p:cNvSpPr txBox="1"/>
          <p:nvPr/>
        </p:nvSpPr>
        <p:spPr>
          <a:xfrm>
            <a:off x="548640"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1</a:t>
            </a:r>
            <a:endParaRPr lang="en-US" sz="1300" dirty="0"/>
          </a:p>
        </p:txBody>
      </p:sp>
      <p:sp>
        <p:nvSpPr>
          <p:cNvPr id="9" name="Shape 6"/>
          <p:cNvSpPr/>
          <p:nvPr/>
        </p:nvSpPr>
        <p:spPr>
          <a:xfrm>
            <a:off x="1115568" y="1344168"/>
            <a:ext cx="420624" cy="420624"/>
          </a:xfrm>
          <a:prstGeom prst="ellipse">
            <a:avLst/>
          </a:prstGeom>
          <a:solidFill>
            <a:srgbClr val="E1EFF1"/>
          </a:solidFill>
          <a:ln w="15875">
            <a:solidFill>
              <a:srgbClr val="D9DEE2"/>
            </a:solidFill>
            <a:prstDash val="solid"/>
          </a:ln>
        </p:spPr>
      </p:sp>
      <p:sp>
        <p:nvSpPr>
          <p:cNvPr id="10" name="Text 7"/>
          <p:cNvSpPr txBox="1"/>
          <p:nvPr/>
        </p:nvSpPr>
        <p:spPr>
          <a:xfrm>
            <a:off x="1115568"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2</a:t>
            </a:r>
            <a:endParaRPr lang="en-US" sz="1300" dirty="0"/>
          </a:p>
        </p:txBody>
      </p:sp>
      <p:sp>
        <p:nvSpPr>
          <p:cNvPr id="11" name="Shape 8"/>
          <p:cNvSpPr/>
          <p:nvPr/>
        </p:nvSpPr>
        <p:spPr>
          <a:xfrm>
            <a:off x="1682496" y="1344168"/>
            <a:ext cx="420624" cy="420624"/>
          </a:xfrm>
          <a:prstGeom prst="ellipse">
            <a:avLst/>
          </a:prstGeom>
          <a:solidFill>
            <a:srgbClr val="E1EFF1"/>
          </a:solidFill>
          <a:ln w="15875">
            <a:solidFill>
              <a:srgbClr val="D9DEE2"/>
            </a:solidFill>
            <a:prstDash val="solid"/>
          </a:ln>
        </p:spPr>
      </p:sp>
      <p:sp>
        <p:nvSpPr>
          <p:cNvPr id="12" name="Text 9"/>
          <p:cNvSpPr txBox="1"/>
          <p:nvPr/>
        </p:nvSpPr>
        <p:spPr>
          <a:xfrm>
            <a:off x="1682496"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3</a:t>
            </a:r>
            <a:endParaRPr lang="en-US" sz="1300" dirty="0"/>
          </a:p>
        </p:txBody>
      </p:sp>
      <p:sp>
        <p:nvSpPr>
          <p:cNvPr id="13" name="Shape 10"/>
          <p:cNvSpPr/>
          <p:nvPr/>
        </p:nvSpPr>
        <p:spPr>
          <a:xfrm>
            <a:off x="2249424" y="1344168"/>
            <a:ext cx="420624" cy="420624"/>
          </a:xfrm>
          <a:prstGeom prst="ellipse">
            <a:avLst/>
          </a:prstGeom>
          <a:solidFill>
            <a:srgbClr val="E1EFF1"/>
          </a:solidFill>
          <a:ln w="15875">
            <a:solidFill>
              <a:srgbClr val="D9DEE2"/>
            </a:solidFill>
            <a:prstDash val="solid"/>
          </a:ln>
        </p:spPr>
      </p:sp>
      <p:sp>
        <p:nvSpPr>
          <p:cNvPr id="14" name="Text 11"/>
          <p:cNvSpPr txBox="1"/>
          <p:nvPr/>
        </p:nvSpPr>
        <p:spPr>
          <a:xfrm>
            <a:off x="2249424"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4</a:t>
            </a:r>
            <a:endParaRPr lang="en-US" sz="1300" dirty="0"/>
          </a:p>
        </p:txBody>
      </p:sp>
      <p:sp>
        <p:nvSpPr>
          <p:cNvPr id="15" name="Shape 12"/>
          <p:cNvSpPr/>
          <p:nvPr/>
        </p:nvSpPr>
        <p:spPr>
          <a:xfrm>
            <a:off x="2816352" y="1344168"/>
            <a:ext cx="420624" cy="420624"/>
          </a:xfrm>
          <a:prstGeom prst="ellipse">
            <a:avLst/>
          </a:prstGeom>
          <a:solidFill>
            <a:srgbClr val="E1EFF1"/>
          </a:solidFill>
          <a:ln w="15875">
            <a:solidFill>
              <a:srgbClr val="D9DEE2"/>
            </a:solidFill>
            <a:prstDash val="solid"/>
          </a:ln>
        </p:spPr>
      </p:sp>
      <p:sp>
        <p:nvSpPr>
          <p:cNvPr id="16" name="Text 13"/>
          <p:cNvSpPr txBox="1"/>
          <p:nvPr/>
        </p:nvSpPr>
        <p:spPr>
          <a:xfrm>
            <a:off x="2816352"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5</a:t>
            </a:r>
            <a:endParaRPr lang="en-US" sz="1300" dirty="0"/>
          </a:p>
        </p:txBody>
      </p:sp>
      <p:sp>
        <p:nvSpPr>
          <p:cNvPr id="17" name="Shape 14"/>
          <p:cNvSpPr/>
          <p:nvPr/>
        </p:nvSpPr>
        <p:spPr>
          <a:xfrm>
            <a:off x="3383280" y="1344168"/>
            <a:ext cx="420624" cy="420624"/>
          </a:xfrm>
          <a:prstGeom prst="ellipse">
            <a:avLst/>
          </a:prstGeom>
          <a:solidFill>
            <a:srgbClr val="E1EFF1"/>
          </a:solidFill>
          <a:ln w="15875">
            <a:solidFill>
              <a:srgbClr val="D9DEE2"/>
            </a:solidFill>
            <a:prstDash val="solid"/>
          </a:ln>
        </p:spPr>
      </p:sp>
      <p:sp>
        <p:nvSpPr>
          <p:cNvPr id="18" name="Text 15"/>
          <p:cNvSpPr txBox="1"/>
          <p:nvPr/>
        </p:nvSpPr>
        <p:spPr>
          <a:xfrm>
            <a:off x="3383280" y="1344168"/>
            <a:ext cx="420624" cy="420624"/>
          </a:xfrm>
          <a:prstGeom prst="rect">
            <a:avLst/>
          </a:prstGeom>
          <a:noFill/>
          <a:ln/>
        </p:spPr>
        <p:txBody>
          <a:bodyPr wrap="square" lIns="0" tIns="0" rIns="0" bIns="0" rtlCol="0" anchor="ctr"/>
          <a:lstStyle/>
          <a:p>
            <a:pPr algn="ctr" indent="0" marL="0">
              <a:buNone/>
            </a:pPr>
            <a:r>
              <a:rPr lang="en-US" sz="1300" b="1" dirty="0">
                <a:solidFill>
                  <a:srgbClr val="287079"/>
                </a:solidFill>
                <a:latin typeface="Arial" pitchFamily="34" charset="0"/>
                <a:ea typeface="Arial" pitchFamily="34" charset="-122"/>
                <a:cs typeface="Arial" pitchFamily="34" charset="-120"/>
              </a:rPr>
              <a:t>6</a:t>
            </a:r>
            <a:endParaRPr lang="en-US" sz="1300" dirty="0"/>
          </a:p>
        </p:txBody>
      </p:sp>
      <p:sp>
        <p:nvSpPr>
          <p:cNvPr id="19" name="Shape 16"/>
          <p:cNvSpPr/>
          <p:nvPr/>
        </p:nvSpPr>
        <p:spPr>
          <a:xfrm>
            <a:off x="3950208" y="1344168"/>
            <a:ext cx="420624" cy="420624"/>
          </a:xfrm>
          <a:prstGeom prst="ellipse">
            <a:avLst/>
          </a:prstGeom>
          <a:solidFill>
            <a:srgbClr val="FF462D"/>
          </a:solidFill>
          <a:ln/>
        </p:spPr>
      </p:sp>
      <p:sp>
        <p:nvSpPr>
          <p:cNvPr id="20" name="Text 17"/>
          <p:cNvSpPr txBox="1"/>
          <p:nvPr/>
        </p:nvSpPr>
        <p:spPr>
          <a:xfrm>
            <a:off x="3950208" y="13441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pic>
        <p:nvPicPr>
          <p:cNvPr id="21" name="Image 1" descr="/private/tmp/claude-501/-Users-salehhamed-Outcome-Engine/91861432-41e2-4884-bc97-63c6dff2d021/scratchpad/wk/icons/TbRocket-teal.png">    </p:cNvPr>
          <p:cNvPicPr>
            <a:picLocks noChangeAspect="1"/>
          </p:cNvPicPr>
          <p:nvPr/>
        </p:nvPicPr>
        <p:blipFill>
          <a:blip r:embed="rId4"/>
          <a:stretch>
            <a:fillRect/>
          </a:stretch>
        </p:blipFill>
        <p:spPr>
          <a:xfrm>
            <a:off x="10927080" y="1261872"/>
            <a:ext cx="685800" cy="685800"/>
          </a:xfrm>
          <a:prstGeom prst="rect">
            <a:avLst/>
          </a:prstGeom>
        </p:spPr>
      </p:pic>
      <p:sp>
        <p:nvSpPr>
          <p:cNvPr id="22" name="Shape 18"/>
          <p:cNvSpPr/>
          <p:nvPr/>
        </p:nvSpPr>
        <p:spPr>
          <a:xfrm>
            <a:off x="548640" y="2057400"/>
            <a:ext cx="5349240" cy="2834640"/>
          </a:xfrm>
          <a:prstGeom prst="roundRect">
            <a:avLst>
              <a:gd name="adj" fmla="val 2581"/>
            </a:avLst>
          </a:prstGeom>
          <a:solidFill>
            <a:srgbClr val="F2F4F5"/>
          </a:solidFill>
          <a:ln w="12700">
            <a:solidFill>
              <a:srgbClr val="D9DEE2"/>
            </a:solidFill>
            <a:prstDash val="solid"/>
          </a:ln>
        </p:spPr>
      </p:sp>
      <p:sp>
        <p:nvSpPr>
          <p:cNvPr id="23" name="Shape 19"/>
          <p:cNvSpPr/>
          <p:nvPr/>
        </p:nvSpPr>
        <p:spPr>
          <a:xfrm>
            <a:off x="548640" y="2057400"/>
            <a:ext cx="5349240" cy="457200"/>
          </a:xfrm>
          <a:prstGeom prst="rect">
            <a:avLst/>
          </a:prstGeom>
          <a:solidFill>
            <a:srgbClr val="D9DEE2"/>
          </a:solidFill>
          <a:ln/>
        </p:spPr>
      </p:sp>
      <p:sp>
        <p:nvSpPr>
          <p:cNvPr id="24" name="Shape 20"/>
          <p:cNvSpPr/>
          <p:nvPr/>
        </p:nvSpPr>
        <p:spPr>
          <a:xfrm>
            <a:off x="713232" y="2212848"/>
            <a:ext cx="146304" cy="146304"/>
          </a:xfrm>
          <a:prstGeom prst="ellipse">
            <a:avLst/>
          </a:prstGeom>
          <a:solidFill>
            <a:srgbClr val="FF5F57"/>
          </a:solidFill>
          <a:ln/>
        </p:spPr>
      </p:sp>
      <p:sp>
        <p:nvSpPr>
          <p:cNvPr id="25" name="Shape 21"/>
          <p:cNvSpPr/>
          <p:nvPr/>
        </p:nvSpPr>
        <p:spPr>
          <a:xfrm>
            <a:off x="941832" y="2212848"/>
            <a:ext cx="146304" cy="146304"/>
          </a:xfrm>
          <a:prstGeom prst="ellipse">
            <a:avLst/>
          </a:prstGeom>
          <a:solidFill>
            <a:srgbClr val="FEBC2E"/>
          </a:solidFill>
          <a:ln/>
        </p:spPr>
      </p:sp>
      <p:sp>
        <p:nvSpPr>
          <p:cNvPr id="26" name="Shape 22"/>
          <p:cNvSpPr/>
          <p:nvPr/>
        </p:nvSpPr>
        <p:spPr>
          <a:xfrm>
            <a:off x="1170432" y="2212848"/>
            <a:ext cx="146304" cy="146304"/>
          </a:xfrm>
          <a:prstGeom prst="ellipse">
            <a:avLst/>
          </a:prstGeom>
          <a:solidFill>
            <a:srgbClr val="28C840"/>
          </a:solidFill>
          <a:ln/>
        </p:spPr>
      </p:sp>
      <p:sp>
        <p:nvSpPr>
          <p:cNvPr id="27" name="Text 23"/>
          <p:cNvSpPr txBox="1"/>
          <p:nvPr/>
        </p:nvSpPr>
        <p:spPr>
          <a:xfrm>
            <a:off x="1463040" y="2057400"/>
            <a:ext cx="4206240" cy="457200"/>
          </a:xfrm>
          <a:prstGeom prst="rect">
            <a:avLst/>
          </a:prstGeom>
          <a:noFill/>
          <a:ln/>
        </p:spPr>
        <p:txBody>
          <a:bodyPr wrap="square" lIns="0" tIns="0" rIns="0" bIns="0" rtlCol="0" anchor="ctr"/>
          <a:lstStyle/>
          <a:p>
            <a:pPr indent="0" marL="0">
              <a:buNone/>
            </a:pPr>
            <a:r>
              <a:rPr lang="en-US" sz="1200" b="1" spc="150" kern="0" dirty="0">
                <a:solidFill>
                  <a:srgbClr val="36454F"/>
                </a:solidFill>
                <a:latin typeface="Arial" pitchFamily="34" charset="0"/>
                <a:ea typeface="Arial" pitchFamily="34" charset="-122"/>
                <a:cs typeface="Arial" pitchFamily="34" charset="-120"/>
              </a:rPr>
              <a:t>THE RECORD SAID</a:t>
            </a:r>
            <a:endParaRPr lang="en-US" sz="1200" dirty="0"/>
          </a:p>
        </p:txBody>
      </p:sp>
      <p:sp>
        <p:nvSpPr>
          <p:cNvPr id="28" name="Text 24"/>
          <p:cNvSpPr txBox="1"/>
          <p:nvPr/>
        </p:nvSpPr>
        <p:spPr>
          <a:xfrm>
            <a:off x="822960" y="2697480"/>
            <a:ext cx="4800600" cy="2103120"/>
          </a:xfrm>
          <a:prstGeom prst="rect">
            <a:avLst/>
          </a:prstGeom>
          <a:noFill/>
          <a:ln/>
        </p:spPr>
        <p:txBody>
          <a:bodyPr wrap="square" lIns="0" tIns="0" rIns="0" bIns="0" rtlCol="0" anchor="t"/>
          <a:lstStyle/>
          <a:p>
            <a:pPr indent="0" marL="0">
              <a:buNone/>
            </a:pPr>
            <a:r>
              <a:rPr lang="en-US" sz="2200" dirty="0">
                <a:solidFill>
                  <a:srgbClr val="1F2A33"/>
                </a:solidFill>
                <a:latin typeface="Arial" pitchFamily="34" charset="0"/>
                <a:ea typeface="Arial" pitchFamily="34" charset="-122"/>
                <a:cs typeface="Arial" pitchFamily="34" charset="-120"/>
              </a:rPr>
              <a:t>A hiring request and a subcontractor quote at a higher cost. The deal was signed on 29 September.</a:t>
            </a:r>
            <a:endParaRPr lang="en-US" sz="2200" dirty="0"/>
          </a:p>
        </p:txBody>
      </p:sp>
      <p:sp>
        <p:nvSpPr>
          <p:cNvPr id="29" name="Shape 25"/>
          <p:cNvSpPr/>
          <p:nvPr/>
        </p:nvSpPr>
        <p:spPr>
          <a:xfrm>
            <a:off x="6291072" y="2057400"/>
            <a:ext cx="5349240" cy="2834640"/>
          </a:xfrm>
          <a:prstGeom prst="roundRect">
            <a:avLst>
              <a:gd name="adj" fmla="val 2581"/>
            </a:avLst>
          </a:prstGeom>
          <a:solidFill>
            <a:srgbClr val="FFFFFF"/>
          </a:solidFill>
          <a:ln w="25400">
            <a:solidFill>
              <a:srgbClr val="287079"/>
            </a:solidFill>
            <a:prstDash val="solid"/>
          </a:ln>
        </p:spPr>
      </p:sp>
      <p:sp>
        <p:nvSpPr>
          <p:cNvPr id="30" name="Shape 26"/>
          <p:cNvSpPr/>
          <p:nvPr/>
        </p:nvSpPr>
        <p:spPr>
          <a:xfrm>
            <a:off x="6492240" y="2194560"/>
            <a:ext cx="502920" cy="502920"/>
          </a:xfrm>
          <a:prstGeom prst="ellipse">
            <a:avLst/>
          </a:prstGeom>
          <a:solidFill>
            <a:srgbClr val="287079"/>
          </a:solidFill>
          <a:ln/>
        </p:spPr>
      </p:sp>
      <p:pic>
        <p:nvPicPr>
          <p:cNvPr id="31" name="Image 2" descr="/private/tmp/claude-501/-Users-salehhamed-Outcome-Engine/91861432-41e2-4884-bc97-63c6dff2d021/scratchpad/wk/icons/TbEye-white.png">    </p:cNvPr>
          <p:cNvPicPr>
            <a:picLocks noChangeAspect="1"/>
          </p:cNvPicPr>
          <p:nvPr/>
        </p:nvPicPr>
        <p:blipFill>
          <a:blip r:embed="rId5"/>
          <a:stretch>
            <a:fillRect/>
          </a:stretch>
        </p:blipFill>
        <p:spPr>
          <a:xfrm>
            <a:off x="6592824" y="2295144"/>
            <a:ext cx="301752" cy="301752"/>
          </a:xfrm>
          <a:prstGeom prst="rect">
            <a:avLst/>
          </a:prstGeom>
        </p:spPr>
      </p:pic>
      <p:sp>
        <p:nvSpPr>
          <p:cNvPr id="32" name="Text 27"/>
          <p:cNvSpPr txBox="1"/>
          <p:nvPr/>
        </p:nvSpPr>
        <p:spPr>
          <a:xfrm>
            <a:off x="7132320" y="2194560"/>
            <a:ext cx="3657600" cy="502920"/>
          </a:xfrm>
          <a:prstGeom prst="rect">
            <a:avLst/>
          </a:prstGeom>
          <a:noFill/>
          <a:ln/>
        </p:spPr>
        <p:txBody>
          <a:bodyPr wrap="square" lIns="0" tIns="0" rIns="0" bIns="0" rtlCol="0" anchor="ctr"/>
          <a:lstStyle/>
          <a:p>
            <a:pPr indent="0" marL="0">
              <a:buNone/>
            </a:pPr>
            <a:r>
              <a:rPr lang="en-US" sz="1200" b="1" spc="150" kern="0" dirty="0">
                <a:solidFill>
                  <a:srgbClr val="287079"/>
                </a:solidFill>
                <a:latin typeface="Arial" pitchFamily="34" charset="0"/>
                <a:ea typeface="Arial" pitchFamily="34" charset="-122"/>
                <a:cs typeface="Arial" pitchFamily="34" charset="-120"/>
              </a:rPr>
              <a:t>WHAT WAS TRUE</a:t>
            </a:r>
            <a:endParaRPr lang="en-US" sz="1200" dirty="0"/>
          </a:p>
        </p:txBody>
      </p:sp>
      <p:sp>
        <p:nvSpPr>
          <p:cNvPr id="33" name="Text 28"/>
          <p:cNvSpPr txBox="1"/>
          <p:nvPr/>
        </p:nvSpPr>
        <p:spPr>
          <a:xfrm>
            <a:off x="6537960" y="2834640"/>
            <a:ext cx="4892040" cy="1965960"/>
          </a:xfrm>
          <a:prstGeom prst="rect">
            <a:avLst/>
          </a:prstGeom>
          <a:noFill/>
          <a:ln/>
        </p:spPr>
        <p:txBody>
          <a:bodyPr wrap="square" lIns="0" tIns="0" rIns="0" bIns="0" rtlCol="0" anchor="t"/>
          <a:lstStyle/>
          <a:p>
            <a:pPr indent="0" marL="0">
              <a:buNone/>
            </a:pPr>
            <a:r>
              <a:rPr lang="en-US" sz="2100" dirty="0">
                <a:solidFill>
                  <a:srgbClr val="1F2A33"/>
                </a:solidFill>
                <a:latin typeface="Arial" pitchFamily="34" charset="0"/>
                <a:ea typeface="Arial" pitchFamily="34" charset="-122"/>
                <a:cs typeface="Arial" pitchFamily="34" charset="-120"/>
              </a:rPr>
              <a:t>The plan was never approved and the gap had no owner. The deal was signed without knowing it could be staffed.</a:t>
            </a:r>
            <a:endParaRPr lang="en-US" sz="2100" dirty="0"/>
          </a:p>
        </p:txBody>
      </p:sp>
      <p:sp>
        <p:nvSpPr>
          <p:cNvPr id="34" name="Shape 29"/>
          <p:cNvSpPr/>
          <p:nvPr/>
        </p:nvSpPr>
        <p:spPr>
          <a:xfrm>
            <a:off x="548640" y="5120640"/>
            <a:ext cx="11091672" cy="914400"/>
          </a:xfrm>
          <a:prstGeom prst="roundRect">
            <a:avLst>
              <a:gd name="adj" fmla="val 8000"/>
            </a:avLst>
          </a:prstGeom>
          <a:solidFill>
            <a:srgbClr val="FFF0EC"/>
          </a:solidFill>
          <a:ln/>
        </p:spPr>
      </p:sp>
      <p:pic>
        <p:nvPicPr>
          <p:cNvPr id="35" name="Image 3" descr="/private/tmp/claude-501/-Users-salehhamed-Outcome-Engine/91861432-41e2-4884-bc97-63c6dff2d021/scratchpad/wk/icons/TbBulb-red.png">    </p:cNvPr>
          <p:cNvPicPr>
            <a:picLocks noChangeAspect="1"/>
          </p:cNvPicPr>
          <p:nvPr/>
        </p:nvPicPr>
        <p:blipFill>
          <a:blip r:embed="rId6"/>
          <a:stretch>
            <a:fillRect/>
          </a:stretch>
        </p:blipFill>
        <p:spPr>
          <a:xfrm>
            <a:off x="822960" y="5285232"/>
            <a:ext cx="566928" cy="566928"/>
          </a:xfrm>
          <a:prstGeom prst="rect">
            <a:avLst/>
          </a:prstGeom>
        </p:spPr>
      </p:pic>
      <p:sp>
        <p:nvSpPr>
          <p:cNvPr id="36" name="Text 30"/>
          <p:cNvSpPr txBox="1"/>
          <p:nvPr/>
        </p:nvSpPr>
        <p:spPr>
          <a:xfrm>
            <a:off x="1600200" y="5120640"/>
            <a:ext cx="9875520" cy="914400"/>
          </a:xfrm>
          <a:prstGeom prst="rect">
            <a:avLst/>
          </a:prstGeom>
          <a:noFill/>
          <a:ln/>
        </p:spPr>
        <p:txBody>
          <a:bodyPr wrap="square" lIns="0" tIns="0" rIns="0" bIns="0" rtlCol="0" anchor="ctr"/>
          <a:lstStyle/>
          <a:p>
            <a:pPr indent="0" marL="0">
              <a:buNone/>
            </a:pPr>
            <a:r>
              <a:rPr lang="en-US" sz="2100" b="1" dirty="0">
                <a:solidFill>
                  <a:srgbClr val="FF462D"/>
                </a:solidFill>
                <a:latin typeface="Arial" pitchFamily="34" charset="0"/>
                <a:ea typeface="Arial" pitchFamily="34" charset="-122"/>
                <a:cs typeface="Arial" pitchFamily="34" charset="-120"/>
              </a:rPr>
              <a:t>A gap needs an owner, and a signature needs an approved plan.</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WHAT THE RESEARCH FOUND</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Four things look alike in the records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39</a:t>
            </a:r>
            <a:endParaRPr lang="en-US" sz="1000" dirty="0"/>
          </a:p>
        </p:txBody>
      </p:sp>
      <p:sp>
        <p:nvSpPr>
          <p:cNvPr id="7" name="Shape 4"/>
          <p:cNvSpPr/>
          <p:nvPr/>
        </p:nvSpPr>
        <p:spPr>
          <a:xfrm>
            <a:off x="548640" y="1691640"/>
            <a:ext cx="2377440" cy="2743200"/>
          </a:xfrm>
          <a:prstGeom prst="roundRect">
            <a:avLst>
              <a:gd name="adj" fmla="val 3846"/>
            </a:avLst>
          </a:prstGeom>
          <a:solidFill>
            <a:srgbClr val="FFFFFF"/>
          </a:solidFill>
          <a:ln w="12700">
            <a:solidFill>
              <a:srgbClr val="D9DEE2"/>
            </a:solidFill>
            <a:prstDash val="solid"/>
          </a:ln>
        </p:spPr>
      </p:sp>
      <p:pic>
        <p:nvPicPr>
          <p:cNvPr id="8" name="Image 1" descr="/private/tmp/claude-501/-Users-salehhamed-Outcome-Engine/91861432-41e2-4884-bc97-63c6dff2d021/scratchpad/wk/icons/TbDatabase-teal.png">    </p:cNvPr>
          <p:cNvPicPr>
            <a:picLocks noChangeAspect="1"/>
          </p:cNvPicPr>
          <p:nvPr/>
        </p:nvPicPr>
        <p:blipFill>
          <a:blip r:embed="rId4"/>
          <a:stretch>
            <a:fillRect/>
          </a:stretch>
        </p:blipFill>
        <p:spPr>
          <a:xfrm>
            <a:off x="1325880" y="1965960"/>
            <a:ext cx="822960" cy="822960"/>
          </a:xfrm>
          <a:prstGeom prst="rect">
            <a:avLst/>
          </a:prstGeom>
        </p:spPr>
      </p:pic>
      <p:sp>
        <p:nvSpPr>
          <p:cNvPr id="9" name="Text 5"/>
          <p:cNvSpPr txBox="1"/>
          <p:nvPr/>
        </p:nvSpPr>
        <p:spPr>
          <a:xfrm>
            <a:off x="685800" y="2971800"/>
            <a:ext cx="2103120" cy="548640"/>
          </a:xfrm>
          <a:prstGeom prst="rect">
            <a:avLst/>
          </a:prstGeom>
          <a:noFill/>
          <a:ln/>
        </p:spPr>
        <p:txBody>
          <a:bodyPr wrap="square" lIns="0" tIns="0" rIns="0" bIns="0" rtlCol="0" anchor="t"/>
          <a:lstStyle/>
          <a:p>
            <a:pPr algn="ctr" indent="0" marL="0">
              <a:buNone/>
            </a:pPr>
            <a:r>
              <a:rPr lang="en-US" sz="1900" b="1" dirty="0">
                <a:solidFill>
                  <a:srgbClr val="1F2A33"/>
                </a:solidFill>
                <a:latin typeface="Arial" pitchFamily="34" charset="0"/>
                <a:ea typeface="Arial" pitchFamily="34" charset="-122"/>
                <a:cs typeface="Arial" pitchFamily="34" charset="-120"/>
              </a:rPr>
              <a:t>On the record</a:t>
            </a:r>
            <a:endParaRPr lang="en-US" sz="1900" dirty="0"/>
          </a:p>
        </p:txBody>
      </p:sp>
      <p:sp>
        <p:nvSpPr>
          <p:cNvPr id="10" name="Text 6"/>
          <p:cNvSpPr txBox="1"/>
          <p:nvPr/>
        </p:nvSpPr>
        <p:spPr>
          <a:xfrm>
            <a:off x="685800" y="3566160"/>
            <a:ext cx="2103120" cy="548640"/>
          </a:xfrm>
          <a:prstGeom prst="rect">
            <a:avLst/>
          </a:prstGeom>
          <a:noFill/>
          <a:ln/>
        </p:spPr>
        <p:txBody>
          <a:bodyPr wrap="square" lIns="0" tIns="0" rIns="0" bIns="0" rtlCol="0" anchor="t"/>
          <a:lstStyle/>
          <a:p>
            <a:pPr algn="ctr" indent="0" marL="0">
              <a:buNone/>
            </a:pPr>
            <a:r>
              <a:rPr lang="en-US" sz="1350" dirty="0">
                <a:solidFill>
                  <a:srgbClr val="5A5A5A"/>
                </a:solidFill>
                <a:latin typeface="Arial" pitchFamily="34" charset="0"/>
                <a:ea typeface="Arial" pitchFamily="34" charset="-122"/>
                <a:cs typeface="Arial" pitchFamily="34" charset="-120"/>
              </a:rPr>
              <a:t>Workday says free</a:t>
            </a:r>
            <a:endParaRPr lang="en-US" sz="1350" dirty="0"/>
          </a:p>
        </p:txBody>
      </p:sp>
      <p:sp>
        <p:nvSpPr>
          <p:cNvPr id="11" name="Text 7"/>
          <p:cNvSpPr txBox="1"/>
          <p:nvPr/>
        </p:nvSpPr>
        <p:spPr>
          <a:xfrm>
            <a:off x="2926080" y="2606040"/>
            <a:ext cx="502920" cy="731520"/>
          </a:xfrm>
          <a:prstGeom prst="rect">
            <a:avLst/>
          </a:prstGeom>
          <a:noFill/>
          <a:ln/>
        </p:spPr>
        <p:txBody>
          <a:bodyPr wrap="square" lIns="0" tIns="0" rIns="0" bIns="0" rtlCol="0" anchor="ctr"/>
          <a:lstStyle/>
          <a:p>
            <a:pPr algn="ctr" indent="0" marL="0">
              <a:buNone/>
            </a:pPr>
            <a:r>
              <a:rPr lang="en-US" sz="4000" b="1" dirty="0">
                <a:solidFill>
                  <a:srgbClr val="FF462D"/>
                </a:solidFill>
                <a:latin typeface="Arial" pitchFamily="34" charset="0"/>
                <a:ea typeface="Arial" pitchFamily="34" charset="-122"/>
                <a:cs typeface="Arial" pitchFamily="34" charset="-120"/>
              </a:rPr>
              <a:t>≠</a:t>
            </a:r>
            <a:endParaRPr lang="en-US" sz="4000" dirty="0"/>
          </a:p>
        </p:txBody>
      </p:sp>
      <p:sp>
        <p:nvSpPr>
          <p:cNvPr id="12" name="Shape 8"/>
          <p:cNvSpPr/>
          <p:nvPr/>
        </p:nvSpPr>
        <p:spPr>
          <a:xfrm>
            <a:off x="3429000" y="1691640"/>
            <a:ext cx="2377440" cy="2743200"/>
          </a:xfrm>
          <a:prstGeom prst="roundRect">
            <a:avLst>
              <a:gd name="adj" fmla="val 3846"/>
            </a:avLst>
          </a:prstGeom>
          <a:solidFill>
            <a:srgbClr val="FFFFFF"/>
          </a:solidFill>
          <a:ln w="12700">
            <a:solidFill>
              <a:srgbClr val="D9DEE2"/>
            </a:solidFill>
            <a:prstDash val="solid"/>
          </a:ln>
        </p:spPr>
      </p:sp>
      <p:pic>
        <p:nvPicPr>
          <p:cNvPr id="13" name="Image 2" descr="/private/tmp/claude-501/-Users-salehhamed-Outcome-Engine/91861432-41e2-4884-bc97-63c6dff2d021/scratchpad/wk/icons/TbUserCheck-teal.png">    </p:cNvPr>
          <p:cNvPicPr>
            <a:picLocks noChangeAspect="1"/>
          </p:cNvPicPr>
          <p:nvPr/>
        </p:nvPicPr>
        <p:blipFill>
          <a:blip r:embed="rId5"/>
          <a:stretch>
            <a:fillRect/>
          </a:stretch>
        </p:blipFill>
        <p:spPr>
          <a:xfrm>
            <a:off x="4206240" y="1965960"/>
            <a:ext cx="822960" cy="822960"/>
          </a:xfrm>
          <a:prstGeom prst="rect">
            <a:avLst/>
          </a:prstGeom>
        </p:spPr>
      </p:pic>
      <p:sp>
        <p:nvSpPr>
          <p:cNvPr id="14" name="Text 9"/>
          <p:cNvSpPr txBox="1"/>
          <p:nvPr/>
        </p:nvSpPr>
        <p:spPr>
          <a:xfrm>
            <a:off x="3566160" y="2971800"/>
            <a:ext cx="2103120" cy="548640"/>
          </a:xfrm>
          <a:prstGeom prst="rect">
            <a:avLst/>
          </a:prstGeom>
          <a:noFill/>
          <a:ln/>
        </p:spPr>
        <p:txBody>
          <a:bodyPr wrap="square" lIns="0" tIns="0" rIns="0" bIns="0" rtlCol="0" anchor="t"/>
          <a:lstStyle/>
          <a:p>
            <a:pPr algn="ctr" indent="0" marL="0">
              <a:buNone/>
            </a:pPr>
            <a:r>
              <a:rPr lang="en-US" sz="1900" b="1" dirty="0">
                <a:solidFill>
                  <a:srgbClr val="1F2A33"/>
                </a:solidFill>
                <a:latin typeface="Arial" pitchFamily="34" charset="0"/>
                <a:ea typeface="Arial" pitchFamily="34" charset="-122"/>
                <a:cs typeface="Arial" pitchFamily="34" charset="-120"/>
              </a:rPr>
              <a:t>Really free</a:t>
            </a:r>
            <a:endParaRPr lang="en-US" sz="1900" dirty="0"/>
          </a:p>
        </p:txBody>
      </p:sp>
      <p:sp>
        <p:nvSpPr>
          <p:cNvPr id="15" name="Text 10"/>
          <p:cNvSpPr txBox="1"/>
          <p:nvPr/>
        </p:nvSpPr>
        <p:spPr>
          <a:xfrm>
            <a:off x="3566160" y="3566160"/>
            <a:ext cx="2103120" cy="548640"/>
          </a:xfrm>
          <a:prstGeom prst="rect">
            <a:avLst/>
          </a:prstGeom>
          <a:noFill/>
          <a:ln/>
        </p:spPr>
        <p:txBody>
          <a:bodyPr wrap="square" lIns="0" tIns="0" rIns="0" bIns="0" rtlCol="0" anchor="t"/>
          <a:lstStyle/>
          <a:p>
            <a:pPr algn="ctr" indent="0" marL="0">
              <a:buNone/>
            </a:pPr>
            <a:r>
              <a:rPr lang="en-US" sz="1350" dirty="0">
                <a:solidFill>
                  <a:srgbClr val="5A5A5A"/>
                </a:solidFill>
                <a:latin typeface="Arial" pitchFamily="34" charset="0"/>
                <a:ea typeface="Arial" pitchFamily="34" charset="-122"/>
                <a:cs typeface="Arial" pitchFamily="34" charset="-120"/>
              </a:rPr>
              <a:t>their manager confirms</a:t>
            </a:r>
            <a:endParaRPr lang="en-US" sz="1350" dirty="0"/>
          </a:p>
        </p:txBody>
      </p:sp>
      <p:sp>
        <p:nvSpPr>
          <p:cNvPr id="16" name="Text 11"/>
          <p:cNvSpPr txBox="1"/>
          <p:nvPr/>
        </p:nvSpPr>
        <p:spPr>
          <a:xfrm>
            <a:off x="5806440" y="2606040"/>
            <a:ext cx="502920" cy="731520"/>
          </a:xfrm>
          <a:prstGeom prst="rect">
            <a:avLst/>
          </a:prstGeom>
          <a:noFill/>
          <a:ln/>
        </p:spPr>
        <p:txBody>
          <a:bodyPr wrap="square" lIns="0" tIns="0" rIns="0" bIns="0" rtlCol="0" anchor="ctr"/>
          <a:lstStyle/>
          <a:p>
            <a:pPr algn="ctr" indent="0" marL="0">
              <a:buNone/>
            </a:pPr>
            <a:r>
              <a:rPr lang="en-US" sz="4000" b="1" dirty="0">
                <a:solidFill>
                  <a:srgbClr val="FF462D"/>
                </a:solidFill>
                <a:latin typeface="Arial" pitchFamily="34" charset="0"/>
                <a:ea typeface="Arial" pitchFamily="34" charset="-122"/>
                <a:cs typeface="Arial" pitchFamily="34" charset="-120"/>
              </a:rPr>
              <a:t>≠</a:t>
            </a:r>
            <a:endParaRPr lang="en-US" sz="4000" dirty="0"/>
          </a:p>
        </p:txBody>
      </p:sp>
      <p:sp>
        <p:nvSpPr>
          <p:cNvPr id="17" name="Shape 12"/>
          <p:cNvSpPr/>
          <p:nvPr/>
        </p:nvSpPr>
        <p:spPr>
          <a:xfrm>
            <a:off x="6309360" y="1691640"/>
            <a:ext cx="2377440" cy="2743200"/>
          </a:xfrm>
          <a:prstGeom prst="roundRect">
            <a:avLst>
              <a:gd name="adj" fmla="val 3846"/>
            </a:avLst>
          </a:prstGeom>
          <a:solidFill>
            <a:srgbClr val="FFFFFF"/>
          </a:solidFill>
          <a:ln w="12700">
            <a:solidFill>
              <a:srgbClr val="D9DEE2"/>
            </a:solidFill>
            <a:prstDash val="solid"/>
          </a:ln>
        </p:spPr>
      </p:sp>
      <p:pic>
        <p:nvPicPr>
          <p:cNvPr id="18" name="Image 3" descr="/private/tmp/claude-501/-Users-salehhamed-Outcome-Engine/91861432-41e2-4884-bc97-63c6dff2d021/scratchpad/wk/icons/TbDoorExit-teal.png">    </p:cNvPr>
          <p:cNvPicPr>
            <a:picLocks noChangeAspect="1"/>
          </p:cNvPicPr>
          <p:nvPr/>
        </p:nvPicPr>
        <p:blipFill>
          <a:blip r:embed="rId6"/>
          <a:stretch>
            <a:fillRect/>
          </a:stretch>
        </p:blipFill>
        <p:spPr>
          <a:xfrm>
            <a:off x="7086600" y="1965960"/>
            <a:ext cx="822960" cy="822960"/>
          </a:xfrm>
          <a:prstGeom prst="rect">
            <a:avLst/>
          </a:prstGeom>
        </p:spPr>
      </p:pic>
      <p:sp>
        <p:nvSpPr>
          <p:cNvPr id="19" name="Text 13"/>
          <p:cNvSpPr txBox="1"/>
          <p:nvPr/>
        </p:nvSpPr>
        <p:spPr>
          <a:xfrm>
            <a:off x="6446520" y="2971800"/>
            <a:ext cx="2103120" cy="548640"/>
          </a:xfrm>
          <a:prstGeom prst="rect">
            <a:avLst/>
          </a:prstGeom>
          <a:noFill/>
          <a:ln/>
        </p:spPr>
        <p:txBody>
          <a:bodyPr wrap="square" lIns="0" tIns="0" rIns="0" bIns="0" rtlCol="0" anchor="t"/>
          <a:lstStyle/>
          <a:p>
            <a:pPr algn="ctr" indent="0" marL="0">
              <a:buNone/>
            </a:pPr>
            <a:r>
              <a:rPr lang="en-US" sz="1900" b="1" dirty="0">
                <a:solidFill>
                  <a:srgbClr val="1F2A33"/>
                </a:solidFill>
                <a:latin typeface="Arial" pitchFamily="34" charset="0"/>
                <a:ea typeface="Arial" pitchFamily="34" charset="-122"/>
                <a:cs typeface="Arial" pitchFamily="34" charset="-120"/>
              </a:rPr>
              <a:t>Can be released</a:t>
            </a:r>
            <a:endParaRPr lang="en-US" sz="1900" dirty="0"/>
          </a:p>
        </p:txBody>
      </p:sp>
      <p:sp>
        <p:nvSpPr>
          <p:cNvPr id="20" name="Text 14"/>
          <p:cNvSpPr txBox="1"/>
          <p:nvPr/>
        </p:nvSpPr>
        <p:spPr>
          <a:xfrm>
            <a:off x="6446520" y="3566160"/>
            <a:ext cx="2103120" cy="548640"/>
          </a:xfrm>
          <a:prstGeom prst="rect">
            <a:avLst/>
          </a:prstGeom>
          <a:noFill/>
          <a:ln/>
        </p:spPr>
        <p:txBody>
          <a:bodyPr wrap="square" lIns="0" tIns="0" rIns="0" bIns="0" rtlCol="0" anchor="t"/>
          <a:lstStyle/>
          <a:p>
            <a:pPr algn="ctr" indent="0" marL="0">
              <a:buNone/>
            </a:pPr>
            <a:r>
              <a:rPr lang="en-US" sz="1350" dirty="0">
                <a:solidFill>
                  <a:srgbClr val="5A5A5A"/>
                </a:solidFill>
                <a:latin typeface="Arial" pitchFamily="34" charset="0"/>
                <a:ea typeface="Arial" pitchFamily="34" charset="-122"/>
                <a:cs typeface="Arial" pitchFamily="34" charset="-120"/>
              </a:rPr>
              <a:t>from current work</a:t>
            </a:r>
            <a:endParaRPr lang="en-US" sz="1350" dirty="0"/>
          </a:p>
        </p:txBody>
      </p:sp>
      <p:sp>
        <p:nvSpPr>
          <p:cNvPr id="21" name="Text 15"/>
          <p:cNvSpPr txBox="1"/>
          <p:nvPr/>
        </p:nvSpPr>
        <p:spPr>
          <a:xfrm>
            <a:off x="8686800" y="2606040"/>
            <a:ext cx="502920" cy="731520"/>
          </a:xfrm>
          <a:prstGeom prst="rect">
            <a:avLst/>
          </a:prstGeom>
          <a:noFill/>
          <a:ln/>
        </p:spPr>
        <p:txBody>
          <a:bodyPr wrap="square" lIns="0" tIns="0" rIns="0" bIns="0" rtlCol="0" anchor="ctr"/>
          <a:lstStyle/>
          <a:p>
            <a:pPr algn="ctr" indent="0" marL="0">
              <a:buNone/>
            </a:pPr>
            <a:r>
              <a:rPr lang="en-US" sz="4000" b="1" dirty="0">
                <a:solidFill>
                  <a:srgbClr val="FF462D"/>
                </a:solidFill>
                <a:latin typeface="Arial" pitchFamily="34" charset="0"/>
                <a:ea typeface="Arial" pitchFamily="34" charset="-122"/>
                <a:cs typeface="Arial" pitchFamily="34" charset="-120"/>
              </a:rPr>
              <a:t>≠</a:t>
            </a:r>
            <a:endParaRPr lang="en-US" sz="4000" dirty="0"/>
          </a:p>
        </p:txBody>
      </p:sp>
      <p:sp>
        <p:nvSpPr>
          <p:cNvPr id="22" name="Shape 16"/>
          <p:cNvSpPr/>
          <p:nvPr/>
        </p:nvSpPr>
        <p:spPr>
          <a:xfrm>
            <a:off x="9189720" y="1691640"/>
            <a:ext cx="2377440" cy="2743200"/>
          </a:xfrm>
          <a:prstGeom prst="roundRect">
            <a:avLst>
              <a:gd name="adj" fmla="val 3846"/>
            </a:avLst>
          </a:prstGeom>
          <a:solidFill>
            <a:srgbClr val="36454F"/>
          </a:solidFill>
          <a:ln/>
        </p:spPr>
      </p:sp>
      <p:pic>
        <p:nvPicPr>
          <p:cNvPr id="23" name="Image 4" descr="/private/tmp/claude-501/-Users-salehhamed-Outcome-Engine/91861432-41e2-4884-bc97-63c6dff2d021/scratchpad/wk/icons/TbUserQuestion-white.png">    </p:cNvPr>
          <p:cNvPicPr>
            <a:picLocks noChangeAspect="1"/>
          </p:cNvPicPr>
          <p:nvPr/>
        </p:nvPicPr>
        <p:blipFill>
          <a:blip r:embed="rId7"/>
          <a:stretch>
            <a:fillRect/>
          </a:stretch>
        </p:blipFill>
        <p:spPr>
          <a:xfrm>
            <a:off x="9966960" y="1965960"/>
            <a:ext cx="822960" cy="822960"/>
          </a:xfrm>
          <a:prstGeom prst="rect">
            <a:avLst/>
          </a:prstGeom>
        </p:spPr>
      </p:pic>
      <p:sp>
        <p:nvSpPr>
          <p:cNvPr id="24" name="Text 17"/>
          <p:cNvSpPr txBox="1"/>
          <p:nvPr/>
        </p:nvSpPr>
        <p:spPr>
          <a:xfrm>
            <a:off x="9326880" y="2971800"/>
            <a:ext cx="2103120" cy="548640"/>
          </a:xfrm>
          <a:prstGeom prst="rect">
            <a:avLst/>
          </a:prstGeom>
          <a:noFill/>
          <a:ln/>
        </p:spPr>
        <p:txBody>
          <a:bodyPr wrap="square" lIns="0" tIns="0" rIns="0" bIns="0" rtlCol="0" anchor="t"/>
          <a:lstStyle/>
          <a:p>
            <a:pPr algn="ctr" indent="0" marL="0">
              <a:buNone/>
            </a:pPr>
            <a:r>
              <a:rPr lang="en-US" sz="1900" b="1" dirty="0">
                <a:solidFill>
                  <a:srgbClr val="FFFFFF"/>
                </a:solidFill>
                <a:latin typeface="Arial" pitchFamily="34" charset="0"/>
                <a:ea typeface="Arial" pitchFamily="34" charset="-122"/>
                <a:cs typeface="Arial" pitchFamily="34" charset="-120"/>
              </a:rPr>
              <a:t>A real gap</a:t>
            </a:r>
            <a:endParaRPr lang="en-US" sz="1900" dirty="0"/>
          </a:p>
        </p:txBody>
      </p:sp>
      <p:sp>
        <p:nvSpPr>
          <p:cNvPr id="25" name="Text 18"/>
          <p:cNvSpPr txBox="1"/>
          <p:nvPr/>
        </p:nvSpPr>
        <p:spPr>
          <a:xfrm>
            <a:off x="9326880" y="3566160"/>
            <a:ext cx="2103120" cy="548640"/>
          </a:xfrm>
          <a:prstGeom prst="rect">
            <a:avLst/>
          </a:prstGeom>
          <a:noFill/>
          <a:ln/>
        </p:spPr>
        <p:txBody>
          <a:bodyPr wrap="square" lIns="0" tIns="0" rIns="0" bIns="0" rtlCol="0" anchor="t"/>
          <a:lstStyle/>
          <a:p>
            <a:pPr algn="ctr" indent="0" marL="0">
              <a:buNone/>
            </a:pPr>
            <a:r>
              <a:rPr lang="en-US" sz="1350" dirty="0">
                <a:solidFill>
                  <a:srgbClr val="D9DEE2"/>
                </a:solidFill>
                <a:latin typeface="Arial" pitchFamily="34" charset="0"/>
                <a:ea typeface="Arial" pitchFamily="34" charset="-122"/>
                <a:cs typeface="Arial" pitchFamily="34" charset="-120"/>
              </a:rPr>
              <a:t>confirmed, with evidence</a:t>
            </a:r>
            <a:endParaRPr lang="en-US" sz="1350" dirty="0"/>
          </a:p>
        </p:txBody>
      </p:sp>
      <p:sp>
        <p:nvSpPr>
          <p:cNvPr id="26" name="Text 19"/>
          <p:cNvSpPr txBox="1"/>
          <p:nvPr/>
        </p:nvSpPr>
        <p:spPr>
          <a:xfrm>
            <a:off x="548640" y="4892040"/>
            <a:ext cx="10972800" cy="548640"/>
          </a:xfrm>
          <a:prstGeom prst="rect">
            <a:avLst/>
          </a:prstGeom>
          <a:noFill/>
          <a:ln/>
        </p:spPr>
        <p:txBody>
          <a:bodyPr wrap="square" lIns="0" tIns="0" rIns="0" bIns="0" rtlCol="0" anchor="t"/>
          <a:lstStyle/>
          <a:p>
            <a:pPr indent="0" marL="0">
              <a:buNone/>
            </a:pPr>
            <a:r>
              <a:rPr lang="en-US" sz="2200" b="1" dirty="0">
                <a:solidFill>
                  <a:srgbClr val="FF462D"/>
                </a:solidFill>
                <a:latin typeface="Arial" pitchFamily="34" charset="0"/>
                <a:ea typeface="Arial" pitchFamily="34" charset="-122"/>
                <a:cs typeface="Arial" pitchFamily="34" charset="-120"/>
              </a:rPr>
              <a:t>Today, nobody fully owns any of these four questions.</a:t>
            </a:r>
            <a:endParaRPr lang="en-US"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HR'S RESEARCH</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108 findings, checked against the draft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40</a:t>
            </a:r>
            <a:endParaRPr lang="en-US" sz="1000" dirty="0"/>
          </a:p>
        </p:txBody>
      </p:sp>
      <p:sp>
        <p:nvSpPr>
          <p:cNvPr id="7" name="Text 4"/>
          <p:cNvSpPr txBox="1"/>
          <p:nvPr/>
        </p:nvSpPr>
        <p:spPr>
          <a:xfrm>
            <a:off x="548640" y="1691640"/>
            <a:ext cx="2651760" cy="548640"/>
          </a:xfrm>
          <a:prstGeom prst="rect">
            <a:avLst/>
          </a:prstGeom>
          <a:noFill/>
          <a:ln/>
        </p:spPr>
        <p:txBody>
          <a:bodyPr wrap="square" lIns="0" tIns="0" rIns="0" bIns="0" rtlCol="0" anchor="ctr"/>
          <a:lstStyle/>
          <a:p>
            <a:pPr algn="r" indent="0" marL="0">
              <a:buNone/>
            </a:pPr>
            <a:r>
              <a:rPr lang="en-US" sz="1500" dirty="0">
                <a:solidFill>
                  <a:srgbClr val="1F2A33"/>
                </a:solidFill>
                <a:latin typeface="Arial" pitchFamily="34" charset="0"/>
                <a:ea typeface="Arial" pitchFamily="34" charset="-122"/>
                <a:cs typeface="Arial" pitchFamily="34" charset="-120"/>
              </a:rPr>
              <a:t>Fully handled</a:t>
            </a:r>
            <a:endParaRPr lang="en-US" sz="1500" dirty="0"/>
          </a:p>
        </p:txBody>
      </p:sp>
      <p:sp>
        <p:nvSpPr>
          <p:cNvPr id="8" name="Shape 5"/>
          <p:cNvSpPr/>
          <p:nvPr/>
        </p:nvSpPr>
        <p:spPr>
          <a:xfrm>
            <a:off x="3291840" y="1764792"/>
            <a:ext cx="236220" cy="420624"/>
          </a:xfrm>
          <a:prstGeom prst="rect">
            <a:avLst/>
          </a:prstGeom>
          <a:solidFill>
            <a:srgbClr val="2E8656"/>
          </a:solidFill>
          <a:ln/>
        </p:spPr>
      </p:sp>
      <p:sp>
        <p:nvSpPr>
          <p:cNvPr id="9" name="Text 6"/>
          <p:cNvSpPr txBox="1"/>
          <p:nvPr/>
        </p:nvSpPr>
        <p:spPr>
          <a:xfrm>
            <a:off x="3637788" y="1691640"/>
            <a:ext cx="822960" cy="548640"/>
          </a:xfrm>
          <a:prstGeom prst="rect">
            <a:avLst/>
          </a:prstGeom>
          <a:noFill/>
          <a:ln/>
        </p:spPr>
        <p:txBody>
          <a:bodyPr wrap="square" lIns="0" tIns="0" rIns="0" bIns="0" rtlCol="0" anchor="ctr"/>
          <a:lstStyle/>
          <a:p>
            <a:pPr indent="0" marL="0">
              <a:buNone/>
            </a:pPr>
            <a:r>
              <a:rPr lang="en-US" sz="1800" b="1" dirty="0">
                <a:solidFill>
                  <a:srgbClr val="2E8656"/>
                </a:solidFill>
                <a:latin typeface="Arial" pitchFamily="34" charset="0"/>
                <a:ea typeface="Arial" pitchFamily="34" charset="-122"/>
                <a:cs typeface="Arial" pitchFamily="34" charset="-120"/>
              </a:rPr>
              <a:t>2</a:t>
            </a:r>
            <a:endParaRPr lang="en-US" sz="1800" dirty="0"/>
          </a:p>
        </p:txBody>
      </p:sp>
      <p:sp>
        <p:nvSpPr>
          <p:cNvPr id="10" name="Text 7"/>
          <p:cNvSpPr txBox="1"/>
          <p:nvPr/>
        </p:nvSpPr>
        <p:spPr>
          <a:xfrm>
            <a:off x="548640" y="2441448"/>
            <a:ext cx="2651760" cy="548640"/>
          </a:xfrm>
          <a:prstGeom prst="rect">
            <a:avLst/>
          </a:prstGeom>
          <a:noFill/>
          <a:ln/>
        </p:spPr>
        <p:txBody>
          <a:bodyPr wrap="square" lIns="0" tIns="0" rIns="0" bIns="0" rtlCol="0" anchor="ctr"/>
          <a:lstStyle/>
          <a:p>
            <a:pPr algn="r" indent="0" marL="0">
              <a:buNone/>
            </a:pPr>
            <a:r>
              <a:rPr lang="en-US" sz="1500" dirty="0">
                <a:solidFill>
                  <a:srgbClr val="1F2A33"/>
                </a:solidFill>
                <a:latin typeface="Arial" pitchFamily="34" charset="0"/>
                <a:ea typeface="Arial" pitchFamily="34" charset="-122"/>
                <a:cs typeface="Arial" pitchFamily="34" charset="-120"/>
              </a:rPr>
              <a:t>Partly handled</a:t>
            </a:r>
            <a:endParaRPr lang="en-US" sz="1500" dirty="0"/>
          </a:p>
        </p:txBody>
      </p:sp>
      <p:sp>
        <p:nvSpPr>
          <p:cNvPr id="11" name="Shape 8"/>
          <p:cNvSpPr/>
          <p:nvPr/>
        </p:nvSpPr>
        <p:spPr>
          <a:xfrm>
            <a:off x="3291840" y="2514600"/>
            <a:ext cx="5669280" cy="420624"/>
          </a:xfrm>
          <a:prstGeom prst="rect">
            <a:avLst/>
          </a:prstGeom>
          <a:solidFill>
            <a:srgbClr val="287079"/>
          </a:solidFill>
          <a:ln/>
        </p:spPr>
      </p:sp>
      <p:sp>
        <p:nvSpPr>
          <p:cNvPr id="12" name="Text 9"/>
          <p:cNvSpPr txBox="1"/>
          <p:nvPr/>
        </p:nvSpPr>
        <p:spPr>
          <a:xfrm>
            <a:off x="9070848" y="2441448"/>
            <a:ext cx="822960" cy="548640"/>
          </a:xfrm>
          <a:prstGeom prst="rect">
            <a:avLst/>
          </a:prstGeom>
          <a:noFill/>
          <a:ln/>
        </p:spPr>
        <p:txBody>
          <a:bodyPr wrap="square" lIns="0" tIns="0" rIns="0" bIns="0" rtlCol="0" anchor="ctr"/>
          <a:lstStyle/>
          <a:p>
            <a:pPr indent="0" marL="0">
              <a:buNone/>
            </a:pPr>
            <a:r>
              <a:rPr lang="en-US" sz="1800" b="1" dirty="0">
                <a:solidFill>
                  <a:srgbClr val="287079"/>
                </a:solidFill>
                <a:latin typeface="Arial" pitchFamily="34" charset="0"/>
                <a:ea typeface="Arial" pitchFamily="34" charset="-122"/>
                <a:cs typeface="Arial" pitchFamily="34" charset="-120"/>
              </a:rPr>
              <a:t>48</a:t>
            </a:r>
            <a:endParaRPr lang="en-US" sz="1800" dirty="0"/>
          </a:p>
        </p:txBody>
      </p:sp>
      <p:sp>
        <p:nvSpPr>
          <p:cNvPr id="13" name="Text 10"/>
          <p:cNvSpPr txBox="1"/>
          <p:nvPr/>
        </p:nvSpPr>
        <p:spPr>
          <a:xfrm>
            <a:off x="548640" y="3191256"/>
            <a:ext cx="2651760" cy="548640"/>
          </a:xfrm>
          <a:prstGeom prst="rect">
            <a:avLst/>
          </a:prstGeom>
          <a:noFill/>
          <a:ln/>
        </p:spPr>
        <p:txBody>
          <a:bodyPr wrap="square" lIns="0" tIns="0" rIns="0" bIns="0" rtlCol="0" anchor="ctr"/>
          <a:lstStyle/>
          <a:p>
            <a:pPr algn="r" indent="0" marL="0">
              <a:buNone/>
            </a:pPr>
            <a:r>
              <a:rPr lang="en-US" sz="1500" dirty="0">
                <a:solidFill>
                  <a:srgbClr val="1F2A33"/>
                </a:solidFill>
                <a:latin typeface="Arial" pitchFamily="34" charset="0"/>
                <a:ea typeface="Arial" pitchFamily="34" charset="-122"/>
                <a:cs typeface="Arial" pitchFamily="34" charset="-120"/>
              </a:rPr>
              <a:t>Not handled yet</a:t>
            </a:r>
            <a:endParaRPr lang="en-US" sz="1500" dirty="0"/>
          </a:p>
        </p:txBody>
      </p:sp>
      <p:sp>
        <p:nvSpPr>
          <p:cNvPr id="14" name="Shape 11"/>
          <p:cNvSpPr/>
          <p:nvPr/>
        </p:nvSpPr>
        <p:spPr>
          <a:xfrm>
            <a:off x="3291840" y="3264408"/>
            <a:ext cx="2125980" cy="420624"/>
          </a:xfrm>
          <a:prstGeom prst="rect">
            <a:avLst/>
          </a:prstGeom>
          <a:solidFill>
            <a:srgbClr val="C98A1A"/>
          </a:solidFill>
          <a:ln/>
        </p:spPr>
      </p:sp>
      <p:sp>
        <p:nvSpPr>
          <p:cNvPr id="15" name="Text 12"/>
          <p:cNvSpPr txBox="1"/>
          <p:nvPr/>
        </p:nvSpPr>
        <p:spPr>
          <a:xfrm>
            <a:off x="5527548" y="3191256"/>
            <a:ext cx="822960" cy="548640"/>
          </a:xfrm>
          <a:prstGeom prst="rect">
            <a:avLst/>
          </a:prstGeom>
          <a:noFill/>
          <a:ln/>
        </p:spPr>
        <p:txBody>
          <a:bodyPr wrap="square" lIns="0" tIns="0" rIns="0" bIns="0" rtlCol="0" anchor="ctr"/>
          <a:lstStyle/>
          <a:p>
            <a:pPr indent="0" marL="0">
              <a:buNone/>
            </a:pPr>
            <a:r>
              <a:rPr lang="en-US" sz="1800" b="1" dirty="0">
                <a:solidFill>
                  <a:srgbClr val="C98A1A"/>
                </a:solidFill>
                <a:latin typeface="Arial" pitchFamily="34" charset="0"/>
                <a:ea typeface="Arial" pitchFamily="34" charset="-122"/>
                <a:cs typeface="Arial" pitchFamily="34" charset="-120"/>
              </a:rPr>
              <a:t>18</a:t>
            </a:r>
            <a:endParaRPr lang="en-US" sz="1800" dirty="0"/>
          </a:p>
        </p:txBody>
      </p:sp>
      <p:sp>
        <p:nvSpPr>
          <p:cNvPr id="16" name="Text 13"/>
          <p:cNvSpPr txBox="1"/>
          <p:nvPr/>
        </p:nvSpPr>
        <p:spPr>
          <a:xfrm>
            <a:off x="548640" y="3941064"/>
            <a:ext cx="2651760" cy="548640"/>
          </a:xfrm>
          <a:prstGeom prst="rect">
            <a:avLst/>
          </a:prstGeom>
          <a:noFill/>
          <a:ln/>
        </p:spPr>
        <p:txBody>
          <a:bodyPr wrap="square" lIns="0" tIns="0" rIns="0" bIns="0" rtlCol="0" anchor="ctr"/>
          <a:lstStyle/>
          <a:p>
            <a:pPr algn="r" indent="0" marL="0">
              <a:buNone/>
            </a:pPr>
            <a:r>
              <a:rPr lang="en-US" sz="1500" dirty="0">
                <a:solidFill>
                  <a:srgbClr val="1F2A33"/>
                </a:solidFill>
                <a:latin typeface="Arial" pitchFamily="34" charset="0"/>
                <a:ea typeface="Arial" pitchFamily="34" charset="-122"/>
                <a:cs typeface="Arial" pitchFamily="34" charset="-120"/>
              </a:rPr>
              <a:t>A new problem</a:t>
            </a:r>
            <a:endParaRPr lang="en-US" sz="1500" dirty="0"/>
          </a:p>
        </p:txBody>
      </p:sp>
      <p:sp>
        <p:nvSpPr>
          <p:cNvPr id="17" name="Shape 14"/>
          <p:cNvSpPr/>
          <p:nvPr/>
        </p:nvSpPr>
        <p:spPr>
          <a:xfrm>
            <a:off x="3291840" y="4014216"/>
            <a:ext cx="2125980" cy="420624"/>
          </a:xfrm>
          <a:prstGeom prst="rect">
            <a:avLst/>
          </a:prstGeom>
          <a:solidFill>
            <a:srgbClr val="FF462D"/>
          </a:solidFill>
          <a:ln/>
        </p:spPr>
      </p:sp>
      <p:sp>
        <p:nvSpPr>
          <p:cNvPr id="18" name="Text 15"/>
          <p:cNvSpPr txBox="1"/>
          <p:nvPr/>
        </p:nvSpPr>
        <p:spPr>
          <a:xfrm>
            <a:off x="5527548" y="3941064"/>
            <a:ext cx="822960" cy="548640"/>
          </a:xfrm>
          <a:prstGeom prst="rect">
            <a:avLst/>
          </a:prstGeom>
          <a:noFill/>
          <a:ln/>
        </p:spPr>
        <p:txBody>
          <a:bodyPr wrap="square" lIns="0" tIns="0" rIns="0" bIns="0" rtlCol="0" anchor="ctr"/>
          <a:lstStyle/>
          <a:p>
            <a:pPr indent="0" marL="0">
              <a:buNone/>
            </a:pPr>
            <a:r>
              <a:rPr lang="en-US" sz="1800" b="1" dirty="0">
                <a:solidFill>
                  <a:srgbClr val="FF462D"/>
                </a:solidFill>
                <a:latin typeface="Arial" pitchFamily="34" charset="0"/>
                <a:ea typeface="Arial" pitchFamily="34" charset="-122"/>
                <a:cs typeface="Arial" pitchFamily="34" charset="-120"/>
              </a:rPr>
              <a:t>18</a:t>
            </a:r>
            <a:endParaRPr lang="en-US" sz="1800" dirty="0"/>
          </a:p>
        </p:txBody>
      </p:sp>
      <p:sp>
        <p:nvSpPr>
          <p:cNvPr id="19" name="Text 16"/>
          <p:cNvSpPr txBox="1"/>
          <p:nvPr/>
        </p:nvSpPr>
        <p:spPr>
          <a:xfrm>
            <a:off x="548640" y="4690872"/>
            <a:ext cx="2651760" cy="548640"/>
          </a:xfrm>
          <a:prstGeom prst="rect">
            <a:avLst/>
          </a:prstGeom>
          <a:noFill/>
          <a:ln/>
        </p:spPr>
        <p:txBody>
          <a:bodyPr wrap="square" lIns="0" tIns="0" rIns="0" bIns="0" rtlCol="0" anchor="ctr"/>
          <a:lstStyle/>
          <a:p>
            <a:pPr algn="r" indent="0" marL="0">
              <a:buNone/>
            </a:pPr>
            <a:r>
              <a:rPr lang="en-US" sz="1500" dirty="0">
                <a:solidFill>
                  <a:srgbClr val="1F2A33"/>
                </a:solidFill>
                <a:latin typeface="Arial" pitchFamily="34" charset="0"/>
                <a:ea typeface="Arial" pitchFamily="34" charset="-122"/>
                <a:cs typeface="Arial" pitchFamily="34" charset="-120"/>
              </a:rPr>
              <a:t>Belongs to other work</a:t>
            </a:r>
            <a:endParaRPr lang="en-US" sz="1500" dirty="0"/>
          </a:p>
        </p:txBody>
      </p:sp>
      <p:sp>
        <p:nvSpPr>
          <p:cNvPr id="20" name="Shape 17"/>
          <p:cNvSpPr/>
          <p:nvPr/>
        </p:nvSpPr>
        <p:spPr>
          <a:xfrm>
            <a:off x="3291840" y="4764024"/>
            <a:ext cx="2598420" cy="420624"/>
          </a:xfrm>
          <a:prstGeom prst="rect">
            <a:avLst/>
          </a:prstGeom>
          <a:solidFill>
            <a:srgbClr val="8A94A4"/>
          </a:solidFill>
          <a:ln/>
        </p:spPr>
      </p:sp>
      <p:sp>
        <p:nvSpPr>
          <p:cNvPr id="21" name="Text 18"/>
          <p:cNvSpPr txBox="1"/>
          <p:nvPr/>
        </p:nvSpPr>
        <p:spPr>
          <a:xfrm>
            <a:off x="5999988" y="4690872"/>
            <a:ext cx="822960" cy="548640"/>
          </a:xfrm>
          <a:prstGeom prst="rect">
            <a:avLst/>
          </a:prstGeom>
          <a:noFill/>
          <a:ln/>
        </p:spPr>
        <p:txBody>
          <a:bodyPr wrap="square" lIns="0" tIns="0" rIns="0" bIns="0" rtlCol="0" anchor="ctr"/>
          <a:lstStyle/>
          <a:p>
            <a:pPr indent="0" marL="0">
              <a:buNone/>
            </a:pPr>
            <a:r>
              <a:rPr lang="en-US" sz="1800" b="1" dirty="0">
                <a:solidFill>
                  <a:srgbClr val="8A94A4"/>
                </a:solidFill>
                <a:latin typeface="Arial" pitchFamily="34" charset="0"/>
                <a:ea typeface="Arial" pitchFamily="34" charset="-122"/>
                <a:cs typeface="Arial" pitchFamily="34" charset="-120"/>
              </a:rPr>
              <a:t>22</a:t>
            </a:r>
            <a:endParaRPr lang="en-US" sz="1800" dirty="0"/>
          </a:p>
        </p:txBody>
      </p:sp>
      <p:sp>
        <p:nvSpPr>
          <p:cNvPr id="22" name="Shape 19"/>
          <p:cNvSpPr/>
          <p:nvPr/>
        </p:nvSpPr>
        <p:spPr>
          <a:xfrm>
            <a:off x="9464040" y="1691640"/>
            <a:ext cx="2176272" cy="3657600"/>
          </a:xfrm>
          <a:prstGeom prst="roundRect">
            <a:avLst>
              <a:gd name="adj" fmla="val 4202"/>
            </a:avLst>
          </a:prstGeom>
          <a:solidFill>
            <a:srgbClr val="FFF0EC"/>
          </a:solidFill>
          <a:ln/>
        </p:spPr>
      </p:sp>
      <p:sp>
        <p:nvSpPr>
          <p:cNvPr id="23" name="Text 20"/>
          <p:cNvSpPr txBox="1"/>
          <p:nvPr/>
        </p:nvSpPr>
        <p:spPr>
          <a:xfrm>
            <a:off x="9464040" y="1828800"/>
            <a:ext cx="2176272" cy="914400"/>
          </a:xfrm>
          <a:prstGeom prst="rect">
            <a:avLst/>
          </a:prstGeom>
          <a:noFill/>
          <a:ln/>
        </p:spPr>
        <p:txBody>
          <a:bodyPr wrap="square" lIns="0" tIns="0" rIns="0" bIns="0" rtlCol="0" anchor="t"/>
          <a:lstStyle/>
          <a:p>
            <a:pPr algn="ctr" indent="0" marL="0">
              <a:buNone/>
            </a:pPr>
            <a:r>
              <a:rPr lang="en-US" sz="5400" b="1" dirty="0">
                <a:solidFill>
                  <a:srgbClr val="FF462D"/>
                </a:solidFill>
                <a:latin typeface="Arial" pitchFamily="34" charset="0"/>
                <a:ea typeface="Arial" pitchFamily="34" charset="-122"/>
                <a:cs typeface="Arial" pitchFamily="34" charset="-120"/>
              </a:rPr>
              <a:t>3</a:t>
            </a:r>
            <a:endParaRPr lang="en-US" sz="5400" dirty="0"/>
          </a:p>
        </p:txBody>
      </p:sp>
      <p:sp>
        <p:nvSpPr>
          <p:cNvPr id="24" name="Text 21"/>
          <p:cNvSpPr txBox="1"/>
          <p:nvPr/>
        </p:nvSpPr>
        <p:spPr>
          <a:xfrm>
            <a:off x="9646920" y="2834640"/>
            <a:ext cx="1810512" cy="2286000"/>
          </a:xfrm>
          <a:prstGeom prst="rect">
            <a:avLst/>
          </a:prstGeom>
          <a:noFill/>
          <a:ln/>
        </p:spPr>
        <p:txBody>
          <a:bodyPr wrap="square" lIns="0" tIns="0" rIns="0" bIns="0" rtlCol="0" anchor="t"/>
          <a:lstStyle/>
          <a:p>
            <a:pPr algn="ctr" indent="0" marL="0">
              <a:buNone/>
            </a:pPr>
            <a:r>
              <a:rPr lang="en-US" sz="1400" dirty="0">
                <a:solidFill>
                  <a:srgbClr val="1F2A33"/>
                </a:solidFill>
                <a:latin typeface="Arial" pitchFamily="34" charset="0"/>
                <a:ea typeface="Arial" pitchFamily="34" charset="-122"/>
                <a:cs typeface="Arial" pitchFamily="34" charset="-120"/>
              </a:rPr>
              <a:t>problems would have stopped the draft. All three now have a fix.</a:t>
            </a:r>
            <a:endParaRPr lang="en-US" sz="1400" dirty="0"/>
          </a:p>
        </p:txBody>
      </p:sp>
      <p:sp>
        <p:nvSpPr>
          <p:cNvPr id="25" name="Text 22"/>
          <p:cNvSpPr txBox="1"/>
          <p:nvPr/>
        </p:nvSpPr>
        <p:spPr>
          <a:xfrm>
            <a:off x="548640" y="5669280"/>
            <a:ext cx="8229600" cy="320040"/>
          </a:xfrm>
          <a:prstGeom prst="rect">
            <a:avLst/>
          </a:prstGeom>
          <a:noFill/>
          <a:ln/>
        </p:spPr>
        <p:txBody>
          <a:bodyPr wrap="square" lIns="0" tIns="0" rIns="0" bIns="0" rtlCol="0" anchor="t"/>
          <a:lstStyle/>
          <a:p>
            <a:pPr indent="0" marL="0">
              <a:buNone/>
            </a:pPr>
            <a:r>
              <a:rPr lang="en-US" sz="1200" i="1" dirty="0">
                <a:solidFill>
                  <a:srgbClr val="5A5A5A"/>
                </a:solidFill>
                <a:latin typeface="Arial" pitchFamily="34" charset="0"/>
                <a:ea typeface="Arial" pitchFamily="34" charset="-122"/>
                <a:cs typeface="Arial" pitchFamily="34" charset="-120"/>
              </a:rPr>
              <a:t>Each finding was checked by two reviewers.</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FROM HR'S RESEARCH</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A real example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41</a:t>
            </a:r>
            <a:endParaRPr lang="en-US" sz="1000" dirty="0"/>
          </a:p>
        </p:txBody>
      </p:sp>
      <p:sp>
        <p:nvSpPr>
          <p:cNvPr id="7" name="Text 4"/>
          <p:cNvSpPr txBox="1"/>
          <p:nvPr/>
        </p:nvSpPr>
        <p:spPr>
          <a:xfrm>
            <a:off x="548640" y="1280160"/>
            <a:ext cx="1097280" cy="1463040"/>
          </a:xfrm>
          <a:prstGeom prst="rect">
            <a:avLst/>
          </a:prstGeom>
          <a:noFill/>
          <a:ln/>
        </p:spPr>
        <p:txBody>
          <a:bodyPr wrap="square" lIns="0" tIns="0" rIns="0" bIns="0" rtlCol="0" anchor="t"/>
          <a:lstStyle/>
          <a:p>
            <a:pPr indent="0" marL="0">
              <a:buNone/>
            </a:pPr>
            <a:r>
              <a:rPr lang="en-US" sz="12000" b="1" dirty="0">
                <a:solidFill>
                  <a:srgbClr val="FF462D"/>
                </a:solidFill>
                <a:latin typeface="TWK Everett" pitchFamily="34" charset="0"/>
                <a:ea typeface="TWK Everett" pitchFamily="34" charset="-122"/>
                <a:cs typeface="TWK Everett" pitchFamily="34" charset="-120"/>
              </a:rPr>
              <a:t>“</a:t>
            </a:r>
            <a:endParaRPr lang="en-US" sz="12000" dirty="0"/>
          </a:p>
        </p:txBody>
      </p:sp>
      <p:sp>
        <p:nvSpPr>
          <p:cNvPr id="8" name="Text 5"/>
          <p:cNvSpPr txBox="1"/>
          <p:nvPr/>
        </p:nvSpPr>
        <p:spPr>
          <a:xfrm>
            <a:off x="1645920" y="1737360"/>
            <a:ext cx="9875520" cy="2743200"/>
          </a:xfrm>
          <a:prstGeom prst="rect">
            <a:avLst/>
          </a:prstGeom>
          <a:noFill/>
          <a:ln/>
        </p:spPr>
        <p:txBody>
          <a:bodyPr wrap="square" lIns="0" tIns="0" rIns="0" bIns="0" rtlCol="0" anchor="t"/>
          <a:lstStyle/>
          <a:p>
            <a:pPr indent="0" marL="0">
              <a:buNone/>
            </a:pPr>
            <a:r>
              <a:rPr lang="en-US" sz="2800" dirty="0">
                <a:solidFill>
                  <a:srgbClr val="1F2A33"/>
                </a:solidFill>
                <a:latin typeface="Arial" pitchFamily="34" charset="0"/>
                <a:ea typeface="Arial" pitchFamily="34" charset="-122"/>
                <a:cs typeface="Arial" pitchFamily="34" charset="-120"/>
              </a:rPr>
              <a:t>In a real case from HR's research, roles that seemed to need external hires were filled internally once someone checked who was really busy and who could be released.</a:t>
            </a:r>
            <a:endParaRPr lang="en-US" sz="2800" dirty="0"/>
          </a:p>
        </p:txBody>
      </p:sp>
      <p:sp>
        <p:nvSpPr>
          <p:cNvPr id="9" name="Shape 6"/>
          <p:cNvSpPr/>
          <p:nvPr/>
        </p:nvSpPr>
        <p:spPr>
          <a:xfrm>
            <a:off x="1645920" y="4846320"/>
            <a:ext cx="9966960" cy="1005840"/>
          </a:xfrm>
          <a:prstGeom prst="roundRect">
            <a:avLst>
              <a:gd name="adj" fmla="val 7273"/>
            </a:avLst>
          </a:prstGeom>
          <a:solidFill>
            <a:srgbClr val="EEF6F7"/>
          </a:solidFill>
          <a:ln/>
        </p:spPr>
      </p:sp>
      <p:sp>
        <p:nvSpPr>
          <p:cNvPr id="10" name="Text 7"/>
          <p:cNvSpPr txBox="1"/>
          <p:nvPr/>
        </p:nvSpPr>
        <p:spPr>
          <a:xfrm>
            <a:off x="1920240" y="4846320"/>
            <a:ext cx="9509760" cy="1005840"/>
          </a:xfrm>
          <a:prstGeom prst="rect">
            <a:avLst/>
          </a:prstGeom>
          <a:noFill/>
          <a:ln/>
        </p:spPr>
        <p:txBody>
          <a:bodyPr wrap="square" lIns="0" tIns="0" rIns="0" bIns="0" rtlCol="0" anchor="ctr"/>
          <a:lstStyle/>
          <a:p>
            <a:pPr indent="0" marL="0">
              <a:buNone/>
            </a:pPr>
            <a:r>
              <a:rPr lang="en-US" sz="2000" b="1" dirty="0">
                <a:solidFill>
                  <a:srgbClr val="287079"/>
                </a:solidFill>
                <a:latin typeface="Arial" pitchFamily="34" charset="0"/>
                <a:ea typeface="Arial" pitchFamily="34" charset="-122"/>
                <a:cs typeface="Arial" pitchFamily="34" charset="-120"/>
              </a:rPr>
              <a:t>The people were already inside the firm. Nobody had asked.</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GROUND IN REALITY</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A shortfall is not yet a gap</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42</a:t>
            </a:r>
            <a:endParaRPr lang="en-US" sz="1000" dirty="0"/>
          </a:p>
        </p:txBody>
      </p:sp>
      <p:sp>
        <p:nvSpPr>
          <p:cNvPr id="7" name="Shape 4"/>
          <p:cNvSpPr/>
          <p:nvPr/>
        </p:nvSpPr>
        <p:spPr>
          <a:xfrm>
            <a:off x="548640" y="1600200"/>
            <a:ext cx="4206240" cy="3291840"/>
          </a:xfrm>
          <a:prstGeom prst="roundRect">
            <a:avLst>
              <a:gd name="adj" fmla="val 2778"/>
            </a:avLst>
          </a:prstGeom>
          <a:solidFill>
            <a:srgbClr val="F2F4F5"/>
          </a:solidFill>
          <a:ln/>
        </p:spPr>
      </p:sp>
      <p:pic>
        <p:nvPicPr>
          <p:cNvPr id="8" name="Image 1" descr="/private/tmp/claude-501/-Users-salehhamed-Outcome-Engine/91861432-41e2-4884-bc97-63c6dff2d021/scratchpad/wk/icons/TbUserSearch-grey.png">    </p:cNvPr>
          <p:cNvPicPr>
            <a:picLocks noChangeAspect="1"/>
          </p:cNvPicPr>
          <p:nvPr/>
        </p:nvPicPr>
        <p:blipFill>
          <a:blip r:embed="rId4"/>
          <a:stretch>
            <a:fillRect/>
          </a:stretch>
        </p:blipFill>
        <p:spPr>
          <a:xfrm>
            <a:off x="2194560" y="1828800"/>
            <a:ext cx="914400" cy="914400"/>
          </a:xfrm>
          <a:prstGeom prst="rect">
            <a:avLst/>
          </a:prstGeom>
        </p:spPr>
      </p:pic>
      <p:sp>
        <p:nvSpPr>
          <p:cNvPr id="9" name="Text 5"/>
          <p:cNvSpPr txBox="1"/>
          <p:nvPr/>
        </p:nvSpPr>
        <p:spPr>
          <a:xfrm>
            <a:off x="548640" y="2834640"/>
            <a:ext cx="4206240" cy="548640"/>
          </a:xfrm>
          <a:prstGeom prst="rect">
            <a:avLst/>
          </a:prstGeom>
          <a:noFill/>
          <a:ln/>
        </p:spPr>
        <p:txBody>
          <a:bodyPr wrap="square" lIns="0" tIns="0" rIns="0" bIns="0" rtlCol="0" anchor="t"/>
          <a:lstStyle/>
          <a:p>
            <a:pPr algn="ctr" indent="0" marL="0">
              <a:buNone/>
            </a:pPr>
            <a:r>
              <a:rPr lang="en-US" sz="2600" b="1" dirty="0">
                <a:solidFill>
                  <a:srgbClr val="1F2A33"/>
                </a:solidFill>
                <a:latin typeface="Arial" pitchFamily="34" charset="0"/>
                <a:ea typeface="Arial" pitchFamily="34" charset="-122"/>
                <a:cs typeface="Arial" pitchFamily="34" charset="-120"/>
              </a:rPr>
              <a:t>Shortfall</a:t>
            </a:r>
            <a:endParaRPr lang="en-US" sz="2600" dirty="0"/>
          </a:p>
        </p:txBody>
      </p:sp>
      <p:sp>
        <p:nvSpPr>
          <p:cNvPr id="10" name="Text 6"/>
          <p:cNvSpPr txBox="1"/>
          <p:nvPr/>
        </p:nvSpPr>
        <p:spPr>
          <a:xfrm>
            <a:off x="822960" y="3429000"/>
            <a:ext cx="3657600" cy="548640"/>
          </a:xfrm>
          <a:prstGeom prst="rect">
            <a:avLst/>
          </a:prstGeom>
          <a:noFill/>
          <a:ln/>
        </p:spPr>
        <p:txBody>
          <a:bodyPr wrap="square" lIns="0" tIns="0" rIns="0" bIns="0" rtlCol="0" anchor="t"/>
          <a:lstStyle/>
          <a:p>
            <a:pPr algn="ctr" indent="0" marL="0">
              <a:buNone/>
            </a:pPr>
            <a:r>
              <a:rPr lang="en-US" sz="1700" dirty="0">
                <a:solidFill>
                  <a:srgbClr val="5A5A5A"/>
                </a:solidFill>
                <a:latin typeface="Arial" pitchFamily="34" charset="0"/>
                <a:ea typeface="Arial" pitchFamily="34" charset="-122"/>
                <a:cs typeface="Arial" pitchFamily="34" charset="-120"/>
              </a:rPr>
              <a:t>Nobody found yet</a:t>
            </a:r>
            <a:endParaRPr lang="en-US" sz="1700" dirty="0"/>
          </a:p>
        </p:txBody>
      </p:sp>
      <p:sp>
        <p:nvSpPr>
          <p:cNvPr id="11" name="Shape 7"/>
          <p:cNvSpPr/>
          <p:nvPr/>
        </p:nvSpPr>
        <p:spPr>
          <a:xfrm>
            <a:off x="4937760" y="3246120"/>
            <a:ext cx="2103120" cy="914"/>
          </a:xfrm>
          <a:prstGeom prst="line">
            <a:avLst/>
          </a:prstGeom>
          <a:noFill/>
          <a:ln w="50800">
            <a:solidFill>
              <a:srgbClr val="FF462D"/>
            </a:solidFill>
            <a:prstDash val="solid"/>
            <a:tailEnd type="arrow"/>
          </a:ln>
        </p:spPr>
      </p:sp>
      <p:sp>
        <p:nvSpPr>
          <p:cNvPr id="12" name="Text 8"/>
          <p:cNvSpPr txBox="1"/>
          <p:nvPr/>
        </p:nvSpPr>
        <p:spPr>
          <a:xfrm>
            <a:off x="4800600" y="2240280"/>
            <a:ext cx="2377440" cy="868680"/>
          </a:xfrm>
          <a:prstGeom prst="rect">
            <a:avLst/>
          </a:prstGeom>
          <a:noFill/>
          <a:ln/>
        </p:spPr>
        <p:txBody>
          <a:bodyPr wrap="square" lIns="0" tIns="0" rIns="0" bIns="0" rtlCol="0" anchor="t"/>
          <a:lstStyle/>
          <a:p>
            <a:pPr algn="ctr" indent="0" marL="0">
              <a:buNone/>
            </a:pPr>
            <a:r>
              <a:rPr lang="en-US" sz="1400" b="1" dirty="0">
                <a:solidFill>
                  <a:srgbClr val="FF462D"/>
                </a:solidFill>
                <a:latin typeface="Arial" pitchFamily="34" charset="0"/>
                <a:ea typeface="Arial" pitchFamily="34" charset="-122"/>
                <a:cs typeface="Arial" pitchFamily="34" charset="-120"/>
              </a:rPr>
              <a:t>A named person checks, and declares it</a:t>
            </a:r>
            <a:endParaRPr lang="en-US" sz="1400" dirty="0"/>
          </a:p>
        </p:txBody>
      </p:sp>
      <p:sp>
        <p:nvSpPr>
          <p:cNvPr id="13" name="Shape 9"/>
          <p:cNvSpPr/>
          <p:nvPr/>
        </p:nvSpPr>
        <p:spPr>
          <a:xfrm>
            <a:off x="7434072" y="1600200"/>
            <a:ext cx="4206240" cy="3291840"/>
          </a:xfrm>
          <a:prstGeom prst="roundRect">
            <a:avLst>
              <a:gd name="adj" fmla="val 2778"/>
            </a:avLst>
          </a:prstGeom>
          <a:solidFill>
            <a:srgbClr val="FFFFFF"/>
          </a:solidFill>
          <a:ln w="31750">
            <a:solidFill>
              <a:srgbClr val="FF462D"/>
            </a:solidFill>
            <a:prstDash val="solid"/>
          </a:ln>
        </p:spPr>
      </p:sp>
      <p:pic>
        <p:nvPicPr>
          <p:cNvPr id="14" name="Image 2" descr="/private/tmp/claude-501/-Users-salehhamed-Outcome-Engine/91861432-41e2-4884-bc97-63c6dff2d021/scratchpad/wk/icons/TbUserQuestion-red.png">    </p:cNvPr>
          <p:cNvPicPr>
            <a:picLocks noChangeAspect="1"/>
          </p:cNvPicPr>
          <p:nvPr/>
        </p:nvPicPr>
        <p:blipFill>
          <a:blip r:embed="rId5"/>
          <a:stretch>
            <a:fillRect/>
          </a:stretch>
        </p:blipFill>
        <p:spPr>
          <a:xfrm>
            <a:off x="9079992" y="1828800"/>
            <a:ext cx="914400" cy="914400"/>
          </a:xfrm>
          <a:prstGeom prst="rect">
            <a:avLst/>
          </a:prstGeom>
        </p:spPr>
      </p:pic>
      <p:sp>
        <p:nvSpPr>
          <p:cNvPr id="15" name="Text 10"/>
          <p:cNvSpPr txBox="1"/>
          <p:nvPr/>
        </p:nvSpPr>
        <p:spPr>
          <a:xfrm>
            <a:off x="7434072" y="2834640"/>
            <a:ext cx="4206240" cy="548640"/>
          </a:xfrm>
          <a:prstGeom prst="rect">
            <a:avLst/>
          </a:prstGeom>
          <a:noFill/>
          <a:ln/>
        </p:spPr>
        <p:txBody>
          <a:bodyPr wrap="square" lIns="0" tIns="0" rIns="0" bIns="0" rtlCol="0" anchor="t"/>
          <a:lstStyle/>
          <a:p>
            <a:pPr algn="ctr" indent="0" marL="0">
              <a:buNone/>
            </a:pPr>
            <a:r>
              <a:rPr lang="en-US" sz="2600" b="1" dirty="0">
                <a:solidFill>
                  <a:srgbClr val="FF462D"/>
                </a:solidFill>
                <a:latin typeface="Arial" pitchFamily="34" charset="0"/>
                <a:ea typeface="Arial" pitchFamily="34" charset="-122"/>
                <a:cs typeface="Arial" pitchFamily="34" charset="-120"/>
              </a:rPr>
              <a:t>Gap</a:t>
            </a:r>
            <a:endParaRPr lang="en-US" sz="2600" dirty="0"/>
          </a:p>
        </p:txBody>
      </p:sp>
      <p:sp>
        <p:nvSpPr>
          <p:cNvPr id="16" name="Text 11"/>
          <p:cNvSpPr txBox="1"/>
          <p:nvPr/>
        </p:nvSpPr>
        <p:spPr>
          <a:xfrm>
            <a:off x="7708392" y="3429000"/>
            <a:ext cx="3657600" cy="1188720"/>
          </a:xfrm>
          <a:prstGeom prst="rect">
            <a:avLst/>
          </a:prstGeom>
          <a:noFill/>
          <a:ln/>
        </p:spPr>
        <p:txBody>
          <a:bodyPr wrap="square" lIns="0" tIns="0" rIns="0" bIns="0" rtlCol="0" anchor="t"/>
          <a:lstStyle/>
          <a:p>
            <a:pPr algn="ctr" indent="0" marL="0">
              <a:buNone/>
            </a:pPr>
            <a:r>
              <a:rPr lang="en-US" sz="1600" dirty="0">
                <a:solidFill>
                  <a:srgbClr val="1F2A33"/>
                </a:solidFill>
                <a:latin typeface="Arial" pitchFamily="34" charset="0"/>
                <a:ea typeface="Arial" pitchFamily="34" charset="-122"/>
                <a:cs typeface="Arial" pitchFamily="34" charset="-120"/>
              </a:rPr>
              <a:t>Confirmed shortage, with evidence, owned by a named person</a:t>
            </a:r>
            <a:endParaRPr lang="en-US" sz="1600" dirty="0"/>
          </a:p>
        </p:txBody>
      </p:sp>
      <p:sp>
        <p:nvSpPr>
          <p:cNvPr id="17" name="Shape 12"/>
          <p:cNvSpPr/>
          <p:nvPr/>
        </p:nvSpPr>
        <p:spPr>
          <a:xfrm>
            <a:off x="548640" y="5212080"/>
            <a:ext cx="11091672" cy="822960"/>
          </a:xfrm>
          <a:prstGeom prst="roundRect">
            <a:avLst>
              <a:gd name="adj" fmla="val 8889"/>
            </a:avLst>
          </a:prstGeom>
          <a:solidFill>
            <a:srgbClr val="FDF3E1"/>
          </a:solidFill>
          <a:ln/>
        </p:spPr>
      </p:sp>
      <p:pic>
        <p:nvPicPr>
          <p:cNvPr id="18" name="Image 3" descr="/private/tmp/claude-501/-Users-salehhamed-Outcome-Engine/91861432-41e2-4884-bc97-63c6dff2d021/scratchpad/wk/icons/TbBuildingSkyscraper-amber.png">    </p:cNvPr>
          <p:cNvPicPr>
            <a:picLocks noChangeAspect="1"/>
          </p:cNvPicPr>
          <p:nvPr/>
        </p:nvPicPr>
        <p:blipFill>
          <a:blip r:embed="rId6"/>
          <a:stretch>
            <a:fillRect/>
          </a:stretch>
        </p:blipFill>
        <p:spPr>
          <a:xfrm>
            <a:off x="777240" y="5349240"/>
            <a:ext cx="548640" cy="548640"/>
          </a:xfrm>
          <a:prstGeom prst="rect">
            <a:avLst/>
          </a:prstGeom>
        </p:spPr>
      </p:pic>
      <p:sp>
        <p:nvSpPr>
          <p:cNvPr id="19" name="Text 13"/>
          <p:cNvSpPr txBox="1"/>
          <p:nvPr/>
        </p:nvSpPr>
        <p:spPr>
          <a:xfrm>
            <a:off x="1508760" y="5212080"/>
            <a:ext cx="9966960" cy="822960"/>
          </a:xfrm>
          <a:prstGeom prst="rect">
            <a:avLst/>
          </a:prstGeom>
          <a:noFill/>
          <a:ln/>
        </p:spPr>
        <p:txBody>
          <a:bodyPr wrap="square" lIns="0" tIns="0" rIns="0" bIns="0" rtlCol="0" anchor="ctr"/>
          <a:lstStyle/>
          <a:p>
            <a:pPr indent="0" marL="0">
              <a:buNone/>
            </a:pPr>
            <a:r>
              <a:rPr lang="en-US" sz="1600" dirty="0">
                <a:solidFill>
                  <a:srgbClr val="1F2A33"/>
                </a:solidFill>
                <a:latin typeface="Arial" pitchFamily="34" charset="0"/>
                <a:ea typeface="Arial" pitchFamily="34" charset="-122"/>
                <a:cs typeface="Arial" pitchFamily="34" charset="-120"/>
              </a:rPr>
              <a:t>Northgate's firewall specialist was a shortfall. It was treated as a gap, and a hire was requested.</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GROUND IN REALITY</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Three ways to run this session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43</a:t>
            </a:r>
            <a:endParaRPr lang="en-US" sz="1000" dirty="0"/>
          </a:p>
        </p:txBody>
      </p:sp>
      <p:sp>
        <p:nvSpPr>
          <p:cNvPr id="7" name="Shape 4"/>
          <p:cNvSpPr/>
          <p:nvPr/>
        </p:nvSpPr>
        <p:spPr>
          <a:xfrm>
            <a:off x="548640" y="1463040"/>
            <a:ext cx="3566160" cy="4663440"/>
          </a:xfrm>
          <a:prstGeom prst="roundRect">
            <a:avLst>
              <a:gd name="adj" fmla="val 2051"/>
            </a:avLst>
          </a:prstGeom>
          <a:solidFill>
            <a:srgbClr val="FFFFFF"/>
          </a:solidFill>
          <a:ln w="12700">
            <a:solidFill>
              <a:srgbClr val="D9DEE2"/>
            </a:solidFill>
            <a:prstDash val="solid"/>
          </a:ln>
        </p:spPr>
      </p:sp>
      <p:sp>
        <p:nvSpPr>
          <p:cNvPr id="8" name="Shape 5"/>
          <p:cNvSpPr/>
          <p:nvPr/>
        </p:nvSpPr>
        <p:spPr>
          <a:xfrm>
            <a:off x="548640" y="1463040"/>
            <a:ext cx="3566160" cy="566928"/>
          </a:xfrm>
          <a:prstGeom prst="roundRect">
            <a:avLst>
              <a:gd name="adj" fmla="val 12903"/>
            </a:avLst>
          </a:prstGeom>
          <a:solidFill>
            <a:srgbClr val="287079"/>
          </a:solidFill>
          <a:ln/>
        </p:spPr>
      </p:sp>
      <p:sp>
        <p:nvSpPr>
          <p:cNvPr id="9" name="Shape 6"/>
          <p:cNvSpPr/>
          <p:nvPr/>
        </p:nvSpPr>
        <p:spPr>
          <a:xfrm>
            <a:off x="548640" y="1828800"/>
            <a:ext cx="3566160" cy="201168"/>
          </a:xfrm>
          <a:prstGeom prst="rect">
            <a:avLst/>
          </a:prstGeom>
          <a:solidFill>
            <a:srgbClr val="287079"/>
          </a:solidFill>
          <a:ln/>
        </p:spPr>
      </p:sp>
      <p:pic>
        <p:nvPicPr>
          <p:cNvPr id="10" name="Image 1" descr="/private/tmp/claude-501/-Users-salehhamed-Outcome-Engine/91861432-41e2-4884-bc97-63c6dff2d021/scratchpad/wk/icons/TbHandClick-white.png">    </p:cNvPr>
          <p:cNvPicPr>
            <a:picLocks noChangeAspect="1"/>
          </p:cNvPicPr>
          <p:nvPr/>
        </p:nvPicPr>
        <p:blipFill>
          <a:blip r:embed="rId4"/>
          <a:stretch>
            <a:fillRect/>
          </a:stretch>
        </p:blipFill>
        <p:spPr>
          <a:xfrm>
            <a:off x="713232" y="1554480"/>
            <a:ext cx="384048" cy="384048"/>
          </a:xfrm>
          <a:prstGeom prst="rect">
            <a:avLst/>
          </a:prstGeom>
        </p:spPr>
      </p:pic>
      <p:sp>
        <p:nvSpPr>
          <p:cNvPr id="11" name="Text 7"/>
          <p:cNvSpPr txBox="1"/>
          <p:nvPr/>
        </p:nvSpPr>
        <p:spPr>
          <a:xfrm>
            <a:off x="120700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A · HANDS-ON</a:t>
            </a:r>
            <a:endParaRPr lang="en-US" sz="1150" dirty="0"/>
          </a:p>
        </p:txBody>
      </p:sp>
      <p:sp>
        <p:nvSpPr>
          <p:cNvPr id="12" name="Text 8"/>
          <p:cNvSpPr txBox="1"/>
          <p:nvPr/>
        </p:nvSpPr>
        <p:spPr>
          <a:xfrm>
            <a:off x="77724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Walk the wall</a:t>
            </a:r>
            <a:endParaRPr lang="en-US" sz="2100" dirty="0"/>
          </a:p>
        </p:txBody>
      </p:sp>
      <p:sp>
        <p:nvSpPr>
          <p:cNvPr id="13" name="Text 9"/>
          <p:cNvSpPr txBox="1"/>
          <p:nvPr/>
        </p:nvSpPr>
        <p:spPr>
          <a:xfrm>
            <a:off x="77724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Walk the Northgate deal along seven posters; add your own cases; vote the biggest pains.</a:t>
            </a:r>
            <a:endParaRPr lang="en-US" sz="1400" dirty="0"/>
          </a:p>
        </p:txBody>
      </p:sp>
      <p:pic>
        <p:nvPicPr>
          <p:cNvPr id="14" name="Image 2" descr="/private/tmp/claude-501/-Users-salehhamed-Outcome-Engine/91861432-41e2-4884-bc97-63c6dff2d021/scratchpad/wk/icons/TbClock-grey.png">    </p:cNvPr>
          <p:cNvPicPr>
            <a:picLocks noChangeAspect="1"/>
          </p:cNvPicPr>
          <p:nvPr/>
        </p:nvPicPr>
        <p:blipFill>
          <a:blip r:embed="rId5"/>
          <a:stretch>
            <a:fillRect/>
          </a:stretch>
        </p:blipFill>
        <p:spPr>
          <a:xfrm>
            <a:off x="777240" y="4297680"/>
            <a:ext cx="274320" cy="274320"/>
          </a:xfrm>
          <a:prstGeom prst="rect">
            <a:avLst/>
          </a:prstGeom>
        </p:spPr>
      </p:pic>
      <p:sp>
        <p:nvSpPr>
          <p:cNvPr id="15" name="Text 10"/>
          <p:cNvSpPr txBox="1"/>
          <p:nvPr/>
        </p:nvSpPr>
        <p:spPr>
          <a:xfrm>
            <a:off x="114300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75 min</a:t>
            </a:r>
            <a:endParaRPr lang="en-US" sz="1200" dirty="0"/>
          </a:p>
        </p:txBody>
      </p:sp>
      <p:pic>
        <p:nvPicPr>
          <p:cNvPr id="16" name="Image 3" descr="/private/tmp/claude-501/-Users-salehhamed-Outcome-Engine/91861432-41e2-4884-bc97-63c6dff2d021/scratchpad/wk/icons/TbUsers-grey.png">    </p:cNvPr>
          <p:cNvPicPr>
            <a:picLocks noChangeAspect="1"/>
          </p:cNvPicPr>
          <p:nvPr/>
        </p:nvPicPr>
        <p:blipFill>
          <a:blip r:embed="rId6"/>
          <a:stretch>
            <a:fillRect/>
          </a:stretch>
        </p:blipFill>
        <p:spPr>
          <a:xfrm>
            <a:off x="777240" y="4681728"/>
            <a:ext cx="274320" cy="274320"/>
          </a:xfrm>
          <a:prstGeom prst="rect">
            <a:avLst/>
          </a:prstGeom>
        </p:spPr>
      </p:pic>
      <p:sp>
        <p:nvSpPr>
          <p:cNvPr id="17" name="Text 11"/>
          <p:cNvSpPr txBox="1"/>
          <p:nvPr/>
        </p:nvSpPr>
        <p:spPr>
          <a:xfrm>
            <a:off x="114300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Whole room, standing</a:t>
            </a:r>
            <a:endParaRPr lang="en-US" sz="1200" dirty="0"/>
          </a:p>
        </p:txBody>
      </p:sp>
      <p:pic>
        <p:nvPicPr>
          <p:cNvPr id="18" name="Image 4" descr="/private/tmp/claude-501/-Users-salehhamed-Outcome-Engine/91861432-41e2-4884-bc97-63c6dff2d021/scratchpad/wk/icons/TbGauge-grey.png">    </p:cNvPr>
          <p:cNvPicPr>
            <a:picLocks noChangeAspect="1"/>
          </p:cNvPicPr>
          <p:nvPr/>
        </p:nvPicPr>
        <p:blipFill>
          <a:blip r:embed="rId7"/>
          <a:stretch>
            <a:fillRect/>
          </a:stretch>
        </p:blipFill>
        <p:spPr>
          <a:xfrm>
            <a:off x="777240" y="5065776"/>
            <a:ext cx="274320" cy="274320"/>
          </a:xfrm>
          <a:prstGeom prst="rect">
            <a:avLst/>
          </a:prstGeom>
        </p:spPr>
      </p:pic>
      <p:sp>
        <p:nvSpPr>
          <p:cNvPr id="19" name="Text 12"/>
          <p:cNvSpPr txBox="1"/>
          <p:nvPr/>
        </p:nvSpPr>
        <p:spPr>
          <a:xfrm>
            <a:off x="114300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High energy</a:t>
            </a:r>
            <a:endParaRPr lang="en-US" sz="1200" dirty="0"/>
          </a:p>
        </p:txBody>
      </p:sp>
      <p:sp>
        <p:nvSpPr>
          <p:cNvPr id="20" name="Text 13"/>
          <p:cNvSpPr txBox="1"/>
          <p:nvPr/>
        </p:nvSpPr>
        <p:spPr>
          <a:xfrm>
            <a:off x="77724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room has energy and space to move.</a:t>
            </a:r>
            <a:endParaRPr lang="en-US" sz="1150" dirty="0"/>
          </a:p>
        </p:txBody>
      </p:sp>
      <p:pic>
        <p:nvPicPr>
          <p:cNvPr id="21" name="Image 5" descr="/private/tmp/claude-501/-Users-salehhamed-Outcome-Engine/91861432-41e2-4884-bc97-63c6dff2d021/scratchpad/wk/brand/clear.png">
            <a:hlinkClick r:id="rId9" tooltip="Option A" action="ppaction://hlinksldjump"/>
          </p:cNvPr>
          <p:cNvPicPr>
            <a:picLocks noChangeAspect="1"/>
          </p:cNvPicPr>
          <p:nvPr/>
        </p:nvPicPr>
        <p:blipFill>
          <a:blip r:embed="rId8"/>
          <a:stretch>
            <a:fillRect/>
          </a:stretch>
        </p:blipFill>
        <p:spPr>
          <a:xfrm>
            <a:off x="548640" y="1463040"/>
            <a:ext cx="3566160" cy="4663440"/>
          </a:xfrm>
          <a:prstGeom prst="rect">
            <a:avLst/>
          </a:prstGeom>
        </p:spPr>
      </p:pic>
      <p:sp>
        <p:nvSpPr>
          <p:cNvPr id="22" name="Shape 14"/>
          <p:cNvSpPr/>
          <p:nvPr/>
        </p:nvSpPr>
        <p:spPr>
          <a:xfrm>
            <a:off x="4297680" y="1463040"/>
            <a:ext cx="3566160" cy="4663440"/>
          </a:xfrm>
          <a:prstGeom prst="roundRect">
            <a:avLst>
              <a:gd name="adj" fmla="val 2051"/>
            </a:avLst>
          </a:prstGeom>
          <a:solidFill>
            <a:srgbClr val="FFFFFF"/>
          </a:solidFill>
          <a:ln w="12700">
            <a:solidFill>
              <a:srgbClr val="D9DEE2"/>
            </a:solidFill>
            <a:prstDash val="solid"/>
          </a:ln>
        </p:spPr>
      </p:sp>
      <p:sp>
        <p:nvSpPr>
          <p:cNvPr id="23" name="Shape 15"/>
          <p:cNvSpPr/>
          <p:nvPr/>
        </p:nvSpPr>
        <p:spPr>
          <a:xfrm>
            <a:off x="4297680" y="1463040"/>
            <a:ext cx="3566160" cy="566928"/>
          </a:xfrm>
          <a:prstGeom prst="roundRect">
            <a:avLst>
              <a:gd name="adj" fmla="val 12903"/>
            </a:avLst>
          </a:prstGeom>
          <a:solidFill>
            <a:srgbClr val="FF462D"/>
          </a:solidFill>
          <a:ln/>
        </p:spPr>
      </p:sp>
      <p:sp>
        <p:nvSpPr>
          <p:cNvPr id="24" name="Shape 16"/>
          <p:cNvSpPr/>
          <p:nvPr/>
        </p:nvSpPr>
        <p:spPr>
          <a:xfrm>
            <a:off x="4297680" y="1828800"/>
            <a:ext cx="3566160" cy="201168"/>
          </a:xfrm>
          <a:prstGeom prst="rect">
            <a:avLst/>
          </a:prstGeom>
          <a:solidFill>
            <a:srgbClr val="FF462D"/>
          </a:solidFill>
          <a:ln/>
        </p:spPr>
      </p:sp>
      <p:pic>
        <p:nvPicPr>
          <p:cNvPr id="25" name="Image 6" descr="/private/tmp/claude-501/-Users-salehhamed-Outcome-Engine/91861432-41e2-4884-bc97-63c6dff2d021/scratchpad/wk/icons/TbDeviceMobile-white.png">    </p:cNvPr>
          <p:cNvPicPr>
            <a:picLocks noChangeAspect="1"/>
          </p:cNvPicPr>
          <p:nvPr/>
        </p:nvPicPr>
        <p:blipFill>
          <a:blip r:embed="rId10"/>
          <a:stretch>
            <a:fillRect/>
          </a:stretch>
        </p:blipFill>
        <p:spPr>
          <a:xfrm>
            <a:off x="4462272" y="1554480"/>
            <a:ext cx="384048" cy="384048"/>
          </a:xfrm>
          <a:prstGeom prst="rect">
            <a:avLst/>
          </a:prstGeom>
        </p:spPr>
      </p:pic>
      <p:sp>
        <p:nvSpPr>
          <p:cNvPr id="26" name="Text 17"/>
          <p:cNvSpPr txBox="1"/>
          <p:nvPr/>
        </p:nvSpPr>
        <p:spPr>
          <a:xfrm>
            <a:off x="495604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B · LIVE VOTING</a:t>
            </a:r>
            <a:endParaRPr lang="en-US" sz="1150" dirty="0"/>
          </a:p>
        </p:txBody>
      </p:sp>
      <p:sp>
        <p:nvSpPr>
          <p:cNvPr id="27" name="Text 18"/>
          <p:cNvSpPr txBox="1"/>
          <p:nvPr/>
        </p:nvSpPr>
        <p:spPr>
          <a:xfrm>
            <a:off x="452628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Record or reality?</a:t>
            </a:r>
            <a:endParaRPr lang="en-US" sz="2100" dirty="0"/>
          </a:p>
        </p:txBody>
      </p:sp>
      <p:sp>
        <p:nvSpPr>
          <p:cNvPr id="28" name="Text 19"/>
          <p:cNvSpPr txBox="1"/>
          <p:nvPr/>
        </p:nvSpPr>
        <p:spPr>
          <a:xfrm>
            <a:off x="452628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Seven quick rounds on phones: the record says this; what was really true?</a:t>
            </a:r>
            <a:endParaRPr lang="en-US" sz="1400" dirty="0"/>
          </a:p>
        </p:txBody>
      </p:sp>
      <p:pic>
        <p:nvPicPr>
          <p:cNvPr id="29" name="Image 7" descr="/private/tmp/claude-501/-Users-salehhamed-Outcome-Engine/91861432-41e2-4884-bc97-63c6dff2d021/scratchpad/wk/icons/TbClock-grey.png">    </p:cNvPr>
          <p:cNvPicPr>
            <a:picLocks noChangeAspect="1"/>
          </p:cNvPicPr>
          <p:nvPr/>
        </p:nvPicPr>
        <p:blipFill>
          <a:blip r:embed="rId11"/>
          <a:stretch>
            <a:fillRect/>
          </a:stretch>
        </p:blipFill>
        <p:spPr>
          <a:xfrm>
            <a:off x="4526280" y="4297680"/>
            <a:ext cx="274320" cy="274320"/>
          </a:xfrm>
          <a:prstGeom prst="rect">
            <a:avLst/>
          </a:prstGeom>
        </p:spPr>
      </p:pic>
      <p:sp>
        <p:nvSpPr>
          <p:cNvPr id="30" name="Text 20"/>
          <p:cNvSpPr txBox="1"/>
          <p:nvPr/>
        </p:nvSpPr>
        <p:spPr>
          <a:xfrm>
            <a:off x="489204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75 min</a:t>
            </a:r>
            <a:endParaRPr lang="en-US" sz="1200" dirty="0"/>
          </a:p>
        </p:txBody>
      </p:sp>
      <p:pic>
        <p:nvPicPr>
          <p:cNvPr id="31" name="Image 8" descr="/private/tmp/claude-501/-Users-salehhamed-Outcome-Engine/91861432-41e2-4884-bc97-63c6dff2d021/scratchpad/wk/icons/TbUsers-grey.png">    </p:cNvPr>
          <p:cNvPicPr>
            <a:picLocks noChangeAspect="1"/>
          </p:cNvPicPr>
          <p:nvPr/>
        </p:nvPicPr>
        <p:blipFill>
          <a:blip r:embed="rId12"/>
          <a:stretch>
            <a:fillRect/>
          </a:stretch>
        </p:blipFill>
        <p:spPr>
          <a:xfrm>
            <a:off x="4526280" y="4681728"/>
            <a:ext cx="274320" cy="274320"/>
          </a:xfrm>
          <a:prstGeom prst="rect">
            <a:avLst/>
          </a:prstGeom>
        </p:spPr>
      </p:pic>
      <p:sp>
        <p:nvSpPr>
          <p:cNvPr id="32" name="Text 21"/>
          <p:cNvSpPr txBox="1"/>
          <p:nvPr/>
        </p:nvSpPr>
        <p:spPr>
          <a:xfrm>
            <a:off x="489204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Each person, then the room</a:t>
            </a:r>
            <a:endParaRPr lang="en-US" sz="1200" dirty="0"/>
          </a:p>
        </p:txBody>
      </p:sp>
      <p:pic>
        <p:nvPicPr>
          <p:cNvPr id="33" name="Image 9" descr="/private/tmp/claude-501/-Users-salehhamed-Outcome-Engine/91861432-41e2-4884-bc97-63c6dff2d021/scratchpad/wk/icons/TbGauge-grey.png">    </p:cNvPr>
          <p:cNvPicPr>
            <a:picLocks noChangeAspect="1"/>
          </p:cNvPicPr>
          <p:nvPr/>
        </p:nvPicPr>
        <p:blipFill>
          <a:blip r:embed="rId13"/>
          <a:stretch>
            <a:fillRect/>
          </a:stretch>
        </p:blipFill>
        <p:spPr>
          <a:xfrm>
            <a:off x="4526280" y="5065776"/>
            <a:ext cx="274320" cy="274320"/>
          </a:xfrm>
          <a:prstGeom prst="rect">
            <a:avLst/>
          </a:prstGeom>
        </p:spPr>
      </p:pic>
      <p:sp>
        <p:nvSpPr>
          <p:cNvPr id="34" name="Text 22"/>
          <p:cNvSpPr txBox="1"/>
          <p:nvPr/>
        </p:nvSpPr>
        <p:spPr>
          <a:xfrm>
            <a:off x="489204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35" name="Text 23"/>
          <p:cNvSpPr txBox="1"/>
          <p:nvPr/>
        </p:nvSpPr>
        <p:spPr>
          <a:xfrm>
            <a:off x="452628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You want everyone to take part, including quieter people.</a:t>
            </a:r>
            <a:endParaRPr lang="en-US" sz="1150" dirty="0"/>
          </a:p>
        </p:txBody>
      </p:sp>
      <p:pic>
        <p:nvPicPr>
          <p:cNvPr id="36" name="Image 10" descr="/private/tmp/claude-501/-Users-salehhamed-Outcome-Engine/91861432-41e2-4884-bc97-63c6dff2d021/scratchpad/wk/brand/clear.png">
            <a:hlinkClick r:id="rId15" tooltip="Option B" action="ppaction://hlinksldjump"/>
          </p:cNvPr>
          <p:cNvPicPr>
            <a:picLocks noChangeAspect="1"/>
          </p:cNvPicPr>
          <p:nvPr/>
        </p:nvPicPr>
        <p:blipFill>
          <a:blip r:embed="rId14"/>
          <a:stretch>
            <a:fillRect/>
          </a:stretch>
        </p:blipFill>
        <p:spPr>
          <a:xfrm>
            <a:off x="4297680" y="1463040"/>
            <a:ext cx="3566160" cy="4663440"/>
          </a:xfrm>
          <a:prstGeom prst="rect">
            <a:avLst/>
          </a:prstGeom>
        </p:spPr>
      </p:pic>
      <p:sp>
        <p:nvSpPr>
          <p:cNvPr id="37" name="Shape 24"/>
          <p:cNvSpPr/>
          <p:nvPr/>
        </p:nvSpPr>
        <p:spPr>
          <a:xfrm>
            <a:off x="8046720" y="1463040"/>
            <a:ext cx="3566160" cy="4663440"/>
          </a:xfrm>
          <a:prstGeom prst="roundRect">
            <a:avLst>
              <a:gd name="adj" fmla="val 2051"/>
            </a:avLst>
          </a:prstGeom>
          <a:solidFill>
            <a:srgbClr val="FFFFFF"/>
          </a:solidFill>
          <a:ln w="12700">
            <a:solidFill>
              <a:srgbClr val="D9DEE2"/>
            </a:solidFill>
            <a:prstDash val="solid"/>
          </a:ln>
        </p:spPr>
      </p:sp>
      <p:sp>
        <p:nvSpPr>
          <p:cNvPr id="38" name="Shape 25"/>
          <p:cNvSpPr/>
          <p:nvPr/>
        </p:nvSpPr>
        <p:spPr>
          <a:xfrm>
            <a:off x="8046720" y="1463040"/>
            <a:ext cx="3566160" cy="566928"/>
          </a:xfrm>
          <a:prstGeom prst="roundRect">
            <a:avLst>
              <a:gd name="adj" fmla="val 12903"/>
            </a:avLst>
          </a:prstGeom>
          <a:solidFill>
            <a:srgbClr val="36454F"/>
          </a:solidFill>
          <a:ln/>
        </p:spPr>
      </p:sp>
      <p:sp>
        <p:nvSpPr>
          <p:cNvPr id="39" name="Shape 26"/>
          <p:cNvSpPr/>
          <p:nvPr/>
        </p:nvSpPr>
        <p:spPr>
          <a:xfrm>
            <a:off x="8046720" y="1828800"/>
            <a:ext cx="3566160" cy="201168"/>
          </a:xfrm>
          <a:prstGeom prst="rect">
            <a:avLst/>
          </a:prstGeom>
          <a:solidFill>
            <a:srgbClr val="36454F"/>
          </a:solidFill>
          <a:ln/>
        </p:spPr>
      </p:sp>
      <p:pic>
        <p:nvPicPr>
          <p:cNvPr id="40" name="Image 11" descr="/private/tmp/claude-501/-Users-salehhamed-Outcome-Engine/91861432-41e2-4884-bc97-63c6dff2d021/scratchpad/wk/icons/TbMasksTheater-white.png">    </p:cNvPr>
          <p:cNvPicPr>
            <a:picLocks noChangeAspect="1"/>
          </p:cNvPicPr>
          <p:nvPr/>
        </p:nvPicPr>
        <p:blipFill>
          <a:blip r:embed="rId16"/>
          <a:stretch>
            <a:fillRect/>
          </a:stretch>
        </p:blipFill>
        <p:spPr>
          <a:xfrm>
            <a:off x="8211312" y="1554480"/>
            <a:ext cx="384048" cy="384048"/>
          </a:xfrm>
          <a:prstGeom prst="rect">
            <a:avLst/>
          </a:prstGeom>
        </p:spPr>
      </p:pic>
      <p:sp>
        <p:nvSpPr>
          <p:cNvPr id="41" name="Text 27"/>
          <p:cNvSpPr txBox="1"/>
          <p:nvPr/>
        </p:nvSpPr>
        <p:spPr>
          <a:xfrm>
            <a:off x="870508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C · CASES AND CONVERSATION</a:t>
            </a:r>
            <a:endParaRPr lang="en-US" sz="1150" dirty="0"/>
          </a:p>
        </p:txBody>
      </p:sp>
      <p:sp>
        <p:nvSpPr>
          <p:cNvPr id="42" name="Text 28"/>
          <p:cNvSpPr txBox="1"/>
          <p:nvPr/>
        </p:nvSpPr>
        <p:spPr>
          <a:xfrm>
            <a:off x="827532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Map your own case</a:t>
            </a:r>
            <a:endParaRPr lang="en-US" sz="2100" dirty="0"/>
          </a:p>
        </p:txBody>
      </p:sp>
      <p:sp>
        <p:nvSpPr>
          <p:cNvPr id="43" name="Text 29"/>
          <p:cNvSpPr txBox="1"/>
          <p:nvPr/>
        </p:nvSpPr>
        <p:spPr>
          <a:xfrm>
            <a:off x="827532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Tables map one of their own recent cases on the seven stages, using Northgate as the example.</a:t>
            </a:r>
            <a:endParaRPr lang="en-US" sz="1400" dirty="0"/>
          </a:p>
        </p:txBody>
      </p:sp>
      <p:pic>
        <p:nvPicPr>
          <p:cNvPr id="44" name="Image 12" descr="/private/tmp/claude-501/-Users-salehhamed-Outcome-Engine/91861432-41e2-4884-bc97-63c6dff2d021/scratchpad/wk/icons/TbClock-grey.png">    </p:cNvPr>
          <p:cNvPicPr>
            <a:picLocks noChangeAspect="1"/>
          </p:cNvPicPr>
          <p:nvPr/>
        </p:nvPicPr>
        <p:blipFill>
          <a:blip r:embed="rId17"/>
          <a:stretch>
            <a:fillRect/>
          </a:stretch>
        </p:blipFill>
        <p:spPr>
          <a:xfrm>
            <a:off x="8275320" y="4297680"/>
            <a:ext cx="274320" cy="274320"/>
          </a:xfrm>
          <a:prstGeom prst="rect">
            <a:avLst/>
          </a:prstGeom>
        </p:spPr>
      </p:pic>
      <p:sp>
        <p:nvSpPr>
          <p:cNvPr id="45" name="Text 30"/>
          <p:cNvSpPr txBox="1"/>
          <p:nvPr/>
        </p:nvSpPr>
        <p:spPr>
          <a:xfrm>
            <a:off x="864108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75 min</a:t>
            </a:r>
            <a:endParaRPr lang="en-US" sz="1200" dirty="0"/>
          </a:p>
        </p:txBody>
      </p:sp>
      <p:pic>
        <p:nvPicPr>
          <p:cNvPr id="46" name="Image 13" descr="/private/tmp/claude-501/-Users-salehhamed-Outcome-Engine/91861432-41e2-4884-bc97-63c6dff2d021/scratchpad/wk/icons/TbUsers-grey.png">    </p:cNvPr>
          <p:cNvPicPr>
            <a:picLocks noChangeAspect="1"/>
          </p:cNvPicPr>
          <p:nvPr/>
        </p:nvPicPr>
        <p:blipFill>
          <a:blip r:embed="rId18"/>
          <a:stretch>
            <a:fillRect/>
          </a:stretch>
        </p:blipFill>
        <p:spPr>
          <a:xfrm>
            <a:off x="8275320" y="4681728"/>
            <a:ext cx="274320" cy="274320"/>
          </a:xfrm>
          <a:prstGeom prst="rect">
            <a:avLst/>
          </a:prstGeom>
        </p:spPr>
      </p:pic>
      <p:sp>
        <p:nvSpPr>
          <p:cNvPr id="47" name="Text 31"/>
          <p:cNvSpPr txBox="1"/>
          <p:nvPr/>
        </p:nvSpPr>
        <p:spPr>
          <a:xfrm>
            <a:off x="864108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Tables of 3 or 4</a:t>
            </a:r>
            <a:endParaRPr lang="en-US" sz="1200" dirty="0"/>
          </a:p>
        </p:txBody>
      </p:sp>
      <p:pic>
        <p:nvPicPr>
          <p:cNvPr id="48" name="Image 14" descr="/private/tmp/claude-501/-Users-salehhamed-Outcome-Engine/91861432-41e2-4884-bc97-63c6dff2d021/scratchpad/wk/icons/TbGauge-grey.png">    </p:cNvPr>
          <p:cNvPicPr>
            <a:picLocks noChangeAspect="1"/>
          </p:cNvPicPr>
          <p:nvPr/>
        </p:nvPicPr>
        <p:blipFill>
          <a:blip r:embed="rId19"/>
          <a:stretch>
            <a:fillRect/>
          </a:stretch>
        </p:blipFill>
        <p:spPr>
          <a:xfrm>
            <a:off x="8275320" y="5065776"/>
            <a:ext cx="274320" cy="274320"/>
          </a:xfrm>
          <a:prstGeom prst="rect">
            <a:avLst/>
          </a:prstGeom>
        </p:spPr>
      </p:pic>
      <p:sp>
        <p:nvSpPr>
          <p:cNvPr id="49" name="Text 32"/>
          <p:cNvSpPr txBox="1"/>
          <p:nvPr/>
        </p:nvSpPr>
        <p:spPr>
          <a:xfrm>
            <a:off x="864108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50" name="Text 33"/>
          <p:cNvSpPr txBox="1"/>
          <p:nvPr/>
        </p:nvSpPr>
        <p:spPr>
          <a:xfrm>
            <a:off x="827532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People brought their pre-work cases and the room trusts each other.</a:t>
            </a:r>
            <a:endParaRPr lang="en-US" sz="1150" dirty="0"/>
          </a:p>
        </p:txBody>
      </p:sp>
      <p:pic>
        <p:nvPicPr>
          <p:cNvPr id="51" name="Image 15" descr="/private/tmp/claude-501/-Users-salehhamed-Outcome-Engine/91861432-41e2-4884-bc97-63c6dff2d021/scratchpad/wk/brand/clear.png">
            <a:hlinkClick r:id="rId21" tooltip="Option C" action="ppaction://hlinksldjump"/>
          </p:cNvPr>
          <p:cNvPicPr>
            <a:picLocks noChangeAspect="1"/>
          </p:cNvPicPr>
          <p:nvPr/>
        </p:nvPicPr>
        <p:blipFill>
          <a:blip r:embed="rId20"/>
          <a:stretch>
            <a:fillRect/>
          </a:stretch>
        </p:blipFill>
        <p:spPr>
          <a:xfrm>
            <a:off x="8046720" y="1463040"/>
            <a:ext cx="3566160" cy="466344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OPTION A · HANDS-ON · GROUND IN REALITY</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Walk the wall</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44</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Walk the Northgate deal along seven posters; add your own cases; vote the biggest pains.</a:t>
            </a:r>
            <a:endParaRPr lang="en-US" sz="1900" dirty="0"/>
          </a:p>
        </p:txBody>
      </p:sp>
      <p:sp>
        <p:nvSpPr>
          <p:cNvPr id="8" name="Shape 5"/>
          <p:cNvSpPr/>
          <p:nvPr/>
        </p:nvSpPr>
        <p:spPr>
          <a:xfrm>
            <a:off x="548640" y="2240280"/>
            <a:ext cx="832104" cy="1417320"/>
          </a:xfrm>
          <a:prstGeom prst="rect">
            <a:avLst/>
          </a:prstGeom>
          <a:solidFill>
            <a:srgbClr val="287079"/>
          </a:solidFill>
          <a:ln/>
        </p:spPr>
      </p:sp>
      <p:sp>
        <p:nvSpPr>
          <p:cNvPr id="9" name="Text 6"/>
          <p:cNvSpPr txBox="1"/>
          <p:nvPr/>
        </p:nvSpPr>
        <p:spPr>
          <a:xfrm>
            <a:off x="640080" y="2331720"/>
            <a:ext cx="685800"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0" name="Text 7"/>
          <p:cNvSpPr txBox="1"/>
          <p:nvPr/>
        </p:nvSpPr>
        <p:spPr>
          <a:xfrm>
            <a:off x="640080" y="2651760"/>
            <a:ext cx="722376"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Meet Northgate</a:t>
            </a:r>
            <a:endParaRPr lang="en-US" sz="950" dirty="0"/>
          </a:p>
        </p:txBody>
      </p:sp>
      <p:sp>
        <p:nvSpPr>
          <p:cNvPr id="11" name="Shape 8"/>
          <p:cNvSpPr/>
          <p:nvPr/>
        </p:nvSpPr>
        <p:spPr>
          <a:xfrm>
            <a:off x="1417320" y="2240280"/>
            <a:ext cx="5140818" cy="1417320"/>
          </a:xfrm>
          <a:prstGeom prst="rect">
            <a:avLst/>
          </a:prstGeom>
          <a:solidFill>
            <a:srgbClr val="5C8F95"/>
          </a:solidFill>
          <a:ln/>
        </p:spPr>
      </p:sp>
      <p:sp>
        <p:nvSpPr>
          <p:cNvPr id="12" name="Text 9"/>
          <p:cNvSpPr txBox="1"/>
          <p:nvPr/>
        </p:nvSpPr>
        <p:spPr>
          <a:xfrm>
            <a:off x="1508760" y="2331720"/>
            <a:ext cx="4994514"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35 min</a:t>
            </a:r>
            <a:endParaRPr lang="en-US" sz="1150" dirty="0"/>
          </a:p>
        </p:txBody>
      </p:sp>
      <p:sp>
        <p:nvSpPr>
          <p:cNvPr id="13" name="Text 10"/>
          <p:cNvSpPr txBox="1"/>
          <p:nvPr/>
        </p:nvSpPr>
        <p:spPr>
          <a:xfrm>
            <a:off x="1508760" y="2651760"/>
            <a:ext cx="5031090"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Walk the wall</a:t>
            </a:r>
            <a:endParaRPr lang="en-US" sz="1500" dirty="0"/>
          </a:p>
        </p:txBody>
      </p:sp>
      <p:sp>
        <p:nvSpPr>
          <p:cNvPr id="14" name="Shape 11"/>
          <p:cNvSpPr/>
          <p:nvPr/>
        </p:nvSpPr>
        <p:spPr>
          <a:xfrm>
            <a:off x="6594714" y="2240280"/>
            <a:ext cx="2182307" cy="1417320"/>
          </a:xfrm>
          <a:prstGeom prst="rect">
            <a:avLst/>
          </a:prstGeom>
          <a:solidFill>
            <a:srgbClr val="287079"/>
          </a:solidFill>
          <a:ln/>
        </p:spPr>
      </p:sp>
      <p:sp>
        <p:nvSpPr>
          <p:cNvPr id="15" name="Text 12"/>
          <p:cNvSpPr txBox="1"/>
          <p:nvPr/>
        </p:nvSpPr>
        <p:spPr>
          <a:xfrm>
            <a:off x="6686154" y="2331720"/>
            <a:ext cx="203600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6" name="Text 13"/>
          <p:cNvSpPr txBox="1"/>
          <p:nvPr/>
        </p:nvSpPr>
        <p:spPr>
          <a:xfrm>
            <a:off x="6686154" y="2651760"/>
            <a:ext cx="2072579"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Dot vote</a:t>
            </a:r>
            <a:endParaRPr lang="en-US" sz="1500" dirty="0"/>
          </a:p>
        </p:txBody>
      </p:sp>
      <p:sp>
        <p:nvSpPr>
          <p:cNvPr id="17" name="Shape 14"/>
          <p:cNvSpPr/>
          <p:nvPr/>
        </p:nvSpPr>
        <p:spPr>
          <a:xfrm>
            <a:off x="8813597" y="2240280"/>
            <a:ext cx="2182307" cy="1417320"/>
          </a:xfrm>
          <a:prstGeom prst="rect">
            <a:avLst/>
          </a:prstGeom>
          <a:solidFill>
            <a:srgbClr val="5C8F95"/>
          </a:solidFill>
          <a:ln/>
        </p:spPr>
      </p:sp>
      <p:sp>
        <p:nvSpPr>
          <p:cNvPr id="18" name="Text 15"/>
          <p:cNvSpPr txBox="1"/>
          <p:nvPr/>
        </p:nvSpPr>
        <p:spPr>
          <a:xfrm>
            <a:off x="8905037" y="2331720"/>
            <a:ext cx="203600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9" name="Text 16"/>
          <p:cNvSpPr txBox="1"/>
          <p:nvPr/>
        </p:nvSpPr>
        <p:spPr>
          <a:xfrm>
            <a:off x="8905037" y="2651760"/>
            <a:ext cx="2072579"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What it means</a:t>
            </a:r>
            <a:endParaRPr lang="en-US" sz="1500" dirty="0"/>
          </a:p>
        </p:txBody>
      </p:sp>
      <p:sp>
        <p:nvSpPr>
          <p:cNvPr id="20" name="Shape 17"/>
          <p:cNvSpPr/>
          <p:nvPr/>
        </p:nvSpPr>
        <p:spPr>
          <a:xfrm>
            <a:off x="11032480" y="2240280"/>
            <a:ext cx="573999" cy="1417320"/>
          </a:xfrm>
          <a:prstGeom prst="rect">
            <a:avLst/>
          </a:prstGeom>
          <a:solidFill>
            <a:srgbClr val="287079"/>
          </a:solidFill>
          <a:ln/>
        </p:spPr>
      </p:sp>
      <p:sp>
        <p:nvSpPr>
          <p:cNvPr id="21" name="Text 18"/>
          <p:cNvSpPr txBox="1"/>
          <p:nvPr/>
        </p:nvSpPr>
        <p:spPr>
          <a:xfrm>
            <a:off x="11123920" y="2331720"/>
            <a:ext cx="42769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22" name="Text 19"/>
          <p:cNvSpPr txBox="1"/>
          <p:nvPr/>
        </p:nvSpPr>
        <p:spPr>
          <a:xfrm>
            <a:off x="11123920" y="2651760"/>
            <a:ext cx="464271"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Check</a:t>
            </a:r>
            <a:endParaRPr lang="en-US" sz="950" dirty="0"/>
          </a:p>
        </p:txBody>
      </p:sp>
      <p:sp>
        <p:nvSpPr>
          <p:cNvPr id="23" name="Shape 20"/>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4"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5" name="Text 21"/>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6" name="Text 22"/>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Whole room, standing</a:t>
            </a:r>
            <a:endParaRPr lang="en-US" sz="1300" dirty="0"/>
          </a:p>
        </p:txBody>
      </p:sp>
      <p:sp>
        <p:nvSpPr>
          <p:cNvPr id="27" name="Shape 23"/>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8"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9" name="Text 24"/>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30" name="Text 25"/>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Pain map: dots per stage, top three pains with one line each.</a:t>
            </a:r>
            <a:endParaRPr lang="en-US" sz="1300" dirty="0"/>
          </a:p>
        </p:txBody>
      </p:sp>
      <p:sp>
        <p:nvSpPr>
          <p:cNvPr id="31" name="Shape 26"/>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32"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33" name="Text 27"/>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34" name="Text 28"/>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FF462D"/>
                </a:solidFill>
                <a:latin typeface="Arial" pitchFamily="34" charset="0"/>
                <a:ea typeface="Arial" pitchFamily="34" charset="-122"/>
                <a:cs typeface="Arial" pitchFamily="34" charset="-120"/>
              </a:rPr>
              <a:t>OPTION B · LIVE VOTING · GROUND IN REALITY</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Record or reality?</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45</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Seven quick rounds on phones: the record says this; what was really true?</a:t>
            </a:r>
            <a:endParaRPr lang="en-US" sz="1900" dirty="0"/>
          </a:p>
        </p:txBody>
      </p:sp>
      <p:sp>
        <p:nvSpPr>
          <p:cNvPr id="8" name="Shape 5"/>
          <p:cNvSpPr/>
          <p:nvPr/>
        </p:nvSpPr>
        <p:spPr>
          <a:xfrm>
            <a:off x="548640" y="2240280"/>
            <a:ext cx="832104" cy="1417320"/>
          </a:xfrm>
          <a:prstGeom prst="rect">
            <a:avLst/>
          </a:prstGeom>
          <a:solidFill>
            <a:srgbClr val="FF462D"/>
          </a:solidFill>
          <a:ln/>
        </p:spPr>
      </p:sp>
      <p:sp>
        <p:nvSpPr>
          <p:cNvPr id="9" name="Text 6"/>
          <p:cNvSpPr txBox="1"/>
          <p:nvPr/>
        </p:nvSpPr>
        <p:spPr>
          <a:xfrm>
            <a:off x="640080" y="2331720"/>
            <a:ext cx="685800"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0" name="Text 7"/>
          <p:cNvSpPr txBox="1"/>
          <p:nvPr/>
        </p:nvSpPr>
        <p:spPr>
          <a:xfrm>
            <a:off x="640080" y="2651760"/>
            <a:ext cx="722376"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Meet Northgate</a:t>
            </a:r>
            <a:endParaRPr lang="en-US" sz="950" dirty="0"/>
          </a:p>
        </p:txBody>
      </p:sp>
      <p:sp>
        <p:nvSpPr>
          <p:cNvPr id="11" name="Shape 8"/>
          <p:cNvSpPr/>
          <p:nvPr/>
        </p:nvSpPr>
        <p:spPr>
          <a:xfrm>
            <a:off x="1417320" y="2240280"/>
            <a:ext cx="5140818" cy="1417320"/>
          </a:xfrm>
          <a:prstGeom prst="rect">
            <a:avLst/>
          </a:prstGeom>
          <a:solidFill>
            <a:srgbClr val="FF8A78"/>
          </a:solidFill>
          <a:ln/>
        </p:spPr>
      </p:sp>
      <p:sp>
        <p:nvSpPr>
          <p:cNvPr id="12" name="Text 9"/>
          <p:cNvSpPr txBox="1"/>
          <p:nvPr/>
        </p:nvSpPr>
        <p:spPr>
          <a:xfrm>
            <a:off x="1508760" y="2331720"/>
            <a:ext cx="4994514"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35 min</a:t>
            </a:r>
            <a:endParaRPr lang="en-US" sz="1150" dirty="0"/>
          </a:p>
        </p:txBody>
      </p:sp>
      <p:sp>
        <p:nvSpPr>
          <p:cNvPr id="13" name="Text 10"/>
          <p:cNvSpPr txBox="1"/>
          <p:nvPr/>
        </p:nvSpPr>
        <p:spPr>
          <a:xfrm>
            <a:off x="1508760" y="2651760"/>
            <a:ext cx="5031090"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Seven rounds</a:t>
            </a:r>
            <a:endParaRPr lang="en-US" sz="1500" dirty="0"/>
          </a:p>
        </p:txBody>
      </p:sp>
      <p:sp>
        <p:nvSpPr>
          <p:cNvPr id="14" name="Shape 11"/>
          <p:cNvSpPr/>
          <p:nvPr/>
        </p:nvSpPr>
        <p:spPr>
          <a:xfrm>
            <a:off x="6594714" y="2240280"/>
            <a:ext cx="1442679" cy="1417320"/>
          </a:xfrm>
          <a:prstGeom prst="rect">
            <a:avLst/>
          </a:prstGeom>
          <a:solidFill>
            <a:srgbClr val="FF462D"/>
          </a:solidFill>
          <a:ln/>
        </p:spPr>
      </p:sp>
      <p:sp>
        <p:nvSpPr>
          <p:cNvPr id="15" name="Text 12"/>
          <p:cNvSpPr txBox="1"/>
          <p:nvPr/>
        </p:nvSpPr>
        <p:spPr>
          <a:xfrm>
            <a:off x="6686154"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6" name="Text 13"/>
          <p:cNvSpPr txBox="1"/>
          <p:nvPr/>
        </p:nvSpPr>
        <p:spPr>
          <a:xfrm>
            <a:off x="6686154"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Heat map</a:t>
            </a:r>
            <a:endParaRPr lang="en-US" sz="1500" dirty="0"/>
          </a:p>
        </p:txBody>
      </p:sp>
      <p:sp>
        <p:nvSpPr>
          <p:cNvPr id="17" name="Shape 14"/>
          <p:cNvSpPr/>
          <p:nvPr/>
        </p:nvSpPr>
        <p:spPr>
          <a:xfrm>
            <a:off x="8073969" y="2240280"/>
            <a:ext cx="2921935" cy="1417320"/>
          </a:xfrm>
          <a:prstGeom prst="rect">
            <a:avLst/>
          </a:prstGeom>
          <a:solidFill>
            <a:srgbClr val="FF8A78"/>
          </a:solidFill>
          <a:ln/>
        </p:spPr>
      </p:sp>
      <p:sp>
        <p:nvSpPr>
          <p:cNvPr id="18" name="Text 15"/>
          <p:cNvSpPr txBox="1"/>
          <p:nvPr/>
        </p:nvSpPr>
        <p:spPr>
          <a:xfrm>
            <a:off x="8165409" y="2331720"/>
            <a:ext cx="2775631"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20 min</a:t>
            </a:r>
            <a:endParaRPr lang="en-US" sz="1150" dirty="0"/>
          </a:p>
        </p:txBody>
      </p:sp>
      <p:sp>
        <p:nvSpPr>
          <p:cNvPr id="19" name="Text 16"/>
          <p:cNvSpPr txBox="1"/>
          <p:nvPr/>
        </p:nvSpPr>
        <p:spPr>
          <a:xfrm>
            <a:off x="8165409" y="2651760"/>
            <a:ext cx="2812207"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What it means</a:t>
            </a:r>
            <a:endParaRPr lang="en-US" sz="1500" dirty="0"/>
          </a:p>
        </p:txBody>
      </p:sp>
      <p:sp>
        <p:nvSpPr>
          <p:cNvPr id="20" name="Shape 17"/>
          <p:cNvSpPr/>
          <p:nvPr/>
        </p:nvSpPr>
        <p:spPr>
          <a:xfrm>
            <a:off x="11032480" y="2240280"/>
            <a:ext cx="573999" cy="1417320"/>
          </a:xfrm>
          <a:prstGeom prst="rect">
            <a:avLst/>
          </a:prstGeom>
          <a:solidFill>
            <a:srgbClr val="FF462D"/>
          </a:solidFill>
          <a:ln/>
        </p:spPr>
      </p:sp>
      <p:sp>
        <p:nvSpPr>
          <p:cNvPr id="21" name="Text 18"/>
          <p:cNvSpPr txBox="1"/>
          <p:nvPr/>
        </p:nvSpPr>
        <p:spPr>
          <a:xfrm>
            <a:off x="11123920" y="2331720"/>
            <a:ext cx="42769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22" name="Text 19"/>
          <p:cNvSpPr txBox="1"/>
          <p:nvPr/>
        </p:nvSpPr>
        <p:spPr>
          <a:xfrm>
            <a:off x="11123920" y="2651760"/>
            <a:ext cx="464271"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Check</a:t>
            </a:r>
            <a:endParaRPr lang="en-US" sz="950" dirty="0"/>
          </a:p>
        </p:txBody>
      </p:sp>
      <p:sp>
        <p:nvSpPr>
          <p:cNvPr id="23" name="Shape 20"/>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4"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5" name="Text 21"/>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6" name="Text 22"/>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Each person, then the room</a:t>
            </a:r>
            <a:endParaRPr lang="en-US" sz="1300" dirty="0"/>
          </a:p>
        </p:txBody>
      </p:sp>
      <p:sp>
        <p:nvSpPr>
          <p:cNvPr id="27" name="Shape 23"/>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8"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9" name="Text 24"/>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30" name="Text 25"/>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Round results and the pain heat map, saved in the room tool.</a:t>
            </a:r>
            <a:endParaRPr lang="en-US" sz="1300" dirty="0"/>
          </a:p>
        </p:txBody>
      </p:sp>
      <p:sp>
        <p:nvSpPr>
          <p:cNvPr id="31" name="Shape 26"/>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32"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33" name="Text 27"/>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34" name="Text 28"/>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36454F"/>
                </a:solidFill>
                <a:latin typeface="Arial" pitchFamily="34" charset="0"/>
                <a:ea typeface="Arial" pitchFamily="34" charset="-122"/>
                <a:cs typeface="Arial" pitchFamily="34" charset="-120"/>
              </a:rPr>
              <a:t>OPTION C · CASES AND CONVERSATION · GROUND IN REALITY</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Map your own case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46</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Tables map one of their own recent cases on the seven stages, using Northgate as the example.</a:t>
            </a:r>
            <a:endParaRPr lang="en-US" sz="1900" dirty="0"/>
          </a:p>
        </p:txBody>
      </p:sp>
      <p:sp>
        <p:nvSpPr>
          <p:cNvPr id="8" name="Shape 5"/>
          <p:cNvSpPr/>
          <p:nvPr/>
        </p:nvSpPr>
        <p:spPr>
          <a:xfrm>
            <a:off x="548640" y="2240280"/>
            <a:ext cx="1442679" cy="1417320"/>
          </a:xfrm>
          <a:prstGeom prst="rect">
            <a:avLst/>
          </a:prstGeom>
          <a:solidFill>
            <a:srgbClr val="36454F"/>
          </a:solidFill>
          <a:ln/>
        </p:spPr>
      </p:sp>
      <p:sp>
        <p:nvSpPr>
          <p:cNvPr id="9" name="Text 6"/>
          <p:cNvSpPr txBox="1"/>
          <p:nvPr/>
        </p:nvSpPr>
        <p:spPr>
          <a:xfrm>
            <a:off x="64008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0" name="Text 7"/>
          <p:cNvSpPr txBox="1"/>
          <p:nvPr/>
        </p:nvSpPr>
        <p:spPr>
          <a:xfrm>
            <a:off x="64008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Worked example</a:t>
            </a:r>
            <a:endParaRPr lang="en-US" sz="1500" dirty="0"/>
          </a:p>
        </p:txBody>
      </p:sp>
      <p:sp>
        <p:nvSpPr>
          <p:cNvPr id="11" name="Shape 8"/>
          <p:cNvSpPr/>
          <p:nvPr/>
        </p:nvSpPr>
        <p:spPr>
          <a:xfrm>
            <a:off x="2027895" y="2240280"/>
            <a:ext cx="4401190" cy="1417320"/>
          </a:xfrm>
          <a:prstGeom prst="rect">
            <a:avLst/>
          </a:prstGeom>
          <a:solidFill>
            <a:srgbClr val="6B7B86"/>
          </a:solidFill>
          <a:ln/>
        </p:spPr>
      </p:sp>
      <p:sp>
        <p:nvSpPr>
          <p:cNvPr id="12" name="Text 9"/>
          <p:cNvSpPr txBox="1"/>
          <p:nvPr/>
        </p:nvSpPr>
        <p:spPr>
          <a:xfrm>
            <a:off x="2119335" y="2331720"/>
            <a:ext cx="4254886"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30 min</a:t>
            </a:r>
            <a:endParaRPr lang="en-US" sz="1150" dirty="0"/>
          </a:p>
        </p:txBody>
      </p:sp>
      <p:sp>
        <p:nvSpPr>
          <p:cNvPr id="13" name="Text 10"/>
          <p:cNvSpPr txBox="1"/>
          <p:nvPr/>
        </p:nvSpPr>
        <p:spPr>
          <a:xfrm>
            <a:off x="2119335" y="2651760"/>
            <a:ext cx="4291462"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Map your case</a:t>
            </a:r>
            <a:endParaRPr lang="en-US" sz="1500" dirty="0"/>
          </a:p>
        </p:txBody>
      </p:sp>
      <p:sp>
        <p:nvSpPr>
          <p:cNvPr id="14" name="Shape 11"/>
          <p:cNvSpPr/>
          <p:nvPr/>
        </p:nvSpPr>
        <p:spPr>
          <a:xfrm>
            <a:off x="6465661" y="2240280"/>
            <a:ext cx="2182307" cy="1417320"/>
          </a:xfrm>
          <a:prstGeom prst="rect">
            <a:avLst/>
          </a:prstGeom>
          <a:solidFill>
            <a:srgbClr val="36454F"/>
          </a:solidFill>
          <a:ln/>
        </p:spPr>
      </p:sp>
      <p:sp>
        <p:nvSpPr>
          <p:cNvPr id="15" name="Text 12"/>
          <p:cNvSpPr txBox="1"/>
          <p:nvPr/>
        </p:nvSpPr>
        <p:spPr>
          <a:xfrm>
            <a:off x="6557101" y="2331720"/>
            <a:ext cx="203600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6" name="Text 13"/>
          <p:cNvSpPr txBox="1"/>
          <p:nvPr/>
        </p:nvSpPr>
        <p:spPr>
          <a:xfrm>
            <a:off x="6557101" y="2651760"/>
            <a:ext cx="2072579"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Share and dot</a:t>
            </a:r>
            <a:endParaRPr lang="en-US" sz="1500" dirty="0"/>
          </a:p>
        </p:txBody>
      </p:sp>
      <p:sp>
        <p:nvSpPr>
          <p:cNvPr id="17" name="Shape 14"/>
          <p:cNvSpPr/>
          <p:nvPr/>
        </p:nvSpPr>
        <p:spPr>
          <a:xfrm>
            <a:off x="8684544" y="2240280"/>
            <a:ext cx="2182307" cy="1417320"/>
          </a:xfrm>
          <a:prstGeom prst="rect">
            <a:avLst/>
          </a:prstGeom>
          <a:solidFill>
            <a:srgbClr val="6B7B86"/>
          </a:solidFill>
          <a:ln/>
        </p:spPr>
      </p:sp>
      <p:sp>
        <p:nvSpPr>
          <p:cNvPr id="18" name="Text 15"/>
          <p:cNvSpPr txBox="1"/>
          <p:nvPr/>
        </p:nvSpPr>
        <p:spPr>
          <a:xfrm>
            <a:off x="8775984" y="2331720"/>
            <a:ext cx="203600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9" name="Text 16"/>
          <p:cNvSpPr txBox="1"/>
          <p:nvPr/>
        </p:nvSpPr>
        <p:spPr>
          <a:xfrm>
            <a:off x="8775984" y="2651760"/>
            <a:ext cx="2072579"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What it means</a:t>
            </a:r>
            <a:endParaRPr lang="en-US" sz="1500" dirty="0"/>
          </a:p>
        </p:txBody>
      </p:sp>
      <p:sp>
        <p:nvSpPr>
          <p:cNvPr id="20" name="Shape 17"/>
          <p:cNvSpPr/>
          <p:nvPr/>
        </p:nvSpPr>
        <p:spPr>
          <a:xfrm>
            <a:off x="10903428" y="2240280"/>
            <a:ext cx="703052" cy="1417320"/>
          </a:xfrm>
          <a:prstGeom prst="rect">
            <a:avLst/>
          </a:prstGeom>
          <a:solidFill>
            <a:srgbClr val="36454F"/>
          </a:solidFill>
          <a:ln/>
        </p:spPr>
      </p:sp>
      <p:sp>
        <p:nvSpPr>
          <p:cNvPr id="21" name="Text 18"/>
          <p:cNvSpPr txBox="1"/>
          <p:nvPr/>
        </p:nvSpPr>
        <p:spPr>
          <a:xfrm>
            <a:off x="10994868" y="2331720"/>
            <a:ext cx="55674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22" name="Text 19"/>
          <p:cNvSpPr txBox="1"/>
          <p:nvPr/>
        </p:nvSpPr>
        <p:spPr>
          <a:xfrm>
            <a:off x="10994868" y="2651760"/>
            <a:ext cx="593324"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Check</a:t>
            </a:r>
            <a:endParaRPr lang="en-US" sz="950" dirty="0"/>
          </a:p>
        </p:txBody>
      </p:sp>
      <p:sp>
        <p:nvSpPr>
          <p:cNvPr id="23" name="Shape 20"/>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4"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5" name="Text 21"/>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6" name="Text 22"/>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Tables of 3 or 4</a:t>
            </a:r>
            <a:endParaRPr lang="en-US" sz="1300" dirty="0"/>
          </a:p>
        </p:txBody>
      </p:sp>
      <p:sp>
        <p:nvSpPr>
          <p:cNvPr id="27" name="Shape 23"/>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8"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9" name="Text 24"/>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30" name="Text 25"/>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One mapped case per table, photographed; the shared patterns and the top three pains on the wall.</a:t>
            </a:r>
            <a:endParaRPr lang="en-US" sz="1300" dirty="0"/>
          </a:p>
        </p:txBody>
      </p:sp>
      <p:sp>
        <p:nvSpPr>
          <p:cNvPr id="31" name="Shape 26"/>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32"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33" name="Text 27"/>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34" name="Text 28"/>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GROUND IN REALITY · FILL IN LIVE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Pain map</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47</a:t>
            </a:r>
            <a:endParaRPr lang="en-US" sz="1000" dirty="0"/>
          </a:p>
        </p:txBody>
      </p:sp>
      <p:sp>
        <p:nvSpPr>
          <p:cNvPr id="7" name="Shape 4"/>
          <p:cNvSpPr/>
          <p:nvPr/>
        </p:nvSpPr>
        <p:spPr>
          <a:xfrm>
            <a:off x="548640" y="1325880"/>
            <a:ext cx="1443446" cy="1737360"/>
          </a:xfrm>
          <a:prstGeom prst="roundRect">
            <a:avLst>
              <a:gd name="adj" fmla="val 6335"/>
            </a:avLst>
          </a:prstGeom>
          <a:solidFill>
            <a:srgbClr val="FFFFFF"/>
          </a:solidFill>
          <a:ln w="12700">
            <a:solidFill>
              <a:srgbClr val="D9DEE2"/>
            </a:solidFill>
            <a:prstDash val="solid"/>
          </a:ln>
        </p:spPr>
      </p:sp>
      <p:sp>
        <p:nvSpPr>
          <p:cNvPr id="8" name="Shape 5"/>
          <p:cNvSpPr/>
          <p:nvPr/>
        </p:nvSpPr>
        <p:spPr>
          <a:xfrm>
            <a:off x="685800" y="1463040"/>
            <a:ext cx="384048" cy="384048"/>
          </a:xfrm>
          <a:prstGeom prst="ellipse">
            <a:avLst/>
          </a:prstGeom>
          <a:solidFill>
            <a:srgbClr val="FF462D"/>
          </a:solidFill>
          <a:ln/>
        </p:spPr>
      </p:sp>
      <p:sp>
        <p:nvSpPr>
          <p:cNvPr id="9" name="Text 6"/>
          <p:cNvSpPr txBox="1"/>
          <p:nvPr/>
        </p:nvSpPr>
        <p:spPr>
          <a:xfrm>
            <a:off x="685800"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pic>
        <p:nvPicPr>
          <p:cNvPr id="10" name="Image 1" descr="/private/tmp/claude-501/-Users-salehhamed-Outcome-Engine/91861432-41e2-4884-bc97-63c6dff2d021/scratchpad/wk/icons/TbBuildingSkyscraper-teal.png">    </p:cNvPr>
          <p:cNvPicPr>
            <a:picLocks noChangeAspect="1"/>
          </p:cNvPicPr>
          <p:nvPr/>
        </p:nvPicPr>
        <p:blipFill>
          <a:blip r:embed="rId4"/>
          <a:stretch>
            <a:fillRect/>
          </a:stretch>
        </p:blipFill>
        <p:spPr>
          <a:xfrm>
            <a:off x="1425158" y="1435608"/>
            <a:ext cx="438912" cy="438912"/>
          </a:xfrm>
          <a:prstGeom prst="rect">
            <a:avLst/>
          </a:prstGeom>
        </p:spPr>
      </p:pic>
      <p:sp>
        <p:nvSpPr>
          <p:cNvPr id="11" name="Text 7"/>
          <p:cNvSpPr txBox="1"/>
          <p:nvPr/>
        </p:nvSpPr>
        <p:spPr>
          <a:xfrm>
            <a:off x="685800" y="2011680"/>
            <a:ext cx="1169126" cy="96012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Demand emerges</a:t>
            </a:r>
            <a:endParaRPr lang="en-US" sz="1500" dirty="0"/>
          </a:p>
        </p:txBody>
      </p:sp>
      <p:sp>
        <p:nvSpPr>
          <p:cNvPr id="12" name="Text 8"/>
          <p:cNvSpPr txBox="1"/>
          <p:nvPr/>
        </p:nvSpPr>
        <p:spPr>
          <a:xfrm>
            <a:off x="1973798" y="2011680"/>
            <a:ext cx="201168" cy="365760"/>
          </a:xfrm>
          <a:prstGeom prst="rect">
            <a:avLst/>
          </a:prstGeom>
          <a:noFill/>
          <a:ln/>
        </p:spPr>
        <p:txBody>
          <a:bodyPr wrap="square" lIns="0" tIns="0" rIns="0" bIns="0" rtlCol="0" anchor="t"/>
          <a:lstStyle/>
          <a:p>
            <a:pPr algn="ctr" indent="0" marL="0">
              <a:buNone/>
            </a:pPr>
            <a:r>
              <a:rPr lang="en-US" sz="1800" b="1" dirty="0">
                <a:solidFill>
                  <a:srgbClr val="8A94A4"/>
                </a:solidFill>
                <a:latin typeface="Arial" pitchFamily="34" charset="0"/>
                <a:ea typeface="Arial" pitchFamily="34" charset="-122"/>
                <a:cs typeface="Arial" pitchFamily="34" charset="-120"/>
              </a:rPr>
              <a:t>›</a:t>
            </a:r>
            <a:endParaRPr lang="en-US" sz="1800" dirty="0"/>
          </a:p>
        </p:txBody>
      </p:sp>
      <p:sp>
        <p:nvSpPr>
          <p:cNvPr id="13" name="Shape 9"/>
          <p:cNvSpPr/>
          <p:nvPr/>
        </p:nvSpPr>
        <p:spPr>
          <a:xfrm>
            <a:off x="2156678" y="1325880"/>
            <a:ext cx="1443446" cy="1737360"/>
          </a:xfrm>
          <a:prstGeom prst="roundRect">
            <a:avLst>
              <a:gd name="adj" fmla="val 6335"/>
            </a:avLst>
          </a:prstGeom>
          <a:solidFill>
            <a:srgbClr val="FFFFFF"/>
          </a:solidFill>
          <a:ln w="12700">
            <a:solidFill>
              <a:srgbClr val="D9DEE2"/>
            </a:solidFill>
            <a:prstDash val="solid"/>
          </a:ln>
        </p:spPr>
      </p:sp>
      <p:sp>
        <p:nvSpPr>
          <p:cNvPr id="14" name="Shape 10"/>
          <p:cNvSpPr/>
          <p:nvPr/>
        </p:nvSpPr>
        <p:spPr>
          <a:xfrm>
            <a:off x="2293838" y="1463040"/>
            <a:ext cx="384048" cy="384048"/>
          </a:xfrm>
          <a:prstGeom prst="ellipse">
            <a:avLst/>
          </a:prstGeom>
          <a:solidFill>
            <a:srgbClr val="FF462D"/>
          </a:solidFill>
          <a:ln/>
        </p:spPr>
      </p:sp>
      <p:sp>
        <p:nvSpPr>
          <p:cNvPr id="15" name="Text 11"/>
          <p:cNvSpPr txBox="1"/>
          <p:nvPr/>
        </p:nvSpPr>
        <p:spPr>
          <a:xfrm>
            <a:off x="2293838"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pic>
        <p:nvPicPr>
          <p:cNvPr id="16" name="Image 2" descr="/private/tmp/claude-501/-Users-salehhamed-Outcome-Engine/91861432-41e2-4884-bc97-63c6dff2d021/scratchpad/wk/icons/TbFileText-teal.png">    </p:cNvPr>
          <p:cNvPicPr>
            <a:picLocks noChangeAspect="1"/>
          </p:cNvPicPr>
          <p:nvPr/>
        </p:nvPicPr>
        <p:blipFill>
          <a:blip r:embed="rId5"/>
          <a:stretch>
            <a:fillRect/>
          </a:stretch>
        </p:blipFill>
        <p:spPr>
          <a:xfrm>
            <a:off x="3033195" y="1435608"/>
            <a:ext cx="438912" cy="438912"/>
          </a:xfrm>
          <a:prstGeom prst="rect">
            <a:avLst/>
          </a:prstGeom>
        </p:spPr>
      </p:pic>
      <p:sp>
        <p:nvSpPr>
          <p:cNvPr id="17" name="Text 12"/>
          <p:cNvSpPr txBox="1"/>
          <p:nvPr/>
        </p:nvSpPr>
        <p:spPr>
          <a:xfrm>
            <a:off x="2293838" y="2011680"/>
            <a:ext cx="1169126" cy="96012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Work becomes a staffing need</a:t>
            </a:r>
            <a:endParaRPr lang="en-US" sz="1500" dirty="0"/>
          </a:p>
        </p:txBody>
      </p:sp>
      <p:sp>
        <p:nvSpPr>
          <p:cNvPr id="18" name="Text 13"/>
          <p:cNvSpPr txBox="1"/>
          <p:nvPr/>
        </p:nvSpPr>
        <p:spPr>
          <a:xfrm>
            <a:off x="3581835" y="2011680"/>
            <a:ext cx="201168" cy="365760"/>
          </a:xfrm>
          <a:prstGeom prst="rect">
            <a:avLst/>
          </a:prstGeom>
          <a:noFill/>
          <a:ln/>
        </p:spPr>
        <p:txBody>
          <a:bodyPr wrap="square" lIns="0" tIns="0" rIns="0" bIns="0" rtlCol="0" anchor="t"/>
          <a:lstStyle/>
          <a:p>
            <a:pPr algn="ctr" indent="0" marL="0">
              <a:buNone/>
            </a:pPr>
            <a:r>
              <a:rPr lang="en-US" sz="1800" b="1" dirty="0">
                <a:solidFill>
                  <a:srgbClr val="8A94A4"/>
                </a:solidFill>
                <a:latin typeface="Arial" pitchFamily="34" charset="0"/>
                <a:ea typeface="Arial" pitchFamily="34" charset="-122"/>
                <a:cs typeface="Arial" pitchFamily="34" charset="-120"/>
              </a:rPr>
              <a:t>›</a:t>
            </a:r>
            <a:endParaRPr lang="en-US" sz="1800" dirty="0"/>
          </a:p>
        </p:txBody>
      </p:sp>
      <p:sp>
        <p:nvSpPr>
          <p:cNvPr id="19" name="Shape 14"/>
          <p:cNvSpPr/>
          <p:nvPr/>
        </p:nvSpPr>
        <p:spPr>
          <a:xfrm>
            <a:off x="3764715" y="1325880"/>
            <a:ext cx="1443446" cy="1737360"/>
          </a:xfrm>
          <a:prstGeom prst="roundRect">
            <a:avLst>
              <a:gd name="adj" fmla="val 6335"/>
            </a:avLst>
          </a:prstGeom>
          <a:solidFill>
            <a:srgbClr val="FFFFFF"/>
          </a:solidFill>
          <a:ln w="12700">
            <a:solidFill>
              <a:srgbClr val="D9DEE2"/>
            </a:solidFill>
            <a:prstDash val="solid"/>
          </a:ln>
        </p:spPr>
      </p:sp>
      <p:sp>
        <p:nvSpPr>
          <p:cNvPr id="20" name="Shape 15"/>
          <p:cNvSpPr/>
          <p:nvPr/>
        </p:nvSpPr>
        <p:spPr>
          <a:xfrm>
            <a:off x="3901875" y="1463040"/>
            <a:ext cx="384048" cy="384048"/>
          </a:xfrm>
          <a:prstGeom prst="ellipse">
            <a:avLst/>
          </a:prstGeom>
          <a:solidFill>
            <a:srgbClr val="FF462D"/>
          </a:solidFill>
          <a:ln/>
        </p:spPr>
      </p:sp>
      <p:sp>
        <p:nvSpPr>
          <p:cNvPr id="21" name="Text 16"/>
          <p:cNvSpPr txBox="1"/>
          <p:nvPr/>
        </p:nvSpPr>
        <p:spPr>
          <a:xfrm>
            <a:off x="3901875"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pic>
        <p:nvPicPr>
          <p:cNvPr id="22" name="Image 3" descr="/private/tmp/claude-501/-Users-salehhamed-Outcome-Engine/91861432-41e2-4884-bc97-63c6dff2d021/scratchpad/wk/icons/TbInbox-teal.png">    </p:cNvPr>
          <p:cNvPicPr>
            <a:picLocks noChangeAspect="1"/>
          </p:cNvPicPr>
          <p:nvPr/>
        </p:nvPicPr>
        <p:blipFill>
          <a:blip r:embed="rId6"/>
          <a:stretch>
            <a:fillRect/>
          </a:stretch>
        </p:blipFill>
        <p:spPr>
          <a:xfrm>
            <a:off x="4641233" y="1435608"/>
            <a:ext cx="438912" cy="438912"/>
          </a:xfrm>
          <a:prstGeom prst="rect">
            <a:avLst/>
          </a:prstGeom>
        </p:spPr>
      </p:pic>
      <p:sp>
        <p:nvSpPr>
          <p:cNvPr id="23" name="Text 17"/>
          <p:cNvSpPr txBox="1"/>
          <p:nvPr/>
        </p:nvSpPr>
        <p:spPr>
          <a:xfrm>
            <a:off x="3901875" y="2011680"/>
            <a:ext cx="1169126" cy="96012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Staffing sees the request</a:t>
            </a:r>
            <a:endParaRPr lang="en-US" sz="1500" dirty="0"/>
          </a:p>
        </p:txBody>
      </p:sp>
      <p:sp>
        <p:nvSpPr>
          <p:cNvPr id="24" name="Text 18"/>
          <p:cNvSpPr txBox="1"/>
          <p:nvPr/>
        </p:nvSpPr>
        <p:spPr>
          <a:xfrm>
            <a:off x="5189873" y="2011680"/>
            <a:ext cx="201168" cy="365760"/>
          </a:xfrm>
          <a:prstGeom prst="rect">
            <a:avLst/>
          </a:prstGeom>
          <a:noFill/>
          <a:ln/>
        </p:spPr>
        <p:txBody>
          <a:bodyPr wrap="square" lIns="0" tIns="0" rIns="0" bIns="0" rtlCol="0" anchor="t"/>
          <a:lstStyle/>
          <a:p>
            <a:pPr algn="ctr" indent="0" marL="0">
              <a:buNone/>
            </a:pPr>
            <a:r>
              <a:rPr lang="en-US" sz="1800" b="1" dirty="0">
                <a:solidFill>
                  <a:srgbClr val="8A94A4"/>
                </a:solidFill>
                <a:latin typeface="Arial" pitchFamily="34" charset="0"/>
                <a:ea typeface="Arial" pitchFamily="34" charset="-122"/>
                <a:cs typeface="Arial" pitchFamily="34" charset="-120"/>
              </a:rPr>
              <a:t>›</a:t>
            </a:r>
            <a:endParaRPr lang="en-US" sz="1800" dirty="0"/>
          </a:p>
        </p:txBody>
      </p:sp>
      <p:sp>
        <p:nvSpPr>
          <p:cNvPr id="25" name="Shape 19"/>
          <p:cNvSpPr/>
          <p:nvPr/>
        </p:nvSpPr>
        <p:spPr>
          <a:xfrm>
            <a:off x="5372753" y="1325880"/>
            <a:ext cx="1443446" cy="1737360"/>
          </a:xfrm>
          <a:prstGeom prst="roundRect">
            <a:avLst>
              <a:gd name="adj" fmla="val 6335"/>
            </a:avLst>
          </a:prstGeom>
          <a:solidFill>
            <a:srgbClr val="FFFFFF"/>
          </a:solidFill>
          <a:ln w="12700">
            <a:solidFill>
              <a:srgbClr val="D9DEE2"/>
            </a:solidFill>
            <a:prstDash val="solid"/>
          </a:ln>
        </p:spPr>
      </p:sp>
      <p:sp>
        <p:nvSpPr>
          <p:cNvPr id="26" name="Shape 20"/>
          <p:cNvSpPr/>
          <p:nvPr/>
        </p:nvSpPr>
        <p:spPr>
          <a:xfrm>
            <a:off x="5509913" y="1463040"/>
            <a:ext cx="384048" cy="384048"/>
          </a:xfrm>
          <a:prstGeom prst="ellipse">
            <a:avLst/>
          </a:prstGeom>
          <a:solidFill>
            <a:srgbClr val="FF462D"/>
          </a:solidFill>
          <a:ln/>
        </p:spPr>
      </p:sp>
      <p:sp>
        <p:nvSpPr>
          <p:cNvPr id="27" name="Text 21"/>
          <p:cNvSpPr txBox="1"/>
          <p:nvPr/>
        </p:nvSpPr>
        <p:spPr>
          <a:xfrm>
            <a:off x="5509913"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pic>
        <p:nvPicPr>
          <p:cNvPr id="28" name="Image 4" descr="/private/tmp/claude-501/-Users-salehhamed-Outcome-Engine/91861432-41e2-4884-bc97-63c6dff2d021/scratchpad/wk/icons/TbUserSearch-teal.png">    </p:cNvPr>
          <p:cNvPicPr>
            <a:picLocks noChangeAspect="1"/>
          </p:cNvPicPr>
          <p:nvPr/>
        </p:nvPicPr>
        <p:blipFill>
          <a:blip r:embed="rId7"/>
          <a:stretch>
            <a:fillRect/>
          </a:stretch>
        </p:blipFill>
        <p:spPr>
          <a:xfrm>
            <a:off x="6249271" y="1435608"/>
            <a:ext cx="438912" cy="438912"/>
          </a:xfrm>
          <a:prstGeom prst="rect">
            <a:avLst/>
          </a:prstGeom>
        </p:spPr>
      </p:pic>
      <p:sp>
        <p:nvSpPr>
          <p:cNvPr id="29" name="Text 22"/>
          <p:cNvSpPr txBox="1"/>
          <p:nvPr/>
        </p:nvSpPr>
        <p:spPr>
          <a:xfrm>
            <a:off x="5509913" y="2011680"/>
            <a:ext cx="1169126" cy="96012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Who could do it, and who is free</a:t>
            </a:r>
            <a:endParaRPr lang="en-US" sz="1500" dirty="0"/>
          </a:p>
        </p:txBody>
      </p:sp>
      <p:sp>
        <p:nvSpPr>
          <p:cNvPr id="30" name="Text 23"/>
          <p:cNvSpPr txBox="1"/>
          <p:nvPr/>
        </p:nvSpPr>
        <p:spPr>
          <a:xfrm>
            <a:off x="6797911" y="2011680"/>
            <a:ext cx="201168" cy="365760"/>
          </a:xfrm>
          <a:prstGeom prst="rect">
            <a:avLst/>
          </a:prstGeom>
          <a:noFill/>
          <a:ln/>
        </p:spPr>
        <p:txBody>
          <a:bodyPr wrap="square" lIns="0" tIns="0" rIns="0" bIns="0" rtlCol="0" anchor="t"/>
          <a:lstStyle/>
          <a:p>
            <a:pPr algn="ctr" indent="0" marL="0">
              <a:buNone/>
            </a:pPr>
            <a:r>
              <a:rPr lang="en-US" sz="1800" b="1" dirty="0">
                <a:solidFill>
                  <a:srgbClr val="8A94A4"/>
                </a:solidFill>
                <a:latin typeface="Arial" pitchFamily="34" charset="0"/>
                <a:ea typeface="Arial" pitchFamily="34" charset="-122"/>
                <a:cs typeface="Arial" pitchFamily="34" charset="-120"/>
              </a:rPr>
              <a:t>›</a:t>
            </a:r>
            <a:endParaRPr lang="en-US" sz="1800" dirty="0"/>
          </a:p>
        </p:txBody>
      </p:sp>
      <p:sp>
        <p:nvSpPr>
          <p:cNvPr id="31" name="Shape 24"/>
          <p:cNvSpPr/>
          <p:nvPr/>
        </p:nvSpPr>
        <p:spPr>
          <a:xfrm>
            <a:off x="6980791" y="1325880"/>
            <a:ext cx="1443446" cy="1737360"/>
          </a:xfrm>
          <a:prstGeom prst="roundRect">
            <a:avLst>
              <a:gd name="adj" fmla="val 6335"/>
            </a:avLst>
          </a:prstGeom>
          <a:solidFill>
            <a:srgbClr val="FFFFFF"/>
          </a:solidFill>
          <a:ln w="12700">
            <a:solidFill>
              <a:srgbClr val="D9DEE2"/>
            </a:solidFill>
            <a:prstDash val="solid"/>
          </a:ln>
        </p:spPr>
      </p:sp>
      <p:sp>
        <p:nvSpPr>
          <p:cNvPr id="32" name="Shape 25"/>
          <p:cNvSpPr/>
          <p:nvPr/>
        </p:nvSpPr>
        <p:spPr>
          <a:xfrm>
            <a:off x="7117951" y="1463040"/>
            <a:ext cx="384048" cy="384048"/>
          </a:xfrm>
          <a:prstGeom prst="ellipse">
            <a:avLst/>
          </a:prstGeom>
          <a:solidFill>
            <a:srgbClr val="FF462D"/>
          </a:solidFill>
          <a:ln/>
        </p:spPr>
      </p:sp>
      <p:sp>
        <p:nvSpPr>
          <p:cNvPr id="33" name="Text 26"/>
          <p:cNvSpPr txBox="1"/>
          <p:nvPr/>
        </p:nvSpPr>
        <p:spPr>
          <a:xfrm>
            <a:off x="7117951"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pic>
        <p:nvPicPr>
          <p:cNvPr id="34" name="Image 5" descr="/private/tmp/claude-501/-Users-salehhamed-Outcome-Engine/91861432-41e2-4884-bc97-63c6dff2d021/scratchpad/wk/icons/TbDoorExit-teal.png">    </p:cNvPr>
          <p:cNvPicPr>
            <a:picLocks noChangeAspect="1"/>
          </p:cNvPicPr>
          <p:nvPr/>
        </p:nvPicPr>
        <p:blipFill>
          <a:blip r:embed="rId8"/>
          <a:stretch>
            <a:fillRect/>
          </a:stretch>
        </p:blipFill>
        <p:spPr>
          <a:xfrm>
            <a:off x="7857309" y="1435608"/>
            <a:ext cx="438912" cy="438912"/>
          </a:xfrm>
          <a:prstGeom prst="rect">
            <a:avLst/>
          </a:prstGeom>
        </p:spPr>
      </p:pic>
      <p:sp>
        <p:nvSpPr>
          <p:cNvPr id="35" name="Text 27"/>
          <p:cNvSpPr txBox="1"/>
          <p:nvPr/>
        </p:nvSpPr>
        <p:spPr>
          <a:xfrm>
            <a:off x="7117951" y="2011680"/>
            <a:ext cx="1169126" cy="96012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Can they actually start</a:t>
            </a:r>
            <a:endParaRPr lang="en-US" sz="1500" dirty="0"/>
          </a:p>
        </p:txBody>
      </p:sp>
      <p:sp>
        <p:nvSpPr>
          <p:cNvPr id="36" name="Text 28"/>
          <p:cNvSpPr txBox="1"/>
          <p:nvPr/>
        </p:nvSpPr>
        <p:spPr>
          <a:xfrm>
            <a:off x="8405949" y="2011680"/>
            <a:ext cx="201168" cy="365760"/>
          </a:xfrm>
          <a:prstGeom prst="rect">
            <a:avLst/>
          </a:prstGeom>
          <a:noFill/>
          <a:ln/>
        </p:spPr>
        <p:txBody>
          <a:bodyPr wrap="square" lIns="0" tIns="0" rIns="0" bIns="0" rtlCol="0" anchor="t"/>
          <a:lstStyle/>
          <a:p>
            <a:pPr algn="ctr" indent="0" marL="0">
              <a:buNone/>
            </a:pPr>
            <a:r>
              <a:rPr lang="en-US" sz="1800" b="1" dirty="0">
                <a:solidFill>
                  <a:srgbClr val="8A94A4"/>
                </a:solidFill>
                <a:latin typeface="Arial" pitchFamily="34" charset="0"/>
                <a:ea typeface="Arial" pitchFamily="34" charset="-122"/>
                <a:cs typeface="Arial" pitchFamily="34" charset="-120"/>
              </a:rPr>
              <a:t>›</a:t>
            </a:r>
            <a:endParaRPr lang="en-US" sz="1800" dirty="0"/>
          </a:p>
        </p:txBody>
      </p:sp>
      <p:sp>
        <p:nvSpPr>
          <p:cNvPr id="37" name="Shape 29"/>
          <p:cNvSpPr/>
          <p:nvPr/>
        </p:nvSpPr>
        <p:spPr>
          <a:xfrm>
            <a:off x="8588829" y="1325880"/>
            <a:ext cx="1443446" cy="1737360"/>
          </a:xfrm>
          <a:prstGeom prst="roundRect">
            <a:avLst>
              <a:gd name="adj" fmla="val 6335"/>
            </a:avLst>
          </a:prstGeom>
          <a:solidFill>
            <a:srgbClr val="FFFFFF"/>
          </a:solidFill>
          <a:ln w="12700">
            <a:solidFill>
              <a:srgbClr val="D9DEE2"/>
            </a:solidFill>
            <a:prstDash val="solid"/>
          </a:ln>
        </p:spPr>
      </p:sp>
      <p:sp>
        <p:nvSpPr>
          <p:cNvPr id="38" name="Shape 30"/>
          <p:cNvSpPr/>
          <p:nvPr/>
        </p:nvSpPr>
        <p:spPr>
          <a:xfrm>
            <a:off x="8725989" y="1463040"/>
            <a:ext cx="384048" cy="384048"/>
          </a:xfrm>
          <a:prstGeom prst="ellipse">
            <a:avLst/>
          </a:prstGeom>
          <a:solidFill>
            <a:srgbClr val="FF462D"/>
          </a:solidFill>
          <a:ln/>
        </p:spPr>
      </p:sp>
      <p:sp>
        <p:nvSpPr>
          <p:cNvPr id="39" name="Text 31"/>
          <p:cNvSpPr txBox="1"/>
          <p:nvPr/>
        </p:nvSpPr>
        <p:spPr>
          <a:xfrm>
            <a:off x="8725989"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pic>
        <p:nvPicPr>
          <p:cNvPr id="40" name="Image 6" descr="/private/tmp/claude-501/-Users-salehhamed-Outcome-Engine/91861432-41e2-4884-bc97-63c6dff2d021/scratchpad/wk/icons/TbUserQuestion-teal.png">    </p:cNvPr>
          <p:cNvPicPr>
            <a:picLocks noChangeAspect="1"/>
          </p:cNvPicPr>
          <p:nvPr/>
        </p:nvPicPr>
        <p:blipFill>
          <a:blip r:embed="rId9"/>
          <a:stretch>
            <a:fillRect/>
          </a:stretch>
        </p:blipFill>
        <p:spPr>
          <a:xfrm>
            <a:off x="9465346" y="1435608"/>
            <a:ext cx="438912" cy="438912"/>
          </a:xfrm>
          <a:prstGeom prst="rect">
            <a:avLst/>
          </a:prstGeom>
        </p:spPr>
      </p:pic>
      <p:sp>
        <p:nvSpPr>
          <p:cNvPr id="41" name="Text 32"/>
          <p:cNvSpPr txBox="1"/>
          <p:nvPr/>
        </p:nvSpPr>
        <p:spPr>
          <a:xfrm>
            <a:off x="8725989" y="2011680"/>
            <a:ext cx="1169126" cy="96012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Is there a real gap</a:t>
            </a:r>
            <a:endParaRPr lang="en-US" sz="1500" dirty="0"/>
          </a:p>
        </p:txBody>
      </p:sp>
      <p:sp>
        <p:nvSpPr>
          <p:cNvPr id="42" name="Text 33"/>
          <p:cNvSpPr txBox="1"/>
          <p:nvPr/>
        </p:nvSpPr>
        <p:spPr>
          <a:xfrm>
            <a:off x="10013986" y="2011680"/>
            <a:ext cx="201168" cy="365760"/>
          </a:xfrm>
          <a:prstGeom prst="rect">
            <a:avLst/>
          </a:prstGeom>
          <a:noFill/>
          <a:ln/>
        </p:spPr>
        <p:txBody>
          <a:bodyPr wrap="square" lIns="0" tIns="0" rIns="0" bIns="0" rtlCol="0" anchor="t"/>
          <a:lstStyle/>
          <a:p>
            <a:pPr algn="ctr" indent="0" marL="0">
              <a:buNone/>
            </a:pPr>
            <a:r>
              <a:rPr lang="en-US" sz="1800" b="1" dirty="0">
                <a:solidFill>
                  <a:srgbClr val="8A94A4"/>
                </a:solidFill>
                <a:latin typeface="Arial" pitchFamily="34" charset="0"/>
                <a:ea typeface="Arial" pitchFamily="34" charset="-122"/>
                <a:cs typeface="Arial" pitchFamily="34" charset="-120"/>
              </a:rPr>
              <a:t>›</a:t>
            </a:r>
            <a:endParaRPr lang="en-US" sz="1800" dirty="0"/>
          </a:p>
        </p:txBody>
      </p:sp>
      <p:sp>
        <p:nvSpPr>
          <p:cNvPr id="43" name="Shape 34"/>
          <p:cNvSpPr/>
          <p:nvPr/>
        </p:nvSpPr>
        <p:spPr>
          <a:xfrm>
            <a:off x="10196866" y="1325880"/>
            <a:ext cx="1443446" cy="1737360"/>
          </a:xfrm>
          <a:prstGeom prst="roundRect">
            <a:avLst>
              <a:gd name="adj" fmla="val 6335"/>
            </a:avLst>
          </a:prstGeom>
          <a:solidFill>
            <a:srgbClr val="FFFFFF"/>
          </a:solidFill>
          <a:ln w="12700">
            <a:solidFill>
              <a:srgbClr val="D9DEE2"/>
            </a:solidFill>
            <a:prstDash val="solid"/>
          </a:ln>
        </p:spPr>
      </p:sp>
      <p:sp>
        <p:nvSpPr>
          <p:cNvPr id="44" name="Shape 35"/>
          <p:cNvSpPr/>
          <p:nvPr/>
        </p:nvSpPr>
        <p:spPr>
          <a:xfrm>
            <a:off x="10334026" y="1463040"/>
            <a:ext cx="384048" cy="384048"/>
          </a:xfrm>
          <a:prstGeom prst="ellipse">
            <a:avLst/>
          </a:prstGeom>
          <a:solidFill>
            <a:srgbClr val="FF462D"/>
          </a:solidFill>
          <a:ln/>
        </p:spPr>
      </p:sp>
      <p:sp>
        <p:nvSpPr>
          <p:cNvPr id="45" name="Text 36"/>
          <p:cNvSpPr txBox="1"/>
          <p:nvPr/>
        </p:nvSpPr>
        <p:spPr>
          <a:xfrm>
            <a:off x="10334026"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pic>
        <p:nvPicPr>
          <p:cNvPr id="46" name="Image 7" descr="/private/tmp/claude-501/-Users-salehhamed-Outcome-Engine/91861432-41e2-4884-bc97-63c6dff2d021/scratchpad/wk/icons/TbRocket-teal.png">    </p:cNvPr>
          <p:cNvPicPr>
            <a:picLocks noChangeAspect="1"/>
          </p:cNvPicPr>
          <p:nvPr/>
        </p:nvPicPr>
        <p:blipFill>
          <a:blip r:embed="rId10"/>
          <a:stretch>
            <a:fillRect/>
          </a:stretch>
        </p:blipFill>
        <p:spPr>
          <a:xfrm>
            <a:off x="11073384" y="1435608"/>
            <a:ext cx="438912" cy="438912"/>
          </a:xfrm>
          <a:prstGeom prst="rect">
            <a:avLst/>
          </a:prstGeom>
        </p:spPr>
      </p:pic>
      <p:sp>
        <p:nvSpPr>
          <p:cNvPr id="47" name="Text 37"/>
          <p:cNvSpPr txBox="1"/>
          <p:nvPr/>
        </p:nvSpPr>
        <p:spPr>
          <a:xfrm>
            <a:off x="10334026" y="2011680"/>
            <a:ext cx="1169126" cy="96012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The gap goes to action</a:t>
            </a:r>
            <a:endParaRPr lang="en-US" sz="1500" dirty="0"/>
          </a:p>
        </p:txBody>
      </p:sp>
      <p:sp>
        <p:nvSpPr>
          <p:cNvPr id="48" name="Shape 38"/>
          <p:cNvSpPr/>
          <p:nvPr/>
        </p:nvSpPr>
        <p:spPr>
          <a:xfrm>
            <a:off x="548640" y="3182112"/>
            <a:ext cx="1443446" cy="548640"/>
          </a:xfrm>
          <a:prstGeom prst="roundRect">
            <a:avLst>
              <a:gd name="adj" fmla="val 10000"/>
            </a:avLst>
          </a:prstGeom>
          <a:solidFill>
            <a:srgbClr val="FFF0EC"/>
          </a:solidFill>
          <a:ln/>
        </p:spPr>
      </p:sp>
      <p:sp>
        <p:nvSpPr>
          <p:cNvPr id="49" name="Text 39"/>
          <p:cNvSpPr txBox="1"/>
          <p:nvPr/>
        </p:nvSpPr>
        <p:spPr>
          <a:xfrm>
            <a:off x="548640" y="3182112"/>
            <a:ext cx="1443446" cy="548640"/>
          </a:xfrm>
          <a:prstGeom prst="rect">
            <a:avLst/>
          </a:prstGeom>
          <a:noFill/>
          <a:ln/>
        </p:spPr>
        <p:txBody>
          <a:bodyPr wrap="square" lIns="0" tIns="0" rIns="0" bIns="0" rtlCol="0" anchor="ctr"/>
          <a:lstStyle/>
          <a:p>
            <a:pPr algn="ctr" indent="0" marL="0">
              <a:buNone/>
            </a:pPr>
            <a:r>
              <a:rPr lang="en-US" sz="1200" i="1" dirty="0">
                <a:solidFill>
                  <a:srgbClr val="8A94A4"/>
                </a:solidFill>
                <a:latin typeface="Arial" pitchFamily="34" charset="0"/>
                <a:ea typeface="Arial" pitchFamily="34" charset="-122"/>
                <a:cs typeface="Arial" pitchFamily="34" charset="-120"/>
              </a:rPr>
              <a:t>Dots</a:t>
            </a:r>
            <a:endParaRPr lang="en-US" sz="1200" dirty="0"/>
          </a:p>
        </p:txBody>
      </p:sp>
      <p:sp>
        <p:nvSpPr>
          <p:cNvPr id="50" name="Shape 40"/>
          <p:cNvSpPr/>
          <p:nvPr/>
        </p:nvSpPr>
        <p:spPr>
          <a:xfrm>
            <a:off x="548640" y="3822192"/>
            <a:ext cx="1443446" cy="1554480"/>
          </a:xfrm>
          <a:prstGeom prst="roundRect">
            <a:avLst>
              <a:gd name="adj" fmla="val 5068"/>
            </a:avLst>
          </a:prstGeom>
          <a:solidFill>
            <a:srgbClr val="FFFFFF"/>
          </a:solidFill>
          <a:ln w="12700">
            <a:solidFill>
              <a:srgbClr val="D9DEE2"/>
            </a:solidFill>
            <a:prstDash val="solid"/>
          </a:ln>
        </p:spPr>
      </p:sp>
      <p:sp>
        <p:nvSpPr>
          <p:cNvPr id="51" name="Text 41"/>
          <p:cNvSpPr txBox="1"/>
          <p:nvPr/>
        </p:nvSpPr>
        <p:spPr>
          <a:xfrm>
            <a:off x="640080" y="3867912"/>
            <a:ext cx="1260566" cy="365760"/>
          </a:xfrm>
          <a:prstGeom prst="rect">
            <a:avLst/>
          </a:prstGeom>
          <a:noFill/>
          <a:ln/>
        </p:spPr>
        <p:txBody>
          <a:bodyPr wrap="square" lIns="0" tIns="0" rIns="0" bIns="0" rtlCol="0" anchor="t"/>
          <a:lstStyle/>
          <a:p>
            <a:pPr indent="0" marL="0">
              <a:buNone/>
            </a:pPr>
            <a:r>
              <a:rPr lang="en-US" sz="1200" i="1" dirty="0">
                <a:solidFill>
                  <a:srgbClr val="8A94A4"/>
                </a:solidFill>
                <a:latin typeface="Arial" pitchFamily="34" charset="0"/>
                <a:ea typeface="Arial" pitchFamily="34" charset="-122"/>
                <a:cs typeface="Arial" pitchFamily="34" charset="-120"/>
              </a:rPr>
              <a:t>Top pain</a:t>
            </a:r>
            <a:endParaRPr lang="en-US" sz="1200" dirty="0"/>
          </a:p>
        </p:txBody>
      </p:sp>
      <p:sp>
        <p:nvSpPr>
          <p:cNvPr id="52" name="Shape 42"/>
          <p:cNvSpPr/>
          <p:nvPr/>
        </p:nvSpPr>
        <p:spPr>
          <a:xfrm>
            <a:off x="2156678" y="3182112"/>
            <a:ext cx="1443446" cy="548640"/>
          </a:xfrm>
          <a:prstGeom prst="roundRect">
            <a:avLst>
              <a:gd name="adj" fmla="val 10000"/>
            </a:avLst>
          </a:prstGeom>
          <a:solidFill>
            <a:srgbClr val="FFF0EC"/>
          </a:solidFill>
          <a:ln/>
        </p:spPr>
      </p:sp>
      <p:sp>
        <p:nvSpPr>
          <p:cNvPr id="53" name="Text 43"/>
          <p:cNvSpPr txBox="1"/>
          <p:nvPr/>
        </p:nvSpPr>
        <p:spPr>
          <a:xfrm>
            <a:off x="2156678" y="3182112"/>
            <a:ext cx="1443446" cy="548640"/>
          </a:xfrm>
          <a:prstGeom prst="rect">
            <a:avLst/>
          </a:prstGeom>
          <a:noFill/>
          <a:ln/>
        </p:spPr>
        <p:txBody>
          <a:bodyPr wrap="square" lIns="0" tIns="0" rIns="0" bIns="0" rtlCol="0" anchor="ctr"/>
          <a:lstStyle/>
          <a:p>
            <a:pPr algn="ctr" indent="0" marL="0">
              <a:buNone/>
            </a:pPr>
            <a:r>
              <a:rPr lang="en-US" sz="1200" i="1" dirty="0">
                <a:solidFill>
                  <a:srgbClr val="8A94A4"/>
                </a:solidFill>
                <a:latin typeface="Arial" pitchFamily="34" charset="0"/>
                <a:ea typeface="Arial" pitchFamily="34" charset="-122"/>
                <a:cs typeface="Arial" pitchFamily="34" charset="-120"/>
              </a:rPr>
              <a:t>Dots</a:t>
            </a:r>
            <a:endParaRPr lang="en-US" sz="1200" dirty="0"/>
          </a:p>
        </p:txBody>
      </p:sp>
      <p:sp>
        <p:nvSpPr>
          <p:cNvPr id="54" name="Shape 44"/>
          <p:cNvSpPr/>
          <p:nvPr/>
        </p:nvSpPr>
        <p:spPr>
          <a:xfrm>
            <a:off x="2156678" y="3822192"/>
            <a:ext cx="1443446" cy="1554480"/>
          </a:xfrm>
          <a:prstGeom prst="roundRect">
            <a:avLst>
              <a:gd name="adj" fmla="val 5068"/>
            </a:avLst>
          </a:prstGeom>
          <a:solidFill>
            <a:srgbClr val="FFFFFF"/>
          </a:solidFill>
          <a:ln w="12700">
            <a:solidFill>
              <a:srgbClr val="D9DEE2"/>
            </a:solidFill>
            <a:prstDash val="solid"/>
          </a:ln>
        </p:spPr>
      </p:sp>
      <p:sp>
        <p:nvSpPr>
          <p:cNvPr id="55" name="Text 45"/>
          <p:cNvSpPr txBox="1"/>
          <p:nvPr/>
        </p:nvSpPr>
        <p:spPr>
          <a:xfrm>
            <a:off x="2248118" y="3867912"/>
            <a:ext cx="1260566" cy="365760"/>
          </a:xfrm>
          <a:prstGeom prst="rect">
            <a:avLst/>
          </a:prstGeom>
          <a:noFill/>
          <a:ln/>
        </p:spPr>
        <p:txBody>
          <a:bodyPr wrap="square" lIns="0" tIns="0" rIns="0" bIns="0" rtlCol="0" anchor="t"/>
          <a:lstStyle/>
          <a:p>
            <a:pPr indent="0" marL="0">
              <a:buNone/>
            </a:pPr>
            <a:r>
              <a:rPr lang="en-US" sz="1200" i="1" dirty="0">
                <a:solidFill>
                  <a:srgbClr val="8A94A4"/>
                </a:solidFill>
                <a:latin typeface="Arial" pitchFamily="34" charset="0"/>
                <a:ea typeface="Arial" pitchFamily="34" charset="-122"/>
                <a:cs typeface="Arial" pitchFamily="34" charset="-120"/>
              </a:rPr>
              <a:t>Top pain</a:t>
            </a:r>
            <a:endParaRPr lang="en-US" sz="1200" dirty="0"/>
          </a:p>
        </p:txBody>
      </p:sp>
      <p:sp>
        <p:nvSpPr>
          <p:cNvPr id="56" name="Shape 46"/>
          <p:cNvSpPr/>
          <p:nvPr/>
        </p:nvSpPr>
        <p:spPr>
          <a:xfrm>
            <a:off x="3764715" y="3182112"/>
            <a:ext cx="1443446" cy="548640"/>
          </a:xfrm>
          <a:prstGeom prst="roundRect">
            <a:avLst>
              <a:gd name="adj" fmla="val 10000"/>
            </a:avLst>
          </a:prstGeom>
          <a:solidFill>
            <a:srgbClr val="FFF0EC"/>
          </a:solidFill>
          <a:ln/>
        </p:spPr>
      </p:sp>
      <p:sp>
        <p:nvSpPr>
          <p:cNvPr id="57" name="Text 47"/>
          <p:cNvSpPr txBox="1"/>
          <p:nvPr/>
        </p:nvSpPr>
        <p:spPr>
          <a:xfrm>
            <a:off x="3764715" y="3182112"/>
            <a:ext cx="1443446" cy="548640"/>
          </a:xfrm>
          <a:prstGeom prst="rect">
            <a:avLst/>
          </a:prstGeom>
          <a:noFill/>
          <a:ln/>
        </p:spPr>
        <p:txBody>
          <a:bodyPr wrap="square" lIns="0" tIns="0" rIns="0" bIns="0" rtlCol="0" anchor="ctr"/>
          <a:lstStyle/>
          <a:p>
            <a:pPr algn="ctr" indent="0" marL="0">
              <a:buNone/>
            </a:pPr>
            <a:r>
              <a:rPr lang="en-US" sz="1200" i="1" dirty="0">
                <a:solidFill>
                  <a:srgbClr val="8A94A4"/>
                </a:solidFill>
                <a:latin typeface="Arial" pitchFamily="34" charset="0"/>
                <a:ea typeface="Arial" pitchFamily="34" charset="-122"/>
                <a:cs typeface="Arial" pitchFamily="34" charset="-120"/>
              </a:rPr>
              <a:t>Dots</a:t>
            </a:r>
            <a:endParaRPr lang="en-US" sz="1200" dirty="0"/>
          </a:p>
        </p:txBody>
      </p:sp>
      <p:sp>
        <p:nvSpPr>
          <p:cNvPr id="58" name="Shape 48"/>
          <p:cNvSpPr/>
          <p:nvPr/>
        </p:nvSpPr>
        <p:spPr>
          <a:xfrm>
            <a:off x="3764715" y="3822192"/>
            <a:ext cx="1443446" cy="1554480"/>
          </a:xfrm>
          <a:prstGeom prst="roundRect">
            <a:avLst>
              <a:gd name="adj" fmla="val 5068"/>
            </a:avLst>
          </a:prstGeom>
          <a:solidFill>
            <a:srgbClr val="FFFFFF"/>
          </a:solidFill>
          <a:ln w="12700">
            <a:solidFill>
              <a:srgbClr val="D9DEE2"/>
            </a:solidFill>
            <a:prstDash val="solid"/>
          </a:ln>
        </p:spPr>
      </p:sp>
      <p:sp>
        <p:nvSpPr>
          <p:cNvPr id="59" name="Text 49"/>
          <p:cNvSpPr txBox="1"/>
          <p:nvPr/>
        </p:nvSpPr>
        <p:spPr>
          <a:xfrm>
            <a:off x="3856155" y="3867912"/>
            <a:ext cx="1260566" cy="365760"/>
          </a:xfrm>
          <a:prstGeom prst="rect">
            <a:avLst/>
          </a:prstGeom>
          <a:noFill/>
          <a:ln/>
        </p:spPr>
        <p:txBody>
          <a:bodyPr wrap="square" lIns="0" tIns="0" rIns="0" bIns="0" rtlCol="0" anchor="t"/>
          <a:lstStyle/>
          <a:p>
            <a:pPr indent="0" marL="0">
              <a:buNone/>
            </a:pPr>
            <a:r>
              <a:rPr lang="en-US" sz="1200" i="1" dirty="0">
                <a:solidFill>
                  <a:srgbClr val="8A94A4"/>
                </a:solidFill>
                <a:latin typeface="Arial" pitchFamily="34" charset="0"/>
                <a:ea typeface="Arial" pitchFamily="34" charset="-122"/>
                <a:cs typeface="Arial" pitchFamily="34" charset="-120"/>
              </a:rPr>
              <a:t>Top pain</a:t>
            </a:r>
            <a:endParaRPr lang="en-US" sz="1200" dirty="0"/>
          </a:p>
        </p:txBody>
      </p:sp>
      <p:sp>
        <p:nvSpPr>
          <p:cNvPr id="60" name="Shape 50"/>
          <p:cNvSpPr/>
          <p:nvPr/>
        </p:nvSpPr>
        <p:spPr>
          <a:xfrm>
            <a:off x="5372753" y="3182112"/>
            <a:ext cx="1443446" cy="548640"/>
          </a:xfrm>
          <a:prstGeom prst="roundRect">
            <a:avLst>
              <a:gd name="adj" fmla="val 10000"/>
            </a:avLst>
          </a:prstGeom>
          <a:solidFill>
            <a:srgbClr val="FFF0EC"/>
          </a:solidFill>
          <a:ln/>
        </p:spPr>
      </p:sp>
      <p:sp>
        <p:nvSpPr>
          <p:cNvPr id="61" name="Text 51"/>
          <p:cNvSpPr txBox="1"/>
          <p:nvPr/>
        </p:nvSpPr>
        <p:spPr>
          <a:xfrm>
            <a:off x="5372753" y="3182112"/>
            <a:ext cx="1443446" cy="548640"/>
          </a:xfrm>
          <a:prstGeom prst="rect">
            <a:avLst/>
          </a:prstGeom>
          <a:noFill/>
          <a:ln/>
        </p:spPr>
        <p:txBody>
          <a:bodyPr wrap="square" lIns="0" tIns="0" rIns="0" bIns="0" rtlCol="0" anchor="ctr"/>
          <a:lstStyle/>
          <a:p>
            <a:pPr algn="ctr" indent="0" marL="0">
              <a:buNone/>
            </a:pPr>
            <a:r>
              <a:rPr lang="en-US" sz="1200" i="1" dirty="0">
                <a:solidFill>
                  <a:srgbClr val="8A94A4"/>
                </a:solidFill>
                <a:latin typeface="Arial" pitchFamily="34" charset="0"/>
                <a:ea typeface="Arial" pitchFamily="34" charset="-122"/>
                <a:cs typeface="Arial" pitchFamily="34" charset="-120"/>
              </a:rPr>
              <a:t>Dots</a:t>
            </a:r>
            <a:endParaRPr lang="en-US" sz="1200" dirty="0"/>
          </a:p>
        </p:txBody>
      </p:sp>
      <p:sp>
        <p:nvSpPr>
          <p:cNvPr id="62" name="Shape 52"/>
          <p:cNvSpPr/>
          <p:nvPr/>
        </p:nvSpPr>
        <p:spPr>
          <a:xfrm>
            <a:off x="5372753" y="3822192"/>
            <a:ext cx="1443446" cy="1554480"/>
          </a:xfrm>
          <a:prstGeom prst="roundRect">
            <a:avLst>
              <a:gd name="adj" fmla="val 5068"/>
            </a:avLst>
          </a:prstGeom>
          <a:solidFill>
            <a:srgbClr val="FFFFFF"/>
          </a:solidFill>
          <a:ln w="12700">
            <a:solidFill>
              <a:srgbClr val="D9DEE2"/>
            </a:solidFill>
            <a:prstDash val="solid"/>
          </a:ln>
        </p:spPr>
      </p:sp>
      <p:sp>
        <p:nvSpPr>
          <p:cNvPr id="63" name="Text 53"/>
          <p:cNvSpPr txBox="1"/>
          <p:nvPr/>
        </p:nvSpPr>
        <p:spPr>
          <a:xfrm>
            <a:off x="5464193" y="3867912"/>
            <a:ext cx="1260566" cy="365760"/>
          </a:xfrm>
          <a:prstGeom prst="rect">
            <a:avLst/>
          </a:prstGeom>
          <a:noFill/>
          <a:ln/>
        </p:spPr>
        <p:txBody>
          <a:bodyPr wrap="square" lIns="0" tIns="0" rIns="0" bIns="0" rtlCol="0" anchor="t"/>
          <a:lstStyle/>
          <a:p>
            <a:pPr indent="0" marL="0">
              <a:buNone/>
            </a:pPr>
            <a:r>
              <a:rPr lang="en-US" sz="1200" i="1" dirty="0">
                <a:solidFill>
                  <a:srgbClr val="8A94A4"/>
                </a:solidFill>
                <a:latin typeface="Arial" pitchFamily="34" charset="0"/>
                <a:ea typeface="Arial" pitchFamily="34" charset="-122"/>
                <a:cs typeface="Arial" pitchFamily="34" charset="-120"/>
              </a:rPr>
              <a:t>Top pain</a:t>
            </a:r>
            <a:endParaRPr lang="en-US" sz="1200" dirty="0"/>
          </a:p>
        </p:txBody>
      </p:sp>
      <p:sp>
        <p:nvSpPr>
          <p:cNvPr id="64" name="Shape 54"/>
          <p:cNvSpPr/>
          <p:nvPr/>
        </p:nvSpPr>
        <p:spPr>
          <a:xfrm>
            <a:off x="6980791" y="3182112"/>
            <a:ext cx="1443446" cy="548640"/>
          </a:xfrm>
          <a:prstGeom prst="roundRect">
            <a:avLst>
              <a:gd name="adj" fmla="val 10000"/>
            </a:avLst>
          </a:prstGeom>
          <a:solidFill>
            <a:srgbClr val="FFF0EC"/>
          </a:solidFill>
          <a:ln/>
        </p:spPr>
      </p:sp>
      <p:sp>
        <p:nvSpPr>
          <p:cNvPr id="65" name="Text 55"/>
          <p:cNvSpPr txBox="1"/>
          <p:nvPr/>
        </p:nvSpPr>
        <p:spPr>
          <a:xfrm>
            <a:off x="6980791" y="3182112"/>
            <a:ext cx="1443446" cy="548640"/>
          </a:xfrm>
          <a:prstGeom prst="rect">
            <a:avLst/>
          </a:prstGeom>
          <a:noFill/>
          <a:ln/>
        </p:spPr>
        <p:txBody>
          <a:bodyPr wrap="square" lIns="0" tIns="0" rIns="0" bIns="0" rtlCol="0" anchor="ctr"/>
          <a:lstStyle/>
          <a:p>
            <a:pPr algn="ctr" indent="0" marL="0">
              <a:buNone/>
            </a:pPr>
            <a:r>
              <a:rPr lang="en-US" sz="1200" i="1" dirty="0">
                <a:solidFill>
                  <a:srgbClr val="8A94A4"/>
                </a:solidFill>
                <a:latin typeface="Arial" pitchFamily="34" charset="0"/>
                <a:ea typeface="Arial" pitchFamily="34" charset="-122"/>
                <a:cs typeface="Arial" pitchFamily="34" charset="-120"/>
              </a:rPr>
              <a:t>Dots</a:t>
            </a:r>
            <a:endParaRPr lang="en-US" sz="1200" dirty="0"/>
          </a:p>
        </p:txBody>
      </p:sp>
      <p:sp>
        <p:nvSpPr>
          <p:cNvPr id="66" name="Shape 56"/>
          <p:cNvSpPr/>
          <p:nvPr/>
        </p:nvSpPr>
        <p:spPr>
          <a:xfrm>
            <a:off x="6980791" y="3822192"/>
            <a:ext cx="1443446" cy="1554480"/>
          </a:xfrm>
          <a:prstGeom prst="roundRect">
            <a:avLst>
              <a:gd name="adj" fmla="val 5068"/>
            </a:avLst>
          </a:prstGeom>
          <a:solidFill>
            <a:srgbClr val="FFFFFF"/>
          </a:solidFill>
          <a:ln w="12700">
            <a:solidFill>
              <a:srgbClr val="D9DEE2"/>
            </a:solidFill>
            <a:prstDash val="solid"/>
          </a:ln>
        </p:spPr>
      </p:sp>
      <p:sp>
        <p:nvSpPr>
          <p:cNvPr id="67" name="Text 57"/>
          <p:cNvSpPr txBox="1"/>
          <p:nvPr/>
        </p:nvSpPr>
        <p:spPr>
          <a:xfrm>
            <a:off x="7072231" y="3867912"/>
            <a:ext cx="1260566" cy="365760"/>
          </a:xfrm>
          <a:prstGeom prst="rect">
            <a:avLst/>
          </a:prstGeom>
          <a:noFill/>
          <a:ln/>
        </p:spPr>
        <p:txBody>
          <a:bodyPr wrap="square" lIns="0" tIns="0" rIns="0" bIns="0" rtlCol="0" anchor="t"/>
          <a:lstStyle/>
          <a:p>
            <a:pPr indent="0" marL="0">
              <a:buNone/>
            </a:pPr>
            <a:r>
              <a:rPr lang="en-US" sz="1200" i="1" dirty="0">
                <a:solidFill>
                  <a:srgbClr val="8A94A4"/>
                </a:solidFill>
                <a:latin typeface="Arial" pitchFamily="34" charset="0"/>
                <a:ea typeface="Arial" pitchFamily="34" charset="-122"/>
                <a:cs typeface="Arial" pitchFamily="34" charset="-120"/>
              </a:rPr>
              <a:t>Top pain</a:t>
            </a:r>
            <a:endParaRPr lang="en-US" sz="1200" dirty="0"/>
          </a:p>
        </p:txBody>
      </p:sp>
      <p:sp>
        <p:nvSpPr>
          <p:cNvPr id="68" name="Shape 58"/>
          <p:cNvSpPr/>
          <p:nvPr/>
        </p:nvSpPr>
        <p:spPr>
          <a:xfrm>
            <a:off x="8588829" y="3182112"/>
            <a:ext cx="1443446" cy="548640"/>
          </a:xfrm>
          <a:prstGeom prst="roundRect">
            <a:avLst>
              <a:gd name="adj" fmla="val 10000"/>
            </a:avLst>
          </a:prstGeom>
          <a:solidFill>
            <a:srgbClr val="FFF0EC"/>
          </a:solidFill>
          <a:ln/>
        </p:spPr>
      </p:sp>
      <p:sp>
        <p:nvSpPr>
          <p:cNvPr id="69" name="Text 59"/>
          <p:cNvSpPr txBox="1"/>
          <p:nvPr/>
        </p:nvSpPr>
        <p:spPr>
          <a:xfrm>
            <a:off x="8588829" y="3182112"/>
            <a:ext cx="1443446" cy="548640"/>
          </a:xfrm>
          <a:prstGeom prst="rect">
            <a:avLst/>
          </a:prstGeom>
          <a:noFill/>
          <a:ln/>
        </p:spPr>
        <p:txBody>
          <a:bodyPr wrap="square" lIns="0" tIns="0" rIns="0" bIns="0" rtlCol="0" anchor="ctr"/>
          <a:lstStyle/>
          <a:p>
            <a:pPr algn="ctr" indent="0" marL="0">
              <a:buNone/>
            </a:pPr>
            <a:r>
              <a:rPr lang="en-US" sz="1200" i="1" dirty="0">
                <a:solidFill>
                  <a:srgbClr val="8A94A4"/>
                </a:solidFill>
                <a:latin typeface="Arial" pitchFamily="34" charset="0"/>
                <a:ea typeface="Arial" pitchFamily="34" charset="-122"/>
                <a:cs typeface="Arial" pitchFamily="34" charset="-120"/>
              </a:rPr>
              <a:t>Dots</a:t>
            </a:r>
            <a:endParaRPr lang="en-US" sz="1200" dirty="0"/>
          </a:p>
        </p:txBody>
      </p:sp>
      <p:sp>
        <p:nvSpPr>
          <p:cNvPr id="70" name="Shape 60"/>
          <p:cNvSpPr/>
          <p:nvPr/>
        </p:nvSpPr>
        <p:spPr>
          <a:xfrm>
            <a:off x="8588829" y="3822192"/>
            <a:ext cx="1443446" cy="1554480"/>
          </a:xfrm>
          <a:prstGeom prst="roundRect">
            <a:avLst>
              <a:gd name="adj" fmla="val 5068"/>
            </a:avLst>
          </a:prstGeom>
          <a:solidFill>
            <a:srgbClr val="FFFFFF"/>
          </a:solidFill>
          <a:ln w="12700">
            <a:solidFill>
              <a:srgbClr val="D9DEE2"/>
            </a:solidFill>
            <a:prstDash val="solid"/>
          </a:ln>
        </p:spPr>
      </p:sp>
      <p:sp>
        <p:nvSpPr>
          <p:cNvPr id="71" name="Text 61"/>
          <p:cNvSpPr txBox="1"/>
          <p:nvPr/>
        </p:nvSpPr>
        <p:spPr>
          <a:xfrm>
            <a:off x="8680269" y="3867912"/>
            <a:ext cx="1260566" cy="365760"/>
          </a:xfrm>
          <a:prstGeom prst="rect">
            <a:avLst/>
          </a:prstGeom>
          <a:noFill/>
          <a:ln/>
        </p:spPr>
        <p:txBody>
          <a:bodyPr wrap="square" lIns="0" tIns="0" rIns="0" bIns="0" rtlCol="0" anchor="t"/>
          <a:lstStyle/>
          <a:p>
            <a:pPr indent="0" marL="0">
              <a:buNone/>
            </a:pPr>
            <a:r>
              <a:rPr lang="en-US" sz="1200" i="1" dirty="0">
                <a:solidFill>
                  <a:srgbClr val="8A94A4"/>
                </a:solidFill>
                <a:latin typeface="Arial" pitchFamily="34" charset="0"/>
                <a:ea typeface="Arial" pitchFamily="34" charset="-122"/>
                <a:cs typeface="Arial" pitchFamily="34" charset="-120"/>
              </a:rPr>
              <a:t>Top pain</a:t>
            </a:r>
            <a:endParaRPr lang="en-US" sz="1200" dirty="0"/>
          </a:p>
        </p:txBody>
      </p:sp>
      <p:sp>
        <p:nvSpPr>
          <p:cNvPr id="72" name="Shape 62"/>
          <p:cNvSpPr/>
          <p:nvPr/>
        </p:nvSpPr>
        <p:spPr>
          <a:xfrm>
            <a:off x="10196866" y="3182112"/>
            <a:ext cx="1443446" cy="548640"/>
          </a:xfrm>
          <a:prstGeom prst="roundRect">
            <a:avLst>
              <a:gd name="adj" fmla="val 10000"/>
            </a:avLst>
          </a:prstGeom>
          <a:solidFill>
            <a:srgbClr val="FFF0EC"/>
          </a:solidFill>
          <a:ln/>
        </p:spPr>
      </p:sp>
      <p:sp>
        <p:nvSpPr>
          <p:cNvPr id="73" name="Text 63"/>
          <p:cNvSpPr txBox="1"/>
          <p:nvPr/>
        </p:nvSpPr>
        <p:spPr>
          <a:xfrm>
            <a:off x="10196866" y="3182112"/>
            <a:ext cx="1443446" cy="548640"/>
          </a:xfrm>
          <a:prstGeom prst="rect">
            <a:avLst/>
          </a:prstGeom>
          <a:noFill/>
          <a:ln/>
        </p:spPr>
        <p:txBody>
          <a:bodyPr wrap="square" lIns="0" tIns="0" rIns="0" bIns="0" rtlCol="0" anchor="ctr"/>
          <a:lstStyle/>
          <a:p>
            <a:pPr algn="ctr" indent="0" marL="0">
              <a:buNone/>
            </a:pPr>
            <a:r>
              <a:rPr lang="en-US" sz="1200" i="1" dirty="0">
                <a:solidFill>
                  <a:srgbClr val="8A94A4"/>
                </a:solidFill>
                <a:latin typeface="Arial" pitchFamily="34" charset="0"/>
                <a:ea typeface="Arial" pitchFamily="34" charset="-122"/>
                <a:cs typeface="Arial" pitchFamily="34" charset="-120"/>
              </a:rPr>
              <a:t>Dots</a:t>
            </a:r>
            <a:endParaRPr lang="en-US" sz="1200" dirty="0"/>
          </a:p>
        </p:txBody>
      </p:sp>
      <p:sp>
        <p:nvSpPr>
          <p:cNvPr id="74" name="Shape 64"/>
          <p:cNvSpPr/>
          <p:nvPr/>
        </p:nvSpPr>
        <p:spPr>
          <a:xfrm>
            <a:off x="10196866" y="3822192"/>
            <a:ext cx="1443446" cy="1554480"/>
          </a:xfrm>
          <a:prstGeom prst="roundRect">
            <a:avLst>
              <a:gd name="adj" fmla="val 5068"/>
            </a:avLst>
          </a:prstGeom>
          <a:solidFill>
            <a:srgbClr val="FFFFFF"/>
          </a:solidFill>
          <a:ln w="12700">
            <a:solidFill>
              <a:srgbClr val="D9DEE2"/>
            </a:solidFill>
            <a:prstDash val="solid"/>
          </a:ln>
        </p:spPr>
      </p:sp>
      <p:sp>
        <p:nvSpPr>
          <p:cNvPr id="75" name="Text 65"/>
          <p:cNvSpPr txBox="1"/>
          <p:nvPr/>
        </p:nvSpPr>
        <p:spPr>
          <a:xfrm>
            <a:off x="10288306" y="3867912"/>
            <a:ext cx="1260566" cy="365760"/>
          </a:xfrm>
          <a:prstGeom prst="rect">
            <a:avLst/>
          </a:prstGeom>
          <a:noFill/>
          <a:ln/>
        </p:spPr>
        <p:txBody>
          <a:bodyPr wrap="square" lIns="0" tIns="0" rIns="0" bIns="0" rtlCol="0" anchor="t"/>
          <a:lstStyle/>
          <a:p>
            <a:pPr indent="0" marL="0">
              <a:buNone/>
            </a:pPr>
            <a:r>
              <a:rPr lang="en-US" sz="1200" i="1" dirty="0">
                <a:solidFill>
                  <a:srgbClr val="8A94A4"/>
                </a:solidFill>
                <a:latin typeface="Arial" pitchFamily="34" charset="0"/>
                <a:ea typeface="Arial" pitchFamily="34" charset="-122"/>
                <a:cs typeface="Arial" pitchFamily="34" charset="-120"/>
              </a:rPr>
              <a:t>Top pain</a:t>
            </a:r>
            <a:endParaRPr lang="en-US" sz="1200" dirty="0"/>
          </a:p>
        </p:txBody>
      </p:sp>
      <p:sp>
        <p:nvSpPr>
          <p:cNvPr id="76" name="Text 66"/>
          <p:cNvSpPr txBox="1"/>
          <p:nvPr/>
        </p:nvSpPr>
        <p:spPr>
          <a:xfrm>
            <a:off x="548640" y="5486400"/>
            <a:ext cx="3657600" cy="365760"/>
          </a:xfrm>
          <a:prstGeom prst="rect">
            <a:avLst/>
          </a:prstGeom>
          <a:noFill/>
          <a:ln/>
        </p:spPr>
        <p:txBody>
          <a:bodyPr wrap="square" lIns="0" tIns="0" rIns="0" bIns="0" rtlCol="0" anchor="t"/>
          <a:lstStyle/>
          <a:p>
            <a:pPr indent="0" marL="0">
              <a:buNone/>
            </a:pPr>
            <a:r>
              <a:rPr lang="en-US" sz="1400" b="1" dirty="0">
                <a:solidFill>
                  <a:srgbClr val="FF462D"/>
                </a:solidFill>
                <a:latin typeface="Arial" pitchFamily="34" charset="0"/>
                <a:ea typeface="Arial" pitchFamily="34" charset="-122"/>
                <a:cs typeface="Arial" pitchFamily="34" charset="-120"/>
              </a:rPr>
              <a:t>Our top three pains</a:t>
            </a:r>
            <a:endParaRPr lang="en-US" sz="1400" dirty="0"/>
          </a:p>
        </p:txBody>
      </p:sp>
      <p:sp>
        <p:nvSpPr>
          <p:cNvPr id="77" name="Text 67"/>
          <p:cNvSpPr txBox="1"/>
          <p:nvPr/>
        </p:nvSpPr>
        <p:spPr>
          <a:xfrm>
            <a:off x="3291840" y="5486400"/>
            <a:ext cx="8229600" cy="365760"/>
          </a:xfrm>
          <a:prstGeom prst="rect">
            <a:avLst/>
          </a:prstGeom>
          <a:noFill/>
          <a:ln/>
        </p:spPr>
        <p:txBody>
          <a:bodyPr wrap="square" lIns="0" tIns="0" rIns="0" bIns="0" rtlCol="0" anchor="t"/>
          <a:lstStyle/>
          <a:p>
            <a:pPr indent="0" marL="0">
              <a:buNone/>
            </a:pPr>
            <a:r>
              <a:rPr lang="en-US" sz="1400" dirty="0">
                <a:solidFill>
                  <a:srgbClr val="8A94A4"/>
                </a:solidFill>
                <a:latin typeface="Arial" pitchFamily="34" charset="0"/>
                <a:ea typeface="Arial" pitchFamily="34" charset="-122"/>
                <a:cs typeface="Arial" pitchFamily="34" charset="-120"/>
              </a:rPr>
              <a:t>1 ________   2 ________   3 ________</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QUICK CHECK · HANDS UP OR PHONES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The search finds nobody for a role. What is it?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48</a:t>
            </a:r>
            <a:endParaRPr lang="en-US" sz="1000" dirty="0"/>
          </a:p>
        </p:txBody>
      </p:sp>
      <p:sp>
        <p:nvSpPr>
          <p:cNvPr id="7" name="Shape 4"/>
          <p:cNvSpPr/>
          <p:nvPr/>
        </p:nvSpPr>
        <p:spPr>
          <a:xfrm>
            <a:off x="548640" y="1828800"/>
            <a:ext cx="11091672" cy="1005840"/>
          </a:xfrm>
          <a:prstGeom prst="roundRect">
            <a:avLst>
              <a:gd name="adj" fmla="val 7273"/>
            </a:avLst>
          </a:prstGeom>
          <a:solidFill>
            <a:srgbClr val="FFFFFF"/>
          </a:solidFill>
          <a:ln w="12700">
            <a:solidFill>
              <a:srgbClr val="D9DEE2"/>
            </a:solidFill>
            <a:prstDash val="solid"/>
          </a:ln>
        </p:spPr>
      </p:sp>
      <p:sp>
        <p:nvSpPr>
          <p:cNvPr id="8" name="Shape 5"/>
          <p:cNvSpPr/>
          <p:nvPr/>
        </p:nvSpPr>
        <p:spPr>
          <a:xfrm>
            <a:off x="777240" y="2057400"/>
            <a:ext cx="548640" cy="548640"/>
          </a:xfrm>
          <a:prstGeom prst="ellipse">
            <a:avLst/>
          </a:prstGeom>
          <a:solidFill>
            <a:srgbClr val="36454F"/>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A gap, so start hiring straight away</a:t>
            </a:r>
            <a:endParaRPr lang="en-US" sz="2000" dirty="0"/>
          </a:p>
        </p:txBody>
      </p:sp>
      <p:sp>
        <p:nvSpPr>
          <p:cNvPr id="11" name="Shape 8"/>
          <p:cNvSpPr/>
          <p:nvPr/>
        </p:nvSpPr>
        <p:spPr>
          <a:xfrm>
            <a:off x="548640" y="3017520"/>
            <a:ext cx="11091672" cy="1005840"/>
          </a:xfrm>
          <a:prstGeom prst="roundRect">
            <a:avLst>
              <a:gd name="adj" fmla="val 7273"/>
            </a:avLst>
          </a:prstGeom>
          <a:solidFill>
            <a:srgbClr val="FFFFFF"/>
          </a:solidFill>
          <a:ln w="12700">
            <a:solidFill>
              <a:srgbClr val="D9DEE2"/>
            </a:solidFill>
            <a:prstDash val="solid"/>
          </a:ln>
        </p:spPr>
      </p:sp>
      <p:sp>
        <p:nvSpPr>
          <p:cNvPr id="12" name="Shape 9"/>
          <p:cNvSpPr/>
          <p:nvPr/>
        </p:nvSpPr>
        <p:spPr>
          <a:xfrm>
            <a:off x="777240" y="3246120"/>
            <a:ext cx="548640" cy="548640"/>
          </a:xfrm>
          <a:prstGeom prst="ellipse">
            <a:avLst/>
          </a:prstGeom>
          <a:solidFill>
            <a:srgbClr val="36454F"/>
          </a:solidFill>
          <a:ln/>
        </p:spPr>
      </p:sp>
      <p:sp>
        <p:nvSpPr>
          <p:cNvPr id="13"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4"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A shortfall, until someone checks</a:t>
            </a:r>
            <a:endParaRPr lang="en-US" sz="2000" dirty="0"/>
          </a:p>
        </p:txBody>
      </p:sp>
      <p:sp>
        <p:nvSpPr>
          <p:cNvPr id="15" name="Shape 12"/>
          <p:cNvSpPr/>
          <p:nvPr/>
        </p:nvSpPr>
        <p:spPr>
          <a:xfrm>
            <a:off x="548640" y="4206240"/>
            <a:ext cx="11091672" cy="1005840"/>
          </a:xfrm>
          <a:prstGeom prst="roundRect">
            <a:avLst>
              <a:gd name="adj" fmla="val 7273"/>
            </a:avLst>
          </a:prstGeom>
          <a:solidFill>
            <a:srgbClr val="FFFFFF"/>
          </a:solidFill>
          <a:ln w="12700">
            <a:solidFill>
              <a:srgbClr val="D9DEE2"/>
            </a:solidFill>
            <a:prstDash val="solid"/>
          </a:ln>
        </p:spPr>
      </p:sp>
      <p:sp>
        <p:nvSpPr>
          <p:cNvPr id="16" name="Shape 13"/>
          <p:cNvSpPr/>
          <p:nvPr/>
        </p:nvSpPr>
        <p:spPr>
          <a:xfrm>
            <a:off x="777240" y="4434840"/>
            <a:ext cx="548640" cy="548640"/>
          </a:xfrm>
          <a:prstGeom prst="ellipse">
            <a:avLst/>
          </a:prstGeom>
          <a:solidFill>
            <a:srgbClr val="36454F"/>
          </a:solidFill>
          <a:ln/>
        </p:spPr>
      </p:sp>
      <p:sp>
        <p:nvSpPr>
          <p:cNvPr id="17"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8"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A search mistake, so run it again</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CHECK · THE ANSWER</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The search finds nobody for a role. What is it?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09:30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49</a:t>
            </a:r>
            <a:endParaRPr lang="en-US" sz="1000" dirty="0"/>
          </a:p>
        </p:txBody>
      </p:sp>
      <p:sp>
        <p:nvSpPr>
          <p:cNvPr id="7" name="Shape 4"/>
          <p:cNvSpPr/>
          <p:nvPr/>
        </p:nvSpPr>
        <p:spPr>
          <a:xfrm>
            <a:off x="548640" y="1828800"/>
            <a:ext cx="11091672" cy="1005840"/>
          </a:xfrm>
          <a:prstGeom prst="roundRect">
            <a:avLst>
              <a:gd name="adj" fmla="val 7273"/>
            </a:avLst>
          </a:prstGeom>
          <a:solidFill>
            <a:srgbClr val="FFFFFF"/>
          </a:solidFill>
          <a:ln w="12700">
            <a:solidFill>
              <a:srgbClr val="D9DEE2"/>
            </a:solidFill>
            <a:prstDash val="solid"/>
          </a:ln>
        </p:spPr>
      </p:sp>
      <p:sp>
        <p:nvSpPr>
          <p:cNvPr id="8" name="Shape 5"/>
          <p:cNvSpPr/>
          <p:nvPr/>
        </p:nvSpPr>
        <p:spPr>
          <a:xfrm>
            <a:off x="777240" y="2057400"/>
            <a:ext cx="548640" cy="548640"/>
          </a:xfrm>
          <a:prstGeom prst="ellipse">
            <a:avLst/>
          </a:prstGeom>
          <a:solidFill>
            <a:srgbClr val="8A94A4"/>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A gap, so start hiring straight away</a:t>
            </a:r>
            <a:endParaRPr lang="en-US" sz="2000" dirty="0"/>
          </a:p>
        </p:txBody>
      </p:sp>
      <p:sp>
        <p:nvSpPr>
          <p:cNvPr id="11" name="Shape 8"/>
          <p:cNvSpPr/>
          <p:nvPr/>
        </p:nvSpPr>
        <p:spPr>
          <a:xfrm>
            <a:off x="548640" y="3017520"/>
            <a:ext cx="11091672" cy="1005840"/>
          </a:xfrm>
          <a:prstGeom prst="roundRect">
            <a:avLst>
              <a:gd name="adj" fmla="val 7273"/>
            </a:avLst>
          </a:prstGeom>
          <a:solidFill>
            <a:srgbClr val="E3F1E9"/>
          </a:solidFill>
          <a:ln w="12700">
            <a:solidFill>
              <a:srgbClr val="2E8656"/>
            </a:solidFill>
            <a:prstDash val="solid"/>
          </a:ln>
        </p:spPr>
      </p:sp>
      <p:sp>
        <p:nvSpPr>
          <p:cNvPr id="12" name="Shape 9"/>
          <p:cNvSpPr/>
          <p:nvPr/>
        </p:nvSpPr>
        <p:spPr>
          <a:xfrm>
            <a:off x="777240" y="3246120"/>
            <a:ext cx="548640" cy="548640"/>
          </a:xfrm>
          <a:prstGeom prst="ellipse">
            <a:avLst/>
          </a:prstGeom>
          <a:solidFill>
            <a:srgbClr val="2E8656"/>
          </a:solidFill>
          <a:ln/>
        </p:spPr>
      </p:sp>
      <p:sp>
        <p:nvSpPr>
          <p:cNvPr id="13"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4"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A shortfall, until someone checks</a:t>
            </a:r>
            <a:endParaRPr lang="en-US" sz="2000" dirty="0"/>
          </a:p>
        </p:txBody>
      </p:sp>
      <p:pic>
        <p:nvPicPr>
          <p:cNvPr id="15" name="Image 1" descr="/private/tmp/claude-501/-Users-salehhamed-Outcome-Engine/91861432-41e2-4884-bc97-63c6dff2d021/scratchpad/wk/icons/TbCircleCheck-green.png">    </p:cNvPr>
          <p:cNvPicPr>
            <a:picLocks noChangeAspect="1"/>
          </p:cNvPicPr>
          <p:nvPr/>
        </p:nvPicPr>
        <p:blipFill>
          <a:blip r:embed="rId4"/>
          <a:stretch>
            <a:fillRect/>
          </a:stretch>
        </p:blipFill>
        <p:spPr>
          <a:xfrm>
            <a:off x="10927080" y="3246120"/>
            <a:ext cx="548640" cy="548640"/>
          </a:xfrm>
          <a:prstGeom prst="rect">
            <a:avLst/>
          </a:prstGeom>
        </p:spPr>
      </p:pic>
      <p:sp>
        <p:nvSpPr>
          <p:cNvPr id="16" name="Shape 12"/>
          <p:cNvSpPr/>
          <p:nvPr/>
        </p:nvSpPr>
        <p:spPr>
          <a:xfrm>
            <a:off x="548640" y="4206240"/>
            <a:ext cx="11091672" cy="1005840"/>
          </a:xfrm>
          <a:prstGeom prst="roundRect">
            <a:avLst>
              <a:gd name="adj" fmla="val 7273"/>
            </a:avLst>
          </a:prstGeom>
          <a:solidFill>
            <a:srgbClr val="FFFFFF"/>
          </a:solidFill>
          <a:ln w="12700">
            <a:solidFill>
              <a:srgbClr val="D9DEE2"/>
            </a:solidFill>
            <a:prstDash val="solid"/>
          </a:ln>
        </p:spPr>
      </p:sp>
      <p:sp>
        <p:nvSpPr>
          <p:cNvPr id="17" name="Shape 13"/>
          <p:cNvSpPr/>
          <p:nvPr/>
        </p:nvSpPr>
        <p:spPr>
          <a:xfrm>
            <a:off x="777240" y="4434840"/>
            <a:ext cx="548640" cy="548640"/>
          </a:xfrm>
          <a:prstGeom prst="ellipse">
            <a:avLst/>
          </a:prstGeom>
          <a:solidFill>
            <a:srgbClr val="8A94A4"/>
          </a:solidFill>
          <a:ln/>
        </p:spPr>
      </p:sp>
      <p:sp>
        <p:nvSpPr>
          <p:cNvPr id="18"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9"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A search mistake, so run it again</a:t>
            </a:r>
            <a:endParaRPr lang="en-US"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BREAK</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Break</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10:45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8A94A4"/>
                </a:solidFill>
                <a:latin typeface="Arial" pitchFamily="34" charset="0"/>
                <a:ea typeface="Arial" pitchFamily="34" charset="-122"/>
                <a:cs typeface="Arial" pitchFamily="34" charset="-120"/>
              </a:rPr>
              <a:t>   50</a:t>
            </a:r>
            <a:endParaRPr lang="en-US" sz="1000" dirty="0"/>
          </a:p>
        </p:txBody>
      </p:sp>
      <p:sp>
        <p:nvSpPr>
          <p:cNvPr id="7" name="Shape 4"/>
          <p:cNvSpPr/>
          <p:nvPr/>
        </p:nvSpPr>
        <p:spPr>
          <a:xfrm>
            <a:off x="548640" y="1737360"/>
            <a:ext cx="1280160" cy="1280160"/>
          </a:xfrm>
          <a:prstGeom prst="ellipse">
            <a:avLst/>
          </a:prstGeom>
          <a:solidFill>
            <a:srgbClr val="287079"/>
          </a:solidFill>
          <a:ln/>
        </p:spPr>
      </p:sp>
      <p:pic>
        <p:nvPicPr>
          <p:cNvPr id="8" name="Image 1" descr="/private/tmp/claude-501/-Users-salehhamed-Outcome-Engine/91861432-41e2-4884-bc97-63c6dff2d021/scratchpad/wk/icons/TbCoffee-white.png">    </p:cNvPr>
          <p:cNvPicPr>
            <a:picLocks noChangeAspect="1"/>
          </p:cNvPicPr>
          <p:nvPr/>
        </p:nvPicPr>
        <p:blipFill>
          <a:blip r:embed="rId3"/>
          <a:stretch>
            <a:fillRect/>
          </a:stretch>
        </p:blipFill>
        <p:spPr>
          <a:xfrm>
            <a:off x="804672" y="1993392"/>
            <a:ext cx="768096" cy="768096"/>
          </a:xfrm>
          <a:prstGeom prst="rect">
            <a:avLst/>
          </a:prstGeom>
        </p:spPr>
      </p:pic>
      <p:sp>
        <p:nvSpPr>
          <p:cNvPr id="9" name="Text 5"/>
          <p:cNvSpPr txBox="1"/>
          <p:nvPr/>
        </p:nvSpPr>
        <p:spPr>
          <a:xfrm>
            <a:off x="2194560" y="1737360"/>
            <a:ext cx="8229600" cy="1280160"/>
          </a:xfrm>
          <a:prstGeom prst="rect">
            <a:avLst/>
          </a:prstGeom>
          <a:noFill/>
          <a:ln/>
        </p:spPr>
        <p:txBody>
          <a:bodyPr wrap="square" lIns="0" tIns="0" rIns="0" bIns="0" rtlCol="0" anchor="ctr"/>
          <a:lstStyle/>
          <a:p>
            <a:pPr indent="0" marL="0">
              <a:buNone/>
            </a:pPr>
            <a:r>
              <a:rPr lang="en-US" sz="4000" b="1" dirty="0">
                <a:solidFill>
                  <a:srgbClr val="1F2A33"/>
                </a:solidFill>
                <a:latin typeface="TWK Everett" pitchFamily="34" charset="0"/>
                <a:ea typeface="TWK Everett" pitchFamily="34" charset="-122"/>
                <a:cs typeface="TWK Everett" pitchFamily="34" charset="-120"/>
              </a:rPr>
              <a:t>Back at 11:00</a:t>
            </a:r>
            <a:endParaRPr lang="en-US" sz="4000" dirty="0"/>
          </a:p>
        </p:txBody>
      </p:sp>
      <p:sp>
        <p:nvSpPr>
          <p:cNvPr id="10" name="Text 6"/>
          <p:cNvSpPr txBox="1"/>
          <p:nvPr/>
        </p:nvSpPr>
        <p:spPr>
          <a:xfrm>
            <a:off x="548640" y="5120640"/>
            <a:ext cx="10058400" cy="457200"/>
          </a:xfrm>
          <a:prstGeom prst="rect">
            <a:avLst/>
          </a:prstGeom>
          <a:noFill/>
          <a:ln/>
        </p:spPr>
        <p:txBody>
          <a:bodyPr wrap="square" lIns="0" tIns="0" rIns="0" bIns="0" rtlCol="0" anchor="t"/>
          <a:lstStyle/>
          <a:p>
            <a:pPr indent="0" marL="0">
              <a:buNone/>
            </a:pPr>
            <a:r>
              <a:rPr lang="en-US" sz="1500" dirty="0">
                <a:solidFill>
                  <a:srgbClr val="5A5A5A"/>
                </a:solidFill>
                <a:latin typeface="Arial" pitchFamily="34" charset="0"/>
                <a:ea typeface="Arial" pitchFamily="34" charset="-122"/>
                <a:cs typeface="Arial" pitchFamily="34" charset="-120"/>
              </a:rPr>
              <a:t>Questions? Put them on the parking wall or in the room tool.</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287079"/>
          </a:solidFill>
          <a:ln/>
        </p:spPr>
      </p:sp>
      <p:sp>
        <p:nvSpPr>
          <p:cNvPr id="3" name="Text 1"/>
          <p:cNvSpPr txBox="1"/>
          <p:nvPr/>
        </p:nvSpPr>
        <p:spPr>
          <a:xfrm>
            <a:off x="548640" y="548640"/>
            <a:ext cx="3474720" cy="274320"/>
          </a:xfrm>
          <a:prstGeom prst="rect">
            <a:avLst/>
          </a:prstGeom>
          <a:noFill/>
          <a:ln/>
        </p:spPr>
        <p:txBody>
          <a:bodyPr wrap="square" lIns="0" tIns="0" rIns="0" bIns="0" rtlCol="0" anchor="t"/>
          <a:lstStyle/>
          <a:p>
            <a:pPr indent="0" marL="0">
              <a:buNone/>
            </a:pPr>
            <a:r>
              <a:rPr lang="en-US" sz="1100" b="1" spc="150" kern="0" dirty="0">
                <a:solidFill>
                  <a:srgbClr val="D9DEE2"/>
                </a:solidFill>
                <a:latin typeface="Arial" pitchFamily="34" charset="0"/>
                <a:ea typeface="Arial" pitchFamily="34" charset="-122"/>
                <a:cs typeface="Arial" pitchFamily="34" charset="-120"/>
              </a:rPr>
              <a:t>DAY 1 · 11:00–12:30 · 90 MIN</a:t>
            </a:r>
            <a:endParaRPr lang="en-US" sz="1100" dirty="0"/>
          </a:p>
        </p:txBody>
      </p:sp>
      <p:sp>
        <p:nvSpPr>
          <p:cNvPr id="4" name="Text 2"/>
          <p:cNvSpPr txBox="1"/>
          <p:nvPr/>
        </p:nvSpPr>
        <p:spPr>
          <a:xfrm>
            <a:off x="548640" y="960120"/>
            <a:ext cx="3383280" cy="2377440"/>
          </a:xfrm>
          <a:prstGeom prst="rect">
            <a:avLst/>
          </a:prstGeom>
          <a:noFill/>
          <a:ln/>
        </p:spPr>
        <p:txBody>
          <a:bodyPr wrap="square" lIns="0" tIns="0" rIns="0" bIns="0" rtlCol="0" anchor="t"/>
          <a:lstStyle/>
          <a:p>
            <a:pPr indent="0" marL="0">
              <a:buNone/>
            </a:pPr>
            <a:r>
              <a:rPr lang="en-US" sz="3000" b="1" dirty="0">
                <a:solidFill>
                  <a:srgbClr val="FFFFFF"/>
                </a:solidFill>
                <a:latin typeface="TWK Everett" pitchFamily="34" charset="0"/>
                <a:ea typeface="TWK Everett" pitchFamily="34" charset="-122"/>
                <a:cs typeface="TWK Everett" pitchFamily="34" charset="-120"/>
              </a:rPr>
              <a:t>Agree the target outcome</a:t>
            </a:r>
            <a:endParaRPr lang="en-US" sz="3000" dirty="0"/>
          </a:p>
        </p:txBody>
      </p:sp>
      <p:pic>
        <p:nvPicPr>
          <p:cNvPr id="5" name="Image 0" descr="/private/tmp/claude-501/-Users-salehhamed-Outcome-Engine/91861432-41e2-4884-bc97-63c6dff2d021/scratchpad/wk/icons/TbTarget-white.png">    </p:cNvPr>
          <p:cNvPicPr>
            <a:picLocks noChangeAspect="1"/>
          </p:cNvPicPr>
          <p:nvPr/>
        </p:nvPicPr>
        <p:blipFill>
          <a:blip r:embed="rId1"/>
          <a:stretch>
            <a:fillRect/>
          </a:stretch>
        </p:blipFill>
        <p:spPr>
          <a:xfrm>
            <a:off x="548640" y="3200400"/>
            <a:ext cx="685800" cy="685800"/>
          </a:xfrm>
          <a:prstGeom prst="rect">
            <a:avLst/>
          </a:prstGeom>
        </p:spPr>
      </p:pic>
      <p:sp>
        <p:nvSpPr>
          <p:cNvPr id="6" name="Shape 3"/>
          <p:cNvSpPr/>
          <p:nvPr/>
        </p:nvSpPr>
        <p:spPr>
          <a:xfrm>
            <a:off x="548640" y="4169664"/>
            <a:ext cx="237744" cy="237744"/>
          </a:xfrm>
          <a:prstGeom prst="ellipse">
            <a:avLst/>
          </a:prstGeom>
          <a:solidFill>
            <a:srgbClr val="FFFFFF"/>
          </a:solidFill>
          <a:ln/>
        </p:spPr>
      </p:sp>
      <p:sp>
        <p:nvSpPr>
          <p:cNvPr id="7" name="Shape 4"/>
          <p:cNvSpPr/>
          <p:nvPr/>
        </p:nvSpPr>
        <p:spPr>
          <a:xfrm>
            <a:off x="932688" y="4169664"/>
            <a:ext cx="237744" cy="237744"/>
          </a:xfrm>
          <a:prstGeom prst="ellipse">
            <a:avLst/>
          </a:prstGeom>
          <a:solidFill>
            <a:srgbClr val="FFFFFF"/>
          </a:solidFill>
          <a:ln/>
        </p:spPr>
      </p:sp>
      <p:sp>
        <p:nvSpPr>
          <p:cNvPr id="8" name="Shape 5"/>
          <p:cNvSpPr/>
          <p:nvPr/>
        </p:nvSpPr>
        <p:spPr>
          <a:xfrm>
            <a:off x="1280160" y="4133088"/>
            <a:ext cx="310896" cy="310896"/>
          </a:xfrm>
          <a:prstGeom prst="ellipse">
            <a:avLst/>
          </a:prstGeom>
          <a:solidFill>
            <a:srgbClr val="FF462D"/>
          </a:solidFill>
          <a:ln w="19050">
            <a:solidFill>
              <a:srgbClr val="FFFFFF"/>
            </a:solidFill>
            <a:prstDash val="solid"/>
          </a:ln>
        </p:spPr>
      </p:sp>
      <p:sp>
        <p:nvSpPr>
          <p:cNvPr id="9" name="Shape 6"/>
          <p:cNvSpPr/>
          <p:nvPr/>
        </p:nvSpPr>
        <p:spPr>
          <a:xfrm>
            <a:off x="1700784" y="4169664"/>
            <a:ext cx="237744" cy="237744"/>
          </a:xfrm>
          <a:prstGeom prst="ellipse">
            <a:avLst/>
          </a:prstGeom>
          <a:ln w="15875">
            <a:solidFill>
              <a:srgbClr val="D9DEE2"/>
            </a:solidFill>
            <a:prstDash val="solid"/>
          </a:ln>
        </p:spPr>
      </p:sp>
      <p:sp>
        <p:nvSpPr>
          <p:cNvPr id="10" name="Shape 7"/>
          <p:cNvSpPr/>
          <p:nvPr/>
        </p:nvSpPr>
        <p:spPr>
          <a:xfrm>
            <a:off x="2084832" y="4169664"/>
            <a:ext cx="237744" cy="237744"/>
          </a:xfrm>
          <a:prstGeom prst="ellipse">
            <a:avLst/>
          </a:prstGeom>
          <a:ln w="15875">
            <a:solidFill>
              <a:srgbClr val="D9DEE2"/>
            </a:solidFill>
            <a:prstDash val="solid"/>
          </a:ln>
        </p:spPr>
      </p:sp>
      <p:sp>
        <p:nvSpPr>
          <p:cNvPr id="11" name="Shape 8"/>
          <p:cNvSpPr/>
          <p:nvPr/>
        </p:nvSpPr>
        <p:spPr>
          <a:xfrm>
            <a:off x="2468880" y="4169664"/>
            <a:ext cx="237744" cy="237744"/>
          </a:xfrm>
          <a:prstGeom prst="ellipse">
            <a:avLst/>
          </a:prstGeom>
          <a:ln w="15875">
            <a:solidFill>
              <a:srgbClr val="D9DEE2"/>
            </a:solidFill>
            <a:prstDash val="solid"/>
          </a:ln>
        </p:spPr>
      </p:sp>
      <p:sp>
        <p:nvSpPr>
          <p:cNvPr id="12" name="Shape 9"/>
          <p:cNvSpPr/>
          <p:nvPr/>
        </p:nvSpPr>
        <p:spPr>
          <a:xfrm>
            <a:off x="2852928" y="4169664"/>
            <a:ext cx="237744" cy="237744"/>
          </a:xfrm>
          <a:prstGeom prst="ellipse">
            <a:avLst/>
          </a:prstGeom>
          <a:ln w="15875">
            <a:solidFill>
              <a:srgbClr val="D9DEE2"/>
            </a:solidFill>
            <a:prstDash val="solid"/>
          </a:ln>
        </p:spPr>
      </p:sp>
      <p:sp>
        <p:nvSpPr>
          <p:cNvPr id="13" name="Shape 10"/>
          <p:cNvSpPr/>
          <p:nvPr/>
        </p:nvSpPr>
        <p:spPr>
          <a:xfrm>
            <a:off x="3236976" y="4169664"/>
            <a:ext cx="237744" cy="237744"/>
          </a:xfrm>
          <a:prstGeom prst="ellipse">
            <a:avLst/>
          </a:prstGeom>
          <a:ln w="15875">
            <a:solidFill>
              <a:srgbClr val="D9DEE2"/>
            </a:solidFill>
            <a:prstDash val="solid"/>
          </a:ln>
        </p:spPr>
      </p:sp>
      <p:sp>
        <p:nvSpPr>
          <p:cNvPr id="14" name="Text 11"/>
          <p:cNvSpPr txBox="1"/>
          <p:nvPr/>
        </p:nvSpPr>
        <p:spPr>
          <a:xfrm>
            <a:off x="548640" y="4553712"/>
            <a:ext cx="338328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Step 3 of 8: The result we want</a:t>
            </a:r>
            <a:endParaRPr lang="en-US" sz="1100" dirty="0"/>
          </a:p>
        </p:txBody>
      </p:sp>
      <p:sp>
        <p:nvSpPr>
          <p:cNvPr id="15" name="Text 12"/>
          <p:cNvSpPr txBox="1"/>
          <p:nvPr/>
        </p:nvSpPr>
        <p:spPr>
          <a:xfrm>
            <a:off x="4709160" y="685800"/>
            <a:ext cx="6400800" cy="320040"/>
          </a:xfrm>
          <a:prstGeom prst="rect">
            <a:avLst/>
          </a:prstGeom>
          <a:noFill/>
          <a:ln/>
        </p:spPr>
        <p:txBody>
          <a:bodyPr wrap="square" lIns="0" tIns="0" rIns="0" bIns="0" rtlCol="0" anchor="t"/>
          <a:lstStyle/>
          <a:p>
            <a:pPr indent="0" marL="0">
              <a:buNone/>
            </a:pPr>
            <a:r>
              <a:rPr lang="en-US" sz="1400" b="1" dirty="0">
                <a:solidFill>
                  <a:srgbClr val="287079"/>
                </a:solidFill>
                <a:latin typeface="Arial" pitchFamily="34" charset="0"/>
                <a:ea typeface="Arial" pitchFamily="34" charset="-122"/>
                <a:cs typeface="Arial" pitchFamily="34" charset="-120"/>
              </a:rPr>
              <a:t>By the end of this session, you can</a:t>
            </a:r>
            <a:endParaRPr lang="en-US" sz="1400" dirty="0"/>
          </a:p>
        </p:txBody>
      </p:sp>
      <p:pic>
        <p:nvPicPr>
          <p:cNvPr id="16" name="Image 1" descr="/private/tmp/claude-501/-Users-salehhamed-Outcome-Engine/91861432-41e2-4884-bc97-63c6dff2d021/scratchpad/wk/icons/TbCircleCheck-teal.png">    </p:cNvPr>
          <p:cNvPicPr>
            <a:picLocks noChangeAspect="1"/>
          </p:cNvPicPr>
          <p:nvPr/>
        </p:nvPicPr>
        <p:blipFill>
          <a:blip r:embed="rId2"/>
          <a:stretch>
            <a:fillRect/>
          </a:stretch>
        </p:blipFill>
        <p:spPr>
          <a:xfrm>
            <a:off x="4709160" y="1225296"/>
            <a:ext cx="411480" cy="411480"/>
          </a:xfrm>
          <a:prstGeom prst="rect">
            <a:avLst/>
          </a:prstGeom>
        </p:spPr>
      </p:pic>
      <p:sp>
        <p:nvSpPr>
          <p:cNvPr id="17" name="Text 13"/>
          <p:cNvSpPr txBox="1"/>
          <p:nvPr/>
        </p:nvSpPr>
        <p:spPr>
          <a:xfrm>
            <a:off x="5303520" y="118872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Tell an outcome from an activity.</a:t>
            </a:r>
            <a:endParaRPr lang="en-US" sz="1700" dirty="0"/>
          </a:p>
        </p:txBody>
      </p:sp>
      <p:pic>
        <p:nvPicPr>
          <p:cNvPr id="18" name="Image 2" descr="/private/tmp/claude-501/-Users-salehhamed-Outcome-Engine/91861432-41e2-4884-bc97-63c6dff2d021/scratchpad/wk/icons/TbCircleCheck-teal.png">    </p:cNvPr>
          <p:cNvPicPr>
            <a:picLocks noChangeAspect="1"/>
          </p:cNvPicPr>
          <p:nvPr/>
        </p:nvPicPr>
        <p:blipFill>
          <a:blip r:embed="rId3"/>
          <a:stretch>
            <a:fillRect/>
          </a:stretch>
        </p:blipFill>
        <p:spPr>
          <a:xfrm>
            <a:off x="4709160" y="2093976"/>
            <a:ext cx="411480" cy="411480"/>
          </a:xfrm>
          <a:prstGeom prst="rect">
            <a:avLst/>
          </a:prstGeom>
        </p:spPr>
      </p:pic>
      <p:sp>
        <p:nvSpPr>
          <p:cNvPr id="19" name="Text 14"/>
          <p:cNvSpPr txBox="1"/>
          <p:nvPr/>
        </p:nvSpPr>
        <p:spPr>
          <a:xfrm>
            <a:off x="5303520" y="205740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Test a draft outcome sentence against four checks, and fix it.</a:t>
            </a:r>
            <a:endParaRPr lang="en-US" sz="1700" dirty="0"/>
          </a:p>
        </p:txBody>
      </p:sp>
      <p:pic>
        <p:nvPicPr>
          <p:cNvPr id="20" name="Image 3" descr="/private/tmp/claude-501/-Users-salehhamed-Outcome-Engine/91861432-41e2-4884-bc97-63c6dff2d021/scratchpad/wk/icons/TbCircleCheck-teal.png">    </p:cNvPr>
          <p:cNvPicPr>
            <a:picLocks noChangeAspect="1"/>
          </p:cNvPicPr>
          <p:nvPr/>
        </p:nvPicPr>
        <p:blipFill>
          <a:blip r:embed="rId4"/>
          <a:stretch>
            <a:fillRect/>
          </a:stretch>
        </p:blipFill>
        <p:spPr>
          <a:xfrm>
            <a:off x="4709160" y="2962656"/>
            <a:ext cx="411480" cy="411480"/>
          </a:xfrm>
          <a:prstGeom prst="rect">
            <a:avLst/>
          </a:prstGeom>
        </p:spPr>
      </p:pic>
      <p:sp>
        <p:nvSpPr>
          <p:cNvPr id="21" name="Text 15"/>
          <p:cNvSpPr txBox="1"/>
          <p:nvPr/>
        </p:nvSpPr>
        <p:spPr>
          <a:xfrm>
            <a:off x="5303520" y="292608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Choose where Contract-to-Capacity ends.</a:t>
            </a:r>
            <a:endParaRPr lang="en-US" sz="1700" dirty="0"/>
          </a:p>
        </p:txBody>
      </p:sp>
      <p:pic>
        <p:nvPicPr>
          <p:cNvPr id="22" name="Image 4" descr="/private/tmp/claude-501/-Users-salehhamed-Outcome-Engine/91861432-41e2-4884-bc97-63c6dff2d021/scratchpad/wk/icons/TbCircleCheck-teal.png">    </p:cNvPr>
          <p:cNvPicPr>
            <a:picLocks noChangeAspect="1"/>
          </p:cNvPicPr>
          <p:nvPr/>
        </p:nvPicPr>
        <p:blipFill>
          <a:blip r:embed="rId5"/>
          <a:stretch>
            <a:fillRect/>
          </a:stretch>
        </p:blipFill>
        <p:spPr>
          <a:xfrm>
            <a:off x="4709160" y="3831336"/>
            <a:ext cx="411480" cy="411480"/>
          </a:xfrm>
          <a:prstGeom prst="rect">
            <a:avLst/>
          </a:prstGeom>
        </p:spPr>
      </p:pic>
      <p:sp>
        <p:nvSpPr>
          <p:cNvPr id="23" name="Text 16"/>
          <p:cNvSpPr txBox="1"/>
          <p:nvPr/>
        </p:nvSpPr>
        <p:spPr>
          <a:xfrm>
            <a:off x="5303520" y="379476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Agree the done checks, including the evidence a gap must carry.</a:t>
            </a:r>
            <a:endParaRPr lang="en-US" sz="1700" dirty="0"/>
          </a:p>
        </p:txBody>
      </p:sp>
      <p:sp>
        <p:nvSpPr>
          <p:cNvPr id="24" name="Shape 17"/>
          <p:cNvSpPr/>
          <p:nvPr/>
        </p:nvSpPr>
        <p:spPr>
          <a:xfrm>
            <a:off x="4709160" y="4800600"/>
            <a:ext cx="6931152" cy="1234440"/>
          </a:xfrm>
          <a:prstGeom prst="roundRect">
            <a:avLst>
              <a:gd name="adj" fmla="val 5926"/>
            </a:avLst>
          </a:prstGeom>
          <a:solidFill>
            <a:srgbClr val="FFF0EC"/>
          </a:solidFill>
          <a:ln/>
        </p:spPr>
      </p:sp>
      <p:sp>
        <p:nvSpPr>
          <p:cNvPr id="25" name="Text 18"/>
          <p:cNvSpPr txBox="1"/>
          <p:nvPr/>
        </p:nvSpPr>
        <p:spPr>
          <a:xfrm>
            <a:off x="4937760" y="4800600"/>
            <a:ext cx="6492240" cy="1234440"/>
          </a:xfrm>
          <a:prstGeom prst="rect">
            <a:avLst/>
          </a:prstGeom>
          <a:noFill/>
          <a:ln/>
        </p:spPr>
        <p:txBody>
          <a:bodyPr wrap="square" lIns="0" tIns="0" rIns="0" bIns="0" rtlCol="0" anchor="ctr"/>
          <a:lstStyle/>
          <a:p>
            <a:pPr indent="0" marL="0">
              <a:buNone/>
            </a:pPr>
            <a:r>
              <a:rPr lang="en-US" sz="1800" b="1" dirty="0">
                <a:solidFill>
                  <a:srgbClr val="FF462D"/>
                </a:solidFill>
                <a:latin typeface="Arial" pitchFamily="34" charset="0"/>
                <a:ea typeface="Arial" pitchFamily="34" charset="-122"/>
                <a:cs typeface="Arial" pitchFamily="34" charset="-120"/>
              </a:rPr>
              <a:t>If a record cannot prove it, it is not an outcome yet.</a:t>
            </a:r>
            <a:endParaRPr lang="en-US" sz="1800" dirty="0"/>
          </a:p>
        </p:txBody>
      </p:sp>
      <p:sp>
        <p:nvSpPr>
          <p:cNvPr id="26" name="Text 19"/>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6"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7" action="ppaction://hlinksldjump" tooltip="The thre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51</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AGREE THE TARGET OUTCOME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An activity, or an outcome?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11:00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52</a:t>
            </a:r>
            <a:endParaRPr lang="en-US" sz="1000" dirty="0"/>
          </a:p>
        </p:txBody>
      </p:sp>
      <p:sp>
        <p:nvSpPr>
          <p:cNvPr id="7" name="Shape 4"/>
          <p:cNvSpPr/>
          <p:nvPr/>
        </p:nvSpPr>
        <p:spPr>
          <a:xfrm>
            <a:off x="548640" y="1554480"/>
            <a:ext cx="5029200" cy="3931920"/>
          </a:xfrm>
          <a:prstGeom prst="roundRect">
            <a:avLst>
              <a:gd name="adj" fmla="val 2326"/>
            </a:avLst>
          </a:prstGeom>
          <a:solidFill>
            <a:srgbClr val="F2F4F5"/>
          </a:solidFill>
          <a:ln/>
        </p:spPr>
      </p:sp>
      <p:pic>
        <p:nvPicPr>
          <p:cNvPr id="8" name="Image 1" descr="/private/tmp/claude-501/-Users-salehhamed-Outcome-Engine/91861432-41e2-4884-bc97-63c6dff2d021/scratchpad/wk/icons/TbChecklist-grey.png">    </p:cNvPr>
          <p:cNvPicPr>
            <a:picLocks noChangeAspect="1"/>
          </p:cNvPicPr>
          <p:nvPr/>
        </p:nvPicPr>
        <p:blipFill>
          <a:blip r:embed="rId4"/>
          <a:stretch>
            <a:fillRect/>
          </a:stretch>
        </p:blipFill>
        <p:spPr>
          <a:xfrm>
            <a:off x="822960" y="1783080"/>
            <a:ext cx="685800" cy="685800"/>
          </a:xfrm>
          <a:prstGeom prst="rect">
            <a:avLst/>
          </a:prstGeom>
        </p:spPr>
      </p:pic>
      <p:sp>
        <p:nvSpPr>
          <p:cNvPr id="9" name="Text 5"/>
          <p:cNvSpPr txBox="1"/>
          <p:nvPr/>
        </p:nvSpPr>
        <p:spPr>
          <a:xfrm>
            <a:off x="1645920" y="1783080"/>
            <a:ext cx="3657600" cy="685800"/>
          </a:xfrm>
          <a:prstGeom prst="rect">
            <a:avLst/>
          </a:prstGeom>
          <a:noFill/>
          <a:ln/>
        </p:spPr>
        <p:txBody>
          <a:bodyPr wrap="square" lIns="0" tIns="0" rIns="0" bIns="0" rtlCol="0" anchor="ctr"/>
          <a:lstStyle/>
          <a:p>
            <a:pPr indent="0" marL="0">
              <a:buNone/>
            </a:pPr>
            <a:r>
              <a:rPr lang="en-US" sz="2200" b="1" dirty="0">
                <a:solidFill>
                  <a:srgbClr val="1F2A33"/>
                </a:solidFill>
                <a:latin typeface="Arial" pitchFamily="34" charset="0"/>
                <a:ea typeface="Arial" pitchFamily="34" charset="-122"/>
                <a:cs typeface="Arial" pitchFamily="34" charset="-120"/>
              </a:rPr>
              <a:t>An activity</a:t>
            </a:r>
            <a:endParaRPr lang="en-US" sz="2200" dirty="0"/>
          </a:p>
        </p:txBody>
      </p:sp>
      <p:pic>
        <p:nvPicPr>
          <p:cNvPr id="10" name="Image 2" descr="/private/tmp/claude-501/-Users-salehhamed-Outcome-Engine/91861432-41e2-4884-bc97-63c6dff2d021/scratchpad/wk/icons/TbPointFilled-grey.png">    </p:cNvPr>
          <p:cNvPicPr>
            <a:picLocks noChangeAspect="1"/>
          </p:cNvPicPr>
          <p:nvPr/>
        </p:nvPicPr>
        <p:blipFill>
          <a:blip r:embed="rId5"/>
          <a:stretch>
            <a:fillRect/>
          </a:stretch>
        </p:blipFill>
        <p:spPr>
          <a:xfrm>
            <a:off x="914400" y="2788920"/>
            <a:ext cx="292608" cy="292608"/>
          </a:xfrm>
          <a:prstGeom prst="rect">
            <a:avLst/>
          </a:prstGeom>
        </p:spPr>
      </p:pic>
      <p:sp>
        <p:nvSpPr>
          <p:cNvPr id="11" name="Text 6"/>
          <p:cNvSpPr txBox="1"/>
          <p:nvPr/>
        </p:nvSpPr>
        <p:spPr>
          <a:xfrm>
            <a:off x="1325880" y="2697480"/>
            <a:ext cx="4023360" cy="502920"/>
          </a:xfrm>
          <a:prstGeom prst="rect">
            <a:avLst/>
          </a:prstGeom>
          <a:noFill/>
          <a:ln/>
        </p:spPr>
        <p:txBody>
          <a:bodyPr wrap="square" lIns="0" tIns="0" rIns="0" bIns="0" rtlCol="0" anchor="ctr"/>
          <a:lstStyle/>
          <a:p>
            <a:pPr indent="0" marL="0">
              <a:buNone/>
            </a:pPr>
            <a:r>
              <a:rPr lang="en-US" sz="1800" dirty="0">
                <a:solidFill>
                  <a:srgbClr val="5A5A5A"/>
                </a:solidFill>
                <a:latin typeface="Arial" pitchFamily="34" charset="0"/>
                <a:ea typeface="Arial" pitchFamily="34" charset="-122"/>
                <a:cs typeface="Arial" pitchFamily="34" charset="-120"/>
              </a:rPr>
              <a:t>Run a skills search</a:t>
            </a:r>
            <a:endParaRPr lang="en-US" sz="1800" dirty="0"/>
          </a:p>
        </p:txBody>
      </p:sp>
      <p:pic>
        <p:nvPicPr>
          <p:cNvPr id="12" name="Image 3" descr="/private/tmp/claude-501/-Users-salehhamed-Outcome-Engine/91861432-41e2-4884-bc97-63c6dff2d021/scratchpad/wk/icons/TbPointFilled-grey.png">    </p:cNvPr>
          <p:cNvPicPr>
            <a:picLocks noChangeAspect="1"/>
          </p:cNvPicPr>
          <p:nvPr/>
        </p:nvPicPr>
        <p:blipFill>
          <a:blip r:embed="rId6"/>
          <a:stretch>
            <a:fillRect/>
          </a:stretch>
        </p:blipFill>
        <p:spPr>
          <a:xfrm>
            <a:off x="914400" y="3474720"/>
            <a:ext cx="292608" cy="292608"/>
          </a:xfrm>
          <a:prstGeom prst="rect">
            <a:avLst/>
          </a:prstGeom>
        </p:spPr>
      </p:pic>
      <p:sp>
        <p:nvSpPr>
          <p:cNvPr id="13" name="Text 7"/>
          <p:cNvSpPr txBox="1"/>
          <p:nvPr/>
        </p:nvSpPr>
        <p:spPr>
          <a:xfrm>
            <a:off x="1325880" y="3383280"/>
            <a:ext cx="4023360" cy="502920"/>
          </a:xfrm>
          <a:prstGeom prst="rect">
            <a:avLst/>
          </a:prstGeom>
          <a:noFill/>
          <a:ln/>
        </p:spPr>
        <p:txBody>
          <a:bodyPr wrap="square" lIns="0" tIns="0" rIns="0" bIns="0" rtlCol="0" anchor="ctr"/>
          <a:lstStyle/>
          <a:p>
            <a:pPr indent="0" marL="0">
              <a:buNone/>
            </a:pPr>
            <a:r>
              <a:rPr lang="en-US" sz="1800" dirty="0">
                <a:solidFill>
                  <a:srgbClr val="5A5A5A"/>
                </a:solidFill>
                <a:latin typeface="Arial" pitchFamily="34" charset="0"/>
                <a:ea typeface="Arial" pitchFamily="34" charset="-122"/>
                <a:cs typeface="Arial" pitchFamily="34" charset="-120"/>
              </a:rPr>
              <a:t>Raise a staffing request</a:t>
            </a:r>
            <a:endParaRPr lang="en-US" sz="1800" dirty="0"/>
          </a:p>
        </p:txBody>
      </p:sp>
      <p:pic>
        <p:nvPicPr>
          <p:cNvPr id="14" name="Image 4" descr="/private/tmp/claude-501/-Users-salehhamed-Outcome-Engine/91861432-41e2-4884-bc97-63c6dff2d021/scratchpad/wk/icons/TbPointFilled-grey.png">    </p:cNvPr>
          <p:cNvPicPr>
            <a:picLocks noChangeAspect="1"/>
          </p:cNvPicPr>
          <p:nvPr/>
        </p:nvPicPr>
        <p:blipFill>
          <a:blip r:embed="rId7"/>
          <a:stretch>
            <a:fillRect/>
          </a:stretch>
        </p:blipFill>
        <p:spPr>
          <a:xfrm>
            <a:off x="914400" y="4160520"/>
            <a:ext cx="292608" cy="292608"/>
          </a:xfrm>
          <a:prstGeom prst="rect">
            <a:avLst/>
          </a:prstGeom>
        </p:spPr>
      </p:pic>
      <p:sp>
        <p:nvSpPr>
          <p:cNvPr id="15" name="Text 8"/>
          <p:cNvSpPr txBox="1"/>
          <p:nvPr/>
        </p:nvSpPr>
        <p:spPr>
          <a:xfrm>
            <a:off x="1325880" y="4069080"/>
            <a:ext cx="4023360" cy="502920"/>
          </a:xfrm>
          <a:prstGeom prst="rect">
            <a:avLst/>
          </a:prstGeom>
          <a:noFill/>
          <a:ln/>
        </p:spPr>
        <p:txBody>
          <a:bodyPr wrap="square" lIns="0" tIns="0" rIns="0" bIns="0" rtlCol="0" anchor="ctr"/>
          <a:lstStyle/>
          <a:p>
            <a:pPr indent="0" marL="0">
              <a:buNone/>
            </a:pPr>
            <a:r>
              <a:rPr lang="en-US" sz="1800" dirty="0">
                <a:solidFill>
                  <a:srgbClr val="5A5A5A"/>
                </a:solidFill>
                <a:latin typeface="Arial" pitchFamily="34" charset="0"/>
                <a:ea typeface="Arial" pitchFamily="34" charset="-122"/>
                <a:cs typeface="Arial" pitchFamily="34" charset="-120"/>
              </a:rPr>
              <a:t>Run a weekly call</a:t>
            </a:r>
            <a:endParaRPr lang="en-US" sz="1800" dirty="0"/>
          </a:p>
        </p:txBody>
      </p:sp>
      <p:sp>
        <p:nvSpPr>
          <p:cNvPr id="16" name="Text 9"/>
          <p:cNvSpPr txBox="1"/>
          <p:nvPr/>
        </p:nvSpPr>
        <p:spPr>
          <a:xfrm>
            <a:off x="822960" y="4892040"/>
            <a:ext cx="4572000" cy="411480"/>
          </a:xfrm>
          <a:prstGeom prst="rect">
            <a:avLst/>
          </a:prstGeom>
          <a:noFill/>
          <a:ln/>
        </p:spPr>
        <p:txBody>
          <a:bodyPr wrap="square" lIns="0" tIns="0" rIns="0" bIns="0" rtlCol="0" anchor="t"/>
          <a:lstStyle/>
          <a:p>
            <a:pPr indent="0" marL="0">
              <a:buNone/>
            </a:pPr>
            <a:r>
              <a:rPr lang="en-US" sz="1400" i="1" dirty="0">
                <a:solidFill>
                  <a:srgbClr val="5A5A5A"/>
                </a:solidFill>
                <a:latin typeface="Arial" pitchFamily="34" charset="0"/>
                <a:ea typeface="Arial" pitchFamily="34" charset="-122"/>
                <a:cs typeface="Arial" pitchFamily="34" charset="-120"/>
              </a:rPr>
              <a:t>Something we do</a:t>
            </a:r>
            <a:endParaRPr lang="en-US" sz="1400" dirty="0"/>
          </a:p>
        </p:txBody>
      </p:sp>
      <p:sp>
        <p:nvSpPr>
          <p:cNvPr id="17" name="Shape 10"/>
          <p:cNvSpPr/>
          <p:nvPr/>
        </p:nvSpPr>
        <p:spPr>
          <a:xfrm>
            <a:off x="5760720" y="3520440"/>
            <a:ext cx="685800" cy="914"/>
          </a:xfrm>
          <a:prstGeom prst="line">
            <a:avLst/>
          </a:prstGeom>
          <a:noFill/>
          <a:ln w="50800">
            <a:solidFill>
              <a:srgbClr val="FF462D"/>
            </a:solidFill>
            <a:prstDash val="solid"/>
            <a:tailEnd type="arrow"/>
          </a:ln>
        </p:spPr>
      </p:sp>
      <p:sp>
        <p:nvSpPr>
          <p:cNvPr id="18" name="Shape 11"/>
          <p:cNvSpPr/>
          <p:nvPr/>
        </p:nvSpPr>
        <p:spPr>
          <a:xfrm>
            <a:off x="6611112" y="1554480"/>
            <a:ext cx="5029200" cy="3931920"/>
          </a:xfrm>
          <a:prstGeom prst="roundRect">
            <a:avLst>
              <a:gd name="adj" fmla="val 2326"/>
            </a:avLst>
          </a:prstGeom>
          <a:solidFill>
            <a:srgbClr val="FFFFFF"/>
          </a:solidFill>
          <a:ln w="31750">
            <a:solidFill>
              <a:srgbClr val="287079"/>
            </a:solidFill>
            <a:prstDash val="solid"/>
          </a:ln>
        </p:spPr>
      </p:sp>
      <p:pic>
        <p:nvPicPr>
          <p:cNvPr id="19" name="Image 5" descr="/private/tmp/claude-501/-Users-salehhamed-Outcome-Engine/91861432-41e2-4884-bc97-63c6dff2d021/scratchpad/wk/icons/TbFlag3-teal.png">    </p:cNvPr>
          <p:cNvPicPr>
            <a:picLocks noChangeAspect="1"/>
          </p:cNvPicPr>
          <p:nvPr/>
        </p:nvPicPr>
        <p:blipFill>
          <a:blip r:embed="rId8"/>
          <a:stretch>
            <a:fillRect/>
          </a:stretch>
        </p:blipFill>
        <p:spPr>
          <a:xfrm>
            <a:off x="6885432" y="1783080"/>
            <a:ext cx="685800" cy="685800"/>
          </a:xfrm>
          <a:prstGeom prst="rect">
            <a:avLst/>
          </a:prstGeom>
        </p:spPr>
      </p:pic>
      <p:sp>
        <p:nvSpPr>
          <p:cNvPr id="20" name="Text 12"/>
          <p:cNvSpPr txBox="1"/>
          <p:nvPr/>
        </p:nvSpPr>
        <p:spPr>
          <a:xfrm>
            <a:off x="7708392" y="1783080"/>
            <a:ext cx="3657600" cy="685800"/>
          </a:xfrm>
          <a:prstGeom prst="rect">
            <a:avLst/>
          </a:prstGeom>
          <a:noFill/>
          <a:ln/>
        </p:spPr>
        <p:txBody>
          <a:bodyPr wrap="square" lIns="0" tIns="0" rIns="0" bIns="0" rtlCol="0" anchor="ctr"/>
          <a:lstStyle/>
          <a:p>
            <a:pPr indent="0" marL="0">
              <a:buNone/>
            </a:pPr>
            <a:r>
              <a:rPr lang="en-US" sz="2200" b="1" dirty="0">
                <a:solidFill>
                  <a:srgbClr val="287079"/>
                </a:solidFill>
                <a:latin typeface="Arial" pitchFamily="34" charset="0"/>
                <a:ea typeface="Arial" pitchFamily="34" charset="-122"/>
                <a:cs typeface="Arial" pitchFamily="34" charset="-120"/>
              </a:rPr>
              <a:t>An outcome</a:t>
            </a:r>
            <a:endParaRPr lang="en-US" sz="2200" dirty="0"/>
          </a:p>
        </p:txBody>
      </p:sp>
      <p:sp>
        <p:nvSpPr>
          <p:cNvPr id="21" name="Text 13"/>
          <p:cNvSpPr txBox="1"/>
          <p:nvPr/>
        </p:nvSpPr>
        <p:spPr>
          <a:xfrm>
            <a:off x="6885432" y="2606040"/>
            <a:ext cx="4526280" cy="2194560"/>
          </a:xfrm>
          <a:prstGeom prst="rect">
            <a:avLst/>
          </a:prstGeom>
          <a:noFill/>
          <a:ln/>
        </p:spPr>
        <p:txBody>
          <a:bodyPr wrap="square" lIns="0" tIns="0" rIns="0" bIns="0" rtlCol="0" anchor="t"/>
          <a:lstStyle/>
          <a:p>
            <a:pPr indent="0" marL="0">
              <a:buNone/>
            </a:pPr>
            <a:r>
              <a:rPr lang="en-US" sz="1750" b="1" dirty="0">
                <a:solidFill>
                  <a:srgbClr val="1F2A33"/>
                </a:solidFill>
                <a:latin typeface="Arial" pitchFamily="34" charset="0"/>
                <a:ea typeface="Arial" pitchFamily="34" charset="-122"/>
                <a:cs typeface="Arial" pitchFamily="34" charset="-120"/>
              </a:rPr>
              <a:t>From the day a deal is real, every role is held for a person who is really free, or is a declared gap, before the deal is signed, as the plan shows.</a:t>
            </a:r>
            <a:endParaRPr lang="en-US" sz="1750" dirty="0"/>
          </a:p>
        </p:txBody>
      </p:sp>
      <p:sp>
        <p:nvSpPr>
          <p:cNvPr id="22" name="Text 14"/>
          <p:cNvSpPr txBox="1"/>
          <p:nvPr/>
        </p:nvSpPr>
        <p:spPr>
          <a:xfrm>
            <a:off x="6885432" y="4892040"/>
            <a:ext cx="4572000" cy="411480"/>
          </a:xfrm>
          <a:prstGeom prst="rect">
            <a:avLst/>
          </a:prstGeom>
          <a:noFill/>
          <a:ln/>
        </p:spPr>
        <p:txBody>
          <a:bodyPr wrap="square" lIns="0" tIns="0" rIns="0" bIns="0" rtlCol="0" anchor="t"/>
          <a:lstStyle/>
          <a:p>
            <a:pPr indent="0" marL="0">
              <a:buNone/>
            </a:pPr>
            <a:r>
              <a:rPr lang="en-US" sz="1400" i="1" dirty="0">
                <a:solidFill>
                  <a:srgbClr val="287079"/>
                </a:solidFill>
                <a:latin typeface="Arial" pitchFamily="34" charset="0"/>
                <a:ea typeface="Arial" pitchFamily="34" charset="-122"/>
                <a:cs typeface="Arial" pitchFamily="34" charset="-120"/>
              </a:rPr>
              <a:t>A finish line we can check, for one deal</a:t>
            </a:r>
            <a:endParaRPr lang="en-US" sz="1400" dirty="0"/>
          </a:p>
        </p:txBody>
      </p:sp>
      <p:sp>
        <p:nvSpPr>
          <p:cNvPr id="23" name="Shape 15"/>
          <p:cNvSpPr/>
          <p:nvPr/>
        </p:nvSpPr>
        <p:spPr>
          <a:xfrm>
            <a:off x="548640" y="5669280"/>
            <a:ext cx="11091672" cy="566928"/>
          </a:xfrm>
          <a:prstGeom prst="roundRect">
            <a:avLst>
              <a:gd name="adj" fmla="val 12903"/>
            </a:avLst>
          </a:prstGeom>
          <a:solidFill>
            <a:srgbClr val="FDF3E1"/>
          </a:solidFill>
          <a:ln/>
        </p:spPr>
      </p:sp>
      <p:sp>
        <p:nvSpPr>
          <p:cNvPr id="24" name="Text 16"/>
          <p:cNvSpPr txBox="1"/>
          <p:nvPr/>
        </p:nvSpPr>
        <p:spPr>
          <a:xfrm>
            <a:off x="822960" y="5669280"/>
            <a:ext cx="10607040" cy="566928"/>
          </a:xfrm>
          <a:prstGeom prst="rect">
            <a:avLst/>
          </a:prstGeom>
          <a:noFill/>
          <a:ln/>
        </p:spPr>
        <p:txBody>
          <a:bodyPr wrap="square" lIns="0" tIns="0" rIns="0" bIns="0" rtlCol="0" anchor="ctr"/>
          <a:lstStyle/>
          <a:p>
            <a:pPr indent="0" marL="0">
              <a:buNone/>
            </a:pPr>
            <a:r>
              <a:rPr lang="en-US" sz="1500" b="1" dirty="0">
                <a:solidFill>
                  <a:srgbClr val="C98A1A"/>
                </a:solidFill>
                <a:latin typeface="Arial" pitchFamily="34" charset="0"/>
                <a:ea typeface="Arial" pitchFamily="34" charset="-122"/>
                <a:cs typeface="Arial" pitchFamily="34" charset="-120"/>
              </a:rPr>
              <a:t>Held: </a:t>
            </a:r>
            <a:pPr indent="0" marL="0">
              <a:buNone/>
            </a:pPr>
            <a:r>
              <a:rPr lang="en-US" sz="1500" dirty="0">
                <a:solidFill>
                  <a:srgbClr val="1F2A33"/>
                </a:solidFill>
                <a:latin typeface="Arial" pitchFamily="34" charset="0"/>
                <a:ea typeface="Arial" pitchFamily="34" charset="-122"/>
                <a:cs typeface="Arial" pitchFamily="34" charset="-120"/>
              </a:rPr>
              <a:t>a person is reserved for this deal, for a limited time. The hold ends on its own unless someone renews it.</a:t>
            </a:r>
            <a:endParaRPr lang="en-US" sz="15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AGREE THE TARGET OUTCOME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Four tests for an outcome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11:00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53</a:t>
            </a:r>
            <a:endParaRPr lang="en-US" sz="1000" dirty="0"/>
          </a:p>
        </p:txBody>
      </p:sp>
      <p:sp>
        <p:nvSpPr>
          <p:cNvPr id="7" name="Shape 4"/>
          <p:cNvSpPr/>
          <p:nvPr/>
        </p:nvSpPr>
        <p:spPr>
          <a:xfrm>
            <a:off x="548640" y="1600200"/>
            <a:ext cx="2651760" cy="3566160"/>
          </a:xfrm>
          <a:prstGeom prst="roundRect">
            <a:avLst>
              <a:gd name="adj" fmla="val 2759"/>
            </a:avLst>
          </a:prstGeom>
          <a:solidFill>
            <a:srgbClr val="FFFFFF"/>
          </a:solidFill>
          <a:ln w="12700">
            <a:solidFill>
              <a:srgbClr val="D9DEE2"/>
            </a:solidFill>
            <a:prstDash val="solid"/>
          </a:ln>
        </p:spPr>
      </p:sp>
      <p:sp>
        <p:nvSpPr>
          <p:cNvPr id="8" name="Shape 5"/>
          <p:cNvSpPr/>
          <p:nvPr/>
        </p:nvSpPr>
        <p:spPr>
          <a:xfrm>
            <a:off x="731520" y="1783080"/>
            <a:ext cx="438912" cy="438912"/>
          </a:xfrm>
          <a:prstGeom prst="ellipse">
            <a:avLst/>
          </a:prstGeom>
          <a:solidFill>
            <a:srgbClr val="FF462D"/>
          </a:solidFill>
          <a:ln/>
        </p:spPr>
      </p:sp>
      <p:sp>
        <p:nvSpPr>
          <p:cNvPr id="9" name="Text 6"/>
          <p:cNvSpPr txBox="1"/>
          <p:nvPr/>
        </p:nvSpPr>
        <p:spPr>
          <a:xfrm>
            <a:off x="731520" y="17830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pic>
        <p:nvPicPr>
          <p:cNvPr id="10" name="Image 1" descr="/private/tmp/claude-501/-Users-salehhamed-Outcome-Engine/91861432-41e2-4884-bc97-63c6dff2d021/scratchpad/wk/icons/TbFocus2-teal.png">    </p:cNvPr>
          <p:cNvPicPr>
            <a:picLocks noChangeAspect="1"/>
          </p:cNvPicPr>
          <p:nvPr/>
        </p:nvPicPr>
        <p:blipFill>
          <a:blip r:embed="rId4"/>
          <a:stretch>
            <a:fillRect/>
          </a:stretch>
        </p:blipFill>
        <p:spPr>
          <a:xfrm>
            <a:off x="1417320" y="2377440"/>
            <a:ext cx="914400" cy="914400"/>
          </a:xfrm>
          <a:prstGeom prst="rect">
            <a:avLst/>
          </a:prstGeom>
        </p:spPr>
      </p:pic>
      <p:sp>
        <p:nvSpPr>
          <p:cNvPr id="11" name="Text 7"/>
          <p:cNvSpPr txBox="1"/>
          <p:nvPr/>
        </p:nvSpPr>
        <p:spPr>
          <a:xfrm>
            <a:off x="685800" y="3429000"/>
            <a:ext cx="2377440" cy="457200"/>
          </a:xfrm>
          <a:prstGeom prst="rect">
            <a:avLst/>
          </a:prstGeom>
          <a:noFill/>
          <a:ln/>
        </p:spPr>
        <p:txBody>
          <a:bodyPr wrap="square" lIns="0" tIns="0" rIns="0" bIns="0" rtlCol="0" anchor="t"/>
          <a:lstStyle/>
          <a:p>
            <a:pPr algn="ctr" indent="0" marL="0">
              <a:buNone/>
            </a:pPr>
            <a:r>
              <a:rPr lang="en-US" sz="1800" b="1" dirty="0">
                <a:solidFill>
                  <a:srgbClr val="1F2A33"/>
                </a:solidFill>
                <a:latin typeface="Arial" pitchFamily="34" charset="0"/>
                <a:ea typeface="Arial" pitchFamily="34" charset="-122"/>
                <a:cs typeface="Arial" pitchFamily="34" charset="-120"/>
              </a:rPr>
              <a:t>One deal</a:t>
            </a:r>
            <a:endParaRPr lang="en-US" sz="1800" dirty="0"/>
          </a:p>
        </p:txBody>
      </p:sp>
      <p:sp>
        <p:nvSpPr>
          <p:cNvPr id="12" name="Text 8"/>
          <p:cNvSpPr txBox="1"/>
          <p:nvPr/>
        </p:nvSpPr>
        <p:spPr>
          <a:xfrm>
            <a:off x="731520" y="3931920"/>
            <a:ext cx="2286000" cy="1097280"/>
          </a:xfrm>
          <a:prstGeom prst="rect">
            <a:avLst/>
          </a:prstGeom>
          <a:noFill/>
          <a:ln/>
        </p:spPr>
        <p:txBody>
          <a:bodyPr wrap="square" lIns="0" tIns="0" rIns="0" bIns="0" rtlCol="0" anchor="t"/>
          <a:lstStyle/>
          <a:p>
            <a:pPr algn="ctr" indent="0" marL="0">
              <a:buNone/>
            </a:pPr>
            <a:r>
              <a:rPr lang="en-US" sz="1400" dirty="0">
                <a:solidFill>
                  <a:srgbClr val="5A5A5A"/>
                </a:solidFill>
                <a:latin typeface="Arial" pitchFamily="34" charset="0"/>
                <a:ea typeface="Arial" pitchFamily="34" charset="-122"/>
                <a:cs typeface="Arial" pitchFamily="34" charset="-120"/>
              </a:rPr>
              <a:t>It is true or false for a single deal.</a:t>
            </a:r>
            <a:endParaRPr lang="en-US" sz="1400" dirty="0"/>
          </a:p>
        </p:txBody>
      </p:sp>
      <p:sp>
        <p:nvSpPr>
          <p:cNvPr id="13" name="Shape 9"/>
          <p:cNvSpPr/>
          <p:nvPr/>
        </p:nvSpPr>
        <p:spPr>
          <a:xfrm>
            <a:off x="3364992" y="1600200"/>
            <a:ext cx="2651760" cy="3566160"/>
          </a:xfrm>
          <a:prstGeom prst="roundRect">
            <a:avLst>
              <a:gd name="adj" fmla="val 2759"/>
            </a:avLst>
          </a:prstGeom>
          <a:solidFill>
            <a:srgbClr val="FFFFFF"/>
          </a:solidFill>
          <a:ln w="12700">
            <a:solidFill>
              <a:srgbClr val="D9DEE2"/>
            </a:solidFill>
            <a:prstDash val="solid"/>
          </a:ln>
        </p:spPr>
      </p:sp>
      <p:sp>
        <p:nvSpPr>
          <p:cNvPr id="14" name="Shape 10"/>
          <p:cNvSpPr/>
          <p:nvPr/>
        </p:nvSpPr>
        <p:spPr>
          <a:xfrm>
            <a:off x="3547872" y="1783080"/>
            <a:ext cx="438912" cy="438912"/>
          </a:xfrm>
          <a:prstGeom prst="ellipse">
            <a:avLst/>
          </a:prstGeom>
          <a:solidFill>
            <a:srgbClr val="FF462D"/>
          </a:solidFill>
          <a:ln/>
        </p:spPr>
      </p:sp>
      <p:sp>
        <p:nvSpPr>
          <p:cNvPr id="15" name="Text 11"/>
          <p:cNvSpPr txBox="1"/>
          <p:nvPr/>
        </p:nvSpPr>
        <p:spPr>
          <a:xfrm>
            <a:off x="3547872" y="17830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pic>
        <p:nvPicPr>
          <p:cNvPr id="16" name="Image 2" descr="/private/tmp/claude-501/-Users-salehhamed-Outcome-Engine/91861432-41e2-4884-bc97-63c6dff2d021/scratchpad/wk/icons/TbArrowsHorizontal-teal.png">    </p:cNvPr>
          <p:cNvPicPr>
            <a:picLocks noChangeAspect="1"/>
          </p:cNvPicPr>
          <p:nvPr/>
        </p:nvPicPr>
        <p:blipFill>
          <a:blip r:embed="rId5"/>
          <a:stretch>
            <a:fillRect/>
          </a:stretch>
        </p:blipFill>
        <p:spPr>
          <a:xfrm>
            <a:off x="4233672" y="2377440"/>
            <a:ext cx="914400" cy="914400"/>
          </a:xfrm>
          <a:prstGeom prst="rect">
            <a:avLst/>
          </a:prstGeom>
        </p:spPr>
      </p:pic>
      <p:sp>
        <p:nvSpPr>
          <p:cNvPr id="17" name="Text 12"/>
          <p:cNvSpPr txBox="1"/>
          <p:nvPr/>
        </p:nvSpPr>
        <p:spPr>
          <a:xfrm>
            <a:off x="3502152" y="3429000"/>
            <a:ext cx="2377440" cy="457200"/>
          </a:xfrm>
          <a:prstGeom prst="rect">
            <a:avLst/>
          </a:prstGeom>
          <a:noFill/>
          <a:ln/>
        </p:spPr>
        <p:txBody>
          <a:bodyPr wrap="square" lIns="0" tIns="0" rIns="0" bIns="0" rtlCol="0" anchor="t"/>
          <a:lstStyle/>
          <a:p>
            <a:pPr algn="ctr" indent="0" marL="0">
              <a:buNone/>
            </a:pPr>
            <a:r>
              <a:rPr lang="en-US" sz="1800" b="1" dirty="0">
                <a:solidFill>
                  <a:srgbClr val="1F2A33"/>
                </a:solidFill>
                <a:latin typeface="Arial" pitchFamily="34" charset="0"/>
                <a:ea typeface="Arial" pitchFamily="34" charset="-122"/>
                <a:cs typeface="Arial" pitchFamily="34" charset="-120"/>
              </a:rPr>
              <a:t>Start and every end</a:t>
            </a:r>
            <a:endParaRPr lang="en-US" sz="1800" dirty="0"/>
          </a:p>
        </p:txBody>
      </p:sp>
      <p:sp>
        <p:nvSpPr>
          <p:cNvPr id="18" name="Text 13"/>
          <p:cNvSpPr txBox="1"/>
          <p:nvPr/>
        </p:nvSpPr>
        <p:spPr>
          <a:xfrm>
            <a:off x="3547872" y="3931920"/>
            <a:ext cx="2286000" cy="1097280"/>
          </a:xfrm>
          <a:prstGeom prst="rect">
            <a:avLst/>
          </a:prstGeom>
          <a:noFill/>
          <a:ln/>
        </p:spPr>
        <p:txBody>
          <a:bodyPr wrap="square" lIns="0" tIns="0" rIns="0" bIns="0" rtlCol="0" anchor="t"/>
          <a:lstStyle/>
          <a:p>
            <a:pPr algn="ctr" indent="0" marL="0">
              <a:buNone/>
            </a:pPr>
            <a:r>
              <a:rPr lang="en-US" sz="1400" dirty="0">
                <a:solidFill>
                  <a:srgbClr val="5A5A5A"/>
                </a:solidFill>
                <a:latin typeface="Arial" pitchFamily="34" charset="0"/>
                <a:ea typeface="Arial" pitchFamily="34" charset="-122"/>
                <a:cs typeface="Arial" pitchFamily="34" charset="-120"/>
              </a:rPr>
              <a:t>It says when a deal starts, and every way it can end.</a:t>
            </a:r>
            <a:endParaRPr lang="en-US" sz="1400" dirty="0"/>
          </a:p>
        </p:txBody>
      </p:sp>
      <p:sp>
        <p:nvSpPr>
          <p:cNvPr id="19" name="Shape 14"/>
          <p:cNvSpPr/>
          <p:nvPr/>
        </p:nvSpPr>
        <p:spPr>
          <a:xfrm>
            <a:off x="6181344" y="1600200"/>
            <a:ext cx="2651760" cy="3566160"/>
          </a:xfrm>
          <a:prstGeom prst="roundRect">
            <a:avLst>
              <a:gd name="adj" fmla="val 2759"/>
            </a:avLst>
          </a:prstGeom>
          <a:solidFill>
            <a:srgbClr val="FFFFFF"/>
          </a:solidFill>
          <a:ln w="12700">
            <a:solidFill>
              <a:srgbClr val="D9DEE2"/>
            </a:solidFill>
            <a:prstDash val="solid"/>
          </a:ln>
        </p:spPr>
      </p:sp>
      <p:sp>
        <p:nvSpPr>
          <p:cNvPr id="20" name="Shape 15"/>
          <p:cNvSpPr/>
          <p:nvPr/>
        </p:nvSpPr>
        <p:spPr>
          <a:xfrm>
            <a:off x="6364224" y="1783080"/>
            <a:ext cx="438912" cy="438912"/>
          </a:xfrm>
          <a:prstGeom prst="ellipse">
            <a:avLst/>
          </a:prstGeom>
          <a:solidFill>
            <a:srgbClr val="FF462D"/>
          </a:solidFill>
          <a:ln/>
        </p:spPr>
      </p:sp>
      <p:sp>
        <p:nvSpPr>
          <p:cNvPr id="21" name="Text 16"/>
          <p:cNvSpPr txBox="1"/>
          <p:nvPr/>
        </p:nvSpPr>
        <p:spPr>
          <a:xfrm>
            <a:off x="6364224" y="17830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pic>
        <p:nvPicPr>
          <p:cNvPr id="22" name="Image 3" descr="/private/tmp/claude-501/-Users-salehhamed-Outcome-Engine/91861432-41e2-4884-bc97-63c6dff2d021/scratchpad/wk/icons/TbDatabase-teal.png">    </p:cNvPr>
          <p:cNvPicPr>
            <a:picLocks noChangeAspect="1"/>
          </p:cNvPicPr>
          <p:nvPr/>
        </p:nvPicPr>
        <p:blipFill>
          <a:blip r:embed="rId6"/>
          <a:stretch>
            <a:fillRect/>
          </a:stretch>
        </p:blipFill>
        <p:spPr>
          <a:xfrm>
            <a:off x="7050024" y="2377440"/>
            <a:ext cx="914400" cy="914400"/>
          </a:xfrm>
          <a:prstGeom prst="rect">
            <a:avLst/>
          </a:prstGeom>
        </p:spPr>
      </p:pic>
      <p:sp>
        <p:nvSpPr>
          <p:cNvPr id="23" name="Text 17"/>
          <p:cNvSpPr txBox="1"/>
          <p:nvPr/>
        </p:nvSpPr>
        <p:spPr>
          <a:xfrm>
            <a:off x="6318504" y="3429000"/>
            <a:ext cx="2377440" cy="457200"/>
          </a:xfrm>
          <a:prstGeom prst="rect">
            <a:avLst/>
          </a:prstGeom>
          <a:noFill/>
          <a:ln/>
        </p:spPr>
        <p:txBody>
          <a:bodyPr wrap="square" lIns="0" tIns="0" rIns="0" bIns="0" rtlCol="0" anchor="t"/>
          <a:lstStyle/>
          <a:p>
            <a:pPr algn="ctr" indent="0" marL="0">
              <a:buNone/>
            </a:pPr>
            <a:r>
              <a:rPr lang="en-US" sz="1800" b="1" dirty="0">
                <a:solidFill>
                  <a:srgbClr val="1F2A33"/>
                </a:solidFill>
                <a:latin typeface="Arial" pitchFamily="34" charset="0"/>
                <a:ea typeface="Arial" pitchFamily="34" charset="-122"/>
                <a:cs typeface="Arial" pitchFamily="34" charset="-120"/>
              </a:rPr>
              <a:t>A record proves it</a:t>
            </a:r>
            <a:endParaRPr lang="en-US" sz="1800" dirty="0"/>
          </a:p>
        </p:txBody>
      </p:sp>
      <p:sp>
        <p:nvSpPr>
          <p:cNvPr id="24" name="Text 18"/>
          <p:cNvSpPr txBox="1"/>
          <p:nvPr/>
        </p:nvSpPr>
        <p:spPr>
          <a:xfrm>
            <a:off x="6364224" y="3931920"/>
            <a:ext cx="2286000" cy="1097280"/>
          </a:xfrm>
          <a:prstGeom prst="rect">
            <a:avLst/>
          </a:prstGeom>
          <a:noFill/>
          <a:ln/>
        </p:spPr>
        <p:txBody>
          <a:bodyPr wrap="square" lIns="0" tIns="0" rIns="0" bIns="0" rtlCol="0" anchor="t"/>
          <a:lstStyle/>
          <a:p>
            <a:pPr algn="ctr" indent="0" marL="0">
              <a:buNone/>
            </a:pPr>
            <a:r>
              <a:rPr lang="en-US" sz="1400" dirty="0">
                <a:solidFill>
                  <a:srgbClr val="5A5A5A"/>
                </a:solidFill>
                <a:latin typeface="Arial" pitchFamily="34" charset="0"/>
                <a:ea typeface="Arial" pitchFamily="34" charset="-122"/>
                <a:cs typeface="Arial" pitchFamily="34" charset="-120"/>
              </a:rPr>
              <a:t>We can check it in a record we trust.</a:t>
            </a:r>
            <a:endParaRPr lang="en-US" sz="1400" dirty="0"/>
          </a:p>
        </p:txBody>
      </p:sp>
      <p:sp>
        <p:nvSpPr>
          <p:cNvPr id="25" name="Shape 19"/>
          <p:cNvSpPr/>
          <p:nvPr/>
        </p:nvSpPr>
        <p:spPr>
          <a:xfrm>
            <a:off x="8997696" y="1600200"/>
            <a:ext cx="2651760" cy="3566160"/>
          </a:xfrm>
          <a:prstGeom prst="roundRect">
            <a:avLst>
              <a:gd name="adj" fmla="val 2759"/>
            </a:avLst>
          </a:prstGeom>
          <a:solidFill>
            <a:srgbClr val="FFFFFF"/>
          </a:solidFill>
          <a:ln w="12700">
            <a:solidFill>
              <a:srgbClr val="D9DEE2"/>
            </a:solidFill>
            <a:prstDash val="solid"/>
          </a:ln>
        </p:spPr>
      </p:sp>
      <p:sp>
        <p:nvSpPr>
          <p:cNvPr id="26" name="Shape 20"/>
          <p:cNvSpPr/>
          <p:nvPr/>
        </p:nvSpPr>
        <p:spPr>
          <a:xfrm>
            <a:off x="9180576" y="1783080"/>
            <a:ext cx="438912" cy="438912"/>
          </a:xfrm>
          <a:prstGeom prst="ellipse">
            <a:avLst/>
          </a:prstGeom>
          <a:solidFill>
            <a:srgbClr val="FF462D"/>
          </a:solidFill>
          <a:ln/>
        </p:spPr>
      </p:sp>
      <p:sp>
        <p:nvSpPr>
          <p:cNvPr id="27" name="Text 21"/>
          <p:cNvSpPr txBox="1"/>
          <p:nvPr/>
        </p:nvSpPr>
        <p:spPr>
          <a:xfrm>
            <a:off x="9180576" y="17830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pic>
        <p:nvPicPr>
          <p:cNvPr id="28" name="Image 4" descr="/private/tmp/claude-501/-Users-salehhamed-Outcome-Engine/91861432-41e2-4884-bc97-63c6dff2d021/scratchpad/wk/icons/TbRuler2-teal.png">    </p:cNvPr>
          <p:cNvPicPr>
            <a:picLocks noChangeAspect="1"/>
          </p:cNvPicPr>
          <p:nvPr/>
        </p:nvPicPr>
        <p:blipFill>
          <a:blip r:embed="rId7"/>
          <a:stretch>
            <a:fillRect/>
          </a:stretch>
        </p:blipFill>
        <p:spPr>
          <a:xfrm>
            <a:off x="9866376" y="2377440"/>
            <a:ext cx="914400" cy="914400"/>
          </a:xfrm>
          <a:prstGeom prst="rect">
            <a:avLst/>
          </a:prstGeom>
        </p:spPr>
      </p:pic>
      <p:sp>
        <p:nvSpPr>
          <p:cNvPr id="29" name="Text 22"/>
          <p:cNvSpPr txBox="1"/>
          <p:nvPr/>
        </p:nvSpPr>
        <p:spPr>
          <a:xfrm>
            <a:off x="9134856" y="3429000"/>
            <a:ext cx="2377440" cy="457200"/>
          </a:xfrm>
          <a:prstGeom prst="rect">
            <a:avLst/>
          </a:prstGeom>
          <a:noFill/>
          <a:ln/>
        </p:spPr>
        <p:txBody>
          <a:bodyPr wrap="square" lIns="0" tIns="0" rIns="0" bIns="0" rtlCol="0" anchor="t"/>
          <a:lstStyle/>
          <a:p>
            <a:pPr algn="ctr" indent="0" marL="0">
              <a:buNone/>
            </a:pPr>
            <a:r>
              <a:rPr lang="en-US" sz="1800" b="1" dirty="0">
                <a:solidFill>
                  <a:srgbClr val="1F2A33"/>
                </a:solidFill>
                <a:latin typeface="Arial" pitchFamily="34" charset="0"/>
                <a:ea typeface="Arial" pitchFamily="34" charset="-122"/>
                <a:cs typeface="Arial" pitchFamily="34" charset="-120"/>
              </a:rPr>
              <a:t>A standard</a:t>
            </a:r>
            <a:endParaRPr lang="en-US" sz="1800" dirty="0"/>
          </a:p>
        </p:txBody>
      </p:sp>
      <p:sp>
        <p:nvSpPr>
          <p:cNvPr id="30" name="Text 23"/>
          <p:cNvSpPr txBox="1"/>
          <p:nvPr/>
        </p:nvSpPr>
        <p:spPr>
          <a:xfrm>
            <a:off x="9180576" y="3931920"/>
            <a:ext cx="2286000" cy="1097280"/>
          </a:xfrm>
          <a:prstGeom prst="rect">
            <a:avLst/>
          </a:prstGeom>
          <a:noFill/>
          <a:ln/>
        </p:spPr>
        <p:txBody>
          <a:bodyPr wrap="square" lIns="0" tIns="0" rIns="0" bIns="0" rtlCol="0" anchor="t"/>
          <a:lstStyle/>
          <a:p>
            <a:pPr algn="ctr" indent="0" marL="0">
              <a:buNone/>
            </a:pPr>
            <a:r>
              <a:rPr lang="en-US" sz="1400" dirty="0">
                <a:solidFill>
                  <a:srgbClr val="5A5A5A"/>
                </a:solidFill>
                <a:latin typeface="Arial" pitchFamily="34" charset="0"/>
                <a:ea typeface="Arial" pitchFamily="34" charset="-122"/>
                <a:cs typeface="Arial" pitchFamily="34" charset="-120"/>
              </a:rPr>
              <a:t>It says how good, or how fast, is good enough.</a:t>
            </a:r>
            <a:endParaRPr lang="en-US" sz="1400" dirty="0"/>
          </a:p>
        </p:txBody>
      </p:sp>
      <p:sp>
        <p:nvSpPr>
          <p:cNvPr id="31" name="Shape 24"/>
          <p:cNvSpPr/>
          <p:nvPr/>
        </p:nvSpPr>
        <p:spPr>
          <a:xfrm>
            <a:off x="548640" y="5440680"/>
            <a:ext cx="11091672" cy="685800"/>
          </a:xfrm>
          <a:prstGeom prst="roundRect">
            <a:avLst>
              <a:gd name="adj" fmla="val 10667"/>
            </a:avLst>
          </a:prstGeom>
          <a:solidFill>
            <a:srgbClr val="EEF6F7"/>
          </a:solidFill>
          <a:ln/>
        </p:spPr>
      </p:sp>
      <p:sp>
        <p:nvSpPr>
          <p:cNvPr id="32" name="Text 25"/>
          <p:cNvSpPr txBox="1"/>
          <p:nvPr/>
        </p:nvSpPr>
        <p:spPr>
          <a:xfrm>
            <a:off x="868680" y="5440680"/>
            <a:ext cx="10515600" cy="685800"/>
          </a:xfrm>
          <a:prstGeom prst="rect">
            <a:avLst/>
          </a:prstGeom>
          <a:noFill/>
          <a:ln/>
        </p:spPr>
        <p:txBody>
          <a:bodyPr wrap="square" lIns="0" tIns="0" rIns="0" bIns="0" rtlCol="0" anchor="ctr"/>
          <a:lstStyle/>
          <a:p>
            <a:pPr indent="0" marL="0">
              <a:buNone/>
            </a:pPr>
            <a:r>
              <a:rPr lang="en-US" sz="1800" b="1" dirty="0">
                <a:solidFill>
                  <a:srgbClr val="287079"/>
                </a:solidFill>
                <a:latin typeface="Arial" pitchFamily="34" charset="0"/>
                <a:ea typeface="Arial" pitchFamily="34" charset="-122"/>
                <a:cs typeface="Arial" pitchFamily="34" charset="-120"/>
              </a:rPr>
              <a:t>If a record cannot prove it, it is not an outcome yet.</a:t>
            </a:r>
            <a:endParaRPr lang="en-US" sz="1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AGREE THE TARGET OUTCOME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Outcome or not yet?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11:00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54</a:t>
            </a:r>
            <a:endParaRPr lang="en-US" sz="1000" dirty="0"/>
          </a:p>
        </p:txBody>
      </p:sp>
      <p:sp>
        <p:nvSpPr>
          <p:cNvPr id="7" name="Shape 4"/>
          <p:cNvSpPr/>
          <p:nvPr/>
        </p:nvSpPr>
        <p:spPr>
          <a:xfrm>
            <a:off x="548640" y="1508760"/>
            <a:ext cx="11091672" cy="960120"/>
          </a:xfrm>
          <a:prstGeom prst="roundRect">
            <a:avLst>
              <a:gd name="adj" fmla="val 7619"/>
            </a:avLst>
          </a:prstGeom>
          <a:solidFill>
            <a:srgbClr val="FFFFFF"/>
          </a:solidFill>
          <a:ln w="12700">
            <a:solidFill>
              <a:srgbClr val="D9DEE2"/>
            </a:solidFill>
            <a:prstDash val="solid"/>
          </a:ln>
        </p:spPr>
      </p:sp>
      <p:sp>
        <p:nvSpPr>
          <p:cNvPr id="8" name="Shape 5"/>
          <p:cNvSpPr/>
          <p:nvPr/>
        </p:nvSpPr>
        <p:spPr>
          <a:xfrm>
            <a:off x="731520" y="1755648"/>
            <a:ext cx="457200" cy="457200"/>
          </a:xfrm>
          <a:prstGeom prst="ellipse">
            <a:avLst/>
          </a:prstGeom>
          <a:solidFill>
            <a:srgbClr val="36454F"/>
          </a:solidFill>
          <a:ln/>
        </p:spPr>
      </p:sp>
      <p:sp>
        <p:nvSpPr>
          <p:cNvPr id="9" name="Text 6"/>
          <p:cNvSpPr txBox="1"/>
          <p:nvPr/>
        </p:nvSpPr>
        <p:spPr>
          <a:xfrm>
            <a:off x="731520" y="17556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0" name="Text 7"/>
          <p:cNvSpPr txBox="1"/>
          <p:nvPr/>
        </p:nvSpPr>
        <p:spPr>
          <a:xfrm>
            <a:off x="1417320" y="1508760"/>
            <a:ext cx="6949440" cy="960120"/>
          </a:xfrm>
          <a:prstGeom prst="rect">
            <a:avLst/>
          </a:prstGeom>
          <a:noFill/>
          <a:ln/>
        </p:spPr>
        <p:txBody>
          <a:bodyPr wrap="square" lIns="0" tIns="0" rIns="0" bIns="0" rtlCol="0" anchor="ctr"/>
          <a:lstStyle/>
          <a:p>
            <a:pPr indent="0" marL="0">
              <a:buNone/>
            </a:pPr>
            <a:r>
              <a:rPr lang="en-US" sz="1650" b="1" dirty="0">
                <a:solidFill>
                  <a:srgbClr val="1F2A33"/>
                </a:solidFill>
                <a:latin typeface="Arial" pitchFamily="34" charset="0"/>
                <a:ea typeface="Arial" pitchFamily="34" charset="-122"/>
                <a:cs typeface="Arial" pitchFamily="34" charset="-120"/>
              </a:rPr>
              <a:t>Improve staffing for big deals.</a:t>
            </a:r>
            <a:endParaRPr lang="en-US" sz="1650" dirty="0"/>
          </a:p>
        </p:txBody>
      </p:sp>
      <p:sp>
        <p:nvSpPr>
          <p:cNvPr id="11" name="Shape 8"/>
          <p:cNvSpPr/>
          <p:nvPr/>
        </p:nvSpPr>
        <p:spPr>
          <a:xfrm>
            <a:off x="8229600" y="1783080"/>
            <a:ext cx="1463040" cy="411480"/>
          </a:xfrm>
          <a:prstGeom prst="roundRect">
            <a:avLst>
              <a:gd name="adj" fmla="val 50000"/>
            </a:avLst>
          </a:prstGeom>
          <a:solidFill>
            <a:srgbClr val="FFFFFF"/>
          </a:solidFill>
          <a:ln w="12700">
            <a:solidFill>
              <a:srgbClr val="287079"/>
            </a:solidFill>
            <a:prstDash val="solid"/>
          </a:ln>
        </p:spPr>
      </p:sp>
      <p:sp>
        <p:nvSpPr>
          <p:cNvPr id="12" name="Text 9"/>
          <p:cNvSpPr txBox="1"/>
          <p:nvPr/>
        </p:nvSpPr>
        <p:spPr>
          <a:xfrm>
            <a:off x="8229600" y="1783080"/>
            <a:ext cx="1463040" cy="411480"/>
          </a:xfrm>
          <a:prstGeom prst="rect">
            <a:avLst/>
          </a:prstGeom>
          <a:noFill/>
          <a:ln/>
        </p:spPr>
        <p:txBody>
          <a:bodyPr wrap="square" lIns="0" tIns="0" rIns="0" bIns="0" rtlCol="0" anchor="ctr"/>
          <a:lstStyle/>
          <a:p>
            <a:pPr algn="ctr" indent="0" marL="0">
              <a:buNone/>
            </a:pPr>
            <a:r>
              <a:rPr lang="en-US" sz="1200" b="1" dirty="0">
                <a:solidFill>
                  <a:srgbClr val="287079"/>
                </a:solidFill>
                <a:latin typeface="Arial" pitchFamily="34" charset="0"/>
                <a:ea typeface="Arial" pitchFamily="34" charset="-122"/>
                <a:cs typeface="Arial" pitchFamily="34" charset="-120"/>
              </a:rPr>
              <a:t>Outcome</a:t>
            </a:r>
            <a:endParaRPr lang="en-US" sz="1200" dirty="0"/>
          </a:p>
        </p:txBody>
      </p:sp>
      <p:sp>
        <p:nvSpPr>
          <p:cNvPr id="13" name="Shape 10"/>
          <p:cNvSpPr/>
          <p:nvPr/>
        </p:nvSpPr>
        <p:spPr>
          <a:xfrm>
            <a:off x="9966960" y="1783080"/>
            <a:ext cx="1463040" cy="411480"/>
          </a:xfrm>
          <a:prstGeom prst="roundRect">
            <a:avLst>
              <a:gd name="adj" fmla="val 50000"/>
            </a:avLst>
          </a:prstGeom>
          <a:solidFill>
            <a:srgbClr val="FFFFFF"/>
          </a:solidFill>
          <a:ln w="12700">
            <a:solidFill>
              <a:srgbClr val="36454F"/>
            </a:solidFill>
            <a:prstDash val="solid"/>
          </a:ln>
        </p:spPr>
      </p:sp>
      <p:sp>
        <p:nvSpPr>
          <p:cNvPr id="14" name="Text 11"/>
          <p:cNvSpPr txBox="1"/>
          <p:nvPr/>
        </p:nvSpPr>
        <p:spPr>
          <a:xfrm>
            <a:off x="9966960" y="1783080"/>
            <a:ext cx="1463040" cy="411480"/>
          </a:xfrm>
          <a:prstGeom prst="rect">
            <a:avLst/>
          </a:prstGeom>
          <a:noFill/>
          <a:ln/>
        </p:spPr>
        <p:txBody>
          <a:bodyPr wrap="square" lIns="0" tIns="0" rIns="0" bIns="0" rtlCol="0" anchor="ctr"/>
          <a:lstStyle/>
          <a:p>
            <a:pPr algn="ctr" indent="0" marL="0">
              <a:buNone/>
            </a:pPr>
            <a:r>
              <a:rPr lang="en-US" sz="1200" b="1" dirty="0">
                <a:solidFill>
                  <a:srgbClr val="36454F"/>
                </a:solidFill>
                <a:latin typeface="Arial" pitchFamily="34" charset="0"/>
                <a:ea typeface="Arial" pitchFamily="34" charset="-122"/>
                <a:cs typeface="Arial" pitchFamily="34" charset="-120"/>
              </a:rPr>
              <a:t>Not yet</a:t>
            </a:r>
            <a:endParaRPr lang="en-US" sz="1200" dirty="0"/>
          </a:p>
        </p:txBody>
      </p:sp>
      <p:sp>
        <p:nvSpPr>
          <p:cNvPr id="15" name="Shape 12"/>
          <p:cNvSpPr/>
          <p:nvPr/>
        </p:nvSpPr>
        <p:spPr>
          <a:xfrm>
            <a:off x="548640" y="2624328"/>
            <a:ext cx="11091672" cy="960120"/>
          </a:xfrm>
          <a:prstGeom prst="roundRect">
            <a:avLst>
              <a:gd name="adj" fmla="val 7619"/>
            </a:avLst>
          </a:prstGeom>
          <a:solidFill>
            <a:srgbClr val="FFFFFF"/>
          </a:solidFill>
          <a:ln w="12700">
            <a:solidFill>
              <a:srgbClr val="D9DEE2"/>
            </a:solidFill>
            <a:prstDash val="solid"/>
          </a:ln>
        </p:spPr>
      </p:sp>
      <p:sp>
        <p:nvSpPr>
          <p:cNvPr id="16" name="Shape 13"/>
          <p:cNvSpPr/>
          <p:nvPr/>
        </p:nvSpPr>
        <p:spPr>
          <a:xfrm>
            <a:off x="731520" y="2871216"/>
            <a:ext cx="457200" cy="457200"/>
          </a:xfrm>
          <a:prstGeom prst="ellipse">
            <a:avLst/>
          </a:prstGeom>
          <a:solidFill>
            <a:srgbClr val="36454F"/>
          </a:solidFill>
          <a:ln/>
        </p:spPr>
      </p:sp>
      <p:sp>
        <p:nvSpPr>
          <p:cNvPr id="17" name="Text 14"/>
          <p:cNvSpPr txBox="1"/>
          <p:nvPr/>
        </p:nvSpPr>
        <p:spPr>
          <a:xfrm>
            <a:off x="731520" y="28712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8" name="Text 15"/>
          <p:cNvSpPr txBox="1"/>
          <p:nvPr/>
        </p:nvSpPr>
        <p:spPr>
          <a:xfrm>
            <a:off x="1417320" y="2624328"/>
            <a:ext cx="6949440" cy="960120"/>
          </a:xfrm>
          <a:prstGeom prst="rect">
            <a:avLst/>
          </a:prstGeom>
          <a:noFill/>
          <a:ln/>
        </p:spPr>
        <p:txBody>
          <a:bodyPr wrap="square" lIns="0" tIns="0" rIns="0" bIns="0" rtlCol="0" anchor="ctr"/>
          <a:lstStyle/>
          <a:p>
            <a:pPr indent="0" marL="0">
              <a:buNone/>
            </a:pPr>
            <a:r>
              <a:rPr lang="en-US" sz="1650" b="1" dirty="0">
                <a:solidFill>
                  <a:srgbClr val="1F2A33"/>
                </a:solidFill>
                <a:latin typeface="Arial" pitchFamily="34" charset="0"/>
                <a:ea typeface="Arial" pitchFamily="34" charset="-122"/>
                <a:cs typeface="Arial" pitchFamily="34" charset="-120"/>
              </a:rPr>
              <a:t>Run a skills search for every new role.</a:t>
            </a:r>
            <a:endParaRPr lang="en-US" sz="1650" dirty="0"/>
          </a:p>
        </p:txBody>
      </p:sp>
      <p:sp>
        <p:nvSpPr>
          <p:cNvPr id="19" name="Shape 16"/>
          <p:cNvSpPr/>
          <p:nvPr/>
        </p:nvSpPr>
        <p:spPr>
          <a:xfrm>
            <a:off x="8229600" y="2898648"/>
            <a:ext cx="1463040" cy="411480"/>
          </a:xfrm>
          <a:prstGeom prst="roundRect">
            <a:avLst>
              <a:gd name="adj" fmla="val 50000"/>
            </a:avLst>
          </a:prstGeom>
          <a:solidFill>
            <a:srgbClr val="FFFFFF"/>
          </a:solidFill>
          <a:ln w="12700">
            <a:solidFill>
              <a:srgbClr val="287079"/>
            </a:solidFill>
            <a:prstDash val="solid"/>
          </a:ln>
        </p:spPr>
      </p:sp>
      <p:sp>
        <p:nvSpPr>
          <p:cNvPr id="20" name="Text 17"/>
          <p:cNvSpPr txBox="1"/>
          <p:nvPr/>
        </p:nvSpPr>
        <p:spPr>
          <a:xfrm>
            <a:off x="8229600" y="2898648"/>
            <a:ext cx="1463040" cy="411480"/>
          </a:xfrm>
          <a:prstGeom prst="rect">
            <a:avLst/>
          </a:prstGeom>
          <a:noFill/>
          <a:ln/>
        </p:spPr>
        <p:txBody>
          <a:bodyPr wrap="square" lIns="0" tIns="0" rIns="0" bIns="0" rtlCol="0" anchor="ctr"/>
          <a:lstStyle/>
          <a:p>
            <a:pPr algn="ctr" indent="0" marL="0">
              <a:buNone/>
            </a:pPr>
            <a:r>
              <a:rPr lang="en-US" sz="1200" b="1" dirty="0">
                <a:solidFill>
                  <a:srgbClr val="287079"/>
                </a:solidFill>
                <a:latin typeface="Arial" pitchFamily="34" charset="0"/>
                <a:ea typeface="Arial" pitchFamily="34" charset="-122"/>
                <a:cs typeface="Arial" pitchFamily="34" charset="-120"/>
              </a:rPr>
              <a:t>Outcome</a:t>
            </a:r>
            <a:endParaRPr lang="en-US" sz="1200" dirty="0"/>
          </a:p>
        </p:txBody>
      </p:sp>
      <p:sp>
        <p:nvSpPr>
          <p:cNvPr id="21" name="Shape 18"/>
          <p:cNvSpPr/>
          <p:nvPr/>
        </p:nvSpPr>
        <p:spPr>
          <a:xfrm>
            <a:off x="9966960" y="2898648"/>
            <a:ext cx="1463040" cy="411480"/>
          </a:xfrm>
          <a:prstGeom prst="roundRect">
            <a:avLst>
              <a:gd name="adj" fmla="val 50000"/>
            </a:avLst>
          </a:prstGeom>
          <a:solidFill>
            <a:srgbClr val="FFFFFF"/>
          </a:solidFill>
          <a:ln w="12700">
            <a:solidFill>
              <a:srgbClr val="36454F"/>
            </a:solidFill>
            <a:prstDash val="solid"/>
          </a:ln>
        </p:spPr>
      </p:sp>
      <p:sp>
        <p:nvSpPr>
          <p:cNvPr id="22" name="Text 19"/>
          <p:cNvSpPr txBox="1"/>
          <p:nvPr/>
        </p:nvSpPr>
        <p:spPr>
          <a:xfrm>
            <a:off x="9966960" y="2898648"/>
            <a:ext cx="1463040" cy="411480"/>
          </a:xfrm>
          <a:prstGeom prst="rect">
            <a:avLst/>
          </a:prstGeom>
          <a:noFill/>
          <a:ln/>
        </p:spPr>
        <p:txBody>
          <a:bodyPr wrap="square" lIns="0" tIns="0" rIns="0" bIns="0" rtlCol="0" anchor="ctr"/>
          <a:lstStyle/>
          <a:p>
            <a:pPr algn="ctr" indent="0" marL="0">
              <a:buNone/>
            </a:pPr>
            <a:r>
              <a:rPr lang="en-US" sz="1200" b="1" dirty="0">
                <a:solidFill>
                  <a:srgbClr val="36454F"/>
                </a:solidFill>
                <a:latin typeface="Arial" pitchFamily="34" charset="0"/>
                <a:ea typeface="Arial" pitchFamily="34" charset="-122"/>
                <a:cs typeface="Arial" pitchFamily="34" charset="-120"/>
              </a:rPr>
              <a:t>Not yet</a:t>
            </a:r>
            <a:endParaRPr lang="en-US" sz="1200" dirty="0"/>
          </a:p>
        </p:txBody>
      </p:sp>
      <p:sp>
        <p:nvSpPr>
          <p:cNvPr id="23" name="Shape 20"/>
          <p:cNvSpPr/>
          <p:nvPr/>
        </p:nvSpPr>
        <p:spPr>
          <a:xfrm>
            <a:off x="548640" y="3739896"/>
            <a:ext cx="11091672" cy="960120"/>
          </a:xfrm>
          <a:prstGeom prst="roundRect">
            <a:avLst>
              <a:gd name="adj" fmla="val 7619"/>
            </a:avLst>
          </a:prstGeom>
          <a:solidFill>
            <a:srgbClr val="FFFFFF"/>
          </a:solidFill>
          <a:ln w="12700">
            <a:solidFill>
              <a:srgbClr val="D9DEE2"/>
            </a:solidFill>
            <a:prstDash val="solid"/>
          </a:ln>
        </p:spPr>
      </p:sp>
      <p:sp>
        <p:nvSpPr>
          <p:cNvPr id="24" name="Shape 21"/>
          <p:cNvSpPr/>
          <p:nvPr/>
        </p:nvSpPr>
        <p:spPr>
          <a:xfrm>
            <a:off x="731520" y="3986784"/>
            <a:ext cx="457200" cy="457200"/>
          </a:xfrm>
          <a:prstGeom prst="ellipse">
            <a:avLst/>
          </a:prstGeom>
          <a:solidFill>
            <a:srgbClr val="36454F"/>
          </a:solidFill>
          <a:ln/>
        </p:spPr>
      </p:sp>
      <p:sp>
        <p:nvSpPr>
          <p:cNvPr id="25" name="Text 22"/>
          <p:cNvSpPr txBox="1"/>
          <p:nvPr/>
        </p:nvSpPr>
        <p:spPr>
          <a:xfrm>
            <a:off x="731520" y="3986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6" name="Text 23"/>
          <p:cNvSpPr txBox="1"/>
          <p:nvPr/>
        </p:nvSpPr>
        <p:spPr>
          <a:xfrm>
            <a:off x="1417320" y="3739896"/>
            <a:ext cx="6949440" cy="960120"/>
          </a:xfrm>
          <a:prstGeom prst="rect">
            <a:avLst/>
          </a:prstGeom>
          <a:noFill/>
          <a:ln/>
        </p:spPr>
        <p:txBody>
          <a:bodyPr wrap="square" lIns="0" tIns="0" rIns="0" bIns="0" rtlCol="0" anchor="ctr"/>
          <a:lstStyle/>
          <a:p>
            <a:pPr indent="0" marL="0">
              <a:buNone/>
            </a:pPr>
            <a:r>
              <a:rPr lang="en-US" sz="1650" b="1" dirty="0">
                <a:solidFill>
                  <a:srgbClr val="1F2A33"/>
                </a:solidFill>
                <a:latin typeface="Arial" pitchFamily="34" charset="0"/>
                <a:ea typeface="Arial" pitchFamily="34" charset="-122"/>
                <a:cs typeface="Arial" pitchFamily="34" charset="-120"/>
              </a:rPr>
              <a:t>Every deal over £1m, once it is real, has each role held or a declared gap before signature, as the plan shows.</a:t>
            </a:r>
            <a:endParaRPr lang="en-US" sz="1650" dirty="0"/>
          </a:p>
        </p:txBody>
      </p:sp>
      <p:sp>
        <p:nvSpPr>
          <p:cNvPr id="27" name="Shape 24"/>
          <p:cNvSpPr/>
          <p:nvPr/>
        </p:nvSpPr>
        <p:spPr>
          <a:xfrm>
            <a:off x="8229600" y="4014216"/>
            <a:ext cx="1463040" cy="411480"/>
          </a:xfrm>
          <a:prstGeom prst="roundRect">
            <a:avLst>
              <a:gd name="adj" fmla="val 50000"/>
            </a:avLst>
          </a:prstGeom>
          <a:solidFill>
            <a:srgbClr val="FFFFFF"/>
          </a:solidFill>
          <a:ln w="12700">
            <a:solidFill>
              <a:srgbClr val="287079"/>
            </a:solidFill>
            <a:prstDash val="solid"/>
          </a:ln>
        </p:spPr>
      </p:sp>
      <p:sp>
        <p:nvSpPr>
          <p:cNvPr id="28" name="Text 25"/>
          <p:cNvSpPr txBox="1"/>
          <p:nvPr/>
        </p:nvSpPr>
        <p:spPr>
          <a:xfrm>
            <a:off x="8229600" y="4014216"/>
            <a:ext cx="1463040" cy="411480"/>
          </a:xfrm>
          <a:prstGeom prst="rect">
            <a:avLst/>
          </a:prstGeom>
          <a:noFill/>
          <a:ln/>
        </p:spPr>
        <p:txBody>
          <a:bodyPr wrap="square" lIns="0" tIns="0" rIns="0" bIns="0" rtlCol="0" anchor="ctr"/>
          <a:lstStyle/>
          <a:p>
            <a:pPr algn="ctr" indent="0" marL="0">
              <a:buNone/>
            </a:pPr>
            <a:r>
              <a:rPr lang="en-US" sz="1200" b="1" dirty="0">
                <a:solidFill>
                  <a:srgbClr val="287079"/>
                </a:solidFill>
                <a:latin typeface="Arial" pitchFamily="34" charset="0"/>
                <a:ea typeface="Arial" pitchFamily="34" charset="-122"/>
                <a:cs typeface="Arial" pitchFamily="34" charset="-120"/>
              </a:rPr>
              <a:t>Outcome</a:t>
            </a:r>
            <a:endParaRPr lang="en-US" sz="1200" dirty="0"/>
          </a:p>
        </p:txBody>
      </p:sp>
      <p:sp>
        <p:nvSpPr>
          <p:cNvPr id="29" name="Shape 26"/>
          <p:cNvSpPr/>
          <p:nvPr/>
        </p:nvSpPr>
        <p:spPr>
          <a:xfrm>
            <a:off x="9966960" y="4014216"/>
            <a:ext cx="1463040" cy="411480"/>
          </a:xfrm>
          <a:prstGeom prst="roundRect">
            <a:avLst>
              <a:gd name="adj" fmla="val 50000"/>
            </a:avLst>
          </a:prstGeom>
          <a:solidFill>
            <a:srgbClr val="FFFFFF"/>
          </a:solidFill>
          <a:ln w="12700">
            <a:solidFill>
              <a:srgbClr val="36454F"/>
            </a:solidFill>
            <a:prstDash val="solid"/>
          </a:ln>
        </p:spPr>
      </p:sp>
      <p:sp>
        <p:nvSpPr>
          <p:cNvPr id="30" name="Text 27"/>
          <p:cNvSpPr txBox="1"/>
          <p:nvPr/>
        </p:nvSpPr>
        <p:spPr>
          <a:xfrm>
            <a:off x="9966960" y="4014216"/>
            <a:ext cx="1463040" cy="411480"/>
          </a:xfrm>
          <a:prstGeom prst="rect">
            <a:avLst/>
          </a:prstGeom>
          <a:noFill/>
          <a:ln/>
        </p:spPr>
        <p:txBody>
          <a:bodyPr wrap="square" lIns="0" tIns="0" rIns="0" bIns="0" rtlCol="0" anchor="ctr"/>
          <a:lstStyle/>
          <a:p>
            <a:pPr algn="ctr" indent="0" marL="0">
              <a:buNone/>
            </a:pPr>
            <a:r>
              <a:rPr lang="en-US" sz="1200" b="1" dirty="0">
                <a:solidFill>
                  <a:srgbClr val="36454F"/>
                </a:solidFill>
                <a:latin typeface="Arial" pitchFamily="34" charset="0"/>
                <a:ea typeface="Arial" pitchFamily="34" charset="-122"/>
                <a:cs typeface="Arial" pitchFamily="34" charset="-120"/>
              </a:rPr>
              <a:t>Not yet</a:t>
            </a:r>
            <a:endParaRPr lang="en-US" sz="1200" dirty="0"/>
          </a:p>
        </p:txBody>
      </p:sp>
      <p:sp>
        <p:nvSpPr>
          <p:cNvPr id="31" name="Shape 28"/>
          <p:cNvSpPr/>
          <p:nvPr/>
        </p:nvSpPr>
        <p:spPr>
          <a:xfrm>
            <a:off x="548640" y="4855464"/>
            <a:ext cx="11091672" cy="960120"/>
          </a:xfrm>
          <a:prstGeom prst="roundRect">
            <a:avLst>
              <a:gd name="adj" fmla="val 7619"/>
            </a:avLst>
          </a:prstGeom>
          <a:solidFill>
            <a:srgbClr val="FFFFFF"/>
          </a:solidFill>
          <a:ln w="12700">
            <a:solidFill>
              <a:srgbClr val="D9DEE2"/>
            </a:solidFill>
            <a:prstDash val="solid"/>
          </a:ln>
        </p:spPr>
      </p:sp>
      <p:sp>
        <p:nvSpPr>
          <p:cNvPr id="32" name="Shape 29"/>
          <p:cNvSpPr/>
          <p:nvPr/>
        </p:nvSpPr>
        <p:spPr>
          <a:xfrm>
            <a:off x="731520" y="5102352"/>
            <a:ext cx="457200" cy="457200"/>
          </a:xfrm>
          <a:prstGeom prst="ellipse">
            <a:avLst/>
          </a:prstGeom>
          <a:solidFill>
            <a:srgbClr val="36454F"/>
          </a:solidFill>
          <a:ln/>
        </p:spPr>
      </p:sp>
      <p:sp>
        <p:nvSpPr>
          <p:cNvPr id="33" name="Text 30"/>
          <p:cNvSpPr txBox="1"/>
          <p:nvPr/>
        </p:nvSpPr>
        <p:spPr>
          <a:xfrm>
            <a:off x="731520" y="510235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34" name="Text 31"/>
          <p:cNvSpPr txBox="1"/>
          <p:nvPr/>
        </p:nvSpPr>
        <p:spPr>
          <a:xfrm>
            <a:off x="1417320" y="4855464"/>
            <a:ext cx="6949440" cy="960120"/>
          </a:xfrm>
          <a:prstGeom prst="rect">
            <a:avLst/>
          </a:prstGeom>
          <a:noFill/>
          <a:ln/>
        </p:spPr>
        <p:txBody>
          <a:bodyPr wrap="square" lIns="0" tIns="0" rIns="0" bIns="0" rtlCol="0" anchor="ctr"/>
          <a:lstStyle/>
          <a:p>
            <a:pPr indent="0" marL="0">
              <a:buNone/>
            </a:pPr>
            <a:r>
              <a:rPr lang="en-US" sz="1650" b="1" dirty="0">
                <a:solidFill>
                  <a:srgbClr val="1F2A33"/>
                </a:solidFill>
                <a:latin typeface="Arial" pitchFamily="34" charset="0"/>
                <a:ea typeface="Arial" pitchFamily="34" charset="-122"/>
                <a:cs typeface="Arial" pitchFamily="34" charset="-120"/>
              </a:rPr>
              <a:t>Staffing is happy with the new process.</a:t>
            </a:r>
            <a:endParaRPr lang="en-US" sz="1650" dirty="0"/>
          </a:p>
        </p:txBody>
      </p:sp>
      <p:sp>
        <p:nvSpPr>
          <p:cNvPr id="35" name="Shape 32"/>
          <p:cNvSpPr/>
          <p:nvPr/>
        </p:nvSpPr>
        <p:spPr>
          <a:xfrm>
            <a:off x="8229600" y="5129784"/>
            <a:ext cx="1463040" cy="411480"/>
          </a:xfrm>
          <a:prstGeom prst="roundRect">
            <a:avLst>
              <a:gd name="adj" fmla="val 50000"/>
            </a:avLst>
          </a:prstGeom>
          <a:solidFill>
            <a:srgbClr val="FFFFFF"/>
          </a:solidFill>
          <a:ln w="12700">
            <a:solidFill>
              <a:srgbClr val="287079"/>
            </a:solidFill>
            <a:prstDash val="solid"/>
          </a:ln>
        </p:spPr>
      </p:sp>
      <p:sp>
        <p:nvSpPr>
          <p:cNvPr id="36" name="Text 33"/>
          <p:cNvSpPr txBox="1"/>
          <p:nvPr/>
        </p:nvSpPr>
        <p:spPr>
          <a:xfrm>
            <a:off x="8229600" y="5129784"/>
            <a:ext cx="1463040" cy="411480"/>
          </a:xfrm>
          <a:prstGeom prst="rect">
            <a:avLst/>
          </a:prstGeom>
          <a:noFill/>
          <a:ln/>
        </p:spPr>
        <p:txBody>
          <a:bodyPr wrap="square" lIns="0" tIns="0" rIns="0" bIns="0" rtlCol="0" anchor="ctr"/>
          <a:lstStyle/>
          <a:p>
            <a:pPr algn="ctr" indent="0" marL="0">
              <a:buNone/>
            </a:pPr>
            <a:r>
              <a:rPr lang="en-US" sz="1200" b="1" dirty="0">
                <a:solidFill>
                  <a:srgbClr val="287079"/>
                </a:solidFill>
                <a:latin typeface="Arial" pitchFamily="34" charset="0"/>
                <a:ea typeface="Arial" pitchFamily="34" charset="-122"/>
                <a:cs typeface="Arial" pitchFamily="34" charset="-120"/>
              </a:rPr>
              <a:t>Outcome</a:t>
            </a:r>
            <a:endParaRPr lang="en-US" sz="1200" dirty="0"/>
          </a:p>
        </p:txBody>
      </p:sp>
      <p:sp>
        <p:nvSpPr>
          <p:cNvPr id="37" name="Shape 34"/>
          <p:cNvSpPr/>
          <p:nvPr/>
        </p:nvSpPr>
        <p:spPr>
          <a:xfrm>
            <a:off x="9966960" y="5129784"/>
            <a:ext cx="1463040" cy="411480"/>
          </a:xfrm>
          <a:prstGeom prst="roundRect">
            <a:avLst>
              <a:gd name="adj" fmla="val 50000"/>
            </a:avLst>
          </a:prstGeom>
          <a:solidFill>
            <a:srgbClr val="FFFFFF"/>
          </a:solidFill>
          <a:ln w="12700">
            <a:solidFill>
              <a:srgbClr val="36454F"/>
            </a:solidFill>
            <a:prstDash val="solid"/>
          </a:ln>
        </p:spPr>
      </p:sp>
      <p:sp>
        <p:nvSpPr>
          <p:cNvPr id="38" name="Text 35"/>
          <p:cNvSpPr txBox="1"/>
          <p:nvPr/>
        </p:nvSpPr>
        <p:spPr>
          <a:xfrm>
            <a:off x="9966960" y="5129784"/>
            <a:ext cx="1463040" cy="411480"/>
          </a:xfrm>
          <a:prstGeom prst="rect">
            <a:avLst/>
          </a:prstGeom>
          <a:noFill/>
          <a:ln/>
        </p:spPr>
        <p:txBody>
          <a:bodyPr wrap="square" lIns="0" tIns="0" rIns="0" bIns="0" rtlCol="0" anchor="ctr"/>
          <a:lstStyle/>
          <a:p>
            <a:pPr algn="ctr" indent="0" marL="0">
              <a:buNone/>
            </a:pPr>
            <a:r>
              <a:rPr lang="en-US" sz="1200" b="1" dirty="0">
                <a:solidFill>
                  <a:srgbClr val="36454F"/>
                </a:solidFill>
                <a:latin typeface="Arial" pitchFamily="34" charset="0"/>
                <a:ea typeface="Arial" pitchFamily="34" charset="-122"/>
                <a:cs typeface="Arial" pitchFamily="34" charset="-120"/>
              </a:rPr>
              <a:t>Not yet</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AGREE THE TARGET OUTCOME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Outcome or not yet? The answers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11:00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55</a:t>
            </a:r>
            <a:endParaRPr lang="en-US" sz="1000" dirty="0"/>
          </a:p>
        </p:txBody>
      </p:sp>
      <p:sp>
        <p:nvSpPr>
          <p:cNvPr id="7" name="Shape 4"/>
          <p:cNvSpPr/>
          <p:nvPr/>
        </p:nvSpPr>
        <p:spPr>
          <a:xfrm>
            <a:off x="548640" y="1508760"/>
            <a:ext cx="11091672" cy="960120"/>
          </a:xfrm>
          <a:prstGeom prst="roundRect">
            <a:avLst>
              <a:gd name="adj" fmla="val 7619"/>
            </a:avLst>
          </a:prstGeom>
          <a:solidFill>
            <a:srgbClr val="FFFFFF"/>
          </a:solidFill>
          <a:ln w="12700">
            <a:solidFill>
              <a:srgbClr val="D9DEE2"/>
            </a:solidFill>
            <a:prstDash val="solid"/>
          </a:ln>
        </p:spPr>
      </p:sp>
      <p:sp>
        <p:nvSpPr>
          <p:cNvPr id="8" name="Shape 5"/>
          <p:cNvSpPr/>
          <p:nvPr/>
        </p:nvSpPr>
        <p:spPr>
          <a:xfrm>
            <a:off x="731520" y="1755648"/>
            <a:ext cx="457200" cy="457200"/>
          </a:xfrm>
          <a:prstGeom prst="ellipse">
            <a:avLst/>
          </a:prstGeom>
          <a:solidFill>
            <a:srgbClr val="36454F"/>
          </a:solidFill>
          <a:ln/>
        </p:spPr>
      </p:sp>
      <p:sp>
        <p:nvSpPr>
          <p:cNvPr id="9" name="Text 6"/>
          <p:cNvSpPr txBox="1"/>
          <p:nvPr/>
        </p:nvSpPr>
        <p:spPr>
          <a:xfrm>
            <a:off x="731520" y="17556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0" name="Text 7"/>
          <p:cNvSpPr txBox="1"/>
          <p:nvPr/>
        </p:nvSpPr>
        <p:spPr>
          <a:xfrm>
            <a:off x="1417320" y="1508760"/>
            <a:ext cx="6355080" cy="960120"/>
          </a:xfrm>
          <a:prstGeom prst="rect">
            <a:avLst/>
          </a:prstGeom>
          <a:noFill/>
          <a:ln/>
        </p:spPr>
        <p:txBody>
          <a:bodyPr wrap="square" lIns="0" tIns="0" rIns="0" bIns="0" rtlCol="0" anchor="ctr"/>
          <a:lstStyle/>
          <a:p>
            <a:pPr indent="0" marL="0">
              <a:buNone/>
            </a:pPr>
            <a:r>
              <a:rPr lang="en-US" sz="1650" b="1" dirty="0">
                <a:solidFill>
                  <a:srgbClr val="1F2A33"/>
                </a:solidFill>
                <a:latin typeface="Arial" pitchFamily="34" charset="0"/>
                <a:ea typeface="Arial" pitchFamily="34" charset="-122"/>
                <a:cs typeface="Arial" pitchFamily="34" charset="-120"/>
              </a:rPr>
              <a:t>Improve staffing for big deals.</a:t>
            </a:r>
            <a:endParaRPr lang="en-US" sz="1650" dirty="0"/>
          </a:p>
        </p:txBody>
      </p:sp>
      <p:pic>
        <p:nvPicPr>
          <p:cNvPr id="11" name="Image 1" descr="/private/tmp/claude-501/-Users-salehhamed-Outcome-Engine/91861432-41e2-4884-bc97-63c6dff2d021/scratchpad/wk/icons/TbCircleX-red.png">    </p:cNvPr>
          <p:cNvPicPr>
            <a:picLocks noChangeAspect="1"/>
          </p:cNvPicPr>
          <p:nvPr/>
        </p:nvPicPr>
        <p:blipFill>
          <a:blip r:embed="rId4"/>
          <a:stretch>
            <a:fillRect/>
          </a:stretch>
        </p:blipFill>
        <p:spPr>
          <a:xfrm>
            <a:off x="8001000" y="1709928"/>
            <a:ext cx="548640" cy="548640"/>
          </a:xfrm>
          <a:prstGeom prst="rect">
            <a:avLst/>
          </a:prstGeom>
        </p:spPr>
      </p:pic>
      <p:sp>
        <p:nvSpPr>
          <p:cNvPr id="12" name="Text 8"/>
          <p:cNvSpPr txBox="1"/>
          <p:nvPr/>
        </p:nvSpPr>
        <p:spPr>
          <a:xfrm>
            <a:off x="8641080" y="1508760"/>
            <a:ext cx="2926080" cy="960120"/>
          </a:xfrm>
          <a:prstGeom prst="rect">
            <a:avLst/>
          </a:prstGeom>
          <a:noFill/>
          <a:ln/>
        </p:spPr>
        <p:txBody>
          <a:bodyPr wrap="square" lIns="0" tIns="0" rIns="0" bIns="0" rtlCol="0" anchor="ctr"/>
          <a:lstStyle/>
          <a:p>
            <a:pPr indent="0" marL="0">
              <a:buNone/>
            </a:pPr>
            <a:r>
              <a:rPr lang="en-US" sz="1300" dirty="0">
                <a:solidFill>
                  <a:srgbClr val="5A5A5A"/>
                </a:solidFill>
                <a:latin typeface="Arial" pitchFamily="34" charset="0"/>
                <a:ea typeface="Arial" pitchFamily="34" charset="-122"/>
                <a:cs typeface="Arial" pitchFamily="34" charset="-120"/>
              </a:rPr>
              <a:t>No single deal, no record, no standard.</a:t>
            </a:r>
            <a:endParaRPr lang="en-US" sz="1300" dirty="0"/>
          </a:p>
        </p:txBody>
      </p:sp>
      <p:sp>
        <p:nvSpPr>
          <p:cNvPr id="13" name="Shape 9"/>
          <p:cNvSpPr/>
          <p:nvPr/>
        </p:nvSpPr>
        <p:spPr>
          <a:xfrm>
            <a:off x="548640" y="2624328"/>
            <a:ext cx="11091672" cy="960120"/>
          </a:xfrm>
          <a:prstGeom prst="roundRect">
            <a:avLst>
              <a:gd name="adj" fmla="val 7619"/>
            </a:avLst>
          </a:prstGeom>
          <a:solidFill>
            <a:srgbClr val="FFFFFF"/>
          </a:solidFill>
          <a:ln w="12700">
            <a:solidFill>
              <a:srgbClr val="D9DEE2"/>
            </a:solidFill>
            <a:prstDash val="solid"/>
          </a:ln>
        </p:spPr>
      </p:sp>
      <p:sp>
        <p:nvSpPr>
          <p:cNvPr id="14" name="Shape 10"/>
          <p:cNvSpPr/>
          <p:nvPr/>
        </p:nvSpPr>
        <p:spPr>
          <a:xfrm>
            <a:off x="731520" y="2871216"/>
            <a:ext cx="457200" cy="457200"/>
          </a:xfrm>
          <a:prstGeom prst="ellipse">
            <a:avLst/>
          </a:prstGeom>
          <a:solidFill>
            <a:srgbClr val="36454F"/>
          </a:solidFill>
          <a:ln/>
        </p:spPr>
      </p:sp>
      <p:sp>
        <p:nvSpPr>
          <p:cNvPr id="15" name="Text 11"/>
          <p:cNvSpPr txBox="1"/>
          <p:nvPr/>
        </p:nvSpPr>
        <p:spPr>
          <a:xfrm>
            <a:off x="731520" y="28712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6" name="Text 12"/>
          <p:cNvSpPr txBox="1"/>
          <p:nvPr/>
        </p:nvSpPr>
        <p:spPr>
          <a:xfrm>
            <a:off x="1417320" y="2624328"/>
            <a:ext cx="6355080" cy="960120"/>
          </a:xfrm>
          <a:prstGeom prst="rect">
            <a:avLst/>
          </a:prstGeom>
          <a:noFill/>
          <a:ln/>
        </p:spPr>
        <p:txBody>
          <a:bodyPr wrap="square" lIns="0" tIns="0" rIns="0" bIns="0" rtlCol="0" anchor="ctr"/>
          <a:lstStyle/>
          <a:p>
            <a:pPr indent="0" marL="0">
              <a:buNone/>
            </a:pPr>
            <a:r>
              <a:rPr lang="en-US" sz="1650" b="1" dirty="0">
                <a:solidFill>
                  <a:srgbClr val="1F2A33"/>
                </a:solidFill>
                <a:latin typeface="Arial" pitchFamily="34" charset="0"/>
                <a:ea typeface="Arial" pitchFamily="34" charset="-122"/>
                <a:cs typeface="Arial" pitchFamily="34" charset="-120"/>
              </a:rPr>
              <a:t>Run a skills search for every new role.</a:t>
            </a:r>
            <a:endParaRPr lang="en-US" sz="1650" dirty="0"/>
          </a:p>
        </p:txBody>
      </p:sp>
      <p:pic>
        <p:nvPicPr>
          <p:cNvPr id="17" name="Image 2" descr="/private/tmp/claude-501/-Users-salehhamed-Outcome-Engine/91861432-41e2-4884-bc97-63c6dff2d021/scratchpad/wk/icons/TbCircleX-red.png">    </p:cNvPr>
          <p:cNvPicPr>
            <a:picLocks noChangeAspect="1"/>
          </p:cNvPicPr>
          <p:nvPr/>
        </p:nvPicPr>
        <p:blipFill>
          <a:blip r:embed="rId5"/>
          <a:stretch>
            <a:fillRect/>
          </a:stretch>
        </p:blipFill>
        <p:spPr>
          <a:xfrm>
            <a:off x="8001000" y="2825496"/>
            <a:ext cx="548640" cy="548640"/>
          </a:xfrm>
          <a:prstGeom prst="rect">
            <a:avLst/>
          </a:prstGeom>
        </p:spPr>
      </p:pic>
      <p:sp>
        <p:nvSpPr>
          <p:cNvPr id="18" name="Text 13"/>
          <p:cNvSpPr txBox="1"/>
          <p:nvPr/>
        </p:nvSpPr>
        <p:spPr>
          <a:xfrm>
            <a:off x="8641080" y="2624328"/>
            <a:ext cx="2926080" cy="960120"/>
          </a:xfrm>
          <a:prstGeom prst="rect">
            <a:avLst/>
          </a:prstGeom>
          <a:noFill/>
          <a:ln/>
        </p:spPr>
        <p:txBody>
          <a:bodyPr wrap="square" lIns="0" tIns="0" rIns="0" bIns="0" rtlCol="0" anchor="ctr"/>
          <a:lstStyle/>
          <a:p>
            <a:pPr indent="0" marL="0">
              <a:buNone/>
            </a:pPr>
            <a:r>
              <a:rPr lang="en-US" sz="1300" dirty="0">
                <a:solidFill>
                  <a:srgbClr val="5A5A5A"/>
                </a:solidFill>
                <a:latin typeface="Arial" pitchFamily="34" charset="0"/>
                <a:ea typeface="Arial" pitchFamily="34" charset="-122"/>
                <a:cs typeface="Arial" pitchFamily="34" charset="-120"/>
              </a:rPr>
              <a:t>An activity, not a result.</a:t>
            </a:r>
            <a:endParaRPr lang="en-US" sz="1300" dirty="0"/>
          </a:p>
        </p:txBody>
      </p:sp>
      <p:sp>
        <p:nvSpPr>
          <p:cNvPr id="19" name="Shape 14"/>
          <p:cNvSpPr/>
          <p:nvPr/>
        </p:nvSpPr>
        <p:spPr>
          <a:xfrm>
            <a:off x="548640" y="3739896"/>
            <a:ext cx="11091672" cy="960120"/>
          </a:xfrm>
          <a:prstGeom prst="roundRect">
            <a:avLst>
              <a:gd name="adj" fmla="val 7619"/>
            </a:avLst>
          </a:prstGeom>
          <a:solidFill>
            <a:srgbClr val="E3F1E9"/>
          </a:solidFill>
          <a:ln w="12700">
            <a:solidFill>
              <a:srgbClr val="2E8656"/>
            </a:solidFill>
            <a:prstDash val="solid"/>
          </a:ln>
        </p:spPr>
      </p:sp>
      <p:sp>
        <p:nvSpPr>
          <p:cNvPr id="20" name="Shape 15"/>
          <p:cNvSpPr/>
          <p:nvPr/>
        </p:nvSpPr>
        <p:spPr>
          <a:xfrm>
            <a:off x="731520" y="3986784"/>
            <a:ext cx="457200" cy="457200"/>
          </a:xfrm>
          <a:prstGeom prst="ellipse">
            <a:avLst/>
          </a:prstGeom>
          <a:solidFill>
            <a:srgbClr val="36454F"/>
          </a:solidFill>
          <a:ln/>
        </p:spPr>
      </p:sp>
      <p:sp>
        <p:nvSpPr>
          <p:cNvPr id="21" name="Text 16"/>
          <p:cNvSpPr txBox="1"/>
          <p:nvPr/>
        </p:nvSpPr>
        <p:spPr>
          <a:xfrm>
            <a:off x="731520" y="3986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2" name="Text 17"/>
          <p:cNvSpPr txBox="1"/>
          <p:nvPr/>
        </p:nvSpPr>
        <p:spPr>
          <a:xfrm>
            <a:off x="1417320" y="3739896"/>
            <a:ext cx="6355080" cy="960120"/>
          </a:xfrm>
          <a:prstGeom prst="rect">
            <a:avLst/>
          </a:prstGeom>
          <a:noFill/>
          <a:ln/>
        </p:spPr>
        <p:txBody>
          <a:bodyPr wrap="square" lIns="0" tIns="0" rIns="0" bIns="0" rtlCol="0" anchor="ctr"/>
          <a:lstStyle/>
          <a:p>
            <a:pPr indent="0" marL="0">
              <a:buNone/>
            </a:pPr>
            <a:r>
              <a:rPr lang="en-US" sz="1650" b="1" dirty="0">
                <a:solidFill>
                  <a:srgbClr val="1F2A33"/>
                </a:solidFill>
                <a:latin typeface="Arial" pitchFamily="34" charset="0"/>
                <a:ea typeface="Arial" pitchFamily="34" charset="-122"/>
                <a:cs typeface="Arial" pitchFamily="34" charset="-120"/>
              </a:rPr>
              <a:t>Every deal over £1m, once it is real, has each role held or a declared gap before signature, as the plan shows.</a:t>
            </a:r>
            <a:endParaRPr lang="en-US" sz="1650" dirty="0"/>
          </a:p>
        </p:txBody>
      </p:sp>
      <p:pic>
        <p:nvPicPr>
          <p:cNvPr id="23" name="Image 3" descr="/private/tmp/claude-501/-Users-salehhamed-Outcome-Engine/91861432-41e2-4884-bc97-63c6dff2d021/scratchpad/wk/icons/TbCircleCheck-green.png">    </p:cNvPr>
          <p:cNvPicPr>
            <a:picLocks noChangeAspect="1"/>
          </p:cNvPicPr>
          <p:nvPr/>
        </p:nvPicPr>
        <p:blipFill>
          <a:blip r:embed="rId6"/>
          <a:stretch>
            <a:fillRect/>
          </a:stretch>
        </p:blipFill>
        <p:spPr>
          <a:xfrm>
            <a:off x="8001000" y="3941064"/>
            <a:ext cx="548640" cy="548640"/>
          </a:xfrm>
          <a:prstGeom prst="rect">
            <a:avLst/>
          </a:prstGeom>
        </p:spPr>
      </p:pic>
      <p:sp>
        <p:nvSpPr>
          <p:cNvPr id="24" name="Text 18"/>
          <p:cNvSpPr txBox="1"/>
          <p:nvPr/>
        </p:nvSpPr>
        <p:spPr>
          <a:xfrm>
            <a:off x="8641080" y="3739896"/>
            <a:ext cx="2926080" cy="960120"/>
          </a:xfrm>
          <a:prstGeom prst="rect">
            <a:avLst/>
          </a:prstGeom>
          <a:noFill/>
          <a:ln/>
        </p:spPr>
        <p:txBody>
          <a:bodyPr wrap="square" lIns="0" tIns="0" rIns="0" bIns="0" rtlCol="0" anchor="ctr"/>
          <a:lstStyle/>
          <a:p>
            <a:pPr indent="0" marL="0">
              <a:buNone/>
            </a:pPr>
            <a:r>
              <a:rPr lang="en-US" sz="1300" dirty="0">
                <a:solidFill>
                  <a:srgbClr val="5A5A5A"/>
                </a:solidFill>
                <a:latin typeface="Arial" pitchFamily="34" charset="0"/>
                <a:ea typeface="Arial" pitchFamily="34" charset="-122"/>
                <a:cs typeface="Arial" pitchFamily="34" charset="-120"/>
              </a:rPr>
              <a:t>One deal, a start and an end, a record, a standard.</a:t>
            </a:r>
            <a:endParaRPr lang="en-US" sz="1300" dirty="0"/>
          </a:p>
        </p:txBody>
      </p:sp>
      <p:sp>
        <p:nvSpPr>
          <p:cNvPr id="25" name="Shape 19"/>
          <p:cNvSpPr/>
          <p:nvPr/>
        </p:nvSpPr>
        <p:spPr>
          <a:xfrm>
            <a:off x="548640" y="4855464"/>
            <a:ext cx="11091672" cy="960120"/>
          </a:xfrm>
          <a:prstGeom prst="roundRect">
            <a:avLst>
              <a:gd name="adj" fmla="val 7619"/>
            </a:avLst>
          </a:prstGeom>
          <a:solidFill>
            <a:srgbClr val="FFFFFF"/>
          </a:solidFill>
          <a:ln w="12700">
            <a:solidFill>
              <a:srgbClr val="D9DEE2"/>
            </a:solidFill>
            <a:prstDash val="solid"/>
          </a:ln>
        </p:spPr>
      </p:sp>
      <p:sp>
        <p:nvSpPr>
          <p:cNvPr id="26" name="Shape 20"/>
          <p:cNvSpPr/>
          <p:nvPr/>
        </p:nvSpPr>
        <p:spPr>
          <a:xfrm>
            <a:off x="731520" y="5102352"/>
            <a:ext cx="457200" cy="457200"/>
          </a:xfrm>
          <a:prstGeom prst="ellipse">
            <a:avLst/>
          </a:prstGeom>
          <a:solidFill>
            <a:srgbClr val="36454F"/>
          </a:solidFill>
          <a:ln/>
        </p:spPr>
      </p:sp>
      <p:sp>
        <p:nvSpPr>
          <p:cNvPr id="27" name="Text 21"/>
          <p:cNvSpPr txBox="1"/>
          <p:nvPr/>
        </p:nvSpPr>
        <p:spPr>
          <a:xfrm>
            <a:off x="731520" y="510235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8" name="Text 22"/>
          <p:cNvSpPr txBox="1"/>
          <p:nvPr/>
        </p:nvSpPr>
        <p:spPr>
          <a:xfrm>
            <a:off x="1417320" y="4855464"/>
            <a:ext cx="6355080" cy="960120"/>
          </a:xfrm>
          <a:prstGeom prst="rect">
            <a:avLst/>
          </a:prstGeom>
          <a:noFill/>
          <a:ln/>
        </p:spPr>
        <p:txBody>
          <a:bodyPr wrap="square" lIns="0" tIns="0" rIns="0" bIns="0" rtlCol="0" anchor="ctr"/>
          <a:lstStyle/>
          <a:p>
            <a:pPr indent="0" marL="0">
              <a:buNone/>
            </a:pPr>
            <a:r>
              <a:rPr lang="en-US" sz="1650" b="1" dirty="0">
                <a:solidFill>
                  <a:srgbClr val="1F2A33"/>
                </a:solidFill>
                <a:latin typeface="Arial" pitchFamily="34" charset="0"/>
                <a:ea typeface="Arial" pitchFamily="34" charset="-122"/>
                <a:cs typeface="Arial" pitchFamily="34" charset="-120"/>
              </a:rPr>
              <a:t>Staffing is happy with the new process.</a:t>
            </a:r>
            <a:endParaRPr lang="en-US" sz="1650" dirty="0"/>
          </a:p>
        </p:txBody>
      </p:sp>
      <p:pic>
        <p:nvPicPr>
          <p:cNvPr id="29" name="Image 4" descr="/private/tmp/claude-501/-Users-salehhamed-Outcome-Engine/91861432-41e2-4884-bc97-63c6dff2d021/scratchpad/wk/icons/TbCircleX-red.png">    </p:cNvPr>
          <p:cNvPicPr>
            <a:picLocks noChangeAspect="1"/>
          </p:cNvPicPr>
          <p:nvPr/>
        </p:nvPicPr>
        <p:blipFill>
          <a:blip r:embed="rId7"/>
          <a:stretch>
            <a:fillRect/>
          </a:stretch>
        </p:blipFill>
        <p:spPr>
          <a:xfrm>
            <a:off x="8001000" y="5056632"/>
            <a:ext cx="548640" cy="548640"/>
          </a:xfrm>
          <a:prstGeom prst="rect">
            <a:avLst/>
          </a:prstGeom>
        </p:spPr>
      </p:pic>
      <p:sp>
        <p:nvSpPr>
          <p:cNvPr id="30" name="Text 23"/>
          <p:cNvSpPr txBox="1"/>
          <p:nvPr/>
        </p:nvSpPr>
        <p:spPr>
          <a:xfrm>
            <a:off x="8641080" y="4855464"/>
            <a:ext cx="2926080" cy="960120"/>
          </a:xfrm>
          <a:prstGeom prst="rect">
            <a:avLst/>
          </a:prstGeom>
          <a:noFill/>
          <a:ln/>
        </p:spPr>
        <p:txBody>
          <a:bodyPr wrap="square" lIns="0" tIns="0" rIns="0" bIns="0" rtlCol="0" anchor="ctr"/>
          <a:lstStyle/>
          <a:p>
            <a:pPr indent="0" marL="0">
              <a:buNone/>
            </a:pPr>
            <a:r>
              <a:rPr lang="en-US" sz="1300" dirty="0">
                <a:solidFill>
                  <a:srgbClr val="5A5A5A"/>
                </a:solidFill>
                <a:latin typeface="Arial" pitchFamily="34" charset="0"/>
                <a:ea typeface="Arial" pitchFamily="34" charset="-122"/>
                <a:cs typeface="Arial" pitchFamily="34" charset="-120"/>
              </a:rPr>
              <a:t>No record can prove it for one deal.</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AGREE THE TARGET OUTCOME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The outcome in one sentence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11:00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56</a:t>
            </a:r>
            <a:endParaRPr lang="en-US" sz="1000" dirty="0"/>
          </a:p>
        </p:txBody>
      </p:sp>
      <p:sp>
        <p:nvSpPr>
          <p:cNvPr id="7" name="Text 4"/>
          <p:cNvSpPr txBox="1"/>
          <p:nvPr/>
        </p:nvSpPr>
        <p:spPr>
          <a:xfrm>
            <a:off x="548640" y="1737360"/>
            <a:ext cx="1828800" cy="685800"/>
          </a:xfrm>
          <a:prstGeom prst="rect">
            <a:avLst/>
          </a:prstGeom>
          <a:noFill/>
          <a:ln/>
        </p:spPr>
        <p:txBody>
          <a:bodyPr wrap="square" lIns="0" tIns="0" rIns="0" bIns="0" rtlCol="0" anchor="ctr"/>
          <a:lstStyle/>
          <a:p>
            <a:pPr algn="r" indent="0" marL="0">
              <a:buNone/>
            </a:pPr>
            <a:r>
              <a:rPr lang="en-US" sz="2200" b="1" dirty="0">
                <a:solidFill>
                  <a:srgbClr val="36454F"/>
                </a:solidFill>
                <a:latin typeface="Arial" pitchFamily="34" charset="0"/>
                <a:ea typeface="Arial" pitchFamily="34" charset="-122"/>
                <a:cs typeface="Arial" pitchFamily="34" charset="-120"/>
              </a:rPr>
              <a:t>Every</a:t>
            </a:r>
            <a:endParaRPr lang="en-US" sz="2200" dirty="0"/>
          </a:p>
        </p:txBody>
      </p:sp>
      <p:sp>
        <p:nvSpPr>
          <p:cNvPr id="8" name="Shape 5"/>
          <p:cNvSpPr/>
          <p:nvPr/>
        </p:nvSpPr>
        <p:spPr>
          <a:xfrm>
            <a:off x="2560320" y="1737360"/>
            <a:ext cx="8778240" cy="685800"/>
          </a:xfrm>
          <a:prstGeom prst="roundRect">
            <a:avLst>
              <a:gd name="adj" fmla="val 13333"/>
            </a:avLst>
          </a:prstGeom>
          <a:solidFill>
            <a:srgbClr val="FFF0EC"/>
          </a:solidFill>
          <a:ln/>
        </p:spPr>
      </p:sp>
      <p:sp>
        <p:nvSpPr>
          <p:cNvPr id="9" name="Text 6"/>
          <p:cNvSpPr txBox="1"/>
          <p:nvPr/>
        </p:nvSpPr>
        <p:spPr>
          <a:xfrm>
            <a:off x="2788920" y="1737360"/>
            <a:ext cx="8412480" cy="685800"/>
          </a:xfrm>
          <a:prstGeom prst="rect">
            <a:avLst/>
          </a:prstGeom>
          <a:noFill/>
          <a:ln/>
        </p:spPr>
        <p:txBody>
          <a:bodyPr wrap="square" lIns="0" tIns="0" rIns="0" bIns="0" rtlCol="0" anchor="ctr"/>
          <a:lstStyle/>
          <a:p>
            <a:pPr indent="0" marL="0">
              <a:buNone/>
            </a:pPr>
            <a:r>
              <a:rPr lang="en-US" sz="2000" b="1" dirty="0">
                <a:solidFill>
                  <a:srgbClr val="FF462D"/>
                </a:solidFill>
                <a:latin typeface="Arial" pitchFamily="34" charset="0"/>
                <a:ea typeface="Arial" pitchFamily="34" charset="-122"/>
                <a:cs typeface="Arial" pitchFamily="34" charset="-120"/>
              </a:rPr>
              <a:t>deal over the agreed value</a:t>
            </a:r>
            <a:endParaRPr lang="en-US" sz="2000" dirty="0"/>
          </a:p>
        </p:txBody>
      </p:sp>
      <p:sp>
        <p:nvSpPr>
          <p:cNvPr id="10" name="Text 7"/>
          <p:cNvSpPr txBox="1"/>
          <p:nvPr/>
        </p:nvSpPr>
        <p:spPr>
          <a:xfrm>
            <a:off x="548640" y="2560320"/>
            <a:ext cx="1828800" cy="685800"/>
          </a:xfrm>
          <a:prstGeom prst="rect">
            <a:avLst/>
          </a:prstGeom>
          <a:noFill/>
          <a:ln/>
        </p:spPr>
        <p:txBody>
          <a:bodyPr wrap="square" lIns="0" tIns="0" rIns="0" bIns="0" rtlCol="0" anchor="ctr"/>
          <a:lstStyle/>
          <a:p>
            <a:pPr algn="r" indent="0" marL="0">
              <a:buNone/>
            </a:pPr>
            <a:r>
              <a:rPr lang="en-US" sz="2200" b="1" dirty="0">
                <a:solidFill>
                  <a:srgbClr val="36454F"/>
                </a:solidFill>
                <a:latin typeface="Arial" pitchFamily="34" charset="0"/>
                <a:ea typeface="Arial" pitchFamily="34" charset="-122"/>
                <a:cs typeface="Arial" pitchFamily="34" charset="-120"/>
              </a:rPr>
              <a:t>from</a:t>
            </a:r>
            <a:endParaRPr lang="en-US" sz="2200" dirty="0"/>
          </a:p>
        </p:txBody>
      </p:sp>
      <p:sp>
        <p:nvSpPr>
          <p:cNvPr id="11" name="Shape 8"/>
          <p:cNvSpPr/>
          <p:nvPr/>
        </p:nvSpPr>
        <p:spPr>
          <a:xfrm>
            <a:off x="2560320" y="2560320"/>
            <a:ext cx="8778240" cy="685800"/>
          </a:xfrm>
          <a:prstGeom prst="roundRect">
            <a:avLst>
              <a:gd name="adj" fmla="val 13333"/>
            </a:avLst>
          </a:prstGeom>
          <a:solidFill>
            <a:srgbClr val="EEF6F7"/>
          </a:solidFill>
          <a:ln/>
        </p:spPr>
      </p:sp>
      <p:sp>
        <p:nvSpPr>
          <p:cNvPr id="12" name="Text 9"/>
          <p:cNvSpPr txBox="1"/>
          <p:nvPr/>
        </p:nvSpPr>
        <p:spPr>
          <a:xfrm>
            <a:off x="2788920" y="2560320"/>
            <a:ext cx="8412480" cy="685800"/>
          </a:xfrm>
          <a:prstGeom prst="rect">
            <a:avLst/>
          </a:prstGeom>
          <a:noFill/>
          <a:ln/>
        </p:spPr>
        <p:txBody>
          <a:bodyPr wrap="square" lIns="0" tIns="0" rIns="0" bIns="0" rtlCol="0" anchor="ctr"/>
          <a:lstStyle/>
          <a:p>
            <a:pPr indent="0" marL="0">
              <a:buNone/>
            </a:pPr>
            <a:r>
              <a:rPr lang="en-US" sz="2000" b="1" dirty="0">
                <a:solidFill>
                  <a:srgbClr val="287079"/>
                </a:solidFill>
                <a:latin typeface="Arial" pitchFamily="34" charset="0"/>
                <a:ea typeface="Arial" pitchFamily="34" charset="-122"/>
                <a:cs typeface="Arial" pitchFamily="34" charset="-120"/>
              </a:rPr>
              <a:t>the moment it is real enough to start</a:t>
            </a:r>
            <a:endParaRPr lang="en-US" sz="2000" dirty="0"/>
          </a:p>
        </p:txBody>
      </p:sp>
      <p:sp>
        <p:nvSpPr>
          <p:cNvPr id="13" name="Text 10"/>
          <p:cNvSpPr txBox="1"/>
          <p:nvPr/>
        </p:nvSpPr>
        <p:spPr>
          <a:xfrm>
            <a:off x="548640" y="3383280"/>
            <a:ext cx="1828800" cy="685800"/>
          </a:xfrm>
          <a:prstGeom prst="rect">
            <a:avLst/>
          </a:prstGeom>
          <a:noFill/>
          <a:ln/>
        </p:spPr>
        <p:txBody>
          <a:bodyPr wrap="square" lIns="0" tIns="0" rIns="0" bIns="0" rtlCol="0" anchor="ctr"/>
          <a:lstStyle/>
          <a:p>
            <a:pPr algn="r" indent="0" marL="0">
              <a:buNone/>
            </a:pPr>
            <a:r>
              <a:rPr lang="en-US" sz="2200" b="1" dirty="0">
                <a:solidFill>
                  <a:srgbClr val="36454F"/>
                </a:solidFill>
                <a:latin typeface="Arial" pitchFamily="34" charset="0"/>
                <a:ea typeface="Arial" pitchFamily="34" charset="-122"/>
                <a:cs typeface="Arial" pitchFamily="34" charset="-120"/>
              </a:rPr>
              <a:t>ends</a:t>
            </a:r>
            <a:endParaRPr lang="en-US" sz="2200" dirty="0"/>
          </a:p>
        </p:txBody>
      </p:sp>
      <p:sp>
        <p:nvSpPr>
          <p:cNvPr id="14" name="Shape 11"/>
          <p:cNvSpPr/>
          <p:nvPr/>
        </p:nvSpPr>
        <p:spPr>
          <a:xfrm>
            <a:off x="2560320" y="3383280"/>
            <a:ext cx="8778240" cy="685800"/>
          </a:xfrm>
          <a:prstGeom prst="roundRect">
            <a:avLst>
              <a:gd name="adj" fmla="val 13333"/>
            </a:avLst>
          </a:prstGeom>
          <a:solidFill>
            <a:srgbClr val="FFF0EC"/>
          </a:solidFill>
          <a:ln/>
        </p:spPr>
      </p:sp>
      <p:sp>
        <p:nvSpPr>
          <p:cNvPr id="15" name="Text 12"/>
          <p:cNvSpPr txBox="1"/>
          <p:nvPr/>
        </p:nvSpPr>
        <p:spPr>
          <a:xfrm>
            <a:off x="2788920" y="3383280"/>
            <a:ext cx="8412480" cy="685800"/>
          </a:xfrm>
          <a:prstGeom prst="rect">
            <a:avLst/>
          </a:prstGeom>
          <a:noFill/>
          <a:ln/>
        </p:spPr>
        <p:txBody>
          <a:bodyPr wrap="square" lIns="0" tIns="0" rIns="0" bIns="0" rtlCol="0" anchor="ctr"/>
          <a:lstStyle/>
          <a:p>
            <a:pPr indent="0" marL="0">
              <a:buNone/>
            </a:pPr>
            <a:r>
              <a:rPr lang="en-US" sz="2000" b="1" dirty="0">
                <a:solidFill>
                  <a:srgbClr val="FF462D"/>
                </a:solidFill>
                <a:latin typeface="Arial" pitchFamily="34" charset="0"/>
                <a:ea typeface="Arial" pitchFamily="34" charset="-122"/>
                <a:cs typeface="Arial" pitchFamily="34" charset="-120"/>
              </a:rPr>
              <a:t>with each role held or a declared, owned gap</a:t>
            </a:r>
            <a:endParaRPr lang="en-US" sz="2000" dirty="0"/>
          </a:p>
        </p:txBody>
      </p:sp>
      <p:sp>
        <p:nvSpPr>
          <p:cNvPr id="16" name="Text 13"/>
          <p:cNvSpPr txBox="1"/>
          <p:nvPr/>
        </p:nvSpPr>
        <p:spPr>
          <a:xfrm>
            <a:off x="548640" y="4206240"/>
            <a:ext cx="1828800" cy="685800"/>
          </a:xfrm>
          <a:prstGeom prst="rect">
            <a:avLst/>
          </a:prstGeom>
          <a:noFill/>
          <a:ln/>
        </p:spPr>
        <p:txBody>
          <a:bodyPr wrap="square" lIns="0" tIns="0" rIns="0" bIns="0" rtlCol="0" anchor="ctr"/>
          <a:lstStyle/>
          <a:p>
            <a:pPr algn="r" indent="0" marL="0">
              <a:buNone/>
            </a:pPr>
            <a:r>
              <a:rPr lang="en-US" sz="2200" b="1" dirty="0">
                <a:solidFill>
                  <a:srgbClr val="36454F"/>
                </a:solidFill>
                <a:latin typeface="Arial" pitchFamily="34" charset="0"/>
                <a:ea typeface="Arial" pitchFamily="34" charset="-122"/>
                <a:cs typeface="Arial" pitchFamily="34" charset="-120"/>
              </a:rPr>
              <a:t>before</a:t>
            </a:r>
            <a:endParaRPr lang="en-US" sz="2200" dirty="0"/>
          </a:p>
        </p:txBody>
      </p:sp>
      <p:sp>
        <p:nvSpPr>
          <p:cNvPr id="17" name="Shape 14"/>
          <p:cNvSpPr/>
          <p:nvPr/>
        </p:nvSpPr>
        <p:spPr>
          <a:xfrm>
            <a:off x="2560320" y="4206240"/>
            <a:ext cx="8778240" cy="685800"/>
          </a:xfrm>
          <a:prstGeom prst="roundRect">
            <a:avLst>
              <a:gd name="adj" fmla="val 13333"/>
            </a:avLst>
          </a:prstGeom>
          <a:solidFill>
            <a:srgbClr val="EEF6F7"/>
          </a:solidFill>
          <a:ln/>
        </p:spPr>
      </p:sp>
      <p:sp>
        <p:nvSpPr>
          <p:cNvPr id="18" name="Text 15"/>
          <p:cNvSpPr txBox="1"/>
          <p:nvPr/>
        </p:nvSpPr>
        <p:spPr>
          <a:xfrm>
            <a:off x="2788920" y="4206240"/>
            <a:ext cx="8412480" cy="685800"/>
          </a:xfrm>
          <a:prstGeom prst="rect">
            <a:avLst/>
          </a:prstGeom>
          <a:noFill/>
          <a:ln/>
        </p:spPr>
        <p:txBody>
          <a:bodyPr wrap="square" lIns="0" tIns="0" rIns="0" bIns="0" rtlCol="0" anchor="ctr"/>
          <a:lstStyle/>
          <a:p>
            <a:pPr indent="0" marL="0">
              <a:buNone/>
            </a:pPr>
            <a:r>
              <a:rPr lang="en-US" sz="2000" b="1" dirty="0">
                <a:solidFill>
                  <a:srgbClr val="287079"/>
                </a:solidFill>
                <a:latin typeface="Arial" pitchFamily="34" charset="0"/>
                <a:ea typeface="Arial" pitchFamily="34" charset="-122"/>
                <a:cs typeface="Arial" pitchFamily="34" charset="-120"/>
              </a:rPr>
              <a:t>it is signed</a:t>
            </a:r>
            <a:endParaRPr lang="en-US" sz="2000" dirty="0"/>
          </a:p>
        </p:txBody>
      </p:sp>
      <p:sp>
        <p:nvSpPr>
          <p:cNvPr id="19" name="Text 16"/>
          <p:cNvSpPr txBox="1"/>
          <p:nvPr/>
        </p:nvSpPr>
        <p:spPr>
          <a:xfrm>
            <a:off x="548640" y="5029200"/>
            <a:ext cx="1828800" cy="685800"/>
          </a:xfrm>
          <a:prstGeom prst="rect">
            <a:avLst/>
          </a:prstGeom>
          <a:noFill/>
          <a:ln/>
        </p:spPr>
        <p:txBody>
          <a:bodyPr wrap="square" lIns="0" tIns="0" rIns="0" bIns="0" rtlCol="0" anchor="ctr"/>
          <a:lstStyle/>
          <a:p>
            <a:pPr algn="r" indent="0" marL="0">
              <a:buNone/>
            </a:pPr>
            <a:r>
              <a:rPr lang="en-US" sz="2200" b="1" dirty="0">
                <a:solidFill>
                  <a:srgbClr val="36454F"/>
                </a:solidFill>
                <a:latin typeface="Arial" pitchFamily="34" charset="0"/>
                <a:ea typeface="Arial" pitchFamily="34" charset="-122"/>
                <a:cs typeface="Arial" pitchFamily="34" charset="-120"/>
              </a:rPr>
              <a:t>as shown in</a:t>
            </a:r>
            <a:endParaRPr lang="en-US" sz="2200" dirty="0"/>
          </a:p>
        </p:txBody>
      </p:sp>
      <p:sp>
        <p:nvSpPr>
          <p:cNvPr id="20" name="Shape 17"/>
          <p:cNvSpPr/>
          <p:nvPr/>
        </p:nvSpPr>
        <p:spPr>
          <a:xfrm>
            <a:off x="2560320" y="5029200"/>
            <a:ext cx="8778240" cy="685800"/>
          </a:xfrm>
          <a:prstGeom prst="roundRect">
            <a:avLst>
              <a:gd name="adj" fmla="val 13333"/>
            </a:avLst>
          </a:prstGeom>
          <a:solidFill>
            <a:srgbClr val="FFF0EC"/>
          </a:solidFill>
          <a:ln/>
        </p:spPr>
      </p:sp>
      <p:sp>
        <p:nvSpPr>
          <p:cNvPr id="21" name="Text 18"/>
          <p:cNvSpPr txBox="1"/>
          <p:nvPr/>
        </p:nvSpPr>
        <p:spPr>
          <a:xfrm>
            <a:off x="2788920" y="5029200"/>
            <a:ext cx="8412480" cy="685800"/>
          </a:xfrm>
          <a:prstGeom prst="rect">
            <a:avLst/>
          </a:prstGeom>
          <a:noFill/>
          <a:ln/>
        </p:spPr>
        <p:txBody>
          <a:bodyPr wrap="square" lIns="0" tIns="0" rIns="0" bIns="0" rtlCol="0" anchor="ctr"/>
          <a:lstStyle/>
          <a:p>
            <a:pPr indent="0" marL="0">
              <a:buNone/>
            </a:pPr>
            <a:r>
              <a:rPr lang="en-US" sz="2000" b="1" dirty="0">
                <a:solidFill>
                  <a:srgbClr val="FF462D"/>
                </a:solidFill>
                <a:latin typeface="Arial" pitchFamily="34" charset="0"/>
                <a:ea typeface="Arial" pitchFamily="34" charset="-122"/>
                <a:cs typeface="Arial" pitchFamily="34" charset="-120"/>
              </a:rPr>
              <a:t>the plan and the gap record</a:t>
            </a:r>
            <a:endParaRPr lang="en-US" sz="2000" dirty="0"/>
          </a:p>
        </p:txBody>
      </p:sp>
      <p:sp>
        <p:nvSpPr>
          <p:cNvPr id="22" name="Text 19"/>
          <p:cNvSpPr txBox="1"/>
          <p:nvPr/>
        </p:nvSpPr>
        <p:spPr>
          <a:xfrm>
            <a:off x="548640" y="5943600"/>
            <a:ext cx="10972800" cy="320040"/>
          </a:xfrm>
          <a:prstGeom prst="rect">
            <a:avLst/>
          </a:prstGeom>
          <a:noFill/>
          <a:ln/>
        </p:spPr>
        <p:txBody>
          <a:bodyPr wrap="square" lIns="0" tIns="0" rIns="0" bIns="0" rtlCol="0" anchor="t"/>
          <a:lstStyle/>
          <a:p>
            <a:pPr indent="0" marL="0">
              <a:buNone/>
            </a:pPr>
            <a:r>
              <a:rPr lang="en-US" sz="1400" i="1" dirty="0">
                <a:solidFill>
                  <a:srgbClr val="5A5A5A"/>
                </a:solidFill>
                <a:latin typeface="Arial" pitchFamily="34" charset="0"/>
                <a:ea typeface="Arial" pitchFamily="34" charset="-122"/>
                <a:cs typeface="Arial" pitchFamily="34" charset="-120"/>
              </a:rPr>
              <a:t>Change any coloured block. Keep the shape.</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WRITTEN BEFORE TODAY</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The draft to correct, and what must be true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11:00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57</a:t>
            </a:r>
            <a:endParaRPr lang="en-US" sz="1000" dirty="0"/>
          </a:p>
        </p:txBody>
      </p:sp>
      <p:sp>
        <p:nvSpPr>
          <p:cNvPr id="7" name="Shape 4"/>
          <p:cNvSpPr/>
          <p:nvPr/>
        </p:nvSpPr>
        <p:spPr>
          <a:xfrm>
            <a:off x="548640" y="1463040"/>
            <a:ext cx="11091672" cy="1325880"/>
          </a:xfrm>
          <a:prstGeom prst="roundRect">
            <a:avLst>
              <a:gd name="adj" fmla="val 6897"/>
            </a:avLst>
          </a:prstGeom>
          <a:solidFill>
            <a:srgbClr val="36454F"/>
          </a:solidFill>
          <a:ln/>
        </p:spPr>
      </p:sp>
      <p:sp>
        <p:nvSpPr>
          <p:cNvPr id="8" name="Text 5"/>
          <p:cNvSpPr txBox="1"/>
          <p:nvPr/>
        </p:nvSpPr>
        <p:spPr>
          <a:xfrm>
            <a:off x="868680" y="1463040"/>
            <a:ext cx="10515600" cy="13258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Before a deal is signed, every role it needs is held for a named person who is really free, or is a gap that a named person has declared and owns.</a:t>
            </a:r>
            <a:endParaRPr lang="en-US" sz="1900" dirty="0"/>
          </a:p>
        </p:txBody>
      </p:sp>
      <p:sp>
        <p:nvSpPr>
          <p:cNvPr id="9" name="Text 6"/>
          <p:cNvSpPr txBox="1"/>
          <p:nvPr/>
        </p:nvSpPr>
        <p:spPr>
          <a:xfrm>
            <a:off x="548640" y="2971800"/>
            <a:ext cx="10972800" cy="365760"/>
          </a:xfrm>
          <a:prstGeom prst="rect">
            <a:avLst/>
          </a:prstGeom>
          <a:noFill/>
          <a:ln/>
        </p:spPr>
        <p:txBody>
          <a:bodyPr wrap="square" lIns="0" tIns="0" rIns="0" bIns="0" rtlCol="0" anchor="t"/>
          <a:lstStyle/>
          <a:p>
            <a:pPr indent="0" marL="0">
              <a:buNone/>
            </a:pPr>
            <a:r>
              <a:rPr lang="en-US" sz="1500" b="1" dirty="0">
                <a:solidFill>
                  <a:srgbClr val="287079"/>
                </a:solidFill>
                <a:latin typeface="Arial" pitchFamily="34" charset="0"/>
                <a:ea typeface="Arial" pitchFamily="34" charset="-122"/>
                <a:cs typeface="Arial" pitchFamily="34" charset="-120"/>
              </a:rPr>
              <a:t>For this to be true, four smaller results must be true:</a:t>
            </a:r>
            <a:endParaRPr lang="en-US" sz="1500" dirty="0"/>
          </a:p>
        </p:txBody>
      </p:sp>
      <p:sp>
        <p:nvSpPr>
          <p:cNvPr id="10" name="Shape 7"/>
          <p:cNvSpPr/>
          <p:nvPr/>
        </p:nvSpPr>
        <p:spPr>
          <a:xfrm>
            <a:off x="1874520" y="3337560"/>
            <a:ext cx="914" cy="137160"/>
          </a:xfrm>
          <a:prstGeom prst="line">
            <a:avLst/>
          </a:prstGeom>
          <a:noFill/>
          <a:ln w="25400">
            <a:solidFill>
              <a:srgbClr val="287079"/>
            </a:solidFill>
            <a:prstDash val="solid"/>
          </a:ln>
        </p:spPr>
      </p:sp>
      <p:sp>
        <p:nvSpPr>
          <p:cNvPr id="11" name="Shape 8"/>
          <p:cNvSpPr/>
          <p:nvPr/>
        </p:nvSpPr>
        <p:spPr>
          <a:xfrm>
            <a:off x="548640" y="3474720"/>
            <a:ext cx="2651760" cy="2560320"/>
          </a:xfrm>
          <a:prstGeom prst="roundRect">
            <a:avLst>
              <a:gd name="adj" fmla="val 2857"/>
            </a:avLst>
          </a:prstGeom>
          <a:solidFill>
            <a:srgbClr val="FFFFFF"/>
          </a:solidFill>
          <a:ln w="12700">
            <a:solidFill>
              <a:srgbClr val="287079"/>
            </a:solidFill>
            <a:prstDash val="solid"/>
          </a:ln>
        </p:spPr>
      </p:sp>
      <p:pic>
        <p:nvPicPr>
          <p:cNvPr id="12" name="Image 1" descr="/private/tmp/claude-501/-Users-salehhamed-Outcome-Engine/91861432-41e2-4884-bc97-63c6dff2d021/scratchpad/wk/icons/TbClipboardList-teal.png">    </p:cNvPr>
          <p:cNvPicPr>
            <a:picLocks noChangeAspect="1"/>
          </p:cNvPicPr>
          <p:nvPr/>
        </p:nvPicPr>
        <p:blipFill>
          <a:blip r:embed="rId4"/>
          <a:stretch>
            <a:fillRect/>
          </a:stretch>
        </p:blipFill>
        <p:spPr>
          <a:xfrm>
            <a:off x="731520" y="3657600"/>
            <a:ext cx="502920" cy="502920"/>
          </a:xfrm>
          <a:prstGeom prst="rect">
            <a:avLst/>
          </a:prstGeom>
        </p:spPr>
      </p:pic>
      <p:sp>
        <p:nvSpPr>
          <p:cNvPr id="13" name="Text 9"/>
          <p:cNvSpPr txBox="1"/>
          <p:nvPr/>
        </p:nvSpPr>
        <p:spPr>
          <a:xfrm>
            <a:off x="731520" y="4251960"/>
            <a:ext cx="2331720" cy="1645920"/>
          </a:xfrm>
          <a:prstGeom prst="rect">
            <a:avLst/>
          </a:prstGeom>
          <a:noFill/>
          <a:ln/>
        </p:spPr>
        <p:txBody>
          <a:bodyPr wrap="square" lIns="0" tIns="0" rIns="0" bIns="0" rtlCol="0" anchor="t"/>
          <a:lstStyle/>
          <a:p>
            <a:pPr indent="0" marL="0">
              <a:buNone/>
            </a:pPr>
            <a:r>
              <a:rPr lang="en-US" sz="1600" b="1" dirty="0">
                <a:solidFill>
                  <a:srgbClr val="1F2A33"/>
                </a:solidFill>
                <a:latin typeface="Arial" pitchFamily="34" charset="0"/>
                <a:ea typeface="Arial" pitchFamily="34" charset="-122"/>
                <a:cs typeface="Arial" pitchFamily="34" charset="-120"/>
              </a:rPr>
              <a:t>A complete plan: every role traced to the contract.</a:t>
            </a:r>
            <a:endParaRPr lang="en-US" sz="1600" dirty="0"/>
          </a:p>
        </p:txBody>
      </p:sp>
      <p:sp>
        <p:nvSpPr>
          <p:cNvPr id="14" name="Shape 10"/>
          <p:cNvSpPr/>
          <p:nvPr/>
        </p:nvSpPr>
        <p:spPr>
          <a:xfrm>
            <a:off x="4690872" y="3337560"/>
            <a:ext cx="914" cy="137160"/>
          </a:xfrm>
          <a:prstGeom prst="line">
            <a:avLst/>
          </a:prstGeom>
          <a:noFill/>
          <a:ln w="25400">
            <a:solidFill>
              <a:srgbClr val="287079"/>
            </a:solidFill>
            <a:prstDash val="solid"/>
          </a:ln>
        </p:spPr>
      </p:sp>
      <p:sp>
        <p:nvSpPr>
          <p:cNvPr id="15" name="Shape 11"/>
          <p:cNvSpPr/>
          <p:nvPr/>
        </p:nvSpPr>
        <p:spPr>
          <a:xfrm>
            <a:off x="3364992" y="3474720"/>
            <a:ext cx="2651760" cy="2560320"/>
          </a:xfrm>
          <a:prstGeom prst="roundRect">
            <a:avLst>
              <a:gd name="adj" fmla="val 2857"/>
            </a:avLst>
          </a:prstGeom>
          <a:solidFill>
            <a:srgbClr val="FFFFFF"/>
          </a:solidFill>
          <a:ln w="12700">
            <a:solidFill>
              <a:srgbClr val="287079"/>
            </a:solidFill>
            <a:prstDash val="solid"/>
          </a:ln>
        </p:spPr>
      </p:sp>
      <p:pic>
        <p:nvPicPr>
          <p:cNvPr id="16" name="Image 2" descr="/private/tmp/claude-501/-Users-salehhamed-Outcome-Engine/91861432-41e2-4884-bc97-63c6dff2d021/scratchpad/wk/icons/TbUserCheck-teal.png">    </p:cNvPr>
          <p:cNvPicPr>
            <a:picLocks noChangeAspect="1"/>
          </p:cNvPicPr>
          <p:nvPr/>
        </p:nvPicPr>
        <p:blipFill>
          <a:blip r:embed="rId5"/>
          <a:stretch>
            <a:fillRect/>
          </a:stretch>
        </p:blipFill>
        <p:spPr>
          <a:xfrm>
            <a:off x="3547872" y="3657600"/>
            <a:ext cx="502920" cy="502920"/>
          </a:xfrm>
          <a:prstGeom prst="rect">
            <a:avLst/>
          </a:prstGeom>
        </p:spPr>
      </p:pic>
      <p:sp>
        <p:nvSpPr>
          <p:cNvPr id="17" name="Text 12"/>
          <p:cNvSpPr txBox="1"/>
          <p:nvPr/>
        </p:nvSpPr>
        <p:spPr>
          <a:xfrm>
            <a:off x="3547872" y="4251960"/>
            <a:ext cx="2331720" cy="1645920"/>
          </a:xfrm>
          <a:prstGeom prst="rect">
            <a:avLst/>
          </a:prstGeom>
          <a:noFill/>
          <a:ln/>
        </p:spPr>
        <p:txBody>
          <a:bodyPr wrap="square" lIns="0" tIns="0" rIns="0" bIns="0" rtlCol="0" anchor="t"/>
          <a:lstStyle/>
          <a:p>
            <a:pPr indent="0" marL="0">
              <a:buNone/>
            </a:pPr>
            <a:r>
              <a:rPr lang="en-US" sz="1600" b="1" dirty="0">
                <a:solidFill>
                  <a:srgbClr val="1F2A33"/>
                </a:solidFill>
                <a:latin typeface="Arial" pitchFamily="34" charset="0"/>
                <a:ea typeface="Arial" pitchFamily="34" charset="-122"/>
                <a:cs typeface="Arial" pitchFamily="34" charset="-120"/>
              </a:rPr>
              <a:t>Every role held for a person who is really free, or declared a gap with evidence.</a:t>
            </a:r>
            <a:endParaRPr lang="en-US" sz="1600" dirty="0"/>
          </a:p>
        </p:txBody>
      </p:sp>
      <p:sp>
        <p:nvSpPr>
          <p:cNvPr id="18" name="Shape 13"/>
          <p:cNvSpPr/>
          <p:nvPr/>
        </p:nvSpPr>
        <p:spPr>
          <a:xfrm>
            <a:off x="7507224" y="3337560"/>
            <a:ext cx="914" cy="137160"/>
          </a:xfrm>
          <a:prstGeom prst="line">
            <a:avLst/>
          </a:prstGeom>
          <a:noFill/>
          <a:ln w="25400">
            <a:solidFill>
              <a:srgbClr val="287079"/>
            </a:solidFill>
            <a:prstDash val="solid"/>
          </a:ln>
        </p:spPr>
      </p:sp>
      <p:sp>
        <p:nvSpPr>
          <p:cNvPr id="19" name="Shape 14"/>
          <p:cNvSpPr/>
          <p:nvPr/>
        </p:nvSpPr>
        <p:spPr>
          <a:xfrm>
            <a:off x="6181344" y="3474720"/>
            <a:ext cx="2651760" cy="2560320"/>
          </a:xfrm>
          <a:prstGeom prst="roundRect">
            <a:avLst>
              <a:gd name="adj" fmla="val 2857"/>
            </a:avLst>
          </a:prstGeom>
          <a:solidFill>
            <a:srgbClr val="FFFFFF"/>
          </a:solidFill>
          <a:ln w="12700">
            <a:solidFill>
              <a:srgbClr val="287079"/>
            </a:solidFill>
            <a:prstDash val="solid"/>
          </a:ln>
        </p:spPr>
      </p:sp>
      <p:pic>
        <p:nvPicPr>
          <p:cNvPr id="20" name="Image 3" descr="/private/tmp/claude-501/-Users-salehhamed-Outcome-Engine/91861432-41e2-4884-bc97-63c6dff2d021/scratchpad/wk/icons/TbUserQuestion-teal.png">    </p:cNvPr>
          <p:cNvPicPr>
            <a:picLocks noChangeAspect="1"/>
          </p:cNvPicPr>
          <p:nvPr/>
        </p:nvPicPr>
        <p:blipFill>
          <a:blip r:embed="rId6"/>
          <a:stretch>
            <a:fillRect/>
          </a:stretch>
        </p:blipFill>
        <p:spPr>
          <a:xfrm>
            <a:off x="6364224" y="3657600"/>
            <a:ext cx="502920" cy="502920"/>
          </a:xfrm>
          <a:prstGeom prst="rect">
            <a:avLst/>
          </a:prstGeom>
        </p:spPr>
      </p:pic>
      <p:sp>
        <p:nvSpPr>
          <p:cNvPr id="21" name="Text 15"/>
          <p:cNvSpPr txBox="1"/>
          <p:nvPr/>
        </p:nvSpPr>
        <p:spPr>
          <a:xfrm>
            <a:off x="6364224" y="4251960"/>
            <a:ext cx="2331720" cy="1645920"/>
          </a:xfrm>
          <a:prstGeom prst="rect">
            <a:avLst/>
          </a:prstGeom>
          <a:noFill/>
          <a:ln/>
        </p:spPr>
        <p:txBody>
          <a:bodyPr wrap="square" lIns="0" tIns="0" rIns="0" bIns="0" rtlCol="0" anchor="t"/>
          <a:lstStyle/>
          <a:p>
            <a:pPr indent="0" marL="0">
              <a:buNone/>
            </a:pPr>
            <a:r>
              <a:rPr lang="en-US" sz="1600" b="1" dirty="0">
                <a:solidFill>
                  <a:srgbClr val="1F2A33"/>
                </a:solidFill>
                <a:latin typeface="Arial" pitchFamily="34" charset="0"/>
                <a:ea typeface="Arial" pitchFamily="34" charset="-122"/>
                <a:cs typeface="Arial" pitchFamily="34" charset="-120"/>
              </a:rPr>
              <a:t>Every gap has an owner, a path and a deadline.</a:t>
            </a:r>
            <a:endParaRPr lang="en-US" sz="1600" dirty="0"/>
          </a:p>
        </p:txBody>
      </p:sp>
      <p:sp>
        <p:nvSpPr>
          <p:cNvPr id="22" name="Shape 16"/>
          <p:cNvSpPr/>
          <p:nvPr/>
        </p:nvSpPr>
        <p:spPr>
          <a:xfrm>
            <a:off x="10323576" y="3337560"/>
            <a:ext cx="914" cy="137160"/>
          </a:xfrm>
          <a:prstGeom prst="line">
            <a:avLst/>
          </a:prstGeom>
          <a:noFill/>
          <a:ln w="25400">
            <a:solidFill>
              <a:srgbClr val="287079"/>
            </a:solidFill>
            <a:prstDash val="solid"/>
          </a:ln>
        </p:spPr>
      </p:sp>
      <p:sp>
        <p:nvSpPr>
          <p:cNvPr id="23" name="Shape 17"/>
          <p:cNvSpPr/>
          <p:nvPr/>
        </p:nvSpPr>
        <p:spPr>
          <a:xfrm>
            <a:off x="8997696" y="3474720"/>
            <a:ext cx="2651760" cy="2560320"/>
          </a:xfrm>
          <a:prstGeom prst="roundRect">
            <a:avLst>
              <a:gd name="adj" fmla="val 2857"/>
            </a:avLst>
          </a:prstGeom>
          <a:solidFill>
            <a:srgbClr val="FFFFFF"/>
          </a:solidFill>
          <a:ln w="12700">
            <a:solidFill>
              <a:srgbClr val="287079"/>
            </a:solidFill>
            <a:prstDash val="solid"/>
          </a:ln>
        </p:spPr>
      </p:sp>
      <p:pic>
        <p:nvPicPr>
          <p:cNvPr id="24" name="Image 4" descr="/private/tmp/claude-501/-Users-salehhamed-Outcome-Engine/91861432-41e2-4884-bc97-63c6dff2d021/scratchpad/wk/icons/TbSignature-teal.png">    </p:cNvPr>
          <p:cNvPicPr>
            <a:picLocks noChangeAspect="1"/>
          </p:cNvPicPr>
          <p:nvPr/>
        </p:nvPicPr>
        <p:blipFill>
          <a:blip r:embed="rId7"/>
          <a:stretch>
            <a:fillRect/>
          </a:stretch>
        </p:blipFill>
        <p:spPr>
          <a:xfrm>
            <a:off x="9180576" y="3657600"/>
            <a:ext cx="502920" cy="502920"/>
          </a:xfrm>
          <a:prstGeom prst="rect">
            <a:avLst/>
          </a:prstGeom>
        </p:spPr>
      </p:pic>
      <p:sp>
        <p:nvSpPr>
          <p:cNvPr id="25" name="Text 18"/>
          <p:cNvSpPr txBox="1"/>
          <p:nvPr/>
        </p:nvSpPr>
        <p:spPr>
          <a:xfrm>
            <a:off x="9180576" y="4251960"/>
            <a:ext cx="2331720" cy="1645920"/>
          </a:xfrm>
          <a:prstGeom prst="rect">
            <a:avLst/>
          </a:prstGeom>
          <a:noFill/>
          <a:ln/>
        </p:spPr>
        <p:txBody>
          <a:bodyPr wrap="square" lIns="0" tIns="0" rIns="0" bIns="0" rtlCol="0" anchor="t"/>
          <a:lstStyle/>
          <a:p>
            <a:pPr indent="0" marL="0">
              <a:buNone/>
            </a:pPr>
            <a:r>
              <a:rPr lang="en-US" sz="1600" b="1" dirty="0">
                <a:solidFill>
                  <a:srgbClr val="1F2A33"/>
                </a:solidFill>
                <a:latin typeface="Arial" pitchFamily="34" charset="0"/>
                <a:ea typeface="Arial" pitchFamily="34" charset="-122"/>
                <a:cs typeface="Arial" pitchFamily="34" charset="-120"/>
              </a:rPr>
              <a:t>No signature without an approved plan.</a:t>
            </a:r>
            <a:endParaRPr lang="en-US" sz="1600" dirty="0"/>
          </a:p>
        </p:txBody>
      </p:sp>
      <p:sp>
        <p:nvSpPr>
          <p:cNvPr id="26" name="Shape 19"/>
          <p:cNvSpPr/>
          <p:nvPr/>
        </p:nvSpPr>
        <p:spPr>
          <a:xfrm>
            <a:off x="1874520" y="3337560"/>
            <a:ext cx="8449056" cy="914"/>
          </a:xfrm>
          <a:prstGeom prst="line">
            <a:avLst/>
          </a:prstGeom>
          <a:noFill/>
          <a:ln w="25400">
            <a:solidFill>
              <a:srgbClr val="287079"/>
            </a:solidFill>
            <a:prstDash val="solid"/>
          </a:ln>
        </p:spPr>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AGREE THE TARGET OUTCOME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Where should Contract-to-Capacity end?</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11:00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58</a:t>
            </a:r>
            <a:endParaRPr lang="en-US" sz="1000" dirty="0"/>
          </a:p>
        </p:txBody>
      </p:sp>
      <p:sp>
        <p:nvSpPr>
          <p:cNvPr id="7" name="Shape 4"/>
          <p:cNvSpPr/>
          <p:nvPr/>
        </p:nvSpPr>
        <p:spPr>
          <a:xfrm>
            <a:off x="548640" y="1600200"/>
            <a:ext cx="1655064" cy="777240"/>
          </a:xfrm>
          <a:prstGeom prst="chevron">
            <a:avLst/>
          </a:prstGeom>
          <a:solidFill>
            <a:srgbClr val="287079"/>
          </a:solidFill>
          <a:ln/>
        </p:spPr>
      </p:sp>
      <p:sp>
        <p:nvSpPr>
          <p:cNvPr id="8" name="Text 5"/>
          <p:cNvSpPr txBox="1"/>
          <p:nvPr/>
        </p:nvSpPr>
        <p:spPr>
          <a:xfrm>
            <a:off x="804672" y="1600200"/>
            <a:ext cx="1243584"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Demand is real</a:t>
            </a:r>
            <a:endParaRPr lang="en-US" sz="1200" dirty="0"/>
          </a:p>
        </p:txBody>
      </p:sp>
      <p:sp>
        <p:nvSpPr>
          <p:cNvPr id="9" name="Shape 6"/>
          <p:cNvSpPr/>
          <p:nvPr/>
        </p:nvSpPr>
        <p:spPr>
          <a:xfrm>
            <a:off x="2139696" y="1600200"/>
            <a:ext cx="1655064" cy="777240"/>
          </a:xfrm>
          <a:prstGeom prst="chevron">
            <a:avLst/>
          </a:prstGeom>
          <a:solidFill>
            <a:srgbClr val="287079"/>
          </a:solidFill>
          <a:ln/>
        </p:spPr>
      </p:sp>
      <p:sp>
        <p:nvSpPr>
          <p:cNvPr id="10" name="Text 7"/>
          <p:cNvSpPr txBox="1"/>
          <p:nvPr/>
        </p:nvSpPr>
        <p:spPr>
          <a:xfrm>
            <a:off x="2395728" y="1600200"/>
            <a:ext cx="1243584"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Plan drafted</a:t>
            </a:r>
            <a:endParaRPr lang="en-US" sz="1200" dirty="0"/>
          </a:p>
        </p:txBody>
      </p:sp>
      <p:sp>
        <p:nvSpPr>
          <p:cNvPr id="11" name="Shape 8"/>
          <p:cNvSpPr/>
          <p:nvPr/>
        </p:nvSpPr>
        <p:spPr>
          <a:xfrm>
            <a:off x="3730752" y="1600200"/>
            <a:ext cx="1655064" cy="777240"/>
          </a:xfrm>
          <a:prstGeom prst="chevron">
            <a:avLst/>
          </a:prstGeom>
          <a:solidFill>
            <a:srgbClr val="287079"/>
          </a:solidFill>
          <a:ln/>
        </p:spPr>
      </p:sp>
      <p:sp>
        <p:nvSpPr>
          <p:cNvPr id="12" name="Text 9"/>
          <p:cNvSpPr txBox="1"/>
          <p:nvPr/>
        </p:nvSpPr>
        <p:spPr>
          <a:xfrm>
            <a:off x="3986784" y="1600200"/>
            <a:ext cx="1243584"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Who is free checked</a:t>
            </a:r>
            <a:endParaRPr lang="en-US" sz="1200" dirty="0"/>
          </a:p>
        </p:txBody>
      </p:sp>
      <p:sp>
        <p:nvSpPr>
          <p:cNvPr id="13" name="Shape 10"/>
          <p:cNvSpPr/>
          <p:nvPr/>
        </p:nvSpPr>
        <p:spPr>
          <a:xfrm>
            <a:off x="5321808" y="1600200"/>
            <a:ext cx="1655064" cy="777240"/>
          </a:xfrm>
          <a:prstGeom prst="chevron">
            <a:avLst/>
          </a:prstGeom>
          <a:solidFill>
            <a:srgbClr val="287079"/>
          </a:solidFill>
          <a:ln/>
        </p:spPr>
      </p:sp>
      <p:sp>
        <p:nvSpPr>
          <p:cNvPr id="14" name="Text 11"/>
          <p:cNvSpPr txBox="1"/>
          <p:nvPr/>
        </p:nvSpPr>
        <p:spPr>
          <a:xfrm>
            <a:off x="5577840" y="1600200"/>
            <a:ext cx="1243584"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Shortage confirmed</a:t>
            </a:r>
            <a:endParaRPr lang="en-US" sz="1200" dirty="0"/>
          </a:p>
        </p:txBody>
      </p:sp>
      <p:sp>
        <p:nvSpPr>
          <p:cNvPr id="15" name="Shape 12"/>
          <p:cNvSpPr/>
          <p:nvPr/>
        </p:nvSpPr>
        <p:spPr>
          <a:xfrm>
            <a:off x="6912864" y="1600200"/>
            <a:ext cx="1655064" cy="777240"/>
          </a:xfrm>
          <a:prstGeom prst="chevron">
            <a:avLst/>
          </a:prstGeom>
          <a:solidFill>
            <a:srgbClr val="5C8F95"/>
          </a:solidFill>
          <a:ln/>
        </p:spPr>
      </p:sp>
      <p:sp>
        <p:nvSpPr>
          <p:cNvPr id="16" name="Text 13"/>
          <p:cNvSpPr txBox="1"/>
          <p:nvPr/>
        </p:nvSpPr>
        <p:spPr>
          <a:xfrm>
            <a:off x="7168896" y="1600200"/>
            <a:ext cx="1243584"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Response chosen</a:t>
            </a:r>
            <a:endParaRPr lang="en-US" sz="1200" dirty="0"/>
          </a:p>
        </p:txBody>
      </p:sp>
      <p:sp>
        <p:nvSpPr>
          <p:cNvPr id="17" name="Shape 14"/>
          <p:cNvSpPr/>
          <p:nvPr/>
        </p:nvSpPr>
        <p:spPr>
          <a:xfrm>
            <a:off x="8503920" y="1600200"/>
            <a:ext cx="1655064" cy="777240"/>
          </a:xfrm>
          <a:prstGeom prst="chevron">
            <a:avLst/>
          </a:prstGeom>
          <a:solidFill>
            <a:srgbClr val="5C8F95"/>
          </a:solidFill>
          <a:ln/>
        </p:spPr>
      </p:sp>
      <p:sp>
        <p:nvSpPr>
          <p:cNvPr id="18" name="Text 15"/>
          <p:cNvSpPr txBox="1"/>
          <p:nvPr/>
        </p:nvSpPr>
        <p:spPr>
          <a:xfrm>
            <a:off x="8759952" y="1600200"/>
            <a:ext cx="1243584"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Plan approved</a:t>
            </a:r>
            <a:endParaRPr lang="en-US" sz="1200" dirty="0"/>
          </a:p>
        </p:txBody>
      </p:sp>
      <p:sp>
        <p:nvSpPr>
          <p:cNvPr id="19" name="Shape 16"/>
          <p:cNvSpPr/>
          <p:nvPr/>
        </p:nvSpPr>
        <p:spPr>
          <a:xfrm>
            <a:off x="10094976" y="1600200"/>
            <a:ext cx="1655064" cy="777240"/>
          </a:xfrm>
          <a:prstGeom prst="chevron">
            <a:avLst/>
          </a:prstGeom>
          <a:solidFill>
            <a:srgbClr val="36454F"/>
          </a:solidFill>
          <a:ln/>
        </p:spPr>
      </p:sp>
      <p:sp>
        <p:nvSpPr>
          <p:cNvPr id="20" name="Text 17"/>
          <p:cNvSpPr txBox="1"/>
          <p:nvPr/>
        </p:nvSpPr>
        <p:spPr>
          <a:xfrm>
            <a:off x="10351008" y="1600200"/>
            <a:ext cx="1243584"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Deal signed</a:t>
            </a:r>
            <a:endParaRPr lang="en-US" sz="1200" dirty="0"/>
          </a:p>
        </p:txBody>
      </p:sp>
      <p:sp>
        <p:nvSpPr>
          <p:cNvPr id="21" name="Shape 18"/>
          <p:cNvSpPr/>
          <p:nvPr/>
        </p:nvSpPr>
        <p:spPr>
          <a:xfrm>
            <a:off x="548640" y="2606040"/>
            <a:ext cx="6291072" cy="914"/>
          </a:xfrm>
          <a:prstGeom prst="line">
            <a:avLst/>
          </a:prstGeom>
          <a:noFill/>
          <a:ln w="50800">
            <a:solidFill>
              <a:srgbClr val="FF462D"/>
            </a:solidFill>
            <a:prstDash val="solid"/>
          </a:ln>
        </p:spPr>
      </p:sp>
      <p:sp>
        <p:nvSpPr>
          <p:cNvPr id="22" name="Text 19"/>
          <p:cNvSpPr txBox="1"/>
          <p:nvPr/>
        </p:nvSpPr>
        <p:spPr>
          <a:xfrm>
            <a:off x="6912864" y="2423160"/>
            <a:ext cx="365760" cy="365760"/>
          </a:xfrm>
          <a:prstGeom prst="rect">
            <a:avLst/>
          </a:prstGeom>
          <a:noFill/>
          <a:ln/>
        </p:spPr>
        <p:txBody>
          <a:bodyPr wrap="square" lIns="0" tIns="0" rIns="0" bIns="0" rtlCol="0" anchor="ctr"/>
          <a:lstStyle/>
          <a:p>
            <a:pPr indent="0" marL="0">
              <a:buNone/>
            </a:pPr>
            <a:r>
              <a:rPr lang="en-US" sz="1400" b="1" dirty="0">
                <a:solidFill>
                  <a:srgbClr val="FF462D"/>
                </a:solidFill>
                <a:latin typeface="Arial" pitchFamily="34" charset="0"/>
                <a:ea typeface="Arial" pitchFamily="34" charset="-122"/>
                <a:cs typeface="Arial" pitchFamily="34" charset="-120"/>
              </a:rPr>
              <a:t>A</a:t>
            </a:r>
            <a:endParaRPr lang="en-US" sz="1400" dirty="0"/>
          </a:p>
        </p:txBody>
      </p:sp>
      <p:sp>
        <p:nvSpPr>
          <p:cNvPr id="23" name="Shape 20"/>
          <p:cNvSpPr/>
          <p:nvPr/>
        </p:nvSpPr>
        <p:spPr>
          <a:xfrm>
            <a:off x="548640" y="2971800"/>
            <a:ext cx="9473184" cy="914"/>
          </a:xfrm>
          <a:prstGeom prst="line">
            <a:avLst/>
          </a:prstGeom>
          <a:noFill/>
          <a:ln w="50800">
            <a:solidFill>
              <a:srgbClr val="C98A1A"/>
            </a:solidFill>
            <a:prstDash val="solid"/>
          </a:ln>
        </p:spPr>
      </p:sp>
      <p:sp>
        <p:nvSpPr>
          <p:cNvPr id="24" name="Text 21"/>
          <p:cNvSpPr txBox="1"/>
          <p:nvPr/>
        </p:nvSpPr>
        <p:spPr>
          <a:xfrm>
            <a:off x="10094976" y="2788920"/>
            <a:ext cx="365760" cy="365760"/>
          </a:xfrm>
          <a:prstGeom prst="rect">
            <a:avLst/>
          </a:prstGeom>
          <a:noFill/>
          <a:ln/>
        </p:spPr>
        <p:txBody>
          <a:bodyPr wrap="square" lIns="0" tIns="0" rIns="0" bIns="0" rtlCol="0" anchor="ctr"/>
          <a:lstStyle/>
          <a:p>
            <a:pPr indent="0" marL="0">
              <a:buNone/>
            </a:pPr>
            <a:r>
              <a:rPr lang="en-US" sz="1400" b="1" dirty="0">
                <a:solidFill>
                  <a:srgbClr val="C98A1A"/>
                </a:solidFill>
                <a:latin typeface="Arial" pitchFamily="34" charset="0"/>
                <a:ea typeface="Arial" pitchFamily="34" charset="-122"/>
                <a:cs typeface="Arial" pitchFamily="34" charset="-120"/>
              </a:rPr>
              <a:t>B</a:t>
            </a:r>
            <a:endParaRPr lang="en-US" sz="1400" dirty="0"/>
          </a:p>
        </p:txBody>
      </p:sp>
      <p:sp>
        <p:nvSpPr>
          <p:cNvPr id="25" name="Shape 22"/>
          <p:cNvSpPr/>
          <p:nvPr/>
        </p:nvSpPr>
        <p:spPr>
          <a:xfrm>
            <a:off x="548640" y="3337560"/>
            <a:ext cx="11064240" cy="914"/>
          </a:xfrm>
          <a:prstGeom prst="line">
            <a:avLst/>
          </a:prstGeom>
          <a:noFill/>
          <a:ln w="50800">
            <a:solidFill>
              <a:srgbClr val="36454F"/>
            </a:solidFill>
            <a:prstDash val="solid"/>
          </a:ln>
        </p:spPr>
      </p:sp>
      <p:sp>
        <p:nvSpPr>
          <p:cNvPr id="26" name="Text 23"/>
          <p:cNvSpPr txBox="1"/>
          <p:nvPr/>
        </p:nvSpPr>
        <p:spPr>
          <a:xfrm>
            <a:off x="11686032" y="3154680"/>
            <a:ext cx="365760" cy="365760"/>
          </a:xfrm>
          <a:prstGeom prst="rect">
            <a:avLst/>
          </a:prstGeom>
          <a:noFill/>
          <a:ln/>
        </p:spPr>
        <p:txBody>
          <a:bodyPr wrap="square" lIns="0" tIns="0" rIns="0" bIns="0" rtlCol="0" anchor="ctr"/>
          <a:lstStyle/>
          <a:p>
            <a:pPr indent="0" marL="0">
              <a:buNone/>
            </a:pPr>
            <a:r>
              <a:rPr lang="en-US" sz="1400" b="1" dirty="0">
                <a:solidFill>
                  <a:srgbClr val="36454F"/>
                </a:solidFill>
                <a:latin typeface="Arial" pitchFamily="34" charset="0"/>
                <a:ea typeface="Arial" pitchFamily="34" charset="-122"/>
                <a:cs typeface="Arial" pitchFamily="34" charset="-120"/>
              </a:rPr>
              <a:t>C</a:t>
            </a:r>
            <a:endParaRPr lang="en-US" sz="1400" dirty="0"/>
          </a:p>
        </p:txBody>
      </p:sp>
      <p:sp>
        <p:nvSpPr>
          <p:cNvPr id="27" name="Shape 24"/>
          <p:cNvSpPr/>
          <p:nvPr/>
        </p:nvSpPr>
        <p:spPr>
          <a:xfrm>
            <a:off x="548640" y="3794760"/>
            <a:ext cx="3566160" cy="2011680"/>
          </a:xfrm>
          <a:prstGeom prst="roundRect">
            <a:avLst>
              <a:gd name="adj" fmla="val 3636"/>
            </a:avLst>
          </a:prstGeom>
          <a:solidFill>
            <a:srgbClr val="FFFFFF"/>
          </a:solidFill>
          <a:ln w="12700">
            <a:solidFill>
              <a:srgbClr val="D9DEE2"/>
            </a:solidFill>
            <a:prstDash val="solid"/>
          </a:ln>
        </p:spPr>
      </p:sp>
      <p:sp>
        <p:nvSpPr>
          <p:cNvPr id="28" name="Shape 25"/>
          <p:cNvSpPr/>
          <p:nvPr/>
        </p:nvSpPr>
        <p:spPr>
          <a:xfrm>
            <a:off x="731520" y="3959352"/>
            <a:ext cx="502920" cy="502920"/>
          </a:xfrm>
          <a:prstGeom prst="ellipse">
            <a:avLst/>
          </a:prstGeom>
          <a:solidFill>
            <a:srgbClr val="FF462D"/>
          </a:solidFill>
          <a:ln/>
        </p:spPr>
      </p:sp>
      <p:sp>
        <p:nvSpPr>
          <p:cNvPr id="29" name="Text 26"/>
          <p:cNvSpPr txBox="1"/>
          <p:nvPr/>
        </p:nvSpPr>
        <p:spPr>
          <a:xfrm>
            <a:off x="731520" y="39593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30" name="Text 27"/>
          <p:cNvSpPr txBox="1"/>
          <p:nvPr/>
        </p:nvSpPr>
        <p:spPr>
          <a:xfrm>
            <a:off x="1417320" y="3959352"/>
            <a:ext cx="2560320" cy="502920"/>
          </a:xfrm>
          <a:prstGeom prst="rect">
            <a:avLst/>
          </a:prstGeom>
          <a:noFill/>
          <a:ln/>
        </p:spPr>
        <p:txBody>
          <a:bodyPr wrap="square" lIns="0" tIns="0" rIns="0" bIns="0" rtlCol="0" anchor="ctr"/>
          <a:lstStyle/>
          <a:p>
            <a:pPr indent="0" marL="0">
              <a:buNone/>
            </a:pPr>
            <a:r>
              <a:rPr lang="en-US" sz="1800" b="1" dirty="0">
                <a:solidFill>
                  <a:srgbClr val="1F2A33"/>
                </a:solidFill>
                <a:latin typeface="Arial" pitchFamily="34" charset="0"/>
                <a:ea typeface="Arial" pitchFamily="34" charset="-122"/>
                <a:cs typeface="Arial" pitchFamily="34" charset="-120"/>
              </a:rPr>
              <a:t>A confirmed gap</a:t>
            </a:r>
            <a:endParaRPr lang="en-US" sz="1800" dirty="0"/>
          </a:p>
        </p:txBody>
      </p:sp>
      <p:sp>
        <p:nvSpPr>
          <p:cNvPr id="31" name="Text 28"/>
          <p:cNvSpPr txBox="1"/>
          <p:nvPr/>
        </p:nvSpPr>
        <p:spPr>
          <a:xfrm>
            <a:off x="777240" y="4572000"/>
            <a:ext cx="3154680" cy="777240"/>
          </a:xfrm>
          <a:prstGeom prst="rect">
            <a:avLst/>
          </a:prstGeom>
          <a:noFill/>
          <a:ln/>
        </p:spPr>
        <p:txBody>
          <a:bodyPr wrap="square" lIns="0" tIns="0" rIns="0" bIns="0" rtlCol="0" anchor="t"/>
          <a:lstStyle/>
          <a:p>
            <a:pPr indent="0" marL="0">
              <a:buNone/>
            </a:pPr>
            <a:r>
              <a:rPr lang="en-US" sz="1350" dirty="0">
                <a:solidFill>
                  <a:srgbClr val="1F2A33"/>
                </a:solidFill>
                <a:latin typeface="Arial" pitchFamily="34" charset="0"/>
                <a:ea typeface="Arial" pitchFamily="34" charset="-122"/>
                <a:cs typeface="Arial" pitchFamily="34" charset="-120"/>
              </a:rPr>
              <a:t>Ends when every shortage is confirmed. Others decide what to do about it.</a:t>
            </a:r>
            <a:endParaRPr lang="en-US" sz="1350" dirty="0"/>
          </a:p>
        </p:txBody>
      </p:sp>
      <p:sp>
        <p:nvSpPr>
          <p:cNvPr id="32" name="Text 29"/>
          <p:cNvSpPr txBox="1"/>
          <p:nvPr/>
        </p:nvSpPr>
        <p:spPr>
          <a:xfrm>
            <a:off x="777240" y="5349240"/>
            <a:ext cx="3154680" cy="365760"/>
          </a:xfrm>
          <a:prstGeom prst="rect">
            <a:avLst/>
          </a:prstGeom>
          <a:noFill/>
          <a:ln/>
        </p:spPr>
        <p:txBody>
          <a:bodyPr wrap="square" lIns="0" tIns="0" rIns="0" bIns="0" rtlCol="0" anchor="t"/>
          <a:lstStyle/>
          <a:p>
            <a:pPr indent="0" marL="0">
              <a:buNone/>
            </a:pPr>
            <a:r>
              <a:rPr lang="en-US" sz="1200" i="1" dirty="0">
                <a:solidFill>
                  <a:srgbClr val="5A5A5A"/>
                </a:solidFill>
                <a:latin typeface="Arial" pitchFamily="34" charset="0"/>
                <a:ea typeface="Arial" pitchFamily="34" charset="-122"/>
                <a:cs typeface="Arial" pitchFamily="34" charset="-120"/>
              </a:rPr>
              <a:t>Smallest change</a:t>
            </a:r>
            <a:endParaRPr lang="en-US" sz="1200" dirty="0"/>
          </a:p>
        </p:txBody>
      </p:sp>
      <p:sp>
        <p:nvSpPr>
          <p:cNvPr id="33" name="Shape 30"/>
          <p:cNvSpPr/>
          <p:nvPr/>
        </p:nvSpPr>
        <p:spPr>
          <a:xfrm>
            <a:off x="4297680" y="3794760"/>
            <a:ext cx="3566160" cy="2011680"/>
          </a:xfrm>
          <a:prstGeom prst="roundRect">
            <a:avLst>
              <a:gd name="adj" fmla="val 3636"/>
            </a:avLst>
          </a:prstGeom>
          <a:solidFill>
            <a:srgbClr val="FFFFFF"/>
          </a:solidFill>
          <a:ln w="12700">
            <a:solidFill>
              <a:srgbClr val="D9DEE2"/>
            </a:solidFill>
            <a:prstDash val="solid"/>
          </a:ln>
        </p:spPr>
      </p:sp>
      <p:sp>
        <p:nvSpPr>
          <p:cNvPr id="34" name="Shape 31"/>
          <p:cNvSpPr/>
          <p:nvPr/>
        </p:nvSpPr>
        <p:spPr>
          <a:xfrm>
            <a:off x="4480560" y="3959352"/>
            <a:ext cx="502920" cy="502920"/>
          </a:xfrm>
          <a:prstGeom prst="ellipse">
            <a:avLst/>
          </a:prstGeom>
          <a:solidFill>
            <a:srgbClr val="C98A1A"/>
          </a:solidFill>
          <a:ln/>
        </p:spPr>
      </p:sp>
      <p:sp>
        <p:nvSpPr>
          <p:cNvPr id="35" name="Text 32"/>
          <p:cNvSpPr txBox="1"/>
          <p:nvPr/>
        </p:nvSpPr>
        <p:spPr>
          <a:xfrm>
            <a:off x="4480560" y="39593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36" name="Text 33"/>
          <p:cNvSpPr txBox="1"/>
          <p:nvPr/>
        </p:nvSpPr>
        <p:spPr>
          <a:xfrm>
            <a:off x="5166360" y="3959352"/>
            <a:ext cx="2560320" cy="502920"/>
          </a:xfrm>
          <a:prstGeom prst="rect">
            <a:avLst/>
          </a:prstGeom>
          <a:noFill/>
          <a:ln/>
        </p:spPr>
        <p:txBody>
          <a:bodyPr wrap="square" lIns="0" tIns="0" rIns="0" bIns="0" rtlCol="0" anchor="ctr"/>
          <a:lstStyle/>
          <a:p>
            <a:pPr indent="0" marL="0">
              <a:buNone/>
            </a:pPr>
            <a:r>
              <a:rPr lang="en-US" sz="1800" b="1" dirty="0">
                <a:solidFill>
                  <a:srgbClr val="1F2A33"/>
                </a:solidFill>
                <a:latin typeface="Arial" pitchFamily="34" charset="0"/>
                <a:ea typeface="Arial" pitchFamily="34" charset="-122"/>
                <a:cs typeface="Arial" pitchFamily="34" charset="-120"/>
              </a:rPr>
              <a:t>An approved plan</a:t>
            </a:r>
            <a:endParaRPr lang="en-US" sz="1800" dirty="0"/>
          </a:p>
        </p:txBody>
      </p:sp>
      <p:sp>
        <p:nvSpPr>
          <p:cNvPr id="37" name="Text 34"/>
          <p:cNvSpPr txBox="1"/>
          <p:nvPr/>
        </p:nvSpPr>
        <p:spPr>
          <a:xfrm>
            <a:off x="4526280" y="4572000"/>
            <a:ext cx="3154680" cy="777240"/>
          </a:xfrm>
          <a:prstGeom prst="rect">
            <a:avLst/>
          </a:prstGeom>
          <a:noFill/>
          <a:ln/>
        </p:spPr>
        <p:txBody>
          <a:bodyPr wrap="square" lIns="0" tIns="0" rIns="0" bIns="0" rtlCol="0" anchor="t"/>
          <a:lstStyle/>
          <a:p>
            <a:pPr indent="0" marL="0">
              <a:buNone/>
            </a:pPr>
            <a:r>
              <a:rPr lang="en-US" sz="1350" dirty="0">
                <a:solidFill>
                  <a:srgbClr val="1F2A33"/>
                </a:solidFill>
                <a:latin typeface="Arial" pitchFamily="34" charset="0"/>
                <a:ea typeface="Arial" pitchFamily="34" charset="-122"/>
                <a:cs typeface="Arial" pitchFamily="34" charset="-120"/>
              </a:rPr>
              <a:t>As A, and a named person approves the plan. Signing is not checked.</a:t>
            </a:r>
            <a:endParaRPr lang="en-US" sz="1350" dirty="0"/>
          </a:p>
        </p:txBody>
      </p:sp>
      <p:sp>
        <p:nvSpPr>
          <p:cNvPr id="38" name="Text 35"/>
          <p:cNvSpPr txBox="1"/>
          <p:nvPr/>
        </p:nvSpPr>
        <p:spPr>
          <a:xfrm>
            <a:off x="4526280" y="5349240"/>
            <a:ext cx="3154680" cy="365760"/>
          </a:xfrm>
          <a:prstGeom prst="rect">
            <a:avLst/>
          </a:prstGeom>
          <a:noFill/>
          <a:ln/>
        </p:spPr>
        <p:txBody>
          <a:bodyPr wrap="square" lIns="0" tIns="0" rIns="0" bIns="0" rtlCol="0" anchor="t"/>
          <a:lstStyle/>
          <a:p>
            <a:pPr indent="0" marL="0">
              <a:buNone/>
            </a:pPr>
            <a:r>
              <a:rPr lang="en-US" sz="1200" i="1" dirty="0">
                <a:solidFill>
                  <a:srgbClr val="5A5A5A"/>
                </a:solidFill>
                <a:latin typeface="Arial" pitchFamily="34" charset="0"/>
                <a:ea typeface="Arial" pitchFamily="34" charset="-122"/>
                <a:cs typeface="Arial" pitchFamily="34" charset="-120"/>
              </a:rPr>
              <a:t>Medium change</a:t>
            </a:r>
            <a:endParaRPr lang="en-US" sz="1200" dirty="0"/>
          </a:p>
        </p:txBody>
      </p:sp>
      <p:sp>
        <p:nvSpPr>
          <p:cNvPr id="39" name="Shape 36"/>
          <p:cNvSpPr/>
          <p:nvPr/>
        </p:nvSpPr>
        <p:spPr>
          <a:xfrm>
            <a:off x="8046720" y="3794760"/>
            <a:ext cx="3566160" cy="2011680"/>
          </a:xfrm>
          <a:prstGeom prst="roundRect">
            <a:avLst>
              <a:gd name="adj" fmla="val 3636"/>
            </a:avLst>
          </a:prstGeom>
          <a:solidFill>
            <a:srgbClr val="FFFFFF"/>
          </a:solidFill>
          <a:ln w="12700">
            <a:solidFill>
              <a:srgbClr val="D9DEE2"/>
            </a:solidFill>
            <a:prstDash val="solid"/>
          </a:ln>
        </p:spPr>
      </p:sp>
      <p:sp>
        <p:nvSpPr>
          <p:cNvPr id="40" name="Shape 37"/>
          <p:cNvSpPr/>
          <p:nvPr/>
        </p:nvSpPr>
        <p:spPr>
          <a:xfrm>
            <a:off x="8229600" y="3959352"/>
            <a:ext cx="502920" cy="502920"/>
          </a:xfrm>
          <a:prstGeom prst="ellipse">
            <a:avLst/>
          </a:prstGeom>
          <a:solidFill>
            <a:srgbClr val="36454F"/>
          </a:solidFill>
          <a:ln/>
        </p:spPr>
      </p:sp>
      <p:sp>
        <p:nvSpPr>
          <p:cNvPr id="41" name="Text 38"/>
          <p:cNvSpPr txBox="1"/>
          <p:nvPr/>
        </p:nvSpPr>
        <p:spPr>
          <a:xfrm>
            <a:off x="8229600" y="39593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42" name="Text 39"/>
          <p:cNvSpPr txBox="1"/>
          <p:nvPr/>
        </p:nvSpPr>
        <p:spPr>
          <a:xfrm>
            <a:off x="8915400" y="3959352"/>
            <a:ext cx="2560320" cy="502920"/>
          </a:xfrm>
          <a:prstGeom prst="rect">
            <a:avLst/>
          </a:prstGeom>
          <a:noFill/>
          <a:ln/>
        </p:spPr>
        <p:txBody>
          <a:bodyPr wrap="square" lIns="0" tIns="0" rIns="0" bIns="0" rtlCol="0" anchor="ctr"/>
          <a:lstStyle/>
          <a:p>
            <a:pPr indent="0" marL="0">
              <a:buNone/>
            </a:pPr>
            <a:r>
              <a:rPr lang="en-US" sz="1800" b="1" dirty="0">
                <a:solidFill>
                  <a:srgbClr val="1F2A33"/>
                </a:solidFill>
                <a:latin typeface="Arial" pitchFamily="34" charset="0"/>
                <a:ea typeface="Arial" pitchFamily="34" charset="-122"/>
                <a:cs typeface="Arial" pitchFamily="34" charset="-120"/>
              </a:rPr>
              <a:t>A controlled commitment</a:t>
            </a:r>
            <a:endParaRPr lang="en-US" sz="1800" dirty="0"/>
          </a:p>
        </p:txBody>
      </p:sp>
      <p:sp>
        <p:nvSpPr>
          <p:cNvPr id="43" name="Text 40"/>
          <p:cNvSpPr txBox="1"/>
          <p:nvPr/>
        </p:nvSpPr>
        <p:spPr>
          <a:xfrm>
            <a:off x="8275320" y="4572000"/>
            <a:ext cx="3154680" cy="777240"/>
          </a:xfrm>
          <a:prstGeom prst="rect">
            <a:avLst/>
          </a:prstGeom>
          <a:noFill/>
          <a:ln/>
        </p:spPr>
        <p:txBody>
          <a:bodyPr wrap="square" lIns="0" tIns="0" rIns="0" bIns="0" rtlCol="0" anchor="t"/>
          <a:lstStyle/>
          <a:p>
            <a:pPr indent="0" marL="0">
              <a:buNone/>
            </a:pPr>
            <a:r>
              <a:rPr lang="en-US" sz="1350" dirty="0">
                <a:solidFill>
                  <a:srgbClr val="1F2A33"/>
                </a:solidFill>
                <a:latin typeface="Arial" pitchFamily="34" charset="0"/>
                <a:ea typeface="Arial" pitchFamily="34" charset="-122"/>
                <a:cs typeface="Arial" pitchFamily="34" charset="-120"/>
              </a:rPr>
              <a:t>As B, and the deal cannot be signed until the plan is approved.</a:t>
            </a:r>
            <a:endParaRPr lang="en-US" sz="1350" dirty="0"/>
          </a:p>
        </p:txBody>
      </p:sp>
      <p:sp>
        <p:nvSpPr>
          <p:cNvPr id="44" name="Text 41"/>
          <p:cNvSpPr txBox="1"/>
          <p:nvPr/>
        </p:nvSpPr>
        <p:spPr>
          <a:xfrm>
            <a:off x="8275320" y="5349240"/>
            <a:ext cx="3154680" cy="365760"/>
          </a:xfrm>
          <a:prstGeom prst="rect">
            <a:avLst/>
          </a:prstGeom>
          <a:noFill/>
          <a:ln/>
        </p:spPr>
        <p:txBody>
          <a:bodyPr wrap="square" lIns="0" tIns="0" rIns="0" bIns="0" rtlCol="0" anchor="t"/>
          <a:lstStyle/>
          <a:p>
            <a:pPr indent="0" marL="0">
              <a:buNone/>
            </a:pPr>
            <a:r>
              <a:rPr lang="en-US" sz="1200" i="1" dirty="0">
                <a:solidFill>
                  <a:srgbClr val="5A5A5A"/>
                </a:solidFill>
                <a:latin typeface="Arial" pitchFamily="34" charset="0"/>
                <a:ea typeface="Arial" pitchFamily="34" charset="-122"/>
                <a:cs typeface="Arial" pitchFamily="34" charset="-120"/>
              </a:rPr>
              <a:t>Biggest change</a:t>
            </a:r>
            <a:endParaRPr lang="en-US" sz="1200" dirty="0"/>
          </a:p>
        </p:txBody>
      </p:sp>
      <p:sp>
        <p:nvSpPr>
          <p:cNvPr id="45" name="Text 42"/>
          <p:cNvSpPr txBox="1"/>
          <p:nvPr/>
        </p:nvSpPr>
        <p:spPr>
          <a:xfrm>
            <a:off x="548640" y="5897880"/>
            <a:ext cx="11091672" cy="411480"/>
          </a:xfrm>
          <a:prstGeom prst="rect">
            <a:avLst/>
          </a:prstGeom>
          <a:noFill/>
          <a:ln/>
        </p:spPr>
        <p:txBody>
          <a:bodyPr wrap="square" lIns="0" tIns="0" rIns="0" bIns="0" rtlCol="0" anchor="t"/>
          <a:lstStyle/>
          <a:p>
            <a:pPr indent="0" marL="0">
              <a:buNone/>
            </a:pPr>
            <a:r>
              <a:rPr lang="en-US" sz="1300" i="1" dirty="0">
                <a:solidFill>
                  <a:srgbClr val="1F2A33"/>
                </a:solidFill>
                <a:latin typeface="Arial" pitchFamily="34" charset="0"/>
                <a:ea typeface="Arial" pitchFamily="34" charset="-122"/>
                <a:cs typeface="Arial" pitchFamily="34" charset="-120"/>
              </a:rPr>
              <a:t>Tomorrow's working version is built to C, so you can see every part. If the room picks A or B, we leave the extra parts out.</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AGREE THE TARGET OUTCOME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Done checks: how a record proves the case is finished</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11:00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59</a:t>
            </a:r>
            <a:endParaRPr lang="en-US" sz="1000" dirty="0"/>
          </a:p>
        </p:txBody>
      </p:sp>
      <p:sp>
        <p:nvSpPr>
          <p:cNvPr id="7" name="Shape 4"/>
          <p:cNvSpPr/>
          <p:nvPr/>
        </p:nvSpPr>
        <p:spPr>
          <a:xfrm>
            <a:off x="548640" y="1508760"/>
            <a:ext cx="2651760" cy="4206240"/>
          </a:xfrm>
          <a:prstGeom prst="roundRect">
            <a:avLst>
              <a:gd name="adj" fmla="val 2759"/>
            </a:avLst>
          </a:prstGeom>
          <a:solidFill>
            <a:srgbClr val="FFFFFF"/>
          </a:solidFill>
          <a:ln w="12700">
            <a:solidFill>
              <a:srgbClr val="D9DEE2"/>
            </a:solidFill>
            <a:prstDash val="solid"/>
          </a:ln>
        </p:spPr>
      </p:sp>
      <p:sp>
        <p:nvSpPr>
          <p:cNvPr id="8" name="Shape 5"/>
          <p:cNvSpPr/>
          <p:nvPr/>
        </p:nvSpPr>
        <p:spPr>
          <a:xfrm>
            <a:off x="731520" y="1691640"/>
            <a:ext cx="777240" cy="777240"/>
          </a:xfrm>
          <a:prstGeom prst="ellipse">
            <a:avLst/>
          </a:prstGeom>
          <a:solidFill>
            <a:srgbClr val="287079"/>
          </a:solidFill>
          <a:ln/>
        </p:spPr>
      </p:sp>
      <p:pic>
        <p:nvPicPr>
          <p:cNvPr id="9" name="Image 1" descr="/private/tmp/claude-501/-Users-salehhamed-Outcome-Engine/91861432-41e2-4884-bc97-63c6dff2d021/scratchpad/wk/icons/TbClipboardList-white.png">    </p:cNvPr>
          <p:cNvPicPr>
            <a:picLocks noChangeAspect="1"/>
          </p:cNvPicPr>
          <p:nvPr/>
        </p:nvPicPr>
        <p:blipFill>
          <a:blip r:embed="rId4"/>
          <a:stretch>
            <a:fillRect/>
          </a:stretch>
        </p:blipFill>
        <p:spPr>
          <a:xfrm>
            <a:off x="886968" y="1847088"/>
            <a:ext cx="466344" cy="466344"/>
          </a:xfrm>
          <a:prstGeom prst="rect">
            <a:avLst/>
          </a:prstGeom>
        </p:spPr>
      </p:pic>
      <p:sp>
        <p:nvSpPr>
          <p:cNvPr id="10" name="Shape 6"/>
          <p:cNvSpPr/>
          <p:nvPr/>
        </p:nvSpPr>
        <p:spPr>
          <a:xfrm>
            <a:off x="2011680" y="1892808"/>
            <a:ext cx="1005840" cy="365760"/>
          </a:xfrm>
          <a:prstGeom prst="roundRect">
            <a:avLst>
              <a:gd name="adj" fmla="val 50000"/>
            </a:avLst>
          </a:prstGeom>
          <a:solidFill>
            <a:srgbClr val="F2F4F5"/>
          </a:solidFill>
          <a:ln/>
        </p:spPr>
      </p:sp>
      <p:sp>
        <p:nvSpPr>
          <p:cNvPr id="11" name="Text 7"/>
          <p:cNvSpPr txBox="1"/>
          <p:nvPr/>
        </p:nvSpPr>
        <p:spPr>
          <a:xfrm>
            <a:off x="2011680" y="1892808"/>
            <a:ext cx="1005840" cy="365760"/>
          </a:xfrm>
          <a:prstGeom prst="rect">
            <a:avLst/>
          </a:prstGeom>
          <a:noFill/>
          <a:ln/>
        </p:spPr>
        <p:txBody>
          <a:bodyPr wrap="square" lIns="0" tIns="0" rIns="0" bIns="0" rtlCol="0" anchor="ctr"/>
          <a:lstStyle/>
          <a:p>
            <a:pPr algn="ctr" indent="0" marL="0">
              <a:buNone/>
            </a:pPr>
            <a:r>
              <a:rPr lang="en-US" sz="1200" b="1" dirty="0">
                <a:solidFill>
                  <a:srgbClr val="1F2A33"/>
                </a:solidFill>
                <a:latin typeface="Arial" pitchFamily="34" charset="0"/>
                <a:ea typeface="Arial" pitchFamily="34" charset="-122"/>
                <a:cs typeface="Arial" pitchFamily="34" charset="-120"/>
              </a:rPr>
              <a:t>4 checks</a:t>
            </a:r>
            <a:endParaRPr lang="en-US" sz="1200" dirty="0"/>
          </a:p>
        </p:txBody>
      </p:sp>
      <p:sp>
        <p:nvSpPr>
          <p:cNvPr id="12" name="Text 8"/>
          <p:cNvSpPr txBox="1"/>
          <p:nvPr/>
        </p:nvSpPr>
        <p:spPr>
          <a:xfrm>
            <a:off x="731520" y="2651760"/>
            <a:ext cx="2286000" cy="502920"/>
          </a:xfrm>
          <a:prstGeom prst="rect">
            <a:avLst/>
          </a:prstGeom>
          <a:noFill/>
          <a:ln/>
        </p:spPr>
        <p:txBody>
          <a:bodyPr wrap="square" lIns="0" tIns="0" rIns="0" bIns="0" rtlCol="0" anchor="t"/>
          <a:lstStyle/>
          <a:p>
            <a:pPr indent="0" marL="0">
              <a:buNone/>
            </a:pPr>
            <a:r>
              <a:rPr lang="en-US" sz="2000" b="1" dirty="0">
                <a:solidFill>
                  <a:srgbClr val="287079"/>
                </a:solidFill>
                <a:latin typeface="Arial" pitchFamily="34" charset="0"/>
                <a:ea typeface="Arial" pitchFamily="34" charset="-122"/>
                <a:cs typeface="Arial" pitchFamily="34" charset="-120"/>
              </a:rPr>
              <a:t>The plan</a:t>
            </a:r>
            <a:endParaRPr lang="en-US" sz="2000" dirty="0"/>
          </a:p>
        </p:txBody>
      </p:sp>
      <p:sp>
        <p:nvSpPr>
          <p:cNvPr id="13" name="Text 9"/>
          <p:cNvSpPr txBox="1"/>
          <p:nvPr/>
        </p:nvSpPr>
        <p:spPr>
          <a:xfrm>
            <a:off x="731520" y="3200400"/>
            <a:ext cx="2331720" cy="2377440"/>
          </a:xfrm>
          <a:prstGeom prst="rect">
            <a:avLst/>
          </a:prstGeom>
          <a:noFill/>
          <a:ln/>
        </p:spPr>
        <p:txBody>
          <a:bodyPr wrap="square" lIns="0" tIns="0" rIns="0" bIns="0" rtlCol="0" anchor="t"/>
          <a:lstStyle/>
          <a:p>
            <a:pPr indent="0" marL="0">
              <a:buNone/>
            </a:pPr>
            <a:r>
              <a:rPr lang="en-US" sz="1500" dirty="0">
                <a:solidFill>
                  <a:srgbClr val="1F2A33"/>
                </a:solidFill>
                <a:latin typeface="Arial" pitchFamily="34" charset="0"/>
                <a:ea typeface="Arial" pitchFamily="34" charset="-122"/>
                <a:cs typeface="Arial" pitchFamily="34" charset="-120"/>
              </a:rPr>
              <a:t>Every role traced to the contract and fully described; unclear scope becomes a question with a deadline.</a:t>
            </a:r>
            <a:endParaRPr lang="en-US" sz="1500" dirty="0"/>
          </a:p>
        </p:txBody>
      </p:sp>
      <p:sp>
        <p:nvSpPr>
          <p:cNvPr id="14" name="Shape 10"/>
          <p:cNvSpPr/>
          <p:nvPr/>
        </p:nvSpPr>
        <p:spPr>
          <a:xfrm>
            <a:off x="3364992" y="1508760"/>
            <a:ext cx="2651760" cy="4206240"/>
          </a:xfrm>
          <a:prstGeom prst="roundRect">
            <a:avLst>
              <a:gd name="adj" fmla="val 2759"/>
            </a:avLst>
          </a:prstGeom>
          <a:solidFill>
            <a:srgbClr val="FFFFFF"/>
          </a:solidFill>
          <a:ln w="12700">
            <a:solidFill>
              <a:srgbClr val="D9DEE2"/>
            </a:solidFill>
            <a:prstDash val="solid"/>
          </a:ln>
        </p:spPr>
      </p:sp>
      <p:sp>
        <p:nvSpPr>
          <p:cNvPr id="15" name="Shape 11"/>
          <p:cNvSpPr/>
          <p:nvPr/>
        </p:nvSpPr>
        <p:spPr>
          <a:xfrm>
            <a:off x="3547872" y="1691640"/>
            <a:ext cx="777240" cy="777240"/>
          </a:xfrm>
          <a:prstGeom prst="ellipse">
            <a:avLst/>
          </a:prstGeom>
          <a:solidFill>
            <a:srgbClr val="287079"/>
          </a:solidFill>
          <a:ln/>
        </p:spPr>
      </p:sp>
      <p:pic>
        <p:nvPicPr>
          <p:cNvPr id="16" name="Image 2" descr="/private/tmp/claude-501/-Users-salehhamed-Outcome-Engine/91861432-41e2-4884-bc97-63c6dff2d021/scratchpad/wk/icons/TbUserCheck-white.png">    </p:cNvPr>
          <p:cNvPicPr>
            <a:picLocks noChangeAspect="1"/>
          </p:cNvPicPr>
          <p:nvPr/>
        </p:nvPicPr>
        <p:blipFill>
          <a:blip r:embed="rId5"/>
          <a:stretch>
            <a:fillRect/>
          </a:stretch>
        </p:blipFill>
        <p:spPr>
          <a:xfrm>
            <a:off x="3703320" y="1847088"/>
            <a:ext cx="466344" cy="466344"/>
          </a:xfrm>
          <a:prstGeom prst="rect">
            <a:avLst/>
          </a:prstGeom>
        </p:spPr>
      </p:pic>
      <p:sp>
        <p:nvSpPr>
          <p:cNvPr id="17" name="Shape 12"/>
          <p:cNvSpPr/>
          <p:nvPr/>
        </p:nvSpPr>
        <p:spPr>
          <a:xfrm>
            <a:off x="4828032" y="1892808"/>
            <a:ext cx="1005840" cy="365760"/>
          </a:xfrm>
          <a:prstGeom prst="roundRect">
            <a:avLst>
              <a:gd name="adj" fmla="val 50000"/>
            </a:avLst>
          </a:prstGeom>
          <a:solidFill>
            <a:srgbClr val="F2F4F5"/>
          </a:solidFill>
          <a:ln/>
        </p:spPr>
      </p:sp>
      <p:sp>
        <p:nvSpPr>
          <p:cNvPr id="18" name="Text 13"/>
          <p:cNvSpPr txBox="1"/>
          <p:nvPr/>
        </p:nvSpPr>
        <p:spPr>
          <a:xfrm>
            <a:off x="4828032" y="1892808"/>
            <a:ext cx="1005840" cy="365760"/>
          </a:xfrm>
          <a:prstGeom prst="rect">
            <a:avLst/>
          </a:prstGeom>
          <a:noFill/>
          <a:ln/>
        </p:spPr>
        <p:txBody>
          <a:bodyPr wrap="square" lIns="0" tIns="0" rIns="0" bIns="0" rtlCol="0" anchor="ctr"/>
          <a:lstStyle/>
          <a:p>
            <a:pPr algn="ctr" indent="0" marL="0">
              <a:buNone/>
            </a:pPr>
            <a:r>
              <a:rPr lang="en-US" sz="1200" b="1" dirty="0">
                <a:solidFill>
                  <a:srgbClr val="1F2A33"/>
                </a:solidFill>
                <a:latin typeface="Arial" pitchFamily="34" charset="0"/>
                <a:ea typeface="Arial" pitchFamily="34" charset="-122"/>
                <a:cs typeface="Arial" pitchFamily="34" charset="-120"/>
              </a:rPr>
              <a:t>4 checks</a:t>
            </a:r>
            <a:endParaRPr lang="en-US" sz="1200" dirty="0"/>
          </a:p>
        </p:txBody>
      </p:sp>
      <p:sp>
        <p:nvSpPr>
          <p:cNvPr id="19" name="Text 14"/>
          <p:cNvSpPr txBox="1"/>
          <p:nvPr/>
        </p:nvSpPr>
        <p:spPr>
          <a:xfrm>
            <a:off x="3547872" y="2651760"/>
            <a:ext cx="2286000" cy="502920"/>
          </a:xfrm>
          <a:prstGeom prst="rect">
            <a:avLst/>
          </a:prstGeom>
          <a:noFill/>
          <a:ln/>
        </p:spPr>
        <p:txBody>
          <a:bodyPr wrap="square" lIns="0" tIns="0" rIns="0" bIns="0" rtlCol="0" anchor="t"/>
          <a:lstStyle/>
          <a:p>
            <a:pPr indent="0" marL="0">
              <a:buNone/>
            </a:pPr>
            <a:r>
              <a:rPr lang="en-US" sz="2000" b="1" dirty="0">
                <a:solidFill>
                  <a:srgbClr val="287079"/>
                </a:solidFill>
                <a:latin typeface="Arial" pitchFamily="34" charset="0"/>
                <a:ea typeface="Arial" pitchFamily="34" charset="-122"/>
                <a:cs typeface="Arial" pitchFamily="34" charset="-120"/>
              </a:rPr>
              <a:t>Who is free</a:t>
            </a:r>
            <a:endParaRPr lang="en-US" sz="2000" dirty="0"/>
          </a:p>
        </p:txBody>
      </p:sp>
      <p:sp>
        <p:nvSpPr>
          <p:cNvPr id="20" name="Text 15"/>
          <p:cNvSpPr txBox="1"/>
          <p:nvPr/>
        </p:nvSpPr>
        <p:spPr>
          <a:xfrm>
            <a:off x="3547872" y="3200400"/>
            <a:ext cx="2331720" cy="2377440"/>
          </a:xfrm>
          <a:prstGeom prst="rect">
            <a:avLst/>
          </a:prstGeom>
          <a:noFill/>
          <a:ln/>
        </p:spPr>
        <p:txBody>
          <a:bodyPr wrap="square" lIns="0" tIns="0" rIns="0" bIns="0" rtlCol="0" anchor="t"/>
          <a:lstStyle/>
          <a:p>
            <a:pPr indent="0" marL="0">
              <a:buNone/>
            </a:pPr>
            <a:r>
              <a:rPr lang="en-US" sz="1500" dirty="0">
                <a:solidFill>
                  <a:srgbClr val="1F2A33"/>
                </a:solidFill>
                <a:latin typeface="Arial" pitchFamily="34" charset="0"/>
                <a:ea typeface="Arial" pitchFamily="34" charset="-122"/>
                <a:cs typeface="Arial" pitchFamily="34" charset="-120"/>
              </a:rPr>
              <a:t>Who is free is confirmed, dated and ends after a set time; releases are answered; clashes go to a person.</a:t>
            </a:r>
            <a:endParaRPr lang="en-US" sz="1500" dirty="0"/>
          </a:p>
        </p:txBody>
      </p:sp>
      <p:sp>
        <p:nvSpPr>
          <p:cNvPr id="21" name="Shape 16"/>
          <p:cNvSpPr/>
          <p:nvPr/>
        </p:nvSpPr>
        <p:spPr>
          <a:xfrm>
            <a:off x="6181344" y="1508760"/>
            <a:ext cx="2651760" cy="4206240"/>
          </a:xfrm>
          <a:prstGeom prst="roundRect">
            <a:avLst>
              <a:gd name="adj" fmla="val 2759"/>
            </a:avLst>
          </a:prstGeom>
          <a:solidFill>
            <a:srgbClr val="FFFFFF"/>
          </a:solidFill>
          <a:ln w="12700">
            <a:solidFill>
              <a:srgbClr val="D9DEE2"/>
            </a:solidFill>
            <a:prstDash val="solid"/>
          </a:ln>
        </p:spPr>
      </p:sp>
      <p:sp>
        <p:nvSpPr>
          <p:cNvPr id="22" name="Shape 17"/>
          <p:cNvSpPr/>
          <p:nvPr/>
        </p:nvSpPr>
        <p:spPr>
          <a:xfrm>
            <a:off x="6364224" y="1691640"/>
            <a:ext cx="777240" cy="777240"/>
          </a:xfrm>
          <a:prstGeom prst="ellipse">
            <a:avLst/>
          </a:prstGeom>
          <a:solidFill>
            <a:srgbClr val="287079"/>
          </a:solidFill>
          <a:ln/>
        </p:spPr>
      </p:sp>
      <p:pic>
        <p:nvPicPr>
          <p:cNvPr id="23" name="Image 3" descr="/private/tmp/claude-501/-Users-salehhamed-Outcome-Engine/91861432-41e2-4884-bc97-63c6dff2d021/scratchpad/wk/icons/TbUserQuestion-white.png">    </p:cNvPr>
          <p:cNvPicPr>
            <a:picLocks noChangeAspect="1"/>
          </p:cNvPicPr>
          <p:nvPr/>
        </p:nvPicPr>
        <p:blipFill>
          <a:blip r:embed="rId6"/>
          <a:stretch>
            <a:fillRect/>
          </a:stretch>
        </p:blipFill>
        <p:spPr>
          <a:xfrm>
            <a:off x="6519672" y="1847088"/>
            <a:ext cx="466344" cy="466344"/>
          </a:xfrm>
          <a:prstGeom prst="rect">
            <a:avLst/>
          </a:prstGeom>
        </p:spPr>
      </p:pic>
      <p:sp>
        <p:nvSpPr>
          <p:cNvPr id="24" name="Shape 18"/>
          <p:cNvSpPr/>
          <p:nvPr/>
        </p:nvSpPr>
        <p:spPr>
          <a:xfrm>
            <a:off x="7644384" y="1892808"/>
            <a:ext cx="1005840" cy="365760"/>
          </a:xfrm>
          <a:prstGeom prst="roundRect">
            <a:avLst>
              <a:gd name="adj" fmla="val 50000"/>
            </a:avLst>
          </a:prstGeom>
          <a:solidFill>
            <a:srgbClr val="F2F4F5"/>
          </a:solidFill>
          <a:ln/>
        </p:spPr>
      </p:sp>
      <p:sp>
        <p:nvSpPr>
          <p:cNvPr id="25" name="Text 19"/>
          <p:cNvSpPr txBox="1"/>
          <p:nvPr/>
        </p:nvSpPr>
        <p:spPr>
          <a:xfrm>
            <a:off x="7644384" y="1892808"/>
            <a:ext cx="1005840" cy="365760"/>
          </a:xfrm>
          <a:prstGeom prst="rect">
            <a:avLst/>
          </a:prstGeom>
          <a:noFill/>
          <a:ln/>
        </p:spPr>
        <p:txBody>
          <a:bodyPr wrap="square" lIns="0" tIns="0" rIns="0" bIns="0" rtlCol="0" anchor="ctr"/>
          <a:lstStyle/>
          <a:p>
            <a:pPr algn="ctr" indent="0" marL="0">
              <a:buNone/>
            </a:pPr>
            <a:r>
              <a:rPr lang="en-US" sz="1200" b="1" dirty="0">
                <a:solidFill>
                  <a:srgbClr val="1F2A33"/>
                </a:solidFill>
                <a:latin typeface="Arial" pitchFamily="34" charset="0"/>
                <a:ea typeface="Arial" pitchFamily="34" charset="-122"/>
                <a:cs typeface="Arial" pitchFamily="34" charset="-120"/>
              </a:rPr>
              <a:t>3 checks</a:t>
            </a:r>
            <a:endParaRPr lang="en-US" sz="1200" dirty="0"/>
          </a:p>
        </p:txBody>
      </p:sp>
      <p:sp>
        <p:nvSpPr>
          <p:cNvPr id="26" name="Text 20"/>
          <p:cNvSpPr txBox="1"/>
          <p:nvPr/>
        </p:nvSpPr>
        <p:spPr>
          <a:xfrm>
            <a:off x="6364224" y="2651760"/>
            <a:ext cx="2286000" cy="502920"/>
          </a:xfrm>
          <a:prstGeom prst="rect">
            <a:avLst/>
          </a:prstGeom>
          <a:noFill/>
          <a:ln/>
        </p:spPr>
        <p:txBody>
          <a:bodyPr wrap="square" lIns="0" tIns="0" rIns="0" bIns="0" rtlCol="0" anchor="t"/>
          <a:lstStyle/>
          <a:p>
            <a:pPr indent="0" marL="0">
              <a:buNone/>
            </a:pPr>
            <a:r>
              <a:rPr lang="en-US" sz="2000" b="1" dirty="0">
                <a:solidFill>
                  <a:srgbClr val="287079"/>
                </a:solidFill>
                <a:latin typeface="Arial" pitchFamily="34" charset="0"/>
                <a:ea typeface="Arial" pitchFamily="34" charset="-122"/>
                <a:cs typeface="Arial" pitchFamily="34" charset="-120"/>
              </a:rPr>
              <a:t>Gaps</a:t>
            </a:r>
            <a:endParaRPr lang="en-US" sz="2000" dirty="0"/>
          </a:p>
        </p:txBody>
      </p:sp>
      <p:sp>
        <p:nvSpPr>
          <p:cNvPr id="27" name="Text 21"/>
          <p:cNvSpPr txBox="1"/>
          <p:nvPr/>
        </p:nvSpPr>
        <p:spPr>
          <a:xfrm>
            <a:off x="6364224" y="3200400"/>
            <a:ext cx="2331720" cy="2377440"/>
          </a:xfrm>
          <a:prstGeom prst="rect">
            <a:avLst/>
          </a:prstGeom>
          <a:noFill/>
          <a:ln/>
        </p:spPr>
        <p:txBody>
          <a:bodyPr wrap="square" lIns="0" tIns="0" rIns="0" bIns="0" rtlCol="0" anchor="t"/>
          <a:lstStyle/>
          <a:p>
            <a:pPr indent="0" marL="0">
              <a:buNone/>
            </a:pPr>
            <a:r>
              <a:rPr lang="en-US" sz="1500" dirty="0">
                <a:solidFill>
                  <a:srgbClr val="1F2A33"/>
                </a:solidFill>
                <a:latin typeface="Arial" pitchFamily="34" charset="0"/>
                <a:ea typeface="Arial" pitchFamily="34" charset="-122"/>
                <a:cs typeface="Arial" pitchFamily="34" charset="-120"/>
              </a:rPr>
              <a:t>Every search is recorded, and every gap carries its evidence, a named owner and a path.</a:t>
            </a:r>
            <a:endParaRPr lang="en-US" sz="1500" dirty="0"/>
          </a:p>
        </p:txBody>
      </p:sp>
      <p:sp>
        <p:nvSpPr>
          <p:cNvPr id="28" name="Shape 22"/>
          <p:cNvSpPr/>
          <p:nvPr/>
        </p:nvSpPr>
        <p:spPr>
          <a:xfrm>
            <a:off x="8997696" y="1508760"/>
            <a:ext cx="2651760" cy="4206240"/>
          </a:xfrm>
          <a:prstGeom prst="roundRect">
            <a:avLst>
              <a:gd name="adj" fmla="val 2759"/>
            </a:avLst>
          </a:prstGeom>
          <a:solidFill>
            <a:srgbClr val="FFFFFF"/>
          </a:solidFill>
          <a:ln w="12700">
            <a:solidFill>
              <a:srgbClr val="D9DEE2"/>
            </a:solidFill>
            <a:prstDash val="solid"/>
          </a:ln>
        </p:spPr>
      </p:sp>
      <p:sp>
        <p:nvSpPr>
          <p:cNvPr id="29" name="Shape 23"/>
          <p:cNvSpPr/>
          <p:nvPr/>
        </p:nvSpPr>
        <p:spPr>
          <a:xfrm>
            <a:off x="9180576" y="1691640"/>
            <a:ext cx="777240" cy="777240"/>
          </a:xfrm>
          <a:prstGeom prst="ellipse">
            <a:avLst/>
          </a:prstGeom>
          <a:solidFill>
            <a:srgbClr val="FF462D"/>
          </a:solidFill>
          <a:ln/>
        </p:spPr>
      </p:sp>
      <p:pic>
        <p:nvPicPr>
          <p:cNvPr id="30" name="Image 4" descr="/private/tmp/claude-501/-Users-salehhamed-Outcome-Engine/91861432-41e2-4884-bc97-63c6dff2d021/scratchpad/wk/icons/TbSignature-white.png">    </p:cNvPr>
          <p:cNvPicPr>
            <a:picLocks noChangeAspect="1"/>
          </p:cNvPicPr>
          <p:nvPr/>
        </p:nvPicPr>
        <p:blipFill>
          <a:blip r:embed="rId7"/>
          <a:stretch>
            <a:fillRect/>
          </a:stretch>
        </p:blipFill>
        <p:spPr>
          <a:xfrm>
            <a:off x="9336024" y="1847088"/>
            <a:ext cx="466344" cy="466344"/>
          </a:xfrm>
          <a:prstGeom prst="rect">
            <a:avLst/>
          </a:prstGeom>
        </p:spPr>
      </p:pic>
      <p:sp>
        <p:nvSpPr>
          <p:cNvPr id="31" name="Shape 24"/>
          <p:cNvSpPr/>
          <p:nvPr/>
        </p:nvSpPr>
        <p:spPr>
          <a:xfrm>
            <a:off x="10460736" y="1892808"/>
            <a:ext cx="1005840" cy="365760"/>
          </a:xfrm>
          <a:prstGeom prst="roundRect">
            <a:avLst>
              <a:gd name="adj" fmla="val 50000"/>
            </a:avLst>
          </a:prstGeom>
          <a:solidFill>
            <a:srgbClr val="F2F4F5"/>
          </a:solidFill>
          <a:ln/>
        </p:spPr>
      </p:sp>
      <p:sp>
        <p:nvSpPr>
          <p:cNvPr id="32" name="Text 25"/>
          <p:cNvSpPr txBox="1"/>
          <p:nvPr/>
        </p:nvSpPr>
        <p:spPr>
          <a:xfrm>
            <a:off x="10460736" y="1892808"/>
            <a:ext cx="1005840" cy="365760"/>
          </a:xfrm>
          <a:prstGeom prst="rect">
            <a:avLst/>
          </a:prstGeom>
          <a:noFill/>
          <a:ln/>
        </p:spPr>
        <p:txBody>
          <a:bodyPr wrap="square" lIns="0" tIns="0" rIns="0" bIns="0" rtlCol="0" anchor="ctr"/>
          <a:lstStyle/>
          <a:p>
            <a:pPr algn="ctr" indent="0" marL="0">
              <a:buNone/>
            </a:pPr>
            <a:r>
              <a:rPr lang="en-US" sz="1200" b="1" dirty="0">
                <a:solidFill>
                  <a:srgbClr val="1F2A33"/>
                </a:solidFill>
                <a:latin typeface="Arial" pitchFamily="34" charset="0"/>
                <a:ea typeface="Arial" pitchFamily="34" charset="-122"/>
                <a:cs typeface="Arial" pitchFamily="34" charset="-120"/>
              </a:rPr>
              <a:t>1 check</a:t>
            </a:r>
            <a:endParaRPr lang="en-US" sz="1200" dirty="0"/>
          </a:p>
        </p:txBody>
      </p:sp>
      <p:sp>
        <p:nvSpPr>
          <p:cNvPr id="33" name="Text 26"/>
          <p:cNvSpPr txBox="1"/>
          <p:nvPr/>
        </p:nvSpPr>
        <p:spPr>
          <a:xfrm>
            <a:off x="9180576" y="2651760"/>
            <a:ext cx="2286000" cy="502920"/>
          </a:xfrm>
          <a:prstGeom prst="rect">
            <a:avLst/>
          </a:prstGeom>
          <a:noFill/>
          <a:ln/>
        </p:spPr>
        <p:txBody>
          <a:bodyPr wrap="square" lIns="0" tIns="0" rIns="0" bIns="0" rtlCol="0" anchor="t"/>
          <a:lstStyle/>
          <a:p>
            <a:pPr indent="0" marL="0">
              <a:buNone/>
            </a:pPr>
            <a:r>
              <a:rPr lang="en-US" sz="2000" b="1" dirty="0">
                <a:solidFill>
                  <a:srgbClr val="FF462D"/>
                </a:solidFill>
                <a:latin typeface="Arial" pitchFamily="34" charset="0"/>
                <a:ea typeface="Arial" pitchFamily="34" charset="-122"/>
                <a:cs typeface="Arial" pitchFamily="34" charset="-120"/>
              </a:rPr>
              <a:t>Signing</a:t>
            </a:r>
            <a:endParaRPr lang="en-US" sz="2000" dirty="0"/>
          </a:p>
        </p:txBody>
      </p:sp>
      <p:sp>
        <p:nvSpPr>
          <p:cNvPr id="34" name="Text 27"/>
          <p:cNvSpPr txBox="1"/>
          <p:nvPr/>
        </p:nvSpPr>
        <p:spPr>
          <a:xfrm>
            <a:off x="9180576" y="3200400"/>
            <a:ext cx="2331720" cy="2377440"/>
          </a:xfrm>
          <a:prstGeom prst="rect">
            <a:avLst/>
          </a:prstGeom>
          <a:noFill/>
          <a:ln/>
        </p:spPr>
        <p:txBody>
          <a:bodyPr wrap="square" lIns="0" tIns="0" rIns="0" bIns="0" rtlCol="0" anchor="t"/>
          <a:lstStyle/>
          <a:p>
            <a:pPr indent="0" marL="0">
              <a:buNone/>
            </a:pPr>
            <a:r>
              <a:rPr lang="en-US" sz="1500" dirty="0">
                <a:solidFill>
                  <a:srgbClr val="1F2A33"/>
                </a:solidFill>
                <a:latin typeface="Arial" pitchFamily="34" charset="0"/>
                <a:ea typeface="Arial" pitchFamily="34" charset="-122"/>
                <a:cs typeface="Arial" pitchFamily="34" charset="-120"/>
              </a:rPr>
              <a:t>No deal is signed without an approved plan.</a:t>
            </a:r>
            <a:endParaRPr lang="en-US" sz="1500" dirty="0"/>
          </a:p>
        </p:txBody>
      </p:sp>
      <p:sp>
        <p:nvSpPr>
          <p:cNvPr id="35" name="Text 28"/>
          <p:cNvSpPr txBox="1"/>
          <p:nvPr/>
        </p:nvSpPr>
        <p:spPr>
          <a:xfrm>
            <a:off x="548640" y="5897880"/>
            <a:ext cx="10972800" cy="365760"/>
          </a:xfrm>
          <a:prstGeom prst="rect">
            <a:avLst/>
          </a:prstGeom>
          <a:noFill/>
          <a:ln/>
        </p:spPr>
        <p:txBody>
          <a:bodyPr wrap="square" lIns="0" tIns="0" rIns="0" bIns="0" rtlCol="0" anchor="t"/>
          <a:lstStyle/>
          <a:p>
            <a:pPr indent="0" marL="0">
              <a:buNone/>
            </a:pPr>
            <a:r>
              <a:rPr lang="en-US" sz="1400" i="1" dirty="0">
                <a:solidFill>
                  <a:srgbClr val="5A5A5A"/>
                </a:solidFill>
                <a:latin typeface="Arial" pitchFamily="34" charset="0"/>
                <a:ea typeface="Arial" pitchFamily="34" charset="-122"/>
                <a:cs typeface="Arial" pitchFamily="34" charset="-120"/>
              </a:rPr>
              <a:t>Twelve checks in four groups, each read from a record we trust. All twelve are on the cards and on your phone.</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AGREE THE TARGET OUTCOME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What a gap must carry before anyone calls it a gap</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11:00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60</a:t>
            </a:r>
            <a:endParaRPr lang="en-US" sz="1000" dirty="0"/>
          </a:p>
        </p:txBody>
      </p:sp>
      <p:sp>
        <p:nvSpPr>
          <p:cNvPr id="7" name="Shape 4"/>
          <p:cNvSpPr/>
          <p:nvPr/>
        </p:nvSpPr>
        <p:spPr>
          <a:xfrm>
            <a:off x="5120640" y="2651760"/>
            <a:ext cx="1920240" cy="1920240"/>
          </a:xfrm>
          <a:prstGeom prst="ellipse">
            <a:avLst/>
          </a:prstGeom>
          <a:solidFill>
            <a:srgbClr val="FF462D"/>
          </a:solidFill>
          <a:ln/>
        </p:spPr>
      </p:sp>
      <p:pic>
        <p:nvPicPr>
          <p:cNvPr id="8" name="Image 1" descr="/private/tmp/claude-501/-Users-salehhamed-Outcome-Engine/91861432-41e2-4884-bc97-63c6dff2d021/scratchpad/wk/icons/TbFolder-white.png">    </p:cNvPr>
          <p:cNvPicPr>
            <a:picLocks noChangeAspect="1"/>
          </p:cNvPicPr>
          <p:nvPr/>
        </p:nvPicPr>
        <p:blipFill>
          <a:blip r:embed="rId4"/>
          <a:stretch>
            <a:fillRect/>
          </a:stretch>
        </p:blipFill>
        <p:spPr>
          <a:xfrm>
            <a:off x="5504688" y="3035808"/>
            <a:ext cx="1152144" cy="1152144"/>
          </a:xfrm>
          <a:prstGeom prst="rect">
            <a:avLst/>
          </a:prstGeom>
        </p:spPr>
      </p:pic>
      <p:sp>
        <p:nvSpPr>
          <p:cNvPr id="9" name="Text 5"/>
          <p:cNvSpPr txBox="1"/>
          <p:nvPr/>
        </p:nvSpPr>
        <p:spPr>
          <a:xfrm>
            <a:off x="4709160" y="4617720"/>
            <a:ext cx="2743200" cy="411480"/>
          </a:xfrm>
          <a:prstGeom prst="rect">
            <a:avLst/>
          </a:prstGeom>
          <a:noFill/>
          <a:ln/>
        </p:spPr>
        <p:txBody>
          <a:bodyPr wrap="square" lIns="0" tIns="0" rIns="0" bIns="0" rtlCol="0" anchor="t"/>
          <a:lstStyle/>
          <a:p>
            <a:pPr algn="ctr" indent="0" marL="0">
              <a:buNone/>
            </a:pPr>
            <a:r>
              <a:rPr lang="en-US" sz="1600" b="1" dirty="0">
                <a:solidFill>
                  <a:srgbClr val="FF462D"/>
                </a:solidFill>
                <a:latin typeface="Arial" pitchFamily="34" charset="0"/>
                <a:ea typeface="Arial" pitchFamily="34" charset="-122"/>
                <a:cs typeface="Arial" pitchFamily="34" charset="-120"/>
              </a:rPr>
              <a:t>The gap case</a:t>
            </a:r>
            <a:endParaRPr lang="en-US" sz="1600" dirty="0"/>
          </a:p>
        </p:txBody>
      </p:sp>
      <p:sp>
        <p:nvSpPr>
          <p:cNvPr id="10" name="Shape 6"/>
          <p:cNvSpPr/>
          <p:nvPr/>
        </p:nvSpPr>
        <p:spPr>
          <a:xfrm>
            <a:off x="548640" y="1554480"/>
            <a:ext cx="3959352" cy="1325880"/>
          </a:xfrm>
          <a:prstGeom prst="roundRect">
            <a:avLst>
              <a:gd name="adj" fmla="val 5517"/>
            </a:avLst>
          </a:prstGeom>
          <a:solidFill>
            <a:srgbClr val="FFFFFF"/>
          </a:solidFill>
          <a:ln w="12700">
            <a:solidFill>
              <a:srgbClr val="D9DEE2"/>
            </a:solidFill>
            <a:prstDash val="solid"/>
          </a:ln>
        </p:spPr>
      </p:sp>
      <p:pic>
        <p:nvPicPr>
          <p:cNvPr id="11" name="Image 2" descr="/private/tmp/claude-501/-Users-salehhamed-Outcome-Engine/91861432-41e2-4884-bc97-63c6dff2d021/scratchpad/wk/icons/TbListSearch-teal.png">    </p:cNvPr>
          <p:cNvPicPr>
            <a:picLocks noChangeAspect="1"/>
          </p:cNvPicPr>
          <p:nvPr/>
        </p:nvPicPr>
        <p:blipFill>
          <a:blip r:embed="rId5"/>
          <a:stretch>
            <a:fillRect/>
          </a:stretch>
        </p:blipFill>
        <p:spPr>
          <a:xfrm>
            <a:off x="731520" y="1810512"/>
            <a:ext cx="777240" cy="777240"/>
          </a:xfrm>
          <a:prstGeom prst="rect">
            <a:avLst/>
          </a:prstGeom>
        </p:spPr>
      </p:pic>
      <p:sp>
        <p:nvSpPr>
          <p:cNvPr id="12" name="Text 7"/>
          <p:cNvSpPr txBox="1"/>
          <p:nvPr/>
        </p:nvSpPr>
        <p:spPr>
          <a:xfrm>
            <a:off x="1645920" y="1691640"/>
            <a:ext cx="2724912"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Who was searched</a:t>
            </a:r>
            <a:endParaRPr lang="en-US" sz="1700" dirty="0"/>
          </a:p>
        </p:txBody>
      </p:sp>
      <p:sp>
        <p:nvSpPr>
          <p:cNvPr id="13" name="Text 8"/>
          <p:cNvSpPr txBox="1"/>
          <p:nvPr/>
        </p:nvSpPr>
        <p:spPr>
          <a:xfrm>
            <a:off x="1645920" y="2148840"/>
            <a:ext cx="2724912" cy="640080"/>
          </a:xfrm>
          <a:prstGeom prst="rect">
            <a:avLst/>
          </a:prstGeom>
          <a:noFill/>
          <a:ln/>
        </p:spPr>
        <p:txBody>
          <a:bodyPr wrap="square" lIns="0" tIns="0" rIns="0" bIns="0" rtlCol="0" anchor="t"/>
          <a:lstStyle/>
          <a:p>
            <a:pPr indent="0" marL="0">
              <a:buNone/>
            </a:pPr>
            <a:r>
              <a:rPr lang="en-US" sz="1350" dirty="0">
                <a:solidFill>
                  <a:srgbClr val="5A5A5A"/>
                </a:solidFill>
                <a:latin typeface="Arial" pitchFamily="34" charset="0"/>
                <a:ea typeface="Arial" pitchFamily="34" charset="-122"/>
                <a:cs typeface="Arial" pitchFamily="34" charset="-120"/>
              </a:rPr>
              <a:t>and why each person was not chosen</a:t>
            </a:r>
            <a:endParaRPr lang="en-US" sz="1350" dirty="0"/>
          </a:p>
        </p:txBody>
      </p:sp>
      <p:sp>
        <p:nvSpPr>
          <p:cNvPr id="14" name="Shape 9"/>
          <p:cNvSpPr/>
          <p:nvPr/>
        </p:nvSpPr>
        <p:spPr>
          <a:xfrm>
            <a:off x="548640" y="3246120"/>
            <a:ext cx="3959352" cy="1325880"/>
          </a:xfrm>
          <a:prstGeom prst="roundRect">
            <a:avLst>
              <a:gd name="adj" fmla="val 5517"/>
            </a:avLst>
          </a:prstGeom>
          <a:solidFill>
            <a:srgbClr val="FFFFFF"/>
          </a:solidFill>
          <a:ln w="12700">
            <a:solidFill>
              <a:srgbClr val="D9DEE2"/>
            </a:solidFill>
            <a:prstDash val="solid"/>
          </a:ln>
        </p:spPr>
      </p:sp>
      <p:pic>
        <p:nvPicPr>
          <p:cNvPr id="15" name="Image 3" descr="/private/tmp/claude-501/-Users-salehhamed-Outcome-Engine/91861432-41e2-4884-bc97-63c6dff2d021/scratchpad/wk/icons/TbDoorExit-teal.png">    </p:cNvPr>
          <p:cNvPicPr>
            <a:picLocks noChangeAspect="1"/>
          </p:cNvPicPr>
          <p:nvPr/>
        </p:nvPicPr>
        <p:blipFill>
          <a:blip r:embed="rId6"/>
          <a:stretch>
            <a:fillRect/>
          </a:stretch>
        </p:blipFill>
        <p:spPr>
          <a:xfrm>
            <a:off x="731520" y="3502152"/>
            <a:ext cx="777240" cy="777240"/>
          </a:xfrm>
          <a:prstGeom prst="rect">
            <a:avLst/>
          </a:prstGeom>
        </p:spPr>
      </p:pic>
      <p:sp>
        <p:nvSpPr>
          <p:cNvPr id="16" name="Text 10"/>
          <p:cNvSpPr txBox="1"/>
          <p:nvPr/>
        </p:nvSpPr>
        <p:spPr>
          <a:xfrm>
            <a:off x="1645920" y="3383280"/>
            <a:ext cx="2724912"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Release answers</a:t>
            </a:r>
            <a:endParaRPr lang="en-US" sz="1700" dirty="0"/>
          </a:p>
        </p:txBody>
      </p:sp>
      <p:sp>
        <p:nvSpPr>
          <p:cNvPr id="17" name="Text 11"/>
          <p:cNvSpPr txBox="1"/>
          <p:nvPr/>
        </p:nvSpPr>
        <p:spPr>
          <a:xfrm>
            <a:off x="1645920" y="3840480"/>
            <a:ext cx="2724912" cy="640080"/>
          </a:xfrm>
          <a:prstGeom prst="rect">
            <a:avLst/>
          </a:prstGeom>
          <a:noFill/>
          <a:ln/>
        </p:spPr>
        <p:txBody>
          <a:bodyPr wrap="square" lIns="0" tIns="0" rIns="0" bIns="0" rtlCol="0" anchor="t"/>
          <a:lstStyle/>
          <a:p>
            <a:pPr indent="0" marL="0">
              <a:buNone/>
            </a:pPr>
            <a:r>
              <a:rPr lang="en-US" sz="1350" dirty="0">
                <a:solidFill>
                  <a:srgbClr val="5A5A5A"/>
                </a:solidFill>
                <a:latin typeface="Arial" pitchFamily="34" charset="0"/>
                <a:ea typeface="Arial" pitchFamily="34" charset="-122"/>
                <a:cs typeface="Arial" pitchFamily="34" charset="-120"/>
              </a:rPr>
              <a:t>can each busy, suitable person be released</a:t>
            </a:r>
            <a:endParaRPr lang="en-US" sz="1350" dirty="0"/>
          </a:p>
        </p:txBody>
      </p:sp>
      <p:sp>
        <p:nvSpPr>
          <p:cNvPr id="18" name="Shape 12"/>
          <p:cNvSpPr/>
          <p:nvPr/>
        </p:nvSpPr>
        <p:spPr>
          <a:xfrm>
            <a:off x="7680960" y="1554480"/>
            <a:ext cx="3959352" cy="1325880"/>
          </a:xfrm>
          <a:prstGeom prst="roundRect">
            <a:avLst>
              <a:gd name="adj" fmla="val 5517"/>
            </a:avLst>
          </a:prstGeom>
          <a:solidFill>
            <a:srgbClr val="FFFFFF"/>
          </a:solidFill>
          <a:ln w="12700">
            <a:solidFill>
              <a:srgbClr val="D9DEE2"/>
            </a:solidFill>
            <a:prstDash val="solid"/>
          </a:ln>
        </p:spPr>
      </p:sp>
      <p:pic>
        <p:nvPicPr>
          <p:cNvPr id="19" name="Image 4" descr="/private/tmp/claude-501/-Users-salehhamed-Outcome-Engine/91861432-41e2-4884-bc97-63c6dff2d021/scratchpad/wk/icons/TbStairsUp-teal.png">    </p:cNvPr>
          <p:cNvPicPr>
            <a:picLocks noChangeAspect="1"/>
          </p:cNvPicPr>
          <p:nvPr/>
        </p:nvPicPr>
        <p:blipFill>
          <a:blip r:embed="rId7"/>
          <a:stretch>
            <a:fillRect/>
          </a:stretch>
        </p:blipFill>
        <p:spPr>
          <a:xfrm>
            <a:off x="7863840" y="1810512"/>
            <a:ext cx="777240" cy="777240"/>
          </a:xfrm>
          <a:prstGeom prst="rect">
            <a:avLst/>
          </a:prstGeom>
        </p:spPr>
      </p:pic>
      <p:sp>
        <p:nvSpPr>
          <p:cNvPr id="20" name="Text 13"/>
          <p:cNvSpPr txBox="1"/>
          <p:nvPr/>
        </p:nvSpPr>
        <p:spPr>
          <a:xfrm>
            <a:off x="8778240" y="1691640"/>
            <a:ext cx="2724912"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Rotation answer</a:t>
            </a:r>
            <a:endParaRPr lang="en-US" sz="1700" dirty="0"/>
          </a:p>
        </p:txBody>
      </p:sp>
      <p:sp>
        <p:nvSpPr>
          <p:cNvPr id="21" name="Text 14"/>
          <p:cNvSpPr txBox="1"/>
          <p:nvPr/>
        </p:nvSpPr>
        <p:spPr>
          <a:xfrm>
            <a:off x="8778240" y="2148840"/>
            <a:ext cx="2724912" cy="640080"/>
          </a:xfrm>
          <a:prstGeom prst="rect">
            <a:avLst/>
          </a:prstGeom>
          <a:noFill/>
          <a:ln/>
        </p:spPr>
        <p:txBody>
          <a:bodyPr wrap="square" lIns="0" tIns="0" rIns="0" bIns="0" rtlCol="0" anchor="t"/>
          <a:lstStyle/>
          <a:p>
            <a:pPr indent="0" marL="0">
              <a:buNone/>
            </a:pPr>
            <a:r>
              <a:rPr lang="en-US" sz="1350" dirty="0">
                <a:solidFill>
                  <a:srgbClr val="5A5A5A"/>
                </a:solidFill>
                <a:latin typeface="Arial" pitchFamily="34" charset="0"/>
                <a:ea typeface="Arial" pitchFamily="34" charset="-122"/>
                <a:cs typeface="Arial" pitchFamily="34" charset="-120"/>
              </a:rPr>
              <a:t>could moving other people free someone in time</a:t>
            </a:r>
            <a:endParaRPr lang="en-US" sz="1350" dirty="0"/>
          </a:p>
        </p:txBody>
      </p:sp>
      <p:sp>
        <p:nvSpPr>
          <p:cNvPr id="22" name="Shape 15"/>
          <p:cNvSpPr/>
          <p:nvPr/>
        </p:nvSpPr>
        <p:spPr>
          <a:xfrm>
            <a:off x="7680960" y="3246120"/>
            <a:ext cx="3959352" cy="1325880"/>
          </a:xfrm>
          <a:prstGeom prst="roundRect">
            <a:avLst>
              <a:gd name="adj" fmla="val 5517"/>
            </a:avLst>
          </a:prstGeom>
          <a:solidFill>
            <a:srgbClr val="FFFFFF"/>
          </a:solidFill>
          <a:ln w="12700">
            <a:solidFill>
              <a:srgbClr val="D9DEE2"/>
            </a:solidFill>
            <a:prstDash val="solid"/>
          </a:ln>
        </p:spPr>
      </p:sp>
      <p:pic>
        <p:nvPicPr>
          <p:cNvPr id="23" name="Image 5" descr="/private/tmp/claude-501/-Users-salehhamed-Outcome-Engine/91861432-41e2-4884-bc97-63c6dff2d021/scratchpad/wk/icons/TbScale-teal.png">    </p:cNvPr>
          <p:cNvPicPr>
            <a:picLocks noChangeAspect="1"/>
          </p:cNvPicPr>
          <p:nvPr/>
        </p:nvPicPr>
        <p:blipFill>
          <a:blip r:embed="rId8"/>
          <a:stretch>
            <a:fillRect/>
          </a:stretch>
        </p:blipFill>
        <p:spPr>
          <a:xfrm>
            <a:off x="7863840" y="3502152"/>
            <a:ext cx="777240" cy="777240"/>
          </a:xfrm>
          <a:prstGeom prst="rect">
            <a:avLst/>
          </a:prstGeom>
        </p:spPr>
      </p:pic>
      <p:sp>
        <p:nvSpPr>
          <p:cNvPr id="24" name="Text 16"/>
          <p:cNvSpPr txBox="1"/>
          <p:nvPr/>
        </p:nvSpPr>
        <p:spPr>
          <a:xfrm>
            <a:off x="8778240" y="3383280"/>
            <a:ext cx="2724912"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The cause</a:t>
            </a:r>
            <a:endParaRPr lang="en-US" sz="1700" dirty="0"/>
          </a:p>
        </p:txBody>
      </p:sp>
      <p:sp>
        <p:nvSpPr>
          <p:cNvPr id="25" name="Text 17"/>
          <p:cNvSpPr txBox="1"/>
          <p:nvPr/>
        </p:nvSpPr>
        <p:spPr>
          <a:xfrm>
            <a:off x="8778240" y="3840480"/>
            <a:ext cx="2724912" cy="640080"/>
          </a:xfrm>
          <a:prstGeom prst="rect">
            <a:avLst/>
          </a:prstGeom>
          <a:noFill/>
          <a:ln/>
        </p:spPr>
        <p:txBody>
          <a:bodyPr wrap="square" lIns="0" tIns="0" rIns="0" bIns="0" rtlCol="0" anchor="t"/>
          <a:lstStyle/>
          <a:p>
            <a:pPr indent="0" marL="0">
              <a:buNone/>
            </a:pPr>
            <a:r>
              <a:rPr lang="en-US" sz="1350" dirty="0">
                <a:solidFill>
                  <a:srgbClr val="5A5A5A"/>
                </a:solidFill>
                <a:latin typeface="Arial" pitchFamily="34" charset="0"/>
                <a:ea typeface="Arial" pitchFamily="34" charset="-122"/>
                <a:cs typeface="Arial" pitchFamily="34" charset="-120"/>
              </a:rPr>
              <a:t>missing people, or blocked by cost</a:t>
            </a:r>
            <a:endParaRPr lang="en-US" sz="1350" dirty="0"/>
          </a:p>
        </p:txBody>
      </p:sp>
      <p:sp>
        <p:nvSpPr>
          <p:cNvPr id="26" name="Shape 18"/>
          <p:cNvSpPr/>
          <p:nvPr/>
        </p:nvSpPr>
        <p:spPr>
          <a:xfrm>
            <a:off x="3108960" y="5074920"/>
            <a:ext cx="5943600" cy="1325880"/>
          </a:xfrm>
          <a:prstGeom prst="roundRect">
            <a:avLst>
              <a:gd name="adj" fmla="val 5517"/>
            </a:avLst>
          </a:prstGeom>
          <a:solidFill>
            <a:srgbClr val="FFFFFF"/>
          </a:solidFill>
          <a:ln w="12700">
            <a:solidFill>
              <a:srgbClr val="D9DEE2"/>
            </a:solidFill>
            <a:prstDash val="solid"/>
          </a:ln>
        </p:spPr>
      </p:sp>
      <p:pic>
        <p:nvPicPr>
          <p:cNvPr id="27" name="Image 6" descr="/private/tmp/claude-501/-Users-salehhamed-Outcome-Engine/91861432-41e2-4884-bc97-63c6dff2d021/scratchpad/wk/icons/TbSignature-teal.png">    </p:cNvPr>
          <p:cNvPicPr>
            <a:picLocks noChangeAspect="1"/>
          </p:cNvPicPr>
          <p:nvPr/>
        </p:nvPicPr>
        <p:blipFill>
          <a:blip r:embed="rId9"/>
          <a:stretch>
            <a:fillRect/>
          </a:stretch>
        </p:blipFill>
        <p:spPr>
          <a:xfrm>
            <a:off x="3291840" y="5330952"/>
            <a:ext cx="777240" cy="777240"/>
          </a:xfrm>
          <a:prstGeom prst="rect">
            <a:avLst/>
          </a:prstGeom>
        </p:spPr>
      </p:pic>
      <p:sp>
        <p:nvSpPr>
          <p:cNvPr id="28" name="Text 19"/>
          <p:cNvSpPr txBox="1"/>
          <p:nvPr/>
        </p:nvSpPr>
        <p:spPr>
          <a:xfrm>
            <a:off x="4206240" y="5212080"/>
            <a:ext cx="4709160"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Who declared it</a:t>
            </a:r>
            <a:endParaRPr lang="en-US" sz="1700" dirty="0"/>
          </a:p>
        </p:txBody>
      </p:sp>
      <p:sp>
        <p:nvSpPr>
          <p:cNvPr id="29" name="Text 20"/>
          <p:cNvSpPr txBox="1"/>
          <p:nvPr/>
        </p:nvSpPr>
        <p:spPr>
          <a:xfrm>
            <a:off x="4206240" y="5669280"/>
            <a:ext cx="4709160" cy="640080"/>
          </a:xfrm>
          <a:prstGeom prst="rect">
            <a:avLst/>
          </a:prstGeom>
          <a:noFill/>
          <a:ln/>
        </p:spPr>
        <p:txBody>
          <a:bodyPr wrap="square" lIns="0" tIns="0" rIns="0" bIns="0" rtlCol="0" anchor="t"/>
          <a:lstStyle/>
          <a:p>
            <a:pPr indent="0" marL="0">
              <a:buNone/>
            </a:pPr>
            <a:r>
              <a:rPr lang="en-US" sz="1350" dirty="0">
                <a:solidFill>
                  <a:srgbClr val="5A5A5A"/>
                </a:solidFill>
                <a:latin typeface="Arial" pitchFamily="34" charset="0"/>
                <a:ea typeface="Arial" pitchFamily="34" charset="-122"/>
                <a:cs typeface="Arial" pitchFamily="34" charset="-120"/>
              </a:rPr>
              <a:t>a named person, with the date</a:t>
            </a:r>
            <a:endParaRPr lang="en-US" sz="13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AGREE THE TARGET OUTCOME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Three ways to run this session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11:00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61</a:t>
            </a:r>
            <a:endParaRPr lang="en-US" sz="1000" dirty="0"/>
          </a:p>
        </p:txBody>
      </p:sp>
      <p:sp>
        <p:nvSpPr>
          <p:cNvPr id="7" name="Shape 4"/>
          <p:cNvSpPr/>
          <p:nvPr/>
        </p:nvSpPr>
        <p:spPr>
          <a:xfrm>
            <a:off x="548640" y="1463040"/>
            <a:ext cx="3566160" cy="4663440"/>
          </a:xfrm>
          <a:prstGeom prst="roundRect">
            <a:avLst>
              <a:gd name="adj" fmla="val 2051"/>
            </a:avLst>
          </a:prstGeom>
          <a:solidFill>
            <a:srgbClr val="FFFFFF"/>
          </a:solidFill>
          <a:ln w="12700">
            <a:solidFill>
              <a:srgbClr val="D9DEE2"/>
            </a:solidFill>
            <a:prstDash val="solid"/>
          </a:ln>
        </p:spPr>
      </p:sp>
      <p:sp>
        <p:nvSpPr>
          <p:cNvPr id="8" name="Shape 5"/>
          <p:cNvSpPr/>
          <p:nvPr/>
        </p:nvSpPr>
        <p:spPr>
          <a:xfrm>
            <a:off x="548640" y="1463040"/>
            <a:ext cx="3566160" cy="566928"/>
          </a:xfrm>
          <a:prstGeom prst="roundRect">
            <a:avLst>
              <a:gd name="adj" fmla="val 12903"/>
            </a:avLst>
          </a:prstGeom>
          <a:solidFill>
            <a:srgbClr val="287079"/>
          </a:solidFill>
          <a:ln/>
        </p:spPr>
      </p:sp>
      <p:sp>
        <p:nvSpPr>
          <p:cNvPr id="9" name="Shape 6"/>
          <p:cNvSpPr/>
          <p:nvPr/>
        </p:nvSpPr>
        <p:spPr>
          <a:xfrm>
            <a:off x="548640" y="1828800"/>
            <a:ext cx="3566160" cy="201168"/>
          </a:xfrm>
          <a:prstGeom prst="rect">
            <a:avLst/>
          </a:prstGeom>
          <a:solidFill>
            <a:srgbClr val="287079"/>
          </a:solidFill>
          <a:ln/>
        </p:spPr>
      </p:sp>
      <p:pic>
        <p:nvPicPr>
          <p:cNvPr id="10" name="Image 1" descr="/private/tmp/claude-501/-Users-salehhamed-Outcome-Engine/91861432-41e2-4884-bc97-63c6dff2d021/scratchpad/wk/icons/TbHandClick-white.png">    </p:cNvPr>
          <p:cNvPicPr>
            <a:picLocks noChangeAspect="1"/>
          </p:cNvPicPr>
          <p:nvPr/>
        </p:nvPicPr>
        <p:blipFill>
          <a:blip r:embed="rId4"/>
          <a:stretch>
            <a:fillRect/>
          </a:stretch>
        </p:blipFill>
        <p:spPr>
          <a:xfrm>
            <a:off x="713232" y="1554480"/>
            <a:ext cx="384048" cy="384048"/>
          </a:xfrm>
          <a:prstGeom prst="rect">
            <a:avLst/>
          </a:prstGeom>
        </p:spPr>
      </p:pic>
      <p:sp>
        <p:nvSpPr>
          <p:cNvPr id="11" name="Text 7"/>
          <p:cNvSpPr txBox="1"/>
          <p:nvPr/>
        </p:nvSpPr>
        <p:spPr>
          <a:xfrm>
            <a:off x="120700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A · HANDS-ON</a:t>
            </a:r>
            <a:endParaRPr lang="en-US" sz="1150" dirty="0"/>
          </a:p>
        </p:txBody>
      </p:sp>
      <p:sp>
        <p:nvSpPr>
          <p:cNvPr id="12" name="Text 8"/>
          <p:cNvSpPr txBox="1"/>
          <p:nvPr/>
        </p:nvSpPr>
        <p:spPr>
          <a:xfrm>
            <a:off x="77724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Build the sentence</a:t>
            </a:r>
            <a:endParaRPr lang="en-US" sz="2100" dirty="0"/>
          </a:p>
        </p:txBody>
      </p:sp>
      <p:sp>
        <p:nvSpPr>
          <p:cNvPr id="13" name="Text 9"/>
          <p:cNvSpPr txBox="1"/>
          <p:nvPr/>
        </p:nvSpPr>
        <p:spPr>
          <a:xfrm>
            <a:off x="77724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Tables build the outcome from phrase cards, then the room walks to where it should end.</a:t>
            </a:r>
            <a:endParaRPr lang="en-US" sz="1400" dirty="0"/>
          </a:p>
        </p:txBody>
      </p:sp>
      <p:pic>
        <p:nvPicPr>
          <p:cNvPr id="14" name="Image 2" descr="/private/tmp/claude-501/-Users-salehhamed-Outcome-Engine/91861432-41e2-4884-bc97-63c6dff2d021/scratchpad/wk/icons/TbClock-grey.png">    </p:cNvPr>
          <p:cNvPicPr>
            <a:picLocks noChangeAspect="1"/>
          </p:cNvPicPr>
          <p:nvPr/>
        </p:nvPicPr>
        <p:blipFill>
          <a:blip r:embed="rId5"/>
          <a:stretch>
            <a:fillRect/>
          </a:stretch>
        </p:blipFill>
        <p:spPr>
          <a:xfrm>
            <a:off x="777240" y="4297680"/>
            <a:ext cx="274320" cy="274320"/>
          </a:xfrm>
          <a:prstGeom prst="rect">
            <a:avLst/>
          </a:prstGeom>
        </p:spPr>
      </p:pic>
      <p:sp>
        <p:nvSpPr>
          <p:cNvPr id="15" name="Text 10"/>
          <p:cNvSpPr txBox="1"/>
          <p:nvPr/>
        </p:nvSpPr>
        <p:spPr>
          <a:xfrm>
            <a:off x="114300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90 min</a:t>
            </a:r>
            <a:endParaRPr lang="en-US" sz="1200" dirty="0"/>
          </a:p>
        </p:txBody>
      </p:sp>
      <p:pic>
        <p:nvPicPr>
          <p:cNvPr id="16" name="Image 3" descr="/private/tmp/claude-501/-Users-salehhamed-Outcome-Engine/91861432-41e2-4884-bc97-63c6dff2d021/scratchpad/wk/icons/TbUsers-grey.png">    </p:cNvPr>
          <p:cNvPicPr>
            <a:picLocks noChangeAspect="1"/>
          </p:cNvPicPr>
          <p:nvPr/>
        </p:nvPicPr>
        <p:blipFill>
          <a:blip r:embed="rId6"/>
          <a:stretch>
            <a:fillRect/>
          </a:stretch>
        </p:blipFill>
        <p:spPr>
          <a:xfrm>
            <a:off x="777240" y="4681728"/>
            <a:ext cx="274320" cy="274320"/>
          </a:xfrm>
          <a:prstGeom prst="rect">
            <a:avLst/>
          </a:prstGeom>
        </p:spPr>
      </p:pic>
      <p:sp>
        <p:nvSpPr>
          <p:cNvPr id="17" name="Text 11"/>
          <p:cNvSpPr txBox="1"/>
          <p:nvPr/>
        </p:nvSpPr>
        <p:spPr>
          <a:xfrm>
            <a:off x="114300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Tables of 3 or 4, then whole room</a:t>
            </a:r>
            <a:endParaRPr lang="en-US" sz="1200" dirty="0"/>
          </a:p>
        </p:txBody>
      </p:sp>
      <p:pic>
        <p:nvPicPr>
          <p:cNvPr id="18" name="Image 4" descr="/private/tmp/claude-501/-Users-salehhamed-Outcome-Engine/91861432-41e2-4884-bc97-63c6dff2d021/scratchpad/wk/icons/TbGauge-grey.png">    </p:cNvPr>
          <p:cNvPicPr>
            <a:picLocks noChangeAspect="1"/>
          </p:cNvPicPr>
          <p:nvPr/>
        </p:nvPicPr>
        <p:blipFill>
          <a:blip r:embed="rId7"/>
          <a:stretch>
            <a:fillRect/>
          </a:stretch>
        </p:blipFill>
        <p:spPr>
          <a:xfrm>
            <a:off x="777240" y="5065776"/>
            <a:ext cx="274320" cy="274320"/>
          </a:xfrm>
          <a:prstGeom prst="rect">
            <a:avLst/>
          </a:prstGeom>
        </p:spPr>
      </p:pic>
      <p:sp>
        <p:nvSpPr>
          <p:cNvPr id="19" name="Text 12"/>
          <p:cNvSpPr txBox="1"/>
          <p:nvPr/>
        </p:nvSpPr>
        <p:spPr>
          <a:xfrm>
            <a:off x="114300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High energy</a:t>
            </a:r>
            <a:endParaRPr lang="en-US" sz="1200" dirty="0"/>
          </a:p>
        </p:txBody>
      </p:sp>
      <p:sp>
        <p:nvSpPr>
          <p:cNvPr id="20" name="Text 13"/>
          <p:cNvSpPr txBox="1"/>
          <p:nvPr/>
        </p:nvSpPr>
        <p:spPr>
          <a:xfrm>
            <a:off x="77724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You want people to own the wording.</a:t>
            </a:r>
            <a:endParaRPr lang="en-US" sz="1150" dirty="0"/>
          </a:p>
        </p:txBody>
      </p:sp>
      <p:pic>
        <p:nvPicPr>
          <p:cNvPr id="21" name="Image 5" descr="/private/tmp/claude-501/-Users-salehhamed-Outcome-Engine/91861432-41e2-4884-bc97-63c6dff2d021/scratchpad/wk/brand/clear.png">
            <a:hlinkClick r:id="rId9" tooltip="Option A" action="ppaction://hlinksldjump"/>
          </p:cNvPr>
          <p:cNvPicPr>
            <a:picLocks noChangeAspect="1"/>
          </p:cNvPicPr>
          <p:nvPr/>
        </p:nvPicPr>
        <p:blipFill>
          <a:blip r:embed="rId8"/>
          <a:stretch>
            <a:fillRect/>
          </a:stretch>
        </p:blipFill>
        <p:spPr>
          <a:xfrm>
            <a:off x="548640" y="1463040"/>
            <a:ext cx="3566160" cy="4663440"/>
          </a:xfrm>
          <a:prstGeom prst="rect">
            <a:avLst/>
          </a:prstGeom>
        </p:spPr>
      </p:pic>
      <p:sp>
        <p:nvSpPr>
          <p:cNvPr id="22" name="Shape 14"/>
          <p:cNvSpPr/>
          <p:nvPr/>
        </p:nvSpPr>
        <p:spPr>
          <a:xfrm>
            <a:off x="4297680" y="1463040"/>
            <a:ext cx="3566160" cy="4663440"/>
          </a:xfrm>
          <a:prstGeom prst="roundRect">
            <a:avLst>
              <a:gd name="adj" fmla="val 2051"/>
            </a:avLst>
          </a:prstGeom>
          <a:solidFill>
            <a:srgbClr val="FFFFFF"/>
          </a:solidFill>
          <a:ln w="12700">
            <a:solidFill>
              <a:srgbClr val="D9DEE2"/>
            </a:solidFill>
            <a:prstDash val="solid"/>
          </a:ln>
        </p:spPr>
      </p:sp>
      <p:sp>
        <p:nvSpPr>
          <p:cNvPr id="23" name="Shape 15"/>
          <p:cNvSpPr/>
          <p:nvPr/>
        </p:nvSpPr>
        <p:spPr>
          <a:xfrm>
            <a:off x="4297680" y="1463040"/>
            <a:ext cx="3566160" cy="566928"/>
          </a:xfrm>
          <a:prstGeom prst="roundRect">
            <a:avLst>
              <a:gd name="adj" fmla="val 12903"/>
            </a:avLst>
          </a:prstGeom>
          <a:solidFill>
            <a:srgbClr val="FF462D"/>
          </a:solidFill>
          <a:ln/>
        </p:spPr>
      </p:sp>
      <p:sp>
        <p:nvSpPr>
          <p:cNvPr id="24" name="Shape 16"/>
          <p:cNvSpPr/>
          <p:nvPr/>
        </p:nvSpPr>
        <p:spPr>
          <a:xfrm>
            <a:off x="4297680" y="1828800"/>
            <a:ext cx="3566160" cy="201168"/>
          </a:xfrm>
          <a:prstGeom prst="rect">
            <a:avLst/>
          </a:prstGeom>
          <a:solidFill>
            <a:srgbClr val="FF462D"/>
          </a:solidFill>
          <a:ln/>
        </p:spPr>
      </p:sp>
      <p:pic>
        <p:nvPicPr>
          <p:cNvPr id="25" name="Image 6" descr="/private/tmp/claude-501/-Users-salehhamed-Outcome-Engine/91861432-41e2-4884-bc97-63c6dff2d021/scratchpad/wk/icons/TbDeviceMobile-white.png">    </p:cNvPr>
          <p:cNvPicPr>
            <a:picLocks noChangeAspect="1"/>
          </p:cNvPicPr>
          <p:nvPr/>
        </p:nvPicPr>
        <p:blipFill>
          <a:blip r:embed="rId10"/>
          <a:stretch>
            <a:fillRect/>
          </a:stretch>
        </p:blipFill>
        <p:spPr>
          <a:xfrm>
            <a:off x="4462272" y="1554480"/>
            <a:ext cx="384048" cy="384048"/>
          </a:xfrm>
          <a:prstGeom prst="rect">
            <a:avLst/>
          </a:prstGeom>
        </p:spPr>
      </p:pic>
      <p:sp>
        <p:nvSpPr>
          <p:cNvPr id="26" name="Text 17"/>
          <p:cNvSpPr txBox="1"/>
          <p:nvPr/>
        </p:nvSpPr>
        <p:spPr>
          <a:xfrm>
            <a:off x="495604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B · LIVE VOTING</a:t>
            </a:r>
            <a:endParaRPr lang="en-US" sz="1150" dirty="0"/>
          </a:p>
        </p:txBody>
      </p:sp>
      <p:sp>
        <p:nvSpPr>
          <p:cNvPr id="27" name="Text 18"/>
          <p:cNvSpPr txBox="1"/>
          <p:nvPr/>
        </p:nvSpPr>
        <p:spPr>
          <a:xfrm>
            <a:off x="452628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Fix the draft</a:t>
            </a:r>
            <a:endParaRPr lang="en-US" sz="2100" dirty="0"/>
          </a:p>
        </p:txBody>
      </p:sp>
      <p:sp>
        <p:nvSpPr>
          <p:cNvPr id="28" name="Text 19"/>
          <p:cNvSpPr txBox="1"/>
          <p:nvPr/>
        </p:nvSpPr>
        <p:spPr>
          <a:xfrm>
            <a:off x="452628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Start from the draft; phones propose edits, vote on the end point and mark each done check.</a:t>
            </a:r>
            <a:endParaRPr lang="en-US" sz="1400" dirty="0"/>
          </a:p>
        </p:txBody>
      </p:sp>
      <p:pic>
        <p:nvPicPr>
          <p:cNvPr id="29" name="Image 7" descr="/private/tmp/claude-501/-Users-salehhamed-Outcome-Engine/91861432-41e2-4884-bc97-63c6dff2d021/scratchpad/wk/icons/TbClock-grey.png">    </p:cNvPr>
          <p:cNvPicPr>
            <a:picLocks noChangeAspect="1"/>
          </p:cNvPicPr>
          <p:nvPr/>
        </p:nvPicPr>
        <p:blipFill>
          <a:blip r:embed="rId11"/>
          <a:stretch>
            <a:fillRect/>
          </a:stretch>
        </p:blipFill>
        <p:spPr>
          <a:xfrm>
            <a:off x="4526280" y="4297680"/>
            <a:ext cx="274320" cy="274320"/>
          </a:xfrm>
          <a:prstGeom prst="rect">
            <a:avLst/>
          </a:prstGeom>
        </p:spPr>
      </p:pic>
      <p:sp>
        <p:nvSpPr>
          <p:cNvPr id="30" name="Text 20"/>
          <p:cNvSpPr txBox="1"/>
          <p:nvPr/>
        </p:nvSpPr>
        <p:spPr>
          <a:xfrm>
            <a:off x="489204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90 min</a:t>
            </a:r>
            <a:endParaRPr lang="en-US" sz="1200" dirty="0"/>
          </a:p>
        </p:txBody>
      </p:sp>
      <p:pic>
        <p:nvPicPr>
          <p:cNvPr id="31" name="Image 8" descr="/private/tmp/claude-501/-Users-salehhamed-Outcome-Engine/91861432-41e2-4884-bc97-63c6dff2d021/scratchpad/wk/icons/TbUsers-grey.png">    </p:cNvPr>
          <p:cNvPicPr>
            <a:picLocks noChangeAspect="1"/>
          </p:cNvPicPr>
          <p:nvPr/>
        </p:nvPicPr>
        <p:blipFill>
          <a:blip r:embed="rId12"/>
          <a:stretch>
            <a:fillRect/>
          </a:stretch>
        </p:blipFill>
        <p:spPr>
          <a:xfrm>
            <a:off x="4526280" y="4681728"/>
            <a:ext cx="274320" cy="274320"/>
          </a:xfrm>
          <a:prstGeom prst="rect">
            <a:avLst/>
          </a:prstGeom>
        </p:spPr>
      </p:pic>
      <p:sp>
        <p:nvSpPr>
          <p:cNvPr id="32" name="Text 21"/>
          <p:cNvSpPr txBox="1"/>
          <p:nvPr/>
        </p:nvSpPr>
        <p:spPr>
          <a:xfrm>
            <a:off x="489204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Each person, then whole room</a:t>
            </a:r>
            <a:endParaRPr lang="en-US" sz="1200" dirty="0"/>
          </a:p>
        </p:txBody>
      </p:sp>
      <p:pic>
        <p:nvPicPr>
          <p:cNvPr id="33" name="Image 9" descr="/private/tmp/claude-501/-Users-salehhamed-Outcome-Engine/91861432-41e2-4884-bc97-63c6dff2d021/scratchpad/wk/icons/TbGauge-grey.png">    </p:cNvPr>
          <p:cNvPicPr>
            <a:picLocks noChangeAspect="1"/>
          </p:cNvPicPr>
          <p:nvPr/>
        </p:nvPicPr>
        <p:blipFill>
          <a:blip r:embed="rId13"/>
          <a:stretch>
            <a:fillRect/>
          </a:stretch>
        </p:blipFill>
        <p:spPr>
          <a:xfrm>
            <a:off x="4526280" y="5065776"/>
            <a:ext cx="274320" cy="274320"/>
          </a:xfrm>
          <a:prstGeom prst="rect">
            <a:avLst/>
          </a:prstGeom>
        </p:spPr>
      </p:pic>
      <p:sp>
        <p:nvSpPr>
          <p:cNvPr id="34" name="Text 22"/>
          <p:cNvSpPr txBox="1"/>
          <p:nvPr/>
        </p:nvSpPr>
        <p:spPr>
          <a:xfrm>
            <a:off x="489204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35" name="Text 23"/>
          <p:cNvSpPr txBox="1"/>
          <p:nvPr/>
        </p:nvSpPr>
        <p:spPr>
          <a:xfrm>
            <a:off x="452628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Time is tight, or the room prefers to react to a draft.</a:t>
            </a:r>
            <a:endParaRPr lang="en-US" sz="1150" dirty="0"/>
          </a:p>
        </p:txBody>
      </p:sp>
      <p:pic>
        <p:nvPicPr>
          <p:cNvPr id="36" name="Image 10" descr="/private/tmp/claude-501/-Users-salehhamed-Outcome-Engine/91861432-41e2-4884-bc97-63c6dff2d021/scratchpad/wk/brand/clear.png">
            <a:hlinkClick r:id="rId15" tooltip="Option B" action="ppaction://hlinksldjump"/>
          </p:cNvPr>
          <p:cNvPicPr>
            <a:picLocks noChangeAspect="1"/>
          </p:cNvPicPr>
          <p:nvPr/>
        </p:nvPicPr>
        <p:blipFill>
          <a:blip r:embed="rId14"/>
          <a:stretch>
            <a:fillRect/>
          </a:stretch>
        </p:blipFill>
        <p:spPr>
          <a:xfrm>
            <a:off x="4297680" y="1463040"/>
            <a:ext cx="3566160" cy="4663440"/>
          </a:xfrm>
          <a:prstGeom prst="rect">
            <a:avLst/>
          </a:prstGeom>
        </p:spPr>
      </p:pic>
      <p:sp>
        <p:nvSpPr>
          <p:cNvPr id="37" name="Shape 24"/>
          <p:cNvSpPr/>
          <p:nvPr/>
        </p:nvSpPr>
        <p:spPr>
          <a:xfrm>
            <a:off x="8046720" y="1463040"/>
            <a:ext cx="3566160" cy="4663440"/>
          </a:xfrm>
          <a:prstGeom prst="roundRect">
            <a:avLst>
              <a:gd name="adj" fmla="val 2051"/>
            </a:avLst>
          </a:prstGeom>
          <a:solidFill>
            <a:srgbClr val="FFFFFF"/>
          </a:solidFill>
          <a:ln w="12700">
            <a:solidFill>
              <a:srgbClr val="D9DEE2"/>
            </a:solidFill>
            <a:prstDash val="solid"/>
          </a:ln>
        </p:spPr>
      </p:sp>
      <p:sp>
        <p:nvSpPr>
          <p:cNvPr id="38" name="Shape 25"/>
          <p:cNvSpPr/>
          <p:nvPr/>
        </p:nvSpPr>
        <p:spPr>
          <a:xfrm>
            <a:off x="8046720" y="1463040"/>
            <a:ext cx="3566160" cy="566928"/>
          </a:xfrm>
          <a:prstGeom prst="roundRect">
            <a:avLst>
              <a:gd name="adj" fmla="val 12903"/>
            </a:avLst>
          </a:prstGeom>
          <a:solidFill>
            <a:srgbClr val="36454F"/>
          </a:solidFill>
          <a:ln/>
        </p:spPr>
      </p:sp>
      <p:sp>
        <p:nvSpPr>
          <p:cNvPr id="39" name="Shape 26"/>
          <p:cNvSpPr/>
          <p:nvPr/>
        </p:nvSpPr>
        <p:spPr>
          <a:xfrm>
            <a:off x="8046720" y="1828800"/>
            <a:ext cx="3566160" cy="201168"/>
          </a:xfrm>
          <a:prstGeom prst="rect">
            <a:avLst/>
          </a:prstGeom>
          <a:solidFill>
            <a:srgbClr val="36454F"/>
          </a:solidFill>
          <a:ln/>
        </p:spPr>
      </p:sp>
      <p:pic>
        <p:nvPicPr>
          <p:cNvPr id="40" name="Image 11" descr="/private/tmp/claude-501/-Users-salehhamed-Outcome-Engine/91861432-41e2-4884-bc97-63c6dff2d021/scratchpad/wk/icons/TbMasksTheater-white.png">    </p:cNvPr>
          <p:cNvPicPr>
            <a:picLocks noChangeAspect="1"/>
          </p:cNvPicPr>
          <p:nvPr/>
        </p:nvPicPr>
        <p:blipFill>
          <a:blip r:embed="rId16"/>
          <a:stretch>
            <a:fillRect/>
          </a:stretch>
        </p:blipFill>
        <p:spPr>
          <a:xfrm>
            <a:off x="8211312" y="1554480"/>
            <a:ext cx="384048" cy="384048"/>
          </a:xfrm>
          <a:prstGeom prst="rect">
            <a:avLst/>
          </a:prstGeom>
        </p:spPr>
      </p:pic>
      <p:sp>
        <p:nvSpPr>
          <p:cNvPr id="41" name="Text 27"/>
          <p:cNvSpPr txBox="1"/>
          <p:nvPr/>
        </p:nvSpPr>
        <p:spPr>
          <a:xfrm>
            <a:off x="870508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C · CASES AND CONVERSATION</a:t>
            </a:r>
            <a:endParaRPr lang="en-US" sz="1150" dirty="0"/>
          </a:p>
        </p:txBody>
      </p:sp>
      <p:sp>
        <p:nvSpPr>
          <p:cNvPr id="42" name="Text 28"/>
          <p:cNvSpPr txBox="1"/>
          <p:nvPr/>
        </p:nvSpPr>
        <p:spPr>
          <a:xfrm>
            <a:off x="827532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Test it on your case</a:t>
            </a:r>
            <a:endParaRPr lang="en-US" sz="2100" dirty="0"/>
          </a:p>
        </p:txBody>
      </p:sp>
      <p:sp>
        <p:nvSpPr>
          <p:cNvPr id="43" name="Text 29"/>
          <p:cNvSpPr txBox="1"/>
          <p:nvPr/>
        </p:nvSpPr>
        <p:spPr>
          <a:xfrm>
            <a:off x="827532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Hold the draft up against the morning's real cases and argue where it should end.</a:t>
            </a:r>
            <a:endParaRPr lang="en-US" sz="1400" dirty="0"/>
          </a:p>
        </p:txBody>
      </p:sp>
      <p:pic>
        <p:nvPicPr>
          <p:cNvPr id="44" name="Image 12" descr="/private/tmp/claude-501/-Users-salehhamed-Outcome-Engine/91861432-41e2-4884-bc97-63c6dff2d021/scratchpad/wk/icons/TbClock-grey.png">    </p:cNvPr>
          <p:cNvPicPr>
            <a:picLocks noChangeAspect="1"/>
          </p:cNvPicPr>
          <p:nvPr/>
        </p:nvPicPr>
        <p:blipFill>
          <a:blip r:embed="rId17"/>
          <a:stretch>
            <a:fillRect/>
          </a:stretch>
        </p:blipFill>
        <p:spPr>
          <a:xfrm>
            <a:off x="8275320" y="4297680"/>
            <a:ext cx="274320" cy="274320"/>
          </a:xfrm>
          <a:prstGeom prst="rect">
            <a:avLst/>
          </a:prstGeom>
        </p:spPr>
      </p:pic>
      <p:sp>
        <p:nvSpPr>
          <p:cNvPr id="45" name="Text 30"/>
          <p:cNvSpPr txBox="1"/>
          <p:nvPr/>
        </p:nvSpPr>
        <p:spPr>
          <a:xfrm>
            <a:off x="864108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90 min</a:t>
            </a:r>
            <a:endParaRPr lang="en-US" sz="1200" dirty="0"/>
          </a:p>
        </p:txBody>
      </p:sp>
      <p:pic>
        <p:nvPicPr>
          <p:cNvPr id="46" name="Image 13" descr="/private/tmp/claude-501/-Users-salehhamed-Outcome-Engine/91861432-41e2-4884-bc97-63c6dff2d021/scratchpad/wk/icons/TbUsers-grey.png">    </p:cNvPr>
          <p:cNvPicPr>
            <a:picLocks noChangeAspect="1"/>
          </p:cNvPicPr>
          <p:nvPr/>
        </p:nvPicPr>
        <p:blipFill>
          <a:blip r:embed="rId18"/>
          <a:stretch>
            <a:fillRect/>
          </a:stretch>
        </p:blipFill>
        <p:spPr>
          <a:xfrm>
            <a:off x="8275320" y="4681728"/>
            <a:ext cx="274320" cy="274320"/>
          </a:xfrm>
          <a:prstGeom prst="rect">
            <a:avLst/>
          </a:prstGeom>
        </p:spPr>
      </p:pic>
      <p:sp>
        <p:nvSpPr>
          <p:cNvPr id="47" name="Text 31"/>
          <p:cNvSpPr txBox="1"/>
          <p:nvPr/>
        </p:nvSpPr>
        <p:spPr>
          <a:xfrm>
            <a:off x="864108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Tables, then three advocates</a:t>
            </a:r>
            <a:endParaRPr lang="en-US" sz="1200" dirty="0"/>
          </a:p>
        </p:txBody>
      </p:sp>
      <p:pic>
        <p:nvPicPr>
          <p:cNvPr id="48" name="Image 14" descr="/private/tmp/claude-501/-Users-salehhamed-Outcome-Engine/91861432-41e2-4884-bc97-63c6dff2d021/scratchpad/wk/icons/TbGauge-grey.png">    </p:cNvPr>
          <p:cNvPicPr>
            <a:picLocks noChangeAspect="1"/>
          </p:cNvPicPr>
          <p:nvPr/>
        </p:nvPicPr>
        <p:blipFill>
          <a:blip r:embed="rId19"/>
          <a:stretch>
            <a:fillRect/>
          </a:stretch>
        </p:blipFill>
        <p:spPr>
          <a:xfrm>
            <a:off x="8275320" y="5065776"/>
            <a:ext cx="274320" cy="274320"/>
          </a:xfrm>
          <a:prstGeom prst="rect">
            <a:avLst/>
          </a:prstGeom>
        </p:spPr>
      </p:pic>
      <p:sp>
        <p:nvSpPr>
          <p:cNvPr id="49" name="Text 32"/>
          <p:cNvSpPr txBox="1"/>
          <p:nvPr/>
        </p:nvSpPr>
        <p:spPr>
          <a:xfrm>
            <a:off x="864108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50" name="Text 33"/>
          <p:cNvSpPr txBox="1"/>
          <p:nvPr/>
        </p:nvSpPr>
        <p:spPr>
          <a:xfrm>
            <a:off x="827532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morning produced strong real cases.</a:t>
            </a:r>
            <a:endParaRPr lang="en-US" sz="1150" dirty="0"/>
          </a:p>
        </p:txBody>
      </p:sp>
      <p:pic>
        <p:nvPicPr>
          <p:cNvPr id="51" name="Image 15" descr="/private/tmp/claude-501/-Users-salehhamed-Outcome-Engine/91861432-41e2-4884-bc97-63c6dff2d021/scratchpad/wk/brand/clear.png">
            <a:hlinkClick r:id="rId21" tooltip="Option C" action="ppaction://hlinksldjump"/>
          </p:cNvPr>
          <p:cNvPicPr>
            <a:picLocks noChangeAspect="1"/>
          </p:cNvPicPr>
          <p:nvPr/>
        </p:nvPicPr>
        <p:blipFill>
          <a:blip r:embed="rId20"/>
          <a:stretch>
            <a:fillRect/>
          </a:stretch>
        </p:blipFill>
        <p:spPr>
          <a:xfrm>
            <a:off x="8046720" y="1463040"/>
            <a:ext cx="3566160" cy="466344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OPTION A · HANDS-ON · THE OUTCOME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Build the sentence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11:00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62</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Tables build the outcome from phrase cards, then the room walks to where it should end.</a:t>
            </a:r>
            <a:endParaRPr lang="en-US" sz="1900" dirty="0"/>
          </a:p>
        </p:txBody>
      </p:sp>
      <p:sp>
        <p:nvSpPr>
          <p:cNvPr id="8" name="Shape 5"/>
          <p:cNvSpPr/>
          <p:nvPr/>
        </p:nvSpPr>
        <p:spPr>
          <a:xfrm>
            <a:off x="548640" y="2240280"/>
            <a:ext cx="1196137" cy="1417320"/>
          </a:xfrm>
          <a:prstGeom prst="rect">
            <a:avLst/>
          </a:prstGeom>
          <a:solidFill>
            <a:srgbClr val="287079"/>
          </a:solidFill>
          <a:ln/>
        </p:spPr>
      </p:sp>
      <p:sp>
        <p:nvSpPr>
          <p:cNvPr id="9" name="Text 6"/>
          <p:cNvSpPr txBox="1"/>
          <p:nvPr/>
        </p:nvSpPr>
        <p:spPr>
          <a:xfrm>
            <a:off x="640080" y="2331720"/>
            <a:ext cx="104983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0" name="Text 7"/>
          <p:cNvSpPr txBox="1"/>
          <p:nvPr/>
        </p:nvSpPr>
        <p:spPr>
          <a:xfrm>
            <a:off x="640080" y="2651760"/>
            <a:ext cx="1086409" cy="91440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Four tests</a:t>
            </a:r>
            <a:endParaRPr lang="en-US" sz="1200" dirty="0"/>
          </a:p>
        </p:txBody>
      </p:sp>
      <p:sp>
        <p:nvSpPr>
          <p:cNvPr id="11" name="Shape 8"/>
          <p:cNvSpPr/>
          <p:nvPr/>
        </p:nvSpPr>
        <p:spPr>
          <a:xfrm>
            <a:off x="1781353" y="2240280"/>
            <a:ext cx="3045206" cy="1417320"/>
          </a:xfrm>
          <a:prstGeom prst="rect">
            <a:avLst/>
          </a:prstGeom>
          <a:solidFill>
            <a:srgbClr val="5C8F95"/>
          </a:solidFill>
          <a:ln/>
        </p:spPr>
      </p:sp>
      <p:sp>
        <p:nvSpPr>
          <p:cNvPr id="12" name="Text 9"/>
          <p:cNvSpPr txBox="1"/>
          <p:nvPr/>
        </p:nvSpPr>
        <p:spPr>
          <a:xfrm>
            <a:off x="1872793" y="2331720"/>
            <a:ext cx="2898902"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25 min</a:t>
            </a:r>
            <a:endParaRPr lang="en-US" sz="1150" dirty="0"/>
          </a:p>
        </p:txBody>
      </p:sp>
      <p:sp>
        <p:nvSpPr>
          <p:cNvPr id="13" name="Text 10"/>
          <p:cNvSpPr txBox="1"/>
          <p:nvPr/>
        </p:nvSpPr>
        <p:spPr>
          <a:xfrm>
            <a:off x="1872793" y="2651760"/>
            <a:ext cx="2935478"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Build sentences</a:t>
            </a:r>
            <a:endParaRPr lang="en-US" sz="1500" dirty="0"/>
          </a:p>
        </p:txBody>
      </p:sp>
      <p:sp>
        <p:nvSpPr>
          <p:cNvPr id="14" name="Shape 11"/>
          <p:cNvSpPr/>
          <p:nvPr/>
        </p:nvSpPr>
        <p:spPr>
          <a:xfrm>
            <a:off x="4863135" y="2240280"/>
            <a:ext cx="1812493" cy="1417320"/>
          </a:xfrm>
          <a:prstGeom prst="rect">
            <a:avLst/>
          </a:prstGeom>
          <a:solidFill>
            <a:srgbClr val="287079"/>
          </a:solidFill>
          <a:ln/>
        </p:spPr>
      </p:sp>
      <p:sp>
        <p:nvSpPr>
          <p:cNvPr id="15" name="Text 12"/>
          <p:cNvSpPr txBox="1"/>
          <p:nvPr/>
        </p:nvSpPr>
        <p:spPr>
          <a:xfrm>
            <a:off x="4954575"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6" name="Text 13"/>
          <p:cNvSpPr txBox="1"/>
          <p:nvPr/>
        </p:nvSpPr>
        <p:spPr>
          <a:xfrm>
            <a:off x="4954575"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Merge into one</a:t>
            </a:r>
            <a:endParaRPr lang="en-US" sz="1500" dirty="0"/>
          </a:p>
        </p:txBody>
      </p:sp>
      <p:sp>
        <p:nvSpPr>
          <p:cNvPr id="17" name="Shape 14"/>
          <p:cNvSpPr/>
          <p:nvPr/>
        </p:nvSpPr>
        <p:spPr>
          <a:xfrm>
            <a:off x="6712204" y="2240280"/>
            <a:ext cx="1812493" cy="1417320"/>
          </a:xfrm>
          <a:prstGeom prst="rect">
            <a:avLst/>
          </a:prstGeom>
          <a:solidFill>
            <a:srgbClr val="5C8F95"/>
          </a:solidFill>
          <a:ln/>
        </p:spPr>
      </p:sp>
      <p:sp>
        <p:nvSpPr>
          <p:cNvPr id="18" name="Text 15"/>
          <p:cNvSpPr txBox="1"/>
          <p:nvPr/>
        </p:nvSpPr>
        <p:spPr>
          <a:xfrm>
            <a:off x="6803644"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9" name="Text 16"/>
          <p:cNvSpPr txBox="1"/>
          <p:nvPr/>
        </p:nvSpPr>
        <p:spPr>
          <a:xfrm>
            <a:off x="6803644"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Walk to the end</a:t>
            </a:r>
            <a:endParaRPr lang="en-US" sz="1500" dirty="0"/>
          </a:p>
        </p:txBody>
      </p:sp>
      <p:sp>
        <p:nvSpPr>
          <p:cNvPr id="20" name="Shape 17"/>
          <p:cNvSpPr/>
          <p:nvPr/>
        </p:nvSpPr>
        <p:spPr>
          <a:xfrm>
            <a:off x="8561273" y="2240280"/>
            <a:ext cx="2428850" cy="1417320"/>
          </a:xfrm>
          <a:prstGeom prst="rect">
            <a:avLst/>
          </a:prstGeom>
          <a:solidFill>
            <a:srgbClr val="287079"/>
          </a:solidFill>
          <a:ln/>
        </p:spPr>
      </p:sp>
      <p:sp>
        <p:nvSpPr>
          <p:cNvPr id="21" name="Text 18"/>
          <p:cNvSpPr txBox="1"/>
          <p:nvPr/>
        </p:nvSpPr>
        <p:spPr>
          <a:xfrm>
            <a:off x="8652713" y="2331720"/>
            <a:ext cx="2282546"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20 min</a:t>
            </a:r>
            <a:endParaRPr lang="en-US" sz="1150" dirty="0"/>
          </a:p>
        </p:txBody>
      </p:sp>
      <p:sp>
        <p:nvSpPr>
          <p:cNvPr id="22" name="Text 19"/>
          <p:cNvSpPr txBox="1"/>
          <p:nvPr/>
        </p:nvSpPr>
        <p:spPr>
          <a:xfrm>
            <a:off x="8652713" y="2651760"/>
            <a:ext cx="2319122"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Sort done checks</a:t>
            </a:r>
            <a:endParaRPr lang="en-US" sz="1500" dirty="0"/>
          </a:p>
        </p:txBody>
      </p:sp>
      <p:sp>
        <p:nvSpPr>
          <p:cNvPr id="23" name="Shape 20"/>
          <p:cNvSpPr/>
          <p:nvPr/>
        </p:nvSpPr>
        <p:spPr>
          <a:xfrm>
            <a:off x="11026699" y="2240280"/>
            <a:ext cx="579780" cy="1417320"/>
          </a:xfrm>
          <a:prstGeom prst="rect">
            <a:avLst/>
          </a:prstGeom>
          <a:solidFill>
            <a:srgbClr val="5C8F95"/>
          </a:solidFill>
          <a:ln/>
        </p:spPr>
      </p:sp>
      <p:sp>
        <p:nvSpPr>
          <p:cNvPr id="24" name="Text 21"/>
          <p:cNvSpPr txBox="1"/>
          <p:nvPr/>
        </p:nvSpPr>
        <p:spPr>
          <a:xfrm>
            <a:off x="11118139" y="2331720"/>
            <a:ext cx="433476"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25" name="Text 22"/>
          <p:cNvSpPr txBox="1"/>
          <p:nvPr/>
        </p:nvSpPr>
        <p:spPr>
          <a:xfrm>
            <a:off x="11118139" y="2651760"/>
            <a:ext cx="470052"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Check</a:t>
            </a:r>
            <a:endParaRPr lang="en-US" sz="950" dirty="0"/>
          </a:p>
        </p:txBody>
      </p:sp>
      <p:sp>
        <p:nvSpPr>
          <p:cNvPr id="26" name="Shape 23"/>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7"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8" name="Text 24"/>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9" name="Text 25"/>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Tables of 3 or 4, then whole room</a:t>
            </a:r>
            <a:endParaRPr lang="en-US" sz="1300" dirty="0"/>
          </a:p>
        </p:txBody>
      </p:sp>
      <p:sp>
        <p:nvSpPr>
          <p:cNvPr id="30" name="Shape 26"/>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31"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32" name="Text 27"/>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33" name="Text 28"/>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The outcome sentence, the end point chosen, the done checks with keep, change or drop.</a:t>
            </a:r>
            <a:endParaRPr lang="en-US" sz="1300" dirty="0"/>
          </a:p>
        </p:txBody>
      </p:sp>
      <p:sp>
        <p:nvSpPr>
          <p:cNvPr id="34" name="Shape 29"/>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35"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36" name="Text 30"/>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37" name="Text 31"/>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FF462D"/>
                </a:solidFill>
                <a:latin typeface="Arial" pitchFamily="34" charset="0"/>
                <a:ea typeface="Arial" pitchFamily="34" charset="-122"/>
                <a:cs typeface="Arial" pitchFamily="34" charset="-120"/>
              </a:rPr>
              <a:t>OPTION B · LIVE VOTING · THE OUTCOME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Fix the draft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11:00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63</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Start from the draft; phones propose edits, vote on the end point and mark each done check.</a:t>
            </a:r>
            <a:endParaRPr lang="en-US" sz="1900" dirty="0"/>
          </a:p>
        </p:txBody>
      </p:sp>
      <p:sp>
        <p:nvSpPr>
          <p:cNvPr id="8" name="Shape 5"/>
          <p:cNvSpPr/>
          <p:nvPr/>
        </p:nvSpPr>
        <p:spPr>
          <a:xfrm>
            <a:off x="548640" y="2240280"/>
            <a:ext cx="1196137" cy="1417320"/>
          </a:xfrm>
          <a:prstGeom prst="rect">
            <a:avLst/>
          </a:prstGeom>
          <a:solidFill>
            <a:srgbClr val="FF462D"/>
          </a:solidFill>
          <a:ln/>
        </p:spPr>
      </p:sp>
      <p:sp>
        <p:nvSpPr>
          <p:cNvPr id="9" name="Text 6"/>
          <p:cNvSpPr txBox="1"/>
          <p:nvPr/>
        </p:nvSpPr>
        <p:spPr>
          <a:xfrm>
            <a:off x="640080" y="2331720"/>
            <a:ext cx="104983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0" name="Text 7"/>
          <p:cNvSpPr txBox="1"/>
          <p:nvPr/>
        </p:nvSpPr>
        <p:spPr>
          <a:xfrm>
            <a:off x="640080" y="2651760"/>
            <a:ext cx="1086409" cy="91440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Four tests quiz</a:t>
            </a:r>
            <a:endParaRPr lang="en-US" sz="1200" dirty="0"/>
          </a:p>
        </p:txBody>
      </p:sp>
      <p:sp>
        <p:nvSpPr>
          <p:cNvPr id="11" name="Shape 8"/>
          <p:cNvSpPr/>
          <p:nvPr/>
        </p:nvSpPr>
        <p:spPr>
          <a:xfrm>
            <a:off x="1781353" y="2240280"/>
            <a:ext cx="3045206" cy="1417320"/>
          </a:xfrm>
          <a:prstGeom prst="rect">
            <a:avLst/>
          </a:prstGeom>
          <a:solidFill>
            <a:srgbClr val="FF8A78"/>
          </a:solidFill>
          <a:ln/>
        </p:spPr>
      </p:sp>
      <p:sp>
        <p:nvSpPr>
          <p:cNvPr id="12" name="Text 9"/>
          <p:cNvSpPr txBox="1"/>
          <p:nvPr/>
        </p:nvSpPr>
        <p:spPr>
          <a:xfrm>
            <a:off x="1872793" y="2331720"/>
            <a:ext cx="2898902"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25 min</a:t>
            </a:r>
            <a:endParaRPr lang="en-US" sz="1150" dirty="0"/>
          </a:p>
        </p:txBody>
      </p:sp>
      <p:sp>
        <p:nvSpPr>
          <p:cNvPr id="13" name="Text 10"/>
          <p:cNvSpPr txBox="1"/>
          <p:nvPr/>
        </p:nvSpPr>
        <p:spPr>
          <a:xfrm>
            <a:off x="1872793" y="2651760"/>
            <a:ext cx="2935478"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Fix the draft</a:t>
            </a:r>
            <a:endParaRPr lang="en-US" sz="1500" dirty="0"/>
          </a:p>
        </p:txBody>
      </p:sp>
      <p:sp>
        <p:nvSpPr>
          <p:cNvPr id="14" name="Shape 11"/>
          <p:cNvSpPr/>
          <p:nvPr/>
        </p:nvSpPr>
        <p:spPr>
          <a:xfrm>
            <a:off x="4863135" y="2240280"/>
            <a:ext cx="1812493" cy="1417320"/>
          </a:xfrm>
          <a:prstGeom prst="rect">
            <a:avLst/>
          </a:prstGeom>
          <a:solidFill>
            <a:srgbClr val="FF462D"/>
          </a:solidFill>
          <a:ln/>
        </p:spPr>
      </p:sp>
      <p:sp>
        <p:nvSpPr>
          <p:cNvPr id="15" name="Text 12"/>
          <p:cNvSpPr txBox="1"/>
          <p:nvPr/>
        </p:nvSpPr>
        <p:spPr>
          <a:xfrm>
            <a:off x="4954575"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6" name="Text 13"/>
          <p:cNvSpPr txBox="1"/>
          <p:nvPr/>
        </p:nvSpPr>
        <p:spPr>
          <a:xfrm>
            <a:off x="4954575"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Vote the end</a:t>
            </a:r>
            <a:endParaRPr lang="en-US" sz="1500" dirty="0"/>
          </a:p>
        </p:txBody>
      </p:sp>
      <p:sp>
        <p:nvSpPr>
          <p:cNvPr id="17" name="Shape 14"/>
          <p:cNvSpPr/>
          <p:nvPr/>
        </p:nvSpPr>
        <p:spPr>
          <a:xfrm>
            <a:off x="6712204" y="2240280"/>
            <a:ext cx="3661562" cy="1417320"/>
          </a:xfrm>
          <a:prstGeom prst="rect">
            <a:avLst/>
          </a:prstGeom>
          <a:solidFill>
            <a:srgbClr val="FF8A78"/>
          </a:solidFill>
          <a:ln/>
        </p:spPr>
      </p:sp>
      <p:sp>
        <p:nvSpPr>
          <p:cNvPr id="18" name="Text 15"/>
          <p:cNvSpPr txBox="1"/>
          <p:nvPr/>
        </p:nvSpPr>
        <p:spPr>
          <a:xfrm>
            <a:off x="6803644"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30 min</a:t>
            </a:r>
            <a:endParaRPr lang="en-US" sz="1150" dirty="0"/>
          </a:p>
        </p:txBody>
      </p:sp>
      <p:sp>
        <p:nvSpPr>
          <p:cNvPr id="19" name="Text 16"/>
          <p:cNvSpPr txBox="1"/>
          <p:nvPr/>
        </p:nvSpPr>
        <p:spPr>
          <a:xfrm>
            <a:off x="6803644"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Mark done checks</a:t>
            </a:r>
            <a:endParaRPr lang="en-US" sz="1500" dirty="0"/>
          </a:p>
        </p:txBody>
      </p:sp>
      <p:sp>
        <p:nvSpPr>
          <p:cNvPr id="20" name="Shape 17"/>
          <p:cNvSpPr/>
          <p:nvPr/>
        </p:nvSpPr>
        <p:spPr>
          <a:xfrm>
            <a:off x="10410342" y="2240280"/>
            <a:ext cx="1196137" cy="1417320"/>
          </a:xfrm>
          <a:prstGeom prst="rect">
            <a:avLst/>
          </a:prstGeom>
          <a:solidFill>
            <a:srgbClr val="FF462D"/>
          </a:solidFill>
          <a:ln/>
        </p:spPr>
      </p:sp>
      <p:sp>
        <p:nvSpPr>
          <p:cNvPr id="21" name="Text 18"/>
          <p:cNvSpPr txBox="1"/>
          <p:nvPr/>
        </p:nvSpPr>
        <p:spPr>
          <a:xfrm>
            <a:off x="10501782" y="2331720"/>
            <a:ext cx="104983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22" name="Text 19"/>
          <p:cNvSpPr txBox="1"/>
          <p:nvPr/>
        </p:nvSpPr>
        <p:spPr>
          <a:xfrm>
            <a:off x="10501782" y="2651760"/>
            <a:ext cx="1086409" cy="91440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Check</a:t>
            </a:r>
            <a:endParaRPr lang="en-US" sz="1200" dirty="0"/>
          </a:p>
        </p:txBody>
      </p:sp>
      <p:sp>
        <p:nvSpPr>
          <p:cNvPr id="23" name="Shape 20"/>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4"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5" name="Text 21"/>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6" name="Text 22"/>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Each person, then whole room</a:t>
            </a:r>
            <a:endParaRPr lang="en-US" sz="1300" dirty="0"/>
          </a:p>
        </p:txBody>
      </p:sp>
      <p:sp>
        <p:nvSpPr>
          <p:cNvPr id="27" name="Shape 23"/>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8"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9" name="Text 24"/>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30" name="Text 25"/>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Final sentence, the end-point vote and reasons, done-check marks, all saved in the room tool.</a:t>
            </a:r>
            <a:endParaRPr lang="en-US" sz="1300" dirty="0"/>
          </a:p>
        </p:txBody>
      </p:sp>
      <p:sp>
        <p:nvSpPr>
          <p:cNvPr id="31" name="Shape 26"/>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32"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33" name="Text 27"/>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34" name="Text 28"/>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36454F"/>
                </a:solidFill>
                <a:latin typeface="Arial" pitchFamily="34" charset="0"/>
                <a:ea typeface="Arial" pitchFamily="34" charset="-122"/>
                <a:cs typeface="Arial" pitchFamily="34" charset="-120"/>
              </a:rPr>
              <a:t>OPTION C · CASES AND CONVERSATION · THE OUTCOME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Test it on your case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11:00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64</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Hold the draft up against the morning's real cases and argue where it should end.</a:t>
            </a:r>
            <a:endParaRPr lang="en-US" sz="1900" dirty="0"/>
          </a:p>
        </p:txBody>
      </p:sp>
      <p:sp>
        <p:nvSpPr>
          <p:cNvPr id="8" name="Shape 5"/>
          <p:cNvSpPr/>
          <p:nvPr/>
        </p:nvSpPr>
        <p:spPr>
          <a:xfrm>
            <a:off x="548640" y="2240280"/>
            <a:ext cx="1196137" cy="1417320"/>
          </a:xfrm>
          <a:prstGeom prst="rect">
            <a:avLst/>
          </a:prstGeom>
          <a:solidFill>
            <a:srgbClr val="36454F"/>
          </a:solidFill>
          <a:ln/>
        </p:spPr>
      </p:sp>
      <p:sp>
        <p:nvSpPr>
          <p:cNvPr id="9" name="Text 6"/>
          <p:cNvSpPr txBox="1"/>
          <p:nvPr/>
        </p:nvSpPr>
        <p:spPr>
          <a:xfrm>
            <a:off x="640080" y="2331720"/>
            <a:ext cx="104983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0" name="Text 7"/>
          <p:cNvSpPr txBox="1"/>
          <p:nvPr/>
        </p:nvSpPr>
        <p:spPr>
          <a:xfrm>
            <a:off x="640080" y="2651760"/>
            <a:ext cx="1086409" cy="91440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Four tests</a:t>
            </a:r>
            <a:endParaRPr lang="en-US" sz="1200" dirty="0"/>
          </a:p>
        </p:txBody>
      </p:sp>
      <p:sp>
        <p:nvSpPr>
          <p:cNvPr id="11" name="Shape 8"/>
          <p:cNvSpPr/>
          <p:nvPr/>
        </p:nvSpPr>
        <p:spPr>
          <a:xfrm>
            <a:off x="1781353" y="2240280"/>
            <a:ext cx="3045206" cy="1417320"/>
          </a:xfrm>
          <a:prstGeom prst="rect">
            <a:avLst/>
          </a:prstGeom>
          <a:solidFill>
            <a:srgbClr val="6B7B86"/>
          </a:solidFill>
          <a:ln/>
        </p:spPr>
      </p:sp>
      <p:sp>
        <p:nvSpPr>
          <p:cNvPr id="12" name="Text 9"/>
          <p:cNvSpPr txBox="1"/>
          <p:nvPr/>
        </p:nvSpPr>
        <p:spPr>
          <a:xfrm>
            <a:off x="1872793" y="2331720"/>
            <a:ext cx="2898902"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25 min</a:t>
            </a:r>
            <a:endParaRPr lang="en-US" sz="1150" dirty="0"/>
          </a:p>
        </p:txBody>
      </p:sp>
      <p:sp>
        <p:nvSpPr>
          <p:cNvPr id="13" name="Text 10"/>
          <p:cNvSpPr txBox="1"/>
          <p:nvPr/>
        </p:nvSpPr>
        <p:spPr>
          <a:xfrm>
            <a:off x="1872793" y="2651760"/>
            <a:ext cx="2935478"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Test on your case</a:t>
            </a:r>
            <a:endParaRPr lang="en-US" sz="1500" dirty="0"/>
          </a:p>
        </p:txBody>
      </p:sp>
      <p:sp>
        <p:nvSpPr>
          <p:cNvPr id="14" name="Shape 11"/>
          <p:cNvSpPr/>
          <p:nvPr/>
        </p:nvSpPr>
        <p:spPr>
          <a:xfrm>
            <a:off x="4863135" y="2240280"/>
            <a:ext cx="1812493" cy="1417320"/>
          </a:xfrm>
          <a:prstGeom prst="rect">
            <a:avLst/>
          </a:prstGeom>
          <a:solidFill>
            <a:srgbClr val="36454F"/>
          </a:solidFill>
          <a:ln/>
        </p:spPr>
      </p:sp>
      <p:sp>
        <p:nvSpPr>
          <p:cNvPr id="15" name="Text 12"/>
          <p:cNvSpPr txBox="1"/>
          <p:nvPr/>
        </p:nvSpPr>
        <p:spPr>
          <a:xfrm>
            <a:off x="4954575"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6" name="Text 13"/>
          <p:cNvSpPr txBox="1"/>
          <p:nvPr/>
        </p:nvSpPr>
        <p:spPr>
          <a:xfrm>
            <a:off x="4954575"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Argue the end</a:t>
            </a:r>
            <a:endParaRPr lang="en-US" sz="1500" dirty="0"/>
          </a:p>
        </p:txBody>
      </p:sp>
      <p:sp>
        <p:nvSpPr>
          <p:cNvPr id="17" name="Shape 14"/>
          <p:cNvSpPr/>
          <p:nvPr/>
        </p:nvSpPr>
        <p:spPr>
          <a:xfrm>
            <a:off x="6712204" y="2240280"/>
            <a:ext cx="3661562" cy="1417320"/>
          </a:xfrm>
          <a:prstGeom prst="rect">
            <a:avLst/>
          </a:prstGeom>
          <a:solidFill>
            <a:srgbClr val="6B7B86"/>
          </a:solidFill>
          <a:ln/>
        </p:spPr>
      </p:sp>
      <p:sp>
        <p:nvSpPr>
          <p:cNvPr id="18" name="Text 15"/>
          <p:cNvSpPr txBox="1"/>
          <p:nvPr/>
        </p:nvSpPr>
        <p:spPr>
          <a:xfrm>
            <a:off x="6803644"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30 min</a:t>
            </a:r>
            <a:endParaRPr lang="en-US" sz="1150" dirty="0"/>
          </a:p>
        </p:txBody>
      </p:sp>
      <p:sp>
        <p:nvSpPr>
          <p:cNvPr id="19" name="Text 16"/>
          <p:cNvSpPr txBox="1"/>
          <p:nvPr/>
        </p:nvSpPr>
        <p:spPr>
          <a:xfrm>
            <a:off x="6803644"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Run Northgate</a:t>
            </a:r>
            <a:endParaRPr lang="en-US" sz="1500" dirty="0"/>
          </a:p>
        </p:txBody>
      </p:sp>
      <p:sp>
        <p:nvSpPr>
          <p:cNvPr id="20" name="Shape 17"/>
          <p:cNvSpPr/>
          <p:nvPr/>
        </p:nvSpPr>
        <p:spPr>
          <a:xfrm>
            <a:off x="10410342" y="2240280"/>
            <a:ext cx="1196137" cy="1417320"/>
          </a:xfrm>
          <a:prstGeom prst="rect">
            <a:avLst/>
          </a:prstGeom>
          <a:solidFill>
            <a:srgbClr val="36454F"/>
          </a:solidFill>
          <a:ln/>
        </p:spPr>
      </p:sp>
      <p:sp>
        <p:nvSpPr>
          <p:cNvPr id="21" name="Text 18"/>
          <p:cNvSpPr txBox="1"/>
          <p:nvPr/>
        </p:nvSpPr>
        <p:spPr>
          <a:xfrm>
            <a:off x="10501782" y="2331720"/>
            <a:ext cx="104983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22" name="Text 19"/>
          <p:cNvSpPr txBox="1"/>
          <p:nvPr/>
        </p:nvSpPr>
        <p:spPr>
          <a:xfrm>
            <a:off x="10501782" y="2651760"/>
            <a:ext cx="1086409" cy="91440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Check</a:t>
            </a:r>
            <a:endParaRPr lang="en-US" sz="1200" dirty="0"/>
          </a:p>
        </p:txBody>
      </p:sp>
      <p:sp>
        <p:nvSpPr>
          <p:cNvPr id="23" name="Shape 20"/>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4"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5" name="Text 21"/>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6" name="Text 22"/>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Tables, then three advocates</a:t>
            </a:r>
            <a:endParaRPr lang="en-US" sz="1300" dirty="0"/>
          </a:p>
        </p:txBody>
      </p:sp>
      <p:sp>
        <p:nvSpPr>
          <p:cNvPr id="27" name="Shape 23"/>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8"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9" name="Text 24"/>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30" name="Text 25"/>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Edits tied to real cases, the end point, and the done checks with Northgate pass or fail.</a:t>
            </a:r>
            <a:endParaRPr lang="en-US" sz="1300" dirty="0"/>
          </a:p>
        </p:txBody>
      </p:sp>
      <p:sp>
        <p:nvSpPr>
          <p:cNvPr id="31" name="Shape 26"/>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32"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33" name="Text 27"/>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34" name="Text 28"/>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THE OUTCOME · FILL IN LIVE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What we agreed: the outcome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11:00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65</a:t>
            </a:r>
            <a:endParaRPr lang="en-US" sz="1000" dirty="0"/>
          </a:p>
        </p:txBody>
      </p:sp>
      <p:sp>
        <p:nvSpPr>
          <p:cNvPr id="7" name="Shape 4"/>
          <p:cNvSpPr/>
          <p:nvPr/>
        </p:nvSpPr>
        <p:spPr>
          <a:xfrm>
            <a:off x="548640" y="1463040"/>
            <a:ext cx="5440680" cy="2194560"/>
          </a:xfrm>
          <a:prstGeom prst="roundRect">
            <a:avLst>
              <a:gd name="adj" fmla="val 3333"/>
            </a:avLst>
          </a:prstGeom>
          <a:solidFill>
            <a:srgbClr val="FFFFFF"/>
          </a:solidFill>
          <a:ln w="12700">
            <a:solidFill>
              <a:srgbClr val="D9DEE2"/>
            </a:solidFill>
            <a:prstDash val="solid"/>
          </a:ln>
        </p:spPr>
      </p:sp>
      <p:sp>
        <p:nvSpPr>
          <p:cNvPr id="8" name="Shape 5"/>
          <p:cNvSpPr/>
          <p:nvPr/>
        </p:nvSpPr>
        <p:spPr>
          <a:xfrm>
            <a:off x="731520" y="1645920"/>
            <a:ext cx="548640" cy="548640"/>
          </a:xfrm>
          <a:prstGeom prst="ellipse">
            <a:avLst/>
          </a:prstGeom>
          <a:solidFill>
            <a:srgbClr val="287079"/>
          </a:solidFill>
          <a:ln/>
        </p:spPr>
      </p:sp>
      <p:pic>
        <p:nvPicPr>
          <p:cNvPr id="9" name="Image 1" descr="/private/tmp/claude-501/-Users-salehhamed-Outcome-Engine/91861432-41e2-4884-bc97-63c6dff2d021/scratchpad/wk/icons/TbTarget-white.png">    </p:cNvPr>
          <p:cNvPicPr>
            <a:picLocks noChangeAspect="1"/>
          </p:cNvPicPr>
          <p:nvPr/>
        </p:nvPicPr>
        <p:blipFill>
          <a:blip r:embed="rId4"/>
          <a:stretch>
            <a:fillRect/>
          </a:stretch>
        </p:blipFill>
        <p:spPr>
          <a:xfrm>
            <a:off x="841248" y="1755648"/>
            <a:ext cx="329184" cy="329184"/>
          </a:xfrm>
          <a:prstGeom prst="rect">
            <a:avLst/>
          </a:prstGeom>
        </p:spPr>
      </p:pic>
      <p:sp>
        <p:nvSpPr>
          <p:cNvPr id="10" name="Text 6"/>
          <p:cNvSpPr txBox="1"/>
          <p:nvPr/>
        </p:nvSpPr>
        <p:spPr>
          <a:xfrm>
            <a:off x="1463040" y="1645920"/>
            <a:ext cx="4297680" cy="5486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Our outcome, in one sentence</a:t>
            </a:r>
            <a:endParaRPr lang="en-US" sz="1600" dirty="0"/>
          </a:p>
        </p:txBody>
      </p:sp>
      <p:sp>
        <p:nvSpPr>
          <p:cNvPr id="11" name="Shape 7"/>
          <p:cNvSpPr/>
          <p:nvPr/>
        </p:nvSpPr>
        <p:spPr>
          <a:xfrm>
            <a:off x="6172200" y="1463040"/>
            <a:ext cx="5440680" cy="2194560"/>
          </a:xfrm>
          <a:prstGeom prst="roundRect">
            <a:avLst>
              <a:gd name="adj" fmla="val 3333"/>
            </a:avLst>
          </a:prstGeom>
          <a:solidFill>
            <a:srgbClr val="FFFFFF"/>
          </a:solidFill>
          <a:ln w="12700">
            <a:solidFill>
              <a:srgbClr val="D9DEE2"/>
            </a:solidFill>
            <a:prstDash val="solid"/>
          </a:ln>
        </p:spPr>
      </p:sp>
      <p:sp>
        <p:nvSpPr>
          <p:cNvPr id="12" name="Shape 8"/>
          <p:cNvSpPr/>
          <p:nvPr/>
        </p:nvSpPr>
        <p:spPr>
          <a:xfrm>
            <a:off x="6355080" y="1645920"/>
            <a:ext cx="548640" cy="548640"/>
          </a:xfrm>
          <a:prstGeom prst="ellipse">
            <a:avLst/>
          </a:prstGeom>
          <a:solidFill>
            <a:srgbClr val="287079"/>
          </a:solidFill>
          <a:ln/>
        </p:spPr>
      </p:sp>
      <p:pic>
        <p:nvPicPr>
          <p:cNvPr id="13" name="Image 2" descr="/private/tmp/claude-501/-Users-salehhamed-Outcome-Engine/91861432-41e2-4884-bc97-63c6dff2d021/scratchpad/wk/icons/TbFlag3-white.png">    </p:cNvPr>
          <p:cNvPicPr>
            <a:picLocks noChangeAspect="1"/>
          </p:cNvPicPr>
          <p:nvPr/>
        </p:nvPicPr>
        <p:blipFill>
          <a:blip r:embed="rId5"/>
          <a:stretch>
            <a:fillRect/>
          </a:stretch>
        </p:blipFill>
        <p:spPr>
          <a:xfrm>
            <a:off x="6464808" y="1755648"/>
            <a:ext cx="329184" cy="329184"/>
          </a:xfrm>
          <a:prstGeom prst="rect">
            <a:avLst/>
          </a:prstGeom>
        </p:spPr>
      </p:pic>
      <p:sp>
        <p:nvSpPr>
          <p:cNvPr id="14" name="Text 9"/>
          <p:cNvSpPr txBox="1"/>
          <p:nvPr/>
        </p:nvSpPr>
        <p:spPr>
          <a:xfrm>
            <a:off x="7086600" y="1645920"/>
            <a:ext cx="4297680" cy="5486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Where it ends: A, B or C</a:t>
            </a:r>
            <a:endParaRPr lang="en-US" sz="1600" dirty="0"/>
          </a:p>
        </p:txBody>
      </p:sp>
      <p:sp>
        <p:nvSpPr>
          <p:cNvPr id="15" name="Shape 10"/>
          <p:cNvSpPr/>
          <p:nvPr/>
        </p:nvSpPr>
        <p:spPr>
          <a:xfrm>
            <a:off x="548640" y="3840480"/>
            <a:ext cx="5440680" cy="2194560"/>
          </a:xfrm>
          <a:prstGeom prst="roundRect">
            <a:avLst>
              <a:gd name="adj" fmla="val 3333"/>
            </a:avLst>
          </a:prstGeom>
          <a:solidFill>
            <a:srgbClr val="FFFFFF"/>
          </a:solidFill>
          <a:ln w="12700">
            <a:solidFill>
              <a:srgbClr val="D9DEE2"/>
            </a:solidFill>
            <a:prstDash val="solid"/>
          </a:ln>
        </p:spPr>
      </p:sp>
      <p:sp>
        <p:nvSpPr>
          <p:cNvPr id="16" name="Shape 11"/>
          <p:cNvSpPr/>
          <p:nvPr/>
        </p:nvSpPr>
        <p:spPr>
          <a:xfrm>
            <a:off x="731520" y="4023360"/>
            <a:ext cx="548640" cy="548640"/>
          </a:xfrm>
          <a:prstGeom prst="ellipse">
            <a:avLst/>
          </a:prstGeom>
          <a:solidFill>
            <a:srgbClr val="287079"/>
          </a:solidFill>
          <a:ln/>
        </p:spPr>
      </p:sp>
      <p:pic>
        <p:nvPicPr>
          <p:cNvPr id="17" name="Image 3" descr="/private/tmp/claude-501/-Users-salehhamed-Outcome-Engine/91861432-41e2-4884-bc97-63c6dff2d021/scratchpad/wk/icons/TbListCheck-white.png">    </p:cNvPr>
          <p:cNvPicPr>
            <a:picLocks noChangeAspect="1"/>
          </p:cNvPicPr>
          <p:nvPr/>
        </p:nvPicPr>
        <p:blipFill>
          <a:blip r:embed="rId6"/>
          <a:stretch>
            <a:fillRect/>
          </a:stretch>
        </p:blipFill>
        <p:spPr>
          <a:xfrm>
            <a:off x="841248" y="4133088"/>
            <a:ext cx="329184" cy="329184"/>
          </a:xfrm>
          <a:prstGeom prst="rect">
            <a:avLst/>
          </a:prstGeom>
        </p:spPr>
      </p:pic>
      <p:sp>
        <p:nvSpPr>
          <p:cNvPr id="18" name="Text 12"/>
          <p:cNvSpPr txBox="1"/>
          <p:nvPr/>
        </p:nvSpPr>
        <p:spPr>
          <a:xfrm>
            <a:off x="1463040" y="4023360"/>
            <a:ext cx="4297680" cy="5486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Done checks we changed or dropped</a:t>
            </a:r>
            <a:endParaRPr lang="en-US" sz="1600" dirty="0"/>
          </a:p>
        </p:txBody>
      </p:sp>
      <p:sp>
        <p:nvSpPr>
          <p:cNvPr id="19" name="Shape 13"/>
          <p:cNvSpPr/>
          <p:nvPr/>
        </p:nvSpPr>
        <p:spPr>
          <a:xfrm>
            <a:off x="6172200" y="3840480"/>
            <a:ext cx="5440680" cy="2194560"/>
          </a:xfrm>
          <a:prstGeom prst="roundRect">
            <a:avLst>
              <a:gd name="adj" fmla="val 3333"/>
            </a:avLst>
          </a:prstGeom>
          <a:solidFill>
            <a:srgbClr val="FFFFFF"/>
          </a:solidFill>
          <a:ln w="12700">
            <a:solidFill>
              <a:srgbClr val="D9DEE2"/>
            </a:solidFill>
            <a:prstDash val="solid"/>
          </a:ln>
        </p:spPr>
      </p:sp>
      <p:sp>
        <p:nvSpPr>
          <p:cNvPr id="20" name="Shape 14"/>
          <p:cNvSpPr/>
          <p:nvPr/>
        </p:nvSpPr>
        <p:spPr>
          <a:xfrm>
            <a:off x="6355080" y="4023360"/>
            <a:ext cx="548640" cy="548640"/>
          </a:xfrm>
          <a:prstGeom prst="ellipse">
            <a:avLst/>
          </a:prstGeom>
          <a:solidFill>
            <a:srgbClr val="287079"/>
          </a:solidFill>
          <a:ln/>
        </p:spPr>
      </p:sp>
      <p:pic>
        <p:nvPicPr>
          <p:cNvPr id="21" name="Image 4" descr="/private/tmp/claude-501/-Users-salehhamed-Outcome-Engine/91861432-41e2-4884-bc97-63c6dff2d021/scratchpad/wk/icons/TbFolder-white.png">    </p:cNvPr>
          <p:cNvPicPr>
            <a:picLocks noChangeAspect="1"/>
          </p:cNvPicPr>
          <p:nvPr/>
        </p:nvPicPr>
        <p:blipFill>
          <a:blip r:embed="rId7"/>
          <a:stretch>
            <a:fillRect/>
          </a:stretch>
        </p:blipFill>
        <p:spPr>
          <a:xfrm>
            <a:off x="6464808" y="4133088"/>
            <a:ext cx="329184" cy="329184"/>
          </a:xfrm>
          <a:prstGeom prst="rect">
            <a:avLst/>
          </a:prstGeom>
        </p:spPr>
      </p:pic>
      <p:sp>
        <p:nvSpPr>
          <p:cNvPr id="22" name="Text 15"/>
          <p:cNvSpPr txBox="1"/>
          <p:nvPr/>
        </p:nvSpPr>
        <p:spPr>
          <a:xfrm>
            <a:off x="7086600" y="4023360"/>
            <a:ext cx="4297680" cy="5486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What a gap must carry</a:t>
            </a:r>
            <a:endParaRPr lang="en-US" sz="16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QUICK CHECK · HANDS UP OR PHONES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Which of these is an outcome?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11:00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66</a:t>
            </a:r>
            <a:endParaRPr lang="en-US" sz="1000" dirty="0"/>
          </a:p>
        </p:txBody>
      </p:sp>
      <p:sp>
        <p:nvSpPr>
          <p:cNvPr id="7" name="Shape 4"/>
          <p:cNvSpPr/>
          <p:nvPr/>
        </p:nvSpPr>
        <p:spPr>
          <a:xfrm>
            <a:off x="548640" y="1828800"/>
            <a:ext cx="11091672" cy="1005840"/>
          </a:xfrm>
          <a:prstGeom prst="roundRect">
            <a:avLst>
              <a:gd name="adj" fmla="val 7273"/>
            </a:avLst>
          </a:prstGeom>
          <a:solidFill>
            <a:srgbClr val="FFFFFF"/>
          </a:solidFill>
          <a:ln w="12700">
            <a:solidFill>
              <a:srgbClr val="D9DEE2"/>
            </a:solidFill>
            <a:prstDash val="solid"/>
          </a:ln>
        </p:spPr>
      </p:sp>
      <p:sp>
        <p:nvSpPr>
          <p:cNvPr id="8" name="Shape 5"/>
          <p:cNvSpPr/>
          <p:nvPr/>
        </p:nvSpPr>
        <p:spPr>
          <a:xfrm>
            <a:off x="777240" y="2057400"/>
            <a:ext cx="548640" cy="548640"/>
          </a:xfrm>
          <a:prstGeom prst="ellipse">
            <a:avLst/>
          </a:prstGeom>
          <a:solidFill>
            <a:srgbClr val="36454F"/>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Run a skills search for every new role on every deal over £1m, and send the results to the planner each week.</a:t>
            </a:r>
            <a:endParaRPr lang="en-US" sz="2000" dirty="0"/>
          </a:p>
        </p:txBody>
      </p:sp>
      <p:sp>
        <p:nvSpPr>
          <p:cNvPr id="11" name="Shape 8"/>
          <p:cNvSpPr/>
          <p:nvPr/>
        </p:nvSpPr>
        <p:spPr>
          <a:xfrm>
            <a:off x="548640" y="3017520"/>
            <a:ext cx="11091672" cy="1005840"/>
          </a:xfrm>
          <a:prstGeom prst="roundRect">
            <a:avLst>
              <a:gd name="adj" fmla="val 7273"/>
            </a:avLst>
          </a:prstGeom>
          <a:solidFill>
            <a:srgbClr val="FFFFFF"/>
          </a:solidFill>
          <a:ln w="12700">
            <a:solidFill>
              <a:srgbClr val="D9DEE2"/>
            </a:solidFill>
            <a:prstDash val="solid"/>
          </a:ln>
        </p:spPr>
      </p:sp>
      <p:sp>
        <p:nvSpPr>
          <p:cNvPr id="12" name="Shape 9"/>
          <p:cNvSpPr/>
          <p:nvPr/>
        </p:nvSpPr>
        <p:spPr>
          <a:xfrm>
            <a:off x="777240" y="3246120"/>
            <a:ext cx="548640" cy="548640"/>
          </a:xfrm>
          <a:prstGeom prst="ellipse">
            <a:avLst/>
          </a:prstGeom>
          <a:solidFill>
            <a:srgbClr val="36454F"/>
          </a:solidFill>
          <a:ln/>
        </p:spPr>
      </p:sp>
      <p:sp>
        <p:nvSpPr>
          <p:cNvPr id="13"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4"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Improve staffing for every big deal, so that clients get the right people, at the right level, and on time.</a:t>
            </a:r>
            <a:endParaRPr lang="en-US" sz="2000" dirty="0"/>
          </a:p>
        </p:txBody>
      </p:sp>
      <p:sp>
        <p:nvSpPr>
          <p:cNvPr id="15" name="Shape 12"/>
          <p:cNvSpPr/>
          <p:nvPr/>
        </p:nvSpPr>
        <p:spPr>
          <a:xfrm>
            <a:off x="548640" y="4206240"/>
            <a:ext cx="11091672" cy="1005840"/>
          </a:xfrm>
          <a:prstGeom prst="roundRect">
            <a:avLst>
              <a:gd name="adj" fmla="val 7273"/>
            </a:avLst>
          </a:prstGeom>
          <a:solidFill>
            <a:srgbClr val="FFFFFF"/>
          </a:solidFill>
          <a:ln w="12700">
            <a:solidFill>
              <a:srgbClr val="D9DEE2"/>
            </a:solidFill>
            <a:prstDash val="solid"/>
          </a:ln>
        </p:spPr>
      </p:sp>
      <p:sp>
        <p:nvSpPr>
          <p:cNvPr id="16" name="Shape 13"/>
          <p:cNvSpPr/>
          <p:nvPr/>
        </p:nvSpPr>
        <p:spPr>
          <a:xfrm>
            <a:off x="777240" y="4434840"/>
            <a:ext cx="548640" cy="548640"/>
          </a:xfrm>
          <a:prstGeom prst="ellipse">
            <a:avLst/>
          </a:prstGeom>
          <a:solidFill>
            <a:srgbClr val="36454F"/>
          </a:solidFill>
          <a:ln/>
        </p:spPr>
      </p:sp>
      <p:sp>
        <p:nvSpPr>
          <p:cNvPr id="17"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8"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For each deal over £1m, from the day it is real to signature, every role is held or a declared gap in the plan.</a:t>
            </a:r>
            <a:endParaRPr lang="en-US" sz="2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CHECK · THE ANSWER</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Which of these is an outcome?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11:00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67</a:t>
            </a:r>
            <a:endParaRPr lang="en-US" sz="1000" dirty="0"/>
          </a:p>
        </p:txBody>
      </p:sp>
      <p:sp>
        <p:nvSpPr>
          <p:cNvPr id="7" name="Shape 4"/>
          <p:cNvSpPr/>
          <p:nvPr/>
        </p:nvSpPr>
        <p:spPr>
          <a:xfrm>
            <a:off x="548640" y="1828800"/>
            <a:ext cx="11091672" cy="1005840"/>
          </a:xfrm>
          <a:prstGeom prst="roundRect">
            <a:avLst>
              <a:gd name="adj" fmla="val 7273"/>
            </a:avLst>
          </a:prstGeom>
          <a:solidFill>
            <a:srgbClr val="FFFFFF"/>
          </a:solidFill>
          <a:ln w="12700">
            <a:solidFill>
              <a:srgbClr val="D9DEE2"/>
            </a:solidFill>
            <a:prstDash val="solid"/>
          </a:ln>
        </p:spPr>
      </p:sp>
      <p:sp>
        <p:nvSpPr>
          <p:cNvPr id="8" name="Shape 5"/>
          <p:cNvSpPr/>
          <p:nvPr/>
        </p:nvSpPr>
        <p:spPr>
          <a:xfrm>
            <a:off x="777240" y="2057400"/>
            <a:ext cx="548640" cy="548640"/>
          </a:xfrm>
          <a:prstGeom prst="ellipse">
            <a:avLst/>
          </a:prstGeom>
          <a:solidFill>
            <a:srgbClr val="8A94A4"/>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Run a skills search for every new role on every deal over £1m, and send the results to the planner each week.</a:t>
            </a:r>
            <a:endParaRPr lang="en-US" sz="2000" dirty="0"/>
          </a:p>
        </p:txBody>
      </p:sp>
      <p:sp>
        <p:nvSpPr>
          <p:cNvPr id="11" name="Shape 8"/>
          <p:cNvSpPr/>
          <p:nvPr/>
        </p:nvSpPr>
        <p:spPr>
          <a:xfrm>
            <a:off x="548640" y="3017520"/>
            <a:ext cx="11091672" cy="1005840"/>
          </a:xfrm>
          <a:prstGeom prst="roundRect">
            <a:avLst>
              <a:gd name="adj" fmla="val 7273"/>
            </a:avLst>
          </a:prstGeom>
          <a:solidFill>
            <a:srgbClr val="FFFFFF"/>
          </a:solidFill>
          <a:ln w="12700">
            <a:solidFill>
              <a:srgbClr val="D9DEE2"/>
            </a:solidFill>
            <a:prstDash val="solid"/>
          </a:ln>
        </p:spPr>
      </p:sp>
      <p:sp>
        <p:nvSpPr>
          <p:cNvPr id="12" name="Shape 9"/>
          <p:cNvSpPr/>
          <p:nvPr/>
        </p:nvSpPr>
        <p:spPr>
          <a:xfrm>
            <a:off x="777240" y="3246120"/>
            <a:ext cx="548640" cy="548640"/>
          </a:xfrm>
          <a:prstGeom prst="ellipse">
            <a:avLst/>
          </a:prstGeom>
          <a:solidFill>
            <a:srgbClr val="8A94A4"/>
          </a:solidFill>
          <a:ln/>
        </p:spPr>
      </p:sp>
      <p:sp>
        <p:nvSpPr>
          <p:cNvPr id="13"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4"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Improve staffing for every big deal, so that clients get the right people, at the right level, and on time.</a:t>
            </a:r>
            <a:endParaRPr lang="en-US" sz="2000" dirty="0"/>
          </a:p>
        </p:txBody>
      </p:sp>
      <p:sp>
        <p:nvSpPr>
          <p:cNvPr id="15" name="Shape 12"/>
          <p:cNvSpPr/>
          <p:nvPr/>
        </p:nvSpPr>
        <p:spPr>
          <a:xfrm>
            <a:off x="548640" y="4206240"/>
            <a:ext cx="11091672" cy="1005840"/>
          </a:xfrm>
          <a:prstGeom prst="roundRect">
            <a:avLst>
              <a:gd name="adj" fmla="val 7273"/>
            </a:avLst>
          </a:prstGeom>
          <a:solidFill>
            <a:srgbClr val="E3F1E9"/>
          </a:solidFill>
          <a:ln w="12700">
            <a:solidFill>
              <a:srgbClr val="2E8656"/>
            </a:solidFill>
            <a:prstDash val="solid"/>
          </a:ln>
        </p:spPr>
      </p:sp>
      <p:sp>
        <p:nvSpPr>
          <p:cNvPr id="16" name="Shape 13"/>
          <p:cNvSpPr/>
          <p:nvPr/>
        </p:nvSpPr>
        <p:spPr>
          <a:xfrm>
            <a:off x="777240" y="4434840"/>
            <a:ext cx="548640" cy="548640"/>
          </a:xfrm>
          <a:prstGeom prst="ellipse">
            <a:avLst/>
          </a:prstGeom>
          <a:solidFill>
            <a:srgbClr val="2E8656"/>
          </a:solidFill>
          <a:ln/>
        </p:spPr>
      </p:sp>
      <p:sp>
        <p:nvSpPr>
          <p:cNvPr id="17"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8"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For each deal over £1m, from the day it is real to signature, every role is held or a declared gap in the plan.</a:t>
            </a:r>
            <a:endParaRPr lang="en-US" sz="2000" dirty="0"/>
          </a:p>
        </p:txBody>
      </p:sp>
      <p:pic>
        <p:nvPicPr>
          <p:cNvPr id="19" name="Image 1" descr="/private/tmp/claude-501/-Users-salehhamed-Outcome-Engine/91861432-41e2-4884-bc97-63c6dff2d021/scratchpad/wk/icons/TbCircleCheck-green.png">    </p:cNvPr>
          <p:cNvPicPr>
            <a:picLocks noChangeAspect="1"/>
          </p:cNvPicPr>
          <p:nvPr/>
        </p:nvPicPr>
        <p:blipFill>
          <a:blip r:embed="rId4"/>
          <a:stretch>
            <a:fillRect/>
          </a:stretch>
        </p:blipFill>
        <p:spPr>
          <a:xfrm>
            <a:off x="10927080" y="4434840"/>
            <a:ext cx="548640" cy="54864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LUNCH · BUILD STARTS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The build starts now</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12:30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68</a:t>
            </a:r>
            <a:endParaRPr lang="en-US" sz="1000" dirty="0"/>
          </a:p>
        </p:txBody>
      </p:sp>
      <p:sp>
        <p:nvSpPr>
          <p:cNvPr id="7" name="Shape 4"/>
          <p:cNvSpPr/>
          <p:nvPr/>
        </p:nvSpPr>
        <p:spPr>
          <a:xfrm>
            <a:off x="914400" y="2743200"/>
            <a:ext cx="10424160" cy="914"/>
          </a:xfrm>
          <a:prstGeom prst="line">
            <a:avLst/>
          </a:prstGeom>
          <a:noFill/>
          <a:ln w="50800">
            <a:solidFill>
              <a:srgbClr val="2E8656"/>
            </a:solidFill>
            <a:prstDash val="solid"/>
          </a:ln>
        </p:spPr>
      </p:sp>
      <p:sp>
        <p:nvSpPr>
          <p:cNvPr id="8" name="Shape 5"/>
          <p:cNvSpPr/>
          <p:nvPr/>
        </p:nvSpPr>
        <p:spPr>
          <a:xfrm>
            <a:off x="594360" y="2240280"/>
            <a:ext cx="1005840" cy="1005840"/>
          </a:xfrm>
          <a:prstGeom prst="ellipse">
            <a:avLst/>
          </a:prstGeom>
          <a:solidFill>
            <a:srgbClr val="FF462D"/>
          </a:solidFill>
          <a:ln/>
        </p:spPr>
      </p:sp>
      <p:pic>
        <p:nvPicPr>
          <p:cNvPr id="9" name="Image 1" descr="/private/tmp/claude-501/-Users-salehhamed-Outcome-Engine/91861432-41e2-4884-bc97-63c6dff2d021/scratchpad/wk/icons/TbHammer-white.png">    </p:cNvPr>
          <p:cNvPicPr>
            <a:picLocks noChangeAspect="1"/>
          </p:cNvPicPr>
          <p:nvPr/>
        </p:nvPicPr>
        <p:blipFill>
          <a:blip r:embed="rId4"/>
          <a:stretch>
            <a:fillRect/>
          </a:stretch>
        </p:blipFill>
        <p:spPr>
          <a:xfrm>
            <a:off x="795528" y="2441448"/>
            <a:ext cx="603504" cy="603504"/>
          </a:xfrm>
          <a:prstGeom prst="rect">
            <a:avLst/>
          </a:prstGeom>
        </p:spPr>
      </p:pic>
      <p:sp>
        <p:nvSpPr>
          <p:cNvPr id="10" name="Text 6"/>
          <p:cNvSpPr txBox="1"/>
          <p:nvPr/>
        </p:nvSpPr>
        <p:spPr>
          <a:xfrm>
            <a:off x="548640" y="3429000"/>
            <a:ext cx="2103120" cy="365760"/>
          </a:xfrm>
          <a:prstGeom prst="rect">
            <a:avLst/>
          </a:prstGeom>
          <a:noFill/>
          <a:ln/>
        </p:spPr>
        <p:txBody>
          <a:bodyPr wrap="square" lIns="0" tIns="0" rIns="0" bIns="0" rtlCol="0" anchor="t"/>
          <a:lstStyle/>
          <a:p>
            <a:pPr indent="0" marL="0">
              <a:buNone/>
            </a:pPr>
            <a:r>
              <a:rPr lang="en-US" sz="1500" b="1" dirty="0">
                <a:solidFill>
                  <a:srgbClr val="FF462D"/>
                </a:solidFill>
                <a:latin typeface="Arial" pitchFamily="34" charset="0"/>
                <a:ea typeface="Arial" pitchFamily="34" charset="-122"/>
                <a:cs typeface="Arial" pitchFamily="34" charset="-120"/>
              </a:rPr>
              <a:t>12:30</a:t>
            </a:r>
            <a:endParaRPr lang="en-US" sz="1500" dirty="0"/>
          </a:p>
        </p:txBody>
      </p:sp>
      <p:sp>
        <p:nvSpPr>
          <p:cNvPr id="11" name="Text 7"/>
          <p:cNvSpPr txBox="1"/>
          <p:nvPr/>
        </p:nvSpPr>
        <p:spPr>
          <a:xfrm>
            <a:off x="548640" y="3794760"/>
            <a:ext cx="2103120" cy="457200"/>
          </a:xfrm>
          <a:prstGeom prst="rect">
            <a:avLst/>
          </a:prstGeom>
          <a:noFill/>
          <a:ln/>
        </p:spPr>
        <p:txBody>
          <a:bodyPr wrap="square" lIns="0" tIns="0" rIns="0" bIns="0" rtlCol="0" anchor="t"/>
          <a:lstStyle/>
          <a:p>
            <a:pPr indent="0" marL="0">
              <a:buNone/>
            </a:pPr>
            <a:r>
              <a:rPr lang="en-US" sz="1600" b="1" dirty="0">
                <a:solidFill>
                  <a:srgbClr val="1F2A33"/>
                </a:solidFill>
                <a:latin typeface="Arial" pitchFamily="34" charset="0"/>
                <a:ea typeface="Arial" pitchFamily="34" charset="-122"/>
                <a:cs typeface="Arial" pitchFamily="34" charset="-120"/>
              </a:rPr>
              <a:t>Build starts</a:t>
            </a:r>
            <a:endParaRPr lang="en-US" sz="1600" dirty="0"/>
          </a:p>
        </p:txBody>
      </p:sp>
      <p:sp>
        <p:nvSpPr>
          <p:cNvPr id="12" name="Text 8"/>
          <p:cNvSpPr txBox="1"/>
          <p:nvPr/>
        </p:nvSpPr>
        <p:spPr>
          <a:xfrm>
            <a:off x="548640" y="4251960"/>
            <a:ext cx="2057400" cy="822960"/>
          </a:xfrm>
          <a:prstGeom prst="rect">
            <a:avLst/>
          </a:prstGeom>
          <a:noFill/>
          <a:ln/>
        </p:spPr>
        <p:txBody>
          <a:bodyPr wrap="square" lIns="0" tIns="0" rIns="0" bIns="0" rtlCol="0" anchor="t"/>
          <a:lstStyle/>
          <a:p>
            <a:pPr indent="0" marL="0">
              <a:buNone/>
            </a:pPr>
            <a:r>
              <a:rPr lang="en-US" sz="1300" dirty="0">
                <a:solidFill>
                  <a:srgbClr val="5A5A5A"/>
                </a:solidFill>
                <a:latin typeface="Arial" pitchFamily="34" charset="0"/>
                <a:ea typeface="Arial" pitchFamily="34" charset="-122"/>
                <a:cs typeface="Arial" pitchFamily="34" charset="-120"/>
              </a:rPr>
              <a:t>from this morning's outcome and checks</a:t>
            </a:r>
            <a:endParaRPr lang="en-US" sz="1300" dirty="0"/>
          </a:p>
        </p:txBody>
      </p:sp>
      <p:sp>
        <p:nvSpPr>
          <p:cNvPr id="13" name="Shape 9"/>
          <p:cNvSpPr/>
          <p:nvPr/>
        </p:nvSpPr>
        <p:spPr>
          <a:xfrm>
            <a:off x="2834640" y="2240280"/>
            <a:ext cx="1005840" cy="1005840"/>
          </a:xfrm>
          <a:prstGeom prst="ellipse">
            <a:avLst/>
          </a:prstGeom>
          <a:solidFill>
            <a:srgbClr val="2E8656"/>
          </a:solidFill>
          <a:ln/>
        </p:spPr>
      </p:sp>
      <p:pic>
        <p:nvPicPr>
          <p:cNvPr id="14" name="Image 2" descr="/private/tmp/claude-501/-Users-salehhamed-Outcome-Engine/91861432-41e2-4884-bc97-63c6dff2d021/scratchpad/wk/icons/TbEye-white.png">    </p:cNvPr>
          <p:cNvPicPr>
            <a:picLocks noChangeAspect="1"/>
          </p:cNvPicPr>
          <p:nvPr/>
        </p:nvPicPr>
        <p:blipFill>
          <a:blip r:embed="rId5"/>
          <a:stretch>
            <a:fillRect/>
          </a:stretch>
        </p:blipFill>
        <p:spPr>
          <a:xfrm>
            <a:off x="3035808" y="2441448"/>
            <a:ext cx="603504" cy="603504"/>
          </a:xfrm>
          <a:prstGeom prst="rect">
            <a:avLst/>
          </a:prstGeom>
        </p:spPr>
      </p:pic>
      <p:sp>
        <p:nvSpPr>
          <p:cNvPr id="15" name="Text 10"/>
          <p:cNvSpPr txBox="1"/>
          <p:nvPr/>
        </p:nvSpPr>
        <p:spPr>
          <a:xfrm>
            <a:off x="2788920" y="3429000"/>
            <a:ext cx="2103120" cy="365760"/>
          </a:xfrm>
          <a:prstGeom prst="rect">
            <a:avLst/>
          </a:prstGeom>
          <a:noFill/>
          <a:ln/>
        </p:spPr>
        <p:txBody>
          <a:bodyPr wrap="square" lIns="0" tIns="0" rIns="0" bIns="0" rtlCol="0" anchor="t"/>
          <a:lstStyle/>
          <a:p>
            <a:pPr indent="0" marL="0">
              <a:buNone/>
            </a:pPr>
            <a:r>
              <a:rPr lang="en-US" sz="1500" b="1" dirty="0">
                <a:solidFill>
                  <a:srgbClr val="2E8656"/>
                </a:solidFill>
                <a:latin typeface="Arial" pitchFamily="34" charset="0"/>
                <a:ea typeface="Arial" pitchFamily="34" charset="-122"/>
                <a:cs typeface="Arial" pitchFamily="34" charset="-120"/>
              </a:rPr>
              <a:t>16:15</a:t>
            </a:r>
            <a:endParaRPr lang="en-US" sz="1500" dirty="0"/>
          </a:p>
        </p:txBody>
      </p:sp>
      <p:sp>
        <p:nvSpPr>
          <p:cNvPr id="16" name="Text 11"/>
          <p:cNvSpPr txBox="1"/>
          <p:nvPr/>
        </p:nvSpPr>
        <p:spPr>
          <a:xfrm>
            <a:off x="2788920" y="3794760"/>
            <a:ext cx="2103120" cy="457200"/>
          </a:xfrm>
          <a:prstGeom prst="rect">
            <a:avLst/>
          </a:prstGeom>
          <a:noFill/>
          <a:ln/>
        </p:spPr>
        <p:txBody>
          <a:bodyPr wrap="square" lIns="0" tIns="0" rIns="0" bIns="0" rtlCol="0" anchor="t"/>
          <a:lstStyle/>
          <a:p>
            <a:pPr indent="0" marL="0">
              <a:buNone/>
            </a:pPr>
            <a:r>
              <a:rPr lang="en-US" sz="1600" b="1" dirty="0">
                <a:solidFill>
                  <a:srgbClr val="1F2A33"/>
                </a:solidFill>
                <a:latin typeface="Arial" pitchFamily="34" charset="0"/>
                <a:ea typeface="Arial" pitchFamily="34" charset="-122"/>
                <a:cs typeface="Arial" pitchFamily="34" charset="-120"/>
              </a:rPr>
              <a:t>First steps shown</a:t>
            </a:r>
            <a:endParaRPr lang="en-US" sz="1600" dirty="0"/>
          </a:p>
        </p:txBody>
      </p:sp>
      <p:sp>
        <p:nvSpPr>
          <p:cNvPr id="17" name="Text 12"/>
          <p:cNvSpPr txBox="1"/>
          <p:nvPr/>
        </p:nvSpPr>
        <p:spPr>
          <a:xfrm>
            <a:off x="2788920" y="4251960"/>
            <a:ext cx="2057400" cy="822960"/>
          </a:xfrm>
          <a:prstGeom prst="rect">
            <a:avLst/>
          </a:prstGeom>
          <a:noFill/>
          <a:ln/>
        </p:spPr>
        <p:txBody>
          <a:bodyPr wrap="square" lIns="0" tIns="0" rIns="0" bIns="0" rtlCol="0" anchor="t"/>
          <a:lstStyle/>
          <a:p>
            <a:pPr indent="0" marL="0">
              <a:buNone/>
            </a:pPr>
            <a:r>
              <a:rPr lang="en-US" sz="1300" dirty="0">
                <a:solidFill>
                  <a:srgbClr val="5A5A5A"/>
                </a:solidFill>
                <a:latin typeface="Arial" pitchFamily="34" charset="0"/>
                <a:ea typeface="Arial" pitchFamily="34" charset="-122"/>
                <a:cs typeface="Arial" pitchFamily="34" charset="-120"/>
              </a:rPr>
              <a:t>at the build checkpoint</a:t>
            </a:r>
            <a:endParaRPr lang="en-US" sz="1300" dirty="0"/>
          </a:p>
        </p:txBody>
      </p:sp>
      <p:sp>
        <p:nvSpPr>
          <p:cNvPr id="18" name="Shape 13"/>
          <p:cNvSpPr/>
          <p:nvPr/>
        </p:nvSpPr>
        <p:spPr>
          <a:xfrm>
            <a:off x="5074920" y="2240280"/>
            <a:ext cx="1005840" cy="1005840"/>
          </a:xfrm>
          <a:prstGeom prst="ellipse">
            <a:avLst/>
          </a:prstGeom>
          <a:solidFill>
            <a:srgbClr val="2E8656"/>
          </a:solidFill>
          <a:ln/>
        </p:spPr>
      </p:sp>
      <p:pic>
        <p:nvPicPr>
          <p:cNvPr id="19" name="Image 3" descr="/private/tmp/claude-501/-Users-salehhamed-Outcome-Engine/91861432-41e2-4884-bc97-63c6dff2d021/scratchpad/wk/icons/TbMoon-white.png">    </p:cNvPr>
          <p:cNvPicPr>
            <a:picLocks noChangeAspect="1"/>
          </p:cNvPicPr>
          <p:nvPr/>
        </p:nvPicPr>
        <p:blipFill>
          <a:blip r:embed="rId6"/>
          <a:stretch>
            <a:fillRect/>
          </a:stretch>
        </p:blipFill>
        <p:spPr>
          <a:xfrm>
            <a:off x="5276088" y="2441448"/>
            <a:ext cx="603504" cy="603504"/>
          </a:xfrm>
          <a:prstGeom prst="rect">
            <a:avLst/>
          </a:prstGeom>
        </p:spPr>
      </p:pic>
      <p:sp>
        <p:nvSpPr>
          <p:cNvPr id="20" name="Text 14"/>
          <p:cNvSpPr txBox="1"/>
          <p:nvPr/>
        </p:nvSpPr>
        <p:spPr>
          <a:xfrm>
            <a:off x="5029200" y="3429000"/>
            <a:ext cx="2103120" cy="365760"/>
          </a:xfrm>
          <a:prstGeom prst="rect">
            <a:avLst/>
          </a:prstGeom>
          <a:noFill/>
          <a:ln/>
        </p:spPr>
        <p:txBody>
          <a:bodyPr wrap="square" lIns="0" tIns="0" rIns="0" bIns="0" rtlCol="0" anchor="t"/>
          <a:lstStyle/>
          <a:p>
            <a:pPr indent="0" marL="0">
              <a:buNone/>
            </a:pPr>
            <a:r>
              <a:rPr lang="en-US" sz="1500" b="1" dirty="0">
                <a:solidFill>
                  <a:srgbClr val="2E8656"/>
                </a:solidFill>
                <a:latin typeface="Arial" pitchFamily="34" charset="0"/>
                <a:ea typeface="Arial" pitchFamily="34" charset="-122"/>
                <a:cs typeface="Arial" pitchFamily="34" charset="-120"/>
              </a:rPr>
              <a:t>Overnight</a:t>
            </a:r>
            <a:endParaRPr lang="en-US" sz="1500" dirty="0"/>
          </a:p>
        </p:txBody>
      </p:sp>
      <p:sp>
        <p:nvSpPr>
          <p:cNvPr id="21" name="Text 15"/>
          <p:cNvSpPr txBox="1"/>
          <p:nvPr/>
        </p:nvSpPr>
        <p:spPr>
          <a:xfrm>
            <a:off x="5029200" y="3794760"/>
            <a:ext cx="2103120" cy="457200"/>
          </a:xfrm>
          <a:prstGeom prst="rect">
            <a:avLst/>
          </a:prstGeom>
          <a:noFill/>
          <a:ln/>
        </p:spPr>
        <p:txBody>
          <a:bodyPr wrap="square" lIns="0" tIns="0" rIns="0" bIns="0" rtlCol="0" anchor="t"/>
          <a:lstStyle/>
          <a:p>
            <a:pPr indent="0" marL="0">
              <a:buNone/>
            </a:pPr>
            <a:r>
              <a:rPr lang="en-US" sz="1600" b="1" dirty="0">
                <a:solidFill>
                  <a:srgbClr val="1F2A33"/>
                </a:solidFill>
                <a:latin typeface="Arial" pitchFamily="34" charset="0"/>
                <a:ea typeface="Arial" pitchFamily="34" charset="-122"/>
                <a:cs typeface="Arial" pitchFamily="34" charset="-120"/>
              </a:rPr>
              <a:t>First working version</a:t>
            </a:r>
            <a:endParaRPr lang="en-US" sz="1600" dirty="0"/>
          </a:p>
        </p:txBody>
      </p:sp>
      <p:sp>
        <p:nvSpPr>
          <p:cNvPr id="22" name="Text 16"/>
          <p:cNvSpPr txBox="1"/>
          <p:nvPr/>
        </p:nvSpPr>
        <p:spPr>
          <a:xfrm>
            <a:off x="5029200" y="4251960"/>
            <a:ext cx="2057400" cy="822960"/>
          </a:xfrm>
          <a:prstGeom prst="rect">
            <a:avLst/>
          </a:prstGeom>
          <a:noFill/>
          <a:ln/>
        </p:spPr>
        <p:txBody>
          <a:bodyPr wrap="square" lIns="0" tIns="0" rIns="0" bIns="0" rtlCol="0" anchor="t"/>
          <a:lstStyle/>
          <a:p>
            <a:pPr indent="0" marL="0">
              <a:buNone/>
            </a:pPr>
            <a:r>
              <a:rPr lang="en-US" sz="1300" dirty="0">
                <a:solidFill>
                  <a:srgbClr val="5A5A5A"/>
                </a:solidFill>
                <a:latin typeface="Arial" pitchFamily="34" charset="0"/>
                <a:ea typeface="Arial" pitchFamily="34" charset="-122"/>
                <a:cs typeface="Arial" pitchFamily="34" charset="-120"/>
              </a:rPr>
              <a:t>decisions, rules and a record</a:t>
            </a:r>
            <a:endParaRPr lang="en-US" sz="1300" dirty="0"/>
          </a:p>
        </p:txBody>
      </p:sp>
      <p:sp>
        <p:nvSpPr>
          <p:cNvPr id="23" name="Shape 17"/>
          <p:cNvSpPr/>
          <p:nvPr/>
        </p:nvSpPr>
        <p:spPr>
          <a:xfrm>
            <a:off x="7315200" y="2240280"/>
            <a:ext cx="1005840" cy="1005840"/>
          </a:xfrm>
          <a:prstGeom prst="ellipse">
            <a:avLst/>
          </a:prstGeom>
          <a:solidFill>
            <a:srgbClr val="2E8656"/>
          </a:solidFill>
          <a:ln/>
        </p:spPr>
      </p:sp>
      <p:pic>
        <p:nvPicPr>
          <p:cNvPr id="24" name="Image 4" descr="/private/tmp/claude-501/-Users-salehhamed-Outcome-Engine/91861432-41e2-4884-bc97-63c6dff2d021/scratchpad/wk/icons/TbBug-white.png">    </p:cNvPr>
          <p:cNvPicPr>
            <a:picLocks noChangeAspect="1"/>
          </p:cNvPicPr>
          <p:nvPr/>
        </p:nvPicPr>
        <p:blipFill>
          <a:blip r:embed="rId7"/>
          <a:stretch>
            <a:fillRect/>
          </a:stretch>
        </p:blipFill>
        <p:spPr>
          <a:xfrm>
            <a:off x="7516368" y="2441448"/>
            <a:ext cx="603504" cy="603504"/>
          </a:xfrm>
          <a:prstGeom prst="rect">
            <a:avLst/>
          </a:prstGeom>
        </p:spPr>
      </p:pic>
      <p:sp>
        <p:nvSpPr>
          <p:cNvPr id="25" name="Text 18"/>
          <p:cNvSpPr txBox="1"/>
          <p:nvPr/>
        </p:nvSpPr>
        <p:spPr>
          <a:xfrm>
            <a:off x="7269480" y="3429000"/>
            <a:ext cx="2103120" cy="365760"/>
          </a:xfrm>
          <a:prstGeom prst="rect">
            <a:avLst/>
          </a:prstGeom>
          <a:noFill/>
          <a:ln/>
        </p:spPr>
        <p:txBody>
          <a:bodyPr wrap="square" lIns="0" tIns="0" rIns="0" bIns="0" rtlCol="0" anchor="t"/>
          <a:lstStyle/>
          <a:p>
            <a:pPr indent="0" marL="0">
              <a:buNone/>
            </a:pPr>
            <a:r>
              <a:rPr lang="en-US" sz="1500" b="1" dirty="0">
                <a:solidFill>
                  <a:srgbClr val="2E8656"/>
                </a:solidFill>
                <a:latin typeface="Arial" pitchFamily="34" charset="0"/>
                <a:ea typeface="Arial" pitchFamily="34" charset="-122"/>
                <a:cs typeface="Arial" pitchFamily="34" charset="-120"/>
              </a:rPr>
              <a:t>09:15</a:t>
            </a:r>
            <a:endParaRPr lang="en-US" sz="1500" dirty="0"/>
          </a:p>
        </p:txBody>
      </p:sp>
      <p:sp>
        <p:nvSpPr>
          <p:cNvPr id="26" name="Text 19"/>
          <p:cNvSpPr txBox="1"/>
          <p:nvPr/>
        </p:nvSpPr>
        <p:spPr>
          <a:xfrm>
            <a:off x="7269480" y="3794760"/>
            <a:ext cx="2103120" cy="457200"/>
          </a:xfrm>
          <a:prstGeom prst="rect">
            <a:avLst/>
          </a:prstGeom>
          <a:noFill/>
          <a:ln/>
        </p:spPr>
        <p:txBody>
          <a:bodyPr wrap="square" lIns="0" tIns="0" rIns="0" bIns="0" rtlCol="0" anchor="t"/>
          <a:lstStyle/>
          <a:p>
            <a:pPr indent="0" marL="0">
              <a:buNone/>
            </a:pPr>
            <a:r>
              <a:rPr lang="en-US" sz="1600" b="1" dirty="0">
                <a:solidFill>
                  <a:srgbClr val="1F2A33"/>
                </a:solidFill>
                <a:latin typeface="Arial" pitchFamily="34" charset="0"/>
                <a:ea typeface="Arial" pitchFamily="34" charset="-122"/>
                <a:cs typeface="Arial" pitchFamily="34" charset="-120"/>
              </a:rPr>
              <a:t>You test it</a:t>
            </a:r>
            <a:endParaRPr lang="en-US" sz="1600" dirty="0"/>
          </a:p>
        </p:txBody>
      </p:sp>
      <p:sp>
        <p:nvSpPr>
          <p:cNvPr id="27" name="Text 20"/>
          <p:cNvSpPr txBox="1"/>
          <p:nvPr/>
        </p:nvSpPr>
        <p:spPr>
          <a:xfrm>
            <a:off x="7269480" y="4251960"/>
            <a:ext cx="2057400" cy="822960"/>
          </a:xfrm>
          <a:prstGeom prst="rect">
            <a:avLst/>
          </a:prstGeom>
          <a:noFill/>
          <a:ln/>
        </p:spPr>
        <p:txBody>
          <a:bodyPr wrap="square" lIns="0" tIns="0" rIns="0" bIns="0" rtlCol="0" anchor="t"/>
          <a:lstStyle/>
          <a:p>
            <a:pPr indent="0" marL="0">
              <a:buNone/>
            </a:pPr>
            <a:r>
              <a:rPr lang="en-US" sz="1300" dirty="0">
                <a:solidFill>
                  <a:srgbClr val="5A5A5A"/>
                </a:solidFill>
                <a:latin typeface="Arial" pitchFamily="34" charset="0"/>
                <a:ea typeface="Arial" pitchFamily="34" charset="-122"/>
                <a:cs typeface="Arial" pitchFamily="34" charset="-120"/>
              </a:rPr>
              <a:t>in your own decision seats</a:t>
            </a:r>
            <a:endParaRPr lang="en-US" sz="1300" dirty="0"/>
          </a:p>
        </p:txBody>
      </p:sp>
      <p:sp>
        <p:nvSpPr>
          <p:cNvPr id="28" name="Shape 21"/>
          <p:cNvSpPr/>
          <p:nvPr/>
        </p:nvSpPr>
        <p:spPr>
          <a:xfrm>
            <a:off x="9555480" y="2240280"/>
            <a:ext cx="1005840" cy="1005840"/>
          </a:xfrm>
          <a:prstGeom prst="ellipse">
            <a:avLst/>
          </a:prstGeom>
          <a:solidFill>
            <a:srgbClr val="2E8656"/>
          </a:solidFill>
          <a:ln/>
        </p:spPr>
      </p:sp>
      <p:pic>
        <p:nvPicPr>
          <p:cNvPr id="29" name="Image 5" descr="/private/tmp/claude-501/-Users-salehhamed-Outcome-Engine/91861432-41e2-4884-bc97-63c6dff2d021/scratchpad/wk/icons/TbPlayerPlay-white.png">    </p:cNvPr>
          <p:cNvPicPr>
            <a:picLocks noChangeAspect="1"/>
          </p:cNvPicPr>
          <p:nvPr/>
        </p:nvPicPr>
        <p:blipFill>
          <a:blip r:embed="rId8"/>
          <a:stretch>
            <a:fillRect/>
          </a:stretch>
        </p:blipFill>
        <p:spPr>
          <a:xfrm>
            <a:off x="9756648" y="2441448"/>
            <a:ext cx="603504" cy="603504"/>
          </a:xfrm>
          <a:prstGeom prst="rect">
            <a:avLst/>
          </a:prstGeom>
        </p:spPr>
      </p:pic>
      <p:sp>
        <p:nvSpPr>
          <p:cNvPr id="30" name="Text 22"/>
          <p:cNvSpPr txBox="1"/>
          <p:nvPr/>
        </p:nvSpPr>
        <p:spPr>
          <a:xfrm>
            <a:off x="9509760" y="3429000"/>
            <a:ext cx="2103120" cy="365760"/>
          </a:xfrm>
          <a:prstGeom prst="rect">
            <a:avLst/>
          </a:prstGeom>
          <a:noFill/>
          <a:ln/>
        </p:spPr>
        <p:txBody>
          <a:bodyPr wrap="square" lIns="0" tIns="0" rIns="0" bIns="0" rtlCol="0" anchor="t"/>
          <a:lstStyle/>
          <a:p>
            <a:pPr indent="0" marL="0">
              <a:buNone/>
            </a:pPr>
            <a:r>
              <a:rPr lang="en-US" sz="1500" b="1" dirty="0">
                <a:solidFill>
                  <a:srgbClr val="2E8656"/>
                </a:solidFill>
                <a:latin typeface="Arial" pitchFamily="34" charset="0"/>
                <a:ea typeface="Arial" pitchFamily="34" charset="-122"/>
                <a:cs typeface="Arial" pitchFamily="34" charset="-120"/>
              </a:rPr>
              <a:t>15:15</a:t>
            </a:r>
            <a:endParaRPr lang="en-US" sz="1500" dirty="0"/>
          </a:p>
        </p:txBody>
      </p:sp>
      <p:sp>
        <p:nvSpPr>
          <p:cNvPr id="31" name="Text 23"/>
          <p:cNvSpPr txBox="1"/>
          <p:nvPr/>
        </p:nvSpPr>
        <p:spPr>
          <a:xfrm>
            <a:off x="9509760" y="3794760"/>
            <a:ext cx="2103120" cy="457200"/>
          </a:xfrm>
          <a:prstGeom prst="rect">
            <a:avLst/>
          </a:prstGeom>
          <a:noFill/>
          <a:ln/>
        </p:spPr>
        <p:txBody>
          <a:bodyPr wrap="square" lIns="0" tIns="0" rIns="0" bIns="0" rtlCol="0" anchor="t"/>
          <a:lstStyle/>
          <a:p>
            <a:pPr indent="0" marL="0">
              <a:buNone/>
            </a:pPr>
            <a:r>
              <a:rPr lang="en-US" sz="1600" b="1" dirty="0">
                <a:solidFill>
                  <a:srgbClr val="1F2A33"/>
                </a:solidFill>
                <a:latin typeface="Arial" pitchFamily="34" charset="0"/>
                <a:ea typeface="Arial" pitchFamily="34" charset="-122"/>
                <a:cs typeface="Arial" pitchFamily="34" charset="-120"/>
              </a:rPr>
              <a:t>Live review</a:t>
            </a:r>
            <a:endParaRPr lang="en-US" sz="1600" dirty="0"/>
          </a:p>
        </p:txBody>
      </p:sp>
      <p:sp>
        <p:nvSpPr>
          <p:cNvPr id="32" name="Text 24"/>
          <p:cNvSpPr txBox="1"/>
          <p:nvPr/>
        </p:nvSpPr>
        <p:spPr>
          <a:xfrm>
            <a:off x="9509760" y="4251960"/>
            <a:ext cx="2057400" cy="822960"/>
          </a:xfrm>
          <a:prstGeom prst="rect">
            <a:avLst/>
          </a:prstGeom>
          <a:noFill/>
          <a:ln/>
        </p:spPr>
        <p:txBody>
          <a:bodyPr wrap="square" lIns="0" tIns="0" rIns="0" bIns="0" rtlCol="0" anchor="t"/>
          <a:lstStyle/>
          <a:p>
            <a:pPr indent="0" marL="0">
              <a:buNone/>
            </a:pPr>
            <a:r>
              <a:rPr lang="en-US" sz="1300" dirty="0">
                <a:solidFill>
                  <a:srgbClr val="5A5A5A"/>
                </a:solidFill>
                <a:latin typeface="Arial" pitchFamily="34" charset="0"/>
                <a:ea typeface="Arial" pitchFamily="34" charset="-122"/>
                <a:cs typeface="Arial" pitchFamily="34" charset="-120"/>
              </a:rPr>
              <a:t>from start to finish</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name="Slide 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LUNCH · BUILD STARTS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Three ways to run this session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12:30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69</a:t>
            </a:r>
            <a:endParaRPr lang="en-US" sz="1000" dirty="0"/>
          </a:p>
        </p:txBody>
      </p:sp>
      <p:sp>
        <p:nvSpPr>
          <p:cNvPr id="7" name="Shape 4"/>
          <p:cNvSpPr/>
          <p:nvPr/>
        </p:nvSpPr>
        <p:spPr>
          <a:xfrm>
            <a:off x="548640" y="1463040"/>
            <a:ext cx="3566160" cy="4663440"/>
          </a:xfrm>
          <a:prstGeom prst="roundRect">
            <a:avLst>
              <a:gd name="adj" fmla="val 2051"/>
            </a:avLst>
          </a:prstGeom>
          <a:solidFill>
            <a:srgbClr val="FFFFFF"/>
          </a:solidFill>
          <a:ln w="12700">
            <a:solidFill>
              <a:srgbClr val="D9DEE2"/>
            </a:solidFill>
            <a:prstDash val="solid"/>
          </a:ln>
        </p:spPr>
      </p:sp>
      <p:sp>
        <p:nvSpPr>
          <p:cNvPr id="8" name="Shape 5"/>
          <p:cNvSpPr/>
          <p:nvPr/>
        </p:nvSpPr>
        <p:spPr>
          <a:xfrm>
            <a:off x="548640" y="1463040"/>
            <a:ext cx="3566160" cy="566928"/>
          </a:xfrm>
          <a:prstGeom prst="roundRect">
            <a:avLst>
              <a:gd name="adj" fmla="val 12903"/>
            </a:avLst>
          </a:prstGeom>
          <a:solidFill>
            <a:srgbClr val="287079"/>
          </a:solidFill>
          <a:ln/>
        </p:spPr>
      </p:sp>
      <p:sp>
        <p:nvSpPr>
          <p:cNvPr id="9" name="Shape 6"/>
          <p:cNvSpPr/>
          <p:nvPr/>
        </p:nvSpPr>
        <p:spPr>
          <a:xfrm>
            <a:off x="548640" y="1828800"/>
            <a:ext cx="3566160" cy="201168"/>
          </a:xfrm>
          <a:prstGeom prst="rect">
            <a:avLst/>
          </a:prstGeom>
          <a:solidFill>
            <a:srgbClr val="287079"/>
          </a:solidFill>
          <a:ln/>
        </p:spPr>
      </p:sp>
      <p:pic>
        <p:nvPicPr>
          <p:cNvPr id="10" name="Image 1" descr="/private/tmp/claude-501/-Users-salehhamed-Outcome-Engine/91861432-41e2-4884-bc97-63c6dff2d021/scratchpad/wk/icons/TbHandClick-white.png">    </p:cNvPr>
          <p:cNvPicPr>
            <a:picLocks noChangeAspect="1"/>
          </p:cNvPicPr>
          <p:nvPr/>
        </p:nvPicPr>
        <p:blipFill>
          <a:blip r:embed="rId4"/>
          <a:stretch>
            <a:fillRect/>
          </a:stretch>
        </p:blipFill>
        <p:spPr>
          <a:xfrm>
            <a:off x="713232" y="1554480"/>
            <a:ext cx="384048" cy="384048"/>
          </a:xfrm>
          <a:prstGeom prst="rect">
            <a:avLst/>
          </a:prstGeom>
        </p:spPr>
      </p:pic>
      <p:sp>
        <p:nvSpPr>
          <p:cNvPr id="11" name="Text 7"/>
          <p:cNvSpPr txBox="1"/>
          <p:nvPr/>
        </p:nvSpPr>
        <p:spPr>
          <a:xfrm>
            <a:off x="120700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A · HANDS-ON</a:t>
            </a:r>
            <a:endParaRPr lang="en-US" sz="1150" dirty="0"/>
          </a:p>
        </p:txBody>
      </p:sp>
      <p:sp>
        <p:nvSpPr>
          <p:cNvPr id="12" name="Text 8"/>
          <p:cNvSpPr txBox="1"/>
          <p:nvPr/>
        </p:nvSpPr>
        <p:spPr>
          <a:xfrm>
            <a:off x="77724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Two-minute handover</a:t>
            </a:r>
            <a:endParaRPr lang="en-US" sz="2100" dirty="0"/>
          </a:p>
        </p:txBody>
      </p:sp>
      <p:sp>
        <p:nvSpPr>
          <p:cNvPr id="13" name="Text 9"/>
          <p:cNvSpPr txBox="1"/>
          <p:nvPr/>
        </p:nvSpPr>
        <p:spPr>
          <a:xfrm>
            <a:off x="77724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An engineer reads back what they will build, before lunch.</a:t>
            </a:r>
            <a:endParaRPr lang="en-US" sz="1400" dirty="0"/>
          </a:p>
        </p:txBody>
      </p:sp>
      <p:pic>
        <p:nvPicPr>
          <p:cNvPr id="14" name="Image 2" descr="/private/tmp/claude-501/-Users-salehhamed-Outcome-Engine/91861432-41e2-4884-bc97-63c6dff2d021/scratchpad/wk/icons/TbClock-grey.png">    </p:cNvPr>
          <p:cNvPicPr>
            <a:picLocks noChangeAspect="1"/>
          </p:cNvPicPr>
          <p:nvPr/>
        </p:nvPicPr>
        <p:blipFill>
          <a:blip r:embed="rId5"/>
          <a:stretch>
            <a:fillRect/>
          </a:stretch>
        </p:blipFill>
        <p:spPr>
          <a:xfrm>
            <a:off x="777240" y="4297680"/>
            <a:ext cx="274320" cy="274320"/>
          </a:xfrm>
          <a:prstGeom prst="rect">
            <a:avLst/>
          </a:prstGeom>
        </p:spPr>
      </p:pic>
      <p:sp>
        <p:nvSpPr>
          <p:cNvPr id="15" name="Text 10"/>
          <p:cNvSpPr txBox="1"/>
          <p:nvPr/>
        </p:nvSpPr>
        <p:spPr>
          <a:xfrm>
            <a:off x="114300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45 min</a:t>
            </a:r>
            <a:endParaRPr lang="en-US" sz="1200" dirty="0"/>
          </a:p>
        </p:txBody>
      </p:sp>
      <p:pic>
        <p:nvPicPr>
          <p:cNvPr id="16" name="Image 3" descr="/private/tmp/claude-501/-Users-salehhamed-Outcome-Engine/91861432-41e2-4884-bc97-63c6dff2d021/scratchpad/wk/icons/TbUsers-grey.png">    </p:cNvPr>
          <p:cNvPicPr>
            <a:picLocks noChangeAspect="1"/>
          </p:cNvPicPr>
          <p:nvPr/>
        </p:nvPicPr>
        <p:blipFill>
          <a:blip r:embed="rId6"/>
          <a:stretch>
            <a:fillRect/>
          </a:stretch>
        </p:blipFill>
        <p:spPr>
          <a:xfrm>
            <a:off x="777240" y="4681728"/>
            <a:ext cx="274320" cy="274320"/>
          </a:xfrm>
          <a:prstGeom prst="rect">
            <a:avLst/>
          </a:prstGeom>
        </p:spPr>
      </p:pic>
      <p:sp>
        <p:nvSpPr>
          <p:cNvPr id="17" name="Text 11"/>
          <p:cNvSpPr txBox="1"/>
          <p:nvPr/>
        </p:nvSpPr>
        <p:spPr>
          <a:xfrm>
            <a:off x="114300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Whole room</a:t>
            </a:r>
            <a:endParaRPr lang="en-US" sz="1200" dirty="0"/>
          </a:p>
        </p:txBody>
      </p:sp>
      <p:pic>
        <p:nvPicPr>
          <p:cNvPr id="18" name="Image 4" descr="/private/tmp/claude-501/-Users-salehhamed-Outcome-Engine/91861432-41e2-4884-bc97-63c6dff2d021/scratchpad/wk/icons/TbGauge-grey.png">    </p:cNvPr>
          <p:cNvPicPr>
            <a:picLocks noChangeAspect="1"/>
          </p:cNvPicPr>
          <p:nvPr/>
        </p:nvPicPr>
        <p:blipFill>
          <a:blip r:embed="rId7"/>
          <a:stretch>
            <a:fillRect/>
          </a:stretch>
        </p:blipFill>
        <p:spPr>
          <a:xfrm>
            <a:off x="777240" y="5065776"/>
            <a:ext cx="274320" cy="274320"/>
          </a:xfrm>
          <a:prstGeom prst="rect">
            <a:avLst/>
          </a:prstGeom>
        </p:spPr>
      </p:pic>
      <p:sp>
        <p:nvSpPr>
          <p:cNvPr id="19" name="Text 12"/>
          <p:cNvSpPr txBox="1"/>
          <p:nvPr/>
        </p:nvSpPr>
        <p:spPr>
          <a:xfrm>
            <a:off x="114300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Calm energy</a:t>
            </a:r>
            <a:endParaRPr lang="en-US" sz="1200" dirty="0"/>
          </a:p>
        </p:txBody>
      </p:sp>
      <p:sp>
        <p:nvSpPr>
          <p:cNvPr id="20" name="Text 13"/>
          <p:cNvSpPr txBox="1"/>
          <p:nvPr/>
        </p:nvSpPr>
        <p:spPr>
          <a:xfrm>
            <a:off x="77724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You want the room to see its words become the build brief.</a:t>
            </a:r>
            <a:endParaRPr lang="en-US" sz="1150" dirty="0"/>
          </a:p>
        </p:txBody>
      </p:sp>
      <p:pic>
        <p:nvPicPr>
          <p:cNvPr id="21" name="Image 5" descr="/private/tmp/claude-501/-Users-salehhamed-Outcome-Engine/91861432-41e2-4884-bc97-63c6dff2d021/scratchpad/wk/brand/clear.png">
            <a:hlinkClick r:id="rId9" tooltip="Option A" action="ppaction://hlinksldjump"/>
          </p:cNvPr>
          <p:cNvPicPr>
            <a:picLocks noChangeAspect="1"/>
          </p:cNvPicPr>
          <p:nvPr/>
        </p:nvPicPr>
        <p:blipFill>
          <a:blip r:embed="rId8"/>
          <a:stretch>
            <a:fillRect/>
          </a:stretch>
        </p:blipFill>
        <p:spPr>
          <a:xfrm>
            <a:off x="548640" y="1463040"/>
            <a:ext cx="3566160" cy="4663440"/>
          </a:xfrm>
          <a:prstGeom prst="rect">
            <a:avLst/>
          </a:prstGeom>
        </p:spPr>
      </p:pic>
      <p:sp>
        <p:nvSpPr>
          <p:cNvPr id="22" name="Shape 14"/>
          <p:cNvSpPr/>
          <p:nvPr/>
        </p:nvSpPr>
        <p:spPr>
          <a:xfrm>
            <a:off x="4297680" y="1463040"/>
            <a:ext cx="3566160" cy="4663440"/>
          </a:xfrm>
          <a:prstGeom prst="roundRect">
            <a:avLst>
              <a:gd name="adj" fmla="val 2051"/>
            </a:avLst>
          </a:prstGeom>
          <a:solidFill>
            <a:srgbClr val="FFFFFF"/>
          </a:solidFill>
          <a:ln w="12700">
            <a:solidFill>
              <a:srgbClr val="D9DEE2"/>
            </a:solidFill>
            <a:prstDash val="solid"/>
          </a:ln>
        </p:spPr>
      </p:sp>
      <p:sp>
        <p:nvSpPr>
          <p:cNvPr id="23" name="Shape 15"/>
          <p:cNvSpPr/>
          <p:nvPr/>
        </p:nvSpPr>
        <p:spPr>
          <a:xfrm>
            <a:off x="4297680" y="1463040"/>
            <a:ext cx="3566160" cy="566928"/>
          </a:xfrm>
          <a:prstGeom prst="roundRect">
            <a:avLst>
              <a:gd name="adj" fmla="val 12903"/>
            </a:avLst>
          </a:prstGeom>
          <a:solidFill>
            <a:srgbClr val="FF462D"/>
          </a:solidFill>
          <a:ln/>
        </p:spPr>
      </p:sp>
      <p:sp>
        <p:nvSpPr>
          <p:cNvPr id="24" name="Shape 16"/>
          <p:cNvSpPr/>
          <p:nvPr/>
        </p:nvSpPr>
        <p:spPr>
          <a:xfrm>
            <a:off x="4297680" y="1828800"/>
            <a:ext cx="3566160" cy="201168"/>
          </a:xfrm>
          <a:prstGeom prst="rect">
            <a:avLst/>
          </a:prstGeom>
          <a:solidFill>
            <a:srgbClr val="FF462D"/>
          </a:solidFill>
          <a:ln/>
        </p:spPr>
      </p:sp>
      <p:pic>
        <p:nvPicPr>
          <p:cNvPr id="25" name="Image 6" descr="/private/tmp/claude-501/-Users-salehhamed-Outcome-Engine/91861432-41e2-4884-bc97-63c6dff2d021/scratchpad/wk/icons/TbDeviceMobile-white.png">    </p:cNvPr>
          <p:cNvPicPr>
            <a:picLocks noChangeAspect="1"/>
          </p:cNvPicPr>
          <p:nvPr/>
        </p:nvPicPr>
        <p:blipFill>
          <a:blip r:embed="rId10"/>
          <a:stretch>
            <a:fillRect/>
          </a:stretch>
        </p:blipFill>
        <p:spPr>
          <a:xfrm>
            <a:off x="4462272" y="1554480"/>
            <a:ext cx="384048" cy="384048"/>
          </a:xfrm>
          <a:prstGeom prst="rect">
            <a:avLst/>
          </a:prstGeom>
        </p:spPr>
      </p:pic>
      <p:sp>
        <p:nvSpPr>
          <p:cNvPr id="26" name="Text 17"/>
          <p:cNvSpPr txBox="1"/>
          <p:nvPr/>
        </p:nvSpPr>
        <p:spPr>
          <a:xfrm>
            <a:off x="495604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B · LIVE VOTING</a:t>
            </a:r>
            <a:endParaRPr lang="en-US" sz="1150" dirty="0"/>
          </a:p>
        </p:txBody>
      </p:sp>
      <p:sp>
        <p:nvSpPr>
          <p:cNvPr id="27" name="Text 18"/>
          <p:cNvSpPr txBox="1"/>
          <p:nvPr/>
        </p:nvSpPr>
        <p:spPr>
          <a:xfrm>
            <a:off x="452628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Ask the builders</a:t>
            </a:r>
            <a:endParaRPr lang="en-US" sz="2100" dirty="0"/>
          </a:p>
        </p:txBody>
      </p:sp>
      <p:sp>
        <p:nvSpPr>
          <p:cNvPr id="28" name="Text 19"/>
          <p:cNvSpPr txBox="1"/>
          <p:nvPr/>
        </p:nvSpPr>
        <p:spPr>
          <a:xfrm>
            <a:off x="452628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A question board by the build table; questions also go in on phones.</a:t>
            </a:r>
            <a:endParaRPr lang="en-US" sz="1400" dirty="0"/>
          </a:p>
        </p:txBody>
      </p:sp>
      <p:pic>
        <p:nvPicPr>
          <p:cNvPr id="29" name="Image 7" descr="/private/tmp/claude-501/-Users-salehhamed-Outcome-Engine/91861432-41e2-4884-bc97-63c6dff2d021/scratchpad/wk/icons/TbClock-grey.png">    </p:cNvPr>
          <p:cNvPicPr>
            <a:picLocks noChangeAspect="1"/>
          </p:cNvPicPr>
          <p:nvPr/>
        </p:nvPicPr>
        <p:blipFill>
          <a:blip r:embed="rId11"/>
          <a:stretch>
            <a:fillRect/>
          </a:stretch>
        </p:blipFill>
        <p:spPr>
          <a:xfrm>
            <a:off x="4526280" y="4297680"/>
            <a:ext cx="274320" cy="274320"/>
          </a:xfrm>
          <a:prstGeom prst="rect">
            <a:avLst/>
          </a:prstGeom>
        </p:spPr>
      </p:pic>
      <p:sp>
        <p:nvSpPr>
          <p:cNvPr id="30" name="Text 20"/>
          <p:cNvSpPr txBox="1"/>
          <p:nvPr/>
        </p:nvSpPr>
        <p:spPr>
          <a:xfrm>
            <a:off x="489204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45 min</a:t>
            </a:r>
            <a:endParaRPr lang="en-US" sz="1200" dirty="0"/>
          </a:p>
        </p:txBody>
      </p:sp>
      <p:pic>
        <p:nvPicPr>
          <p:cNvPr id="31" name="Image 8" descr="/private/tmp/claude-501/-Users-salehhamed-Outcome-Engine/91861432-41e2-4884-bc97-63c6dff2d021/scratchpad/wk/icons/TbUsers-grey.png">    </p:cNvPr>
          <p:cNvPicPr>
            <a:picLocks noChangeAspect="1"/>
          </p:cNvPicPr>
          <p:nvPr/>
        </p:nvPicPr>
        <p:blipFill>
          <a:blip r:embed="rId12"/>
          <a:stretch>
            <a:fillRect/>
          </a:stretch>
        </p:blipFill>
        <p:spPr>
          <a:xfrm>
            <a:off x="4526280" y="4681728"/>
            <a:ext cx="274320" cy="274320"/>
          </a:xfrm>
          <a:prstGeom prst="rect">
            <a:avLst/>
          </a:prstGeom>
        </p:spPr>
      </p:pic>
      <p:sp>
        <p:nvSpPr>
          <p:cNvPr id="32" name="Text 21"/>
          <p:cNvSpPr txBox="1"/>
          <p:nvPr/>
        </p:nvSpPr>
        <p:spPr>
          <a:xfrm>
            <a:off x="489204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Anyone</a:t>
            </a:r>
            <a:endParaRPr lang="en-US" sz="1200" dirty="0"/>
          </a:p>
        </p:txBody>
      </p:sp>
      <p:pic>
        <p:nvPicPr>
          <p:cNvPr id="33" name="Image 9" descr="/private/tmp/claude-501/-Users-salehhamed-Outcome-Engine/91861432-41e2-4884-bc97-63c6dff2d021/scratchpad/wk/icons/TbGauge-grey.png">    </p:cNvPr>
          <p:cNvPicPr>
            <a:picLocks noChangeAspect="1"/>
          </p:cNvPicPr>
          <p:nvPr/>
        </p:nvPicPr>
        <p:blipFill>
          <a:blip r:embed="rId13"/>
          <a:stretch>
            <a:fillRect/>
          </a:stretch>
        </p:blipFill>
        <p:spPr>
          <a:xfrm>
            <a:off x="4526280" y="5065776"/>
            <a:ext cx="274320" cy="274320"/>
          </a:xfrm>
          <a:prstGeom prst="rect">
            <a:avLst/>
          </a:prstGeom>
        </p:spPr>
      </p:pic>
      <p:sp>
        <p:nvSpPr>
          <p:cNvPr id="34" name="Text 22"/>
          <p:cNvSpPr txBox="1"/>
          <p:nvPr/>
        </p:nvSpPr>
        <p:spPr>
          <a:xfrm>
            <a:off x="489204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Calm energy</a:t>
            </a:r>
            <a:endParaRPr lang="en-US" sz="1200" dirty="0"/>
          </a:p>
        </p:txBody>
      </p:sp>
      <p:sp>
        <p:nvSpPr>
          <p:cNvPr id="35" name="Text 23"/>
          <p:cNvSpPr txBox="1"/>
          <p:nvPr/>
        </p:nvSpPr>
        <p:spPr>
          <a:xfrm>
            <a:off x="452628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People are curious about what is being built.</a:t>
            </a:r>
            <a:endParaRPr lang="en-US" sz="1150" dirty="0"/>
          </a:p>
        </p:txBody>
      </p:sp>
      <p:pic>
        <p:nvPicPr>
          <p:cNvPr id="36" name="Image 10" descr="/private/tmp/claude-501/-Users-salehhamed-Outcome-Engine/91861432-41e2-4884-bc97-63c6dff2d021/scratchpad/wk/brand/clear.png">
            <a:hlinkClick r:id="rId15" tooltip="Option B" action="ppaction://hlinksldjump"/>
          </p:cNvPr>
          <p:cNvPicPr>
            <a:picLocks noChangeAspect="1"/>
          </p:cNvPicPr>
          <p:nvPr/>
        </p:nvPicPr>
        <p:blipFill>
          <a:blip r:embed="rId14"/>
          <a:stretch>
            <a:fillRect/>
          </a:stretch>
        </p:blipFill>
        <p:spPr>
          <a:xfrm>
            <a:off x="4297680" y="1463040"/>
            <a:ext cx="3566160" cy="4663440"/>
          </a:xfrm>
          <a:prstGeom prst="rect">
            <a:avLst/>
          </a:prstGeom>
        </p:spPr>
      </p:pic>
      <p:sp>
        <p:nvSpPr>
          <p:cNvPr id="37" name="Shape 24"/>
          <p:cNvSpPr/>
          <p:nvPr/>
        </p:nvSpPr>
        <p:spPr>
          <a:xfrm>
            <a:off x="8046720" y="1463040"/>
            <a:ext cx="3566160" cy="4663440"/>
          </a:xfrm>
          <a:prstGeom prst="roundRect">
            <a:avLst>
              <a:gd name="adj" fmla="val 2051"/>
            </a:avLst>
          </a:prstGeom>
          <a:solidFill>
            <a:srgbClr val="FFFFFF"/>
          </a:solidFill>
          <a:ln w="12700">
            <a:solidFill>
              <a:srgbClr val="D9DEE2"/>
            </a:solidFill>
            <a:prstDash val="solid"/>
          </a:ln>
        </p:spPr>
      </p:sp>
      <p:sp>
        <p:nvSpPr>
          <p:cNvPr id="38" name="Shape 25"/>
          <p:cNvSpPr/>
          <p:nvPr/>
        </p:nvSpPr>
        <p:spPr>
          <a:xfrm>
            <a:off x="8046720" y="1463040"/>
            <a:ext cx="3566160" cy="566928"/>
          </a:xfrm>
          <a:prstGeom prst="roundRect">
            <a:avLst>
              <a:gd name="adj" fmla="val 12903"/>
            </a:avLst>
          </a:prstGeom>
          <a:solidFill>
            <a:srgbClr val="36454F"/>
          </a:solidFill>
          <a:ln/>
        </p:spPr>
      </p:sp>
      <p:sp>
        <p:nvSpPr>
          <p:cNvPr id="39" name="Shape 26"/>
          <p:cNvSpPr/>
          <p:nvPr/>
        </p:nvSpPr>
        <p:spPr>
          <a:xfrm>
            <a:off x="8046720" y="1828800"/>
            <a:ext cx="3566160" cy="201168"/>
          </a:xfrm>
          <a:prstGeom prst="rect">
            <a:avLst/>
          </a:prstGeom>
          <a:solidFill>
            <a:srgbClr val="36454F"/>
          </a:solidFill>
          <a:ln/>
        </p:spPr>
      </p:sp>
      <p:pic>
        <p:nvPicPr>
          <p:cNvPr id="40" name="Image 11" descr="/private/tmp/claude-501/-Users-salehhamed-Outcome-Engine/91861432-41e2-4884-bc97-63c6dff2d021/scratchpad/wk/icons/TbMasksTheater-white.png">    </p:cNvPr>
          <p:cNvPicPr>
            <a:picLocks noChangeAspect="1"/>
          </p:cNvPicPr>
          <p:nvPr/>
        </p:nvPicPr>
        <p:blipFill>
          <a:blip r:embed="rId16"/>
          <a:stretch>
            <a:fillRect/>
          </a:stretch>
        </p:blipFill>
        <p:spPr>
          <a:xfrm>
            <a:off x="8211312" y="1554480"/>
            <a:ext cx="384048" cy="384048"/>
          </a:xfrm>
          <a:prstGeom prst="rect">
            <a:avLst/>
          </a:prstGeom>
        </p:spPr>
      </p:pic>
      <p:sp>
        <p:nvSpPr>
          <p:cNvPr id="41" name="Text 27"/>
          <p:cNvSpPr txBox="1"/>
          <p:nvPr/>
        </p:nvSpPr>
        <p:spPr>
          <a:xfrm>
            <a:off x="870508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C · CASES AND CONVERSATION</a:t>
            </a:r>
            <a:endParaRPr lang="en-US" sz="1150" dirty="0"/>
          </a:p>
        </p:txBody>
      </p:sp>
      <p:sp>
        <p:nvSpPr>
          <p:cNvPr id="42" name="Text 28"/>
          <p:cNvSpPr txBox="1"/>
          <p:nvPr/>
        </p:nvSpPr>
        <p:spPr>
          <a:xfrm>
            <a:off x="827532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Lunch with the builders</a:t>
            </a:r>
            <a:endParaRPr lang="en-US" sz="2100" dirty="0"/>
          </a:p>
        </p:txBody>
      </p:sp>
      <p:sp>
        <p:nvSpPr>
          <p:cNvPr id="43" name="Text 29"/>
          <p:cNvSpPr txBox="1"/>
          <p:nvPr/>
        </p:nvSpPr>
        <p:spPr>
          <a:xfrm>
            <a:off x="827532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A full lunch. Engineers sit at different tables; anyone can ask about the build or bring a case.</a:t>
            </a:r>
            <a:endParaRPr lang="en-US" sz="1400" dirty="0"/>
          </a:p>
        </p:txBody>
      </p:sp>
      <p:pic>
        <p:nvPicPr>
          <p:cNvPr id="44" name="Image 12" descr="/private/tmp/claude-501/-Users-salehhamed-Outcome-Engine/91861432-41e2-4884-bc97-63c6dff2d021/scratchpad/wk/icons/TbClock-grey.png">    </p:cNvPr>
          <p:cNvPicPr>
            <a:picLocks noChangeAspect="1"/>
          </p:cNvPicPr>
          <p:nvPr/>
        </p:nvPicPr>
        <p:blipFill>
          <a:blip r:embed="rId17"/>
          <a:stretch>
            <a:fillRect/>
          </a:stretch>
        </p:blipFill>
        <p:spPr>
          <a:xfrm>
            <a:off x="8275320" y="4297680"/>
            <a:ext cx="274320" cy="274320"/>
          </a:xfrm>
          <a:prstGeom prst="rect">
            <a:avLst/>
          </a:prstGeom>
        </p:spPr>
      </p:pic>
      <p:sp>
        <p:nvSpPr>
          <p:cNvPr id="45" name="Text 30"/>
          <p:cNvSpPr txBox="1"/>
          <p:nvPr/>
        </p:nvSpPr>
        <p:spPr>
          <a:xfrm>
            <a:off x="864108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45 min</a:t>
            </a:r>
            <a:endParaRPr lang="en-US" sz="1200" dirty="0"/>
          </a:p>
        </p:txBody>
      </p:sp>
      <p:pic>
        <p:nvPicPr>
          <p:cNvPr id="46" name="Image 13" descr="/private/tmp/claude-501/-Users-salehhamed-Outcome-Engine/91861432-41e2-4884-bc97-63c6dff2d021/scratchpad/wk/icons/TbUsers-grey.png">    </p:cNvPr>
          <p:cNvPicPr>
            <a:picLocks noChangeAspect="1"/>
          </p:cNvPicPr>
          <p:nvPr/>
        </p:nvPicPr>
        <p:blipFill>
          <a:blip r:embed="rId18"/>
          <a:stretch>
            <a:fillRect/>
          </a:stretch>
        </p:blipFill>
        <p:spPr>
          <a:xfrm>
            <a:off x="8275320" y="4681728"/>
            <a:ext cx="274320" cy="274320"/>
          </a:xfrm>
          <a:prstGeom prst="rect">
            <a:avLst/>
          </a:prstGeom>
        </p:spPr>
      </p:pic>
      <p:sp>
        <p:nvSpPr>
          <p:cNvPr id="47" name="Text 31"/>
          <p:cNvSpPr txBox="1"/>
          <p:nvPr/>
        </p:nvSpPr>
        <p:spPr>
          <a:xfrm>
            <a:off x="864108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Whole room</a:t>
            </a:r>
            <a:endParaRPr lang="en-US" sz="1200" dirty="0"/>
          </a:p>
        </p:txBody>
      </p:sp>
      <p:pic>
        <p:nvPicPr>
          <p:cNvPr id="48" name="Image 14" descr="/private/tmp/claude-501/-Users-salehhamed-Outcome-Engine/91861432-41e2-4884-bc97-63c6dff2d021/scratchpad/wk/icons/TbGauge-grey.png">    </p:cNvPr>
          <p:cNvPicPr>
            <a:picLocks noChangeAspect="1"/>
          </p:cNvPicPr>
          <p:nvPr/>
        </p:nvPicPr>
        <p:blipFill>
          <a:blip r:embed="rId19"/>
          <a:stretch>
            <a:fillRect/>
          </a:stretch>
        </p:blipFill>
        <p:spPr>
          <a:xfrm>
            <a:off x="8275320" y="5065776"/>
            <a:ext cx="274320" cy="274320"/>
          </a:xfrm>
          <a:prstGeom prst="rect">
            <a:avLst/>
          </a:prstGeom>
        </p:spPr>
      </p:pic>
      <p:sp>
        <p:nvSpPr>
          <p:cNvPr id="49" name="Text 32"/>
          <p:cNvSpPr txBox="1"/>
          <p:nvPr/>
        </p:nvSpPr>
        <p:spPr>
          <a:xfrm>
            <a:off x="864108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Calm energy</a:t>
            </a:r>
            <a:endParaRPr lang="en-US" sz="1200" dirty="0"/>
          </a:p>
        </p:txBody>
      </p:sp>
      <p:sp>
        <p:nvSpPr>
          <p:cNvPr id="50" name="Text 33"/>
          <p:cNvSpPr txBox="1"/>
          <p:nvPr/>
        </p:nvSpPr>
        <p:spPr>
          <a:xfrm>
            <a:off x="827532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morning ran late and you need the full break.</a:t>
            </a:r>
            <a:endParaRPr lang="en-US" sz="1150" dirty="0"/>
          </a:p>
        </p:txBody>
      </p:sp>
      <p:pic>
        <p:nvPicPr>
          <p:cNvPr id="51" name="Image 15" descr="/private/tmp/claude-501/-Users-salehhamed-Outcome-Engine/91861432-41e2-4884-bc97-63c6dff2d021/scratchpad/wk/brand/clear.png">
            <a:hlinkClick r:id="rId21" tooltip="Option C" action="ppaction://hlinksldjump"/>
          </p:cNvPr>
          <p:cNvPicPr>
            <a:picLocks noChangeAspect="1"/>
          </p:cNvPicPr>
          <p:nvPr/>
        </p:nvPicPr>
        <p:blipFill>
          <a:blip r:embed="rId20"/>
          <a:stretch>
            <a:fillRect/>
          </a:stretch>
        </p:blipFill>
        <p:spPr>
          <a:xfrm>
            <a:off x="8046720" y="1463040"/>
            <a:ext cx="3566160" cy="466344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OPTION A · HANDS-ON · LUNCH · BUILD STARTS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Two-minute handover</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12:30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70</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An engineer reads back what they will build, before lunch.</a:t>
            </a:r>
            <a:endParaRPr lang="en-US" sz="1900" dirty="0"/>
          </a:p>
        </p:txBody>
      </p:sp>
      <p:sp>
        <p:nvSpPr>
          <p:cNvPr id="8" name="Shape 5"/>
          <p:cNvSpPr/>
          <p:nvPr/>
        </p:nvSpPr>
        <p:spPr>
          <a:xfrm>
            <a:off x="548640" y="2240280"/>
            <a:ext cx="832104" cy="1417320"/>
          </a:xfrm>
          <a:prstGeom prst="rect">
            <a:avLst/>
          </a:prstGeom>
          <a:solidFill>
            <a:srgbClr val="287079"/>
          </a:solidFill>
          <a:ln/>
        </p:spPr>
      </p:sp>
      <p:sp>
        <p:nvSpPr>
          <p:cNvPr id="9" name="Text 6"/>
          <p:cNvSpPr txBox="1"/>
          <p:nvPr/>
        </p:nvSpPr>
        <p:spPr>
          <a:xfrm>
            <a:off x="640080" y="2331720"/>
            <a:ext cx="685800"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 min</a:t>
            </a:r>
            <a:endParaRPr lang="en-US" sz="1150" dirty="0"/>
          </a:p>
        </p:txBody>
      </p:sp>
      <p:sp>
        <p:nvSpPr>
          <p:cNvPr id="10" name="Text 7"/>
          <p:cNvSpPr txBox="1"/>
          <p:nvPr/>
        </p:nvSpPr>
        <p:spPr>
          <a:xfrm>
            <a:off x="640080" y="2651760"/>
            <a:ext cx="722376"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Read-back</a:t>
            </a:r>
            <a:endParaRPr lang="en-US" sz="950" dirty="0"/>
          </a:p>
        </p:txBody>
      </p:sp>
      <p:sp>
        <p:nvSpPr>
          <p:cNvPr id="11" name="Shape 8"/>
          <p:cNvSpPr/>
          <p:nvPr/>
        </p:nvSpPr>
        <p:spPr>
          <a:xfrm>
            <a:off x="1417320" y="2240280"/>
            <a:ext cx="10189159" cy="1417320"/>
          </a:xfrm>
          <a:prstGeom prst="rect">
            <a:avLst/>
          </a:prstGeom>
          <a:solidFill>
            <a:srgbClr val="5C8F95"/>
          </a:solidFill>
          <a:ln/>
        </p:spPr>
      </p:sp>
      <p:sp>
        <p:nvSpPr>
          <p:cNvPr id="12" name="Text 9"/>
          <p:cNvSpPr txBox="1"/>
          <p:nvPr/>
        </p:nvSpPr>
        <p:spPr>
          <a:xfrm>
            <a:off x="1508760" y="2331720"/>
            <a:ext cx="1004285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42 min</a:t>
            </a:r>
            <a:endParaRPr lang="en-US" sz="1150" dirty="0"/>
          </a:p>
        </p:txBody>
      </p:sp>
      <p:sp>
        <p:nvSpPr>
          <p:cNvPr id="13" name="Text 10"/>
          <p:cNvSpPr txBox="1"/>
          <p:nvPr/>
        </p:nvSpPr>
        <p:spPr>
          <a:xfrm>
            <a:off x="1508760" y="2651760"/>
            <a:ext cx="1007943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Lunch</a:t>
            </a:r>
            <a:endParaRPr lang="en-US" sz="1500" dirty="0"/>
          </a:p>
        </p:txBody>
      </p:sp>
      <p:sp>
        <p:nvSpPr>
          <p:cNvPr id="14" name="Shape 11"/>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5"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6" name="Text 12"/>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17" name="Text 13"/>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Whole room</a:t>
            </a:r>
            <a:endParaRPr lang="en-US" sz="1300" dirty="0"/>
          </a:p>
        </p:txBody>
      </p:sp>
      <p:sp>
        <p:nvSpPr>
          <p:cNvPr id="18" name="Shape 14"/>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19"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0" name="Text 15"/>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1" name="Text 16"/>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Corrections to the build brief.</a:t>
            </a:r>
            <a:endParaRPr lang="en-US" sz="1300" dirty="0"/>
          </a:p>
        </p:txBody>
      </p:sp>
      <p:sp>
        <p:nvSpPr>
          <p:cNvPr id="22" name="Shape 17"/>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3"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24" name="Text 18"/>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25" name="Text 19"/>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name="Slide 7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FF462D"/>
                </a:solidFill>
                <a:latin typeface="Arial" pitchFamily="34" charset="0"/>
                <a:ea typeface="Arial" pitchFamily="34" charset="-122"/>
                <a:cs typeface="Arial" pitchFamily="34" charset="-120"/>
              </a:rPr>
              <a:t>OPTION B · LIVE VOTING · LUNCH · BUILD STARTS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Ask the builders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12:30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71</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A question board by the build table; questions also go in on phones.</a:t>
            </a:r>
            <a:endParaRPr lang="en-US" sz="1900" dirty="0"/>
          </a:p>
        </p:txBody>
      </p:sp>
      <p:sp>
        <p:nvSpPr>
          <p:cNvPr id="8" name="Shape 5"/>
          <p:cNvSpPr/>
          <p:nvPr/>
        </p:nvSpPr>
        <p:spPr>
          <a:xfrm>
            <a:off x="548640" y="2240280"/>
            <a:ext cx="11057839" cy="1417320"/>
          </a:xfrm>
          <a:prstGeom prst="rect">
            <a:avLst/>
          </a:prstGeom>
          <a:solidFill>
            <a:srgbClr val="FF462D"/>
          </a:solidFill>
          <a:ln/>
        </p:spPr>
      </p:sp>
      <p:sp>
        <p:nvSpPr>
          <p:cNvPr id="9" name="Text 6"/>
          <p:cNvSpPr txBox="1"/>
          <p:nvPr/>
        </p:nvSpPr>
        <p:spPr>
          <a:xfrm>
            <a:off x="640080" y="2331720"/>
            <a:ext cx="1091153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45 min</a:t>
            </a:r>
            <a:endParaRPr lang="en-US" sz="1150" dirty="0"/>
          </a:p>
        </p:txBody>
      </p:sp>
      <p:sp>
        <p:nvSpPr>
          <p:cNvPr id="10" name="Text 7"/>
          <p:cNvSpPr txBox="1"/>
          <p:nvPr/>
        </p:nvSpPr>
        <p:spPr>
          <a:xfrm>
            <a:off x="640080" y="2651760"/>
            <a:ext cx="1094811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Lunch and questions</a:t>
            </a:r>
            <a:endParaRPr lang="en-US" sz="1500" dirty="0"/>
          </a:p>
        </p:txBody>
      </p:sp>
      <p:sp>
        <p:nvSpPr>
          <p:cNvPr id="11" name="Shape 8"/>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2"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3" name="Text 9"/>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14" name="Text 10"/>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Anyone</a:t>
            </a:r>
            <a:endParaRPr lang="en-US" sz="1300" dirty="0"/>
          </a:p>
        </p:txBody>
      </p:sp>
      <p:sp>
        <p:nvSpPr>
          <p:cNvPr id="15" name="Shape 11"/>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16"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17" name="Text 12"/>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18" name="Text 13"/>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Questions with answers or owners.</a:t>
            </a:r>
            <a:endParaRPr lang="en-US" sz="1300" dirty="0"/>
          </a:p>
        </p:txBody>
      </p:sp>
      <p:sp>
        <p:nvSpPr>
          <p:cNvPr id="19" name="Shape 14"/>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20"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21" name="Text 15"/>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22" name="Text 16"/>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name="Slide 7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36454F"/>
                </a:solidFill>
                <a:latin typeface="Arial" pitchFamily="34" charset="0"/>
                <a:ea typeface="Arial" pitchFamily="34" charset="-122"/>
                <a:cs typeface="Arial" pitchFamily="34" charset="-120"/>
              </a:rPr>
              <a:t>OPTION C · CASES AND CONVERSATION · LUNCH · BUILD STARTS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Lunch with the builders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12:30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72</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A full lunch. Engineers sit at different tables; anyone can ask about the build or bring a case.</a:t>
            </a:r>
            <a:endParaRPr lang="en-US" sz="1900" dirty="0"/>
          </a:p>
        </p:txBody>
      </p:sp>
      <p:sp>
        <p:nvSpPr>
          <p:cNvPr id="8" name="Shape 5"/>
          <p:cNvSpPr/>
          <p:nvPr/>
        </p:nvSpPr>
        <p:spPr>
          <a:xfrm>
            <a:off x="548640" y="2240280"/>
            <a:ext cx="11057839" cy="1417320"/>
          </a:xfrm>
          <a:prstGeom prst="rect">
            <a:avLst/>
          </a:prstGeom>
          <a:solidFill>
            <a:srgbClr val="36454F"/>
          </a:solidFill>
          <a:ln/>
        </p:spPr>
      </p:sp>
      <p:sp>
        <p:nvSpPr>
          <p:cNvPr id="9" name="Text 6"/>
          <p:cNvSpPr txBox="1"/>
          <p:nvPr/>
        </p:nvSpPr>
        <p:spPr>
          <a:xfrm>
            <a:off x="640080" y="2331720"/>
            <a:ext cx="1091153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45 min</a:t>
            </a:r>
            <a:endParaRPr lang="en-US" sz="1150" dirty="0"/>
          </a:p>
        </p:txBody>
      </p:sp>
      <p:sp>
        <p:nvSpPr>
          <p:cNvPr id="10" name="Text 7"/>
          <p:cNvSpPr txBox="1"/>
          <p:nvPr/>
        </p:nvSpPr>
        <p:spPr>
          <a:xfrm>
            <a:off x="640080" y="2651760"/>
            <a:ext cx="1094811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Lunch with builders</a:t>
            </a:r>
            <a:endParaRPr lang="en-US" sz="1500" dirty="0"/>
          </a:p>
        </p:txBody>
      </p:sp>
      <p:sp>
        <p:nvSpPr>
          <p:cNvPr id="11" name="Shape 8"/>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2"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3" name="Text 9"/>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14" name="Text 10"/>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Whole room</a:t>
            </a:r>
            <a:endParaRPr lang="en-US" sz="1300" dirty="0"/>
          </a:p>
        </p:txBody>
      </p:sp>
      <p:sp>
        <p:nvSpPr>
          <p:cNvPr id="15" name="Shape 11"/>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16"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17" name="Text 12"/>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18" name="Text 13"/>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Cases people want tested tomorrow, noted by the engineers.</a:t>
            </a:r>
            <a:endParaRPr lang="en-US" sz="1300" dirty="0"/>
          </a:p>
        </p:txBody>
      </p:sp>
      <p:sp>
        <p:nvSpPr>
          <p:cNvPr id="19" name="Shape 14"/>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0"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21" name="Text 15"/>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22" name="Text 16"/>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287079"/>
          </a:solidFill>
          <a:ln/>
        </p:spPr>
      </p:sp>
      <p:sp>
        <p:nvSpPr>
          <p:cNvPr id="3" name="Text 1"/>
          <p:cNvSpPr txBox="1"/>
          <p:nvPr/>
        </p:nvSpPr>
        <p:spPr>
          <a:xfrm>
            <a:off x="548640" y="548640"/>
            <a:ext cx="3474720" cy="274320"/>
          </a:xfrm>
          <a:prstGeom prst="rect">
            <a:avLst/>
          </a:prstGeom>
          <a:noFill/>
          <a:ln/>
        </p:spPr>
        <p:txBody>
          <a:bodyPr wrap="square" lIns="0" tIns="0" rIns="0" bIns="0" rtlCol="0" anchor="t"/>
          <a:lstStyle/>
          <a:p>
            <a:pPr indent="0" marL="0">
              <a:buNone/>
            </a:pPr>
            <a:r>
              <a:rPr lang="en-US" sz="1100" b="1" spc="150" kern="0" dirty="0">
                <a:solidFill>
                  <a:srgbClr val="D9DEE2"/>
                </a:solidFill>
                <a:latin typeface="Arial" pitchFamily="34" charset="0"/>
                <a:ea typeface="Arial" pitchFamily="34" charset="-122"/>
                <a:cs typeface="Arial" pitchFamily="34" charset="-120"/>
              </a:rPr>
              <a:t>DAY 1 · 13:15–14:45 · 90 MIN</a:t>
            </a:r>
            <a:endParaRPr lang="en-US" sz="1100" dirty="0"/>
          </a:p>
        </p:txBody>
      </p:sp>
      <p:sp>
        <p:nvSpPr>
          <p:cNvPr id="4" name="Text 2"/>
          <p:cNvSpPr txBox="1"/>
          <p:nvPr/>
        </p:nvSpPr>
        <p:spPr>
          <a:xfrm>
            <a:off x="548640" y="960120"/>
            <a:ext cx="3383280" cy="2377440"/>
          </a:xfrm>
          <a:prstGeom prst="rect">
            <a:avLst/>
          </a:prstGeom>
          <a:noFill/>
          <a:ln/>
        </p:spPr>
        <p:txBody>
          <a:bodyPr wrap="square" lIns="0" tIns="0" rIns="0" bIns="0" rtlCol="0" anchor="t"/>
          <a:lstStyle/>
          <a:p>
            <a:pPr indent="0" marL="0">
              <a:buNone/>
            </a:pPr>
            <a:r>
              <a:rPr lang="en-US" sz="3000" b="1" dirty="0">
                <a:solidFill>
                  <a:srgbClr val="FFFFFF"/>
                </a:solidFill>
                <a:latin typeface="TWK Everett" pitchFamily="34" charset="0"/>
                <a:ea typeface="TWK Everett" pitchFamily="34" charset="-122"/>
                <a:cs typeface="TWK Everett" pitchFamily="34" charset="-120"/>
              </a:rPr>
              <a:t>Define how it should work: decisions and evidence</a:t>
            </a:r>
            <a:endParaRPr lang="en-US" sz="3000" dirty="0"/>
          </a:p>
        </p:txBody>
      </p:sp>
      <p:pic>
        <p:nvPicPr>
          <p:cNvPr id="5" name="Image 0" descr="/private/tmp/claude-501/-Users-salehhamed-Outcome-Engine/91861432-41e2-4884-bc97-63c6dff2d021/scratchpad/wk/icons/TbUserCheck-white.png">    </p:cNvPr>
          <p:cNvPicPr>
            <a:picLocks noChangeAspect="1"/>
          </p:cNvPicPr>
          <p:nvPr/>
        </p:nvPicPr>
        <p:blipFill>
          <a:blip r:embed="rId1"/>
          <a:stretch>
            <a:fillRect/>
          </a:stretch>
        </p:blipFill>
        <p:spPr>
          <a:xfrm>
            <a:off x="548640" y="3200400"/>
            <a:ext cx="685800" cy="685800"/>
          </a:xfrm>
          <a:prstGeom prst="rect">
            <a:avLst/>
          </a:prstGeom>
        </p:spPr>
      </p:pic>
      <p:sp>
        <p:nvSpPr>
          <p:cNvPr id="6" name="Shape 3"/>
          <p:cNvSpPr/>
          <p:nvPr/>
        </p:nvSpPr>
        <p:spPr>
          <a:xfrm>
            <a:off x="548640" y="4169664"/>
            <a:ext cx="237744" cy="237744"/>
          </a:xfrm>
          <a:prstGeom prst="ellipse">
            <a:avLst/>
          </a:prstGeom>
          <a:solidFill>
            <a:srgbClr val="FFFFFF"/>
          </a:solidFill>
          <a:ln/>
        </p:spPr>
      </p:sp>
      <p:sp>
        <p:nvSpPr>
          <p:cNvPr id="7" name="Shape 4"/>
          <p:cNvSpPr/>
          <p:nvPr/>
        </p:nvSpPr>
        <p:spPr>
          <a:xfrm>
            <a:off x="932688" y="4169664"/>
            <a:ext cx="237744" cy="237744"/>
          </a:xfrm>
          <a:prstGeom prst="ellipse">
            <a:avLst/>
          </a:prstGeom>
          <a:solidFill>
            <a:srgbClr val="FFFFFF"/>
          </a:solidFill>
          <a:ln/>
        </p:spPr>
      </p:sp>
      <p:sp>
        <p:nvSpPr>
          <p:cNvPr id="8" name="Shape 5"/>
          <p:cNvSpPr/>
          <p:nvPr/>
        </p:nvSpPr>
        <p:spPr>
          <a:xfrm>
            <a:off x="1316736" y="4169664"/>
            <a:ext cx="237744" cy="237744"/>
          </a:xfrm>
          <a:prstGeom prst="ellipse">
            <a:avLst/>
          </a:prstGeom>
          <a:solidFill>
            <a:srgbClr val="FFFFFF"/>
          </a:solidFill>
          <a:ln/>
        </p:spPr>
      </p:sp>
      <p:sp>
        <p:nvSpPr>
          <p:cNvPr id="9" name="Shape 6"/>
          <p:cNvSpPr/>
          <p:nvPr/>
        </p:nvSpPr>
        <p:spPr>
          <a:xfrm>
            <a:off x="1664208" y="4133088"/>
            <a:ext cx="310896" cy="310896"/>
          </a:xfrm>
          <a:prstGeom prst="ellipse">
            <a:avLst/>
          </a:prstGeom>
          <a:solidFill>
            <a:srgbClr val="FF462D"/>
          </a:solidFill>
          <a:ln w="19050">
            <a:solidFill>
              <a:srgbClr val="FFFFFF"/>
            </a:solidFill>
            <a:prstDash val="solid"/>
          </a:ln>
        </p:spPr>
      </p:sp>
      <p:sp>
        <p:nvSpPr>
          <p:cNvPr id="10" name="Shape 7"/>
          <p:cNvSpPr/>
          <p:nvPr/>
        </p:nvSpPr>
        <p:spPr>
          <a:xfrm>
            <a:off x="2084832" y="4169664"/>
            <a:ext cx="237744" cy="237744"/>
          </a:xfrm>
          <a:prstGeom prst="ellipse">
            <a:avLst/>
          </a:prstGeom>
          <a:ln w="15875">
            <a:solidFill>
              <a:srgbClr val="D9DEE2"/>
            </a:solidFill>
            <a:prstDash val="solid"/>
          </a:ln>
        </p:spPr>
      </p:sp>
      <p:sp>
        <p:nvSpPr>
          <p:cNvPr id="11" name="Shape 8"/>
          <p:cNvSpPr/>
          <p:nvPr/>
        </p:nvSpPr>
        <p:spPr>
          <a:xfrm>
            <a:off x="2468880" y="4169664"/>
            <a:ext cx="237744" cy="237744"/>
          </a:xfrm>
          <a:prstGeom prst="ellipse">
            <a:avLst/>
          </a:prstGeom>
          <a:ln w="15875">
            <a:solidFill>
              <a:srgbClr val="D9DEE2"/>
            </a:solidFill>
            <a:prstDash val="solid"/>
          </a:ln>
        </p:spPr>
      </p:sp>
      <p:sp>
        <p:nvSpPr>
          <p:cNvPr id="12" name="Shape 9"/>
          <p:cNvSpPr/>
          <p:nvPr/>
        </p:nvSpPr>
        <p:spPr>
          <a:xfrm>
            <a:off x="2852928" y="4169664"/>
            <a:ext cx="237744" cy="237744"/>
          </a:xfrm>
          <a:prstGeom prst="ellipse">
            <a:avLst/>
          </a:prstGeom>
          <a:ln w="15875">
            <a:solidFill>
              <a:srgbClr val="D9DEE2"/>
            </a:solidFill>
            <a:prstDash val="solid"/>
          </a:ln>
        </p:spPr>
      </p:sp>
      <p:sp>
        <p:nvSpPr>
          <p:cNvPr id="13" name="Shape 10"/>
          <p:cNvSpPr/>
          <p:nvPr/>
        </p:nvSpPr>
        <p:spPr>
          <a:xfrm>
            <a:off x="3236976" y="4169664"/>
            <a:ext cx="237744" cy="237744"/>
          </a:xfrm>
          <a:prstGeom prst="ellipse">
            <a:avLst/>
          </a:prstGeom>
          <a:ln w="15875">
            <a:solidFill>
              <a:srgbClr val="D9DEE2"/>
            </a:solidFill>
            <a:prstDash val="solid"/>
          </a:ln>
        </p:spPr>
      </p:sp>
      <p:sp>
        <p:nvSpPr>
          <p:cNvPr id="14" name="Text 11"/>
          <p:cNvSpPr txBox="1"/>
          <p:nvPr/>
        </p:nvSpPr>
        <p:spPr>
          <a:xfrm>
            <a:off x="548640" y="4553712"/>
            <a:ext cx="338328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Step 4 of 8: Who decides</a:t>
            </a:r>
            <a:endParaRPr lang="en-US" sz="1100" dirty="0"/>
          </a:p>
        </p:txBody>
      </p:sp>
      <p:sp>
        <p:nvSpPr>
          <p:cNvPr id="15" name="Text 12"/>
          <p:cNvSpPr txBox="1"/>
          <p:nvPr/>
        </p:nvSpPr>
        <p:spPr>
          <a:xfrm>
            <a:off x="4709160" y="685800"/>
            <a:ext cx="6400800" cy="320040"/>
          </a:xfrm>
          <a:prstGeom prst="rect">
            <a:avLst/>
          </a:prstGeom>
          <a:noFill/>
          <a:ln/>
        </p:spPr>
        <p:txBody>
          <a:bodyPr wrap="square" lIns="0" tIns="0" rIns="0" bIns="0" rtlCol="0" anchor="t"/>
          <a:lstStyle/>
          <a:p>
            <a:pPr indent="0" marL="0">
              <a:buNone/>
            </a:pPr>
            <a:r>
              <a:rPr lang="en-US" sz="1400" b="1" dirty="0">
                <a:solidFill>
                  <a:srgbClr val="287079"/>
                </a:solidFill>
                <a:latin typeface="Arial" pitchFamily="34" charset="0"/>
                <a:ea typeface="Arial" pitchFamily="34" charset="-122"/>
                <a:cs typeface="Arial" pitchFamily="34" charset="-120"/>
              </a:rPr>
              <a:t>By the end of this session, you can</a:t>
            </a:r>
            <a:endParaRPr lang="en-US" sz="1400" dirty="0"/>
          </a:p>
        </p:txBody>
      </p:sp>
      <p:pic>
        <p:nvPicPr>
          <p:cNvPr id="16" name="Image 1" descr="/private/tmp/claude-501/-Users-salehhamed-Outcome-Engine/91861432-41e2-4884-bc97-63c6dff2d021/scratchpad/wk/icons/TbCircleCheck-teal.png">    </p:cNvPr>
          <p:cNvPicPr>
            <a:picLocks noChangeAspect="1"/>
          </p:cNvPicPr>
          <p:nvPr/>
        </p:nvPicPr>
        <p:blipFill>
          <a:blip r:embed="rId2"/>
          <a:stretch>
            <a:fillRect/>
          </a:stretch>
        </p:blipFill>
        <p:spPr>
          <a:xfrm>
            <a:off x="4709160" y="1225296"/>
            <a:ext cx="411480" cy="411480"/>
          </a:xfrm>
          <a:prstGeom prst="rect">
            <a:avLst/>
          </a:prstGeom>
        </p:spPr>
      </p:pic>
      <p:sp>
        <p:nvSpPr>
          <p:cNvPr id="17" name="Text 13"/>
          <p:cNvSpPr txBox="1"/>
          <p:nvPr/>
        </p:nvSpPr>
        <p:spPr>
          <a:xfrm>
            <a:off x="5303520" y="118872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Name the six moments in a deal where a person must decide.</a:t>
            </a:r>
            <a:endParaRPr lang="en-US" sz="1700" dirty="0"/>
          </a:p>
        </p:txBody>
      </p:sp>
      <p:pic>
        <p:nvPicPr>
          <p:cNvPr id="18" name="Image 2" descr="/private/tmp/claude-501/-Users-salehhamed-Outcome-Engine/91861432-41e2-4884-bc97-63c6dff2d021/scratchpad/wk/icons/TbCircleCheck-teal.png">    </p:cNvPr>
          <p:cNvPicPr>
            <a:picLocks noChangeAspect="1"/>
          </p:cNvPicPr>
          <p:nvPr/>
        </p:nvPicPr>
        <p:blipFill>
          <a:blip r:embed="rId3"/>
          <a:stretch>
            <a:fillRect/>
          </a:stretch>
        </p:blipFill>
        <p:spPr>
          <a:xfrm>
            <a:off x="4709160" y="2093976"/>
            <a:ext cx="411480" cy="411480"/>
          </a:xfrm>
          <a:prstGeom prst="rect">
            <a:avLst/>
          </a:prstGeom>
        </p:spPr>
      </p:pic>
      <p:sp>
        <p:nvSpPr>
          <p:cNvPr id="19" name="Text 14"/>
          <p:cNvSpPr txBox="1"/>
          <p:nvPr/>
        </p:nvSpPr>
        <p:spPr>
          <a:xfrm>
            <a:off x="5303520" y="205740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For each, agree the owner, why a person, the evidence, the response time, and who it goes to if nobody answers.</a:t>
            </a:r>
            <a:endParaRPr lang="en-US" sz="1700" dirty="0"/>
          </a:p>
        </p:txBody>
      </p:sp>
      <p:pic>
        <p:nvPicPr>
          <p:cNvPr id="20" name="Image 3" descr="/private/tmp/claude-501/-Users-salehhamed-Outcome-Engine/91861432-41e2-4884-bc97-63c6dff2d021/scratchpad/wk/icons/TbCircleCheck-teal.png">    </p:cNvPr>
          <p:cNvPicPr>
            <a:picLocks noChangeAspect="1"/>
          </p:cNvPicPr>
          <p:nvPr/>
        </p:nvPicPr>
        <p:blipFill>
          <a:blip r:embed="rId4"/>
          <a:stretch>
            <a:fillRect/>
          </a:stretch>
        </p:blipFill>
        <p:spPr>
          <a:xfrm>
            <a:off x="4709160" y="2962656"/>
            <a:ext cx="411480" cy="411480"/>
          </a:xfrm>
          <a:prstGeom prst="rect">
            <a:avLst/>
          </a:prstGeom>
        </p:spPr>
      </p:pic>
      <p:sp>
        <p:nvSpPr>
          <p:cNvPr id="21" name="Text 15"/>
          <p:cNvSpPr txBox="1"/>
          <p:nvPr/>
        </p:nvSpPr>
        <p:spPr>
          <a:xfrm>
            <a:off x="5303520" y="292608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Say where each piece of evidence comes from.</a:t>
            </a:r>
            <a:endParaRPr lang="en-US" sz="1700" dirty="0"/>
          </a:p>
        </p:txBody>
      </p:sp>
      <p:sp>
        <p:nvSpPr>
          <p:cNvPr id="22" name="Shape 16"/>
          <p:cNvSpPr/>
          <p:nvPr/>
        </p:nvSpPr>
        <p:spPr>
          <a:xfrm>
            <a:off x="4709160" y="4800600"/>
            <a:ext cx="6931152" cy="1234440"/>
          </a:xfrm>
          <a:prstGeom prst="roundRect">
            <a:avLst>
              <a:gd name="adj" fmla="val 5926"/>
            </a:avLst>
          </a:prstGeom>
          <a:solidFill>
            <a:srgbClr val="FFF0EC"/>
          </a:solidFill>
          <a:ln/>
        </p:spPr>
      </p:sp>
      <p:sp>
        <p:nvSpPr>
          <p:cNvPr id="23" name="Text 17"/>
          <p:cNvSpPr txBox="1"/>
          <p:nvPr/>
        </p:nvSpPr>
        <p:spPr>
          <a:xfrm>
            <a:off x="4937760" y="4800600"/>
            <a:ext cx="6492240" cy="1234440"/>
          </a:xfrm>
          <a:prstGeom prst="rect">
            <a:avLst/>
          </a:prstGeom>
          <a:noFill/>
          <a:ln/>
        </p:spPr>
        <p:txBody>
          <a:bodyPr wrap="square" lIns="0" tIns="0" rIns="0" bIns="0" rtlCol="0" anchor="ctr"/>
          <a:lstStyle/>
          <a:p>
            <a:pPr indent="0" marL="0">
              <a:buNone/>
            </a:pPr>
            <a:r>
              <a:rPr lang="en-US" sz="1800" b="1" dirty="0">
                <a:solidFill>
                  <a:srgbClr val="FF462D"/>
                </a:solidFill>
                <a:latin typeface="Arial" pitchFamily="34" charset="0"/>
                <a:ea typeface="Arial" pitchFamily="34" charset="-122"/>
                <a:cs typeface="Arial" pitchFamily="34" charset="-120"/>
              </a:rPr>
              <a:t>The system drafts, the rules check, and a named person decides where it matters.</a:t>
            </a:r>
            <a:endParaRPr lang="en-US" sz="1800" dirty="0"/>
          </a:p>
        </p:txBody>
      </p:sp>
      <p:sp>
        <p:nvSpPr>
          <p:cNvPr id="24" name="Text 18"/>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5"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6" action="ppaction://hlinksldjump" tooltip="The thre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73</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DEFINE HOW IT SHOULD WORK: DECISIONS AND EVIDENCE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Who does what inside the system</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13:15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74</a:t>
            </a:r>
            <a:endParaRPr lang="en-US" sz="1000" dirty="0"/>
          </a:p>
        </p:txBody>
      </p:sp>
      <p:sp>
        <p:nvSpPr>
          <p:cNvPr id="7" name="Shape 4"/>
          <p:cNvSpPr/>
          <p:nvPr/>
        </p:nvSpPr>
        <p:spPr>
          <a:xfrm>
            <a:off x="548640" y="1554480"/>
            <a:ext cx="3566160" cy="3383280"/>
          </a:xfrm>
          <a:prstGeom prst="roundRect">
            <a:avLst>
              <a:gd name="adj" fmla="val 2703"/>
            </a:avLst>
          </a:prstGeom>
          <a:solidFill>
            <a:srgbClr val="287079"/>
          </a:solidFill>
          <a:ln/>
        </p:spPr>
      </p:sp>
      <p:pic>
        <p:nvPicPr>
          <p:cNvPr id="8" name="Image 1" descr="/private/tmp/claude-501/-Users-salehhamed-Outcome-Engine/91861432-41e2-4884-bc97-63c6dff2d021/scratchpad/wk/icons/TbSparkles-white.png">    </p:cNvPr>
          <p:cNvPicPr>
            <a:picLocks noChangeAspect="1"/>
          </p:cNvPicPr>
          <p:nvPr/>
        </p:nvPicPr>
        <p:blipFill>
          <a:blip r:embed="rId4"/>
          <a:stretch>
            <a:fillRect/>
          </a:stretch>
        </p:blipFill>
        <p:spPr>
          <a:xfrm>
            <a:off x="1874520" y="1783080"/>
            <a:ext cx="914400" cy="914400"/>
          </a:xfrm>
          <a:prstGeom prst="rect">
            <a:avLst/>
          </a:prstGeom>
        </p:spPr>
      </p:pic>
      <p:sp>
        <p:nvSpPr>
          <p:cNvPr id="9" name="Text 5"/>
          <p:cNvSpPr txBox="1"/>
          <p:nvPr/>
        </p:nvSpPr>
        <p:spPr>
          <a:xfrm>
            <a:off x="731520" y="2788920"/>
            <a:ext cx="3200400" cy="548640"/>
          </a:xfrm>
          <a:prstGeom prst="rect">
            <a:avLst/>
          </a:prstGeom>
          <a:noFill/>
          <a:ln/>
        </p:spPr>
        <p:txBody>
          <a:bodyPr wrap="square" lIns="0" tIns="0" rIns="0" bIns="0" rtlCol="0" anchor="t"/>
          <a:lstStyle/>
          <a:p>
            <a:pPr algn="ctr" indent="0" marL="0">
              <a:buNone/>
            </a:pPr>
            <a:r>
              <a:rPr lang="en-US" sz="2200" b="1" dirty="0">
                <a:solidFill>
                  <a:srgbClr val="FFFFFF"/>
                </a:solidFill>
                <a:latin typeface="Arial" pitchFamily="34" charset="0"/>
                <a:ea typeface="Arial" pitchFamily="34" charset="-122"/>
                <a:cs typeface="Arial" pitchFamily="34" charset="-120"/>
              </a:rPr>
              <a:t>The AI drafts</a:t>
            </a:r>
            <a:endParaRPr lang="en-US" sz="2200" dirty="0"/>
          </a:p>
        </p:txBody>
      </p:sp>
      <p:sp>
        <p:nvSpPr>
          <p:cNvPr id="10" name="Text 6"/>
          <p:cNvSpPr txBox="1"/>
          <p:nvPr/>
        </p:nvSpPr>
        <p:spPr>
          <a:xfrm>
            <a:off x="822960" y="3383280"/>
            <a:ext cx="3017520" cy="1371600"/>
          </a:xfrm>
          <a:prstGeom prst="rect">
            <a:avLst/>
          </a:prstGeom>
          <a:noFill/>
          <a:ln/>
        </p:spPr>
        <p:txBody>
          <a:bodyPr wrap="square" lIns="0" tIns="0" rIns="0" bIns="0" rtlCol="0" anchor="t"/>
          <a:lstStyle/>
          <a:p>
            <a:pPr algn="ctr" indent="0" marL="0">
              <a:buNone/>
            </a:pPr>
            <a:r>
              <a:rPr lang="en-US" sz="1500" dirty="0">
                <a:solidFill>
                  <a:srgbClr val="FFFFFF"/>
                </a:solidFill>
                <a:latin typeface="Arial" pitchFamily="34" charset="0"/>
                <a:ea typeface="Arial" pitchFamily="34" charset="-122"/>
                <a:cs typeface="Arial" pitchFamily="34" charset="-120"/>
              </a:rPr>
              <a:t>Reads the contract, drafts the plan, gathers the evidence.</a:t>
            </a:r>
            <a:endParaRPr lang="en-US" sz="1500" dirty="0"/>
          </a:p>
        </p:txBody>
      </p:sp>
      <p:sp>
        <p:nvSpPr>
          <p:cNvPr id="11" name="Text 7"/>
          <p:cNvSpPr txBox="1"/>
          <p:nvPr/>
        </p:nvSpPr>
        <p:spPr>
          <a:xfrm>
            <a:off x="4096512" y="2743200"/>
            <a:ext cx="228600" cy="548640"/>
          </a:xfrm>
          <a:prstGeom prst="rect">
            <a:avLst/>
          </a:prstGeom>
          <a:noFill/>
          <a:ln/>
        </p:spPr>
        <p:txBody>
          <a:bodyPr wrap="square" lIns="0" tIns="0" rIns="0" bIns="0" rtlCol="0" anchor="t"/>
          <a:lstStyle/>
          <a:p>
            <a:pPr algn="ctr" indent="0" marL="0">
              <a:buNone/>
            </a:pPr>
            <a:r>
              <a:rPr lang="en-US" sz="2600" b="1" dirty="0">
                <a:solidFill>
                  <a:srgbClr val="8A94A4"/>
                </a:solidFill>
                <a:latin typeface="Arial" pitchFamily="34" charset="0"/>
                <a:ea typeface="Arial" pitchFamily="34" charset="-122"/>
                <a:cs typeface="Arial" pitchFamily="34" charset="-120"/>
              </a:rPr>
              <a:t>›</a:t>
            </a:r>
            <a:endParaRPr lang="en-US" sz="2600" dirty="0"/>
          </a:p>
        </p:txBody>
      </p:sp>
      <p:sp>
        <p:nvSpPr>
          <p:cNvPr id="12" name="Shape 8"/>
          <p:cNvSpPr/>
          <p:nvPr/>
        </p:nvSpPr>
        <p:spPr>
          <a:xfrm>
            <a:off x="4297680" y="1554480"/>
            <a:ext cx="3566160" cy="3383280"/>
          </a:xfrm>
          <a:prstGeom prst="roundRect">
            <a:avLst>
              <a:gd name="adj" fmla="val 2703"/>
            </a:avLst>
          </a:prstGeom>
          <a:solidFill>
            <a:srgbClr val="36454F"/>
          </a:solidFill>
          <a:ln/>
        </p:spPr>
      </p:sp>
      <p:pic>
        <p:nvPicPr>
          <p:cNvPr id="13" name="Image 2" descr="/private/tmp/claude-501/-Users-salehhamed-Outcome-Engine/91861432-41e2-4884-bc97-63c6dff2d021/scratchpad/wk/icons/TbGavel-white.png">    </p:cNvPr>
          <p:cNvPicPr>
            <a:picLocks noChangeAspect="1"/>
          </p:cNvPicPr>
          <p:nvPr/>
        </p:nvPicPr>
        <p:blipFill>
          <a:blip r:embed="rId5"/>
          <a:stretch>
            <a:fillRect/>
          </a:stretch>
        </p:blipFill>
        <p:spPr>
          <a:xfrm>
            <a:off x="5623560" y="1783080"/>
            <a:ext cx="914400" cy="914400"/>
          </a:xfrm>
          <a:prstGeom prst="rect">
            <a:avLst/>
          </a:prstGeom>
        </p:spPr>
      </p:pic>
      <p:sp>
        <p:nvSpPr>
          <p:cNvPr id="14" name="Text 9"/>
          <p:cNvSpPr txBox="1"/>
          <p:nvPr/>
        </p:nvSpPr>
        <p:spPr>
          <a:xfrm>
            <a:off x="4480560" y="2788920"/>
            <a:ext cx="3200400" cy="548640"/>
          </a:xfrm>
          <a:prstGeom prst="rect">
            <a:avLst/>
          </a:prstGeom>
          <a:noFill/>
          <a:ln/>
        </p:spPr>
        <p:txBody>
          <a:bodyPr wrap="square" lIns="0" tIns="0" rIns="0" bIns="0" rtlCol="0" anchor="t"/>
          <a:lstStyle/>
          <a:p>
            <a:pPr algn="ctr" indent="0" marL="0">
              <a:buNone/>
            </a:pPr>
            <a:r>
              <a:rPr lang="en-US" sz="2200" b="1" dirty="0">
                <a:solidFill>
                  <a:srgbClr val="FFFFFF"/>
                </a:solidFill>
                <a:latin typeface="Arial" pitchFamily="34" charset="0"/>
                <a:ea typeface="Arial" pitchFamily="34" charset="-122"/>
                <a:cs typeface="Arial" pitchFamily="34" charset="-120"/>
              </a:rPr>
              <a:t>The rules check</a:t>
            </a:r>
            <a:endParaRPr lang="en-US" sz="2200" dirty="0"/>
          </a:p>
        </p:txBody>
      </p:sp>
      <p:sp>
        <p:nvSpPr>
          <p:cNvPr id="15" name="Text 10"/>
          <p:cNvSpPr txBox="1"/>
          <p:nvPr/>
        </p:nvSpPr>
        <p:spPr>
          <a:xfrm>
            <a:off x="4572000" y="3383280"/>
            <a:ext cx="3017520" cy="1371600"/>
          </a:xfrm>
          <a:prstGeom prst="rect">
            <a:avLst/>
          </a:prstGeom>
          <a:noFill/>
          <a:ln/>
        </p:spPr>
        <p:txBody>
          <a:bodyPr wrap="square" lIns="0" tIns="0" rIns="0" bIns="0" rtlCol="0" anchor="t"/>
          <a:lstStyle/>
          <a:p>
            <a:pPr algn="ctr" indent="0" marL="0">
              <a:buNone/>
            </a:pPr>
            <a:r>
              <a:rPr lang="en-US" sz="1500" dirty="0">
                <a:solidFill>
                  <a:srgbClr val="FFFFFF"/>
                </a:solidFill>
                <a:latin typeface="Arial" pitchFamily="34" charset="0"/>
                <a:ea typeface="Arial" pitchFamily="34" charset="-122"/>
                <a:cs typeface="Arial" pitchFamily="34" charset="-120"/>
              </a:rPr>
              <a:t>The same answer every time: go ahead, ask a person, or stop.</a:t>
            </a:r>
            <a:endParaRPr lang="en-US" sz="1500" dirty="0"/>
          </a:p>
        </p:txBody>
      </p:sp>
      <p:sp>
        <p:nvSpPr>
          <p:cNvPr id="16" name="Text 11"/>
          <p:cNvSpPr txBox="1"/>
          <p:nvPr/>
        </p:nvSpPr>
        <p:spPr>
          <a:xfrm>
            <a:off x="7845552" y="2743200"/>
            <a:ext cx="228600" cy="548640"/>
          </a:xfrm>
          <a:prstGeom prst="rect">
            <a:avLst/>
          </a:prstGeom>
          <a:noFill/>
          <a:ln/>
        </p:spPr>
        <p:txBody>
          <a:bodyPr wrap="square" lIns="0" tIns="0" rIns="0" bIns="0" rtlCol="0" anchor="t"/>
          <a:lstStyle/>
          <a:p>
            <a:pPr algn="ctr" indent="0" marL="0">
              <a:buNone/>
            </a:pPr>
            <a:r>
              <a:rPr lang="en-US" sz="2600" b="1" dirty="0">
                <a:solidFill>
                  <a:srgbClr val="8A94A4"/>
                </a:solidFill>
                <a:latin typeface="Arial" pitchFamily="34" charset="0"/>
                <a:ea typeface="Arial" pitchFamily="34" charset="-122"/>
                <a:cs typeface="Arial" pitchFamily="34" charset="-120"/>
              </a:rPr>
              <a:t>›</a:t>
            </a:r>
            <a:endParaRPr lang="en-US" sz="2600" dirty="0"/>
          </a:p>
        </p:txBody>
      </p:sp>
      <p:sp>
        <p:nvSpPr>
          <p:cNvPr id="17" name="Shape 12"/>
          <p:cNvSpPr/>
          <p:nvPr/>
        </p:nvSpPr>
        <p:spPr>
          <a:xfrm>
            <a:off x="8046720" y="1554480"/>
            <a:ext cx="3566160" cy="3383280"/>
          </a:xfrm>
          <a:prstGeom prst="roundRect">
            <a:avLst>
              <a:gd name="adj" fmla="val 2703"/>
            </a:avLst>
          </a:prstGeom>
          <a:solidFill>
            <a:srgbClr val="C98A1A"/>
          </a:solidFill>
          <a:ln/>
        </p:spPr>
      </p:sp>
      <p:pic>
        <p:nvPicPr>
          <p:cNvPr id="18" name="Image 3" descr="/private/tmp/claude-501/-Users-salehhamed-Outcome-Engine/91861432-41e2-4884-bc97-63c6dff2d021/scratchpad/wk/icons/TbUserCheck-white.png">    </p:cNvPr>
          <p:cNvPicPr>
            <a:picLocks noChangeAspect="1"/>
          </p:cNvPicPr>
          <p:nvPr/>
        </p:nvPicPr>
        <p:blipFill>
          <a:blip r:embed="rId6"/>
          <a:stretch>
            <a:fillRect/>
          </a:stretch>
        </p:blipFill>
        <p:spPr>
          <a:xfrm>
            <a:off x="9372600" y="1783080"/>
            <a:ext cx="914400" cy="914400"/>
          </a:xfrm>
          <a:prstGeom prst="rect">
            <a:avLst/>
          </a:prstGeom>
        </p:spPr>
      </p:pic>
      <p:sp>
        <p:nvSpPr>
          <p:cNvPr id="19" name="Text 13"/>
          <p:cNvSpPr txBox="1"/>
          <p:nvPr/>
        </p:nvSpPr>
        <p:spPr>
          <a:xfrm>
            <a:off x="8229600" y="2788920"/>
            <a:ext cx="3200400" cy="548640"/>
          </a:xfrm>
          <a:prstGeom prst="rect">
            <a:avLst/>
          </a:prstGeom>
          <a:noFill/>
          <a:ln/>
        </p:spPr>
        <p:txBody>
          <a:bodyPr wrap="square" lIns="0" tIns="0" rIns="0" bIns="0" rtlCol="0" anchor="t"/>
          <a:lstStyle/>
          <a:p>
            <a:pPr algn="ctr" indent="0" marL="0">
              <a:buNone/>
            </a:pPr>
            <a:r>
              <a:rPr lang="en-US" sz="2200" b="1" dirty="0">
                <a:solidFill>
                  <a:srgbClr val="FFFFFF"/>
                </a:solidFill>
                <a:latin typeface="Arial" pitchFamily="34" charset="0"/>
                <a:ea typeface="Arial" pitchFamily="34" charset="-122"/>
                <a:cs typeface="Arial" pitchFamily="34" charset="-120"/>
              </a:rPr>
              <a:t>People decide</a:t>
            </a:r>
            <a:endParaRPr lang="en-US" sz="2200" dirty="0"/>
          </a:p>
        </p:txBody>
      </p:sp>
      <p:sp>
        <p:nvSpPr>
          <p:cNvPr id="20" name="Text 14"/>
          <p:cNvSpPr txBox="1"/>
          <p:nvPr/>
        </p:nvSpPr>
        <p:spPr>
          <a:xfrm>
            <a:off x="8321040" y="3383280"/>
            <a:ext cx="3017520" cy="1371600"/>
          </a:xfrm>
          <a:prstGeom prst="rect">
            <a:avLst/>
          </a:prstGeom>
          <a:noFill/>
          <a:ln/>
        </p:spPr>
        <p:txBody>
          <a:bodyPr wrap="square" lIns="0" tIns="0" rIns="0" bIns="0" rtlCol="0" anchor="t"/>
          <a:lstStyle/>
          <a:p>
            <a:pPr algn="ctr" indent="0" marL="0">
              <a:buNone/>
            </a:pPr>
            <a:r>
              <a:rPr lang="en-US" sz="1500" dirty="0">
                <a:solidFill>
                  <a:srgbClr val="FFFFFF"/>
                </a:solidFill>
                <a:latin typeface="Arial" pitchFamily="34" charset="0"/>
                <a:ea typeface="Arial" pitchFamily="34" charset="-122"/>
                <a:cs typeface="Arial" pitchFamily="34" charset="-120"/>
              </a:rPr>
              <a:t>Named owners make the calls that need judgement.</a:t>
            </a:r>
            <a:endParaRPr lang="en-US" sz="1500" dirty="0"/>
          </a:p>
        </p:txBody>
      </p:sp>
      <p:sp>
        <p:nvSpPr>
          <p:cNvPr id="21" name="Shape 15"/>
          <p:cNvSpPr/>
          <p:nvPr/>
        </p:nvSpPr>
        <p:spPr>
          <a:xfrm>
            <a:off x="548640" y="5212080"/>
            <a:ext cx="11091672" cy="822960"/>
          </a:xfrm>
          <a:prstGeom prst="roundRect">
            <a:avLst>
              <a:gd name="adj" fmla="val 8889"/>
            </a:avLst>
          </a:prstGeom>
          <a:solidFill>
            <a:srgbClr val="F2F4F5"/>
          </a:solidFill>
          <a:ln/>
        </p:spPr>
      </p:sp>
      <p:pic>
        <p:nvPicPr>
          <p:cNvPr id="22" name="Image 4" descr="/private/tmp/claude-501/-Users-salehhamed-Outcome-Engine/91861432-41e2-4884-bc97-63c6dff2d021/scratchpad/wk/icons/TbArchive-ink.png">    </p:cNvPr>
          <p:cNvPicPr>
            <a:picLocks noChangeAspect="1"/>
          </p:cNvPicPr>
          <p:nvPr/>
        </p:nvPicPr>
        <p:blipFill>
          <a:blip r:embed="rId7"/>
          <a:stretch>
            <a:fillRect/>
          </a:stretch>
        </p:blipFill>
        <p:spPr>
          <a:xfrm>
            <a:off x="777240" y="5349240"/>
            <a:ext cx="548640" cy="548640"/>
          </a:xfrm>
          <a:prstGeom prst="rect">
            <a:avLst/>
          </a:prstGeom>
        </p:spPr>
      </p:pic>
      <p:sp>
        <p:nvSpPr>
          <p:cNvPr id="23" name="Text 16"/>
          <p:cNvSpPr txBox="1"/>
          <p:nvPr/>
        </p:nvSpPr>
        <p:spPr>
          <a:xfrm>
            <a:off x="1508760" y="5212080"/>
            <a:ext cx="9966960" cy="822960"/>
          </a:xfrm>
          <a:prstGeom prst="rect">
            <a:avLst/>
          </a:prstGeom>
          <a:noFill/>
          <a:ln/>
        </p:spPr>
        <p:txBody>
          <a:bodyPr wrap="square" lIns="0" tIns="0" rIns="0" bIns="0" rtlCol="0" anchor="ctr"/>
          <a:lstStyle/>
          <a:p>
            <a:pPr indent="0" marL="0">
              <a:buNone/>
            </a:pPr>
            <a:r>
              <a:rPr lang="en-US" sz="1700" b="1" dirty="0">
                <a:solidFill>
                  <a:srgbClr val="1F2A33"/>
                </a:solidFill>
                <a:latin typeface="Arial" pitchFamily="34" charset="0"/>
                <a:ea typeface="Arial" pitchFamily="34" charset="-122"/>
                <a:cs typeface="Arial" pitchFamily="34" charset="-120"/>
              </a:rPr>
              <a:t>Everything is written to a record. The record, not the screen, proves what happened.</a:t>
            </a:r>
            <a:endParaRPr lang="en-US" sz="17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ONE DEAL, FOUR PARTS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Six moments where a person decides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13:15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75</a:t>
            </a:r>
            <a:endParaRPr lang="en-US" sz="1000" dirty="0"/>
          </a:p>
        </p:txBody>
      </p:sp>
      <p:sp>
        <p:nvSpPr>
          <p:cNvPr id="7" name="Shape 4"/>
          <p:cNvSpPr/>
          <p:nvPr/>
        </p:nvSpPr>
        <p:spPr>
          <a:xfrm>
            <a:off x="548640" y="1508760"/>
            <a:ext cx="2651760" cy="685800"/>
          </a:xfrm>
          <a:prstGeom prst="roundRect">
            <a:avLst>
              <a:gd name="adj" fmla="val 10667"/>
            </a:avLst>
          </a:prstGeom>
          <a:solidFill>
            <a:srgbClr val="36454F"/>
          </a:solidFill>
          <a:ln/>
        </p:spPr>
      </p:sp>
      <p:sp>
        <p:nvSpPr>
          <p:cNvPr id="8" name="Text 5"/>
          <p:cNvSpPr txBox="1"/>
          <p:nvPr/>
        </p:nvSpPr>
        <p:spPr>
          <a:xfrm>
            <a:off x="548640" y="1508760"/>
            <a:ext cx="2651760"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The plan</a:t>
            </a:r>
            <a:endParaRPr lang="en-US" sz="1500" dirty="0"/>
          </a:p>
        </p:txBody>
      </p:sp>
      <p:sp>
        <p:nvSpPr>
          <p:cNvPr id="9" name="Shape 6"/>
          <p:cNvSpPr/>
          <p:nvPr/>
        </p:nvSpPr>
        <p:spPr>
          <a:xfrm>
            <a:off x="3218688" y="1847088"/>
            <a:ext cx="128016" cy="914"/>
          </a:xfrm>
          <a:prstGeom prst="line">
            <a:avLst/>
          </a:prstGeom>
          <a:noFill/>
          <a:ln w="25400">
            <a:solidFill>
              <a:srgbClr val="8A94A4"/>
            </a:solidFill>
            <a:prstDash val="solid"/>
            <a:tailEnd type="arrow"/>
          </a:ln>
        </p:spPr>
      </p:sp>
      <p:sp>
        <p:nvSpPr>
          <p:cNvPr id="10" name="Shape 7"/>
          <p:cNvSpPr/>
          <p:nvPr/>
        </p:nvSpPr>
        <p:spPr>
          <a:xfrm>
            <a:off x="3364992" y="1508760"/>
            <a:ext cx="2651760" cy="685800"/>
          </a:xfrm>
          <a:prstGeom prst="roundRect">
            <a:avLst>
              <a:gd name="adj" fmla="val 10667"/>
            </a:avLst>
          </a:prstGeom>
          <a:solidFill>
            <a:srgbClr val="36454F"/>
          </a:solidFill>
          <a:ln/>
        </p:spPr>
      </p:sp>
      <p:sp>
        <p:nvSpPr>
          <p:cNvPr id="11" name="Text 8"/>
          <p:cNvSpPr txBox="1"/>
          <p:nvPr/>
        </p:nvSpPr>
        <p:spPr>
          <a:xfrm>
            <a:off x="3364992" y="1508760"/>
            <a:ext cx="2651760"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Who is free</a:t>
            </a:r>
            <a:endParaRPr lang="en-US" sz="1500" dirty="0"/>
          </a:p>
        </p:txBody>
      </p:sp>
      <p:sp>
        <p:nvSpPr>
          <p:cNvPr id="12" name="Shape 9"/>
          <p:cNvSpPr/>
          <p:nvPr/>
        </p:nvSpPr>
        <p:spPr>
          <a:xfrm>
            <a:off x="6035040" y="1847088"/>
            <a:ext cx="128016" cy="914"/>
          </a:xfrm>
          <a:prstGeom prst="line">
            <a:avLst/>
          </a:prstGeom>
          <a:noFill/>
          <a:ln w="25400">
            <a:solidFill>
              <a:srgbClr val="8A94A4"/>
            </a:solidFill>
            <a:prstDash val="solid"/>
            <a:tailEnd type="arrow"/>
          </a:ln>
        </p:spPr>
      </p:sp>
      <p:sp>
        <p:nvSpPr>
          <p:cNvPr id="13" name="Shape 10"/>
          <p:cNvSpPr/>
          <p:nvPr/>
        </p:nvSpPr>
        <p:spPr>
          <a:xfrm>
            <a:off x="6181344" y="1508760"/>
            <a:ext cx="2651760" cy="685800"/>
          </a:xfrm>
          <a:prstGeom prst="roundRect">
            <a:avLst>
              <a:gd name="adj" fmla="val 10667"/>
            </a:avLst>
          </a:prstGeom>
          <a:solidFill>
            <a:srgbClr val="36454F"/>
          </a:solidFill>
          <a:ln/>
        </p:spPr>
      </p:sp>
      <p:sp>
        <p:nvSpPr>
          <p:cNvPr id="14" name="Text 11"/>
          <p:cNvSpPr txBox="1"/>
          <p:nvPr/>
        </p:nvSpPr>
        <p:spPr>
          <a:xfrm>
            <a:off x="6181344" y="1508760"/>
            <a:ext cx="2651760"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Gaps</a:t>
            </a:r>
            <a:endParaRPr lang="en-US" sz="1500" dirty="0"/>
          </a:p>
        </p:txBody>
      </p:sp>
      <p:sp>
        <p:nvSpPr>
          <p:cNvPr id="15" name="Shape 12"/>
          <p:cNvSpPr/>
          <p:nvPr/>
        </p:nvSpPr>
        <p:spPr>
          <a:xfrm>
            <a:off x="8851392" y="1847088"/>
            <a:ext cx="128016" cy="914"/>
          </a:xfrm>
          <a:prstGeom prst="line">
            <a:avLst/>
          </a:prstGeom>
          <a:noFill/>
          <a:ln w="25400">
            <a:solidFill>
              <a:srgbClr val="8A94A4"/>
            </a:solidFill>
            <a:prstDash val="solid"/>
            <a:tailEnd type="arrow"/>
          </a:ln>
        </p:spPr>
      </p:sp>
      <p:sp>
        <p:nvSpPr>
          <p:cNvPr id="16" name="Shape 13"/>
          <p:cNvSpPr/>
          <p:nvPr/>
        </p:nvSpPr>
        <p:spPr>
          <a:xfrm>
            <a:off x="8997696" y="1508760"/>
            <a:ext cx="2651760" cy="685800"/>
          </a:xfrm>
          <a:prstGeom prst="roundRect">
            <a:avLst>
              <a:gd name="adj" fmla="val 10667"/>
            </a:avLst>
          </a:prstGeom>
          <a:solidFill>
            <a:srgbClr val="36454F"/>
          </a:solidFill>
          <a:ln/>
        </p:spPr>
      </p:sp>
      <p:sp>
        <p:nvSpPr>
          <p:cNvPr id="17" name="Text 14"/>
          <p:cNvSpPr txBox="1"/>
          <p:nvPr/>
        </p:nvSpPr>
        <p:spPr>
          <a:xfrm>
            <a:off x="8997696" y="1508760"/>
            <a:ext cx="2651760"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Signing</a:t>
            </a:r>
            <a:endParaRPr lang="en-US" sz="1500" dirty="0"/>
          </a:p>
        </p:txBody>
      </p:sp>
      <p:sp>
        <p:nvSpPr>
          <p:cNvPr id="18" name="Shape 15"/>
          <p:cNvSpPr/>
          <p:nvPr/>
        </p:nvSpPr>
        <p:spPr>
          <a:xfrm>
            <a:off x="548640" y="2514600"/>
            <a:ext cx="777240" cy="777240"/>
          </a:xfrm>
          <a:prstGeom prst="diamond">
            <a:avLst/>
          </a:prstGeom>
          <a:solidFill>
            <a:srgbClr val="C98A1A"/>
          </a:solidFill>
          <a:ln/>
        </p:spPr>
      </p:sp>
      <p:sp>
        <p:nvSpPr>
          <p:cNvPr id="19" name="Text 16"/>
          <p:cNvSpPr txBox="1"/>
          <p:nvPr/>
        </p:nvSpPr>
        <p:spPr>
          <a:xfrm>
            <a:off x="548640" y="251460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20" name="Text 17"/>
          <p:cNvSpPr txBox="1"/>
          <p:nvPr/>
        </p:nvSpPr>
        <p:spPr>
          <a:xfrm>
            <a:off x="1417320" y="2514600"/>
            <a:ext cx="1783080" cy="822960"/>
          </a:xfrm>
          <a:prstGeom prst="rect">
            <a:avLst/>
          </a:prstGeom>
          <a:noFill/>
          <a:ln/>
        </p:spPr>
        <p:txBody>
          <a:bodyPr wrap="square" lIns="0" tIns="0" rIns="0" bIns="0" rtlCol="0" anchor="ctr"/>
          <a:lstStyle/>
          <a:p>
            <a:pPr indent="0" marL="0">
              <a:buNone/>
            </a:pPr>
            <a:r>
              <a:rPr lang="en-US" sz="1300" b="1" dirty="0">
                <a:solidFill>
                  <a:srgbClr val="1F2A33"/>
                </a:solidFill>
                <a:latin typeface="Arial" pitchFamily="34" charset="0"/>
                <a:ea typeface="Arial" pitchFamily="34" charset="-122"/>
                <a:cs typeface="Arial" pitchFamily="34" charset="-120"/>
              </a:rPr>
              <a:t>Is the demand real enough to start?</a:t>
            </a:r>
            <a:endParaRPr lang="en-US" sz="1300" dirty="0"/>
          </a:p>
        </p:txBody>
      </p:sp>
      <p:sp>
        <p:nvSpPr>
          <p:cNvPr id="21" name="Shape 18"/>
          <p:cNvSpPr/>
          <p:nvPr/>
        </p:nvSpPr>
        <p:spPr>
          <a:xfrm>
            <a:off x="548640" y="3703320"/>
            <a:ext cx="777240" cy="777240"/>
          </a:xfrm>
          <a:prstGeom prst="diamond">
            <a:avLst/>
          </a:prstGeom>
          <a:solidFill>
            <a:srgbClr val="C98A1A"/>
          </a:solidFill>
          <a:ln/>
        </p:spPr>
      </p:sp>
      <p:sp>
        <p:nvSpPr>
          <p:cNvPr id="22" name="Text 19"/>
          <p:cNvSpPr txBox="1"/>
          <p:nvPr/>
        </p:nvSpPr>
        <p:spPr>
          <a:xfrm>
            <a:off x="548640" y="370332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23" name="Text 20"/>
          <p:cNvSpPr txBox="1"/>
          <p:nvPr/>
        </p:nvSpPr>
        <p:spPr>
          <a:xfrm>
            <a:off x="1417320" y="3703320"/>
            <a:ext cx="1783080" cy="822960"/>
          </a:xfrm>
          <a:prstGeom prst="rect">
            <a:avLst/>
          </a:prstGeom>
          <a:noFill/>
          <a:ln/>
        </p:spPr>
        <p:txBody>
          <a:bodyPr wrap="square" lIns="0" tIns="0" rIns="0" bIns="0" rtlCol="0" anchor="ctr"/>
          <a:lstStyle/>
          <a:p>
            <a:pPr indent="0" marL="0">
              <a:buNone/>
            </a:pPr>
            <a:r>
              <a:rPr lang="en-US" sz="1300" b="1" dirty="0">
                <a:solidFill>
                  <a:srgbClr val="1F2A33"/>
                </a:solidFill>
                <a:latin typeface="Arial" pitchFamily="34" charset="0"/>
                <a:ea typeface="Arial" pitchFamily="34" charset="-122"/>
                <a:cs typeface="Arial" pitchFamily="34" charset="-120"/>
              </a:rPr>
              <a:t>Is the requirement complete?</a:t>
            </a:r>
            <a:endParaRPr lang="en-US" sz="1300" dirty="0"/>
          </a:p>
        </p:txBody>
      </p:sp>
      <p:sp>
        <p:nvSpPr>
          <p:cNvPr id="24" name="Shape 21"/>
          <p:cNvSpPr/>
          <p:nvPr/>
        </p:nvSpPr>
        <p:spPr>
          <a:xfrm>
            <a:off x="3364992" y="2514600"/>
            <a:ext cx="777240" cy="777240"/>
          </a:xfrm>
          <a:prstGeom prst="diamond">
            <a:avLst/>
          </a:prstGeom>
          <a:solidFill>
            <a:srgbClr val="C98A1A"/>
          </a:solidFill>
          <a:ln/>
        </p:spPr>
      </p:sp>
      <p:sp>
        <p:nvSpPr>
          <p:cNvPr id="25" name="Text 22"/>
          <p:cNvSpPr txBox="1"/>
          <p:nvPr/>
        </p:nvSpPr>
        <p:spPr>
          <a:xfrm>
            <a:off x="3364992" y="251460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6" name="Text 23"/>
          <p:cNvSpPr txBox="1"/>
          <p:nvPr/>
        </p:nvSpPr>
        <p:spPr>
          <a:xfrm>
            <a:off x="4233672" y="2514600"/>
            <a:ext cx="1783080" cy="822960"/>
          </a:xfrm>
          <a:prstGeom prst="rect">
            <a:avLst/>
          </a:prstGeom>
          <a:noFill/>
          <a:ln/>
        </p:spPr>
        <p:txBody>
          <a:bodyPr wrap="square" lIns="0" tIns="0" rIns="0" bIns="0" rtlCol="0" anchor="ctr"/>
          <a:lstStyle/>
          <a:p>
            <a:pPr indent="0" marL="0">
              <a:buNone/>
            </a:pPr>
            <a:r>
              <a:rPr lang="en-US" sz="1300" b="1" dirty="0">
                <a:solidFill>
                  <a:srgbClr val="1F2A33"/>
                </a:solidFill>
                <a:latin typeface="Arial" pitchFamily="34" charset="0"/>
                <a:ea typeface="Arial" pitchFamily="34" charset="-122"/>
                <a:cs typeface="Arial" pitchFamily="34" charset="-120"/>
              </a:rPr>
              <a:t>Is the person really free?</a:t>
            </a:r>
            <a:endParaRPr lang="en-US" sz="1300" dirty="0"/>
          </a:p>
        </p:txBody>
      </p:sp>
      <p:sp>
        <p:nvSpPr>
          <p:cNvPr id="27" name="Shape 24"/>
          <p:cNvSpPr/>
          <p:nvPr/>
        </p:nvSpPr>
        <p:spPr>
          <a:xfrm>
            <a:off x="3364992" y="3703320"/>
            <a:ext cx="777240" cy="777240"/>
          </a:xfrm>
          <a:prstGeom prst="diamond">
            <a:avLst/>
          </a:prstGeom>
          <a:solidFill>
            <a:srgbClr val="C98A1A"/>
          </a:solidFill>
          <a:ln/>
        </p:spPr>
      </p:sp>
      <p:sp>
        <p:nvSpPr>
          <p:cNvPr id="28" name="Text 25"/>
          <p:cNvSpPr txBox="1"/>
          <p:nvPr/>
        </p:nvSpPr>
        <p:spPr>
          <a:xfrm>
            <a:off x="3364992" y="370332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9" name="Text 26"/>
          <p:cNvSpPr txBox="1"/>
          <p:nvPr/>
        </p:nvSpPr>
        <p:spPr>
          <a:xfrm>
            <a:off x="4233672" y="3703320"/>
            <a:ext cx="1783080" cy="822960"/>
          </a:xfrm>
          <a:prstGeom prst="rect">
            <a:avLst/>
          </a:prstGeom>
          <a:noFill/>
          <a:ln/>
        </p:spPr>
        <p:txBody>
          <a:bodyPr wrap="square" lIns="0" tIns="0" rIns="0" bIns="0" rtlCol="0" anchor="ctr"/>
          <a:lstStyle/>
          <a:p>
            <a:pPr indent="0" marL="0">
              <a:buNone/>
            </a:pPr>
            <a:r>
              <a:rPr lang="en-US" sz="1300" b="1" dirty="0">
                <a:solidFill>
                  <a:srgbClr val="1F2A33"/>
                </a:solidFill>
                <a:latin typeface="Arial" pitchFamily="34" charset="0"/>
                <a:ea typeface="Arial" pitchFamily="34" charset="-122"/>
                <a:cs typeface="Arial" pitchFamily="34" charset="-120"/>
              </a:rPr>
              <a:t>Can they be released?</a:t>
            </a:r>
            <a:endParaRPr lang="en-US" sz="1300" dirty="0"/>
          </a:p>
        </p:txBody>
      </p:sp>
      <p:sp>
        <p:nvSpPr>
          <p:cNvPr id="30" name="Shape 27"/>
          <p:cNvSpPr/>
          <p:nvPr/>
        </p:nvSpPr>
        <p:spPr>
          <a:xfrm>
            <a:off x="3364992" y="4892040"/>
            <a:ext cx="777240" cy="777240"/>
          </a:xfrm>
          <a:prstGeom prst="diamond">
            <a:avLst/>
          </a:prstGeom>
          <a:solidFill>
            <a:srgbClr val="C98A1A"/>
          </a:solidFill>
          <a:ln/>
        </p:spPr>
      </p:sp>
      <p:sp>
        <p:nvSpPr>
          <p:cNvPr id="31" name="Text 28"/>
          <p:cNvSpPr txBox="1"/>
          <p:nvPr/>
        </p:nvSpPr>
        <p:spPr>
          <a:xfrm>
            <a:off x="3364992" y="489204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2" name="Text 29"/>
          <p:cNvSpPr txBox="1"/>
          <p:nvPr/>
        </p:nvSpPr>
        <p:spPr>
          <a:xfrm>
            <a:off x="4233672" y="4892040"/>
            <a:ext cx="1783080" cy="822960"/>
          </a:xfrm>
          <a:prstGeom prst="rect">
            <a:avLst/>
          </a:prstGeom>
          <a:noFill/>
          <a:ln/>
        </p:spPr>
        <p:txBody>
          <a:bodyPr wrap="square" lIns="0" tIns="0" rIns="0" bIns="0" rtlCol="0" anchor="ctr"/>
          <a:lstStyle/>
          <a:p>
            <a:pPr indent="0" marL="0">
              <a:buNone/>
            </a:pPr>
            <a:r>
              <a:rPr lang="en-US" sz="1300" b="1" dirty="0">
                <a:solidFill>
                  <a:srgbClr val="1F2A33"/>
                </a:solidFill>
                <a:latin typeface="Arial" pitchFamily="34" charset="0"/>
                <a:ea typeface="Arial" pitchFamily="34" charset="-122"/>
                <a:cs typeface="Arial" pitchFamily="34" charset="-120"/>
              </a:rPr>
              <a:t>Is the shortfall a real gap?</a:t>
            </a:r>
            <a:endParaRPr lang="en-US" sz="1300" dirty="0"/>
          </a:p>
        </p:txBody>
      </p:sp>
      <p:sp>
        <p:nvSpPr>
          <p:cNvPr id="33" name="Shape 30"/>
          <p:cNvSpPr/>
          <p:nvPr/>
        </p:nvSpPr>
        <p:spPr>
          <a:xfrm>
            <a:off x="6181344" y="2514600"/>
            <a:ext cx="777240" cy="777240"/>
          </a:xfrm>
          <a:prstGeom prst="diamond">
            <a:avLst/>
          </a:prstGeom>
          <a:solidFill>
            <a:srgbClr val="C98A1A"/>
          </a:solidFill>
          <a:ln/>
        </p:spPr>
      </p:sp>
      <p:sp>
        <p:nvSpPr>
          <p:cNvPr id="34" name="Text 31"/>
          <p:cNvSpPr txBox="1"/>
          <p:nvPr/>
        </p:nvSpPr>
        <p:spPr>
          <a:xfrm>
            <a:off x="6181344" y="251460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35" name="Text 32"/>
          <p:cNvSpPr txBox="1"/>
          <p:nvPr/>
        </p:nvSpPr>
        <p:spPr>
          <a:xfrm>
            <a:off x="7050024" y="2514600"/>
            <a:ext cx="1783080" cy="822960"/>
          </a:xfrm>
          <a:prstGeom prst="rect">
            <a:avLst/>
          </a:prstGeom>
          <a:noFill/>
          <a:ln/>
        </p:spPr>
        <p:txBody>
          <a:bodyPr wrap="square" lIns="0" tIns="0" rIns="0" bIns="0" rtlCol="0" anchor="ctr"/>
          <a:lstStyle/>
          <a:p>
            <a:pPr indent="0" marL="0">
              <a:buNone/>
            </a:pPr>
            <a:r>
              <a:rPr lang="en-US" sz="1300" b="1" dirty="0">
                <a:solidFill>
                  <a:srgbClr val="1F2A33"/>
                </a:solidFill>
                <a:latin typeface="Arial" pitchFamily="34" charset="0"/>
                <a:ea typeface="Arial" pitchFamily="34" charset="-122"/>
                <a:cs typeface="Arial" pitchFamily="34" charset="-120"/>
              </a:rPr>
              <a:t>What is the response to the gap?</a:t>
            </a:r>
            <a:endParaRPr lang="en-US" sz="1300" dirty="0"/>
          </a:p>
        </p:txBody>
      </p:sp>
      <p:sp>
        <p:nvSpPr>
          <p:cNvPr id="36" name="Shape 33"/>
          <p:cNvSpPr/>
          <p:nvPr/>
        </p:nvSpPr>
        <p:spPr>
          <a:xfrm>
            <a:off x="8997696" y="2514600"/>
            <a:ext cx="777240" cy="777240"/>
          </a:xfrm>
          <a:prstGeom prst="diamond">
            <a:avLst/>
          </a:prstGeom>
          <a:solidFill>
            <a:srgbClr val="F2F4F5"/>
          </a:solidFill>
          <a:ln w="12700">
            <a:solidFill>
              <a:srgbClr val="8A94A4"/>
            </a:solidFill>
            <a:prstDash val="solid"/>
          </a:ln>
        </p:spPr>
      </p:sp>
      <p:sp>
        <p:nvSpPr>
          <p:cNvPr id="37" name="Text 34"/>
          <p:cNvSpPr txBox="1"/>
          <p:nvPr/>
        </p:nvSpPr>
        <p:spPr>
          <a:xfrm>
            <a:off x="9866376" y="2514600"/>
            <a:ext cx="1783080" cy="822960"/>
          </a:xfrm>
          <a:prstGeom prst="rect">
            <a:avLst/>
          </a:prstGeom>
          <a:noFill/>
          <a:ln/>
        </p:spPr>
        <p:txBody>
          <a:bodyPr wrap="square" lIns="0" tIns="0" rIns="0" bIns="0" rtlCol="0" anchor="ctr"/>
          <a:lstStyle/>
          <a:p>
            <a:pPr indent="0" marL="0">
              <a:buNone/>
            </a:pPr>
            <a:r>
              <a:rPr lang="en-US" sz="1300" dirty="0">
                <a:solidFill>
                  <a:srgbClr val="5A5A5A"/>
                </a:solidFill>
                <a:latin typeface="Arial" pitchFamily="34" charset="0"/>
                <a:ea typeface="Arial" pitchFamily="34" charset="-122"/>
                <a:cs typeface="Arial" pitchFamily="34" charset="-120"/>
              </a:rPr>
              <a:t>Approve the plan</a:t>
            </a:r>
            <a:endParaRPr lang="en-US" sz="1300" dirty="0"/>
          </a:p>
        </p:txBody>
      </p:sp>
      <p:sp>
        <p:nvSpPr>
          <p:cNvPr id="38" name="Text 35"/>
          <p:cNvSpPr txBox="1"/>
          <p:nvPr/>
        </p:nvSpPr>
        <p:spPr>
          <a:xfrm>
            <a:off x="548640" y="5989320"/>
            <a:ext cx="10972800" cy="320040"/>
          </a:xfrm>
          <a:prstGeom prst="rect">
            <a:avLst/>
          </a:prstGeom>
          <a:noFill/>
          <a:ln/>
        </p:spPr>
        <p:txBody>
          <a:bodyPr wrap="square" lIns="0" tIns="0" rIns="0" bIns="0" rtlCol="0" anchor="t"/>
          <a:lstStyle/>
          <a:p>
            <a:pPr indent="0" marL="0">
              <a:buNone/>
            </a:pPr>
            <a:r>
              <a:rPr lang="en-US" sz="1350" i="1" dirty="0">
                <a:solidFill>
                  <a:srgbClr val="5A5A5A"/>
                </a:solidFill>
                <a:latin typeface="Arial" pitchFamily="34" charset="0"/>
                <a:ea typeface="Arial" pitchFamily="34" charset="-122"/>
                <a:cs typeface="Arial" pitchFamily="34" charset="-120"/>
              </a:rPr>
              <a:t>Everything else is drafted by the AI or done by rules.</a:t>
            </a:r>
            <a:endParaRPr lang="en-US" sz="13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DEFINE HOW IT SHOULD WORK: DECISIONS AND EVIDENCE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Why a person must decide: four reasons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13:15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76</a:t>
            </a:r>
            <a:endParaRPr lang="en-US" sz="1000" dirty="0"/>
          </a:p>
        </p:txBody>
      </p:sp>
      <p:sp>
        <p:nvSpPr>
          <p:cNvPr id="7" name="Shape 4"/>
          <p:cNvSpPr/>
          <p:nvPr/>
        </p:nvSpPr>
        <p:spPr>
          <a:xfrm>
            <a:off x="548640" y="1600200"/>
            <a:ext cx="2651760" cy="3566160"/>
          </a:xfrm>
          <a:prstGeom prst="roundRect">
            <a:avLst>
              <a:gd name="adj" fmla="val 2759"/>
            </a:avLst>
          </a:prstGeom>
          <a:solidFill>
            <a:srgbClr val="FFFFFF"/>
          </a:solidFill>
          <a:ln w="12700">
            <a:solidFill>
              <a:srgbClr val="D9DEE2"/>
            </a:solidFill>
            <a:prstDash val="solid"/>
          </a:ln>
        </p:spPr>
      </p:sp>
      <p:pic>
        <p:nvPicPr>
          <p:cNvPr id="8" name="Image 1" descr="/private/tmp/claude-501/-Users-salehhamed-Outcome-Engine/91861432-41e2-4884-bc97-63c6dff2d021/scratchpad/wk/icons/TbFirstAidKit-grey.png">    </p:cNvPr>
          <p:cNvPicPr>
            <a:picLocks noChangeAspect="1"/>
          </p:cNvPicPr>
          <p:nvPr/>
        </p:nvPicPr>
        <p:blipFill>
          <a:blip r:embed="rId4"/>
          <a:stretch>
            <a:fillRect/>
          </a:stretch>
        </p:blipFill>
        <p:spPr>
          <a:xfrm>
            <a:off x="1417320" y="1874520"/>
            <a:ext cx="914400" cy="914400"/>
          </a:xfrm>
          <a:prstGeom prst="rect">
            <a:avLst/>
          </a:prstGeom>
        </p:spPr>
      </p:pic>
      <p:sp>
        <p:nvSpPr>
          <p:cNvPr id="9" name="Text 5"/>
          <p:cNvSpPr txBox="1"/>
          <p:nvPr/>
        </p:nvSpPr>
        <p:spPr>
          <a:xfrm>
            <a:off x="685800" y="2971800"/>
            <a:ext cx="2377440" cy="822960"/>
          </a:xfrm>
          <a:prstGeom prst="rect">
            <a:avLst/>
          </a:prstGeom>
          <a:noFill/>
          <a:ln/>
        </p:spPr>
        <p:txBody>
          <a:bodyPr wrap="square" lIns="0" tIns="0" rIns="0" bIns="0" rtlCol="0" anchor="t"/>
          <a:lstStyle/>
          <a:p>
            <a:pPr algn="ctr" indent="0" marL="0">
              <a:buNone/>
            </a:pPr>
            <a:r>
              <a:rPr lang="en-US" sz="1800" b="1" dirty="0">
                <a:solidFill>
                  <a:srgbClr val="1F2A33"/>
                </a:solidFill>
                <a:latin typeface="Arial" pitchFamily="34" charset="0"/>
                <a:ea typeface="Arial" pitchFamily="34" charset="-122"/>
                <a:cs typeface="Arial" pitchFamily="34" charset="-120"/>
              </a:rPr>
              <a:t>Safety</a:t>
            </a:r>
            <a:endParaRPr lang="en-US" sz="1800" dirty="0"/>
          </a:p>
        </p:txBody>
      </p:sp>
      <p:sp>
        <p:nvSpPr>
          <p:cNvPr id="10" name="Text 6"/>
          <p:cNvSpPr txBox="1"/>
          <p:nvPr/>
        </p:nvSpPr>
        <p:spPr>
          <a:xfrm>
            <a:off x="731520" y="3840480"/>
            <a:ext cx="2286000" cy="1097280"/>
          </a:xfrm>
          <a:prstGeom prst="rect">
            <a:avLst/>
          </a:prstGeom>
          <a:noFill/>
          <a:ln/>
        </p:spPr>
        <p:txBody>
          <a:bodyPr wrap="square" lIns="0" tIns="0" rIns="0" bIns="0" rtlCol="0" anchor="t"/>
          <a:lstStyle/>
          <a:p>
            <a:pPr algn="ctr" indent="0" marL="0">
              <a:buNone/>
            </a:pPr>
            <a:r>
              <a:rPr lang="en-US" sz="1400" dirty="0">
                <a:solidFill>
                  <a:srgbClr val="5A5A5A"/>
                </a:solidFill>
                <a:latin typeface="Arial" pitchFamily="34" charset="0"/>
                <a:ea typeface="Arial" pitchFamily="34" charset="-122"/>
                <a:cs typeface="Arial" pitchFamily="34" charset="-120"/>
              </a:rPr>
              <a:t>Getting it wrong could harm someone.</a:t>
            </a:r>
            <a:endParaRPr lang="en-US" sz="1400" dirty="0"/>
          </a:p>
        </p:txBody>
      </p:sp>
      <p:sp>
        <p:nvSpPr>
          <p:cNvPr id="11" name="Shape 7"/>
          <p:cNvSpPr/>
          <p:nvPr/>
        </p:nvSpPr>
        <p:spPr>
          <a:xfrm>
            <a:off x="3364992" y="1600200"/>
            <a:ext cx="2651760" cy="3566160"/>
          </a:xfrm>
          <a:prstGeom prst="roundRect">
            <a:avLst>
              <a:gd name="adj" fmla="val 2759"/>
            </a:avLst>
          </a:prstGeom>
          <a:solidFill>
            <a:srgbClr val="FFFFFF"/>
          </a:solidFill>
          <a:ln w="12700">
            <a:solidFill>
              <a:srgbClr val="D9DEE2"/>
            </a:solidFill>
            <a:prstDash val="solid"/>
          </a:ln>
        </p:spPr>
      </p:sp>
      <p:pic>
        <p:nvPicPr>
          <p:cNvPr id="12" name="Image 2" descr="/private/tmp/claude-501/-Users-salehhamed-Outcome-Engine/91861432-41e2-4884-bc97-63c6dff2d021/scratchpad/wk/icons/TbScale-grey.png">    </p:cNvPr>
          <p:cNvPicPr>
            <a:picLocks noChangeAspect="1"/>
          </p:cNvPicPr>
          <p:nvPr/>
        </p:nvPicPr>
        <p:blipFill>
          <a:blip r:embed="rId5"/>
          <a:stretch>
            <a:fillRect/>
          </a:stretch>
        </p:blipFill>
        <p:spPr>
          <a:xfrm>
            <a:off x="4233672" y="1874520"/>
            <a:ext cx="914400" cy="914400"/>
          </a:xfrm>
          <a:prstGeom prst="rect">
            <a:avLst/>
          </a:prstGeom>
        </p:spPr>
      </p:pic>
      <p:sp>
        <p:nvSpPr>
          <p:cNvPr id="13" name="Text 8"/>
          <p:cNvSpPr txBox="1"/>
          <p:nvPr/>
        </p:nvSpPr>
        <p:spPr>
          <a:xfrm>
            <a:off x="3502152" y="2971800"/>
            <a:ext cx="2377440" cy="822960"/>
          </a:xfrm>
          <a:prstGeom prst="rect">
            <a:avLst/>
          </a:prstGeom>
          <a:noFill/>
          <a:ln/>
        </p:spPr>
        <p:txBody>
          <a:bodyPr wrap="square" lIns="0" tIns="0" rIns="0" bIns="0" rtlCol="0" anchor="t"/>
          <a:lstStyle/>
          <a:p>
            <a:pPr algn="ctr" indent="0" marL="0">
              <a:buNone/>
            </a:pPr>
            <a:r>
              <a:rPr lang="en-US" sz="1800" b="1" dirty="0">
                <a:solidFill>
                  <a:srgbClr val="1F2A33"/>
                </a:solidFill>
                <a:latin typeface="Arial" pitchFamily="34" charset="0"/>
                <a:ea typeface="Arial" pitchFamily="34" charset="-122"/>
                <a:cs typeface="Arial" pitchFamily="34" charset="-120"/>
              </a:rPr>
              <a:t>Legal ownership</a:t>
            </a:r>
            <a:endParaRPr lang="en-US" sz="1800" dirty="0"/>
          </a:p>
        </p:txBody>
      </p:sp>
      <p:sp>
        <p:nvSpPr>
          <p:cNvPr id="14" name="Text 9"/>
          <p:cNvSpPr txBox="1"/>
          <p:nvPr/>
        </p:nvSpPr>
        <p:spPr>
          <a:xfrm>
            <a:off x="3547872" y="3840480"/>
            <a:ext cx="2286000" cy="1097280"/>
          </a:xfrm>
          <a:prstGeom prst="rect">
            <a:avLst/>
          </a:prstGeom>
          <a:noFill/>
          <a:ln/>
        </p:spPr>
        <p:txBody>
          <a:bodyPr wrap="square" lIns="0" tIns="0" rIns="0" bIns="0" rtlCol="0" anchor="t"/>
          <a:lstStyle/>
          <a:p>
            <a:pPr algn="ctr" indent="0" marL="0">
              <a:buNone/>
            </a:pPr>
            <a:r>
              <a:rPr lang="en-US" sz="1400" dirty="0">
                <a:solidFill>
                  <a:srgbClr val="5A5A5A"/>
                </a:solidFill>
                <a:latin typeface="Arial" pitchFamily="34" charset="0"/>
                <a:ea typeface="Arial" pitchFamily="34" charset="-122"/>
                <a:cs typeface="Arial" pitchFamily="34" charset="-120"/>
              </a:rPr>
              <a:t>A law or regulation says a person must own it.</a:t>
            </a:r>
            <a:endParaRPr lang="en-US" sz="1400" dirty="0"/>
          </a:p>
        </p:txBody>
      </p:sp>
      <p:sp>
        <p:nvSpPr>
          <p:cNvPr id="15" name="Shape 10"/>
          <p:cNvSpPr/>
          <p:nvPr/>
        </p:nvSpPr>
        <p:spPr>
          <a:xfrm>
            <a:off x="6181344" y="1600200"/>
            <a:ext cx="2651760" cy="3566160"/>
          </a:xfrm>
          <a:prstGeom prst="roundRect">
            <a:avLst>
              <a:gd name="adj" fmla="val 2759"/>
            </a:avLst>
          </a:prstGeom>
          <a:solidFill>
            <a:srgbClr val="FDF3E1"/>
          </a:solidFill>
          <a:ln w="12700">
            <a:solidFill>
              <a:srgbClr val="C98A1A"/>
            </a:solidFill>
            <a:prstDash val="solid"/>
          </a:ln>
        </p:spPr>
      </p:sp>
      <p:pic>
        <p:nvPicPr>
          <p:cNvPr id="16" name="Image 3" descr="/private/tmp/claude-501/-Users-salehhamed-Outcome-Engine/91861432-41e2-4884-bc97-63c6dff2d021/scratchpad/wk/icons/TbMessages-amber.png">    </p:cNvPr>
          <p:cNvPicPr>
            <a:picLocks noChangeAspect="1"/>
          </p:cNvPicPr>
          <p:nvPr/>
        </p:nvPicPr>
        <p:blipFill>
          <a:blip r:embed="rId6"/>
          <a:stretch>
            <a:fillRect/>
          </a:stretch>
        </p:blipFill>
        <p:spPr>
          <a:xfrm>
            <a:off x="7050024" y="1874520"/>
            <a:ext cx="914400" cy="914400"/>
          </a:xfrm>
          <a:prstGeom prst="rect">
            <a:avLst/>
          </a:prstGeom>
        </p:spPr>
      </p:pic>
      <p:sp>
        <p:nvSpPr>
          <p:cNvPr id="17" name="Text 11"/>
          <p:cNvSpPr txBox="1"/>
          <p:nvPr/>
        </p:nvSpPr>
        <p:spPr>
          <a:xfrm>
            <a:off x="6318504" y="2971800"/>
            <a:ext cx="2377440" cy="822960"/>
          </a:xfrm>
          <a:prstGeom prst="rect">
            <a:avLst/>
          </a:prstGeom>
          <a:noFill/>
          <a:ln/>
        </p:spPr>
        <p:txBody>
          <a:bodyPr wrap="square" lIns="0" tIns="0" rIns="0" bIns="0" rtlCol="0" anchor="t"/>
          <a:lstStyle/>
          <a:p>
            <a:pPr algn="ctr" indent="0" marL="0">
              <a:buNone/>
            </a:pPr>
            <a:r>
              <a:rPr lang="en-US" sz="1800" b="1" dirty="0">
                <a:solidFill>
                  <a:srgbClr val="1F2A33"/>
                </a:solidFill>
                <a:latin typeface="Arial" pitchFamily="34" charset="0"/>
                <a:ea typeface="Arial" pitchFamily="34" charset="-122"/>
                <a:cs typeface="Arial" pitchFamily="34" charset="-120"/>
              </a:rPr>
              <a:t>Reasonable people disagree</a:t>
            </a:r>
            <a:endParaRPr lang="en-US" sz="1800" dirty="0"/>
          </a:p>
        </p:txBody>
      </p:sp>
      <p:sp>
        <p:nvSpPr>
          <p:cNvPr id="18" name="Text 12"/>
          <p:cNvSpPr txBox="1"/>
          <p:nvPr/>
        </p:nvSpPr>
        <p:spPr>
          <a:xfrm>
            <a:off x="6364224" y="3840480"/>
            <a:ext cx="2286000" cy="1097280"/>
          </a:xfrm>
          <a:prstGeom prst="rect">
            <a:avLst/>
          </a:prstGeom>
          <a:noFill/>
          <a:ln/>
        </p:spPr>
        <p:txBody>
          <a:bodyPr wrap="square" lIns="0" tIns="0" rIns="0" bIns="0" rtlCol="0" anchor="t"/>
          <a:lstStyle/>
          <a:p>
            <a:pPr algn="ctr" indent="0" marL="0">
              <a:buNone/>
            </a:pPr>
            <a:r>
              <a:rPr lang="en-US" sz="1400" dirty="0">
                <a:solidFill>
                  <a:srgbClr val="5A5A5A"/>
                </a:solidFill>
                <a:latin typeface="Arial" pitchFamily="34" charset="0"/>
                <a:ea typeface="Arial" pitchFamily="34" charset="-122"/>
                <a:cs typeface="Arial" pitchFamily="34" charset="-120"/>
              </a:rPr>
              <a:t>It needs judgement the rules cannot settle.</a:t>
            </a:r>
            <a:endParaRPr lang="en-US" sz="1400" dirty="0"/>
          </a:p>
        </p:txBody>
      </p:sp>
      <p:sp>
        <p:nvSpPr>
          <p:cNvPr id="19" name="Shape 13"/>
          <p:cNvSpPr/>
          <p:nvPr/>
        </p:nvSpPr>
        <p:spPr>
          <a:xfrm>
            <a:off x="8997696" y="1600200"/>
            <a:ext cx="2651760" cy="3566160"/>
          </a:xfrm>
          <a:prstGeom prst="roundRect">
            <a:avLst>
              <a:gd name="adj" fmla="val 2759"/>
            </a:avLst>
          </a:prstGeom>
          <a:solidFill>
            <a:srgbClr val="FDF3E1"/>
          </a:solidFill>
          <a:ln w="12700">
            <a:solidFill>
              <a:srgbClr val="C98A1A"/>
            </a:solidFill>
            <a:prstDash val="solid"/>
          </a:ln>
        </p:spPr>
      </p:sp>
      <p:pic>
        <p:nvPicPr>
          <p:cNvPr id="20" name="Image 4" descr="/private/tmp/claude-501/-Users-salehhamed-Outcome-Engine/91861432-41e2-4884-bc97-63c6dff2d021/scratchpad/wk/icons/TbShieldCheck-amber.png">    </p:cNvPr>
          <p:cNvPicPr>
            <a:picLocks noChangeAspect="1"/>
          </p:cNvPicPr>
          <p:nvPr/>
        </p:nvPicPr>
        <p:blipFill>
          <a:blip r:embed="rId7"/>
          <a:stretch>
            <a:fillRect/>
          </a:stretch>
        </p:blipFill>
        <p:spPr>
          <a:xfrm>
            <a:off x="9866376" y="1874520"/>
            <a:ext cx="914400" cy="914400"/>
          </a:xfrm>
          <a:prstGeom prst="rect">
            <a:avLst/>
          </a:prstGeom>
        </p:spPr>
      </p:pic>
      <p:sp>
        <p:nvSpPr>
          <p:cNvPr id="21" name="Text 14"/>
          <p:cNvSpPr txBox="1"/>
          <p:nvPr/>
        </p:nvSpPr>
        <p:spPr>
          <a:xfrm>
            <a:off x="9134856" y="2971800"/>
            <a:ext cx="2377440" cy="822960"/>
          </a:xfrm>
          <a:prstGeom prst="rect">
            <a:avLst/>
          </a:prstGeom>
          <a:noFill/>
          <a:ln/>
        </p:spPr>
        <p:txBody>
          <a:bodyPr wrap="square" lIns="0" tIns="0" rIns="0" bIns="0" rtlCol="0" anchor="t"/>
          <a:lstStyle/>
          <a:p>
            <a:pPr algn="ctr" indent="0" marL="0">
              <a:buNone/>
            </a:pPr>
            <a:r>
              <a:rPr lang="en-US" sz="1800" b="1" dirty="0">
                <a:solidFill>
                  <a:srgbClr val="1F2A33"/>
                </a:solidFill>
                <a:latin typeface="Arial" pitchFamily="34" charset="0"/>
                <a:ea typeface="Arial" pitchFamily="34" charset="-122"/>
                <a:cs typeface="Arial" pitchFamily="34" charset="-120"/>
              </a:rPr>
              <a:t>Trust not yet earned</a:t>
            </a:r>
            <a:endParaRPr lang="en-US" sz="1800" dirty="0"/>
          </a:p>
        </p:txBody>
      </p:sp>
      <p:sp>
        <p:nvSpPr>
          <p:cNvPr id="22" name="Text 15"/>
          <p:cNvSpPr txBox="1"/>
          <p:nvPr/>
        </p:nvSpPr>
        <p:spPr>
          <a:xfrm>
            <a:off x="9180576" y="3840480"/>
            <a:ext cx="2286000" cy="1097280"/>
          </a:xfrm>
          <a:prstGeom prst="rect">
            <a:avLst/>
          </a:prstGeom>
          <a:noFill/>
          <a:ln/>
        </p:spPr>
        <p:txBody>
          <a:bodyPr wrap="square" lIns="0" tIns="0" rIns="0" bIns="0" rtlCol="0" anchor="t"/>
          <a:lstStyle/>
          <a:p>
            <a:pPr algn="ctr" indent="0" marL="0">
              <a:buNone/>
            </a:pPr>
            <a:r>
              <a:rPr lang="en-US" sz="1400" dirty="0">
                <a:solidFill>
                  <a:srgbClr val="5A5A5A"/>
                </a:solidFill>
                <a:latin typeface="Arial" pitchFamily="34" charset="0"/>
                <a:ea typeface="Arial" pitchFamily="34" charset="-122"/>
                <a:cs typeface="Arial" pitchFamily="34" charset="-120"/>
              </a:rPr>
              <a:t>The system has not yet shown it gets this right.</a:t>
            </a:r>
            <a:endParaRPr lang="en-US" sz="1400" dirty="0"/>
          </a:p>
        </p:txBody>
      </p:sp>
      <p:sp>
        <p:nvSpPr>
          <p:cNvPr id="23" name="Text 16"/>
          <p:cNvSpPr txBox="1"/>
          <p:nvPr/>
        </p:nvSpPr>
        <p:spPr>
          <a:xfrm>
            <a:off x="548640" y="5486400"/>
            <a:ext cx="10972800" cy="457200"/>
          </a:xfrm>
          <a:prstGeom prst="rect">
            <a:avLst/>
          </a:prstGeom>
          <a:noFill/>
          <a:ln/>
        </p:spPr>
        <p:txBody>
          <a:bodyPr wrap="square" lIns="0" tIns="0" rIns="0" bIns="0" rtlCol="0" anchor="t"/>
          <a:lstStyle/>
          <a:p>
            <a:pPr indent="0" marL="0">
              <a:buNone/>
            </a:pPr>
            <a:r>
              <a:rPr lang="en-US" sz="2000" b="1" dirty="0">
                <a:solidFill>
                  <a:srgbClr val="C98A1A"/>
                </a:solidFill>
                <a:latin typeface="Arial" pitchFamily="34" charset="0"/>
                <a:ea typeface="Arial" pitchFamily="34" charset="-122"/>
                <a:cs typeface="Arial" pitchFamily="34" charset="-120"/>
              </a:rPr>
              <a:t>In staffing, it is mostly the last two.</a:t>
            </a:r>
            <a:endParaRPr lang="en-US" sz="2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DEFINE HOW IT SHOULD WORK: DECISIONS AND EVIDENCE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The decision card</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13:15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77</a:t>
            </a:r>
            <a:endParaRPr lang="en-US" sz="1000" dirty="0"/>
          </a:p>
        </p:txBody>
      </p:sp>
      <p:sp>
        <p:nvSpPr>
          <p:cNvPr id="7" name="Shape 4"/>
          <p:cNvSpPr/>
          <p:nvPr/>
        </p:nvSpPr>
        <p:spPr>
          <a:xfrm>
            <a:off x="548640" y="1508760"/>
            <a:ext cx="11091672" cy="987552"/>
          </a:xfrm>
          <a:prstGeom prst="roundRect">
            <a:avLst>
              <a:gd name="adj" fmla="val 5556"/>
            </a:avLst>
          </a:prstGeom>
          <a:solidFill>
            <a:srgbClr val="FDF3E1"/>
          </a:solidFill>
          <a:ln w="12700">
            <a:solidFill>
              <a:srgbClr val="C98A1A"/>
            </a:solidFill>
            <a:prstDash val="solid"/>
          </a:ln>
        </p:spPr>
      </p:sp>
      <p:pic>
        <p:nvPicPr>
          <p:cNvPr id="8" name="Image 1" descr="/private/tmp/claude-501/-Users-salehhamed-Outcome-Engine/91861432-41e2-4884-bc97-63c6dff2d021/scratchpad/wk/icons/TbFlag-amber.png">    </p:cNvPr>
          <p:cNvPicPr>
            <a:picLocks noChangeAspect="1"/>
          </p:cNvPicPr>
          <p:nvPr/>
        </p:nvPicPr>
        <p:blipFill>
          <a:blip r:embed="rId4"/>
          <a:stretch>
            <a:fillRect/>
          </a:stretch>
        </p:blipFill>
        <p:spPr>
          <a:xfrm>
            <a:off x="658368" y="1618488"/>
            <a:ext cx="310896" cy="310896"/>
          </a:xfrm>
          <a:prstGeom prst="rect">
            <a:avLst/>
          </a:prstGeom>
        </p:spPr>
      </p:pic>
      <p:sp>
        <p:nvSpPr>
          <p:cNvPr id="9" name="Text 5"/>
          <p:cNvSpPr txBox="1"/>
          <p:nvPr/>
        </p:nvSpPr>
        <p:spPr>
          <a:xfrm>
            <a:off x="1051560" y="1581912"/>
            <a:ext cx="10497312" cy="365760"/>
          </a:xfrm>
          <a:prstGeom prst="rect">
            <a:avLst/>
          </a:prstGeom>
          <a:noFill/>
          <a:ln/>
        </p:spPr>
        <p:txBody>
          <a:bodyPr wrap="square" lIns="0" tIns="0" rIns="0" bIns="0" rtlCol="0" anchor="ctr"/>
          <a:lstStyle/>
          <a:p>
            <a:pPr indent="0" marL="0">
              <a:buNone/>
            </a:pPr>
            <a:r>
              <a:rPr lang="en-US" sz="1150" b="1" dirty="0">
                <a:solidFill>
                  <a:srgbClr val="5A5A5A"/>
                </a:solidFill>
                <a:latin typeface="Arial" pitchFamily="34" charset="0"/>
                <a:ea typeface="Arial" pitchFamily="34" charset="-122"/>
                <a:cs typeface="Arial" pitchFamily="34" charset="-120"/>
              </a:rPr>
              <a:t>Decision</a:t>
            </a:r>
            <a:endParaRPr lang="en-US" sz="1150" dirty="0"/>
          </a:p>
        </p:txBody>
      </p:sp>
      <p:sp>
        <p:nvSpPr>
          <p:cNvPr id="10" name="Shape 6"/>
          <p:cNvSpPr/>
          <p:nvPr/>
        </p:nvSpPr>
        <p:spPr>
          <a:xfrm>
            <a:off x="548640" y="2624328"/>
            <a:ext cx="5477256" cy="987552"/>
          </a:xfrm>
          <a:prstGeom prst="roundRect">
            <a:avLst>
              <a:gd name="adj" fmla="val 5556"/>
            </a:avLst>
          </a:prstGeom>
          <a:solidFill>
            <a:srgbClr val="FFFFFF"/>
          </a:solidFill>
          <a:ln w="12700">
            <a:solidFill>
              <a:srgbClr val="D9DEE2"/>
            </a:solidFill>
            <a:prstDash val="solid"/>
          </a:ln>
        </p:spPr>
      </p:sp>
      <p:pic>
        <p:nvPicPr>
          <p:cNvPr id="11" name="Image 2" descr="/private/tmp/claude-501/-Users-salehhamed-Outcome-Engine/91861432-41e2-4884-bc97-63c6dff2d021/scratchpad/wk/icons/TbUserCheck-teal.png">    </p:cNvPr>
          <p:cNvPicPr>
            <a:picLocks noChangeAspect="1"/>
          </p:cNvPicPr>
          <p:nvPr/>
        </p:nvPicPr>
        <p:blipFill>
          <a:blip r:embed="rId5"/>
          <a:stretch>
            <a:fillRect/>
          </a:stretch>
        </p:blipFill>
        <p:spPr>
          <a:xfrm>
            <a:off x="658368" y="2734056"/>
            <a:ext cx="310896" cy="310896"/>
          </a:xfrm>
          <a:prstGeom prst="rect">
            <a:avLst/>
          </a:prstGeom>
        </p:spPr>
      </p:pic>
      <p:sp>
        <p:nvSpPr>
          <p:cNvPr id="12" name="Text 7"/>
          <p:cNvSpPr txBox="1"/>
          <p:nvPr/>
        </p:nvSpPr>
        <p:spPr>
          <a:xfrm>
            <a:off x="1051560" y="2697480"/>
            <a:ext cx="4882896" cy="365760"/>
          </a:xfrm>
          <a:prstGeom prst="rect">
            <a:avLst/>
          </a:prstGeom>
          <a:noFill/>
          <a:ln/>
        </p:spPr>
        <p:txBody>
          <a:bodyPr wrap="square" lIns="0" tIns="0" rIns="0" bIns="0" rtlCol="0" anchor="ctr"/>
          <a:lstStyle/>
          <a:p>
            <a:pPr indent="0" marL="0">
              <a:buNone/>
            </a:pPr>
            <a:r>
              <a:rPr lang="en-US" sz="1150" b="1" dirty="0">
                <a:solidFill>
                  <a:srgbClr val="5A5A5A"/>
                </a:solidFill>
                <a:latin typeface="Arial" pitchFamily="34" charset="0"/>
                <a:ea typeface="Arial" pitchFamily="34" charset="-122"/>
                <a:cs typeface="Arial" pitchFamily="34" charset="-120"/>
              </a:rPr>
              <a:t>Owner (a role)</a:t>
            </a:r>
            <a:endParaRPr lang="en-US" sz="1150" dirty="0"/>
          </a:p>
        </p:txBody>
      </p:sp>
      <p:sp>
        <p:nvSpPr>
          <p:cNvPr id="13" name="Shape 8"/>
          <p:cNvSpPr/>
          <p:nvPr/>
        </p:nvSpPr>
        <p:spPr>
          <a:xfrm>
            <a:off x="6163056" y="2624328"/>
            <a:ext cx="5477256" cy="987552"/>
          </a:xfrm>
          <a:prstGeom prst="roundRect">
            <a:avLst>
              <a:gd name="adj" fmla="val 5556"/>
            </a:avLst>
          </a:prstGeom>
          <a:solidFill>
            <a:srgbClr val="FFFFFF"/>
          </a:solidFill>
          <a:ln w="12700">
            <a:solidFill>
              <a:srgbClr val="D9DEE2"/>
            </a:solidFill>
            <a:prstDash val="solid"/>
          </a:ln>
        </p:spPr>
      </p:sp>
      <p:pic>
        <p:nvPicPr>
          <p:cNvPr id="14" name="Image 3" descr="/private/tmp/claude-501/-Users-salehhamed-Outcome-Engine/91861432-41e2-4884-bc97-63c6dff2d021/scratchpad/wk/icons/TbUsers-teal.png">    </p:cNvPr>
          <p:cNvPicPr>
            <a:picLocks noChangeAspect="1"/>
          </p:cNvPicPr>
          <p:nvPr/>
        </p:nvPicPr>
        <p:blipFill>
          <a:blip r:embed="rId6"/>
          <a:stretch>
            <a:fillRect/>
          </a:stretch>
        </p:blipFill>
        <p:spPr>
          <a:xfrm>
            <a:off x="6272784" y="2734056"/>
            <a:ext cx="310896" cy="310896"/>
          </a:xfrm>
          <a:prstGeom prst="rect">
            <a:avLst/>
          </a:prstGeom>
        </p:spPr>
      </p:pic>
      <p:sp>
        <p:nvSpPr>
          <p:cNvPr id="15" name="Text 9"/>
          <p:cNvSpPr txBox="1"/>
          <p:nvPr/>
        </p:nvSpPr>
        <p:spPr>
          <a:xfrm>
            <a:off x="6665976" y="2697480"/>
            <a:ext cx="4882896" cy="365760"/>
          </a:xfrm>
          <a:prstGeom prst="rect">
            <a:avLst/>
          </a:prstGeom>
          <a:noFill/>
          <a:ln/>
        </p:spPr>
        <p:txBody>
          <a:bodyPr wrap="square" lIns="0" tIns="0" rIns="0" bIns="0" rtlCol="0" anchor="ctr"/>
          <a:lstStyle/>
          <a:p>
            <a:pPr indent="0" marL="0">
              <a:buNone/>
            </a:pPr>
            <a:r>
              <a:rPr lang="en-US" sz="1150" b="1" dirty="0">
                <a:solidFill>
                  <a:srgbClr val="5A5A5A"/>
                </a:solidFill>
                <a:latin typeface="Arial" pitchFamily="34" charset="0"/>
                <a:ea typeface="Arial" pitchFamily="34" charset="-122"/>
                <a:cs typeface="Arial" pitchFamily="34" charset="-120"/>
              </a:rPr>
              <a:t>Backup</a:t>
            </a:r>
            <a:endParaRPr lang="en-US" sz="1150" dirty="0"/>
          </a:p>
        </p:txBody>
      </p:sp>
      <p:sp>
        <p:nvSpPr>
          <p:cNvPr id="16" name="Shape 10"/>
          <p:cNvSpPr/>
          <p:nvPr/>
        </p:nvSpPr>
        <p:spPr>
          <a:xfrm>
            <a:off x="548640" y="3739896"/>
            <a:ext cx="5477256" cy="987552"/>
          </a:xfrm>
          <a:prstGeom prst="roundRect">
            <a:avLst>
              <a:gd name="adj" fmla="val 5556"/>
            </a:avLst>
          </a:prstGeom>
          <a:solidFill>
            <a:srgbClr val="FFFFFF"/>
          </a:solidFill>
          <a:ln w="12700">
            <a:solidFill>
              <a:srgbClr val="D9DEE2"/>
            </a:solidFill>
            <a:prstDash val="solid"/>
          </a:ln>
        </p:spPr>
      </p:sp>
      <p:pic>
        <p:nvPicPr>
          <p:cNvPr id="17" name="Image 4" descr="/private/tmp/claude-501/-Users-salehhamed-Outcome-Engine/91861432-41e2-4884-bc97-63c6dff2d021/scratchpad/wk/icons/TbScale-teal.png">    </p:cNvPr>
          <p:cNvPicPr>
            <a:picLocks noChangeAspect="1"/>
          </p:cNvPicPr>
          <p:nvPr/>
        </p:nvPicPr>
        <p:blipFill>
          <a:blip r:embed="rId7"/>
          <a:stretch>
            <a:fillRect/>
          </a:stretch>
        </p:blipFill>
        <p:spPr>
          <a:xfrm>
            <a:off x="658368" y="3849624"/>
            <a:ext cx="310896" cy="310896"/>
          </a:xfrm>
          <a:prstGeom prst="rect">
            <a:avLst/>
          </a:prstGeom>
        </p:spPr>
      </p:pic>
      <p:sp>
        <p:nvSpPr>
          <p:cNvPr id="18" name="Text 11"/>
          <p:cNvSpPr txBox="1"/>
          <p:nvPr/>
        </p:nvSpPr>
        <p:spPr>
          <a:xfrm>
            <a:off x="1051560" y="3813048"/>
            <a:ext cx="4882896" cy="365760"/>
          </a:xfrm>
          <a:prstGeom prst="rect">
            <a:avLst/>
          </a:prstGeom>
          <a:noFill/>
          <a:ln/>
        </p:spPr>
        <p:txBody>
          <a:bodyPr wrap="square" lIns="0" tIns="0" rIns="0" bIns="0" rtlCol="0" anchor="ctr"/>
          <a:lstStyle/>
          <a:p>
            <a:pPr indent="0" marL="0">
              <a:buNone/>
            </a:pPr>
            <a:r>
              <a:rPr lang="en-US" sz="1150" b="1" dirty="0">
                <a:solidFill>
                  <a:srgbClr val="5A5A5A"/>
                </a:solidFill>
                <a:latin typeface="Arial" pitchFamily="34" charset="0"/>
                <a:ea typeface="Arial" pitchFamily="34" charset="-122"/>
                <a:cs typeface="Arial" pitchFamily="34" charset="-120"/>
              </a:rPr>
              <a:t>Why a person</a:t>
            </a:r>
            <a:endParaRPr lang="en-US" sz="1150" dirty="0"/>
          </a:p>
        </p:txBody>
      </p:sp>
      <p:sp>
        <p:nvSpPr>
          <p:cNvPr id="19" name="Shape 12"/>
          <p:cNvSpPr/>
          <p:nvPr/>
        </p:nvSpPr>
        <p:spPr>
          <a:xfrm>
            <a:off x="6163056" y="3739896"/>
            <a:ext cx="5477256" cy="987552"/>
          </a:xfrm>
          <a:prstGeom prst="roundRect">
            <a:avLst>
              <a:gd name="adj" fmla="val 5556"/>
            </a:avLst>
          </a:prstGeom>
          <a:solidFill>
            <a:srgbClr val="FFFFFF"/>
          </a:solidFill>
          <a:ln w="12700">
            <a:solidFill>
              <a:srgbClr val="D9DEE2"/>
            </a:solidFill>
            <a:prstDash val="solid"/>
          </a:ln>
        </p:spPr>
      </p:sp>
      <p:pic>
        <p:nvPicPr>
          <p:cNvPr id="20" name="Image 5" descr="/private/tmp/claude-501/-Users-salehhamed-Outcome-Engine/91861432-41e2-4884-bc97-63c6dff2d021/scratchpad/wk/icons/TbFileSearch-teal.png">    </p:cNvPr>
          <p:cNvPicPr>
            <a:picLocks noChangeAspect="1"/>
          </p:cNvPicPr>
          <p:nvPr/>
        </p:nvPicPr>
        <p:blipFill>
          <a:blip r:embed="rId8"/>
          <a:stretch>
            <a:fillRect/>
          </a:stretch>
        </p:blipFill>
        <p:spPr>
          <a:xfrm>
            <a:off x="6272784" y="3849624"/>
            <a:ext cx="310896" cy="310896"/>
          </a:xfrm>
          <a:prstGeom prst="rect">
            <a:avLst/>
          </a:prstGeom>
        </p:spPr>
      </p:pic>
      <p:sp>
        <p:nvSpPr>
          <p:cNvPr id="21" name="Text 13"/>
          <p:cNvSpPr txBox="1"/>
          <p:nvPr/>
        </p:nvSpPr>
        <p:spPr>
          <a:xfrm>
            <a:off x="6665976" y="3813048"/>
            <a:ext cx="4882896" cy="365760"/>
          </a:xfrm>
          <a:prstGeom prst="rect">
            <a:avLst/>
          </a:prstGeom>
          <a:noFill/>
          <a:ln/>
        </p:spPr>
        <p:txBody>
          <a:bodyPr wrap="square" lIns="0" tIns="0" rIns="0" bIns="0" rtlCol="0" anchor="ctr"/>
          <a:lstStyle/>
          <a:p>
            <a:pPr indent="0" marL="0">
              <a:buNone/>
            </a:pPr>
            <a:r>
              <a:rPr lang="en-US" sz="1150" b="1" dirty="0">
                <a:solidFill>
                  <a:srgbClr val="5A5A5A"/>
                </a:solidFill>
                <a:latin typeface="Arial" pitchFamily="34" charset="0"/>
                <a:ea typeface="Arial" pitchFamily="34" charset="-122"/>
                <a:cs typeface="Arial" pitchFamily="34" charset="-120"/>
              </a:rPr>
              <a:t>Evidence, and where it comes from</a:t>
            </a:r>
            <a:endParaRPr lang="en-US" sz="1150" dirty="0"/>
          </a:p>
        </p:txBody>
      </p:sp>
      <p:sp>
        <p:nvSpPr>
          <p:cNvPr id="22" name="Shape 14"/>
          <p:cNvSpPr/>
          <p:nvPr/>
        </p:nvSpPr>
        <p:spPr>
          <a:xfrm>
            <a:off x="548640" y="4855464"/>
            <a:ext cx="5477256" cy="987552"/>
          </a:xfrm>
          <a:prstGeom prst="roundRect">
            <a:avLst>
              <a:gd name="adj" fmla="val 5556"/>
            </a:avLst>
          </a:prstGeom>
          <a:solidFill>
            <a:srgbClr val="FFFFFF"/>
          </a:solidFill>
          <a:ln w="12700">
            <a:solidFill>
              <a:srgbClr val="D9DEE2"/>
            </a:solidFill>
            <a:prstDash val="solid"/>
          </a:ln>
        </p:spPr>
      </p:sp>
      <p:pic>
        <p:nvPicPr>
          <p:cNvPr id="23" name="Image 6" descr="/private/tmp/claude-501/-Users-salehhamed-Outcome-Engine/91861432-41e2-4884-bc97-63c6dff2d021/scratchpad/wk/icons/TbClock-teal.png">    </p:cNvPr>
          <p:cNvPicPr>
            <a:picLocks noChangeAspect="1"/>
          </p:cNvPicPr>
          <p:nvPr/>
        </p:nvPicPr>
        <p:blipFill>
          <a:blip r:embed="rId9"/>
          <a:stretch>
            <a:fillRect/>
          </a:stretch>
        </p:blipFill>
        <p:spPr>
          <a:xfrm>
            <a:off x="658368" y="4965192"/>
            <a:ext cx="310896" cy="310896"/>
          </a:xfrm>
          <a:prstGeom prst="rect">
            <a:avLst/>
          </a:prstGeom>
        </p:spPr>
      </p:pic>
      <p:sp>
        <p:nvSpPr>
          <p:cNvPr id="24" name="Text 15"/>
          <p:cNvSpPr txBox="1"/>
          <p:nvPr/>
        </p:nvSpPr>
        <p:spPr>
          <a:xfrm>
            <a:off x="1051560" y="4928616"/>
            <a:ext cx="4882896" cy="365760"/>
          </a:xfrm>
          <a:prstGeom prst="rect">
            <a:avLst/>
          </a:prstGeom>
          <a:noFill/>
          <a:ln/>
        </p:spPr>
        <p:txBody>
          <a:bodyPr wrap="square" lIns="0" tIns="0" rIns="0" bIns="0" rtlCol="0" anchor="ctr"/>
          <a:lstStyle/>
          <a:p>
            <a:pPr indent="0" marL="0">
              <a:buNone/>
            </a:pPr>
            <a:r>
              <a:rPr lang="en-US" sz="1150" b="1" dirty="0">
                <a:solidFill>
                  <a:srgbClr val="5A5A5A"/>
                </a:solidFill>
                <a:latin typeface="Arial" pitchFamily="34" charset="0"/>
                <a:ea typeface="Arial" pitchFamily="34" charset="-122"/>
                <a:cs typeface="Arial" pitchFamily="34" charset="-120"/>
              </a:rPr>
              <a:t>Response time</a:t>
            </a:r>
            <a:endParaRPr lang="en-US" sz="1150" dirty="0"/>
          </a:p>
        </p:txBody>
      </p:sp>
      <p:sp>
        <p:nvSpPr>
          <p:cNvPr id="25" name="Shape 16"/>
          <p:cNvSpPr/>
          <p:nvPr/>
        </p:nvSpPr>
        <p:spPr>
          <a:xfrm>
            <a:off x="6163056" y="4855464"/>
            <a:ext cx="5477256" cy="987552"/>
          </a:xfrm>
          <a:prstGeom prst="roundRect">
            <a:avLst>
              <a:gd name="adj" fmla="val 5556"/>
            </a:avLst>
          </a:prstGeom>
          <a:solidFill>
            <a:srgbClr val="FFFFFF"/>
          </a:solidFill>
          <a:ln w="12700">
            <a:solidFill>
              <a:srgbClr val="D9DEE2"/>
            </a:solidFill>
            <a:prstDash val="solid"/>
          </a:ln>
        </p:spPr>
      </p:sp>
      <p:pic>
        <p:nvPicPr>
          <p:cNvPr id="26" name="Image 7" descr="/private/tmp/claude-501/-Users-salehhamed-Outcome-Engine/91861432-41e2-4884-bc97-63c6dff2d021/scratchpad/wk/icons/TbArrowBigRight-teal.png">    </p:cNvPr>
          <p:cNvPicPr>
            <a:picLocks noChangeAspect="1"/>
          </p:cNvPicPr>
          <p:nvPr/>
        </p:nvPicPr>
        <p:blipFill>
          <a:blip r:embed="rId10"/>
          <a:stretch>
            <a:fillRect/>
          </a:stretch>
        </p:blipFill>
        <p:spPr>
          <a:xfrm>
            <a:off x="6272784" y="4965192"/>
            <a:ext cx="310896" cy="310896"/>
          </a:xfrm>
          <a:prstGeom prst="rect">
            <a:avLst/>
          </a:prstGeom>
        </p:spPr>
      </p:pic>
      <p:sp>
        <p:nvSpPr>
          <p:cNvPr id="27" name="Text 17"/>
          <p:cNvSpPr txBox="1"/>
          <p:nvPr/>
        </p:nvSpPr>
        <p:spPr>
          <a:xfrm>
            <a:off x="6665976" y="4928616"/>
            <a:ext cx="4882896" cy="365760"/>
          </a:xfrm>
          <a:prstGeom prst="rect">
            <a:avLst/>
          </a:prstGeom>
          <a:noFill/>
          <a:ln/>
        </p:spPr>
        <p:txBody>
          <a:bodyPr wrap="square" lIns="0" tIns="0" rIns="0" bIns="0" rtlCol="0" anchor="ctr"/>
          <a:lstStyle/>
          <a:p>
            <a:pPr indent="0" marL="0">
              <a:buNone/>
            </a:pPr>
            <a:r>
              <a:rPr lang="en-US" sz="1150" b="1" dirty="0">
                <a:solidFill>
                  <a:srgbClr val="5A5A5A"/>
                </a:solidFill>
                <a:latin typeface="Arial" pitchFamily="34" charset="0"/>
                <a:ea typeface="Arial" pitchFamily="34" charset="-122"/>
                <a:cs typeface="Arial" pitchFamily="34" charset="-120"/>
              </a:rPr>
              <a:t>If nobody answers, it goes to</a:t>
            </a:r>
            <a:endParaRPr lang="en-US" sz="11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NORTHGATE · AN EXAMPLE TO CORRECT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One card, filled in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13:15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78</a:t>
            </a:r>
            <a:endParaRPr lang="en-US" sz="1000" dirty="0"/>
          </a:p>
        </p:txBody>
      </p:sp>
      <p:sp>
        <p:nvSpPr>
          <p:cNvPr id="7" name="Shape 4"/>
          <p:cNvSpPr/>
          <p:nvPr/>
        </p:nvSpPr>
        <p:spPr>
          <a:xfrm>
            <a:off x="548640" y="1508760"/>
            <a:ext cx="11091672" cy="987552"/>
          </a:xfrm>
          <a:prstGeom prst="roundRect">
            <a:avLst>
              <a:gd name="adj" fmla="val 5556"/>
            </a:avLst>
          </a:prstGeom>
          <a:solidFill>
            <a:srgbClr val="FDF3E1"/>
          </a:solidFill>
          <a:ln w="12700">
            <a:solidFill>
              <a:srgbClr val="C98A1A"/>
            </a:solidFill>
            <a:prstDash val="solid"/>
          </a:ln>
        </p:spPr>
      </p:sp>
      <p:pic>
        <p:nvPicPr>
          <p:cNvPr id="8" name="Image 1" descr="/private/tmp/claude-501/-Users-salehhamed-Outcome-Engine/91861432-41e2-4884-bc97-63c6dff2d021/scratchpad/wk/icons/TbFlag-amber.png">    </p:cNvPr>
          <p:cNvPicPr>
            <a:picLocks noChangeAspect="1"/>
          </p:cNvPicPr>
          <p:nvPr/>
        </p:nvPicPr>
        <p:blipFill>
          <a:blip r:embed="rId4"/>
          <a:stretch>
            <a:fillRect/>
          </a:stretch>
        </p:blipFill>
        <p:spPr>
          <a:xfrm>
            <a:off x="658368" y="1618488"/>
            <a:ext cx="310896" cy="310896"/>
          </a:xfrm>
          <a:prstGeom prst="rect">
            <a:avLst/>
          </a:prstGeom>
        </p:spPr>
      </p:pic>
      <p:sp>
        <p:nvSpPr>
          <p:cNvPr id="9" name="Text 5"/>
          <p:cNvSpPr txBox="1"/>
          <p:nvPr/>
        </p:nvSpPr>
        <p:spPr>
          <a:xfrm>
            <a:off x="1051560" y="1581912"/>
            <a:ext cx="10497312" cy="365760"/>
          </a:xfrm>
          <a:prstGeom prst="rect">
            <a:avLst/>
          </a:prstGeom>
          <a:noFill/>
          <a:ln/>
        </p:spPr>
        <p:txBody>
          <a:bodyPr wrap="square" lIns="0" tIns="0" rIns="0" bIns="0" rtlCol="0" anchor="ctr"/>
          <a:lstStyle/>
          <a:p>
            <a:pPr indent="0" marL="0">
              <a:buNone/>
            </a:pPr>
            <a:r>
              <a:rPr lang="en-US" sz="1150" b="1" dirty="0">
                <a:solidFill>
                  <a:srgbClr val="5A5A5A"/>
                </a:solidFill>
                <a:latin typeface="Arial" pitchFamily="34" charset="0"/>
                <a:ea typeface="Arial" pitchFamily="34" charset="-122"/>
                <a:cs typeface="Arial" pitchFamily="34" charset="-120"/>
              </a:rPr>
              <a:t>Decision</a:t>
            </a:r>
            <a:endParaRPr lang="en-US" sz="1150" dirty="0"/>
          </a:p>
        </p:txBody>
      </p:sp>
      <p:sp>
        <p:nvSpPr>
          <p:cNvPr id="10" name="Text 6"/>
          <p:cNvSpPr txBox="1"/>
          <p:nvPr/>
        </p:nvSpPr>
        <p:spPr>
          <a:xfrm>
            <a:off x="685800" y="1965960"/>
            <a:ext cx="10817352" cy="502920"/>
          </a:xfrm>
          <a:prstGeom prst="rect">
            <a:avLst/>
          </a:prstGeom>
          <a:noFill/>
          <a:ln/>
        </p:spPr>
        <p:txBody>
          <a:bodyPr wrap="square" lIns="0" tIns="0" rIns="0" bIns="0" rtlCol="0" anchor="t"/>
          <a:lstStyle/>
          <a:p>
            <a:pPr indent="0" marL="0">
              <a:buNone/>
            </a:pPr>
            <a:r>
              <a:rPr lang="en-US" sz="1400" b="1" dirty="0">
                <a:solidFill>
                  <a:srgbClr val="1F2A33"/>
                </a:solidFill>
                <a:latin typeface="Arial" pitchFamily="34" charset="0"/>
                <a:ea typeface="Arial" pitchFamily="34" charset="-122"/>
                <a:cs typeface="Arial" pitchFamily="34" charset="-120"/>
              </a:rPr>
              <a:t>Is the person really free?</a:t>
            </a:r>
            <a:endParaRPr lang="en-US" sz="1400" dirty="0"/>
          </a:p>
        </p:txBody>
      </p:sp>
      <p:sp>
        <p:nvSpPr>
          <p:cNvPr id="11" name="Shape 7"/>
          <p:cNvSpPr/>
          <p:nvPr/>
        </p:nvSpPr>
        <p:spPr>
          <a:xfrm>
            <a:off x="548640" y="2624328"/>
            <a:ext cx="5477256" cy="987552"/>
          </a:xfrm>
          <a:prstGeom prst="roundRect">
            <a:avLst>
              <a:gd name="adj" fmla="val 5556"/>
            </a:avLst>
          </a:prstGeom>
          <a:solidFill>
            <a:srgbClr val="FFFFFF"/>
          </a:solidFill>
          <a:ln w="12700">
            <a:solidFill>
              <a:srgbClr val="D9DEE2"/>
            </a:solidFill>
            <a:prstDash val="solid"/>
          </a:ln>
        </p:spPr>
      </p:sp>
      <p:pic>
        <p:nvPicPr>
          <p:cNvPr id="12" name="Image 2" descr="/private/tmp/claude-501/-Users-salehhamed-Outcome-Engine/91861432-41e2-4884-bc97-63c6dff2d021/scratchpad/wk/icons/TbUserCheck-teal.png">    </p:cNvPr>
          <p:cNvPicPr>
            <a:picLocks noChangeAspect="1"/>
          </p:cNvPicPr>
          <p:nvPr/>
        </p:nvPicPr>
        <p:blipFill>
          <a:blip r:embed="rId5"/>
          <a:stretch>
            <a:fillRect/>
          </a:stretch>
        </p:blipFill>
        <p:spPr>
          <a:xfrm>
            <a:off x="658368" y="2734056"/>
            <a:ext cx="310896" cy="310896"/>
          </a:xfrm>
          <a:prstGeom prst="rect">
            <a:avLst/>
          </a:prstGeom>
        </p:spPr>
      </p:pic>
      <p:sp>
        <p:nvSpPr>
          <p:cNvPr id="13" name="Text 8"/>
          <p:cNvSpPr txBox="1"/>
          <p:nvPr/>
        </p:nvSpPr>
        <p:spPr>
          <a:xfrm>
            <a:off x="1051560" y="2697480"/>
            <a:ext cx="4882896" cy="365760"/>
          </a:xfrm>
          <a:prstGeom prst="rect">
            <a:avLst/>
          </a:prstGeom>
          <a:noFill/>
          <a:ln/>
        </p:spPr>
        <p:txBody>
          <a:bodyPr wrap="square" lIns="0" tIns="0" rIns="0" bIns="0" rtlCol="0" anchor="ctr"/>
          <a:lstStyle/>
          <a:p>
            <a:pPr indent="0" marL="0">
              <a:buNone/>
            </a:pPr>
            <a:r>
              <a:rPr lang="en-US" sz="1150" b="1" dirty="0">
                <a:solidFill>
                  <a:srgbClr val="5A5A5A"/>
                </a:solidFill>
                <a:latin typeface="Arial" pitchFamily="34" charset="0"/>
                <a:ea typeface="Arial" pitchFamily="34" charset="-122"/>
                <a:cs typeface="Arial" pitchFamily="34" charset="-120"/>
              </a:rPr>
              <a:t>Owner (a role)</a:t>
            </a:r>
            <a:endParaRPr lang="en-US" sz="1150" dirty="0"/>
          </a:p>
        </p:txBody>
      </p:sp>
      <p:sp>
        <p:nvSpPr>
          <p:cNvPr id="14" name="Text 9"/>
          <p:cNvSpPr txBox="1"/>
          <p:nvPr/>
        </p:nvSpPr>
        <p:spPr>
          <a:xfrm>
            <a:off x="685800" y="3081528"/>
            <a:ext cx="5202936" cy="502920"/>
          </a:xfrm>
          <a:prstGeom prst="rect">
            <a:avLst/>
          </a:prstGeom>
          <a:noFill/>
          <a:ln/>
        </p:spPr>
        <p:txBody>
          <a:bodyPr wrap="square" lIns="0" tIns="0" rIns="0" bIns="0" rtlCol="0" anchor="t"/>
          <a:lstStyle/>
          <a:p>
            <a:pPr indent="0" marL="0">
              <a:buNone/>
            </a:pPr>
            <a:r>
              <a:rPr lang="en-US" sz="1400" b="1" dirty="0">
                <a:solidFill>
                  <a:srgbClr val="1F2A33"/>
                </a:solidFill>
                <a:latin typeface="Arial" pitchFamily="34" charset="0"/>
                <a:ea typeface="Arial" pitchFamily="34" charset="-122"/>
                <a:cs typeface="Arial" pitchFamily="34" charset="-120"/>
              </a:rPr>
              <a:t>Current manager</a:t>
            </a:r>
            <a:endParaRPr lang="en-US" sz="1400" dirty="0"/>
          </a:p>
        </p:txBody>
      </p:sp>
      <p:sp>
        <p:nvSpPr>
          <p:cNvPr id="15" name="Shape 10"/>
          <p:cNvSpPr/>
          <p:nvPr/>
        </p:nvSpPr>
        <p:spPr>
          <a:xfrm>
            <a:off x="6163056" y="2624328"/>
            <a:ext cx="5477256" cy="987552"/>
          </a:xfrm>
          <a:prstGeom prst="roundRect">
            <a:avLst>
              <a:gd name="adj" fmla="val 5556"/>
            </a:avLst>
          </a:prstGeom>
          <a:solidFill>
            <a:srgbClr val="FFFFFF"/>
          </a:solidFill>
          <a:ln w="12700">
            <a:solidFill>
              <a:srgbClr val="D9DEE2"/>
            </a:solidFill>
            <a:prstDash val="solid"/>
          </a:ln>
        </p:spPr>
      </p:sp>
      <p:pic>
        <p:nvPicPr>
          <p:cNvPr id="16" name="Image 3" descr="/private/tmp/claude-501/-Users-salehhamed-Outcome-Engine/91861432-41e2-4884-bc97-63c6dff2d021/scratchpad/wk/icons/TbUsers-teal.png">    </p:cNvPr>
          <p:cNvPicPr>
            <a:picLocks noChangeAspect="1"/>
          </p:cNvPicPr>
          <p:nvPr/>
        </p:nvPicPr>
        <p:blipFill>
          <a:blip r:embed="rId6"/>
          <a:stretch>
            <a:fillRect/>
          </a:stretch>
        </p:blipFill>
        <p:spPr>
          <a:xfrm>
            <a:off x="6272784" y="2734056"/>
            <a:ext cx="310896" cy="310896"/>
          </a:xfrm>
          <a:prstGeom prst="rect">
            <a:avLst/>
          </a:prstGeom>
        </p:spPr>
      </p:pic>
      <p:sp>
        <p:nvSpPr>
          <p:cNvPr id="17" name="Text 11"/>
          <p:cNvSpPr txBox="1"/>
          <p:nvPr/>
        </p:nvSpPr>
        <p:spPr>
          <a:xfrm>
            <a:off x="6665976" y="2697480"/>
            <a:ext cx="4882896" cy="365760"/>
          </a:xfrm>
          <a:prstGeom prst="rect">
            <a:avLst/>
          </a:prstGeom>
          <a:noFill/>
          <a:ln/>
        </p:spPr>
        <p:txBody>
          <a:bodyPr wrap="square" lIns="0" tIns="0" rIns="0" bIns="0" rtlCol="0" anchor="ctr"/>
          <a:lstStyle/>
          <a:p>
            <a:pPr indent="0" marL="0">
              <a:buNone/>
            </a:pPr>
            <a:r>
              <a:rPr lang="en-US" sz="1150" b="1" dirty="0">
                <a:solidFill>
                  <a:srgbClr val="5A5A5A"/>
                </a:solidFill>
                <a:latin typeface="Arial" pitchFamily="34" charset="0"/>
                <a:ea typeface="Arial" pitchFamily="34" charset="-122"/>
                <a:cs typeface="Arial" pitchFamily="34" charset="-120"/>
              </a:rPr>
              <a:t>Backup</a:t>
            </a:r>
            <a:endParaRPr lang="en-US" sz="1150" dirty="0"/>
          </a:p>
        </p:txBody>
      </p:sp>
      <p:sp>
        <p:nvSpPr>
          <p:cNvPr id="18" name="Text 12"/>
          <p:cNvSpPr txBox="1"/>
          <p:nvPr/>
        </p:nvSpPr>
        <p:spPr>
          <a:xfrm>
            <a:off x="6300216" y="3081528"/>
            <a:ext cx="5202936" cy="502920"/>
          </a:xfrm>
          <a:prstGeom prst="rect">
            <a:avLst/>
          </a:prstGeom>
          <a:noFill/>
          <a:ln/>
        </p:spPr>
        <p:txBody>
          <a:bodyPr wrap="square" lIns="0" tIns="0" rIns="0" bIns="0" rtlCol="0" anchor="t"/>
          <a:lstStyle/>
          <a:p>
            <a:pPr indent="0" marL="0">
              <a:buNone/>
            </a:pPr>
            <a:r>
              <a:rPr lang="en-US" sz="1400" b="1" dirty="0">
                <a:solidFill>
                  <a:srgbClr val="1F2A33"/>
                </a:solidFill>
                <a:latin typeface="Arial" pitchFamily="34" charset="0"/>
                <a:ea typeface="Arial" pitchFamily="34" charset="-122"/>
                <a:cs typeface="Arial" pitchFamily="34" charset="-120"/>
              </a:rPr>
              <a:t>Resourcing lead</a:t>
            </a:r>
            <a:endParaRPr lang="en-US" sz="1400" dirty="0"/>
          </a:p>
        </p:txBody>
      </p:sp>
      <p:sp>
        <p:nvSpPr>
          <p:cNvPr id="19" name="Shape 13"/>
          <p:cNvSpPr/>
          <p:nvPr/>
        </p:nvSpPr>
        <p:spPr>
          <a:xfrm>
            <a:off x="548640" y="3739896"/>
            <a:ext cx="5477256" cy="987552"/>
          </a:xfrm>
          <a:prstGeom prst="roundRect">
            <a:avLst>
              <a:gd name="adj" fmla="val 5556"/>
            </a:avLst>
          </a:prstGeom>
          <a:solidFill>
            <a:srgbClr val="FFFFFF"/>
          </a:solidFill>
          <a:ln w="12700">
            <a:solidFill>
              <a:srgbClr val="D9DEE2"/>
            </a:solidFill>
            <a:prstDash val="solid"/>
          </a:ln>
        </p:spPr>
      </p:sp>
      <p:pic>
        <p:nvPicPr>
          <p:cNvPr id="20" name="Image 4" descr="/private/tmp/claude-501/-Users-salehhamed-Outcome-Engine/91861432-41e2-4884-bc97-63c6dff2d021/scratchpad/wk/icons/TbScale-teal.png">    </p:cNvPr>
          <p:cNvPicPr>
            <a:picLocks noChangeAspect="1"/>
          </p:cNvPicPr>
          <p:nvPr/>
        </p:nvPicPr>
        <p:blipFill>
          <a:blip r:embed="rId7"/>
          <a:stretch>
            <a:fillRect/>
          </a:stretch>
        </p:blipFill>
        <p:spPr>
          <a:xfrm>
            <a:off x="658368" y="3849624"/>
            <a:ext cx="310896" cy="310896"/>
          </a:xfrm>
          <a:prstGeom prst="rect">
            <a:avLst/>
          </a:prstGeom>
        </p:spPr>
      </p:pic>
      <p:sp>
        <p:nvSpPr>
          <p:cNvPr id="21" name="Text 14"/>
          <p:cNvSpPr txBox="1"/>
          <p:nvPr/>
        </p:nvSpPr>
        <p:spPr>
          <a:xfrm>
            <a:off x="1051560" y="3813048"/>
            <a:ext cx="4882896" cy="365760"/>
          </a:xfrm>
          <a:prstGeom prst="rect">
            <a:avLst/>
          </a:prstGeom>
          <a:noFill/>
          <a:ln/>
        </p:spPr>
        <p:txBody>
          <a:bodyPr wrap="square" lIns="0" tIns="0" rIns="0" bIns="0" rtlCol="0" anchor="ctr"/>
          <a:lstStyle/>
          <a:p>
            <a:pPr indent="0" marL="0">
              <a:buNone/>
            </a:pPr>
            <a:r>
              <a:rPr lang="en-US" sz="1150" b="1" dirty="0">
                <a:solidFill>
                  <a:srgbClr val="5A5A5A"/>
                </a:solidFill>
                <a:latin typeface="Arial" pitchFamily="34" charset="0"/>
                <a:ea typeface="Arial" pitchFamily="34" charset="-122"/>
                <a:cs typeface="Arial" pitchFamily="34" charset="-120"/>
              </a:rPr>
              <a:t>Why a person</a:t>
            </a:r>
            <a:endParaRPr lang="en-US" sz="1150" dirty="0"/>
          </a:p>
        </p:txBody>
      </p:sp>
      <p:sp>
        <p:nvSpPr>
          <p:cNvPr id="22" name="Text 15"/>
          <p:cNvSpPr txBox="1"/>
          <p:nvPr/>
        </p:nvSpPr>
        <p:spPr>
          <a:xfrm>
            <a:off x="685800" y="4197096"/>
            <a:ext cx="5202936" cy="502920"/>
          </a:xfrm>
          <a:prstGeom prst="rect">
            <a:avLst/>
          </a:prstGeom>
          <a:noFill/>
          <a:ln/>
        </p:spPr>
        <p:txBody>
          <a:bodyPr wrap="square" lIns="0" tIns="0" rIns="0" bIns="0" rtlCol="0" anchor="t"/>
          <a:lstStyle/>
          <a:p>
            <a:pPr indent="0" marL="0">
              <a:buNone/>
            </a:pPr>
            <a:r>
              <a:rPr lang="en-US" sz="1400" b="1" dirty="0">
                <a:solidFill>
                  <a:srgbClr val="1F2A33"/>
                </a:solidFill>
                <a:latin typeface="Arial" pitchFamily="34" charset="0"/>
                <a:ea typeface="Arial" pitchFamily="34" charset="-122"/>
                <a:cs typeface="Arial" pitchFamily="34" charset="-120"/>
              </a:rPr>
              <a:t>Trust not yet earned</a:t>
            </a:r>
            <a:endParaRPr lang="en-US" sz="1400" dirty="0"/>
          </a:p>
        </p:txBody>
      </p:sp>
      <p:sp>
        <p:nvSpPr>
          <p:cNvPr id="23" name="Shape 16"/>
          <p:cNvSpPr/>
          <p:nvPr/>
        </p:nvSpPr>
        <p:spPr>
          <a:xfrm>
            <a:off x="6163056" y="3739896"/>
            <a:ext cx="5477256" cy="987552"/>
          </a:xfrm>
          <a:prstGeom prst="roundRect">
            <a:avLst>
              <a:gd name="adj" fmla="val 5556"/>
            </a:avLst>
          </a:prstGeom>
          <a:solidFill>
            <a:srgbClr val="FFFFFF"/>
          </a:solidFill>
          <a:ln w="12700">
            <a:solidFill>
              <a:srgbClr val="D9DEE2"/>
            </a:solidFill>
            <a:prstDash val="solid"/>
          </a:ln>
        </p:spPr>
      </p:sp>
      <p:pic>
        <p:nvPicPr>
          <p:cNvPr id="24" name="Image 5" descr="/private/tmp/claude-501/-Users-salehhamed-Outcome-Engine/91861432-41e2-4884-bc97-63c6dff2d021/scratchpad/wk/icons/TbFileSearch-teal.png">    </p:cNvPr>
          <p:cNvPicPr>
            <a:picLocks noChangeAspect="1"/>
          </p:cNvPicPr>
          <p:nvPr/>
        </p:nvPicPr>
        <p:blipFill>
          <a:blip r:embed="rId8"/>
          <a:stretch>
            <a:fillRect/>
          </a:stretch>
        </p:blipFill>
        <p:spPr>
          <a:xfrm>
            <a:off x="6272784" y="3849624"/>
            <a:ext cx="310896" cy="310896"/>
          </a:xfrm>
          <a:prstGeom prst="rect">
            <a:avLst/>
          </a:prstGeom>
        </p:spPr>
      </p:pic>
      <p:sp>
        <p:nvSpPr>
          <p:cNvPr id="25" name="Text 17"/>
          <p:cNvSpPr txBox="1"/>
          <p:nvPr/>
        </p:nvSpPr>
        <p:spPr>
          <a:xfrm>
            <a:off x="6665976" y="3813048"/>
            <a:ext cx="4882896" cy="365760"/>
          </a:xfrm>
          <a:prstGeom prst="rect">
            <a:avLst/>
          </a:prstGeom>
          <a:noFill/>
          <a:ln/>
        </p:spPr>
        <p:txBody>
          <a:bodyPr wrap="square" lIns="0" tIns="0" rIns="0" bIns="0" rtlCol="0" anchor="ctr"/>
          <a:lstStyle/>
          <a:p>
            <a:pPr indent="0" marL="0">
              <a:buNone/>
            </a:pPr>
            <a:r>
              <a:rPr lang="en-US" sz="1150" b="1" dirty="0">
                <a:solidFill>
                  <a:srgbClr val="5A5A5A"/>
                </a:solidFill>
                <a:latin typeface="Arial" pitchFamily="34" charset="0"/>
                <a:ea typeface="Arial" pitchFamily="34" charset="-122"/>
                <a:cs typeface="Arial" pitchFamily="34" charset="-120"/>
              </a:rPr>
              <a:t>Evidence, and where it comes from</a:t>
            </a:r>
            <a:endParaRPr lang="en-US" sz="1150" dirty="0"/>
          </a:p>
        </p:txBody>
      </p:sp>
      <p:sp>
        <p:nvSpPr>
          <p:cNvPr id="26" name="Text 18"/>
          <p:cNvSpPr txBox="1"/>
          <p:nvPr/>
        </p:nvSpPr>
        <p:spPr>
          <a:xfrm>
            <a:off x="6300216" y="4197096"/>
            <a:ext cx="5202936" cy="502920"/>
          </a:xfrm>
          <a:prstGeom prst="rect">
            <a:avLst/>
          </a:prstGeom>
          <a:noFill/>
          <a:ln/>
        </p:spPr>
        <p:txBody>
          <a:bodyPr wrap="square" lIns="0" tIns="0" rIns="0" bIns="0" rtlCol="0" anchor="t"/>
          <a:lstStyle/>
          <a:p>
            <a:pPr indent="0" marL="0">
              <a:buNone/>
            </a:pPr>
            <a:r>
              <a:rPr lang="en-US" sz="1400" b="1" dirty="0">
                <a:solidFill>
                  <a:srgbClr val="1F2A33"/>
                </a:solidFill>
                <a:latin typeface="Arial" pitchFamily="34" charset="0"/>
                <a:ea typeface="Arial" pitchFamily="34" charset="-122"/>
                <a:cs typeface="Arial" pitchFamily="34" charset="-120"/>
              </a:rPr>
              <a:t>Workday dates, plus the manager's word on real workload</a:t>
            </a:r>
            <a:endParaRPr lang="en-US" sz="1400" dirty="0"/>
          </a:p>
        </p:txBody>
      </p:sp>
      <p:sp>
        <p:nvSpPr>
          <p:cNvPr id="27" name="Shape 19"/>
          <p:cNvSpPr/>
          <p:nvPr/>
        </p:nvSpPr>
        <p:spPr>
          <a:xfrm>
            <a:off x="548640" y="4855464"/>
            <a:ext cx="5477256" cy="987552"/>
          </a:xfrm>
          <a:prstGeom prst="roundRect">
            <a:avLst>
              <a:gd name="adj" fmla="val 5556"/>
            </a:avLst>
          </a:prstGeom>
          <a:solidFill>
            <a:srgbClr val="FFFFFF"/>
          </a:solidFill>
          <a:ln w="12700">
            <a:solidFill>
              <a:srgbClr val="D9DEE2"/>
            </a:solidFill>
            <a:prstDash val="solid"/>
          </a:ln>
        </p:spPr>
      </p:sp>
      <p:pic>
        <p:nvPicPr>
          <p:cNvPr id="28" name="Image 6" descr="/private/tmp/claude-501/-Users-salehhamed-Outcome-Engine/91861432-41e2-4884-bc97-63c6dff2d021/scratchpad/wk/icons/TbClock-teal.png">    </p:cNvPr>
          <p:cNvPicPr>
            <a:picLocks noChangeAspect="1"/>
          </p:cNvPicPr>
          <p:nvPr/>
        </p:nvPicPr>
        <p:blipFill>
          <a:blip r:embed="rId9"/>
          <a:stretch>
            <a:fillRect/>
          </a:stretch>
        </p:blipFill>
        <p:spPr>
          <a:xfrm>
            <a:off x="658368" y="4965192"/>
            <a:ext cx="310896" cy="310896"/>
          </a:xfrm>
          <a:prstGeom prst="rect">
            <a:avLst/>
          </a:prstGeom>
        </p:spPr>
      </p:pic>
      <p:sp>
        <p:nvSpPr>
          <p:cNvPr id="29" name="Text 20"/>
          <p:cNvSpPr txBox="1"/>
          <p:nvPr/>
        </p:nvSpPr>
        <p:spPr>
          <a:xfrm>
            <a:off x="1051560" y="4928616"/>
            <a:ext cx="4882896" cy="365760"/>
          </a:xfrm>
          <a:prstGeom prst="rect">
            <a:avLst/>
          </a:prstGeom>
          <a:noFill/>
          <a:ln/>
        </p:spPr>
        <p:txBody>
          <a:bodyPr wrap="square" lIns="0" tIns="0" rIns="0" bIns="0" rtlCol="0" anchor="ctr"/>
          <a:lstStyle/>
          <a:p>
            <a:pPr indent="0" marL="0">
              <a:buNone/>
            </a:pPr>
            <a:r>
              <a:rPr lang="en-US" sz="1150" b="1" dirty="0">
                <a:solidFill>
                  <a:srgbClr val="5A5A5A"/>
                </a:solidFill>
                <a:latin typeface="Arial" pitchFamily="34" charset="0"/>
                <a:ea typeface="Arial" pitchFamily="34" charset="-122"/>
                <a:cs typeface="Arial" pitchFamily="34" charset="-120"/>
              </a:rPr>
              <a:t>Response time</a:t>
            </a:r>
            <a:endParaRPr lang="en-US" sz="1150" dirty="0"/>
          </a:p>
        </p:txBody>
      </p:sp>
      <p:sp>
        <p:nvSpPr>
          <p:cNvPr id="30" name="Text 21"/>
          <p:cNvSpPr txBox="1"/>
          <p:nvPr/>
        </p:nvSpPr>
        <p:spPr>
          <a:xfrm>
            <a:off x="685800" y="5312664"/>
            <a:ext cx="5202936" cy="502920"/>
          </a:xfrm>
          <a:prstGeom prst="rect">
            <a:avLst/>
          </a:prstGeom>
          <a:noFill/>
          <a:ln/>
        </p:spPr>
        <p:txBody>
          <a:bodyPr wrap="square" lIns="0" tIns="0" rIns="0" bIns="0" rtlCol="0" anchor="t"/>
          <a:lstStyle/>
          <a:p>
            <a:pPr indent="0" marL="0">
              <a:buNone/>
            </a:pPr>
            <a:r>
              <a:rPr lang="en-US" sz="1400" b="1" dirty="0">
                <a:solidFill>
                  <a:srgbClr val="1F2A33"/>
                </a:solidFill>
                <a:latin typeface="Arial" pitchFamily="34" charset="0"/>
                <a:ea typeface="Arial" pitchFamily="34" charset="-122"/>
                <a:cs typeface="Arial" pitchFamily="34" charset="-120"/>
              </a:rPr>
              <a:t>Two working days</a:t>
            </a:r>
            <a:endParaRPr lang="en-US" sz="1400" dirty="0"/>
          </a:p>
        </p:txBody>
      </p:sp>
      <p:sp>
        <p:nvSpPr>
          <p:cNvPr id="31" name="Shape 22"/>
          <p:cNvSpPr/>
          <p:nvPr/>
        </p:nvSpPr>
        <p:spPr>
          <a:xfrm>
            <a:off x="6163056" y="4855464"/>
            <a:ext cx="5477256" cy="987552"/>
          </a:xfrm>
          <a:prstGeom prst="roundRect">
            <a:avLst>
              <a:gd name="adj" fmla="val 5556"/>
            </a:avLst>
          </a:prstGeom>
          <a:solidFill>
            <a:srgbClr val="FFFFFF"/>
          </a:solidFill>
          <a:ln w="12700">
            <a:solidFill>
              <a:srgbClr val="D9DEE2"/>
            </a:solidFill>
            <a:prstDash val="solid"/>
          </a:ln>
        </p:spPr>
      </p:sp>
      <p:pic>
        <p:nvPicPr>
          <p:cNvPr id="32" name="Image 7" descr="/private/tmp/claude-501/-Users-salehhamed-Outcome-Engine/91861432-41e2-4884-bc97-63c6dff2d021/scratchpad/wk/icons/TbArrowBigRight-teal.png">    </p:cNvPr>
          <p:cNvPicPr>
            <a:picLocks noChangeAspect="1"/>
          </p:cNvPicPr>
          <p:nvPr/>
        </p:nvPicPr>
        <p:blipFill>
          <a:blip r:embed="rId10"/>
          <a:stretch>
            <a:fillRect/>
          </a:stretch>
        </p:blipFill>
        <p:spPr>
          <a:xfrm>
            <a:off x="6272784" y="4965192"/>
            <a:ext cx="310896" cy="310896"/>
          </a:xfrm>
          <a:prstGeom prst="rect">
            <a:avLst/>
          </a:prstGeom>
        </p:spPr>
      </p:pic>
      <p:sp>
        <p:nvSpPr>
          <p:cNvPr id="33" name="Text 23"/>
          <p:cNvSpPr txBox="1"/>
          <p:nvPr/>
        </p:nvSpPr>
        <p:spPr>
          <a:xfrm>
            <a:off x="6665976" y="4928616"/>
            <a:ext cx="4882896" cy="365760"/>
          </a:xfrm>
          <a:prstGeom prst="rect">
            <a:avLst/>
          </a:prstGeom>
          <a:noFill/>
          <a:ln/>
        </p:spPr>
        <p:txBody>
          <a:bodyPr wrap="square" lIns="0" tIns="0" rIns="0" bIns="0" rtlCol="0" anchor="ctr"/>
          <a:lstStyle/>
          <a:p>
            <a:pPr indent="0" marL="0">
              <a:buNone/>
            </a:pPr>
            <a:r>
              <a:rPr lang="en-US" sz="1150" b="1" dirty="0">
                <a:solidFill>
                  <a:srgbClr val="5A5A5A"/>
                </a:solidFill>
                <a:latin typeface="Arial" pitchFamily="34" charset="0"/>
                <a:ea typeface="Arial" pitchFamily="34" charset="-122"/>
                <a:cs typeface="Arial" pitchFamily="34" charset="-120"/>
              </a:rPr>
              <a:t>If nobody answers, it goes to</a:t>
            </a:r>
            <a:endParaRPr lang="en-US" sz="1150" dirty="0"/>
          </a:p>
        </p:txBody>
      </p:sp>
      <p:sp>
        <p:nvSpPr>
          <p:cNvPr id="34" name="Text 24"/>
          <p:cNvSpPr txBox="1"/>
          <p:nvPr/>
        </p:nvSpPr>
        <p:spPr>
          <a:xfrm>
            <a:off x="6300216" y="5312664"/>
            <a:ext cx="5202936" cy="502920"/>
          </a:xfrm>
          <a:prstGeom prst="rect">
            <a:avLst/>
          </a:prstGeom>
          <a:noFill/>
          <a:ln/>
        </p:spPr>
        <p:txBody>
          <a:bodyPr wrap="square" lIns="0" tIns="0" rIns="0" bIns="0" rtlCol="0" anchor="t"/>
          <a:lstStyle/>
          <a:p>
            <a:pPr indent="0" marL="0">
              <a:buNone/>
            </a:pPr>
            <a:r>
              <a:rPr lang="en-US" sz="1400" b="1" dirty="0">
                <a:solidFill>
                  <a:srgbClr val="1F2A33"/>
                </a:solidFill>
                <a:latin typeface="Arial" pitchFamily="34" charset="0"/>
                <a:ea typeface="Arial" pitchFamily="34" charset="-122"/>
                <a:cs typeface="Arial" pitchFamily="34" charset="-120"/>
              </a:rPr>
              <a:t>Resourcing lead</a:t>
            </a:r>
            <a:endParaRPr lang="en-US" sz="1400" dirty="0"/>
          </a:p>
        </p:txBody>
      </p:sp>
      <p:sp>
        <p:nvSpPr>
          <p:cNvPr id="35" name="Shape 25"/>
          <p:cNvSpPr/>
          <p:nvPr/>
        </p:nvSpPr>
        <p:spPr>
          <a:xfrm>
            <a:off x="8229600" y="6080760"/>
            <a:ext cx="3410712" cy="329184"/>
          </a:xfrm>
          <a:prstGeom prst="roundRect">
            <a:avLst>
              <a:gd name="adj" fmla="val 50000"/>
            </a:avLst>
          </a:prstGeom>
          <a:solidFill>
            <a:srgbClr val="FDF3E1"/>
          </a:solidFill>
          <a:ln/>
        </p:spPr>
      </p:sp>
      <p:sp>
        <p:nvSpPr>
          <p:cNvPr id="36" name="Text 26"/>
          <p:cNvSpPr txBox="1"/>
          <p:nvPr/>
        </p:nvSpPr>
        <p:spPr>
          <a:xfrm>
            <a:off x="8229600" y="6080760"/>
            <a:ext cx="3410712" cy="329184"/>
          </a:xfrm>
          <a:prstGeom prst="rect">
            <a:avLst/>
          </a:prstGeom>
          <a:noFill/>
          <a:ln/>
        </p:spPr>
        <p:txBody>
          <a:bodyPr wrap="square" lIns="0" tIns="0" rIns="0" bIns="0" rtlCol="0" anchor="ctr"/>
          <a:lstStyle/>
          <a:p>
            <a:pPr algn="ctr" indent="0" marL="0">
              <a:buNone/>
            </a:pPr>
            <a:r>
              <a:rPr lang="en-US" sz="1050" b="1" dirty="0">
                <a:solidFill>
                  <a:srgbClr val="C98A1A"/>
                </a:solidFill>
                <a:latin typeface="Arial" pitchFamily="34" charset="0"/>
                <a:ea typeface="Arial" pitchFamily="34" charset="-122"/>
                <a:cs typeface="Arial" pitchFamily="34" charset="-120"/>
              </a:rPr>
              <a:t>Example values: to agree in the room</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DEFINE HOW IT SHOULD WORK: DECISIONS AND EVIDENCE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Where the evidence lives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13:15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79</a:t>
            </a:r>
            <a:endParaRPr lang="en-US" sz="1000" dirty="0"/>
          </a:p>
        </p:txBody>
      </p:sp>
      <p:sp>
        <p:nvSpPr>
          <p:cNvPr id="7" name="Shape 4"/>
          <p:cNvSpPr/>
          <p:nvPr/>
        </p:nvSpPr>
        <p:spPr>
          <a:xfrm>
            <a:off x="5257800" y="2788920"/>
            <a:ext cx="1645920" cy="1645920"/>
          </a:xfrm>
          <a:prstGeom prst="ellipse">
            <a:avLst/>
          </a:prstGeom>
          <a:solidFill>
            <a:srgbClr val="FF462D"/>
          </a:solidFill>
          <a:ln/>
        </p:spPr>
      </p:sp>
      <p:pic>
        <p:nvPicPr>
          <p:cNvPr id="8" name="Image 1" descr="/private/tmp/claude-501/-Users-salehhamed-Outcome-Engine/91861432-41e2-4884-bc97-63c6dff2d021/scratchpad/wk/icons/TbFileSearch-white.png">    </p:cNvPr>
          <p:cNvPicPr>
            <a:picLocks noChangeAspect="1"/>
          </p:cNvPicPr>
          <p:nvPr/>
        </p:nvPicPr>
        <p:blipFill>
          <a:blip r:embed="rId4"/>
          <a:stretch>
            <a:fillRect/>
          </a:stretch>
        </p:blipFill>
        <p:spPr>
          <a:xfrm>
            <a:off x="5586984" y="3118104"/>
            <a:ext cx="987552" cy="987552"/>
          </a:xfrm>
          <a:prstGeom prst="rect">
            <a:avLst/>
          </a:prstGeom>
        </p:spPr>
      </p:pic>
      <p:sp>
        <p:nvSpPr>
          <p:cNvPr id="9" name="Text 5"/>
          <p:cNvSpPr txBox="1"/>
          <p:nvPr/>
        </p:nvSpPr>
        <p:spPr>
          <a:xfrm>
            <a:off x="4800600" y="4526280"/>
            <a:ext cx="2560320" cy="411480"/>
          </a:xfrm>
          <a:prstGeom prst="rect">
            <a:avLst/>
          </a:prstGeom>
          <a:noFill/>
          <a:ln/>
        </p:spPr>
        <p:txBody>
          <a:bodyPr wrap="square" lIns="0" tIns="0" rIns="0" bIns="0" rtlCol="0" anchor="t"/>
          <a:lstStyle/>
          <a:p>
            <a:pPr algn="ctr" indent="0" marL="0">
              <a:buNone/>
            </a:pPr>
            <a:r>
              <a:rPr lang="en-US" sz="1500" b="1" dirty="0">
                <a:solidFill>
                  <a:srgbClr val="FF462D"/>
                </a:solidFill>
                <a:latin typeface="Arial" pitchFamily="34" charset="0"/>
                <a:ea typeface="Arial" pitchFamily="34" charset="-122"/>
                <a:cs typeface="Arial" pitchFamily="34" charset="-120"/>
              </a:rPr>
              <a:t>The evidence</a:t>
            </a:r>
            <a:endParaRPr lang="en-US" sz="1500" dirty="0"/>
          </a:p>
        </p:txBody>
      </p:sp>
      <p:sp>
        <p:nvSpPr>
          <p:cNvPr id="10" name="Shape 6"/>
          <p:cNvSpPr/>
          <p:nvPr/>
        </p:nvSpPr>
        <p:spPr>
          <a:xfrm>
            <a:off x="548640" y="1508760"/>
            <a:ext cx="3822192" cy="1325880"/>
          </a:xfrm>
          <a:prstGeom prst="roundRect">
            <a:avLst>
              <a:gd name="adj" fmla="val 5517"/>
            </a:avLst>
          </a:prstGeom>
          <a:solidFill>
            <a:srgbClr val="FFFFFF"/>
          </a:solidFill>
          <a:ln w="12700">
            <a:solidFill>
              <a:srgbClr val="D9DEE2"/>
            </a:solidFill>
            <a:prstDash val="solid"/>
          </a:ln>
        </p:spPr>
      </p:sp>
      <p:pic>
        <p:nvPicPr>
          <p:cNvPr id="11" name="Image 2" descr="/private/tmp/claude-501/-Users-salehhamed-Outcome-Engine/91861432-41e2-4884-bc97-63c6dff2d021/scratchpad/wk/icons/TbBuildingSkyscraper-teal.png">    </p:cNvPr>
          <p:cNvPicPr>
            <a:picLocks noChangeAspect="1"/>
          </p:cNvPicPr>
          <p:nvPr/>
        </p:nvPicPr>
        <p:blipFill>
          <a:blip r:embed="rId5"/>
          <a:stretch>
            <a:fillRect/>
          </a:stretch>
        </p:blipFill>
        <p:spPr>
          <a:xfrm>
            <a:off x="731520" y="1783080"/>
            <a:ext cx="731520" cy="731520"/>
          </a:xfrm>
          <a:prstGeom prst="rect">
            <a:avLst/>
          </a:prstGeom>
        </p:spPr>
      </p:pic>
      <p:sp>
        <p:nvSpPr>
          <p:cNvPr id="12" name="Text 7"/>
          <p:cNvSpPr txBox="1"/>
          <p:nvPr/>
        </p:nvSpPr>
        <p:spPr>
          <a:xfrm>
            <a:off x="1645920" y="1645920"/>
            <a:ext cx="2606040"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Atlas</a:t>
            </a:r>
            <a:endParaRPr lang="en-US" sz="1700" dirty="0"/>
          </a:p>
        </p:txBody>
      </p:sp>
      <p:sp>
        <p:nvSpPr>
          <p:cNvPr id="13" name="Text 8"/>
          <p:cNvSpPr txBox="1"/>
          <p:nvPr/>
        </p:nvSpPr>
        <p:spPr>
          <a:xfrm>
            <a:off x="1645920" y="2103120"/>
            <a:ext cx="2606040" cy="640080"/>
          </a:xfrm>
          <a:prstGeom prst="rect">
            <a:avLst/>
          </a:prstGeom>
          <a:noFill/>
          <a:ln/>
        </p:spPr>
        <p:txBody>
          <a:bodyPr wrap="square" lIns="0" tIns="0" rIns="0" bIns="0" rtlCol="0" anchor="t"/>
          <a:lstStyle/>
          <a:p>
            <a:pPr indent="0" marL="0">
              <a:buNone/>
            </a:pPr>
            <a:r>
              <a:rPr lang="en-US" sz="1250" dirty="0">
                <a:solidFill>
                  <a:srgbClr val="5A5A5A"/>
                </a:solidFill>
                <a:latin typeface="Arial" pitchFamily="34" charset="0"/>
                <a:ea typeface="Arial" pitchFamily="34" charset="-122"/>
                <a:cs typeface="Arial" pitchFamily="34" charset="-120"/>
              </a:rPr>
              <a:t>Deals, stages and win chances</a:t>
            </a:r>
            <a:endParaRPr lang="en-US" sz="1250" dirty="0"/>
          </a:p>
        </p:txBody>
      </p:sp>
      <p:sp>
        <p:nvSpPr>
          <p:cNvPr id="14" name="Shape 9"/>
          <p:cNvSpPr/>
          <p:nvPr/>
        </p:nvSpPr>
        <p:spPr>
          <a:xfrm>
            <a:off x="4370832" y="2167128"/>
            <a:ext cx="886968" cy="1444752"/>
          </a:xfrm>
          <a:prstGeom prst="line">
            <a:avLst/>
          </a:prstGeom>
          <a:noFill/>
          <a:ln w="19050">
            <a:solidFill>
              <a:srgbClr val="D9DEE2"/>
            </a:solidFill>
            <a:prstDash val="solid"/>
          </a:ln>
        </p:spPr>
      </p:sp>
      <p:sp>
        <p:nvSpPr>
          <p:cNvPr id="15" name="Shape 10"/>
          <p:cNvSpPr/>
          <p:nvPr/>
        </p:nvSpPr>
        <p:spPr>
          <a:xfrm>
            <a:off x="548640" y="3017520"/>
            <a:ext cx="3822192" cy="1325880"/>
          </a:xfrm>
          <a:prstGeom prst="roundRect">
            <a:avLst>
              <a:gd name="adj" fmla="val 5517"/>
            </a:avLst>
          </a:prstGeom>
          <a:solidFill>
            <a:srgbClr val="FFFFFF"/>
          </a:solidFill>
          <a:ln w="12700">
            <a:solidFill>
              <a:srgbClr val="D9DEE2"/>
            </a:solidFill>
            <a:prstDash val="solid"/>
          </a:ln>
        </p:spPr>
      </p:sp>
      <p:pic>
        <p:nvPicPr>
          <p:cNvPr id="16" name="Image 3" descr="/private/tmp/claude-501/-Users-salehhamed-Outcome-Engine/91861432-41e2-4884-bc97-63c6dff2d021/scratchpad/wk/icons/TbCalculator-teal.png">    </p:cNvPr>
          <p:cNvPicPr>
            <a:picLocks noChangeAspect="1"/>
          </p:cNvPicPr>
          <p:nvPr/>
        </p:nvPicPr>
        <p:blipFill>
          <a:blip r:embed="rId6"/>
          <a:stretch>
            <a:fillRect/>
          </a:stretch>
        </p:blipFill>
        <p:spPr>
          <a:xfrm>
            <a:off x="731520" y="3291840"/>
            <a:ext cx="731520" cy="731520"/>
          </a:xfrm>
          <a:prstGeom prst="rect">
            <a:avLst/>
          </a:prstGeom>
        </p:spPr>
      </p:pic>
      <p:sp>
        <p:nvSpPr>
          <p:cNvPr id="17" name="Text 11"/>
          <p:cNvSpPr txBox="1"/>
          <p:nvPr/>
        </p:nvSpPr>
        <p:spPr>
          <a:xfrm>
            <a:off x="1645920" y="3154680"/>
            <a:ext cx="2606040"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SDM</a:t>
            </a:r>
            <a:endParaRPr lang="en-US" sz="1700" dirty="0"/>
          </a:p>
        </p:txBody>
      </p:sp>
      <p:sp>
        <p:nvSpPr>
          <p:cNvPr id="18" name="Text 12"/>
          <p:cNvSpPr txBox="1"/>
          <p:nvPr/>
        </p:nvSpPr>
        <p:spPr>
          <a:xfrm>
            <a:off x="1645920" y="3611880"/>
            <a:ext cx="2606040" cy="640080"/>
          </a:xfrm>
          <a:prstGeom prst="rect">
            <a:avLst/>
          </a:prstGeom>
          <a:noFill/>
          <a:ln/>
        </p:spPr>
        <p:txBody>
          <a:bodyPr wrap="square" lIns="0" tIns="0" rIns="0" bIns="0" rtlCol="0" anchor="t"/>
          <a:lstStyle/>
          <a:p>
            <a:pPr indent="0" marL="0">
              <a:buNone/>
            </a:pPr>
            <a:r>
              <a:rPr lang="en-US" sz="1250" dirty="0">
                <a:solidFill>
                  <a:srgbClr val="5A5A5A"/>
                </a:solidFill>
                <a:latin typeface="Arial" pitchFamily="34" charset="0"/>
                <a:ea typeface="Arial" pitchFamily="34" charset="-122"/>
                <a:cs typeface="Arial" pitchFamily="34" charset="-120"/>
              </a:rPr>
              <a:t>The cost case: people, bands and FTE</a:t>
            </a:r>
            <a:endParaRPr lang="en-US" sz="1250" dirty="0"/>
          </a:p>
        </p:txBody>
      </p:sp>
      <p:sp>
        <p:nvSpPr>
          <p:cNvPr id="19" name="Shape 13"/>
          <p:cNvSpPr/>
          <p:nvPr/>
        </p:nvSpPr>
        <p:spPr>
          <a:xfrm flipV="1">
            <a:off x="4370832" y="3611880"/>
            <a:ext cx="886968" cy="64008"/>
          </a:xfrm>
          <a:prstGeom prst="line">
            <a:avLst/>
          </a:prstGeom>
          <a:noFill/>
          <a:ln w="19050">
            <a:solidFill>
              <a:srgbClr val="D9DEE2"/>
            </a:solidFill>
            <a:prstDash val="solid"/>
          </a:ln>
        </p:spPr>
      </p:sp>
      <p:sp>
        <p:nvSpPr>
          <p:cNvPr id="20" name="Shape 14"/>
          <p:cNvSpPr/>
          <p:nvPr/>
        </p:nvSpPr>
        <p:spPr>
          <a:xfrm>
            <a:off x="548640" y="4526280"/>
            <a:ext cx="3822192" cy="1325880"/>
          </a:xfrm>
          <a:prstGeom prst="roundRect">
            <a:avLst>
              <a:gd name="adj" fmla="val 5517"/>
            </a:avLst>
          </a:prstGeom>
          <a:solidFill>
            <a:srgbClr val="FFFFFF"/>
          </a:solidFill>
          <a:ln w="12700">
            <a:solidFill>
              <a:srgbClr val="D9DEE2"/>
            </a:solidFill>
            <a:prstDash val="solid"/>
          </a:ln>
        </p:spPr>
      </p:sp>
      <p:pic>
        <p:nvPicPr>
          <p:cNvPr id="21" name="Image 4" descr="/private/tmp/claude-501/-Users-salehhamed-Outcome-Engine/91861432-41e2-4884-bc97-63c6dff2d021/scratchpad/wk/icons/TbUsers-teal.png">    </p:cNvPr>
          <p:cNvPicPr>
            <a:picLocks noChangeAspect="1"/>
          </p:cNvPicPr>
          <p:nvPr/>
        </p:nvPicPr>
        <p:blipFill>
          <a:blip r:embed="rId7"/>
          <a:stretch>
            <a:fillRect/>
          </a:stretch>
        </p:blipFill>
        <p:spPr>
          <a:xfrm>
            <a:off x="731520" y="4800600"/>
            <a:ext cx="731520" cy="731520"/>
          </a:xfrm>
          <a:prstGeom prst="rect">
            <a:avLst/>
          </a:prstGeom>
        </p:spPr>
      </p:pic>
      <p:sp>
        <p:nvSpPr>
          <p:cNvPr id="22" name="Text 15"/>
          <p:cNvSpPr txBox="1"/>
          <p:nvPr/>
        </p:nvSpPr>
        <p:spPr>
          <a:xfrm>
            <a:off x="1645920" y="4663440"/>
            <a:ext cx="2606040"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Workday</a:t>
            </a:r>
            <a:endParaRPr lang="en-US" sz="1700" dirty="0"/>
          </a:p>
        </p:txBody>
      </p:sp>
      <p:sp>
        <p:nvSpPr>
          <p:cNvPr id="23" name="Text 16"/>
          <p:cNvSpPr txBox="1"/>
          <p:nvPr/>
        </p:nvSpPr>
        <p:spPr>
          <a:xfrm>
            <a:off x="1645920" y="5120640"/>
            <a:ext cx="2606040" cy="640080"/>
          </a:xfrm>
          <a:prstGeom prst="rect">
            <a:avLst/>
          </a:prstGeom>
          <a:noFill/>
          <a:ln/>
        </p:spPr>
        <p:txBody>
          <a:bodyPr wrap="square" lIns="0" tIns="0" rIns="0" bIns="0" rtlCol="0" anchor="t"/>
          <a:lstStyle/>
          <a:p>
            <a:pPr indent="0" marL="0">
              <a:buNone/>
            </a:pPr>
            <a:r>
              <a:rPr lang="en-US" sz="1250" dirty="0">
                <a:solidFill>
                  <a:srgbClr val="5A5A5A"/>
                </a:solidFill>
                <a:latin typeface="Arial" pitchFamily="34" charset="0"/>
                <a:ea typeface="Arial" pitchFamily="34" charset="-122"/>
                <a:cs typeface="Arial" pitchFamily="34" charset="-120"/>
              </a:rPr>
              <a:t>People, skills, staffing requests, assignments</a:t>
            </a:r>
            <a:endParaRPr lang="en-US" sz="1250" dirty="0"/>
          </a:p>
        </p:txBody>
      </p:sp>
      <p:sp>
        <p:nvSpPr>
          <p:cNvPr id="24" name="Shape 17"/>
          <p:cNvSpPr/>
          <p:nvPr/>
        </p:nvSpPr>
        <p:spPr>
          <a:xfrm flipV="1">
            <a:off x="4370832" y="3611880"/>
            <a:ext cx="886968" cy="1572768"/>
          </a:xfrm>
          <a:prstGeom prst="line">
            <a:avLst/>
          </a:prstGeom>
          <a:noFill/>
          <a:ln w="19050">
            <a:solidFill>
              <a:srgbClr val="D9DEE2"/>
            </a:solidFill>
            <a:prstDash val="solid"/>
          </a:ln>
        </p:spPr>
      </p:sp>
      <p:sp>
        <p:nvSpPr>
          <p:cNvPr id="25" name="Shape 18"/>
          <p:cNvSpPr/>
          <p:nvPr/>
        </p:nvSpPr>
        <p:spPr>
          <a:xfrm>
            <a:off x="7818120" y="1508760"/>
            <a:ext cx="3822192" cy="1325880"/>
          </a:xfrm>
          <a:prstGeom prst="roundRect">
            <a:avLst>
              <a:gd name="adj" fmla="val 5517"/>
            </a:avLst>
          </a:prstGeom>
          <a:solidFill>
            <a:srgbClr val="FFFFFF"/>
          </a:solidFill>
          <a:ln w="12700">
            <a:solidFill>
              <a:srgbClr val="D9DEE2"/>
            </a:solidFill>
            <a:prstDash val="solid"/>
          </a:ln>
        </p:spPr>
      </p:sp>
      <p:pic>
        <p:nvPicPr>
          <p:cNvPr id="26" name="Image 5" descr="/private/tmp/claude-501/-Users-salehhamed-Outcome-Engine/91861432-41e2-4884-bc97-63c6dff2d021/scratchpad/wk/icons/TbUserSearch-teal.png">    </p:cNvPr>
          <p:cNvPicPr>
            <a:picLocks noChangeAspect="1"/>
          </p:cNvPicPr>
          <p:nvPr/>
        </p:nvPicPr>
        <p:blipFill>
          <a:blip r:embed="rId8"/>
          <a:stretch>
            <a:fillRect/>
          </a:stretch>
        </p:blipFill>
        <p:spPr>
          <a:xfrm>
            <a:off x="8001000" y="1783080"/>
            <a:ext cx="731520" cy="731520"/>
          </a:xfrm>
          <a:prstGeom prst="rect">
            <a:avLst/>
          </a:prstGeom>
        </p:spPr>
      </p:pic>
      <p:sp>
        <p:nvSpPr>
          <p:cNvPr id="27" name="Text 19"/>
          <p:cNvSpPr txBox="1"/>
          <p:nvPr/>
        </p:nvSpPr>
        <p:spPr>
          <a:xfrm>
            <a:off x="8915400" y="1645920"/>
            <a:ext cx="2606040"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Kortex</a:t>
            </a:r>
            <a:endParaRPr lang="en-US" sz="1700" dirty="0"/>
          </a:p>
        </p:txBody>
      </p:sp>
      <p:sp>
        <p:nvSpPr>
          <p:cNvPr id="28" name="Text 20"/>
          <p:cNvSpPr txBox="1"/>
          <p:nvPr/>
        </p:nvSpPr>
        <p:spPr>
          <a:xfrm>
            <a:off x="8915400" y="2103120"/>
            <a:ext cx="2606040" cy="640080"/>
          </a:xfrm>
          <a:prstGeom prst="rect">
            <a:avLst/>
          </a:prstGeom>
          <a:noFill/>
          <a:ln/>
        </p:spPr>
        <p:txBody>
          <a:bodyPr wrap="square" lIns="0" tIns="0" rIns="0" bIns="0" rtlCol="0" anchor="t"/>
          <a:lstStyle/>
          <a:p>
            <a:pPr indent="0" marL="0">
              <a:buNone/>
            </a:pPr>
            <a:r>
              <a:rPr lang="en-US" sz="1250" dirty="0">
                <a:solidFill>
                  <a:srgbClr val="5A5A5A"/>
                </a:solidFill>
                <a:latin typeface="Arial" pitchFamily="34" charset="0"/>
                <a:ea typeface="Arial" pitchFamily="34" charset="-122"/>
                <a:cs typeface="Arial" pitchFamily="34" charset="-120"/>
              </a:rPr>
              <a:t>Shortlists of internal candidates</a:t>
            </a:r>
            <a:endParaRPr lang="en-US" sz="1250" dirty="0"/>
          </a:p>
        </p:txBody>
      </p:sp>
      <p:sp>
        <p:nvSpPr>
          <p:cNvPr id="29" name="Shape 21"/>
          <p:cNvSpPr/>
          <p:nvPr/>
        </p:nvSpPr>
        <p:spPr>
          <a:xfrm flipH="1">
            <a:off x="6903720" y="2167128"/>
            <a:ext cx="914400" cy="1444752"/>
          </a:xfrm>
          <a:prstGeom prst="line">
            <a:avLst/>
          </a:prstGeom>
          <a:noFill/>
          <a:ln w="19050">
            <a:solidFill>
              <a:srgbClr val="D9DEE2"/>
            </a:solidFill>
            <a:prstDash val="solid"/>
          </a:ln>
        </p:spPr>
      </p:sp>
      <p:sp>
        <p:nvSpPr>
          <p:cNvPr id="30" name="Shape 22"/>
          <p:cNvSpPr/>
          <p:nvPr/>
        </p:nvSpPr>
        <p:spPr>
          <a:xfrm>
            <a:off x="7818120" y="3017520"/>
            <a:ext cx="3822192" cy="1325880"/>
          </a:xfrm>
          <a:prstGeom prst="roundRect">
            <a:avLst>
              <a:gd name="adj" fmla="val 5517"/>
            </a:avLst>
          </a:prstGeom>
          <a:solidFill>
            <a:srgbClr val="FFFFFF"/>
          </a:solidFill>
          <a:ln w="12700">
            <a:solidFill>
              <a:srgbClr val="D9DEE2"/>
            </a:solidFill>
            <a:prstDash val="solid"/>
          </a:ln>
        </p:spPr>
      </p:sp>
      <p:pic>
        <p:nvPicPr>
          <p:cNvPr id="31" name="Image 6" descr="/private/tmp/claude-501/-Users-salehhamed-Outcome-Engine/91861432-41e2-4884-bc97-63c6dff2d021/scratchpad/wk/icons/TbSignature-teal.png">    </p:cNvPr>
          <p:cNvPicPr>
            <a:picLocks noChangeAspect="1"/>
          </p:cNvPicPr>
          <p:nvPr/>
        </p:nvPicPr>
        <p:blipFill>
          <a:blip r:embed="rId9"/>
          <a:stretch>
            <a:fillRect/>
          </a:stretch>
        </p:blipFill>
        <p:spPr>
          <a:xfrm>
            <a:off x="8001000" y="3291840"/>
            <a:ext cx="731520" cy="731520"/>
          </a:xfrm>
          <a:prstGeom prst="rect">
            <a:avLst/>
          </a:prstGeom>
        </p:spPr>
      </p:pic>
      <p:sp>
        <p:nvSpPr>
          <p:cNvPr id="32" name="Text 23"/>
          <p:cNvSpPr txBox="1"/>
          <p:nvPr/>
        </p:nvSpPr>
        <p:spPr>
          <a:xfrm>
            <a:off x="8915400" y="3154680"/>
            <a:ext cx="2606040"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iCertis and SAP</a:t>
            </a:r>
            <a:endParaRPr lang="en-US" sz="1700" dirty="0"/>
          </a:p>
        </p:txBody>
      </p:sp>
      <p:sp>
        <p:nvSpPr>
          <p:cNvPr id="33" name="Text 24"/>
          <p:cNvSpPr txBox="1"/>
          <p:nvPr/>
        </p:nvSpPr>
        <p:spPr>
          <a:xfrm>
            <a:off x="8915400" y="3611880"/>
            <a:ext cx="2606040" cy="640080"/>
          </a:xfrm>
          <a:prstGeom prst="rect">
            <a:avLst/>
          </a:prstGeom>
          <a:noFill/>
          <a:ln/>
        </p:spPr>
        <p:txBody>
          <a:bodyPr wrap="square" lIns="0" tIns="0" rIns="0" bIns="0" rtlCol="0" anchor="t"/>
          <a:lstStyle/>
          <a:p>
            <a:pPr indent="0" marL="0">
              <a:buNone/>
            </a:pPr>
            <a:r>
              <a:rPr lang="en-US" sz="1250" dirty="0">
                <a:solidFill>
                  <a:srgbClr val="5A5A5A"/>
                </a:solidFill>
                <a:latin typeface="Arial" pitchFamily="34" charset="0"/>
                <a:ea typeface="Arial" pitchFamily="34" charset="-122"/>
                <a:cs typeface="Arial" pitchFamily="34" charset="-120"/>
              </a:rPr>
              <a:t>Contracts and signed deals</a:t>
            </a:r>
            <a:endParaRPr lang="en-US" sz="1250" dirty="0"/>
          </a:p>
        </p:txBody>
      </p:sp>
      <p:sp>
        <p:nvSpPr>
          <p:cNvPr id="34" name="Shape 25"/>
          <p:cNvSpPr/>
          <p:nvPr/>
        </p:nvSpPr>
        <p:spPr>
          <a:xfrm flipH="1" flipV="1">
            <a:off x="6903720" y="3611880"/>
            <a:ext cx="914400" cy="64008"/>
          </a:xfrm>
          <a:prstGeom prst="line">
            <a:avLst/>
          </a:prstGeom>
          <a:noFill/>
          <a:ln w="19050">
            <a:solidFill>
              <a:srgbClr val="D9DEE2"/>
            </a:solidFill>
            <a:prstDash val="solid"/>
          </a:ln>
        </p:spPr>
      </p:sp>
      <p:sp>
        <p:nvSpPr>
          <p:cNvPr id="35" name="Shape 26"/>
          <p:cNvSpPr/>
          <p:nvPr/>
        </p:nvSpPr>
        <p:spPr>
          <a:xfrm>
            <a:off x="7818120" y="4526280"/>
            <a:ext cx="3822192" cy="1325880"/>
          </a:xfrm>
          <a:prstGeom prst="roundRect">
            <a:avLst>
              <a:gd name="adj" fmla="val 5517"/>
            </a:avLst>
          </a:prstGeom>
          <a:solidFill>
            <a:srgbClr val="FDF3E1"/>
          </a:solidFill>
          <a:ln w="12700">
            <a:solidFill>
              <a:srgbClr val="C98A1A"/>
            </a:solidFill>
            <a:prstDash val="solid"/>
          </a:ln>
        </p:spPr>
      </p:sp>
      <p:pic>
        <p:nvPicPr>
          <p:cNvPr id="36" name="Image 7" descr="/private/tmp/claude-501/-Users-salehhamed-Outcome-Engine/91861432-41e2-4884-bc97-63c6dff2d021/scratchpad/wk/icons/TbMessages-amber.png">    </p:cNvPr>
          <p:cNvPicPr>
            <a:picLocks noChangeAspect="1"/>
          </p:cNvPicPr>
          <p:nvPr/>
        </p:nvPicPr>
        <p:blipFill>
          <a:blip r:embed="rId10"/>
          <a:stretch>
            <a:fillRect/>
          </a:stretch>
        </p:blipFill>
        <p:spPr>
          <a:xfrm>
            <a:off x="8001000" y="4800600"/>
            <a:ext cx="731520" cy="731520"/>
          </a:xfrm>
          <a:prstGeom prst="rect">
            <a:avLst/>
          </a:prstGeom>
        </p:spPr>
      </p:pic>
      <p:sp>
        <p:nvSpPr>
          <p:cNvPr id="37" name="Text 27"/>
          <p:cNvSpPr txBox="1"/>
          <p:nvPr/>
        </p:nvSpPr>
        <p:spPr>
          <a:xfrm>
            <a:off x="8915400" y="4663440"/>
            <a:ext cx="2606040"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People</a:t>
            </a:r>
            <a:endParaRPr lang="en-US" sz="1700" dirty="0"/>
          </a:p>
        </p:txBody>
      </p:sp>
      <p:sp>
        <p:nvSpPr>
          <p:cNvPr id="38" name="Text 28"/>
          <p:cNvSpPr txBox="1"/>
          <p:nvPr/>
        </p:nvSpPr>
        <p:spPr>
          <a:xfrm>
            <a:off x="8915400" y="5120640"/>
            <a:ext cx="2606040" cy="640080"/>
          </a:xfrm>
          <a:prstGeom prst="rect">
            <a:avLst/>
          </a:prstGeom>
          <a:noFill/>
          <a:ln/>
        </p:spPr>
        <p:txBody>
          <a:bodyPr wrap="square" lIns="0" tIns="0" rIns="0" bIns="0" rtlCol="0" anchor="t"/>
          <a:lstStyle/>
          <a:p>
            <a:pPr indent="0" marL="0">
              <a:buNone/>
            </a:pPr>
            <a:r>
              <a:rPr lang="en-US" sz="1250" dirty="0">
                <a:solidFill>
                  <a:srgbClr val="5A5A5A"/>
                </a:solidFill>
                <a:latin typeface="Arial" pitchFamily="34" charset="0"/>
                <a:ea typeface="Arial" pitchFamily="34" charset="-122"/>
                <a:cs typeface="Arial" pitchFamily="34" charset="-120"/>
              </a:rPr>
              <a:t>Managers know real workload and release</a:t>
            </a:r>
            <a:endParaRPr lang="en-US" sz="1250" dirty="0"/>
          </a:p>
        </p:txBody>
      </p:sp>
      <p:sp>
        <p:nvSpPr>
          <p:cNvPr id="39" name="Shape 29"/>
          <p:cNvSpPr/>
          <p:nvPr/>
        </p:nvSpPr>
        <p:spPr>
          <a:xfrm flipH="1" flipV="1">
            <a:off x="6903720" y="3611880"/>
            <a:ext cx="914400" cy="1572768"/>
          </a:xfrm>
          <a:prstGeom prst="line">
            <a:avLst/>
          </a:prstGeom>
          <a:noFill/>
          <a:ln w="19050">
            <a:solidFill>
              <a:srgbClr val="D9DEE2"/>
            </a:solidFill>
            <a:prstDash val="solid"/>
          </a:ln>
        </p:spPr>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name="Slide 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DEFINE HOW IT SHOULD WORK: DECISIONS AND EVIDENCE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Three ways to run this session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13:15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80</a:t>
            </a:r>
            <a:endParaRPr lang="en-US" sz="1000" dirty="0"/>
          </a:p>
        </p:txBody>
      </p:sp>
      <p:sp>
        <p:nvSpPr>
          <p:cNvPr id="7" name="Shape 4"/>
          <p:cNvSpPr/>
          <p:nvPr/>
        </p:nvSpPr>
        <p:spPr>
          <a:xfrm>
            <a:off x="548640" y="1463040"/>
            <a:ext cx="3566160" cy="4663440"/>
          </a:xfrm>
          <a:prstGeom prst="roundRect">
            <a:avLst>
              <a:gd name="adj" fmla="val 2051"/>
            </a:avLst>
          </a:prstGeom>
          <a:solidFill>
            <a:srgbClr val="FFFFFF"/>
          </a:solidFill>
          <a:ln w="12700">
            <a:solidFill>
              <a:srgbClr val="D9DEE2"/>
            </a:solidFill>
            <a:prstDash val="solid"/>
          </a:ln>
        </p:spPr>
      </p:sp>
      <p:sp>
        <p:nvSpPr>
          <p:cNvPr id="8" name="Shape 5"/>
          <p:cNvSpPr/>
          <p:nvPr/>
        </p:nvSpPr>
        <p:spPr>
          <a:xfrm>
            <a:off x="548640" y="1463040"/>
            <a:ext cx="3566160" cy="566928"/>
          </a:xfrm>
          <a:prstGeom prst="roundRect">
            <a:avLst>
              <a:gd name="adj" fmla="val 12903"/>
            </a:avLst>
          </a:prstGeom>
          <a:solidFill>
            <a:srgbClr val="287079"/>
          </a:solidFill>
          <a:ln/>
        </p:spPr>
      </p:sp>
      <p:sp>
        <p:nvSpPr>
          <p:cNvPr id="9" name="Shape 6"/>
          <p:cNvSpPr/>
          <p:nvPr/>
        </p:nvSpPr>
        <p:spPr>
          <a:xfrm>
            <a:off x="548640" y="1828800"/>
            <a:ext cx="3566160" cy="201168"/>
          </a:xfrm>
          <a:prstGeom prst="rect">
            <a:avLst/>
          </a:prstGeom>
          <a:solidFill>
            <a:srgbClr val="287079"/>
          </a:solidFill>
          <a:ln/>
        </p:spPr>
      </p:sp>
      <p:pic>
        <p:nvPicPr>
          <p:cNvPr id="10" name="Image 1" descr="/private/tmp/claude-501/-Users-salehhamed-Outcome-Engine/91861432-41e2-4884-bc97-63c6dff2d021/scratchpad/wk/icons/TbHandClick-white.png">    </p:cNvPr>
          <p:cNvPicPr>
            <a:picLocks noChangeAspect="1"/>
          </p:cNvPicPr>
          <p:nvPr/>
        </p:nvPicPr>
        <p:blipFill>
          <a:blip r:embed="rId4"/>
          <a:stretch>
            <a:fillRect/>
          </a:stretch>
        </p:blipFill>
        <p:spPr>
          <a:xfrm>
            <a:off x="713232" y="1554480"/>
            <a:ext cx="384048" cy="384048"/>
          </a:xfrm>
          <a:prstGeom prst="rect">
            <a:avLst/>
          </a:prstGeom>
        </p:spPr>
      </p:pic>
      <p:sp>
        <p:nvSpPr>
          <p:cNvPr id="11" name="Text 7"/>
          <p:cNvSpPr txBox="1"/>
          <p:nvPr/>
        </p:nvSpPr>
        <p:spPr>
          <a:xfrm>
            <a:off x="120700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A · HANDS-ON</a:t>
            </a:r>
            <a:endParaRPr lang="en-US" sz="1150" dirty="0"/>
          </a:p>
        </p:txBody>
      </p:sp>
      <p:sp>
        <p:nvSpPr>
          <p:cNvPr id="12" name="Text 8"/>
          <p:cNvSpPr txBox="1"/>
          <p:nvPr/>
        </p:nvSpPr>
        <p:spPr>
          <a:xfrm>
            <a:off x="77724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Decision cards</a:t>
            </a:r>
            <a:endParaRPr lang="en-US" sz="2100" dirty="0"/>
          </a:p>
        </p:txBody>
      </p:sp>
      <p:sp>
        <p:nvSpPr>
          <p:cNvPr id="13" name="Text 9"/>
          <p:cNvSpPr txBox="1"/>
          <p:nvPr/>
        </p:nvSpPr>
        <p:spPr>
          <a:xfrm>
            <a:off x="77724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Pairs fill one big decision card each, then a gallery walk settles them.</a:t>
            </a:r>
            <a:endParaRPr lang="en-US" sz="1400" dirty="0"/>
          </a:p>
        </p:txBody>
      </p:sp>
      <p:pic>
        <p:nvPicPr>
          <p:cNvPr id="14" name="Image 2" descr="/private/tmp/claude-501/-Users-salehhamed-Outcome-Engine/91861432-41e2-4884-bc97-63c6dff2d021/scratchpad/wk/icons/TbClock-grey.png">    </p:cNvPr>
          <p:cNvPicPr>
            <a:picLocks noChangeAspect="1"/>
          </p:cNvPicPr>
          <p:nvPr/>
        </p:nvPicPr>
        <p:blipFill>
          <a:blip r:embed="rId5"/>
          <a:stretch>
            <a:fillRect/>
          </a:stretch>
        </p:blipFill>
        <p:spPr>
          <a:xfrm>
            <a:off x="777240" y="4297680"/>
            <a:ext cx="274320" cy="274320"/>
          </a:xfrm>
          <a:prstGeom prst="rect">
            <a:avLst/>
          </a:prstGeom>
        </p:spPr>
      </p:pic>
      <p:sp>
        <p:nvSpPr>
          <p:cNvPr id="15" name="Text 10"/>
          <p:cNvSpPr txBox="1"/>
          <p:nvPr/>
        </p:nvSpPr>
        <p:spPr>
          <a:xfrm>
            <a:off x="114300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90 min</a:t>
            </a:r>
            <a:endParaRPr lang="en-US" sz="1200" dirty="0"/>
          </a:p>
        </p:txBody>
      </p:sp>
      <p:pic>
        <p:nvPicPr>
          <p:cNvPr id="16" name="Image 3" descr="/private/tmp/claude-501/-Users-salehhamed-Outcome-Engine/91861432-41e2-4884-bc97-63c6dff2d021/scratchpad/wk/icons/TbUsers-grey.png">    </p:cNvPr>
          <p:cNvPicPr>
            <a:picLocks noChangeAspect="1"/>
          </p:cNvPicPr>
          <p:nvPr/>
        </p:nvPicPr>
        <p:blipFill>
          <a:blip r:embed="rId6"/>
          <a:stretch>
            <a:fillRect/>
          </a:stretch>
        </p:blipFill>
        <p:spPr>
          <a:xfrm>
            <a:off x="777240" y="4681728"/>
            <a:ext cx="274320" cy="274320"/>
          </a:xfrm>
          <a:prstGeom prst="rect">
            <a:avLst/>
          </a:prstGeom>
        </p:spPr>
      </p:pic>
      <p:sp>
        <p:nvSpPr>
          <p:cNvPr id="17" name="Text 11"/>
          <p:cNvSpPr txBox="1"/>
          <p:nvPr/>
        </p:nvSpPr>
        <p:spPr>
          <a:xfrm>
            <a:off x="114300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Pairs, then whole room</a:t>
            </a:r>
            <a:endParaRPr lang="en-US" sz="1200" dirty="0"/>
          </a:p>
        </p:txBody>
      </p:sp>
      <p:pic>
        <p:nvPicPr>
          <p:cNvPr id="18" name="Image 4" descr="/private/tmp/claude-501/-Users-salehhamed-Outcome-Engine/91861432-41e2-4884-bc97-63c6dff2d021/scratchpad/wk/icons/TbGauge-grey.png">    </p:cNvPr>
          <p:cNvPicPr>
            <a:picLocks noChangeAspect="1"/>
          </p:cNvPicPr>
          <p:nvPr/>
        </p:nvPicPr>
        <p:blipFill>
          <a:blip r:embed="rId7"/>
          <a:stretch>
            <a:fillRect/>
          </a:stretch>
        </p:blipFill>
        <p:spPr>
          <a:xfrm>
            <a:off x="777240" y="5065776"/>
            <a:ext cx="274320" cy="274320"/>
          </a:xfrm>
          <a:prstGeom prst="rect">
            <a:avLst/>
          </a:prstGeom>
        </p:spPr>
      </p:pic>
      <p:sp>
        <p:nvSpPr>
          <p:cNvPr id="19" name="Text 12"/>
          <p:cNvSpPr txBox="1"/>
          <p:nvPr/>
        </p:nvSpPr>
        <p:spPr>
          <a:xfrm>
            <a:off x="114300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High energy</a:t>
            </a:r>
            <a:endParaRPr lang="en-US" sz="1200" dirty="0"/>
          </a:p>
        </p:txBody>
      </p:sp>
      <p:sp>
        <p:nvSpPr>
          <p:cNvPr id="20" name="Text 13"/>
          <p:cNvSpPr txBox="1"/>
          <p:nvPr/>
        </p:nvSpPr>
        <p:spPr>
          <a:xfrm>
            <a:off x="77724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You want detail on every decision and a room that moves.</a:t>
            </a:r>
            <a:endParaRPr lang="en-US" sz="1150" dirty="0"/>
          </a:p>
        </p:txBody>
      </p:sp>
      <p:pic>
        <p:nvPicPr>
          <p:cNvPr id="21" name="Image 5" descr="/private/tmp/claude-501/-Users-salehhamed-Outcome-Engine/91861432-41e2-4884-bc97-63c6dff2d021/scratchpad/wk/brand/clear.png">
            <a:hlinkClick r:id="rId9" tooltip="Option A" action="ppaction://hlinksldjump"/>
          </p:cNvPr>
          <p:cNvPicPr>
            <a:picLocks noChangeAspect="1"/>
          </p:cNvPicPr>
          <p:nvPr/>
        </p:nvPicPr>
        <p:blipFill>
          <a:blip r:embed="rId8"/>
          <a:stretch>
            <a:fillRect/>
          </a:stretch>
        </p:blipFill>
        <p:spPr>
          <a:xfrm>
            <a:off x="548640" y="1463040"/>
            <a:ext cx="3566160" cy="4663440"/>
          </a:xfrm>
          <a:prstGeom prst="rect">
            <a:avLst/>
          </a:prstGeom>
        </p:spPr>
      </p:pic>
      <p:sp>
        <p:nvSpPr>
          <p:cNvPr id="22" name="Shape 14"/>
          <p:cNvSpPr/>
          <p:nvPr/>
        </p:nvSpPr>
        <p:spPr>
          <a:xfrm>
            <a:off x="4297680" y="1463040"/>
            <a:ext cx="3566160" cy="4663440"/>
          </a:xfrm>
          <a:prstGeom prst="roundRect">
            <a:avLst>
              <a:gd name="adj" fmla="val 2051"/>
            </a:avLst>
          </a:prstGeom>
          <a:solidFill>
            <a:srgbClr val="FFFFFF"/>
          </a:solidFill>
          <a:ln w="12700">
            <a:solidFill>
              <a:srgbClr val="D9DEE2"/>
            </a:solidFill>
            <a:prstDash val="solid"/>
          </a:ln>
        </p:spPr>
      </p:sp>
      <p:sp>
        <p:nvSpPr>
          <p:cNvPr id="23" name="Shape 15"/>
          <p:cNvSpPr/>
          <p:nvPr/>
        </p:nvSpPr>
        <p:spPr>
          <a:xfrm>
            <a:off x="4297680" y="1463040"/>
            <a:ext cx="3566160" cy="566928"/>
          </a:xfrm>
          <a:prstGeom prst="roundRect">
            <a:avLst>
              <a:gd name="adj" fmla="val 12903"/>
            </a:avLst>
          </a:prstGeom>
          <a:solidFill>
            <a:srgbClr val="FF462D"/>
          </a:solidFill>
          <a:ln/>
        </p:spPr>
      </p:sp>
      <p:sp>
        <p:nvSpPr>
          <p:cNvPr id="24" name="Shape 16"/>
          <p:cNvSpPr/>
          <p:nvPr/>
        </p:nvSpPr>
        <p:spPr>
          <a:xfrm>
            <a:off x="4297680" y="1828800"/>
            <a:ext cx="3566160" cy="201168"/>
          </a:xfrm>
          <a:prstGeom prst="rect">
            <a:avLst/>
          </a:prstGeom>
          <a:solidFill>
            <a:srgbClr val="FF462D"/>
          </a:solidFill>
          <a:ln/>
        </p:spPr>
      </p:sp>
      <p:pic>
        <p:nvPicPr>
          <p:cNvPr id="25" name="Image 6" descr="/private/tmp/claude-501/-Users-salehhamed-Outcome-Engine/91861432-41e2-4884-bc97-63c6dff2d021/scratchpad/wk/icons/TbDeviceMobile-white.png">    </p:cNvPr>
          <p:cNvPicPr>
            <a:picLocks noChangeAspect="1"/>
          </p:cNvPicPr>
          <p:nvPr/>
        </p:nvPicPr>
        <p:blipFill>
          <a:blip r:embed="rId10"/>
          <a:stretch>
            <a:fillRect/>
          </a:stretch>
        </p:blipFill>
        <p:spPr>
          <a:xfrm>
            <a:off x="4462272" y="1554480"/>
            <a:ext cx="384048" cy="384048"/>
          </a:xfrm>
          <a:prstGeom prst="rect">
            <a:avLst/>
          </a:prstGeom>
        </p:spPr>
      </p:pic>
      <p:sp>
        <p:nvSpPr>
          <p:cNvPr id="26" name="Text 17"/>
          <p:cNvSpPr txBox="1"/>
          <p:nvPr/>
        </p:nvSpPr>
        <p:spPr>
          <a:xfrm>
            <a:off x="495604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B · LIVE VOTING</a:t>
            </a:r>
            <a:endParaRPr lang="en-US" sz="1150" dirty="0"/>
          </a:p>
        </p:txBody>
      </p:sp>
      <p:sp>
        <p:nvSpPr>
          <p:cNvPr id="27" name="Text 18"/>
          <p:cNvSpPr txBox="1"/>
          <p:nvPr/>
        </p:nvSpPr>
        <p:spPr>
          <a:xfrm>
            <a:off x="452628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Who owns it?</a:t>
            </a:r>
            <a:endParaRPr lang="en-US" sz="2100" dirty="0"/>
          </a:p>
        </p:txBody>
      </p:sp>
      <p:sp>
        <p:nvSpPr>
          <p:cNvPr id="28" name="Text 19"/>
          <p:cNvSpPr txBox="1"/>
          <p:nvPr/>
        </p:nvSpPr>
        <p:spPr>
          <a:xfrm>
            <a:off x="452628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Phones vote the owner of each decision; splits are argued out; tables fill the rest.</a:t>
            </a:r>
            <a:endParaRPr lang="en-US" sz="1400" dirty="0"/>
          </a:p>
        </p:txBody>
      </p:sp>
      <p:pic>
        <p:nvPicPr>
          <p:cNvPr id="29" name="Image 7" descr="/private/tmp/claude-501/-Users-salehhamed-Outcome-Engine/91861432-41e2-4884-bc97-63c6dff2d021/scratchpad/wk/icons/TbClock-grey.png">    </p:cNvPr>
          <p:cNvPicPr>
            <a:picLocks noChangeAspect="1"/>
          </p:cNvPicPr>
          <p:nvPr/>
        </p:nvPicPr>
        <p:blipFill>
          <a:blip r:embed="rId11"/>
          <a:stretch>
            <a:fillRect/>
          </a:stretch>
        </p:blipFill>
        <p:spPr>
          <a:xfrm>
            <a:off x="4526280" y="4297680"/>
            <a:ext cx="274320" cy="274320"/>
          </a:xfrm>
          <a:prstGeom prst="rect">
            <a:avLst/>
          </a:prstGeom>
        </p:spPr>
      </p:pic>
      <p:sp>
        <p:nvSpPr>
          <p:cNvPr id="30" name="Text 20"/>
          <p:cNvSpPr txBox="1"/>
          <p:nvPr/>
        </p:nvSpPr>
        <p:spPr>
          <a:xfrm>
            <a:off x="489204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90 min</a:t>
            </a:r>
            <a:endParaRPr lang="en-US" sz="1200" dirty="0"/>
          </a:p>
        </p:txBody>
      </p:sp>
      <p:pic>
        <p:nvPicPr>
          <p:cNvPr id="31" name="Image 8" descr="/private/tmp/claude-501/-Users-salehhamed-Outcome-Engine/91861432-41e2-4884-bc97-63c6dff2d021/scratchpad/wk/icons/TbUsers-grey.png">    </p:cNvPr>
          <p:cNvPicPr>
            <a:picLocks noChangeAspect="1"/>
          </p:cNvPicPr>
          <p:nvPr/>
        </p:nvPicPr>
        <p:blipFill>
          <a:blip r:embed="rId12"/>
          <a:stretch>
            <a:fillRect/>
          </a:stretch>
        </p:blipFill>
        <p:spPr>
          <a:xfrm>
            <a:off x="4526280" y="4681728"/>
            <a:ext cx="274320" cy="274320"/>
          </a:xfrm>
          <a:prstGeom prst="rect">
            <a:avLst/>
          </a:prstGeom>
        </p:spPr>
      </p:pic>
      <p:sp>
        <p:nvSpPr>
          <p:cNvPr id="32" name="Text 21"/>
          <p:cNvSpPr txBox="1"/>
          <p:nvPr/>
        </p:nvSpPr>
        <p:spPr>
          <a:xfrm>
            <a:off x="489204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Each person, then pairs</a:t>
            </a:r>
            <a:endParaRPr lang="en-US" sz="1200" dirty="0"/>
          </a:p>
        </p:txBody>
      </p:sp>
      <p:pic>
        <p:nvPicPr>
          <p:cNvPr id="33" name="Image 9" descr="/private/tmp/claude-501/-Users-salehhamed-Outcome-Engine/91861432-41e2-4884-bc97-63c6dff2d021/scratchpad/wk/icons/TbGauge-grey.png">    </p:cNvPr>
          <p:cNvPicPr>
            <a:picLocks noChangeAspect="1"/>
          </p:cNvPicPr>
          <p:nvPr/>
        </p:nvPicPr>
        <p:blipFill>
          <a:blip r:embed="rId13"/>
          <a:stretch>
            <a:fillRect/>
          </a:stretch>
        </p:blipFill>
        <p:spPr>
          <a:xfrm>
            <a:off x="4526280" y="5065776"/>
            <a:ext cx="274320" cy="274320"/>
          </a:xfrm>
          <a:prstGeom prst="rect">
            <a:avLst/>
          </a:prstGeom>
        </p:spPr>
      </p:pic>
      <p:sp>
        <p:nvSpPr>
          <p:cNvPr id="34" name="Text 22"/>
          <p:cNvSpPr txBox="1"/>
          <p:nvPr/>
        </p:nvSpPr>
        <p:spPr>
          <a:xfrm>
            <a:off x="489204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35" name="Text 23"/>
          <p:cNvSpPr txBox="1"/>
          <p:nvPr/>
        </p:nvSpPr>
        <p:spPr>
          <a:xfrm>
            <a:off x="452628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You suspect the room disagrees on who decides.</a:t>
            </a:r>
            <a:endParaRPr lang="en-US" sz="1150" dirty="0"/>
          </a:p>
        </p:txBody>
      </p:sp>
      <p:pic>
        <p:nvPicPr>
          <p:cNvPr id="36" name="Image 10" descr="/private/tmp/claude-501/-Users-salehhamed-Outcome-Engine/91861432-41e2-4884-bc97-63c6dff2d021/scratchpad/wk/brand/clear.png">
            <a:hlinkClick r:id="rId15" tooltip="Option B" action="ppaction://hlinksldjump"/>
          </p:cNvPr>
          <p:cNvPicPr>
            <a:picLocks noChangeAspect="1"/>
          </p:cNvPicPr>
          <p:nvPr/>
        </p:nvPicPr>
        <p:blipFill>
          <a:blip r:embed="rId14"/>
          <a:stretch>
            <a:fillRect/>
          </a:stretch>
        </p:blipFill>
        <p:spPr>
          <a:xfrm>
            <a:off x="4297680" y="1463040"/>
            <a:ext cx="3566160" cy="4663440"/>
          </a:xfrm>
          <a:prstGeom prst="rect">
            <a:avLst/>
          </a:prstGeom>
        </p:spPr>
      </p:pic>
      <p:sp>
        <p:nvSpPr>
          <p:cNvPr id="37" name="Shape 24"/>
          <p:cNvSpPr/>
          <p:nvPr/>
        </p:nvSpPr>
        <p:spPr>
          <a:xfrm>
            <a:off x="8046720" y="1463040"/>
            <a:ext cx="3566160" cy="4663440"/>
          </a:xfrm>
          <a:prstGeom prst="roundRect">
            <a:avLst>
              <a:gd name="adj" fmla="val 2051"/>
            </a:avLst>
          </a:prstGeom>
          <a:solidFill>
            <a:srgbClr val="FFFFFF"/>
          </a:solidFill>
          <a:ln w="12700">
            <a:solidFill>
              <a:srgbClr val="D9DEE2"/>
            </a:solidFill>
            <a:prstDash val="solid"/>
          </a:ln>
        </p:spPr>
      </p:sp>
      <p:sp>
        <p:nvSpPr>
          <p:cNvPr id="38" name="Shape 25"/>
          <p:cNvSpPr/>
          <p:nvPr/>
        </p:nvSpPr>
        <p:spPr>
          <a:xfrm>
            <a:off x="8046720" y="1463040"/>
            <a:ext cx="3566160" cy="566928"/>
          </a:xfrm>
          <a:prstGeom prst="roundRect">
            <a:avLst>
              <a:gd name="adj" fmla="val 12903"/>
            </a:avLst>
          </a:prstGeom>
          <a:solidFill>
            <a:srgbClr val="36454F"/>
          </a:solidFill>
          <a:ln/>
        </p:spPr>
      </p:sp>
      <p:sp>
        <p:nvSpPr>
          <p:cNvPr id="39" name="Shape 26"/>
          <p:cNvSpPr/>
          <p:nvPr/>
        </p:nvSpPr>
        <p:spPr>
          <a:xfrm>
            <a:off x="8046720" y="1828800"/>
            <a:ext cx="3566160" cy="201168"/>
          </a:xfrm>
          <a:prstGeom prst="rect">
            <a:avLst/>
          </a:prstGeom>
          <a:solidFill>
            <a:srgbClr val="36454F"/>
          </a:solidFill>
          <a:ln/>
        </p:spPr>
      </p:sp>
      <p:pic>
        <p:nvPicPr>
          <p:cNvPr id="40" name="Image 11" descr="/private/tmp/claude-501/-Users-salehhamed-Outcome-Engine/91861432-41e2-4884-bc97-63c6dff2d021/scratchpad/wk/icons/TbMasksTheater-white.png">    </p:cNvPr>
          <p:cNvPicPr>
            <a:picLocks noChangeAspect="1"/>
          </p:cNvPicPr>
          <p:nvPr/>
        </p:nvPicPr>
        <p:blipFill>
          <a:blip r:embed="rId16"/>
          <a:stretch>
            <a:fillRect/>
          </a:stretch>
        </p:blipFill>
        <p:spPr>
          <a:xfrm>
            <a:off x="8211312" y="1554480"/>
            <a:ext cx="384048" cy="384048"/>
          </a:xfrm>
          <a:prstGeom prst="rect">
            <a:avLst/>
          </a:prstGeom>
        </p:spPr>
      </p:pic>
      <p:sp>
        <p:nvSpPr>
          <p:cNvPr id="41" name="Text 27"/>
          <p:cNvSpPr txBox="1"/>
          <p:nvPr/>
        </p:nvSpPr>
        <p:spPr>
          <a:xfrm>
            <a:off x="870508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C · CASES AND CONVERSATION</a:t>
            </a:r>
            <a:endParaRPr lang="en-US" sz="1150" dirty="0"/>
          </a:p>
        </p:txBody>
      </p:sp>
      <p:sp>
        <p:nvSpPr>
          <p:cNvPr id="42" name="Text 28"/>
          <p:cNvSpPr txBox="1"/>
          <p:nvPr/>
        </p:nvSpPr>
        <p:spPr>
          <a:xfrm>
            <a:off x="827532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Decision theatre</a:t>
            </a:r>
            <a:endParaRPr lang="en-US" sz="2100" dirty="0"/>
          </a:p>
        </p:txBody>
      </p:sp>
      <p:sp>
        <p:nvSpPr>
          <p:cNvPr id="43" name="Text 29"/>
          <p:cNvSpPr txBox="1"/>
          <p:nvPr/>
        </p:nvSpPr>
        <p:spPr>
          <a:xfrm>
            <a:off x="827532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Replay Northgate: volunteers in decision seats must decide from an envelope of evidence.</a:t>
            </a:r>
            <a:endParaRPr lang="en-US" sz="1400" dirty="0"/>
          </a:p>
        </p:txBody>
      </p:sp>
      <p:pic>
        <p:nvPicPr>
          <p:cNvPr id="44" name="Image 12" descr="/private/tmp/claude-501/-Users-salehhamed-Outcome-Engine/91861432-41e2-4884-bc97-63c6dff2d021/scratchpad/wk/icons/TbClock-grey.png">    </p:cNvPr>
          <p:cNvPicPr>
            <a:picLocks noChangeAspect="1"/>
          </p:cNvPicPr>
          <p:nvPr/>
        </p:nvPicPr>
        <p:blipFill>
          <a:blip r:embed="rId17"/>
          <a:stretch>
            <a:fillRect/>
          </a:stretch>
        </p:blipFill>
        <p:spPr>
          <a:xfrm>
            <a:off x="8275320" y="4297680"/>
            <a:ext cx="274320" cy="274320"/>
          </a:xfrm>
          <a:prstGeom prst="rect">
            <a:avLst/>
          </a:prstGeom>
        </p:spPr>
      </p:pic>
      <p:sp>
        <p:nvSpPr>
          <p:cNvPr id="45" name="Text 30"/>
          <p:cNvSpPr txBox="1"/>
          <p:nvPr/>
        </p:nvSpPr>
        <p:spPr>
          <a:xfrm>
            <a:off x="864108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90 min</a:t>
            </a:r>
            <a:endParaRPr lang="en-US" sz="1200" dirty="0"/>
          </a:p>
        </p:txBody>
      </p:sp>
      <p:pic>
        <p:nvPicPr>
          <p:cNvPr id="46" name="Image 13" descr="/private/tmp/claude-501/-Users-salehhamed-Outcome-Engine/91861432-41e2-4884-bc97-63c6dff2d021/scratchpad/wk/icons/TbUsers-grey.png">    </p:cNvPr>
          <p:cNvPicPr>
            <a:picLocks noChangeAspect="1"/>
          </p:cNvPicPr>
          <p:nvPr/>
        </p:nvPicPr>
        <p:blipFill>
          <a:blip r:embed="rId18"/>
          <a:stretch>
            <a:fillRect/>
          </a:stretch>
        </p:blipFill>
        <p:spPr>
          <a:xfrm>
            <a:off x="8275320" y="4681728"/>
            <a:ext cx="274320" cy="274320"/>
          </a:xfrm>
          <a:prstGeom prst="rect">
            <a:avLst/>
          </a:prstGeom>
        </p:spPr>
      </p:pic>
      <p:sp>
        <p:nvSpPr>
          <p:cNvPr id="47" name="Text 31"/>
          <p:cNvSpPr txBox="1"/>
          <p:nvPr/>
        </p:nvSpPr>
        <p:spPr>
          <a:xfrm>
            <a:off x="864108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Volunteers on stage, room watching</a:t>
            </a:r>
            <a:endParaRPr lang="en-US" sz="1200" dirty="0"/>
          </a:p>
        </p:txBody>
      </p:sp>
      <p:pic>
        <p:nvPicPr>
          <p:cNvPr id="48" name="Image 14" descr="/private/tmp/claude-501/-Users-salehhamed-Outcome-Engine/91861432-41e2-4884-bc97-63c6dff2d021/scratchpad/wk/icons/TbGauge-grey.png">    </p:cNvPr>
          <p:cNvPicPr>
            <a:picLocks noChangeAspect="1"/>
          </p:cNvPicPr>
          <p:nvPr/>
        </p:nvPicPr>
        <p:blipFill>
          <a:blip r:embed="rId19"/>
          <a:stretch>
            <a:fillRect/>
          </a:stretch>
        </p:blipFill>
        <p:spPr>
          <a:xfrm>
            <a:off x="8275320" y="5065776"/>
            <a:ext cx="274320" cy="274320"/>
          </a:xfrm>
          <a:prstGeom prst="rect">
            <a:avLst/>
          </a:prstGeom>
        </p:spPr>
      </p:pic>
      <p:sp>
        <p:nvSpPr>
          <p:cNvPr id="49" name="Text 32"/>
          <p:cNvSpPr txBox="1"/>
          <p:nvPr/>
        </p:nvSpPr>
        <p:spPr>
          <a:xfrm>
            <a:off x="864108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High energy</a:t>
            </a:r>
            <a:endParaRPr lang="en-US" sz="1200" dirty="0"/>
          </a:p>
        </p:txBody>
      </p:sp>
      <p:sp>
        <p:nvSpPr>
          <p:cNvPr id="50" name="Text 33"/>
          <p:cNvSpPr txBox="1"/>
          <p:nvPr/>
        </p:nvSpPr>
        <p:spPr>
          <a:xfrm>
            <a:off x="827532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room is lively and you want people to feel what missing evidence is like.</a:t>
            </a:r>
            <a:endParaRPr lang="en-US" sz="1150" dirty="0"/>
          </a:p>
        </p:txBody>
      </p:sp>
      <p:pic>
        <p:nvPicPr>
          <p:cNvPr id="51" name="Image 15" descr="/private/tmp/claude-501/-Users-salehhamed-Outcome-Engine/91861432-41e2-4884-bc97-63c6dff2d021/scratchpad/wk/brand/clear.png">
            <a:hlinkClick r:id="rId21" tooltip="Option C" action="ppaction://hlinksldjump"/>
          </p:cNvPr>
          <p:cNvPicPr>
            <a:picLocks noChangeAspect="1"/>
          </p:cNvPicPr>
          <p:nvPr/>
        </p:nvPicPr>
        <p:blipFill>
          <a:blip r:embed="rId20"/>
          <a:stretch>
            <a:fillRect/>
          </a:stretch>
        </p:blipFill>
        <p:spPr>
          <a:xfrm>
            <a:off x="8046720" y="1463040"/>
            <a:ext cx="3566160" cy="466344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name="Slide 8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OPTION A · HANDS-ON · DECISIONS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Decision cards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13:15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81</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Pairs fill one big decision card each, then a gallery walk settles them.</a:t>
            </a:r>
            <a:endParaRPr lang="en-US" sz="1900" dirty="0"/>
          </a:p>
        </p:txBody>
      </p:sp>
      <p:sp>
        <p:nvSpPr>
          <p:cNvPr id="8" name="Shape 5"/>
          <p:cNvSpPr/>
          <p:nvPr/>
        </p:nvSpPr>
        <p:spPr>
          <a:xfrm>
            <a:off x="548640" y="2240280"/>
            <a:ext cx="1812493" cy="1417320"/>
          </a:xfrm>
          <a:prstGeom prst="rect">
            <a:avLst/>
          </a:prstGeom>
          <a:solidFill>
            <a:srgbClr val="287079"/>
          </a:solidFill>
          <a:ln/>
        </p:spPr>
      </p:sp>
      <p:sp>
        <p:nvSpPr>
          <p:cNvPr id="9" name="Text 6"/>
          <p:cNvSpPr txBox="1"/>
          <p:nvPr/>
        </p:nvSpPr>
        <p:spPr>
          <a:xfrm>
            <a:off x="640080"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0" name="Text 7"/>
          <p:cNvSpPr txBox="1"/>
          <p:nvPr/>
        </p:nvSpPr>
        <p:spPr>
          <a:xfrm>
            <a:off x="640080"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Who does what</a:t>
            </a:r>
            <a:endParaRPr lang="en-US" sz="1500" dirty="0"/>
          </a:p>
        </p:txBody>
      </p:sp>
      <p:sp>
        <p:nvSpPr>
          <p:cNvPr id="11" name="Shape 8"/>
          <p:cNvSpPr/>
          <p:nvPr/>
        </p:nvSpPr>
        <p:spPr>
          <a:xfrm>
            <a:off x="2397709" y="2240280"/>
            <a:ext cx="1196137" cy="1417320"/>
          </a:xfrm>
          <a:prstGeom prst="rect">
            <a:avLst/>
          </a:prstGeom>
          <a:solidFill>
            <a:srgbClr val="5C8F95"/>
          </a:solidFill>
          <a:ln/>
        </p:spPr>
      </p:sp>
      <p:sp>
        <p:nvSpPr>
          <p:cNvPr id="12" name="Text 9"/>
          <p:cNvSpPr txBox="1"/>
          <p:nvPr/>
        </p:nvSpPr>
        <p:spPr>
          <a:xfrm>
            <a:off x="2489149" y="2331720"/>
            <a:ext cx="104983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3" name="Text 10"/>
          <p:cNvSpPr txBox="1"/>
          <p:nvPr/>
        </p:nvSpPr>
        <p:spPr>
          <a:xfrm>
            <a:off x="2489149" y="2651760"/>
            <a:ext cx="1086409" cy="91440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One example</a:t>
            </a:r>
            <a:endParaRPr lang="en-US" sz="1200" dirty="0"/>
          </a:p>
        </p:txBody>
      </p:sp>
      <p:sp>
        <p:nvSpPr>
          <p:cNvPr id="14" name="Shape 11"/>
          <p:cNvSpPr/>
          <p:nvPr/>
        </p:nvSpPr>
        <p:spPr>
          <a:xfrm>
            <a:off x="3630422" y="2240280"/>
            <a:ext cx="3045206" cy="1417320"/>
          </a:xfrm>
          <a:prstGeom prst="rect">
            <a:avLst/>
          </a:prstGeom>
          <a:solidFill>
            <a:srgbClr val="287079"/>
          </a:solidFill>
          <a:ln/>
        </p:spPr>
      </p:sp>
      <p:sp>
        <p:nvSpPr>
          <p:cNvPr id="15" name="Text 12"/>
          <p:cNvSpPr txBox="1"/>
          <p:nvPr/>
        </p:nvSpPr>
        <p:spPr>
          <a:xfrm>
            <a:off x="3721862" y="2331720"/>
            <a:ext cx="2898902"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25 min</a:t>
            </a:r>
            <a:endParaRPr lang="en-US" sz="1150" dirty="0"/>
          </a:p>
        </p:txBody>
      </p:sp>
      <p:sp>
        <p:nvSpPr>
          <p:cNvPr id="16" name="Text 13"/>
          <p:cNvSpPr txBox="1"/>
          <p:nvPr/>
        </p:nvSpPr>
        <p:spPr>
          <a:xfrm>
            <a:off x="3721862" y="2651760"/>
            <a:ext cx="2935478"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Fill the cards</a:t>
            </a:r>
            <a:endParaRPr lang="en-US" sz="1500" dirty="0"/>
          </a:p>
        </p:txBody>
      </p:sp>
      <p:sp>
        <p:nvSpPr>
          <p:cNvPr id="17" name="Shape 14"/>
          <p:cNvSpPr/>
          <p:nvPr/>
        </p:nvSpPr>
        <p:spPr>
          <a:xfrm>
            <a:off x="6712204" y="2240280"/>
            <a:ext cx="2428850" cy="1417320"/>
          </a:xfrm>
          <a:prstGeom prst="rect">
            <a:avLst/>
          </a:prstGeom>
          <a:solidFill>
            <a:srgbClr val="5C8F95"/>
          </a:solidFill>
          <a:ln/>
        </p:spPr>
      </p:sp>
      <p:sp>
        <p:nvSpPr>
          <p:cNvPr id="18" name="Text 15"/>
          <p:cNvSpPr txBox="1"/>
          <p:nvPr/>
        </p:nvSpPr>
        <p:spPr>
          <a:xfrm>
            <a:off x="6803644" y="2331720"/>
            <a:ext cx="2282546"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20 min</a:t>
            </a:r>
            <a:endParaRPr lang="en-US" sz="1150" dirty="0"/>
          </a:p>
        </p:txBody>
      </p:sp>
      <p:sp>
        <p:nvSpPr>
          <p:cNvPr id="19" name="Text 16"/>
          <p:cNvSpPr txBox="1"/>
          <p:nvPr/>
        </p:nvSpPr>
        <p:spPr>
          <a:xfrm>
            <a:off x="6803644" y="2651760"/>
            <a:ext cx="2319122"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Gallery walk</a:t>
            </a:r>
            <a:endParaRPr lang="en-US" sz="1500" dirty="0"/>
          </a:p>
        </p:txBody>
      </p:sp>
      <p:sp>
        <p:nvSpPr>
          <p:cNvPr id="20" name="Shape 17"/>
          <p:cNvSpPr/>
          <p:nvPr/>
        </p:nvSpPr>
        <p:spPr>
          <a:xfrm>
            <a:off x="9177630" y="2240280"/>
            <a:ext cx="1812493" cy="1417320"/>
          </a:xfrm>
          <a:prstGeom prst="rect">
            <a:avLst/>
          </a:prstGeom>
          <a:solidFill>
            <a:srgbClr val="287079"/>
          </a:solidFill>
          <a:ln/>
        </p:spPr>
      </p:sp>
      <p:sp>
        <p:nvSpPr>
          <p:cNvPr id="21" name="Text 18"/>
          <p:cNvSpPr txBox="1"/>
          <p:nvPr/>
        </p:nvSpPr>
        <p:spPr>
          <a:xfrm>
            <a:off x="9269070"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22" name="Text 19"/>
          <p:cNvSpPr txBox="1"/>
          <p:nvPr/>
        </p:nvSpPr>
        <p:spPr>
          <a:xfrm>
            <a:off x="9269070"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Settle the splits</a:t>
            </a:r>
            <a:endParaRPr lang="en-US" sz="1500" dirty="0"/>
          </a:p>
        </p:txBody>
      </p:sp>
      <p:sp>
        <p:nvSpPr>
          <p:cNvPr id="23" name="Shape 20"/>
          <p:cNvSpPr/>
          <p:nvPr/>
        </p:nvSpPr>
        <p:spPr>
          <a:xfrm>
            <a:off x="11026699" y="2240280"/>
            <a:ext cx="579780" cy="1417320"/>
          </a:xfrm>
          <a:prstGeom prst="rect">
            <a:avLst/>
          </a:prstGeom>
          <a:solidFill>
            <a:srgbClr val="5C8F95"/>
          </a:solidFill>
          <a:ln/>
        </p:spPr>
      </p:sp>
      <p:sp>
        <p:nvSpPr>
          <p:cNvPr id="24" name="Text 21"/>
          <p:cNvSpPr txBox="1"/>
          <p:nvPr/>
        </p:nvSpPr>
        <p:spPr>
          <a:xfrm>
            <a:off x="11118139" y="2331720"/>
            <a:ext cx="433476"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25" name="Text 22"/>
          <p:cNvSpPr txBox="1"/>
          <p:nvPr/>
        </p:nvSpPr>
        <p:spPr>
          <a:xfrm>
            <a:off x="11118139" y="2651760"/>
            <a:ext cx="470052"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Check</a:t>
            </a:r>
            <a:endParaRPr lang="en-US" sz="950" dirty="0"/>
          </a:p>
        </p:txBody>
      </p:sp>
      <p:sp>
        <p:nvSpPr>
          <p:cNvPr id="26" name="Shape 23"/>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7"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8" name="Text 24"/>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9" name="Text 25"/>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Pairs, then whole room</a:t>
            </a:r>
            <a:endParaRPr lang="en-US" sz="1300" dirty="0"/>
          </a:p>
        </p:txBody>
      </p:sp>
      <p:sp>
        <p:nvSpPr>
          <p:cNvPr id="30" name="Shape 26"/>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31"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32" name="Text 27"/>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33" name="Text 28"/>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Six cards, photographed; the decision rights table typed up during the break.</a:t>
            </a:r>
            <a:endParaRPr lang="en-US" sz="1300" dirty="0"/>
          </a:p>
        </p:txBody>
      </p:sp>
      <p:sp>
        <p:nvSpPr>
          <p:cNvPr id="34" name="Shape 29"/>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35"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36" name="Text 30"/>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37" name="Text 31"/>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name="Slide 8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FF462D"/>
                </a:solidFill>
                <a:latin typeface="Arial" pitchFamily="34" charset="0"/>
                <a:ea typeface="Arial" pitchFamily="34" charset="-122"/>
                <a:cs typeface="Arial" pitchFamily="34" charset="-120"/>
              </a:rPr>
              <a:t>OPTION B · LIVE VOTING · DECISIONS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Who owns it?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13:15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82</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Phones vote the owner of each decision; splits are argued out; tables fill the rest.</a:t>
            </a:r>
            <a:endParaRPr lang="en-US" sz="1900" dirty="0"/>
          </a:p>
        </p:txBody>
      </p:sp>
      <p:sp>
        <p:nvSpPr>
          <p:cNvPr id="8" name="Shape 5"/>
          <p:cNvSpPr/>
          <p:nvPr/>
        </p:nvSpPr>
        <p:spPr>
          <a:xfrm>
            <a:off x="548640" y="2240280"/>
            <a:ext cx="1812493" cy="1417320"/>
          </a:xfrm>
          <a:prstGeom prst="rect">
            <a:avLst/>
          </a:prstGeom>
          <a:solidFill>
            <a:srgbClr val="FF462D"/>
          </a:solidFill>
          <a:ln/>
        </p:spPr>
      </p:sp>
      <p:sp>
        <p:nvSpPr>
          <p:cNvPr id="9" name="Text 6"/>
          <p:cNvSpPr txBox="1"/>
          <p:nvPr/>
        </p:nvSpPr>
        <p:spPr>
          <a:xfrm>
            <a:off x="640080"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0" name="Text 7"/>
          <p:cNvSpPr txBox="1"/>
          <p:nvPr/>
        </p:nvSpPr>
        <p:spPr>
          <a:xfrm>
            <a:off x="640080"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Who does what</a:t>
            </a:r>
            <a:endParaRPr lang="en-US" sz="1500" dirty="0"/>
          </a:p>
        </p:txBody>
      </p:sp>
      <p:sp>
        <p:nvSpPr>
          <p:cNvPr id="11" name="Shape 8"/>
          <p:cNvSpPr/>
          <p:nvPr/>
        </p:nvSpPr>
        <p:spPr>
          <a:xfrm>
            <a:off x="2397709" y="2240280"/>
            <a:ext cx="3045206" cy="1417320"/>
          </a:xfrm>
          <a:prstGeom prst="rect">
            <a:avLst/>
          </a:prstGeom>
          <a:solidFill>
            <a:srgbClr val="FF8A78"/>
          </a:solidFill>
          <a:ln/>
        </p:spPr>
      </p:sp>
      <p:sp>
        <p:nvSpPr>
          <p:cNvPr id="12" name="Text 9"/>
          <p:cNvSpPr txBox="1"/>
          <p:nvPr/>
        </p:nvSpPr>
        <p:spPr>
          <a:xfrm>
            <a:off x="2489149" y="2331720"/>
            <a:ext cx="2898902"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25 min</a:t>
            </a:r>
            <a:endParaRPr lang="en-US" sz="1150" dirty="0"/>
          </a:p>
        </p:txBody>
      </p:sp>
      <p:sp>
        <p:nvSpPr>
          <p:cNvPr id="13" name="Text 10"/>
          <p:cNvSpPr txBox="1"/>
          <p:nvPr/>
        </p:nvSpPr>
        <p:spPr>
          <a:xfrm>
            <a:off x="2489149" y="2651760"/>
            <a:ext cx="2935478"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Vote the owners</a:t>
            </a:r>
            <a:endParaRPr lang="en-US" sz="1500" dirty="0"/>
          </a:p>
        </p:txBody>
      </p:sp>
      <p:sp>
        <p:nvSpPr>
          <p:cNvPr id="14" name="Shape 11"/>
          <p:cNvSpPr/>
          <p:nvPr/>
        </p:nvSpPr>
        <p:spPr>
          <a:xfrm>
            <a:off x="5479491" y="2240280"/>
            <a:ext cx="3661562" cy="1417320"/>
          </a:xfrm>
          <a:prstGeom prst="rect">
            <a:avLst/>
          </a:prstGeom>
          <a:solidFill>
            <a:srgbClr val="FF462D"/>
          </a:solidFill>
          <a:ln/>
        </p:spPr>
      </p:sp>
      <p:sp>
        <p:nvSpPr>
          <p:cNvPr id="15" name="Text 12"/>
          <p:cNvSpPr txBox="1"/>
          <p:nvPr/>
        </p:nvSpPr>
        <p:spPr>
          <a:xfrm>
            <a:off x="5570931"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30 min</a:t>
            </a:r>
            <a:endParaRPr lang="en-US" sz="1150" dirty="0"/>
          </a:p>
        </p:txBody>
      </p:sp>
      <p:sp>
        <p:nvSpPr>
          <p:cNvPr id="16" name="Text 13"/>
          <p:cNvSpPr txBox="1"/>
          <p:nvPr/>
        </p:nvSpPr>
        <p:spPr>
          <a:xfrm>
            <a:off x="5570931"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Fill the rest</a:t>
            </a:r>
            <a:endParaRPr lang="en-US" sz="1500" dirty="0"/>
          </a:p>
        </p:txBody>
      </p:sp>
      <p:sp>
        <p:nvSpPr>
          <p:cNvPr id="17" name="Shape 14"/>
          <p:cNvSpPr/>
          <p:nvPr/>
        </p:nvSpPr>
        <p:spPr>
          <a:xfrm>
            <a:off x="9177630" y="2240280"/>
            <a:ext cx="1812493" cy="1417320"/>
          </a:xfrm>
          <a:prstGeom prst="rect">
            <a:avLst/>
          </a:prstGeom>
          <a:solidFill>
            <a:srgbClr val="FF8A78"/>
          </a:solidFill>
          <a:ln/>
        </p:spPr>
      </p:sp>
      <p:sp>
        <p:nvSpPr>
          <p:cNvPr id="18" name="Text 15"/>
          <p:cNvSpPr txBox="1"/>
          <p:nvPr/>
        </p:nvSpPr>
        <p:spPr>
          <a:xfrm>
            <a:off x="9269070"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9" name="Text 16"/>
          <p:cNvSpPr txBox="1"/>
          <p:nvPr/>
        </p:nvSpPr>
        <p:spPr>
          <a:xfrm>
            <a:off x="9269070"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Review the table</a:t>
            </a:r>
            <a:endParaRPr lang="en-US" sz="1500" dirty="0"/>
          </a:p>
        </p:txBody>
      </p:sp>
      <p:sp>
        <p:nvSpPr>
          <p:cNvPr id="20" name="Shape 17"/>
          <p:cNvSpPr/>
          <p:nvPr/>
        </p:nvSpPr>
        <p:spPr>
          <a:xfrm>
            <a:off x="11026699" y="2240280"/>
            <a:ext cx="579780" cy="1417320"/>
          </a:xfrm>
          <a:prstGeom prst="rect">
            <a:avLst/>
          </a:prstGeom>
          <a:solidFill>
            <a:srgbClr val="FF462D"/>
          </a:solidFill>
          <a:ln/>
        </p:spPr>
      </p:sp>
      <p:sp>
        <p:nvSpPr>
          <p:cNvPr id="21" name="Text 18"/>
          <p:cNvSpPr txBox="1"/>
          <p:nvPr/>
        </p:nvSpPr>
        <p:spPr>
          <a:xfrm>
            <a:off x="11118139" y="2331720"/>
            <a:ext cx="433476"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22" name="Text 19"/>
          <p:cNvSpPr txBox="1"/>
          <p:nvPr/>
        </p:nvSpPr>
        <p:spPr>
          <a:xfrm>
            <a:off x="11118139" y="2651760"/>
            <a:ext cx="470052"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Check</a:t>
            </a:r>
            <a:endParaRPr lang="en-US" sz="950" dirty="0"/>
          </a:p>
        </p:txBody>
      </p:sp>
      <p:sp>
        <p:nvSpPr>
          <p:cNvPr id="23" name="Shape 20"/>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4"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5" name="Text 21"/>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6" name="Text 22"/>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Each person, then pairs</a:t>
            </a:r>
            <a:endParaRPr lang="en-US" sz="1300" dirty="0"/>
          </a:p>
        </p:txBody>
      </p:sp>
      <p:sp>
        <p:nvSpPr>
          <p:cNvPr id="27" name="Shape 23"/>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8"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9" name="Text 24"/>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30" name="Text 25"/>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Owner votes and decision forms, saved in the room tool.</a:t>
            </a:r>
            <a:endParaRPr lang="en-US" sz="1300" dirty="0"/>
          </a:p>
        </p:txBody>
      </p:sp>
      <p:sp>
        <p:nvSpPr>
          <p:cNvPr id="31" name="Shape 26"/>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32"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33" name="Text 27"/>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34" name="Text 28"/>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36454F"/>
                </a:solidFill>
                <a:latin typeface="Arial" pitchFamily="34" charset="0"/>
                <a:ea typeface="Arial" pitchFamily="34" charset="-122"/>
                <a:cs typeface="Arial" pitchFamily="34" charset="-120"/>
              </a:rPr>
              <a:t>OPTION C · CASES AND CONVERSATION · DECISIONS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Decision theatre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13:15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83</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Replay Northgate: volunteers in decision seats must decide from an envelope of evidence.</a:t>
            </a:r>
            <a:endParaRPr lang="en-US" sz="1900" dirty="0"/>
          </a:p>
        </p:txBody>
      </p:sp>
      <p:sp>
        <p:nvSpPr>
          <p:cNvPr id="8" name="Shape 5"/>
          <p:cNvSpPr/>
          <p:nvPr/>
        </p:nvSpPr>
        <p:spPr>
          <a:xfrm>
            <a:off x="548640" y="2240280"/>
            <a:ext cx="1812493" cy="1417320"/>
          </a:xfrm>
          <a:prstGeom prst="rect">
            <a:avLst/>
          </a:prstGeom>
          <a:solidFill>
            <a:srgbClr val="36454F"/>
          </a:solidFill>
          <a:ln/>
        </p:spPr>
      </p:sp>
      <p:sp>
        <p:nvSpPr>
          <p:cNvPr id="9" name="Text 6"/>
          <p:cNvSpPr txBox="1"/>
          <p:nvPr/>
        </p:nvSpPr>
        <p:spPr>
          <a:xfrm>
            <a:off x="640080"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0" name="Text 7"/>
          <p:cNvSpPr txBox="1"/>
          <p:nvPr/>
        </p:nvSpPr>
        <p:spPr>
          <a:xfrm>
            <a:off x="640080"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Who does what</a:t>
            </a:r>
            <a:endParaRPr lang="en-US" sz="1500" dirty="0"/>
          </a:p>
        </p:txBody>
      </p:sp>
      <p:sp>
        <p:nvSpPr>
          <p:cNvPr id="11" name="Shape 8"/>
          <p:cNvSpPr/>
          <p:nvPr/>
        </p:nvSpPr>
        <p:spPr>
          <a:xfrm>
            <a:off x="2397709" y="2240280"/>
            <a:ext cx="5510632" cy="1417320"/>
          </a:xfrm>
          <a:prstGeom prst="rect">
            <a:avLst/>
          </a:prstGeom>
          <a:solidFill>
            <a:srgbClr val="6B7B86"/>
          </a:solidFill>
          <a:ln/>
        </p:spPr>
      </p:sp>
      <p:sp>
        <p:nvSpPr>
          <p:cNvPr id="12" name="Text 9"/>
          <p:cNvSpPr txBox="1"/>
          <p:nvPr/>
        </p:nvSpPr>
        <p:spPr>
          <a:xfrm>
            <a:off x="2489149" y="2331720"/>
            <a:ext cx="536432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45 min</a:t>
            </a:r>
            <a:endParaRPr lang="en-US" sz="1150" dirty="0"/>
          </a:p>
        </p:txBody>
      </p:sp>
      <p:sp>
        <p:nvSpPr>
          <p:cNvPr id="13" name="Text 10"/>
          <p:cNvSpPr txBox="1"/>
          <p:nvPr/>
        </p:nvSpPr>
        <p:spPr>
          <a:xfrm>
            <a:off x="2489149" y="2651760"/>
            <a:ext cx="540090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Decision theatre</a:t>
            </a:r>
            <a:endParaRPr lang="en-US" sz="1500" dirty="0"/>
          </a:p>
        </p:txBody>
      </p:sp>
      <p:sp>
        <p:nvSpPr>
          <p:cNvPr id="14" name="Shape 11"/>
          <p:cNvSpPr/>
          <p:nvPr/>
        </p:nvSpPr>
        <p:spPr>
          <a:xfrm>
            <a:off x="7944917" y="2240280"/>
            <a:ext cx="3045206" cy="1417320"/>
          </a:xfrm>
          <a:prstGeom prst="rect">
            <a:avLst/>
          </a:prstGeom>
          <a:solidFill>
            <a:srgbClr val="36454F"/>
          </a:solidFill>
          <a:ln/>
        </p:spPr>
      </p:sp>
      <p:sp>
        <p:nvSpPr>
          <p:cNvPr id="15" name="Text 12"/>
          <p:cNvSpPr txBox="1"/>
          <p:nvPr/>
        </p:nvSpPr>
        <p:spPr>
          <a:xfrm>
            <a:off x="8036357" y="2331720"/>
            <a:ext cx="2898902"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25 min</a:t>
            </a:r>
            <a:endParaRPr lang="en-US" sz="1150" dirty="0"/>
          </a:p>
        </p:txBody>
      </p:sp>
      <p:sp>
        <p:nvSpPr>
          <p:cNvPr id="16" name="Text 13"/>
          <p:cNvSpPr txBox="1"/>
          <p:nvPr/>
        </p:nvSpPr>
        <p:spPr>
          <a:xfrm>
            <a:off x="8036357" y="2651760"/>
            <a:ext cx="2935478"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Write the cards</a:t>
            </a:r>
            <a:endParaRPr lang="en-US" sz="1500" dirty="0"/>
          </a:p>
        </p:txBody>
      </p:sp>
      <p:sp>
        <p:nvSpPr>
          <p:cNvPr id="17" name="Shape 14"/>
          <p:cNvSpPr/>
          <p:nvPr/>
        </p:nvSpPr>
        <p:spPr>
          <a:xfrm>
            <a:off x="11026699" y="2240280"/>
            <a:ext cx="579780" cy="1417320"/>
          </a:xfrm>
          <a:prstGeom prst="rect">
            <a:avLst/>
          </a:prstGeom>
          <a:solidFill>
            <a:srgbClr val="6B7B86"/>
          </a:solidFill>
          <a:ln/>
        </p:spPr>
      </p:sp>
      <p:sp>
        <p:nvSpPr>
          <p:cNvPr id="18" name="Text 15"/>
          <p:cNvSpPr txBox="1"/>
          <p:nvPr/>
        </p:nvSpPr>
        <p:spPr>
          <a:xfrm>
            <a:off x="11118139" y="2331720"/>
            <a:ext cx="433476"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9" name="Text 16"/>
          <p:cNvSpPr txBox="1"/>
          <p:nvPr/>
        </p:nvSpPr>
        <p:spPr>
          <a:xfrm>
            <a:off x="11118139" y="2651760"/>
            <a:ext cx="470052"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Check</a:t>
            </a:r>
            <a:endParaRPr lang="en-US" sz="950" dirty="0"/>
          </a:p>
        </p:txBody>
      </p:sp>
      <p:sp>
        <p:nvSpPr>
          <p:cNvPr id="20" name="Shape 17"/>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1"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2" name="Text 18"/>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3" name="Text 19"/>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Volunteers on stage, room watching</a:t>
            </a:r>
            <a:endParaRPr lang="en-US" sz="1300" dirty="0"/>
          </a:p>
        </p:txBody>
      </p:sp>
      <p:sp>
        <p:nvSpPr>
          <p:cNvPr id="24" name="Shape 20"/>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5"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6" name="Text 21"/>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7" name="Text 22"/>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The missing-evidence list, and the six decision cards.</a:t>
            </a:r>
            <a:endParaRPr lang="en-US" sz="1300" dirty="0"/>
          </a:p>
        </p:txBody>
      </p:sp>
      <p:sp>
        <p:nvSpPr>
          <p:cNvPr id="28" name="Shape 23"/>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9"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30" name="Text 24"/>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31" name="Text 25"/>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DECISIONS · FILL IN LIVE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Decision rights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13:15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84</a:t>
            </a:r>
            <a:endParaRPr lang="en-US" sz="10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108960"/>
                <a:gridCol w="2377440"/>
                <a:gridCol w="2651760"/>
                <a:gridCol w="2953512"/>
              </a:tblGrid>
              <a:tr h="666206">
                <a:tc>
                  <a:txBody>
                    <a:bodyPr/>
                    <a:lstStyle/>
                    <a:p>
                      <a:pPr indent="0" marL="0">
                        <a:buNone/>
                      </a:pPr>
                      <a:r>
                        <a:rPr lang="en-US" sz="1500" b="1" dirty="0">
                          <a:solidFill>
                            <a:srgbClr val="FFFFFF"/>
                          </a:solidFill>
                          <a:latin typeface="Arial" pitchFamily="34" charset="0"/>
                          <a:ea typeface="Arial" pitchFamily="34" charset="-122"/>
                          <a:cs typeface="Arial" pitchFamily="34" charset="-120"/>
                        </a:rPr>
                        <a:t>Decision</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Owner, backup</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Why a person, response time</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Evidence, and where it comes from</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r>
              <a:tr h="666206">
                <a:tc>
                  <a:txBody>
                    <a:bodyPr/>
                    <a:lstStyle/>
                    <a:p>
                      <a:pPr indent="0" marL="0">
                        <a:buNone/>
                      </a:pPr>
                      <a:r>
                        <a:rPr lang="en-US" sz="1600" b="1" dirty="0">
                          <a:solidFill>
                            <a:srgbClr val="1F2A33"/>
                          </a:solidFill>
                          <a:latin typeface="Arial" pitchFamily="34" charset="0"/>
                          <a:ea typeface="Arial" pitchFamily="34" charset="-122"/>
                          <a:cs typeface="Arial" pitchFamily="34" charset="-120"/>
                        </a:rPr>
                        <a:t>Is the demand real enough to start?</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666206">
                <a:tc>
                  <a:txBody>
                    <a:bodyPr/>
                    <a:lstStyle/>
                    <a:p>
                      <a:pPr indent="0" marL="0">
                        <a:buNone/>
                      </a:pPr>
                      <a:r>
                        <a:rPr lang="en-US" sz="1600" b="1" dirty="0">
                          <a:solidFill>
                            <a:srgbClr val="1F2A33"/>
                          </a:solidFill>
                          <a:latin typeface="Arial" pitchFamily="34" charset="0"/>
                          <a:ea typeface="Arial" pitchFamily="34" charset="-122"/>
                          <a:cs typeface="Arial" pitchFamily="34" charset="-120"/>
                        </a:rPr>
                        <a:t>Is the requirement complete enough for staffing?</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666206">
                <a:tc>
                  <a:txBody>
                    <a:bodyPr/>
                    <a:lstStyle/>
                    <a:p>
                      <a:pPr indent="0" marL="0">
                        <a:buNone/>
                      </a:pPr>
                      <a:r>
                        <a:rPr lang="en-US" sz="1600" b="1" dirty="0">
                          <a:solidFill>
                            <a:srgbClr val="1F2A33"/>
                          </a:solidFill>
                          <a:latin typeface="Arial" pitchFamily="34" charset="0"/>
                          <a:ea typeface="Arial" pitchFamily="34" charset="-122"/>
                          <a:cs typeface="Arial" pitchFamily="34" charset="-120"/>
                        </a:rPr>
                        <a:t>Is the person really free?</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666206">
                <a:tc>
                  <a:txBody>
                    <a:bodyPr/>
                    <a:lstStyle/>
                    <a:p>
                      <a:pPr indent="0" marL="0">
                        <a:buNone/>
                      </a:pPr>
                      <a:r>
                        <a:rPr lang="en-US" sz="1600" b="1" dirty="0">
                          <a:solidFill>
                            <a:srgbClr val="1F2A33"/>
                          </a:solidFill>
                          <a:latin typeface="Arial" pitchFamily="34" charset="0"/>
                          <a:ea typeface="Arial" pitchFamily="34" charset="-122"/>
                          <a:cs typeface="Arial" pitchFamily="34" charset="-120"/>
                        </a:rPr>
                        <a:t>Can they be released?</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666206">
                <a:tc>
                  <a:txBody>
                    <a:bodyPr/>
                    <a:lstStyle/>
                    <a:p>
                      <a:pPr indent="0" marL="0">
                        <a:buNone/>
                      </a:pPr>
                      <a:r>
                        <a:rPr lang="en-US" sz="1600" b="1" dirty="0">
                          <a:solidFill>
                            <a:srgbClr val="1F2A33"/>
                          </a:solidFill>
                          <a:latin typeface="Arial" pitchFamily="34" charset="0"/>
                          <a:ea typeface="Arial" pitchFamily="34" charset="-122"/>
                          <a:cs typeface="Arial" pitchFamily="34" charset="-120"/>
                        </a:rPr>
                        <a:t>Is the shortfall a real gap?</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666206">
                <a:tc>
                  <a:txBody>
                    <a:bodyPr/>
                    <a:lstStyle/>
                    <a:p>
                      <a:pPr indent="0" marL="0">
                        <a:buNone/>
                      </a:pPr>
                      <a:r>
                        <a:rPr lang="en-US" sz="1600" b="1" dirty="0">
                          <a:solidFill>
                            <a:srgbClr val="1F2A33"/>
                          </a:solidFill>
                          <a:latin typeface="Arial" pitchFamily="34" charset="0"/>
                          <a:ea typeface="Arial" pitchFamily="34" charset="-122"/>
                          <a:cs typeface="Arial" pitchFamily="34" charset="-120"/>
                        </a:rPr>
                        <a:t>What is the response to the gap?</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QUICK CHECK · HANDS UP OR PHONES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Who should decide whether a busy person can be released?</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13:15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85</a:t>
            </a:r>
            <a:endParaRPr lang="en-US" sz="1000" dirty="0"/>
          </a:p>
        </p:txBody>
      </p:sp>
      <p:sp>
        <p:nvSpPr>
          <p:cNvPr id="7" name="Shape 4"/>
          <p:cNvSpPr/>
          <p:nvPr/>
        </p:nvSpPr>
        <p:spPr>
          <a:xfrm>
            <a:off x="548640" y="1828800"/>
            <a:ext cx="11091672" cy="1005840"/>
          </a:xfrm>
          <a:prstGeom prst="roundRect">
            <a:avLst>
              <a:gd name="adj" fmla="val 7273"/>
            </a:avLst>
          </a:prstGeom>
          <a:solidFill>
            <a:srgbClr val="FFFFFF"/>
          </a:solidFill>
          <a:ln w="12700">
            <a:solidFill>
              <a:srgbClr val="D9DEE2"/>
            </a:solidFill>
            <a:prstDash val="solid"/>
          </a:ln>
        </p:spPr>
      </p:sp>
      <p:sp>
        <p:nvSpPr>
          <p:cNvPr id="8" name="Shape 5"/>
          <p:cNvSpPr/>
          <p:nvPr/>
        </p:nvSpPr>
        <p:spPr>
          <a:xfrm>
            <a:off x="777240" y="2057400"/>
            <a:ext cx="548640" cy="548640"/>
          </a:xfrm>
          <a:prstGeom prst="ellipse">
            <a:avLst/>
          </a:prstGeom>
          <a:solidFill>
            <a:srgbClr val="36454F"/>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A named person, looking at the evidence</a:t>
            </a:r>
            <a:endParaRPr lang="en-US" sz="2000" dirty="0"/>
          </a:p>
        </p:txBody>
      </p:sp>
      <p:sp>
        <p:nvSpPr>
          <p:cNvPr id="11" name="Shape 8"/>
          <p:cNvSpPr/>
          <p:nvPr/>
        </p:nvSpPr>
        <p:spPr>
          <a:xfrm>
            <a:off x="548640" y="3017520"/>
            <a:ext cx="11091672" cy="1005840"/>
          </a:xfrm>
          <a:prstGeom prst="roundRect">
            <a:avLst>
              <a:gd name="adj" fmla="val 7273"/>
            </a:avLst>
          </a:prstGeom>
          <a:solidFill>
            <a:srgbClr val="FFFFFF"/>
          </a:solidFill>
          <a:ln w="12700">
            <a:solidFill>
              <a:srgbClr val="D9DEE2"/>
            </a:solidFill>
            <a:prstDash val="solid"/>
          </a:ln>
        </p:spPr>
      </p:sp>
      <p:sp>
        <p:nvSpPr>
          <p:cNvPr id="12" name="Shape 9"/>
          <p:cNvSpPr/>
          <p:nvPr/>
        </p:nvSpPr>
        <p:spPr>
          <a:xfrm>
            <a:off x="777240" y="3246120"/>
            <a:ext cx="548640" cy="548640"/>
          </a:xfrm>
          <a:prstGeom prst="ellipse">
            <a:avLst/>
          </a:prstGeom>
          <a:solidFill>
            <a:srgbClr val="36454F"/>
          </a:solidFill>
          <a:ln/>
        </p:spPr>
      </p:sp>
      <p:sp>
        <p:nvSpPr>
          <p:cNvPr id="13"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4"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The system, by a fixed rule about dates</a:t>
            </a:r>
            <a:endParaRPr lang="en-US" sz="2000" dirty="0"/>
          </a:p>
        </p:txBody>
      </p:sp>
      <p:sp>
        <p:nvSpPr>
          <p:cNvPr id="15" name="Shape 12"/>
          <p:cNvSpPr/>
          <p:nvPr/>
        </p:nvSpPr>
        <p:spPr>
          <a:xfrm>
            <a:off x="548640" y="4206240"/>
            <a:ext cx="11091672" cy="1005840"/>
          </a:xfrm>
          <a:prstGeom prst="roundRect">
            <a:avLst>
              <a:gd name="adj" fmla="val 7273"/>
            </a:avLst>
          </a:prstGeom>
          <a:solidFill>
            <a:srgbClr val="FFFFFF"/>
          </a:solidFill>
          <a:ln w="12700">
            <a:solidFill>
              <a:srgbClr val="D9DEE2"/>
            </a:solidFill>
            <a:prstDash val="solid"/>
          </a:ln>
        </p:spPr>
      </p:sp>
      <p:sp>
        <p:nvSpPr>
          <p:cNvPr id="16" name="Shape 13"/>
          <p:cNvSpPr/>
          <p:nvPr/>
        </p:nvSpPr>
        <p:spPr>
          <a:xfrm>
            <a:off x="777240" y="4434840"/>
            <a:ext cx="548640" cy="548640"/>
          </a:xfrm>
          <a:prstGeom prst="ellipse">
            <a:avLst/>
          </a:prstGeom>
          <a:solidFill>
            <a:srgbClr val="36454F"/>
          </a:solidFill>
          <a:ln/>
        </p:spPr>
      </p:sp>
      <p:sp>
        <p:nvSpPr>
          <p:cNvPr id="17"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8"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Whoever asks for the person first, by date</a:t>
            </a:r>
            <a:endParaRPr lang="en-US" sz="2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CHECK · THE ANSWER</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Who should decide whether a busy person can be released?</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13:15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86</a:t>
            </a:r>
            <a:endParaRPr lang="en-US" sz="1000" dirty="0"/>
          </a:p>
        </p:txBody>
      </p:sp>
      <p:sp>
        <p:nvSpPr>
          <p:cNvPr id="7" name="Shape 4"/>
          <p:cNvSpPr/>
          <p:nvPr/>
        </p:nvSpPr>
        <p:spPr>
          <a:xfrm>
            <a:off x="548640" y="1828800"/>
            <a:ext cx="11091672" cy="1005840"/>
          </a:xfrm>
          <a:prstGeom prst="roundRect">
            <a:avLst>
              <a:gd name="adj" fmla="val 7273"/>
            </a:avLst>
          </a:prstGeom>
          <a:solidFill>
            <a:srgbClr val="E3F1E9"/>
          </a:solidFill>
          <a:ln w="12700">
            <a:solidFill>
              <a:srgbClr val="2E8656"/>
            </a:solidFill>
            <a:prstDash val="solid"/>
          </a:ln>
        </p:spPr>
      </p:sp>
      <p:sp>
        <p:nvSpPr>
          <p:cNvPr id="8" name="Shape 5"/>
          <p:cNvSpPr/>
          <p:nvPr/>
        </p:nvSpPr>
        <p:spPr>
          <a:xfrm>
            <a:off x="777240" y="2057400"/>
            <a:ext cx="548640" cy="548640"/>
          </a:xfrm>
          <a:prstGeom prst="ellipse">
            <a:avLst/>
          </a:prstGeom>
          <a:solidFill>
            <a:srgbClr val="2E8656"/>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A named person, looking at the evidence</a:t>
            </a:r>
            <a:endParaRPr lang="en-US" sz="2000" dirty="0"/>
          </a:p>
        </p:txBody>
      </p:sp>
      <p:pic>
        <p:nvPicPr>
          <p:cNvPr id="11" name="Image 1" descr="/private/tmp/claude-501/-Users-salehhamed-Outcome-Engine/91861432-41e2-4884-bc97-63c6dff2d021/scratchpad/wk/icons/TbCircleCheck-green.png">    </p:cNvPr>
          <p:cNvPicPr>
            <a:picLocks noChangeAspect="1"/>
          </p:cNvPicPr>
          <p:nvPr/>
        </p:nvPicPr>
        <p:blipFill>
          <a:blip r:embed="rId4"/>
          <a:stretch>
            <a:fillRect/>
          </a:stretch>
        </p:blipFill>
        <p:spPr>
          <a:xfrm>
            <a:off x="10927080" y="2057400"/>
            <a:ext cx="548640" cy="548640"/>
          </a:xfrm>
          <a:prstGeom prst="rect">
            <a:avLst/>
          </a:prstGeom>
        </p:spPr>
      </p:pic>
      <p:sp>
        <p:nvSpPr>
          <p:cNvPr id="12" name="Shape 8"/>
          <p:cNvSpPr/>
          <p:nvPr/>
        </p:nvSpPr>
        <p:spPr>
          <a:xfrm>
            <a:off x="548640" y="3017520"/>
            <a:ext cx="11091672" cy="1005840"/>
          </a:xfrm>
          <a:prstGeom prst="roundRect">
            <a:avLst>
              <a:gd name="adj" fmla="val 7273"/>
            </a:avLst>
          </a:prstGeom>
          <a:solidFill>
            <a:srgbClr val="FFFFFF"/>
          </a:solidFill>
          <a:ln w="12700">
            <a:solidFill>
              <a:srgbClr val="D9DEE2"/>
            </a:solidFill>
            <a:prstDash val="solid"/>
          </a:ln>
        </p:spPr>
      </p:sp>
      <p:sp>
        <p:nvSpPr>
          <p:cNvPr id="13" name="Shape 9"/>
          <p:cNvSpPr/>
          <p:nvPr/>
        </p:nvSpPr>
        <p:spPr>
          <a:xfrm>
            <a:off x="777240" y="3246120"/>
            <a:ext cx="548640" cy="548640"/>
          </a:xfrm>
          <a:prstGeom prst="ellipse">
            <a:avLst/>
          </a:prstGeom>
          <a:solidFill>
            <a:srgbClr val="8A94A4"/>
          </a:solidFill>
          <a:ln/>
        </p:spPr>
      </p:sp>
      <p:sp>
        <p:nvSpPr>
          <p:cNvPr id="14"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5"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The system, by a fixed rule about dates</a:t>
            </a:r>
            <a:endParaRPr lang="en-US" sz="2000" dirty="0"/>
          </a:p>
        </p:txBody>
      </p:sp>
      <p:sp>
        <p:nvSpPr>
          <p:cNvPr id="16" name="Shape 12"/>
          <p:cNvSpPr/>
          <p:nvPr/>
        </p:nvSpPr>
        <p:spPr>
          <a:xfrm>
            <a:off x="548640" y="4206240"/>
            <a:ext cx="11091672" cy="1005840"/>
          </a:xfrm>
          <a:prstGeom prst="roundRect">
            <a:avLst>
              <a:gd name="adj" fmla="val 7273"/>
            </a:avLst>
          </a:prstGeom>
          <a:solidFill>
            <a:srgbClr val="FFFFFF"/>
          </a:solidFill>
          <a:ln w="12700">
            <a:solidFill>
              <a:srgbClr val="D9DEE2"/>
            </a:solidFill>
            <a:prstDash val="solid"/>
          </a:ln>
        </p:spPr>
      </p:sp>
      <p:sp>
        <p:nvSpPr>
          <p:cNvPr id="17" name="Shape 13"/>
          <p:cNvSpPr/>
          <p:nvPr/>
        </p:nvSpPr>
        <p:spPr>
          <a:xfrm>
            <a:off x="777240" y="4434840"/>
            <a:ext cx="548640" cy="548640"/>
          </a:xfrm>
          <a:prstGeom prst="ellipse">
            <a:avLst/>
          </a:prstGeom>
          <a:solidFill>
            <a:srgbClr val="8A94A4"/>
          </a:solidFill>
          <a:ln/>
        </p:spPr>
      </p:sp>
      <p:sp>
        <p:nvSpPr>
          <p:cNvPr id="18"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9"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Whoever asks for the person first, by date</a:t>
            </a:r>
            <a:endParaRPr lang="en-US" sz="2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BREAK</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Break</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14:45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8A94A4"/>
                </a:solidFill>
                <a:latin typeface="Arial" pitchFamily="34" charset="0"/>
                <a:ea typeface="Arial" pitchFamily="34" charset="-122"/>
                <a:cs typeface="Arial" pitchFamily="34" charset="-120"/>
              </a:rPr>
              <a:t>   87</a:t>
            </a:r>
            <a:endParaRPr lang="en-US" sz="1000" dirty="0"/>
          </a:p>
        </p:txBody>
      </p:sp>
      <p:sp>
        <p:nvSpPr>
          <p:cNvPr id="7" name="Shape 4"/>
          <p:cNvSpPr/>
          <p:nvPr/>
        </p:nvSpPr>
        <p:spPr>
          <a:xfrm>
            <a:off x="548640" y="1737360"/>
            <a:ext cx="1280160" cy="1280160"/>
          </a:xfrm>
          <a:prstGeom prst="ellipse">
            <a:avLst/>
          </a:prstGeom>
          <a:solidFill>
            <a:srgbClr val="287079"/>
          </a:solidFill>
          <a:ln/>
        </p:spPr>
      </p:sp>
      <p:pic>
        <p:nvPicPr>
          <p:cNvPr id="8" name="Image 1" descr="/private/tmp/claude-501/-Users-salehhamed-Outcome-Engine/91861432-41e2-4884-bc97-63c6dff2d021/scratchpad/wk/icons/TbCoffee-white.png">    </p:cNvPr>
          <p:cNvPicPr>
            <a:picLocks noChangeAspect="1"/>
          </p:cNvPicPr>
          <p:nvPr/>
        </p:nvPicPr>
        <p:blipFill>
          <a:blip r:embed="rId3"/>
          <a:stretch>
            <a:fillRect/>
          </a:stretch>
        </p:blipFill>
        <p:spPr>
          <a:xfrm>
            <a:off x="804672" y="1993392"/>
            <a:ext cx="768096" cy="768096"/>
          </a:xfrm>
          <a:prstGeom prst="rect">
            <a:avLst/>
          </a:prstGeom>
        </p:spPr>
      </p:pic>
      <p:sp>
        <p:nvSpPr>
          <p:cNvPr id="9" name="Text 5"/>
          <p:cNvSpPr txBox="1"/>
          <p:nvPr/>
        </p:nvSpPr>
        <p:spPr>
          <a:xfrm>
            <a:off x="2194560" y="1737360"/>
            <a:ext cx="8229600" cy="1280160"/>
          </a:xfrm>
          <a:prstGeom prst="rect">
            <a:avLst/>
          </a:prstGeom>
          <a:noFill/>
          <a:ln/>
        </p:spPr>
        <p:txBody>
          <a:bodyPr wrap="square" lIns="0" tIns="0" rIns="0" bIns="0" rtlCol="0" anchor="ctr"/>
          <a:lstStyle/>
          <a:p>
            <a:pPr indent="0" marL="0">
              <a:buNone/>
            </a:pPr>
            <a:r>
              <a:rPr lang="en-US" sz="4000" b="1" dirty="0">
                <a:solidFill>
                  <a:srgbClr val="1F2A33"/>
                </a:solidFill>
                <a:latin typeface="TWK Everett" pitchFamily="34" charset="0"/>
                <a:ea typeface="TWK Everett" pitchFamily="34" charset="-122"/>
                <a:cs typeface="TWK Everett" pitchFamily="34" charset="-120"/>
              </a:rPr>
              <a:t>Back at 15:00</a:t>
            </a:r>
            <a:endParaRPr lang="en-US" sz="4000" dirty="0"/>
          </a:p>
        </p:txBody>
      </p:sp>
      <p:sp>
        <p:nvSpPr>
          <p:cNvPr id="10" name="Text 6"/>
          <p:cNvSpPr txBox="1"/>
          <p:nvPr/>
        </p:nvSpPr>
        <p:spPr>
          <a:xfrm>
            <a:off x="548640" y="5120640"/>
            <a:ext cx="10058400" cy="457200"/>
          </a:xfrm>
          <a:prstGeom prst="rect">
            <a:avLst/>
          </a:prstGeom>
          <a:noFill/>
          <a:ln/>
        </p:spPr>
        <p:txBody>
          <a:bodyPr wrap="square" lIns="0" tIns="0" rIns="0" bIns="0" rtlCol="0" anchor="t"/>
          <a:lstStyle/>
          <a:p>
            <a:pPr indent="0" marL="0">
              <a:buNone/>
            </a:pPr>
            <a:r>
              <a:rPr lang="en-US" sz="1500" dirty="0">
                <a:solidFill>
                  <a:srgbClr val="5A5A5A"/>
                </a:solidFill>
                <a:latin typeface="Arial" pitchFamily="34" charset="0"/>
                <a:ea typeface="Arial" pitchFamily="34" charset="-122"/>
                <a:cs typeface="Arial" pitchFamily="34" charset="-120"/>
              </a:rPr>
              <a:t>Questions? Put them on the parking wall or in the room tool.</a:t>
            </a:r>
            <a:endParaRPr lang="en-US" sz="15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287079"/>
          </a:solidFill>
          <a:ln/>
        </p:spPr>
      </p:sp>
      <p:sp>
        <p:nvSpPr>
          <p:cNvPr id="3" name="Text 1"/>
          <p:cNvSpPr txBox="1"/>
          <p:nvPr/>
        </p:nvSpPr>
        <p:spPr>
          <a:xfrm>
            <a:off x="548640" y="548640"/>
            <a:ext cx="3474720" cy="274320"/>
          </a:xfrm>
          <a:prstGeom prst="rect">
            <a:avLst/>
          </a:prstGeom>
          <a:noFill/>
          <a:ln/>
        </p:spPr>
        <p:txBody>
          <a:bodyPr wrap="square" lIns="0" tIns="0" rIns="0" bIns="0" rtlCol="0" anchor="t"/>
          <a:lstStyle/>
          <a:p>
            <a:pPr indent="0" marL="0">
              <a:buNone/>
            </a:pPr>
            <a:r>
              <a:rPr lang="en-US" sz="1100" b="1" spc="150" kern="0" dirty="0">
                <a:solidFill>
                  <a:srgbClr val="D9DEE2"/>
                </a:solidFill>
                <a:latin typeface="Arial" pitchFamily="34" charset="0"/>
                <a:ea typeface="Arial" pitchFamily="34" charset="-122"/>
                <a:cs typeface="Arial" pitchFamily="34" charset="-120"/>
              </a:rPr>
              <a:t>DAY 1 · 15:00–16:15 · 75 MIN</a:t>
            </a:r>
            <a:endParaRPr lang="en-US" sz="1100" dirty="0"/>
          </a:p>
        </p:txBody>
      </p:sp>
      <p:sp>
        <p:nvSpPr>
          <p:cNvPr id="4" name="Text 2"/>
          <p:cNvSpPr txBox="1"/>
          <p:nvPr/>
        </p:nvSpPr>
        <p:spPr>
          <a:xfrm>
            <a:off x="548640" y="960120"/>
            <a:ext cx="3383280" cy="2377440"/>
          </a:xfrm>
          <a:prstGeom prst="rect">
            <a:avLst/>
          </a:prstGeom>
          <a:noFill/>
          <a:ln/>
        </p:spPr>
        <p:txBody>
          <a:bodyPr wrap="square" lIns="0" tIns="0" rIns="0" bIns="0" rtlCol="0" anchor="t"/>
          <a:lstStyle/>
          <a:p>
            <a:pPr indent="0" marL="0">
              <a:buNone/>
            </a:pPr>
            <a:r>
              <a:rPr lang="en-US" sz="3000" b="1" dirty="0">
                <a:solidFill>
                  <a:srgbClr val="FFFFFF"/>
                </a:solidFill>
                <a:latin typeface="TWK Everett" pitchFamily="34" charset="0"/>
                <a:ea typeface="TWK Everett" pitchFamily="34" charset="-122"/>
                <a:cs typeface="TWK Everett" pitchFamily="34" charset="-120"/>
              </a:rPr>
              <a:t>Define how it should work: rules and exceptions</a:t>
            </a:r>
            <a:endParaRPr lang="en-US" sz="3000" dirty="0"/>
          </a:p>
        </p:txBody>
      </p:sp>
      <p:pic>
        <p:nvPicPr>
          <p:cNvPr id="5" name="Image 0" descr="/private/tmp/claude-501/-Users-salehhamed-Outcome-Engine/91861432-41e2-4884-bc97-63c6dff2d021/scratchpad/wk/icons/TbGavel-white.png">    </p:cNvPr>
          <p:cNvPicPr>
            <a:picLocks noChangeAspect="1"/>
          </p:cNvPicPr>
          <p:nvPr/>
        </p:nvPicPr>
        <p:blipFill>
          <a:blip r:embed="rId1"/>
          <a:stretch>
            <a:fillRect/>
          </a:stretch>
        </p:blipFill>
        <p:spPr>
          <a:xfrm>
            <a:off x="548640" y="3200400"/>
            <a:ext cx="685800" cy="685800"/>
          </a:xfrm>
          <a:prstGeom prst="rect">
            <a:avLst/>
          </a:prstGeom>
        </p:spPr>
      </p:pic>
      <p:sp>
        <p:nvSpPr>
          <p:cNvPr id="6" name="Shape 3"/>
          <p:cNvSpPr/>
          <p:nvPr/>
        </p:nvSpPr>
        <p:spPr>
          <a:xfrm>
            <a:off x="548640" y="4169664"/>
            <a:ext cx="237744" cy="237744"/>
          </a:xfrm>
          <a:prstGeom prst="ellipse">
            <a:avLst/>
          </a:prstGeom>
          <a:solidFill>
            <a:srgbClr val="FFFFFF"/>
          </a:solidFill>
          <a:ln/>
        </p:spPr>
      </p:sp>
      <p:sp>
        <p:nvSpPr>
          <p:cNvPr id="7" name="Shape 4"/>
          <p:cNvSpPr/>
          <p:nvPr/>
        </p:nvSpPr>
        <p:spPr>
          <a:xfrm>
            <a:off x="932688" y="4169664"/>
            <a:ext cx="237744" cy="237744"/>
          </a:xfrm>
          <a:prstGeom prst="ellipse">
            <a:avLst/>
          </a:prstGeom>
          <a:solidFill>
            <a:srgbClr val="FFFFFF"/>
          </a:solidFill>
          <a:ln/>
        </p:spPr>
      </p:sp>
      <p:sp>
        <p:nvSpPr>
          <p:cNvPr id="8" name="Shape 5"/>
          <p:cNvSpPr/>
          <p:nvPr/>
        </p:nvSpPr>
        <p:spPr>
          <a:xfrm>
            <a:off x="1316736" y="4169664"/>
            <a:ext cx="237744" cy="237744"/>
          </a:xfrm>
          <a:prstGeom prst="ellipse">
            <a:avLst/>
          </a:prstGeom>
          <a:solidFill>
            <a:srgbClr val="FFFFFF"/>
          </a:solidFill>
          <a:ln/>
        </p:spPr>
      </p:sp>
      <p:sp>
        <p:nvSpPr>
          <p:cNvPr id="9" name="Shape 6"/>
          <p:cNvSpPr/>
          <p:nvPr/>
        </p:nvSpPr>
        <p:spPr>
          <a:xfrm>
            <a:off x="1700784" y="4169664"/>
            <a:ext cx="237744" cy="237744"/>
          </a:xfrm>
          <a:prstGeom prst="ellipse">
            <a:avLst/>
          </a:prstGeom>
          <a:solidFill>
            <a:srgbClr val="FFFFFF"/>
          </a:solidFill>
          <a:ln/>
        </p:spPr>
      </p:sp>
      <p:sp>
        <p:nvSpPr>
          <p:cNvPr id="10" name="Shape 7"/>
          <p:cNvSpPr/>
          <p:nvPr/>
        </p:nvSpPr>
        <p:spPr>
          <a:xfrm>
            <a:off x="2048256" y="4133088"/>
            <a:ext cx="310896" cy="310896"/>
          </a:xfrm>
          <a:prstGeom prst="ellipse">
            <a:avLst/>
          </a:prstGeom>
          <a:solidFill>
            <a:srgbClr val="FF462D"/>
          </a:solidFill>
          <a:ln w="19050">
            <a:solidFill>
              <a:srgbClr val="FFFFFF"/>
            </a:solidFill>
            <a:prstDash val="solid"/>
          </a:ln>
        </p:spPr>
      </p:sp>
      <p:sp>
        <p:nvSpPr>
          <p:cNvPr id="11" name="Shape 8"/>
          <p:cNvSpPr/>
          <p:nvPr/>
        </p:nvSpPr>
        <p:spPr>
          <a:xfrm>
            <a:off x="2468880" y="4169664"/>
            <a:ext cx="237744" cy="237744"/>
          </a:xfrm>
          <a:prstGeom prst="ellipse">
            <a:avLst/>
          </a:prstGeom>
          <a:ln w="15875">
            <a:solidFill>
              <a:srgbClr val="D9DEE2"/>
            </a:solidFill>
            <a:prstDash val="solid"/>
          </a:ln>
        </p:spPr>
      </p:sp>
      <p:sp>
        <p:nvSpPr>
          <p:cNvPr id="12" name="Shape 9"/>
          <p:cNvSpPr/>
          <p:nvPr/>
        </p:nvSpPr>
        <p:spPr>
          <a:xfrm>
            <a:off x="2852928" y="4169664"/>
            <a:ext cx="237744" cy="237744"/>
          </a:xfrm>
          <a:prstGeom prst="ellipse">
            <a:avLst/>
          </a:prstGeom>
          <a:ln w="15875">
            <a:solidFill>
              <a:srgbClr val="D9DEE2"/>
            </a:solidFill>
            <a:prstDash val="solid"/>
          </a:ln>
        </p:spPr>
      </p:sp>
      <p:sp>
        <p:nvSpPr>
          <p:cNvPr id="13" name="Shape 10"/>
          <p:cNvSpPr/>
          <p:nvPr/>
        </p:nvSpPr>
        <p:spPr>
          <a:xfrm>
            <a:off x="3236976" y="4169664"/>
            <a:ext cx="237744" cy="237744"/>
          </a:xfrm>
          <a:prstGeom prst="ellipse">
            <a:avLst/>
          </a:prstGeom>
          <a:ln w="15875">
            <a:solidFill>
              <a:srgbClr val="D9DEE2"/>
            </a:solidFill>
            <a:prstDash val="solid"/>
          </a:ln>
        </p:spPr>
      </p:sp>
      <p:sp>
        <p:nvSpPr>
          <p:cNvPr id="14" name="Text 11"/>
          <p:cNvSpPr txBox="1"/>
          <p:nvPr/>
        </p:nvSpPr>
        <p:spPr>
          <a:xfrm>
            <a:off x="548640" y="4553712"/>
            <a:ext cx="338328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Step 5 of 8: When things go wrong</a:t>
            </a:r>
            <a:endParaRPr lang="en-US" sz="1100" dirty="0"/>
          </a:p>
        </p:txBody>
      </p:sp>
      <p:sp>
        <p:nvSpPr>
          <p:cNvPr id="15" name="Text 12"/>
          <p:cNvSpPr txBox="1"/>
          <p:nvPr/>
        </p:nvSpPr>
        <p:spPr>
          <a:xfrm>
            <a:off x="4709160" y="685800"/>
            <a:ext cx="6400800" cy="320040"/>
          </a:xfrm>
          <a:prstGeom prst="rect">
            <a:avLst/>
          </a:prstGeom>
          <a:noFill/>
          <a:ln/>
        </p:spPr>
        <p:txBody>
          <a:bodyPr wrap="square" lIns="0" tIns="0" rIns="0" bIns="0" rtlCol="0" anchor="t"/>
          <a:lstStyle/>
          <a:p>
            <a:pPr indent="0" marL="0">
              <a:buNone/>
            </a:pPr>
            <a:r>
              <a:rPr lang="en-US" sz="1400" b="1" dirty="0">
                <a:solidFill>
                  <a:srgbClr val="287079"/>
                </a:solidFill>
                <a:latin typeface="Arial" pitchFamily="34" charset="0"/>
                <a:ea typeface="Arial" pitchFamily="34" charset="-122"/>
                <a:cs typeface="Arial" pitchFamily="34" charset="-120"/>
              </a:rPr>
              <a:t>By the end of this session, you can</a:t>
            </a:r>
            <a:endParaRPr lang="en-US" sz="1400" dirty="0"/>
          </a:p>
        </p:txBody>
      </p:sp>
      <p:pic>
        <p:nvPicPr>
          <p:cNvPr id="16" name="Image 1" descr="/private/tmp/claude-501/-Users-salehhamed-Outcome-Engine/91861432-41e2-4884-bc97-63c6dff2d021/scratchpad/wk/icons/TbCircleCheck-teal.png">    </p:cNvPr>
          <p:cNvPicPr>
            <a:picLocks noChangeAspect="1"/>
          </p:cNvPicPr>
          <p:nvPr/>
        </p:nvPicPr>
        <p:blipFill>
          <a:blip r:embed="rId2"/>
          <a:stretch>
            <a:fillRect/>
          </a:stretch>
        </p:blipFill>
        <p:spPr>
          <a:xfrm>
            <a:off x="4709160" y="1225296"/>
            <a:ext cx="411480" cy="411480"/>
          </a:xfrm>
          <a:prstGeom prst="rect">
            <a:avLst/>
          </a:prstGeom>
        </p:spPr>
      </p:pic>
      <p:sp>
        <p:nvSpPr>
          <p:cNvPr id="17" name="Text 13"/>
          <p:cNvSpPr txBox="1"/>
          <p:nvPr/>
        </p:nvSpPr>
        <p:spPr>
          <a:xfrm>
            <a:off x="5303520" y="118872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Run five exception cases through the draft.</a:t>
            </a:r>
            <a:endParaRPr lang="en-US" sz="1700" dirty="0"/>
          </a:p>
        </p:txBody>
      </p:sp>
      <p:pic>
        <p:nvPicPr>
          <p:cNvPr id="18" name="Image 2" descr="/private/tmp/claude-501/-Users-salehhamed-Outcome-Engine/91861432-41e2-4884-bc97-63c6dff2d021/scratchpad/wk/icons/TbCircleCheck-teal.png">    </p:cNvPr>
          <p:cNvPicPr>
            <a:picLocks noChangeAspect="1"/>
          </p:cNvPicPr>
          <p:nvPr/>
        </p:nvPicPr>
        <p:blipFill>
          <a:blip r:embed="rId3"/>
          <a:stretch>
            <a:fillRect/>
          </a:stretch>
        </p:blipFill>
        <p:spPr>
          <a:xfrm>
            <a:off x="4709160" y="2093976"/>
            <a:ext cx="411480" cy="411480"/>
          </a:xfrm>
          <a:prstGeom prst="rect">
            <a:avLst/>
          </a:prstGeom>
        </p:spPr>
      </p:pic>
      <p:sp>
        <p:nvSpPr>
          <p:cNvPr id="19" name="Text 14"/>
          <p:cNvSpPr txBox="1"/>
          <p:nvPr/>
        </p:nvSpPr>
        <p:spPr>
          <a:xfrm>
            <a:off x="5303520" y="205740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Write each rule: when, then, who decides, by when, and if nobody answers.</a:t>
            </a:r>
            <a:endParaRPr lang="en-US" sz="1700" dirty="0"/>
          </a:p>
        </p:txBody>
      </p:sp>
      <p:pic>
        <p:nvPicPr>
          <p:cNvPr id="20" name="Image 3" descr="/private/tmp/claude-501/-Users-salehhamed-Outcome-Engine/91861432-41e2-4884-bc97-63c6dff2d021/scratchpad/wk/icons/TbCircleCheck-teal.png">    </p:cNvPr>
          <p:cNvPicPr>
            <a:picLocks noChangeAspect="1"/>
          </p:cNvPicPr>
          <p:nvPr/>
        </p:nvPicPr>
        <p:blipFill>
          <a:blip r:embed="rId4"/>
          <a:stretch>
            <a:fillRect/>
          </a:stretch>
        </p:blipFill>
        <p:spPr>
          <a:xfrm>
            <a:off x="4709160" y="2962656"/>
            <a:ext cx="411480" cy="411480"/>
          </a:xfrm>
          <a:prstGeom prst="rect">
            <a:avLst/>
          </a:prstGeom>
        </p:spPr>
      </p:pic>
      <p:sp>
        <p:nvSpPr>
          <p:cNvPr id="21" name="Text 15"/>
          <p:cNvSpPr txBox="1"/>
          <p:nvPr/>
        </p:nvSpPr>
        <p:spPr>
          <a:xfrm>
            <a:off x="5303520" y="292608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Know the system's three answers: go ahead, ask a person, stop.</a:t>
            </a:r>
            <a:endParaRPr lang="en-US" sz="1700" dirty="0"/>
          </a:p>
        </p:txBody>
      </p:sp>
      <p:sp>
        <p:nvSpPr>
          <p:cNvPr id="22" name="Shape 16"/>
          <p:cNvSpPr/>
          <p:nvPr/>
        </p:nvSpPr>
        <p:spPr>
          <a:xfrm>
            <a:off x="4709160" y="4800600"/>
            <a:ext cx="6931152" cy="1234440"/>
          </a:xfrm>
          <a:prstGeom prst="roundRect">
            <a:avLst>
              <a:gd name="adj" fmla="val 5926"/>
            </a:avLst>
          </a:prstGeom>
          <a:solidFill>
            <a:srgbClr val="FFF0EC"/>
          </a:solidFill>
          <a:ln/>
        </p:spPr>
      </p:sp>
      <p:sp>
        <p:nvSpPr>
          <p:cNvPr id="23" name="Text 17"/>
          <p:cNvSpPr txBox="1"/>
          <p:nvPr/>
        </p:nvSpPr>
        <p:spPr>
          <a:xfrm>
            <a:off x="4937760" y="4800600"/>
            <a:ext cx="6492240" cy="1234440"/>
          </a:xfrm>
          <a:prstGeom prst="rect">
            <a:avLst/>
          </a:prstGeom>
          <a:noFill/>
          <a:ln/>
        </p:spPr>
        <p:txBody>
          <a:bodyPr wrap="square" lIns="0" tIns="0" rIns="0" bIns="0" rtlCol="0" anchor="ctr"/>
          <a:lstStyle/>
          <a:p>
            <a:pPr indent="0" marL="0">
              <a:buNone/>
            </a:pPr>
            <a:r>
              <a:rPr lang="en-US" sz="1800" b="1" dirty="0">
                <a:solidFill>
                  <a:srgbClr val="FF462D"/>
                </a:solidFill>
                <a:latin typeface="Arial" pitchFamily="34" charset="0"/>
                <a:ea typeface="Arial" pitchFamily="34" charset="-122"/>
                <a:cs typeface="Arial" pitchFamily="34" charset="-120"/>
              </a:rPr>
              <a:t>A good rule says what happens next, who decides, and by when.</a:t>
            </a:r>
            <a:endParaRPr lang="en-US" sz="1800" dirty="0"/>
          </a:p>
        </p:txBody>
      </p:sp>
      <p:sp>
        <p:nvSpPr>
          <p:cNvPr id="24" name="Text 18"/>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5"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6" action="ppaction://hlinksldjump" tooltip="The thre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88</a:t>
            </a:r>
            <a:endParaRPr lang="en-US" sz="1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DEFINE HOW IT SHOULD WORK: RULES AND EXCEPTIONS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A rule has five parts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15:00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89</a:t>
            </a:r>
            <a:endParaRPr lang="en-US" sz="1000" dirty="0"/>
          </a:p>
        </p:txBody>
      </p:sp>
      <p:sp>
        <p:nvSpPr>
          <p:cNvPr id="7" name="Shape 4"/>
          <p:cNvSpPr/>
          <p:nvPr/>
        </p:nvSpPr>
        <p:spPr>
          <a:xfrm>
            <a:off x="548640" y="1645920"/>
            <a:ext cx="2103120" cy="2377440"/>
          </a:xfrm>
          <a:prstGeom prst="roundRect">
            <a:avLst>
              <a:gd name="adj" fmla="val 4348"/>
            </a:avLst>
          </a:prstGeom>
          <a:solidFill>
            <a:srgbClr val="287079"/>
          </a:solidFill>
          <a:ln/>
        </p:spPr>
      </p:sp>
      <p:pic>
        <p:nvPicPr>
          <p:cNvPr id="8" name="Image 1" descr="/private/tmp/claude-501/-Users-salehhamed-Outcome-Engine/91861432-41e2-4884-bc97-63c6dff2d021/scratchpad/wk/icons/TbBolt-white.png">    </p:cNvPr>
          <p:cNvPicPr>
            <a:picLocks noChangeAspect="1"/>
          </p:cNvPicPr>
          <p:nvPr/>
        </p:nvPicPr>
        <p:blipFill>
          <a:blip r:embed="rId4"/>
          <a:stretch>
            <a:fillRect/>
          </a:stretch>
        </p:blipFill>
        <p:spPr>
          <a:xfrm>
            <a:off x="1234440" y="1874520"/>
            <a:ext cx="731520" cy="731520"/>
          </a:xfrm>
          <a:prstGeom prst="rect">
            <a:avLst/>
          </a:prstGeom>
        </p:spPr>
      </p:pic>
      <p:sp>
        <p:nvSpPr>
          <p:cNvPr id="9" name="Text 5"/>
          <p:cNvSpPr txBox="1"/>
          <p:nvPr/>
        </p:nvSpPr>
        <p:spPr>
          <a:xfrm>
            <a:off x="640080" y="2743200"/>
            <a:ext cx="1920240" cy="50292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When</a:t>
            </a:r>
            <a:endParaRPr lang="en-US" sz="1800" dirty="0"/>
          </a:p>
        </p:txBody>
      </p:sp>
      <p:sp>
        <p:nvSpPr>
          <p:cNvPr id="10" name="Text 6"/>
          <p:cNvSpPr txBox="1"/>
          <p:nvPr/>
        </p:nvSpPr>
        <p:spPr>
          <a:xfrm>
            <a:off x="640080" y="3246120"/>
            <a:ext cx="1920240" cy="457200"/>
          </a:xfrm>
          <a:prstGeom prst="rect">
            <a:avLst/>
          </a:prstGeom>
          <a:noFill/>
          <a:ln/>
        </p:spPr>
        <p:txBody>
          <a:bodyPr wrap="square" lIns="0" tIns="0" rIns="0" bIns="0" rtlCol="0" anchor="t"/>
          <a:lstStyle/>
          <a:p>
            <a:pPr algn="ctr" indent="0" marL="0">
              <a:buNone/>
            </a:pPr>
            <a:r>
              <a:rPr lang="en-US" sz="1300" dirty="0">
                <a:solidFill>
                  <a:srgbClr val="FFFFFF"/>
                </a:solidFill>
                <a:latin typeface="Arial" pitchFamily="34" charset="0"/>
                <a:ea typeface="Arial" pitchFamily="34" charset="-122"/>
                <a:cs typeface="Arial" pitchFamily="34" charset="-120"/>
              </a:rPr>
              <a:t>this happens</a:t>
            </a:r>
            <a:endParaRPr lang="en-US" sz="1300" dirty="0"/>
          </a:p>
        </p:txBody>
      </p:sp>
      <p:sp>
        <p:nvSpPr>
          <p:cNvPr id="11" name="Shape 7"/>
          <p:cNvSpPr/>
          <p:nvPr/>
        </p:nvSpPr>
        <p:spPr>
          <a:xfrm>
            <a:off x="2788920" y="1645920"/>
            <a:ext cx="2103120" cy="2377440"/>
          </a:xfrm>
          <a:prstGeom prst="roundRect">
            <a:avLst>
              <a:gd name="adj" fmla="val 4348"/>
            </a:avLst>
          </a:prstGeom>
          <a:solidFill>
            <a:srgbClr val="287079"/>
          </a:solidFill>
          <a:ln/>
        </p:spPr>
      </p:sp>
      <p:pic>
        <p:nvPicPr>
          <p:cNvPr id="12" name="Image 2" descr="/private/tmp/claude-501/-Users-salehhamed-Outcome-Engine/91861432-41e2-4884-bc97-63c6dff2d021/scratchpad/wk/icons/TbArrowBigRight-white.png">    </p:cNvPr>
          <p:cNvPicPr>
            <a:picLocks noChangeAspect="1"/>
          </p:cNvPicPr>
          <p:nvPr/>
        </p:nvPicPr>
        <p:blipFill>
          <a:blip r:embed="rId5"/>
          <a:stretch>
            <a:fillRect/>
          </a:stretch>
        </p:blipFill>
        <p:spPr>
          <a:xfrm>
            <a:off x="3474720" y="1874520"/>
            <a:ext cx="731520" cy="731520"/>
          </a:xfrm>
          <a:prstGeom prst="rect">
            <a:avLst/>
          </a:prstGeom>
        </p:spPr>
      </p:pic>
      <p:sp>
        <p:nvSpPr>
          <p:cNvPr id="13" name="Text 8"/>
          <p:cNvSpPr txBox="1"/>
          <p:nvPr/>
        </p:nvSpPr>
        <p:spPr>
          <a:xfrm>
            <a:off x="2880360" y="2743200"/>
            <a:ext cx="1920240" cy="50292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Then</a:t>
            </a:r>
            <a:endParaRPr lang="en-US" sz="1800" dirty="0"/>
          </a:p>
        </p:txBody>
      </p:sp>
      <p:sp>
        <p:nvSpPr>
          <p:cNvPr id="14" name="Text 9"/>
          <p:cNvSpPr txBox="1"/>
          <p:nvPr/>
        </p:nvSpPr>
        <p:spPr>
          <a:xfrm>
            <a:off x="2880360" y="3246120"/>
            <a:ext cx="1920240" cy="457200"/>
          </a:xfrm>
          <a:prstGeom prst="rect">
            <a:avLst/>
          </a:prstGeom>
          <a:noFill/>
          <a:ln/>
        </p:spPr>
        <p:txBody>
          <a:bodyPr wrap="square" lIns="0" tIns="0" rIns="0" bIns="0" rtlCol="0" anchor="t"/>
          <a:lstStyle/>
          <a:p>
            <a:pPr algn="ctr" indent="0" marL="0">
              <a:buNone/>
            </a:pPr>
            <a:r>
              <a:rPr lang="en-US" sz="1300" dirty="0">
                <a:solidFill>
                  <a:srgbClr val="FFFFFF"/>
                </a:solidFill>
                <a:latin typeface="Arial" pitchFamily="34" charset="0"/>
                <a:ea typeface="Arial" pitchFamily="34" charset="-122"/>
                <a:cs typeface="Arial" pitchFamily="34" charset="-120"/>
              </a:rPr>
              <a:t>this happens next</a:t>
            </a:r>
            <a:endParaRPr lang="en-US" sz="1300" dirty="0"/>
          </a:p>
        </p:txBody>
      </p:sp>
      <p:sp>
        <p:nvSpPr>
          <p:cNvPr id="15" name="Shape 10"/>
          <p:cNvSpPr/>
          <p:nvPr/>
        </p:nvSpPr>
        <p:spPr>
          <a:xfrm>
            <a:off x="5029200" y="1645920"/>
            <a:ext cx="2103120" cy="2377440"/>
          </a:xfrm>
          <a:prstGeom prst="roundRect">
            <a:avLst>
              <a:gd name="adj" fmla="val 4348"/>
            </a:avLst>
          </a:prstGeom>
          <a:solidFill>
            <a:srgbClr val="287079"/>
          </a:solidFill>
          <a:ln/>
        </p:spPr>
      </p:sp>
      <p:pic>
        <p:nvPicPr>
          <p:cNvPr id="16" name="Image 3" descr="/private/tmp/claude-501/-Users-salehhamed-Outcome-Engine/91861432-41e2-4884-bc97-63c6dff2d021/scratchpad/wk/icons/TbUserCheck-white.png">    </p:cNvPr>
          <p:cNvPicPr>
            <a:picLocks noChangeAspect="1"/>
          </p:cNvPicPr>
          <p:nvPr/>
        </p:nvPicPr>
        <p:blipFill>
          <a:blip r:embed="rId6"/>
          <a:stretch>
            <a:fillRect/>
          </a:stretch>
        </p:blipFill>
        <p:spPr>
          <a:xfrm>
            <a:off x="5715000" y="1874520"/>
            <a:ext cx="731520" cy="731520"/>
          </a:xfrm>
          <a:prstGeom prst="rect">
            <a:avLst/>
          </a:prstGeom>
        </p:spPr>
      </p:pic>
      <p:sp>
        <p:nvSpPr>
          <p:cNvPr id="17" name="Text 11"/>
          <p:cNvSpPr txBox="1"/>
          <p:nvPr/>
        </p:nvSpPr>
        <p:spPr>
          <a:xfrm>
            <a:off x="5120640" y="2743200"/>
            <a:ext cx="1920240" cy="50292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Who decides</a:t>
            </a:r>
            <a:endParaRPr lang="en-US" sz="1800" dirty="0"/>
          </a:p>
        </p:txBody>
      </p:sp>
      <p:sp>
        <p:nvSpPr>
          <p:cNvPr id="18" name="Text 12"/>
          <p:cNvSpPr txBox="1"/>
          <p:nvPr/>
        </p:nvSpPr>
        <p:spPr>
          <a:xfrm>
            <a:off x="5120640" y="3246120"/>
            <a:ext cx="1920240" cy="457200"/>
          </a:xfrm>
          <a:prstGeom prst="rect">
            <a:avLst/>
          </a:prstGeom>
          <a:noFill/>
          <a:ln/>
        </p:spPr>
        <p:txBody>
          <a:bodyPr wrap="square" lIns="0" tIns="0" rIns="0" bIns="0" rtlCol="0" anchor="t"/>
          <a:lstStyle/>
          <a:p>
            <a:pPr algn="ctr" indent="0" marL="0">
              <a:buNone/>
            </a:pPr>
            <a:r>
              <a:rPr lang="en-US" sz="1300" dirty="0">
                <a:solidFill>
                  <a:srgbClr val="FFFFFF"/>
                </a:solidFill>
                <a:latin typeface="Arial" pitchFamily="34" charset="0"/>
                <a:ea typeface="Arial" pitchFamily="34" charset="-122"/>
                <a:cs typeface="Arial" pitchFamily="34" charset="-120"/>
              </a:rPr>
              <a:t>a role</a:t>
            </a:r>
            <a:endParaRPr lang="en-US" sz="1300" dirty="0"/>
          </a:p>
        </p:txBody>
      </p:sp>
      <p:sp>
        <p:nvSpPr>
          <p:cNvPr id="19" name="Shape 13"/>
          <p:cNvSpPr/>
          <p:nvPr/>
        </p:nvSpPr>
        <p:spPr>
          <a:xfrm>
            <a:off x="7269480" y="1645920"/>
            <a:ext cx="2103120" cy="2377440"/>
          </a:xfrm>
          <a:prstGeom prst="roundRect">
            <a:avLst>
              <a:gd name="adj" fmla="val 4348"/>
            </a:avLst>
          </a:prstGeom>
          <a:solidFill>
            <a:srgbClr val="287079"/>
          </a:solidFill>
          <a:ln/>
        </p:spPr>
      </p:sp>
      <p:pic>
        <p:nvPicPr>
          <p:cNvPr id="20" name="Image 4" descr="/private/tmp/claude-501/-Users-salehhamed-Outcome-Engine/91861432-41e2-4884-bc97-63c6dff2d021/scratchpad/wk/icons/TbClock-white.png">    </p:cNvPr>
          <p:cNvPicPr>
            <a:picLocks noChangeAspect="1"/>
          </p:cNvPicPr>
          <p:nvPr/>
        </p:nvPicPr>
        <p:blipFill>
          <a:blip r:embed="rId7"/>
          <a:stretch>
            <a:fillRect/>
          </a:stretch>
        </p:blipFill>
        <p:spPr>
          <a:xfrm>
            <a:off x="7955280" y="1874520"/>
            <a:ext cx="731520" cy="731520"/>
          </a:xfrm>
          <a:prstGeom prst="rect">
            <a:avLst/>
          </a:prstGeom>
        </p:spPr>
      </p:pic>
      <p:sp>
        <p:nvSpPr>
          <p:cNvPr id="21" name="Text 14"/>
          <p:cNvSpPr txBox="1"/>
          <p:nvPr/>
        </p:nvSpPr>
        <p:spPr>
          <a:xfrm>
            <a:off x="7360920" y="2743200"/>
            <a:ext cx="1920240" cy="50292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By when</a:t>
            </a:r>
            <a:endParaRPr lang="en-US" sz="1800" dirty="0"/>
          </a:p>
        </p:txBody>
      </p:sp>
      <p:sp>
        <p:nvSpPr>
          <p:cNvPr id="22" name="Text 15"/>
          <p:cNvSpPr txBox="1"/>
          <p:nvPr/>
        </p:nvSpPr>
        <p:spPr>
          <a:xfrm>
            <a:off x="7360920" y="3246120"/>
            <a:ext cx="1920240" cy="457200"/>
          </a:xfrm>
          <a:prstGeom prst="rect">
            <a:avLst/>
          </a:prstGeom>
          <a:noFill/>
          <a:ln/>
        </p:spPr>
        <p:txBody>
          <a:bodyPr wrap="square" lIns="0" tIns="0" rIns="0" bIns="0" rtlCol="0" anchor="t"/>
          <a:lstStyle/>
          <a:p>
            <a:pPr algn="ctr" indent="0" marL="0">
              <a:buNone/>
            </a:pPr>
            <a:r>
              <a:rPr lang="en-US" sz="1300" dirty="0">
                <a:solidFill>
                  <a:srgbClr val="FFFFFF"/>
                </a:solidFill>
                <a:latin typeface="Arial" pitchFamily="34" charset="0"/>
                <a:ea typeface="Arial" pitchFamily="34" charset="-122"/>
                <a:cs typeface="Arial" pitchFamily="34" charset="-120"/>
              </a:rPr>
              <a:t>a deadline</a:t>
            </a:r>
            <a:endParaRPr lang="en-US" sz="1300" dirty="0"/>
          </a:p>
        </p:txBody>
      </p:sp>
      <p:sp>
        <p:nvSpPr>
          <p:cNvPr id="23" name="Shape 16"/>
          <p:cNvSpPr/>
          <p:nvPr/>
        </p:nvSpPr>
        <p:spPr>
          <a:xfrm>
            <a:off x="9509760" y="1645920"/>
            <a:ext cx="2103120" cy="2377440"/>
          </a:xfrm>
          <a:prstGeom prst="roundRect">
            <a:avLst>
              <a:gd name="adj" fmla="val 4348"/>
            </a:avLst>
          </a:prstGeom>
          <a:solidFill>
            <a:srgbClr val="FF462D"/>
          </a:solidFill>
          <a:ln/>
        </p:spPr>
      </p:sp>
      <p:pic>
        <p:nvPicPr>
          <p:cNvPr id="24" name="Image 5" descr="/private/tmp/claude-501/-Users-salehhamed-Outcome-Engine/91861432-41e2-4884-bc97-63c6dff2d021/scratchpad/wk/icons/TbArrowUp-white.png">    </p:cNvPr>
          <p:cNvPicPr>
            <a:picLocks noChangeAspect="1"/>
          </p:cNvPicPr>
          <p:nvPr/>
        </p:nvPicPr>
        <p:blipFill>
          <a:blip r:embed="rId8"/>
          <a:stretch>
            <a:fillRect/>
          </a:stretch>
        </p:blipFill>
        <p:spPr>
          <a:xfrm>
            <a:off x="10195560" y="1874520"/>
            <a:ext cx="731520" cy="731520"/>
          </a:xfrm>
          <a:prstGeom prst="rect">
            <a:avLst/>
          </a:prstGeom>
        </p:spPr>
      </p:pic>
      <p:sp>
        <p:nvSpPr>
          <p:cNvPr id="25" name="Text 17"/>
          <p:cNvSpPr txBox="1"/>
          <p:nvPr/>
        </p:nvSpPr>
        <p:spPr>
          <a:xfrm>
            <a:off x="9601200" y="2743200"/>
            <a:ext cx="1920240" cy="50292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If nobody answers</a:t>
            </a:r>
            <a:endParaRPr lang="en-US" sz="1800" dirty="0"/>
          </a:p>
        </p:txBody>
      </p:sp>
      <p:sp>
        <p:nvSpPr>
          <p:cNvPr id="26" name="Text 18"/>
          <p:cNvSpPr txBox="1"/>
          <p:nvPr/>
        </p:nvSpPr>
        <p:spPr>
          <a:xfrm>
            <a:off x="9601200" y="3246120"/>
            <a:ext cx="1920240" cy="457200"/>
          </a:xfrm>
          <a:prstGeom prst="rect">
            <a:avLst/>
          </a:prstGeom>
          <a:noFill/>
          <a:ln/>
        </p:spPr>
        <p:txBody>
          <a:bodyPr wrap="square" lIns="0" tIns="0" rIns="0" bIns="0" rtlCol="0" anchor="t"/>
          <a:lstStyle/>
          <a:p>
            <a:pPr algn="ctr" indent="0" marL="0">
              <a:buNone/>
            </a:pPr>
            <a:r>
              <a:rPr lang="en-US" sz="1300" dirty="0">
                <a:solidFill>
                  <a:srgbClr val="FFFFFF"/>
                </a:solidFill>
                <a:latin typeface="Arial" pitchFamily="34" charset="0"/>
                <a:ea typeface="Arial" pitchFamily="34" charset="-122"/>
                <a:cs typeface="Arial" pitchFamily="34" charset="-120"/>
              </a:rPr>
              <a:t>it goes to</a:t>
            </a:r>
            <a:endParaRPr lang="en-US" sz="1300" dirty="0"/>
          </a:p>
        </p:txBody>
      </p:sp>
      <p:sp>
        <p:nvSpPr>
          <p:cNvPr id="27" name="Shape 19"/>
          <p:cNvSpPr/>
          <p:nvPr/>
        </p:nvSpPr>
        <p:spPr>
          <a:xfrm>
            <a:off x="548640" y="4343400"/>
            <a:ext cx="11091672" cy="1691640"/>
          </a:xfrm>
          <a:prstGeom prst="roundRect">
            <a:avLst>
              <a:gd name="adj" fmla="val 5405"/>
            </a:avLst>
          </a:prstGeom>
          <a:solidFill>
            <a:srgbClr val="F2F4F5"/>
          </a:solidFill>
          <a:ln/>
        </p:spPr>
      </p:sp>
      <p:sp>
        <p:nvSpPr>
          <p:cNvPr id="28" name="Text 20"/>
          <p:cNvSpPr txBox="1"/>
          <p:nvPr/>
        </p:nvSpPr>
        <p:spPr>
          <a:xfrm>
            <a:off x="822960" y="4480560"/>
            <a:ext cx="10058400" cy="320040"/>
          </a:xfrm>
          <a:prstGeom prst="rect">
            <a:avLst/>
          </a:prstGeom>
          <a:noFill/>
          <a:ln/>
        </p:spPr>
        <p:txBody>
          <a:bodyPr wrap="square" lIns="0" tIns="0" rIns="0" bIns="0" rtlCol="0" anchor="t"/>
          <a:lstStyle/>
          <a:p>
            <a:pPr indent="0" marL="0">
              <a:buNone/>
            </a:pPr>
            <a:r>
              <a:rPr lang="en-US" sz="1100" b="1" spc="150" kern="0" dirty="0">
                <a:solidFill>
                  <a:srgbClr val="287079"/>
                </a:solidFill>
                <a:latin typeface="Arial" pitchFamily="34" charset="0"/>
                <a:ea typeface="Arial" pitchFamily="34" charset="-122"/>
                <a:cs typeface="Arial" pitchFamily="34" charset="-120"/>
              </a:rPr>
              <a:t>EXAMPLE · A HOLD RUNS OUT</a:t>
            </a:r>
            <a:endParaRPr lang="en-US" sz="1100" dirty="0"/>
          </a:p>
        </p:txBody>
      </p:sp>
      <p:sp>
        <p:nvSpPr>
          <p:cNvPr id="29" name="Text 21"/>
          <p:cNvSpPr txBox="1"/>
          <p:nvPr/>
        </p:nvSpPr>
        <p:spPr>
          <a:xfrm>
            <a:off x="822960" y="4846320"/>
            <a:ext cx="10515600" cy="1097280"/>
          </a:xfrm>
          <a:prstGeom prst="rect">
            <a:avLst/>
          </a:prstGeom>
          <a:noFill/>
          <a:ln/>
        </p:spPr>
        <p:txBody>
          <a:bodyPr wrap="square" lIns="0" tIns="0" rIns="0" bIns="0" rtlCol="0" anchor="t"/>
          <a:lstStyle/>
          <a:p>
            <a:pPr indent="0" marL="0">
              <a:buNone/>
            </a:pPr>
            <a:r>
              <a:rPr lang="en-US" sz="1600" dirty="0">
                <a:solidFill>
                  <a:srgbClr val="1F2A33"/>
                </a:solidFill>
                <a:latin typeface="Arial" pitchFamily="34" charset="0"/>
                <a:ea typeface="Arial" pitchFamily="34" charset="-122"/>
                <a:cs typeface="Arial" pitchFamily="34" charset="-120"/>
              </a:rPr>
              <a:t>When a hold reaches its end date, then it is released, unless the engagement lead renews it, by the end date. If nobody answers, the hold is released and the planner is told.</a:t>
            </a:r>
            <a:endParaRPr lang="en-US" sz="16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DEFINE HOW IT SHOULD WORK: RULES AND EXCEPTIONS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The system can give only three answers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15:00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90</a:t>
            </a:r>
            <a:endParaRPr lang="en-US" sz="1000" dirty="0"/>
          </a:p>
        </p:txBody>
      </p:sp>
      <p:sp>
        <p:nvSpPr>
          <p:cNvPr id="7" name="Shape 4"/>
          <p:cNvSpPr/>
          <p:nvPr/>
        </p:nvSpPr>
        <p:spPr>
          <a:xfrm>
            <a:off x="548640" y="1508760"/>
            <a:ext cx="1234440" cy="1234440"/>
          </a:xfrm>
          <a:prstGeom prst="ellipse">
            <a:avLst/>
          </a:prstGeom>
          <a:solidFill>
            <a:srgbClr val="2E8656"/>
          </a:solidFill>
          <a:ln/>
        </p:spPr>
      </p:sp>
      <p:pic>
        <p:nvPicPr>
          <p:cNvPr id="8" name="Image 1" descr="/private/tmp/claude-501/-Users-salehhamed-Outcome-Engine/91861432-41e2-4884-bc97-63c6dff2d021/scratchpad/wk/icons/TbCircleCheck-white.png">    </p:cNvPr>
          <p:cNvPicPr>
            <a:picLocks noChangeAspect="1"/>
          </p:cNvPicPr>
          <p:nvPr/>
        </p:nvPicPr>
        <p:blipFill>
          <a:blip r:embed="rId4"/>
          <a:stretch>
            <a:fillRect/>
          </a:stretch>
        </p:blipFill>
        <p:spPr>
          <a:xfrm>
            <a:off x="822960" y="1783080"/>
            <a:ext cx="685800" cy="685800"/>
          </a:xfrm>
          <a:prstGeom prst="rect">
            <a:avLst/>
          </a:prstGeom>
        </p:spPr>
      </p:pic>
      <p:sp>
        <p:nvSpPr>
          <p:cNvPr id="9" name="Text 5"/>
          <p:cNvSpPr txBox="1"/>
          <p:nvPr/>
        </p:nvSpPr>
        <p:spPr>
          <a:xfrm>
            <a:off x="2011680" y="1508760"/>
            <a:ext cx="2926080" cy="640080"/>
          </a:xfrm>
          <a:prstGeom prst="rect">
            <a:avLst/>
          </a:prstGeom>
          <a:noFill/>
          <a:ln/>
        </p:spPr>
        <p:txBody>
          <a:bodyPr wrap="square" lIns="0" tIns="0" rIns="0" bIns="0" rtlCol="0" anchor="ctr"/>
          <a:lstStyle/>
          <a:p>
            <a:pPr indent="0" marL="0">
              <a:buNone/>
            </a:pPr>
            <a:r>
              <a:rPr lang="en-US" sz="2200" b="1" dirty="0">
                <a:solidFill>
                  <a:srgbClr val="2E8656"/>
                </a:solidFill>
                <a:latin typeface="Arial" pitchFamily="34" charset="0"/>
                <a:ea typeface="Arial" pitchFamily="34" charset="-122"/>
                <a:cs typeface="Arial" pitchFamily="34" charset="-120"/>
              </a:rPr>
              <a:t>Go ahead</a:t>
            </a:r>
            <a:endParaRPr lang="en-US" sz="2200" dirty="0"/>
          </a:p>
        </p:txBody>
      </p:sp>
      <p:sp>
        <p:nvSpPr>
          <p:cNvPr id="10" name="Text 6"/>
          <p:cNvSpPr txBox="1"/>
          <p:nvPr/>
        </p:nvSpPr>
        <p:spPr>
          <a:xfrm>
            <a:off x="2011680" y="2103120"/>
            <a:ext cx="3291840" cy="640080"/>
          </a:xfrm>
          <a:prstGeom prst="rect">
            <a:avLst/>
          </a:prstGeom>
          <a:noFill/>
          <a:ln/>
        </p:spPr>
        <p:txBody>
          <a:bodyPr wrap="square" lIns="0" tIns="0" rIns="0" bIns="0" rtlCol="0" anchor="t"/>
          <a:lstStyle/>
          <a:p>
            <a:pPr indent="0" marL="0">
              <a:buNone/>
            </a:pPr>
            <a:r>
              <a:rPr lang="en-US" sz="1350" dirty="0">
                <a:solidFill>
                  <a:srgbClr val="5A5A5A"/>
                </a:solidFill>
                <a:latin typeface="Arial" pitchFamily="34" charset="0"/>
                <a:ea typeface="Arial" pitchFamily="34" charset="-122"/>
                <a:cs typeface="Arial" pitchFamily="34" charset="-120"/>
              </a:rPr>
              <a:t>Nothing is broken. The system acts.</a:t>
            </a:r>
            <a:endParaRPr lang="en-US" sz="1350" dirty="0"/>
          </a:p>
        </p:txBody>
      </p:sp>
      <p:sp>
        <p:nvSpPr>
          <p:cNvPr id="11" name="Shape 7"/>
          <p:cNvSpPr/>
          <p:nvPr/>
        </p:nvSpPr>
        <p:spPr>
          <a:xfrm>
            <a:off x="5120640" y="1618488"/>
            <a:ext cx="6519672" cy="1005840"/>
          </a:xfrm>
          <a:prstGeom prst="roundRect">
            <a:avLst>
              <a:gd name="adj" fmla="val 7273"/>
            </a:avLst>
          </a:prstGeom>
          <a:solidFill>
            <a:srgbClr val="FFFFFF"/>
          </a:solidFill>
          <a:ln w="12700">
            <a:solidFill>
              <a:srgbClr val="D9DEE2"/>
            </a:solidFill>
            <a:prstDash val="solid"/>
          </a:ln>
        </p:spPr>
      </p:sp>
      <p:pic>
        <p:nvPicPr>
          <p:cNvPr id="12" name="Image 2" descr="/private/tmp/claude-501/-Users-salehhamed-Outcome-Engine/91861432-41e2-4884-bc97-63c6dff2d021/scratchpad/wk/icons/TbBuildingSkyscraper-amber.png">    </p:cNvPr>
          <p:cNvPicPr>
            <a:picLocks noChangeAspect="1"/>
          </p:cNvPicPr>
          <p:nvPr/>
        </p:nvPicPr>
        <p:blipFill>
          <a:blip r:embed="rId5"/>
          <a:stretch>
            <a:fillRect/>
          </a:stretch>
        </p:blipFill>
        <p:spPr>
          <a:xfrm>
            <a:off x="5303520" y="1874520"/>
            <a:ext cx="457200" cy="457200"/>
          </a:xfrm>
          <a:prstGeom prst="rect">
            <a:avLst/>
          </a:prstGeom>
        </p:spPr>
      </p:pic>
      <p:sp>
        <p:nvSpPr>
          <p:cNvPr id="13" name="Text 8"/>
          <p:cNvSpPr txBox="1"/>
          <p:nvPr/>
        </p:nvSpPr>
        <p:spPr>
          <a:xfrm>
            <a:off x="5943600" y="1618488"/>
            <a:ext cx="5577840" cy="10058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Hold the engineer once they are released.</a:t>
            </a:r>
            <a:endParaRPr lang="en-US" sz="1600" dirty="0"/>
          </a:p>
        </p:txBody>
      </p:sp>
      <p:sp>
        <p:nvSpPr>
          <p:cNvPr id="14" name="Shape 9"/>
          <p:cNvSpPr/>
          <p:nvPr/>
        </p:nvSpPr>
        <p:spPr>
          <a:xfrm>
            <a:off x="548640" y="3017520"/>
            <a:ext cx="1234440" cy="1234440"/>
          </a:xfrm>
          <a:prstGeom prst="ellipse">
            <a:avLst/>
          </a:prstGeom>
          <a:solidFill>
            <a:srgbClr val="C98A1A"/>
          </a:solidFill>
          <a:ln/>
        </p:spPr>
      </p:sp>
      <p:pic>
        <p:nvPicPr>
          <p:cNvPr id="15" name="Image 3" descr="/private/tmp/claude-501/-Users-salehhamed-Outcome-Engine/91861432-41e2-4884-bc97-63c6dff2d021/scratchpad/wk/icons/TbUserQuestion-white.png">    </p:cNvPr>
          <p:cNvPicPr>
            <a:picLocks noChangeAspect="1"/>
          </p:cNvPicPr>
          <p:nvPr/>
        </p:nvPicPr>
        <p:blipFill>
          <a:blip r:embed="rId6"/>
          <a:stretch>
            <a:fillRect/>
          </a:stretch>
        </p:blipFill>
        <p:spPr>
          <a:xfrm>
            <a:off x="822960" y="3291840"/>
            <a:ext cx="685800" cy="685800"/>
          </a:xfrm>
          <a:prstGeom prst="rect">
            <a:avLst/>
          </a:prstGeom>
        </p:spPr>
      </p:pic>
      <p:sp>
        <p:nvSpPr>
          <p:cNvPr id="16" name="Text 10"/>
          <p:cNvSpPr txBox="1"/>
          <p:nvPr/>
        </p:nvSpPr>
        <p:spPr>
          <a:xfrm>
            <a:off x="2011680" y="3017520"/>
            <a:ext cx="2926080" cy="640080"/>
          </a:xfrm>
          <a:prstGeom prst="rect">
            <a:avLst/>
          </a:prstGeom>
          <a:noFill/>
          <a:ln/>
        </p:spPr>
        <p:txBody>
          <a:bodyPr wrap="square" lIns="0" tIns="0" rIns="0" bIns="0" rtlCol="0" anchor="ctr"/>
          <a:lstStyle/>
          <a:p>
            <a:pPr indent="0" marL="0">
              <a:buNone/>
            </a:pPr>
            <a:r>
              <a:rPr lang="en-US" sz="2200" b="1" dirty="0">
                <a:solidFill>
                  <a:srgbClr val="C98A1A"/>
                </a:solidFill>
                <a:latin typeface="Arial" pitchFamily="34" charset="0"/>
                <a:ea typeface="Arial" pitchFamily="34" charset="-122"/>
                <a:cs typeface="Arial" pitchFamily="34" charset="-120"/>
              </a:rPr>
              <a:t>Ask a person</a:t>
            </a:r>
            <a:endParaRPr lang="en-US" sz="2200" dirty="0"/>
          </a:p>
        </p:txBody>
      </p:sp>
      <p:sp>
        <p:nvSpPr>
          <p:cNvPr id="17" name="Text 11"/>
          <p:cNvSpPr txBox="1"/>
          <p:nvPr/>
        </p:nvSpPr>
        <p:spPr>
          <a:xfrm>
            <a:off x="2011680" y="3611880"/>
            <a:ext cx="3291840" cy="640080"/>
          </a:xfrm>
          <a:prstGeom prst="rect">
            <a:avLst/>
          </a:prstGeom>
          <a:noFill/>
          <a:ln/>
        </p:spPr>
        <p:txBody>
          <a:bodyPr wrap="square" lIns="0" tIns="0" rIns="0" bIns="0" rtlCol="0" anchor="t"/>
          <a:lstStyle/>
          <a:p>
            <a:pPr indent="0" marL="0">
              <a:buNone/>
            </a:pPr>
            <a:r>
              <a:rPr lang="en-US" sz="1350" dirty="0">
                <a:solidFill>
                  <a:srgbClr val="5A5A5A"/>
                </a:solidFill>
                <a:latin typeface="Arial" pitchFamily="34" charset="0"/>
                <a:ea typeface="Arial" pitchFamily="34" charset="-122"/>
                <a:cs typeface="Arial" pitchFamily="34" charset="-120"/>
              </a:rPr>
              <a:t>A named person decides, within a set time.</a:t>
            </a:r>
            <a:endParaRPr lang="en-US" sz="1350" dirty="0"/>
          </a:p>
        </p:txBody>
      </p:sp>
      <p:sp>
        <p:nvSpPr>
          <p:cNvPr id="18" name="Shape 12"/>
          <p:cNvSpPr/>
          <p:nvPr/>
        </p:nvSpPr>
        <p:spPr>
          <a:xfrm>
            <a:off x="5120640" y="3127248"/>
            <a:ext cx="6519672" cy="1005840"/>
          </a:xfrm>
          <a:prstGeom prst="roundRect">
            <a:avLst>
              <a:gd name="adj" fmla="val 7273"/>
            </a:avLst>
          </a:prstGeom>
          <a:solidFill>
            <a:srgbClr val="FFFFFF"/>
          </a:solidFill>
          <a:ln w="12700">
            <a:solidFill>
              <a:srgbClr val="D9DEE2"/>
            </a:solidFill>
            <a:prstDash val="solid"/>
          </a:ln>
        </p:spPr>
      </p:sp>
      <p:pic>
        <p:nvPicPr>
          <p:cNvPr id="19" name="Image 4" descr="/private/tmp/claude-501/-Users-salehhamed-Outcome-Engine/91861432-41e2-4884-bc97-63c6dff2d021/scratchpad/wk/icons/TbBuildingSkyscraper-amber.png">    </p:cNvPr>
          <p:cNvPicPr>
            <a:picLocks noChangeAspect="1"/>
          </p:cNvPicPr>
          <p:nvPr/>
        </p:nvPicPr>
        <p:blipFill>
          <a:blip r:embed="rId7"/>
          <a:stretch>
            <a:fillRect/>
          </a:stretch>
        </p:blipFill>
        <p:spPr>
          <a:xfrm>
            <a:off x="5303520" y="3383280"/>
            <a:ext cx="457200" cy="457200"/>
          </a:xfrm>
          <a:prstGeom prst="rect">
            <a:avLst/>
          </a:prstGeom>
        </p:spPr>
      </p:pic>
      <p:sp>
        <p:nvSpPr>
          <p:cNvPr id="20" name="Text 13"/>
          <p:cNvSpPr txBox="1"/>
          <p:nvPr/>
        </p:nvSpPr>
        <p:spPr>
          <a:xfrm>
            <a:off x="5943600" y="3127248"/>
            <a:ext cx="5577840" cy="10058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Is the firewall shortfall a real gap?</a:t>
            </a:r>
            <a:endParaRPr lang="en-US" sz="1600" dirty="0"/>
          </a:p>
        </p:txBody>
      </p:sp>
      <p:sp>
        <p:nvSpPr>
          <p:cNvPr id="21" name="Shape 14"/>
          <p:cNvSpPr/>
          <p:nvPr/>
        </p:nvSpPr>
        <p:spPr>
          <a:xfrm>
            <a:off x="548640" y="4526280"/>
            <a:ext cx="1234440" cy="1234440"/>
          </a:xfrm>
          <a:prstGeom prst="ellipse">
            <a:avLst/>
          </a:prstGeom>
          <a:solidFill>
            <a:srgbClr val="FF462D"/>
          </a:solidFill>
          <a:ln/>
        </p:spPr>
      </p:sp>
      <p:pic>
        <p:nvPicPr>
          <p:cNvPr id="22" name="Image 5" descr="/private/tmp/claude-501/-Users-salehhamed-Outcome-Engine/91861432-41e2-4884-bc97-63c6dff2d021/scratchpad/wk/icons/TbHandStop-white.png">    </p:cNvPr>
          <p:cNvPicPr>
            <a:picLocks noChangeAspect="1"/>
          </p:cNvPicPr>
          <p:nvPr/>
        </p:nvPicPr>
        <p:blipFill>
          <a:blip r:embed="rId8"/>
          <a:stretch>
            <a:fillRect/>
          </a:stretch>
        </p:blipFill>
        <p:spPr>
          <a:xfrm>
            <a:off x="822960" y="4800600"/>
            <a:ext cx="685800" cy="685800"/>
          </a:xfrm>
          <a:prstGeom prst="rect">
            <a:avLst/>
          </a:prstGeom>
        </p:spPr>
      </p:pic>
      <p:sp>
        <p:nvSpPr>
          <p:cNvPr id="23" name="Text 15"/>
          <p:cNvSpPr txBox="1"/>
          <p:nvPr/>
        </p:nvSpPr>
        <p:spPr>
          <a:xfrm>
            <a:off x="2011680" y="4526280"/>
            <a:ext cx="2926080" cy="640080"/>
          </a:xfrm>
          <a:prstGeom prst="rect">
            <a:avLst/>
          </a:prstGeom>
          <a:noFill/>
          <a:ln/>
        </p:spPr>
        <p:txBody>
          <a:bodyPr wrap="square" lIns="0" tIns="0" rIns="0" bIns="0" rtlCol="0" anchor="ctr"/>
          <a:lstStyle/>
          <a:p>
            <a:pPr indent="0" marL="0">
              <a:buNone/>
            </a:pPr>
            <a:r>
              <a:rPr lang="en-US" sz="2200" b="1" dirty="0">
                <a:solidFill>
                  <a:srgbClr val="FF462D"/>
                </a:solidFill>
                <a:latin typeface="Arial" pitchFamily="34" charset="0"/>
                <a:ea typeface="Arial" pitchFamily="34" charset="-122"/>
                <a:cs typeface="Arial" pitchFamily="34" charset="-120"/>
              </a:rPr>
              <a:t>Stop</a:t>
            </a:r>
            <a:endParaRPr lang="en-US" sz="2200" dirty="0"/>
          </a:p>
        </p:txBody>
      </p:sp>
      <p:sp>
        <p:nvSpPr>
          <p:cNvPr id="24" name="Text 16"/>
          <p:cNvSpPr txBox="1"/>
          <p:nvPr/>
        </p:nvSpPr>
        <p:spPr>
          <a:xfrm>
            <a:off x="2011680" y="5120640"/>
            <a:ext cx="3291840" cy="640080"/>
          </a:xfrm>
          <a:prstGeom prst="rect">
            <a:avLst/>
          </a:prstGeom>
          <a:noFill/>
          <a:ln/>
        </p:spPr>
        <p:txBody>
          <a:bodyPr wrap="square" lIns="0" tIns="0" rIns="0" bIns="0" rtlCol="0" anchor="t"/>
          <a:lstStyle/>
          <a:p>
            <a:pPr indent="0" marL="0">
              <a:buNone/>
            </a:pPr>
            <a:r>
              <a:rPr lang="en-US" sz="1350" dirty="0">
                <a:solidFill>
                  <a:srgbClr val="5A5A5A"/>
                </a:solidFill>
                <a:latin typeface="Arial" pitchFamily="34" charset="0"/>
                <a:ea typeface="Arial" pitchFamily="34" charset="-122"/>
                <a:cs typeface="Arial" pitchFamily="34" charset="-120"/>
              </a:rPr>
              <a:t>A rule is broken. Refused, with the rule shown.</a:t>
            </a:r>
            <a:endParaRPr lang="en-US" sz="1350" dirty="0"/>
          </a:p>
        </p:txBody>
      </p:sp>
      <p:sp>
        <p:nvSpPr>
          <p:cNvPr id="25" name="Shape 17"/>
          <p:cNvSpPr/>
          <p:nvPr/>
        </p:nvSpPr>
        <p:spPr>
          <a:xfrm>
            <a:off x="5120640" y="4636008"/>
            <a:ext cx="6519672" cy="1005840"/>
          </a:xfrm>
          <a:prstGeom prst="roundRect">
            <a:avLst>
              <a:gd name="adj" fmla="val 7273"/>
            </a:avLst>
          </a:prstGeom>
          <a:solidFill>
            <a:srgbClr val="FFFFFF"/>
          </a:solidFill>
          <a:ln w="12700">
            <a:solidFill>
              <a:srgbClr val="D9DEE2"/>
            </a:solidFill>
            <a:prstDash val="solid"/>
          </a:ln>
        </p:spPr>
      </p:sp>
      <p:pic>
        <p:nvPicPr>
          <p:cNvPr id="26" name="Image 6" descr="/private/tmp/claude-501/-Users-salehhamed-Outcome-Engine/91861432-41e2-4884-bc97-63c6dff2d021/scratchpad/wk/icons/TbBuildingSkyscraper-amber.png">    </p:cNvPr>
          <p:cNvPicPr>
            <a:picLocks noChangeAspect="1"/>
          </p:cNvPicPr>
          <p:nvPr/>
        </p:nvPicPr>
        <p:blipFill>
          <a:blip r:embed="rId9"/>
          <a:stretch>
            <a:fillRect/>
          </a:stretch>
        </p:blipFill>
        <p:spPr>
          <a:xfrm>
            <a:off x="5303520" y="4892040"/>
            <a:ext cx="457200" cy="457200"/>
          </a:xfrm>
          <a:prstGeom prst="rect">
            <a:avLst/>
          </a:prstGeom>
        </p:spPr>
      </p:pic>
      <p:sp>
        <p:nvSpPr>
          <p:cNvPr id="27" name="Text 18"/>
          <p:cNvSpPr txBox="1"/>
          <p:nvPr/>
        </p:nvSpPr>
        <p:spPr>
          <a:xfrm>
            <a:off x="5943600" y="4636008"/>
            <a:ext cx="5577840" cy="10058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Sign Northgate before the plan is approved.</a:t>
            </a:r>
            <a:endParaRPr lang="en-US" sz="16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EXCEPTIONS TO RUN THROUGH THE DRAFT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Five things that go wrong</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15:00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91</a:t>
            </a:r>
            <a:endParaRPr lang="en-US" sz="1000" dirty="0"/>
          </a:p>
        </p:txBody>
      </p:sp>
      <p:sp>
        <p:nvSpPr>
          <p:cNvPr id="7" name="Shape 4"/>
          <p:cNvSpPr/>
          <p:nvPr/>
        </p:nvSpPr>
        <p:spPr>
          <a:xfrm>
            <a:off x="548640" y="1600200"/>
            <a:ext cx="2103120" cy="3474720"/>
          </a:xfrm>
          <a:prstGeom prst="roundRect">
            <a:avLst>
              <a:gd name="adj" fmla="val 3478"/>
            </a:avLst>
          </a:prstGeom>
          <a:solidFill>
            <a:srgbClr val="FFFFFF"/>
          </a:solidFill>
          <a:ln w="12700">
            <a:solidFill>
              <a:srgbClr val="D9DEE2"/>
            </a:solidFill>
            <a:prstDash val="solid"/>
          </a:ln>
        </p:spPr>
      </p:sp>
      <p:sp>
        <p:nvSpPr>
          <p:cNvPr id="8" name="Shape 5"/>
          <p:cNvSpPr/>
          <p:nvPr/>
        </p:nvSpPr>
        <p:spPr>
          <a:xfrm>
            <a:off x="685800" y="1737360"/>
            <a:ext cx="411480" cy="411480"/>
          </a:xfrm>
          <a:prstGeom prst="ellipse">
            <a:avLst/>
          </a:prstGeom>
          <a:solidFill>
            <a:srgbClr val="FF462D"/>
          </a:solidFill>
          <a:ln/>
        </p:spPr>
      </p:sp>
      <p:sp>
        <p:nvSpPr>
          <p:cNvPr id="9" name="Text 6"/>
          <p:cNvSpPr txBox="1"/>
          <p:nvPr/>
        </p:nvSpPr>
        <p:spPr>
          <a:xfrm>
            <a:off x="685800" y="1737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pic>
        <p:nvPicPr>
          <p:cNvPr id="10" name="Image 1" descr="/private/tmp/claude-501/-Users-salehhamed-Outcome-Engine/91861432-41e2-4884-bc97-63c6dff2d021/scratchpad/wk/icons/TbFileUnknown-teal.png">    </p:cNvPr>
          <p:cNvPicPr>
            <a:picLocks noChangeAspect="1"/>
          </p:cNvPicPr>
          <p:nvPr/>
        </p:nvPicPr>
        <p:blipFill>
          <a:blip r:embed="rId4"/>
          <a:stretch>
            <a:fillRect/>
          </a:stretch>
        </p:blipFill>
        <p:spPr>
          <a:xfrm>
            <a:off x="1143000" y="2331720"/>
            <a:ext cx="914400" cy="914400"/>
          </a:xfrm>
          <a:prstGeom prst="rect">
            <a:avLst/>
          </a:prstGeom>
        </p:spPr>
      </p:pic>
      <p:sp>
        <p:nvSpPr>
          <p:cNvPr id="11" name="Text 7"/>
          <p:cNvSpPr txBox="1"/>
          <p:nvPr/>
        </p:nvSpPr>
        <p:spPr>
          <a:xfrm>
            <a:off x="685800" y="3429000"/>
            <a:ext cx="1828800" cy="1188720"/>
          </a:xfrm>
          <a:prstGeom prst="rect">
            <a:avLst/>
          </a:prstGeom>
          <a:noFill/>
          <a:ln/>
        </p:spPr>
        <p:txBody>
          <a:bodyPr wrap="square" lIns="0" tIns="0" rIns="0" bIns="0" rtlCol="0" anchor="t"/>
          <a:lstStyle/>
          <a:p>
            <a:pPr algn="ctr" indent="0" marL="0">
              <a:buNone/>
            </a:pPr>
            <a:r>
              <a:rPr lang="en-US" sz="1600" b="1" dirty="0">
                <a:solidFill>
                  <a:srgbClr val="1F2A33"/>
                </a:solidFill>
                <a:latin typeface="Arial" pitchFamily="34" charset="0"/>
                <a:ea typeface="Arial" pitchFamily="34" charset="-122"/>
                <a:cs typeface="Arial" pitchFamily="34" charset="-120"/>
              </a:rPr>
              <a:t>Scope too vague to staff</a:t>
            </a:r>
            <a:endParaRPr lang="en-US" sz="1600" dirty="0"/>
          </a:p>
        </p:txBody>
      </p:sp>
      <p:pic>
        <p:nvPicPr>
          <p:cNvPr id="12" name="Image 2" descr="/private/tmp/claude-501/-Users-salehhamed-Outcome-Engine/91861432-41e2-4884-bc97-63c6dff2d021/scratchpad/wk/brand/clear.png">
            <a:hlinkClick r:id="rId6" tooltip="Scope too vague to staff" action="ppaction://hlinksldjump"/>
          </p:cNvPr>
          <p:cNvPicPr>
            <a:picLocks noChangeAspect="1"/>
          </p:cNvPicPr>
          <p:nvPr/>
        </p:nvPicPr>
        <p:blipFill>
          <a:blip r:embed="rId5"/>
          <a:stretch>
            <a:fillRect/>
          </a:stretch>
        </p:blipFill>
        <p:spPr>
          <a:xfrm>
            <a:off x="548640" y="1600200"/>
            <a:ext cx="2103120" cy="3474720"/>
          </a:xfrm>
          <a:prstGeom prst="rect">
            <a:avLst/>
          </a:prstGeom>
        </p:spPr>
      </p:pic>
      <p:sp>
        <p:nvSpPr>
          <p:cNvPr id="13" name="Shape 8"/>
          <p:cNvSpPr/>
          <p:nvPr/>
        </p:nvSpPr>
        <p:spPr>
          <a:xfrm>
            <a:off x="2788920" y="1600200"/>
            <a:ext cx="2103120" cy="3474720"/>
          </a:xfrm>
          <a:prstGeom prst="roundRect">
            <a:avLst>
              <a:gd name="adj" fmla="val 3478"/>
            </a:avLst>
          </a:prstGeom>
          <a:solidFill>
            <a:srgbClr val="FFFFFF"/>
          </a:solidFill>
          <a:ln w="12700">
            <a:solidFill>
              <a:srgbClr val="D9DEE2"/>
            </a:solidFill>
            <a:prstDash val="solid"/>
          </a:ln>
        </p:spPr>
      </p:sp>
      <p:sp>
        <p:nvSpPr>
          <p:cNvPr id="14" name="Shape 9"/>
          <p:cNvSpPr/>
          <p:nvPr/>
        </p:nvSpPr>
        <p:spPr>
          <a:xfrm>
            <a:off x="2926080" y="1737360"/>
            <a:ext cx="411480" cy="411480"/>
          </a:xfrm>
          <a:prstGeom prst="ellipse">
            <a:avLst/>
          </a:prstGeom>
          <a:solidFill>
            <a:srgbClr val="FF462D"/>
          </a:solidFill>
          <a:ln/>
        </p:spPr>
      </p:sp>
      <p:sp>
        <p:nvSpPr>
          <p:cNvPr id="15" name="Text 10"/>
          <p:cNvSpPr txBox="1"/>
          <p:nvPr/>
        </p:nvSpPr>
        <p:spPr>
          <a:xfrm>
            <a:off x="2926080" y="1737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pic>
        <p:nvPicPr>
          <p:cNvPr id="16" name="Image 3" descr="/private/tmp/claude-501/-Users-salehhamed-Outcome-Engine/91861432-41e2-4884-bc97-63c6dff2d021/scratchpad/wk/icons/TbArrowsCross-teal.png">    </p:cNvPr>
          <p:cNvPicPr>
            <a:picLocks noChangeAspect="1"/>
          </p:cNvPicPr>
          <p:nvPr/>
        </p:nvPicPr>
        <p:blipFill>
          <a:blip r:embed="rId7"/>
          <a:stretch>
            <a:fillRect/>
          </a:stretch>
        </p:blipFill>
        <p:spPr>
          <a:xfrm>
            <a:off x="3383280" y="2331720"/>
            <a:ext cx="914400" cy="914400"/>
          </a:xfrm>
          <a:prstGeom prst="rect">
            <a:avLst/>
          </a:prstGeom>
        </p:spPr>
      </p:pic>
      <p:sp>
        <p:nvSpPr>
          <p:cNvPr id="17" name="Text 11"/>
          <p:cNvSpPr txBox="1"/>
          <p:nvPr/>
        </p:nvSpPr>
        <p:spPr>
          <a:xfrm>
            <a:off x="2926080" y="3429000"/>
            <a:ext cx="1828800" cy="1188720"/>
          </a:xfrm>
          <a:prstGeom prst="rect">
            <a:avLst/>
          </a:prstGeom>
          <a:noFill/>
          <a:ln/>
        </p:spPr>
        <p:txBody>
          <a:bodyPr wrap="square" lIns="0" tIns="0" rIns="0" bIns="0" rtlCol="0" anchor="t"/>
          <a:lstStyle/>
          <a:p>
            <a:pPr algn="ctr" indent="0" marL="0">
              <a:buNone/>
            </a:pPr>
            <a:r>
              <a:rPr lang="en-US" sz="1600" b="1" dirty="0">
                <a:solidFill>
                  <a:srgbClr val="1F2A33"/>
                </a:solidFill>
                <a:latin typeface="Arial" pitchFamily="34" charset="0"/>
                <a:ea typeface="Arial" pitchFamily="34" charset="-122"/>
                <a:cs typeface="Arial" pitchFamily="34" charset="-120"/>
              </a:rPr>
              <a:t>Two deals want the same person</a:t>
            </a:r>
            <a:endParaRPr lang="en-US" sz="1600" dirty="0"/>
          </a:p>
        </p:txBody>
      </p:sp>
      <p:pic>
        <p:nvPicPr>
          <p:cNvPr id="18" name="Image 4" descr="/private/tmp/claude-501/-Users-salehhamed-Outcome-Engine/91861432-41e2-4884-bc97-63c6dff2d021/scratchpad/wk/brand/clear.png">
            <a:hlinkClick r:id="rId9" tooltip="Two deals want the same person" action="ppaction://hlinksldjump"/>
          </p:cNvPr>
          <p:cNvPicPr>
            <a:picLocks noChangeAspect="1"/>
          </p:cNvPicPr>
          <p:nvPr/>
        </p:nvPicPr>
        <p:blipFill>
          <a:blip r:embed="rId8"/>
          <a:stretch>
            <a:fillRect/>
          </a:stretch>
        </p:blipFill>
        <p:spPr>
          <a:xfrm>
            <a:off x="2788920" y="1600200"/>
            <a:ext cx="2103120" cy="3474720"/>
          </a:xfrm>
          <a:prstGeom prst="rect">
            <a:avLst/>
          </a:prstGeom>
        </p:spPr>
      </p:pic>
      <p:sp>
        <p:nvSpPr>
          <p:cNvPr id="19" name="Shape 12"/>
          <p:cNvSpPr/>
          <p:nvPr/>
        </p:nvSpPr>
        <p:spPr>
          <a:xfrm>
            <a:off x="5029200" y="1600200"/>
            <a:ext cx="2103120" cy="3474720"/>
          </a:xfrm>
          <a:prstGeom prst="roundRect">
            <a:avLst>
              <a:gd name="adj" fmla="val 3478"/>
            </a:avLst>
          </a:prstGeom>
          <a:solidFill>
            <a:srgbClr val="FFFFFF"/>
          </a:solidFill>
          <a:ln w="12700">
            <a:solidFill>
              <a:srgbClr val="D9DEE2"/>
            </a:solidFill>
            <a:prstDash val="solid"/>
          </a:ln>
        </p:spPr>
      </p:sp>
      <p:sp>
        <p:nvSpPr>
          <p:cNvPr id="20" name="Shape 13"/>
          <p:cNvSpPr/>
          <p:nvPr/>
        </p:nvSpPr>
        <p:spPr>
          <a:xfrm>
            <a:off x="5166360" y="1737360"/>
            <a:ext cx="411480" cy="411480"/>
          </a:xfrm>
          <a:prstGeom prst="ellipse">
            <a:avLst/>
          </a:prstGeom>
          <a:solidFill>
            <a:srgbClr val="FF462D"/>
          </a:solidFill>
          <a:ln/>
        </p:spPr>
      </p:sp>
      <p:sp>
        <p:nvSpPr>
          <p:cNvPr id="21" name="Text 14"/>
          <p:cNvSpPr txBox="1"/>
          <p:nvPr/>
        </p:nvSpPr>
        <p:spPr>
          <a:xfrm>
            <a:off x="5166360" y="1737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pic>
        <p:nvPicPr>
          <p:cNvPr id="22" name="Image 5" descr="/private/tmp/claude-501/-Users-salehhamed-Outcome-Engine/91861432-41e2-4884-bc97-63c6dff2d021/scratchpad/wk/icons/TbListSearch-teal.png">    </p:cNvPr>
          <p:cNvPicPr>
            <a:picLocks noChangeAspect="1"/>
          </p:cNvPicPr>
          <p:nvPr/>
        </p:nvPicPr>
        <p:blipFill>
          <a:blip r:embed="rId10"/>
          <a:stretch>
            <a:fillRect/>
          </a:stretch>
        </p:blipFill>
        <p:spPr>
          <a:xfrm>
            <a:off x="5623560" y="2331720"/>
            <a:ext cx="914400" cy="914400"/>
          </a:xfrm>
          <a:prstGeom prst="rect">
            <a:avLst/>
          </a:prstGeom>
        </p:spPr>
      </p:pic>
      <p:sp>
        <p:nvSpPr>
          <p:cNvPr id="23" name="Text 15"/>
          <p:cNvSpPr txBox="1"/>
          <p:nvPr/>
        </p:nvSpPr>
        <p:spPr>
          <a:xfrm>
            <a:off x="5166360" y="3429000"/>
            <a:ext cx="1828800" cy="1188720"/>
          </a:xfrm>
          <a:prstGeom prst="rect">
            <a:avLst/>
          </a:prstGeom>
          <a:noFill/>
          <a:ln/>
        </p:spPr>
        <p:txBody>
          <a:bodyPr wrap="square" lIns="0" tIns="0" rIns="0" bIns="0" rtlCol="0" anchor="t"/>
          <a:lstStyle/>
          <a:p>
            <a:pPr algn="ctr" indent="0" marL="0">
              <a:buNone/>
            </a:pPr>
            <a:r>
              <a:rPr lang="en-US" sz="1600" b="1" dirty="0">
                <a:solidFill>
                  <a:srgbClr val="1F2A33"/>
                </a:solidFill>
                <a:latin typeface="Arial" pitchFamily="34" charset="0"/>
                <a:ea typeface="Arial" pitchFamily="34" charset="-122"/>
                <a:cs typeface="Arial" pitchFamily="34" charset="-120"/>
              </a:rPr>
              <a:t>A skill missing from the approved list</a:t>
            </a:r>
            <a:endParaRPr lang="en-US" sz="1600" dirty="0"/>
          </a:p>
        </p:txBody>
      </p:sp>
      <p:pic>
        <p:nvPicPr>
          <p:cNvPr id="24" name="Image 6" descr="/private/tmp/claude-501/-Users-salehhamed-Outcome-Engine/91861432-41e2-4884-bc97-63c6dff2d021/scratchpad/wk/brand/clear.png">
            <a:hlinkClick r:id="rId12" tooltip="A skill missing from the approved list" action="ppaction://hlinksldjump"/>
          </p:cNvPr>
          <p:cNvPicPr>
            <a:picLocks noChangeAspect="1"/>
          </p:cNvPicPr>
          <p:nvPr/>
        </p:nvPicPr>
        <p:blipFill>
          <a:blip r:embed="rId11"/>
          <a:stretch>
            <a:fillRect/>
          </a:stretch>
        </p:blipFill>
        <p:spPr>
          <a:xfrm>
            <a:off x="5029200" y="1600200"/>
            <a:ext cx="2103120" cy="3474720"/>
          </a:xfrm>
          <a:prstGeom prst="rect">
            <a:avLst/>
          </a:prstGeom>
        </p:spPr>
      </p:pic>
      <p:sp>
        <p:nvSpPr>
          <p:cNvPr id="25" name="Shape 16"/>
          <p:cNvSpPr/>
          <p:nvPr/>
        </p:nvSpPr>
        <p:spPr>
          <a:xfrm>
            <a:off x="7269480" y="1600200"/>
            <a:ext cx="2103120" cy="3474720"/>
          </a:xfrm>
          <a:prstGeom prst="roundRect">
            <a:avLst>
              <a:gd name="adj" fmla="val 3478"/>
            </a:avLst>
          </a:prstGeom>
          <a:solidFill>
            <a:srgbClr val="FFFFFF"/>
          </a:solidFill>
          <a:ln w="12700">
            <a:solidFill>
              <a:srgbClr val="D9DEE2"/>
            </a:solidFill>
            <a:prstDash val="solid"/>
          </a:ln>
        </p:spPr>
      </p:sp>
      <p:sp>
        <p:nvSpPr>
          <p:cNvPr id="26" name="Shape 17"/>
          <p:cNvSpPr/>
          <p:nvPr/>
        </p:nvSpPr>
        <p:spPr>
          <a:xfrm>
            <a:off x="7406640" y="1737360"/>
            <a:ext cx="411480" cy="411480"/>
          </a:xfrm>
          <a:prstGeom prst="ellipse">
            <a:avLst/>
          </a:prstGeom>
          <a:solidFill>
            <a:srgbClr val="FF462D"/>
          </a:solidFill>
          <a:ln/>
        </p:spPr>
      </p:sp>
      <p:sp>
        <p:nvSpPr>
          <p:cNvPr id="27" name="Text 18"/>
          <p:cNvSpPr txBox="1"/>
          <p:nvPr/>
        </p:nvSpPr>
        <p:spPr>
          <a:xfrm>
            <a:off x="7406640" y="1737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pic>
        <p:nvPicPr>
          <p:cNvPr id="28" name="Image 7" descr="/private/tmp/claude-501/-Users-salehhamed-Outcome-Engine/91861432-41e2-4884-bc97-63c6dff2d021/scratchpad/wk/icons/TbHandStop-teal.png">    </p:cNvPr>
          <p:cNvPicPr>
            <a:picLocks noChangeAspect="1"/>
          </p:cNvPicPr>
          <p:nvPr/>
        </p:nvPicPr>
        <p:blipFill>
          <a:blip r:embed="rId13"/>
          <a:stretch>
            <a:fillRect/>
          </a:stretch>
        </p:blipFill>
        <p:spPr>
          <a:xfrm>
            <a:off x="7863840" y="2331720"/>
            <a:ext cx="914400" cy="914400"/>
          </a:xfrm>
          <a:prstGeom prst="rect">
            <a:avLst/>
          </a:prstGeom>
        </p:spPr>
      </p:pic>
      <p:sp>
        <p:nvSpPr>
          <p:cNvPr id="29" name="Text 19"/>
          <p:cNvSpPr txBox="1"/>
          <p:nvPr/>
        </p:nvSpPr>
        <p:spPr>
          <a:xfrm>
            <a:off x="7406640" y="3429000"/>
            <a:ext cx="1828800" cy="1188720"/>
          </a:xfrm>
          <a:prstGeom prst="rect">
            <a:avLst/>
          </a:prstGeom>
          <a:noFill/>
          <a:ln/>
        </p:spPr>
        <p:txBody>
          <a:bodyPr wrap="square" lIns="0" tIns="0" rIns="0" bIns="0" rtlCol="0" anchor="t"/>
          <a:lstStyle/>
          <a:p>
            <a:pPr algn="ctr" indent="0" marL="0">
              <a:buNone/>
            </a:pPr>
            <a:r>
              <a:rPr lang="en-US" sz="1600" b="1" dirty="0">
                <a:solidFill>
                  <a:srgbClr val="1F2A33"/>
                </a:solidFill>
                <a:latin typeface="Arial" pitchFamily="34" charset="0"/>
                <a:ea typeface="Arial" pitchFamily="34" charset="-122"/>
                <a:cs typeface="Arial" pitchFamily="34" charset="-120"/>
              </a:rPr>
              <a:t>A release is refused</a:t>
            </a:r>
            <a:endParaRPr lang="en-US" sz="1600" dirty="0"/>
          </a:p>
        </p:txBody>
      </p:sp>
      <p:pic>
        <p:nvPicPr>
          <p:cNvPr id="30" name="Image 8" descr="/private/tmp/claude-501/-Users-salehhamed-Outcome-Engine/91861432-41e2-4884-bc97-63c6dff2d021/scratchpad/wk/brand/clear.png">
            <a:hlinkClick r:id="rId15" tooltip="A release is refused" action="ppaction://hlinksldjump"/>
          </p:cNvPr>
          <p:cNvPicPr>
            <a:picLocks noChangeAspect="1"/>
          </p:cNvPicPr>
          <p:nvPr/>
        </p:nvPicPr>
        <p:blipFill>
          <a:blip r:embed="rId14"/>
          <a:stretch>
            <a:fillRect/>
          </a:stretch>
        </p:blipFill>
        <p:spPr>
          <a:xfrm>
            <a:off x="7269480" y="1600200"/>
            <a:ext cx="2103120" cy="3474720"/>
          </a:xfrm>
          <a:prstGeom prst="rect">
            <a:avLst/>
          </a:prstGeom>
        </p:spPr>
      </p:pic>
      <p:sp>
        <p:nvSpPr>
          <p:cNvPr id="31" name="Shape 20"/>
          <p:cNvSpPr/>
          <p:nvPr/>
        </p:nvSpPr>
        <p:spPr>
          <a:xfrm>
            <a:off x="9509760" y="1600200"/>
            <a:ext cx="2103120" cy="3474720"/>
          </a:xfrm>
          <a:prstGeom prst="roundRect">
            <a:avLst>
              <a:gd name="adj" fmla="val 3478"/>
            </a:avLst>
          </a:prstGeom>
          <a:solidFill>
            <a:srgbClr val="FFFFFF"/>
          </a:solidFill>
          <a:ln w="12700">
            <a:solidFill>
              <a:srgbClr val="D9DEE2"/>
            </a:solidFill>
            <a:prstDash val="solid"/>
          </a:ln>
        </p:spPr>
      </p:sp>
      <p:sp>
        <p:nvSpPr>
          <p:cNvPr id="32" name="Shape 21"/>
          <p:cNvSpPr/>
          <p:nvPr/>
        </p:nvSpPr>
        <p:spPr>
          <a:xfrm>
            <a:off x="9646920" y="1737360"/>
            <a:ext cx="411480" cy="411480"/>
          </a:xfrm>
          <a:prstGeom prst="ellipse">
            <a:avLst/>
          </a:prstGeom>
          <a:solidFill>
            <a:srgbClr val="FF462D"/>
          </a:solidFill>
          <a:ln/>
        </p:spPr>
      </p:sp>
      <p:sp>
        <p:nvSpPr>
          <p:cNvPr id="33" name="Text 22"/>
          <p:cNvSpPr txBox="1"/>
          <p:nvPr/>
        </p:nvSpPr>
        <p:spPr>
          <a:xfrm>
            <a:off x="9646920" y="17373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pic>
        <p:nvPicPr>
          <p:cNvPr id="34" name="Image 9" descr="/private/tmp/claude-501/-Users-salehhamed-Outcome-Engine/91861432-41e2-4884-bc97-63c6dff2d021/scratchpad/wk/icons/TbCurrencyPound-teal.png">    </p:cNvPr>
          <p:cNvPicPr>
            <a:picLocks noChangeAspect="1"/>
          </p:cNvPicPr>
          <p:nvPr/>
        </p:nvPicPr>
        <p:blipFill>
          <a:blip r:embed="rId16"/>
          <a:stretch>
            <a:fillRect/>
          </a:stretch>
        </p:blipFill>
        <p:spPr>
          <a:xfrm>
            <a:off x="10104120" y="2331720"/>
            <a:ext cx="914400" cy="914400"/>
          </a:xfrm>
          <a:prstGeom prst="rect">
            <a:avLst/>
          </a:prstGeom>
        </p:spPr>
      </p:pic>
      <p:sp>
        <p:nvSpPr>
          <p:cNvPr id="35" name="Text 23"/>
          <p:cNvSpPr txBox="1"/>
          <p:nvPr/>
        </p:nvSpPr>
        <p:spPr>
          <a:xfrm>
            <a:off x="9646920" y="3429000"/>
            <a:ext cx="1828800" cy="1188720"/>
          </a:xfrm>
          <a:prstGeom prst="rect">
            <a:avLst/>
          </a:prstGeom>
          <a:noFill/>
          <a:ln/>
        </p:spPr>
        <p:txBody>
          <a:bodyPr wrap="square" lIns="0" tIns="0" rIns="0" bIns="0" rtlCol="0" anchor="t"/>
          <a:lstStyle/>
          <a:p>
            <a:pPr algn="ctr" indent="0" marL="0">
              <a:buNone/>
            </a:pPr>
            <a:r>
              <a:rPr lang="en-US" sz="1600" b="1" dirty="0">
                <a:solidFill>
                  <a:srgbClr val="1F2A33"/>
                </a:solidFill>
                <a:latin typeface="Arial" pitchFamily="34" charset="0"/>
                <a:ea typeface="Arial" pitchFamily="34" charset="-122"/>
                <a:cs typeface="Arial" pitchFamily="34" charset="-120"/>
              </a:rPr>
              <a:t>Blocked by cost, not by people</a:t>
            </a:r>
            <a:endParaRPr lang="en-US" sz="1600" dirty="0"/>
          </a:p>
        </p:txBody>
      </p:sp>
      <p:pic>
        <p:nvPicPr>
          <p:cNvPr id="36" name="Image 10" descr="/private/tmp/claude-501/-Users-salehhamed-Outcome-Engine/91861432-41e2-4884-bc97-63c6dff2d021/scratchpad/wk/brand/clear.png">
            <a:hlinkClick r:id="rId18" tooltip="Blocked by cost, not by people" action="ppaction://hlinksldjump"/>
          </p:cNvPr>
          <p:cNvPicPr>
            <a:picLocks noChangeAspect="1"/>
          </p:cNvPicPr>
          <p:nvPr/>
        </p:nvPicPr>
        <p:blipFill>
          <a:blip r:embed="rId17"/>
          <a:stretch>
            <a:fillRect/>
          </a:stretch>
        </p:blipFill>
        <p:spPr>
          <a:xfrm>
            <a:off x="9509760" y="1600200"/>
            <a:ext cx="2103120" cy="3474720"/>
          </a:xfrm>
          <a:prstGeom prst="rect">
            <a:avLst/>
          </a:prstGeom>
        </p:spPr>
      </p:pic>
      <p:sp>
        <p:nvSpPr>
          <p:cNvPr id="37" name="Text 24"/>
          <p:cNvSpPr txBox="1"/>
          <p:nvPr/>
        </p:nvSpPr>
        <p:spPr>
          <a:xfrm>
            <a:off x="548640" y="5394960"/>
            <a:ext cx="10972800" cy="457200"/>
          </a:xfrm>
          <a:prstGeom prst="rect">
            <a:avLst/>
          </a:prstGeom>
          <a:noFill/>
          <a:ln/>
        </p:spPr>
        <p:txBody>
          <a:bodyPr wrap="square" lIns="0" tIns="0" rIns="0" bIns="0" rtlCol="0" anchor="t"/>
          <a:lstStyle/>
          <a:p>
            <a:pPr indent="0" marL="0">
              <a:buNone/>
            </a:pPr>
            <a:r>
              <a:rPr lang="en-US" sz="1500" dirty="0">
                <a:solidFill>
                  <a:srgbClr val="5A5A5A"/>
                </a:solidFill>
                <a:latin typeface="Arial" pitchFamily="34" charset="0"/>
                <a:ea typeface="Arial" pitchFamily="34" charset="-122"/>
                <a:cs typeface="Arial" pitchFamily="34" charset="-120"/>
              </a:rPr>
              <a:t>Each one happened, or nearly happened, on Northgate. Click one to open it.</a:t>
            </a:r>
            <a:endParaRPr lang="en-US" sz="15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EXCEPTION · NORTHGATE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1 · Scope too vague to staff</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15:00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92</a:t>
            </a:r>
            <a:endParaRPr lang="en-US" sz="1000" dirty="0"/>
          </a:p>
        </p:txBody>
      </p:sp>
      <p:sp>
        <p:nvSpPr>
          <p:cNvPr id="7" name="Shape 4"/>
          <p:cNvSpPr/>
          <p:nvPr/>
        </p:nvSpPr>
        <p:spPr>
          <a:xfrm>
            <a:off x="548640" y="1600200"/>
            <a:ext cx="1371600" cy="1371600"/>
          </a:xfrm>
          <a:prstGeom prst="ellipse">
            <a:avLst/>
          </a:prstGeom>
          <a:solidFill>
            <a:srgbClr val="FF462D"/>
          </a:solidFill>
          <a:ln/>
        </p:spPr>
      </p:sp>
      <p:pic>
        <p:nvPicPr>
          <p:cNvPr id="8" name="Image 1" descr="/private/tmp/claude-501/-Users-salehhamed-Outcome-Engine/91861432-41e2-4884-bc97-63c6dff2d021/scratchpad/wk/icons/TbFileUnknown-white.png">    </p:cNvPr>
          <p:cNvPicPr>
            <a:picLocks noChangeAspect="1"/>
          </p:cNvPicPr>
          <p:nvPr/>
        </p:nvPicPr>
        <p:blipFill>
          <a:blip r:embed="rId4"/>
          <a:stretch>
            <a:fillRect/>
          </a:stretch>
        </p:blipFill>
        <p:spPr>
          <a:xfrm>
            <a:off x="822960" y="1874520"/>
            <a:ext cx="822960" cy="822960"/>
          </a:xfrm>
          <a:prstGeom prst="rect">
            <a:avLst/>
          </a:prstGeom>
        </p:spPr>
      </p:pic>
      <p:sp>
        <p:nvSpPr>
          <p:cNvPr id="9" name="Shape 5"/>
          <p:cNvSpPr/>
          <p:nvPr/>
        </p:nvSpPr>
        <p:spPr>
          <a:xfrm>
            <a:off x="2240280" y="1600200"/>
            <a:ext cx="9400032" cy="1737360"/>
          </a:xfrm>
          <a:prstGeom prst="roundRect">
            <a:avLst>
              <a:gd name="adj" fmla="val 5263"/>
            </a:avLst>
          </a:prstGeom>
          <a:solidFill>
            <a:srgbClr val="FDF3E1"/>
          </a:solidFill>
          <a:ln/>
        </p:spPr>
      </p:sp>
      <p:pic>
        <p:nvPicPr>
          <p:cNvPr id="10" name="Image 2" descr="/private/tmp/claude-501/-Users-salehhamed-Outcome-Engine/91861432-41e2-4884-bc97-63c6dff2d021/scratchpad/wk/icons/TbBuildingSkyscraper-amber.png">    </p:cNvPr>
          <p:cNvPicPr>
            <a:picLocks noChangeAspect="1"/>
          </p:cNvPicPr>
          <p:nvPr/>
        </p:nvPicPr>
        <p:blipFill>
          <a:blip r:embed="rId5"/>
          <a:stretch>
            <a:fillRect/>
          </a:stretch>
        </p:blipFill>
        <p:spPr>
          <a:xfrm>
            <a:off x="2468880" y="1783080"/>
            <a:ext cx="457200" cy="457200"/>
          </a:xfrm>
          <a:prstGeom prst="rect">
            <a:avLst/>
          </a:prstGeom>
        </p:spPr>
      </p:pic>
      <p:sp>
        <p:nvSpPr>
          <p:cNvPr id="11" name="Text 6"/>
          <p:cNvSpPr txBox="1"/>
          <p:nvPr/>
        </p:nvSpPr>
        <p:spPr>
          <a:xfrm>
            <a:off x="3063240" y="1600200"/>
            <a:ext cx="8412480" cy="173736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The contract says "knowledge transfer as agreed". How many people, for how long?</a:t>
            </a:r>
            <a:endParaRPr lang="en-US" sz="2100" dirty="0"/>
          </a:p>
        </p:txBody>
      </p:sp>
      <p:sp>
        <p:nvSpPr>
          <p:cNvPr id="12" name="Text 7"/>
          <p:cNvSpPr txBox="1"/>
          <p:nvPr/>
        </p:nvSpPr>
        <p:spPr>
          <a:xfrm>
            <a:off x="548640" y="3657600"/>
            <a:ext cx="7315200" cy="457200"/>
          </a:xfrm>
          <a:prstGeom prst="rect">
            <a:avLst/>
          </a:prstGeom>
          <a:noFill/>
          <a:ln/>
        </p:spPr>
        <p:txBody>
          <a:bodyPr wrap="square" lIns="0" tIns="0" rIns="0" bIns="0" rtlCol="0" anchor="t"/>
          <a:lstStyle/>
          <a:p>
            <a:pPr indent="0" marL="0">
              <a:buNone/>
            </a:pPr>
            <a:r>
              <a:rPr lang="en-US" sz="1800" b="1" dirty="0">
                <a:solidFill>
                  <a:srgbClr val="287079"/>
                </a:solidFill>
                <a:latin typeface="Arial" pitchFamily="34" charset="0"/>
                <a:ea typeface="Arial" pitchFamily="34" charset="-122"/>
                <a:cs typeface="Arial" pitchFamily="34" charset="-120"/>
              </a:rPr>
              <a:t>What should happen?</a:t>
            </a:r>
            <a:endParaRPr lang="en-US" sz="1800" dirty="0"/>
          </a:p>
        </p:txBody>
      </p:sp>
      <p:sp>
        <p:nvSpPr>
          <p:cNvPr id="13" name="Shape 8"/>
          <p:cNvSpPr/>
          <p:nvPr/>
        </p:nvSpPr>
        <p:spPr>
          <a:xfrm>
            <a:off x="548640" y="4206240"/>
            <a:ext cx="3566160" cy="1463040"/>
          </a:xfrm>
          <a:prstGeom prst="roundRect">
            <a:avLst>
              <a:gd name="adj" fmla="val 5000"/>
            </a:avLst>
          </a:prstGeom>
          <a:solidFill>
            <a:srgbClr val="FFFFFF"/>
          </a:solidFill>
          <a:ln w="12700">
            <a:solidFill>
              <a:srgbClr val="D9DEE2"/>
            </a:solidFill>
            <a:prstDash val="solid"/>
          </a:ln>
        </p:spPr>
      </p:sp>
      <p:sp>
        <p:nvSpPr>
          <p:cNvPr id="14" name="Shape 9"/>
          <p:cNvSpPr/>
          <p:nvPr/>
        </p:nvSpPr>
        <p:spPr>
          <a:xfrm>
            <a:off x="731520" y="4434840"/>
            <a:ext cx="502920" cy="502920"/>
          </a:xfrm>
          <a:prstGeom prst="ellipse">
            <a:avLst/>
          </a:prstGeom>
          <a:solidFill>
            <a:srgbClr val="36454F"/>
          </a:solidFill>
          <a:ln/>
        </p:spPr>
      </p:sp>
      <p:sp>
        <p:nvSpPr>
          <p:cNvPr id="15" name="Text 10"/>
          <p:cNvSpPr txBox="1"/>
          <p:nvPr/>
        </p:nvSpPr>
        <p:spPr>
          <a:xfrm>
            <a:off x="731520" y="4434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a:t>
            </a:r>
            <a:endParaRPr lang="en-US" sz="1600" dirty="0"/>
          </a:p>
        </p:txBody>
      </p:sp>
      <p:sp>
        <p:nvSpPr>
          <p:cNvPr id="16" name="Text 11"/>
          <p:cNvSpPr txBox="1"/>
          <p:nvPr/>
        </p:nvSpPr>
        <p:spPr>
          <a:xfrm>
            <a:off x="1417320" y="4206240"/>
            <a:ext cx="2560320" cy="14630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Plan a standard size; correct it later</a:t>
            </a:r>
            <a:endParaRPr lang="en-US" sz="1600" dirty="0"/>
          </a:p>
        </p:txBody>
      </p:sp>
      <p:sp>
        <p:nvSpPr>
          <p:cNvPr id="17" name="Shape 12"/>
          <p:cNvSpPr/>
          <p:nvPr/>
        </p:nvSpPr>
        <p:spPr>
          <a:xfrm>
            <a:off x="4297680" y="4206240"/>
            <a:ext cx="3566160" cy="1463040"/>
          </a:xfrm>
          <a:prstGeom prst="roundRect">
            <a:avLst>
              <a:gd name="adj" fmla="val 5000"/>
            </a:avLst>
          </a:prstGeom>
          <a:solidFill>
            <a:srgbClr val="FFFFFF"/>
          </a:solidFill>
          <a:ln w="12700">
            <a:solidFill>
              <a:srgbClr val="D9DEE2"/>
            </a:solidFill>
            <a:prstDash val="solid"/>
          </a:ln>
        </p:spPr>
      </p:sp>
      <p:sp>
        <p:nvSpPr>
          <p:cNvPr id="18" name="Shape 13"/>
          <p:cNvSpPr/>
          <p:nvPr/>
        </p:nvSpPr>
        <p:spPr>
          <a:xfrm>
            <a:off x="4480560" y="4434840"/>
            <a:ext cx="502920" cy="502920"/>
          </a:xfrm>
          <a:prstGeom prst="ellipse">
            <a:avLst/>
          </a:prstGeom>
          <a:solidFill>
            <a:srgbClr val="36454F"/>
          </a:solidFill>
          <a:ln/>
        </p:spPr>
      </p:sp>
      <p:sp>
        <p:nvSpPr>
          <p:cNvPr id="19" name="Text 14"/>
          <p:cNvSpPr txBox="1"/>
          <p:nvPr/>
        </p:nvSpPr>
        <p:spPr>
          <a:xfrm>
            <a:off x="4480560" y="4434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a:t>
            </a:r>
            <a:endParaRPr lang="en-US" sz="1600" dirty="0"/>
          </a:p>
        </p:txBody>
      </p:sp>
      <p:sp>
        <p:nvSpPr>
          <p:cNvPr id="20" name="Text 15"/>
          <p:cNvSpPr txBox="1"/>
          <p:nvPr/>
        </p:nvSpPr>
        <p:spPr>
          <a:xfrm>
            <a:off x="5166360" y="4206240"/>
            <a:ext cx="2560320" cy="14630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Ask the solution lead; the plan waits</a:t>
            </a:r>
            <a:endParaRPr lang="en-US" sz="1600" dirty="0"/>
          </a:p>
        </p:txBody>
      </p:sp>
      <p:sp>
        <p:nvSpPr>
          <p:cNvPr id="21" name="Shape 16"/>
          <p:cNvSpPr/>
          <p:nvPr/>
        </p:nvSpPr>
        <p:spPr>
          <a:xfrm>
            <a:off x="8046720" y="4206240"/>
            <a:ext cx="3566160" cy="1463040"/>
          </a:xfrm>
          <a:prstGeom prst="roundRect">
            <a:avLst>
              <a:gd name="adj" fmla="val 5000"/>
            </a:avLst>
          </a:prstGeom>
          <a:solidFill>
            <a:srgbClr val="FFFFFF"/>
          </a:solidFill>
          <a:ln w="12700">
            <a:solidFill>
              <a:srgbClr val="D9DEE2"/>
            </a:solidFill>
            <a:prstDash val="solid"/>
          </a:ln>
        </p:spPr>
      </p:sp>
      <p:sp>
        <p:nvSpPr>
          <p:cNvPr id="22" name="Shape 17"/>
          <p:cNvSpPr/>
          <p:nvPr/>
        </p:nvSpPr>
        <p:spPr>
          <a:xfrm>
            <a:off x="8229600" y="4434840"/>
            <a:ext cx="502920" cy="502920"/>
          </a:xfrm>
          <a:prstGeom prst="ellipse">
            <a:avLst/>
          </a:prstGeom>
          <a:solidFill>
            <a:srgbClr val="36454F"/>
          </a:solidFill>
          <a:ln/>
        </p:spPr>
      </p:sp>
      <p:sp>
        <p:nvSpPr>
          <p:cNvPr id="23" name="Text 18"/>
          <p:cNvSpPr txBox="1"/>
          <p:nvPr/>
        </p:nvSpPr>
        <p:spPr>
          <a:xfrm>
            <a:off x="8229600" y="4434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a:t>
            </a:r>
            <a:endParaRPr lang="en-US" sz="1600" dirty="0"/>
          </a:p>
        </p:txBody>
      </p:sp>
      <p:sp>
        <p:nvSpPr>
          <p:cNvPr id="24" name="Text 19"/>
          <p:cNvSpPr txBox="1"/>
          <p:nvPr/>
        </p:nvSpPr>
        <p:spPr>
          <a:xfrm>
            <a:off x="8915400" y="4206240"/>
            <a:ext cx="2560320" cy="14630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Leave it out of the plan</a:t>
            </a:r>
            <a:endParaRPr lang="en-US" sz="1600" dirty="0"/>
          </a:p>
        </p:txBody>
      </p:sp>
      <p:sp>
        <p:nvSpPr>
          <p:cNvPr id="25" name="Text 20"/>
          <p:cNvSpPr txBox="1"/>
          <p:nvPr/>
        </p:nvSpPr>
        <p:spPr>
          <a:xfrm>
            <a:off x="548640" y="5897880"/>
            <a:ext cx="10972800" cy="36576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Then write the rule: when, then, who decides, by when, and if nobody answers.</a:t>
            </a:r>
            <a:endParaRPr lang="en-US" sz="14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EXCEPTION · NORTHGATE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2 · Two deals want the same person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15:00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93</a:t>
            </a:r>
            <a:endParaRPr lang="en-US" sz="1000" dirty="0"/>
          </a:p>
        </p:txBody>
      </p:sp>
      <p:sp>
        <p:nvSpPr>
          <p:cNvPr id="7" name="Shape 4"/>
          <p:cNvSpPr/>
          <p:nvPr/>
        </p:nvSpPr>
        <p:spPr>
          <a:xfrm>
            <a:off x="548640" y="1600200"/>
            <a:ext cx="1371600" cy="1371600"/>
          </a:xfrm>
          <a:prstGeom prst="ellipse">
            <a:avLst/>
          </a:prstGeom>
          <a:solidFill>
            <a:srgbClr val="FF462D"/>
          </a:solidFill>
          <a:ln/>
        </p:spPr>
      </p:sp>
      <p:pic>
        <p:nvPicPr>
          <p:cNvPr id="8" name="Image 1" descr="/private/tmp/claude-501/-Users-salehhamed-Outcome-Engine/91861432-41e2-4884-bc97-63c6dff2d021/scratchpad/wk/icons/TbArrowsCross-white.png">    </p:cNvPr>
          <p:cNvPicPr>
            <a:picLocks noChangeAspect="1"/>
          </p:cNvPicPr>
          <p:nvPr/>
        </p:nvPicPr>
        <p:blipFill>
          <a:blip r:embed="rId4"/>
          <a:stretch>
            <a:fillRect/>
          </a:stretch>
        </p:blipFill>
        <p:spPr>
          <a:xfrm>
            <a:off x="822960" y="1874520"/>
            <a:ext cx="822960" cy="822960"/>
          </a:xfrm>
          <a:prstGeom prst="rect">
            <a:avLst/>
          </a:prstGeom>
        </p:spPr>
      </p:pic>
      <p:sp>
        <p:nvSpPr>
          <p:cNvPr id="9" name="Shape 5"/>
          <p:cNvSpPr/>
          <p:nvPr/>
        </p:nvSpPr>
        <p:spPr>
          <a:xfrm>
            <a:off x="2240280" y="1600200"/>
            <a:ext cx="9400032" cy="1737360"/>
          </a:xfrm>
          <a:prstGeom prst="roundRect">
            <a:avLst>
              <a:gd name="adj" fmla="val 5263"/>
            </a:avLst>
          </a:prstGeom>
          <a:solidFill>
            <a:srgbClr val="FDF3E1"/>
          </a:solidFill>
          <a:ln/>
        </p:spPr>
      </p:sp>
      <p:pic>
        <p:nvPicPr>
          <p:cNvPr id="10" name="Image 2" descr="/private/tmp/claude-501/-Users-salehhamed-Outcome-Engine/91861432-41e2-4884-bc97-63c6dff2d021/scratchpad/wk/icons/TbBuildingSkyscraper-amber.png">    </p:cNvPr>
          <p:cNvPicPr>
            <a:picLocks noChangeAspect="1"/>
          </p:cNvPicPr>
          <p:nvPr/>
        </p:nvPicPr>
        <p:blipFill>
          <a:blip r:embed="rId5"/>
          <a:stretch>
            <a:fillRect/>
          </a:stretch>
        </p:blipFill>
        <p:spPr>
          <a:xfrm>
            <a:off x="2468880" y="1783080"/>
            <a:ext cx="457200" cy="457200"/>
          </a:xfrm>
          <a:prstGeom prst="rect">
            <a:avLst/>
          </a:prstGeom>
        </p:spPr>
      </p:pic>
      <p:sp>
        <p:nvSpPr>
          <p:cNvPr id="11" name="Text 6"/>
          <p:cNvSpPr txBox="1"/>
          <p:nvPr/>
        </p:nvSpPr>
        <p:spPr>
          <a:xfrm>
            <a:off x="3063240" y="1600200"/>
            <a:ext cx="8412480" cy="173736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Northgate and another deal both want the same project manager in December.</a:t>
            </a:r>
            <a:endParaRPr lang="en-US" sz="2100" dirty="0"/>
          </a:p>
        </p:txBody>
      </p:sp>
      <p:sp>
        <p:nvSpPr>
          <p:cNvPr id="12" name="Text 7"/>
          <p:cNvSpPr txBox="1"/>
          <p:nvPr/>
        </p:nvSpPr>
        <p:spPr>
          <a:xfrm>
            <a:off x="548640" y="3657600"/>
            <a:ext cx="7315200" cy="457200"/>
          </a:xfrm>
          <a:prstGeom prst="rect">
            <a:avLst/>
          </a:prstGeom>
          <a:noFill/>
          <a:ln/>
        </p:spPr>
        <p:txBody>
          <a:bodyPr wrap="square" lIns="0" tIns="0" rIns="0" bIns="0" rtlCol="0" anchor="t"/>
          <a:lstStyle/>
          <a:p>
            <a:pPr indent="0" marL="0">
              <a:buNone/>
            </a:pPr>
            <a:r>
              <a:rPr lang="en-US" sz="1800" b="1" dirty="0">
                <a:solidFill>
                  <a:srgbClr val="287079"/>
                </a:solidFill>
                <a:latin typeface="Arial" pitchFamily="34" charset="0"/>
                <a:ea typeface="Arial" pitchFamily="34" charset="-122"/>
                <a:cs typeface="Arial" pitchFamily="34" charset="-120"/>
              </a:rPr>
              <a:t>What should happen?</a:t>
            </a:r>
            <a:endParaRPr lang="en-US" sz="1800" dirty="0"/>
          </a:p>
        </p:txBody>
      </p:sp>
      <p:sp>
        <p:nvSpPr>
          <p:cNvPr id="13" name="Shape 8"/>
          <p:cNvSpPr/>
          <p:nvPr/>
        </p:nvSpPr>
        <p:spPr>
          <a:xfrm>
            <a:off x="548640" y="4206240"/>
            <a:ext cx="3566160" cy="1463040"/>
          </a:xfrm>
          <a:prstGeom prst="roundRect">
            <a:avLst>
              <a:gd name="adj" fmla="val 5000"/>
            </a:avLst>
          </a:prstGeom>
          <a:solidFill>
            <a:srgbClr val="FFFFFF"/>
          </a:solidFill>
          <a:ln w="12700">
            <a:solidFill>
              <a:srgbClr val="D9DEE2"/>
            </a:solidFill>
            <a:prstDash val="solid"/>
          </a:ln>
        </p:spPr>
      </p:sp>
      <p:sp>
        <p:nvSpPr>
          <p:cNvPr id="14" name="Shape 9"/>
          <p:cNvSpPr/>
          <p:nvPr/>
        </p:nvSpPr>
        <p:spPr>
          <a:xfrm>
            <a:off x="731520" y="4434840"/>
            <a:ext cx="502920" cy="502920"/>
          </a:xfrm>
          <a:prstGeom prst="ellipse">
            <a:avLst/>
          </a:prstGeom>
          <a:solidFill>
            <a:srgbClr val="36454F"/>
          </a:solidFill>
          <a:ln/>
        </p:spPr>
      </p:sp>
      <p:sp>
        <p:nvSpPr>
          <p:cNvPr id="15" name="Text 10"/>
          <p:cNvSpPr txBox="1"/>
          <p:nvPr/>
        </p:nvSpPr>
        <p:spPr>
          <a:xfrm>
            <a:off x="731520" y="4434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a:t>
            </a:r>
            <a:endParaRPr lang="en-US" sz="1600" dirty="0"/>
          </a:p>
        </p:txBody>
      </p:sp>
      <p:sp>
        <p:nvSpPr>
          <p:cNvPr id="16" name="Text 11"/>
          <p:cNvSpPr txBox="1"/>
          <p:nvPr/>
        </p:nvSpPr>
        <p:spPr>
          <a:xfrm>
            <a:off x="1417320" y="4206240"/>
            <a:ext cx="2560320" cy="14630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The resourcing lead decides, with a reason</a:t>
            </a:r>
            <a:endParaRPr lang="en-US" sz="1600" dirty="0"/>
          </a:p>
        </p:txBody>
      </p:sp>
      <p:sp>
        <p:nvSpPr>
          <p:cNvPr id="17" name="Shape 12"/>
          <p:cNvSpPr/>
          <p:nvPr/>
        </p:nvSpPr>
        <p:spPr>
          <a:xfrm>
            <a:off x="4297680" y="4206240"/>
            <a:ext cx="3566160" cy="1463040"/>
          </a:xfrm>
          <a:prstGeom prst="roundRect">
            <a:avLst>
              <a:gd name="adj" fmla="val 5000"/>
            </a:avLst>
          </a:prstGeom>
          <a:solidFill>
            <a:srgbClr val="FFFFFF"/>
          </a:solidFill>
          <a:ln w="12700">
            <a:solidFill>
              <a:srgbClr val="D9DEE2"/>
            </a:solidFill>
            <a:prstDash val="solid"/>
          </a:ln>
        </p:spPr>
      </p:sp>
      <p:sp>
        <p:nvSpPr>
          <p:cNvPr id="18" name="Shape 13"/>
          <p:cNvSpPr/>
          <p:nvPr/>
        </p:nvSpPr>
        <p:spPr>
          <a:xfrm>
            <a:off x="4480560" y="4434840"/>
            <a:ext cx="502920" cy="502920"/>
          </a:xfrm>
          <a:prstGeom prst="ellipse">
            <a:avLst/>
          </a:prstGeom>
          <a:solidFill>
            <a:srgbClr val="36454F"/>
          </a:solidFill>
          <a:ln/>
        </p:spPr>
      </p:sp>
      <p:sp>
        <p:nvSpPr>
          <p:cNvPr id="19" name="Text 14"/>
          <p:cNvSpPr txBox="1"/>
          <p:nvPr/>
        </p:nvSpPr>
        <p:spPr>
          <a:xfrm>
            <a:off x="4480560" y="4434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a:t>
            </a:r>
            <a:endParaRPr lang="en-US" sz="1600" dirty="0"/>
          </a:p>
        </p:txBody>
      </p:sp>
      <p:sp>
        <p:nvSpPr>
          <p:cNvPr id="20" name="Text 15"/>
          <p:cNvSpPr txBox="1"/>
          <p:nvPr/>
        </p:nvSpPr>
        <p:spPr>
          <a:xfrm>
            <a:off x="5166360" y="4206240"/>
            <a:ext cx="2560320" cy="14630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The first hold wins</a:t>
            </a:r>
            <a:endParaRPr lang="en-US" sz="1600" dirty="0"/>
          </a:p>
        </p:txBody>
      </p:sp>
      <p:sp>
        <p:nvSpPr>
          <p:cNvPr id="21" name="Shape 16"/>
          <p:cNvSpPr/>
          <p:nvPr/>
        </p:nvSpPr>
        <p:spPr>
          <a:xfrm>
            <a:off x="8046720" y="4206240"/>
            <a:ext cx="3566160" cy="1463040"/>
          </a:xfrm>
          <a:prstGeom prst="roundRect">
            <a:avLst>
              <a:gd name="adj" fmla="val 5000"/>
            </a:avLst>
          </a:prstGeom>
          <a:solidFill>
            <a:srgbClr val="FFFFFF"/>
          </a:solidFill>
          <a:ln w="12700">
            <a:solidFill>
              <a:srgbClr val="D9DEE2"/>
            </a:solidFill>
            <a:prstDash val="solid"/>
          </a:ln>
        </p:spPr>
      </p:sp>
      <p:sp>
        <p:nvSpPr>
          <p:cNvPr id="22" name="Shape 17"/>
          <p:cNvSpPr/>
          <p:nvPr/>
        </p:nvSpPr>
        <p:spPr>
          <a:xfrm>
            <a:off x="8229600" y="4434840"/>
            <a:ext cx="502920" cy="502920"/>
          </a:xfrm>
          <a:prstGeom prst="ellipse">
            <a:avLst/>
          </a:prstGeom>
          <a:solidFill>
            <a:srgbClr val="36454F"/>
          </a:solidFill>
          <a:ln/>
        </p:spPr>
      </p:sp>
      <p:sp>
        <p:nvSpPr>
          <p:cNvPr id="23" name="Text 18"/>
          <p:cNvSpPr txBox="1"/>
          <p:nvPr/>
        </p:nvSpPr>
        <p:spPr>
          <a:xfrm>
            <a:off x="8229600" y="4434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a:t>
            </a:r>
            <a:endParaRPr lang="en-US" sz="1600" dirty="0"/>
          </a:p>
        </p:txBody>
      </p:sp>
      <p:sp>
        <p:nvSpPr>
          <p:cNvPr id="24" name="Text 19"/>
          <p:cNvSpPr txBox="1"/>
          <p:nvPr/>
        </p:nvSpPr>
        <p:spPr>
          <a:xfrm>
            <a:off x="8915400" y="4206240"/>
            <a:ext cx="2560320" cy="14630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The likelier deal wins, by a fixed rule</a:t>
            </a:r>
            <a:endParaRPr lang="en-US" sz="1600" dirty="0"/>
          </a:p>
        </p:txBody>
      </p:sp>
      <p:sp>
        <p:nvSpPr>
          <p:cNvPr id="25" name="Text 20"/>
          <p:cNvSpPr txBox="1"/>
          <p:nvPr/>
        </p:nvSpPr>
        <p:spPr>
          <a:xfrm>
            <a:off x="548640" y="5897880"/>
            <a:ext cx="10972800" cy="36576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Then write the rule: when, then, who decides, by when, and if nobody answers.</a:t>
            </a:r>
            <a:endParaRPr lang="en-US" sz="14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EXCEPTION · NORTHGATE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3 · A skill missing from the approved list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15:00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94</a:t>
            </a:r>
            <a:endParaRPr lang="en-US" sz="1000" dirty="0"/>
          </a:p>
        </p:txBody>
      </p:sp>
      <p:sp>
        <p:nvSpPr>
          <p:cNvPr id="7" name="Shape 4"/>
          <p:cNvSpPr/>
          <p:nvPr/>
        </p:nvSpPr>
        <p:spPr>
          <a:xfrm>
            <a:off x="548640" y="1600200"/>
            <a:ext cx="1371600" cy="1371600"/>
          </a:xfrm>
          <a:prstGeom prst="ellipse">
            <a:avLst/>
          </a:prstGeom>
          <a:solidFill>
            <a:srgbClr val="FF462D"/>
          </a:solidFill>
          <a:ln/>
        </p:spPr>
      </p:sp>
      <p:pic>
        <p:nvPicPr>
          <p:cNvPr id="8" name="Image 1" descr="/private/tmp/claude-501/-Users-salehhamed-Outcome-Engine/91861432-41e2-4884-bc97-63c6dff2d021/scratchpad/wk/icons/TbListSearch-white.png">    </p:cNvPr>
          <p:cNvPicPr>
            <a:picLocks noChangeAspect="1"/>
          </p:cNvPicPr>
          <p:nvPr/>
        </p:nvPicPr>
        <p:blipFill>
          <a:blip r:embed="rId4"/>
          <a:stretch>
            <a:fillRect/>
          </a:stretch>
        </p:blipFill>
        <p:spPr>
          <a:xfrm>
            <a:off x="822960" y="1874520"/>
            <a:ext cx="822960" cy="822960"/>
          </a:xfrm>
          <a:prstGeom prst="rect">
            <a:avLst/>
          </a:prstGeom>
        </p:spPr>
      </p:pic>
      <p:sp>
        <p:nvSpPr>
          <p:cNvPr id="9" name="Shape 5"/>
          <p:cNvSpPr/>
          <p:nvPr/>
        </p:nvSpPr>
        <p:spPr>
          <a:xfrm>
            <a:off x="2240280" y="1600200"/>
            <a:ext cx="9400032" cy="1737360"/>
          </a:xfrm>
          <a:prstGeom prst="roundRect">
            <a:avLst>
              <a:gd name="adj" fmla="val 5263"/>
            </a:avLst>
          </a:prstGeom>
          <a:solidFill>
            <a:srgbClr val="FDF3E1"/>
          </a:solidFill>
          <a:ln/>
        </p:spPr>
      </p:sp>
      <p:pic>
        <p:nvPicPr>
          <p:cNvPr id="10" name="Image 2" descr="/private/tmp/claude-501/-Users-salehhamed-Outcome-Engine/91861432-41e2-4884-bc97-63c6dff2d021/scratchpad/wk/icons/TbBuildingSkyscraper-amber.png">    </p:cNvPr>
          <p:cNvPicPr>
            <a:picLocks noChangeAspect="1"/>
          </p:cNvPicPr>
          <p:nvPr/>
        </p:nvPicPr>
        <p:blipFill>
          <a:blip r:embed="rId5"/>
          <a:stretch>
            <a:fillRect/>
          </a:stretch>
        </p:blipFill>
        <p:spPr>
          <a:xfrm>
            <a:off x="2468880" y="1783080"/>
            <a:ext cx="457200" cy="457200"/>
          </a:xfrm>
          <a:prstGeom prst="rect">
            <a:avLst/>
          </a:prstGeom>
        </p:spPr>
      </p:pic>
      <p:sp>
        <p:nvSpPr>
          <p:cNvPr id="11" name="Text 6"/>
          <p:cNvSpPr txBox="1"/>
          <p:nvPr/>
        </p:nvSpPr>
        <p:spPr>
          <a:xfrm>
            <a:off x="3063240" y="1600200"/>
            <a:ext cx="8412480" cy="173736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Northgate needs "Azure Virtual WAN". It is not on the approved skills list.</a:t>
            </a:r>
            <a:endParaRPr lang="en-US" sz="2100" dirty="0"/>
          </a:p>
        </p:txBody>
      </p:sp>
      <p:sp>
        <p:nvSpPr>
          <p:cNvPr id="12" name="Text 7"/>
          <p:cNvSpPr txBox="1"/>
          <p:nvPr/>
        </p:nvSpPr>
        <p:spPr>
          <a:xfrm>
            <a:off x="548640" y="3657600"/>
            <a:ext cx="7315200" cy="457200"/>
          </a:xfrm>
          <a:prstGeom prst="rect">
            <a:avLst/>
          </a:prstGeom>
          <a:noFill/>
          <a:ln/>
        </p:spPr>
        <p:txBody>
          <a:bodyPr wrap="square" lIns="0" tIns="0" rIns="0" bIns="0" rtlCol="0" anchor="t"/>
          <a:lstStyle/>
          <a:p>
            <a:pPr indent="0" marL="0">
              <a:buNone/>
            </a:pPr>
            <a:r>
              <a:rPr lang="en-US" sz="1800" b="1" dirty="0">
                <a:solidFill>
                  <a:srgbClr val="287079"/>
                </a:solidFill>
                <a:latin typeface="Arial" pitchFamily="34" charset="0"/>
                <a:ea typeface="Arial" pitchFamily="34" charset="-122"/>
                <a:cs typeface="Arial" pitchFamily="34" charset="-120"/>
              </a:rPr>
              <a:t>What should happen?</a:t>
            </a:r>
            <a:endParaRPr lang="en-US" sz="1800" dirty="0"/>
          </a:p>
        </p:txBody>
      </p:sp>
      <p:sp>
        <p:nvSpPr>
          <p:cNvPr id="13" name="Shape 8"/>
          <p:cNvSpPr/>
          <p:nvPr/>
        </p:nvSpPr>
        <p:spPr>
          <a:xfrm>
            <a:off x="548640" y="4206240"/>
            <a:ext cx="3566160" cy="1463040"/>
          </a:xfrm>
          <a:prstGeom prst="roundRect">
            <a:avLst>
              <a:gd name="adj" fmla="val 5000"/>
            </a:avLst>
          </a:prstGeom>
          <a:solidFill>
            <a:srgbClr val="FFFFFF"/>
          </a:solidFill>
          <a:ln w="12700">
            <a:solidFill>
              <a:srgbClr val="D9DEE2"/>
            </a:solidFill>
            <a:prstDash val="solid"/>
          </a:ln>
        </p:spPr>
      </p:sp>
      <p:sp>
        <p:nvSpPr>
          <p:cNvPr id="14" name="Shape 9"/>
          <p:cNvSpPr/>
          <p:nvPr/>
        </p:nvSpPr>
        <p:spPr>
          <a:xfrm>
            <a:off x="731520" y="4434840"/>
            <a:ext cx="502920" cy="502920"/>
          </a:xfrm>
          <a:prstGeom prst="ellipse">
            <a:avLst/>
          </a:prstGeom>
          <a:solidFill>
            <a:srgbClr val="36454F"/>
          </a:solidFill>
          <a:ln/>
        </p:spPr>
      </p:sp>
      <p:sp>
        <p:nvSpPr>
          <p:cNvPr id="15" name="Text 10"/>
          <p:cNvSpPr txBox="1"/>
          <p:nvPr/>
        </p:nvSpPr>
        <p:spPr>
          <a:xfrm>
            <a:off x="731520" y="4434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a:t>
            </a:r>
            <a:endParaRPr lang="en-US" sz="1600" dirty="0"/>
          </a:p>
        </p:txBody>
      </p:sp>
      <p:sp>
        <p:nvSpPr>
          <p:cNvPr id="16" name="Text 11"/>
          <p:cNvSpPr txBox="1"/>
          <p:nvPr/>
        </p:nvSpPr>
        <p:spPr>
          <a:xfrm>
            <a:off x="1417320" y="4206240"/>
            <a:ext cx="2560320" cy="14630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Add it to the list yourself</a:t>
            </a:r>
            <a:endParaRPr lang="en-US" sz="1600" dirty="0"/>
          </a:p>
        </p:txBody>
      </p:sp>
      <p:sp>
        <p:nvSpPr>
          <p:cNvPr id="17" name="Shape 12"/>
          <p:cNvSpPr/>
          <p:nvPr/>
        </p:nvSpPr>
        <p:spPr>
          <a:xfrm>
            <a:off x="4297680" y="4206240"/>
            <a:ext cx="3566160" cy="1463040"/>
          </a:xfrm>
          <a:prstGeom prst="roundRect">
            <a:avLst>
              <a:gd name="adj" fmla="val 5000"/>
            </a:avLst>
          </a:prstGeom>
          <a:solidFill>
            <a:srgbClr val="FFFFFF"/>
          </a:solidFill>
          <a:ln w="12700">
            <a:solidFill>
              <a:srgbClr val="D9DEE2"/>
            </a:solidFill>
            <a:prstDash val="solid"/>
          </a:ln>
        </p:spPr>
      </p:sp>
      <p:sp>
        <p:nvSpPr>
          <p:cNvPr id="18" name="Shape 13"/>
          <p:cNvSpPr/>
          <p:nvPr/>
        </p:nvSpPr>
        <p:spPr>
          <a:xfrm>
            <a:off x="4480560" y="4434840"/>
            <a:ext cx="502920" cy="502920"/>
          </a:xfrm>
          <a:prstGeom prst="ellipse">
            <a:avLst/>
          </a:prstGeom>
          <a:solidFill>
            <a:srgbClr val="36454F"/>
          </a:solidFill>
          <a:ln/>
        </p:spPr>
      </p:sp>
      <p:sp>
        <p:nvSpPr>
          <p:cNvPr id="19" name="Text 14"/>
          <p:cNvSpPr txBox="1"/>
          <p:nvPr/>
        </p:nvSpPr>
        <p:spPr>
          <a:xfrm>
            <a:off x="4480560" y="4434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a:t>
            </a:r>
            <a:endParaRPr lang="en-US" sz="1600" dirty="0"/>
          </a:p>
        </p:txBody>
      </p:sp>
      <p:sp>
        <p:nvSpPr>
          <p:cNvPr id="20" name="Text 15"/>
          <p:cNvSpPr txBox="1"/>
          <p:nvPr/>
        </p:nvSpPr>
        <p:spPr>
          <a:xfrm>
            <a:off x="5166360" y="4206240"/>
            <a:ext cx="2560320" cy="14630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Use the nearest skill, marked as near</a:t>
            </a:r>
            <a:endParaRPr lang="en-US" sz="1600" dirty="0"/>
          </a:p>
        </p:txBody>
      </p:sp>
      <p:sp>
        <p:nvSpPr>
          <p:cNvPr id="21" name="Shape 16"/>
          <p:cNvSpPr/>
          <p:nvPr/>
        </p:nvSpPr>
        <p:spPr>
          <a:xfrm>
            <a:off x="8046720" y="4206240"/>
            <a:ext cx="3566160" cy="1463040"/>
          </a:xfrm>
          <a:prstGeom prst="roundRect">
            <a:avLst>
              <a:gd name="adj" fmla="val 5000"/>
            </a:avLst>
          </a:prstGeom>
          <a:solidFill>
            <a:srgbClr val="FFFFFF"/>
          </a:solidFill>
          <a:ln w="12700">
            <a:solidFill>
              <a:srgbClr val="D9DEE2"/>
            </a:solidFill>
            <a:prstDash val="solid"/>
          </a:ln>
        </p:spPr>
      </p:sp>
      <p:sp>
        <p:nvSpPr>
          <p:cNvPr id="22" name="Shape 17"/>
          <p:cNvSpPr/>
          <p:nvPr/>
        </p:nvSpPr>
        <p:spPr>
          <a:xfrm>
            <a:off x="8229600" y="4434840"/>
            <a:ext cx="502920" cy="502920"/>
          </a:xfrm>
          <a:prstGeom prst="ellipse">
            <a:avLst/>
          </a:prstGeom>
          <a:solidFill>
            <a:srgbClr val="36454F"/>
          </a:solidFill>
          <a:ln/>
        </p:spPr>
      </p:sp>
      <p:sp>
        <p:nvSpPr>
          <p:cNvPr id="23" name="Text 18"/>
          <p:cNvSpPr txBox="1"/>
          <p:nvPr/>
        </p:nvSpPr>
        <p:spPr>
          <a:xfrm>
            <a:off x="8229600" y="4434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a:t>
            </a:r>
            <a:endParaRPr lang="en-US" sz="1600" dirty="0"/>
          </a:p>
        </p:txBody>
      </p:sp>
      <p:sp>
        <p:nvSpPr>
          <p:cNvPr id="24" name="Text 19"/>
          <p:cNvSpPr txBox="1"/>
          <p:nvPr/>
        </p:nvSpPr>
        <p:spPr>
          <a:xfrm>
            <a:off x="8915400" y="4206240"/>
            <a:ext cx="2560320" cy="14630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Ask the list owner, with a deadline</a:t>
            </a:r>
            <a:endParaRPr lang="en-US" sz="1600" dirty="0"/>
          </a:p>
        </p:txBody>
      </p:sp>
      <p:sp>
        <p:nvSpPr>
          <p:cNvPr id="25" name="Text 20"/>
          <p:cNvSpPr txBox="1"/>
          <p:nvPr/>
        </p:nvSpPr>
        <p:spPr>
          <a:xfrm>
            <a:off x="548640" y="5897880"/>
            <a:ext cx="10972800" cy="36576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Then write the rule: when, then, who decides, by when, and if nobody answers.</a:t>
            </a:r>
            <a:endParaRPr lang="en-US" sz="14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EXCEPTION · NORTHGATE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4 · A release is refused</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15:00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95</a:t>
            </a:r>
            <a:endParaRPr lang="en-US" sz="1000" dirty="0"/>
          </a:p>
        </p:txBody>
      </p:sp>
      <p:sp>
        <p:nvSpPr>
          <p:cNvPr id="7" name="Shape 4"/>
          <p:cNvSpPr/>
          <p:nvPr/>
        </p:nvSpPr>
        <p:spPr>
          <a:xfrm>
            <a:off x="548640" y="1600200"/>
            <a:ext cx="1371600" cy="1371600"/>
          </a:xfrm>
          <a:prstGeom prst="ellipse">
            <a:avLst/>
          </a:prstGeom>
          <a:solidFill>
            <a:srgbClr val="FF462D"/>
          </a:solidFill>
          <a:ln/>
        </p:spPr>
      </p:sp>
      <p:pic>
        <p:nvPicPr>
          <p:cNvPr id="8" name="Image 1" descr="/private/tmp/claude-501/-Users-salehhamed-Outcome-Engine/91861432-41e2-4884-bc97-63c6dff2d021/scratchpad/wk/icons/TbHandStop-white.png">    </p:cNvPr>
          <p:cNvPicPr>
            <a:picLocks noChangeAspect="1"/>
          </p:cNvPicPr>
          <p:nvPr/>
        </p:nvPicPr>
        <p:blipFill>
          <a:blip r:embed="rId4"/>
          <a:stretch>
            <a:fillRect/>
          </a:stretch>
        </p:blipFill>
        <p:spPr>
          <a:xfrm>
            <a:off x="822960" y="1874520"/>
            <a:ext cx="822960" cy="822960"/>
          </a:xfrm>
          <a:prstGeom prst="rect">
            <a:avLst/>
          </a:prstGeom>
        </p:spPr>
      </p:pic>
      <p:sp>
        <p:nvSpPr>
          <p:cNvPr id="9" name="Shape 5"/>
          <p:cNvSpPr/>
          <p:nvPr/>
        </p:nvSpPr>
        <p:spPr>
          <a:xfrm>
            <a:off x="2240280" y="1600200"/>
            <a:ext cx="9400032" cy="1737360"/>
          </a:xfrm>
          <a:prstGeom prst="roundRect">
            <a:avLst>
              <a:gd name="adj" fmla="val 5263"/>
            </a:avLst>
          </a:prstGeom>
          <a:solidFill>
            <a:srgbClr val="FDF3E1"/>
          </a:solidFill>
          <a:ln/>
        </p:spPr>
      </p:sp>
      <p:pic>
        <p:nvPicPr>
          <p:cNvPr id="10" name="Image 2" descr="/private/tmp/claude-501/-Users-salehhamed-Outcome-Engine/91861432-41e2-4884-bc97-63c6dff2d021/scratchpad/wk/icons/TbBuildingSkyscraper-amber.png">    </p:cNvPr>
          <p:cNvPicPr>
            <a:picLocks noChangeAspect="1"/>
          </p:cNvPicPr>
          <p:nvPr/>
        </p:nvPicPr>
        <p:blipFill>
          <a:blip r:embed="rId5"/>
          <a:stretch>
            <a:fillRect/>
          </a:stretch>
        </p:blipFill>
        <p:spPr>
          <a:xfrm>
            <a:off x="2468880" y="1783080"/>
            <a:ext cx="457200" cy="457200"/>
          </a:xfrm>
          <a:prstGeom prst="rect">
            <a:avLst/>
          </a:prstGeom>
        </p:spPr>
      </p:pic>
      <p:sp>
        <p:nvSpPr>
          <p:cNvPr id="11" name="Text 6"/>
          <p:cNvSpPr txBox="1"/>
          <p:nvPr/>
        </p:nvSpPr>
        <p:spPr>
          <a:xfrm>
            <a:off x="3063240" y="1600200"/>
            <a:ext cx="8412480" cy="173736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The only other person with the firewall skill is the sole expert on their own account. Their manager says no.</a:t>
            </a:r>
            <a:endParaRPr lang="en-US" sz="2100" dirty="0"/>
          </a:p>
        </p:txBody>
      </p:sp>
      <p:sp>
        <p:nvSpPr>
          <p:cNvPr id="12" name="Text 7"/>
          <p:cNvSpPr txBox="1"/>
          <p:nvPr/>
        </p:nvSpPr>
        <p:spPr>
          <a:xfrm>
            <a:off x="548640" y="3657600"/>
            <a:ext cx="7315200" cy="457200"/>
          </a:xfrm>
          <a:prstGeom prst="rect">
            <a:avLst/>
          </a:prstGeom>
          <a:noFill/>
          <a:ln/>
        </p:spPr>
        <p:txBody>
          <a:bodyPr wrap="square" lIns="0" tIns="0" rIns="0" bIns="0" rtlCol="0" anchor="t"/>
          <a:lstStyle/>
          <a:p>
            <a:pPr indent="0" marL="0">
              <a:buNone/>
            </a:pPr>
            <a:r>
              <a:rPr lang="en-US" sz="1800" b="1" dirty="0">
                <a:solidFill>
                  <a:srgbClr val="287079"/>
                </a:solidFill>
                <a:latin typeface="Arial" pitchFamily="34" charset="0"/>
                <a:ea typeface="Arial" pitchFamily="34" charset="-122"/>
                <a:cs typeface="Arial" pitchFamily="34" charset="-120"/>
              </a:rPr>
              <a:t>What should happen?</a:t>
            </a:r>
            <a:endParaRPr lang="en-US" sz="1800" dirty="0"/>
          </a:p>
        </p:txBody>
      </p:sp>
      <p:sp>
        <p:nvSpPr>
          <p:cNvPr id="13" name="Shape 8"/>
          <p:cNvSpPr/>
          <p:nvPr/>
        </p:nvSpPr>
        <p:spPr>
          <a:xfrm>
            <a:off x="548640" y="4206240"/>
            <a:ext cx="3566160" cy="1463040"/>
          </a:xfrm>
          <a:prstGeom prst="roundRect">
            <a:avLst>
              <a:gd name="adj" fmla="val 5000"/>
            </a:avLst>
          </a:prstGeom>
          <a:solidFill>
            <a:srgbClr val="FFFFFF"/>
          </a:solidFill>
          <a:ln w="12700">
            <a:solidFill>
              <a:srgbClr val="D9DEE2"/>
            </a:solidFill>
            <a:prstDash val="solid"/>
          </a:ln>
        </p:spPr>
      </p:sp>
      <p:sp>
        <p:nvSpPr>
          <p:cNvPr id="14" name="Shape 9"/>
          <p:cNvSpPr/>
          <p:nvPr/>
        </p:nvSpPr>
        <p:spPr>
          <a:xfrm>
            <a:off x="731520" y="4434840"/>
            <a:ext cx="502920" cy="502920"/>
          </a:xfrm>
          <a:prstGeom prst="ellipse">
            <a:avLst/>
          </a:prstGeom>
          <a:solidFill>
            <a:srgbClr val="36454F"/>
          </a:solidFill>
          <a:ln/>
        </p:spPr>
      </p:sp>
      <p:sp>
        <p:nvSpPr>
          <p:cNvPr id="15" name="Text 10"/>
          <p:cNvSpPr txBox="1"/>
          <p:nvPr/>
        </p:nvSpPr>
        <p:spPr>
          <a:xfrm>
            <a:off x="731520" y="4434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a:t>
            </a:r>
            <a:endParaRPr lang="en-US" sz="1600" dirty="0"/>
          </a:p>
        </p:txBody>
      </p:sp>
      <p:sp>
        <p:nvSpPr>
          <p:cNvPr id="16" name="Text 11"/>
          <p:cNvSpPr txBox="1"/>
          <p:nvPr/>
        </p:nvSpPr>
        <p:spPr>
          <a:xfrm>
            <a:off x="1417320" y="4206240"/>
            <a:ext cx="2560320" cy="14630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A practice lead can overrule within two days</a:t>
            </a:r>
            <a:endParaRPr lang="en-US" sz="1600" dirty="0"/>
          </a:p>
        </p:txBody>
      </p:sp>
      <p:sp>
        <p:nvSpPr>
          <p:cNvPr id="17" name="Shape 12"/>
          <p:cNvSpPr/>
          <p:nvPr/>
        </p:nvSpPr>
        <p:spPr>
          <a:xfrm>
            <a:off x="4297680" y="4206240"/>
            <a:ext cx="3566160" cy="1463040"/>
          </a:xfrm>
          <a:prstGeom prst="roundRect">
            <a:avLst>
              <a:gd name="adj" fmla="val 5000"/>
            </a:avLst>
          </a:prstGeom>
          <a:solidFill>
            <a:srgbClr val="FFFFFF"/>
          </a:solidFill>
          <a:ln w="12700">
            <a:solidFill>
              <a:srgbClr val="D9DEE2"/>
            </a:solidFill>
            <a:prstDash val="solid"/>
          </a:ln>
        </p:spPr>
      </p:sp>
      <p:sp>
        <p:nvSpPr>
          <p:cNvPr id="18" name="Shape 13"/>
          <p:cNvSpPr/>
          <p:nvPr/>
        </p:nvSpPr>
        <p:spPr>
          <a:xfrm>
            <a:off x="4480560" y="4434840"/>
            <a:ext cx="502920" cy="502920"/>
          </a:xfrm>
          <a:prstGeom prst="ellipse">
            <a:avLst/>
          </a:prstGeom>
          <a:solidFill>
            <a:srgbClr val="36454F"/>
          </a:solidFill>
          <a:ln/>
        </p:spPr>
      </p:sp>
      <p:sp>
        <p:nvSpPr>
          <p:cNvPr id="19" name="Text 14"/>
          <p:cNvSpPr txBox="1"/>
          <p:nvPr/>
        </p:nvSpPr>
        <p:spPr>
          <a:xfrm>
            <a:off x="4480560" y="4434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a:t>
            </a:r>
            <a:endParaRPr lang="en-US" sz="1600" dirty="0"/>
          </a:p>
        </p:txBody>
      </p:sp>
      <p:sp>
        <p:nvSpPr>
          <p:cNvPr id="20" name="Text 15"/>
          <p:cNvSpPr txBox="1"/>
          <p:nvPr/>
        </p:nvSpPr>
        <p:spPr>
          <a:xfrm>
            <a:off x="5166360" y="4206240"/>
            <a:ext cx="2560320" cy="14630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Declare a gap straight away</a:t>
            </a:r>
            <a:endParaRPr lang="en-US" sz="1600" dirty="0"/>
          </a:p>
        </p:txBody>
      </p:sp>
      <p:sp>
        <p:nvSpPr>
          <p:cNvPr id="21" name="Shape 16"/>
          <p:cNvSpPr/>
          <p:nvPr/>
        </p:nvSpPr>
        <p:spPr>
          <a:xfrm>
            <a:off x="8046720" y="4206240"/>
            <a:ext cx="3566160" cy="1463040"/>
          </a:xfrm>
          <a:prstGeom prst="roundRect">
            <a:avLst>
              <a:gd name="adj" fmla="val 5000"/>
            </a:avLst>
          </a:prstGeom>
          <a:solidFill>
            <a:srgbClr val="FFFFFF"/>
          </a:solidFill>
          <a:ln w="12700">
            <a:solidFill>
              <a:srgbClr val="D9DEE2"/>
            </a:solidFill>
            <a:prstDash val="solid"/>
          </a:ln>
        </p:spPr>
      </p:sp>
      <p:sp>
        <p:nvSpPr>
          <p:cNvPr id="22" name="Shape 17"/>
          <p:cNvSpPr/>
          <p:nvPr/>
        </p:nvSpPr>
        <p:spPr>
          <a:xfrm>
            <a:off x="8229600" y="4434840"/>
            <a:ext cx="502920" cy="502920"/>
          </a:xfrm>
          <a:prstGeom prst="ellipse">
            <a:avLst/>
          </a:prstGeom>
          <a:solidFill>
            <a:srgbClr val="36454F"/>
          </a:solidFill>
          <a:ln/>
        </p:spPr>
      </p:sp>
      <p:sp>
        <p:nvSpPr>
          <p:cNvPr id="23" name="Text 18"/>
          <p:cNvSpPr txBox="1"/>
          <p:nvPr/>
        </p:nvSpPr>
        <p:spPr>
          <a:xfrm>
            <a:off x="8229600" y="4434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a:t>
            </a:r>
            <a:endParaRPr lang="en-US" sz="1600" dirty="0"/>
          </a:p>
        </p:txBody>
      </p:sp>
      <p:sp>
        <p:nvSpPr>
          <p:cNvPr id="24" name="Text 19"/>
          <p:cNvSpPr txBox="1"/>
          <p:nvPr/>
        </p:nvSpPr>
        <p:spPr>
          <a:xfrm>
            <a:off x="8915400" y="4206240"/>
            <a:ext cx="2560320" cy="14630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Record the refusal; keep searching</a:t>
            </a:r>
            <a:endParaRPr lang="en-US" sz="1600" dirty="0"/>
          </a:p>
        </p:txBody>
      </p:sp>
      <p:sp>
        <p:nvSpPr>
          <p:cNvPr id="25" name="Text 20"/>
          <p:cNvSpPr txBox="1"/>
          <p:nvPr/>
        </p:nvSpPr>
        <p:spPr>
          <a:xfrm>
            <a:off x="548640" y="5897880"/>
            <a:ext cx="10972800" cy="36576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Then write the rule: when, then, who decides, by when, and if nobody answers.</a:t>
            </a:r>
            <a:endParaRPr lang="en-US" sz="1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EXCEPTION · NORTHGATE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5 · Blocked by cost, not by people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15:00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96</a:t>
            </a:r>
            <a:endParaRPr lang="en-US" sz="1000" dirty="0"/>
          </a:p>
        </p:txBody>
      </p:sp>
      <p:sp>
        <p:nvSpPr>
          <p:cNvPr id="7" name="Shape 4"/>
          <p:cNvSpPr/>
          <p:nvPr/>
        </p:nvSpPr>
        <p:spPr>
          <a:xfrm>
            <a:off x="548640" y="1600200"/>
            <a:ext cx="1371600" cy="1371600"/>
          </a:xfrm>
          <a:prstGeom prst="ellipse">
            <a:avLst/>
          </a:prstGeom>
          <a:solidFill>
            <a:srgbClr val="FF462D"/>
          </a:solidFill>
          <a:ln/>
        </p:spPr>
      </p:sp>
      <p:pic>
        <p:nvPicPr>
          <p:cNvPr id="8" name="Image 1" descr="/private/tmp/claude-501/-Users-salehhamed-Outcome-Engine/91861432-41e2-4884-bc97-63c6dff2d021/scratchpad/wk/icons/TbCurrencyPound-white.png">    </p:cNvPr>
          <p:cNvPicPr>
            <a:picLocks noChangeAspect="1"/>
          </p:cNvPicPr>
          <p:nvPr/>
        </p:nvPicPr>
        <p:blipFill>
          <a:blip r:embed="rId4"/>
          <a:stretch>
            <a:fillRect/>
          </a:stretch>
        </p:blipFill>
        <p:spPr>
          <a:xfrm>
            <a:off x="822960" y="1874520"/>
            <a:ext cx="822960" cy="822960"/>
          </a:xfrm>
          <a:prstGeom prst="rect">
            <a:avLst/>
          </a:prstGeom>
        </p:spPr>
      </p:pic>
      <p:sp>
        <p:nvSpPr>
          <p:cNvPr id="9" name="Shape 5"/>
          <p:cNvSpPr/>
          <p:nvPr/>
        </p:nvSpPr>
        <p:spPr>
          <a:xfrm>
            <a:off x="2240280" y="1600200"/>
            <a:ext cx="9400032" cy="1737360"/>
          </a:xfrm>
          <a:prstGeom prst="roundRect">
            <a:avLst>
              <a:gd name="adj" fmla="val 5263"/>
            </a:avLst>
          </a:prstGeom>
          <a:solidFill>
            <a:srgbClr val="FDF3E1"/>
          </a:solidFill>
          <a:ln/>
        </p:spPr>
      </p:sp>
      <p:pic>
        <p:nvPicPr>
          <p:cNvPr id="10" name="Image 2" descr="/private/tmp/claude-501/-Users-salehhamed-Outcome-Engine/91861432-41e2-4884-bc97-63c6dff2d021/scratchpad/wk/icons/TbBuildingSkyscraper-amber.png">    </p:cNvPr>
          <p:cNvPicPr>
            <a:picLocks noChangeAspect="1"/>
          </p:cNvPicPr>
          <p:nvPr/>
        </p:nvPicPr>
        <p:blipFill>
          <a:blip r:embed="rId5"/>
          <a:stretch>
            <a:fillRect/>
          </a:stretch>
        </p:blipFill>
        <p:spPr>
          <a:xfrm>
            <a:off x="2468880" y="1783080"/>
            <a:ext cx="457200" cy="457200"/>
          </a:xfrm>
          <a:prstGeom prst="rect">
            <a:avLst/>
          </a:prstGeom>
        </p:spPr>
      </p:pic>
      <p:sp>
        <p:nvSpPr>
          <p:cNvPr id="11" name="Text 6"/>
          <p:cNvSpPr txBox="1"/>
          <p:nvPr/>
        </p:nvSpPr>
        <p:spPr>
          <a:xfrm>
            <a:off x="3063240" y="1600200"/>
            <a:ext cx="8412480" cy="173736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A qualified person is free in another country, but their cost base makes the role unaffordable.</a:t>
            </a:r>
            <a:endParaRPr lang="en-US" sz="2100" dirty="0"/>
          </a:p>
        </p:txBody>
      </p:sp>
      <p:sp>
        <p:nvSpPr>
          <p:cNvPr id="12" name="Text 7"/>
          <p:cNvSpPr txBox="1"/>
          <p:nvPr/>
        </p:nvSpPr>
        <p:spPr>
          <a:xfrm>
            <a:off x="548640" y="3657600"/>
            <a:ext cx="7315200" cy="457200"/>
          </a:xfrm>
          <a:prstGeom prst="rect">
            <a:avLst/>
          </a:prstGeom>
          <a:noFill/>
          <a:ln/>
        </p:spPr>
        <p:txBody>
          <a:bodyPr wrap="square" lIns="0" tIns="0" rIns="0" bIns="0" rtlCol="0" anchor="t"/>
          <a:lstStyle/>
          <a:p>
            <a:pPr indent="0" marL="0">
              <a:buNone/>
            </a:pPr>
            <a:r>
              <a:rPr lang="en-US" sz="1800" b="1" dirty="0">
                <a:solidFill>
                  <a:srgbClr val="287079"/>
                </a:solidFill>
                <a:latin typeface="Arial" pitchFamily="34" charset="0"/>
                <a:ea typeface="Arial" pitchFamily="34" charset="-122"/>
                <a:cs typeface="Arial" pitchFamily="34" charset="-120"/>
              </a:rPr>
              <a:t>What should happen?</a:t>
            </a:r>
            <a:endParaRPr lang="en-US" sz="1800" dirty="0"/>
          </a:p>
        </p:txBody>
      </p:sp>
      <p:sp>
        <p:nvSpPr>
          <p:cNvPr id="13" name="Shape 8"/>
          <p:cNvSpPr/>
          <p:nvPr/>
        </p:nvSpPr>
        <p:spPr>
          <a:xfrm>
            <a:off x="548640" y="4206240"/>
            <a:ext cx="3566160" cy="1463040"/>
          </a:xfrm>
          <a:prstGeom prst="roundRect">
            <a:avLst>
              <a:gd name="adj" fmla="val 5000"/>
            </a:avLst>
          </a:prstGeom>
          <a:solidFill>
            <a:srgbClr val="FFFFFF"/>
          </a:solidFill>
          <a:ln w="12700">
            <a:solidFill>
              <a:srgbClr val="D9DEE2"/>
            </a:solidFill>
            <a:prstDash val="solid"/>
          </a:ln>
        </p:spPr>
      </p:sp>
      <p:sp>
        <p:nvSpPr>
          <p:cNvPr id="14" name="Shape 9"/>
          <p:cNvSpPr/>
          <p:nvPr/>
        </p:nvSpPr>
        <p:spPr>
          <a:xfrm>
            <a:off x="731520" y="4434840"/>
            <a:ext cx="502920" cy="502920"/>
          </a:xfrm>
          <a:prstGeom prst="ellipse">
            <a:avLst/>
          </a:prstGeom>
          <a:solidFill>
            <a:srgbClr val="36454F"/>
          </a:solidFill>
          <a:ln/>
        </p:spPr>
      </p:sp>
      <p:sp>
        <p:nvSpPr>
          <p:cNvPr id="15" name="Text 10"/>
          <p:cNvSpPr txBox="1"/>
          <p:nvPr/>
        </p:nvSpPr>
        <p:spPr>
          <a:xfrm>
            <a:off x="731520" y="4434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a:t>
            </a:r>
            <a:endParaRPr lang="en-US" sz="1600" dirty="0"/>
          </a:p>
        </p:txBody>
      </p:sp>
      <p:sp>
        <p:nvSpPr>
          <p:cNvPr id="16" name="Text 11"/>
          <p:cNvSpPr txBox="1"/>
          <p:nvPr/>
        </p:nvSpPr>
        <p:spPr>
          <a:xfrm>
            <a:off x="1417320" y="4206240"/>
            <a:ext cx="2560320" cy="14630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Record a cost block; a named person decides</a:t>
            </a:r>
            <a:endParaRPr lang="en-US" sz="1600" dirty="0"/>
          </a:p>
        </p:txBody>
      </p:sp>
      <p:sp>
        <p:nvSpPr>
          <p:cNvPr id="17" name="Shape 12"/>
          <p:cNvSpPr/>
          <p:nvPr/>
        </p:nvSpPr>
        <p:spPr>
          <a:xfrm>
            <a:off x="4297680" y="4206240"/>
            <a:ext cx="3566160" cy="1463040"/>
          </a:xfrm>
          <a:prstGeom prst="roundRect">
            <a:avLst>
              <a:gd name="adj" fmla="val 5000"/>
            </a:avLst>
          </a:prstGeom>
          <a:solidFill>
            <a:srgbClr val="FFFFFF"/>
          </a:solidFill>
          <a:ln w="12700">
            <a:solidFill>
              <a:srgbClr val="D9DEE2"/>
            </a:solidFill>
            <a:prstDash val="solid"/>
          </a:ln>
        </p:spPr>
      </p:sp>
      <p:sp>
        <p:nvSpPr>
          <p:cNvPr id="18" name="Shape 13"/>
          <p:cNvSpPr/>
          <p:nvPr/>
        </p:nvSpPr>
        <p:spPr>
          <a:xfrm>
            <a:off x="4480560" y="4434840"/>
            <a:ext cx="502920" cy="502920"/>
          </a:xfrm>
          <a:prstGeom prst="ellipse">
            <a:avLst/>
          </a:prstGeom>
          <a:solidFill>
            <a:srgbClr val="36454F"/>
          </a:solidFill>
          <a:ln/>
        </p:spPr>
      </p:sp>
      <p:sp>
        <p:nvSpPr>
          <p:cNvPr id="19" name="Text 14"/>
          <p:cNvSpPr txBox="1"/>
          <p:nvPr/>
        </p:nvSpPr>
        <p:spPr>
          <a:xfrm>
            <a:off x="4480560" y="4434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a:t>
            </a:r>
            <a:endParaRPr lang="en-US" sz="1600" dirty="0"/>
          </a:p>
        </p:txBody>
      </p:sp>
      <p:sp>
        <p:nvSpPr>
          <p:cNvPr id="20" name="Text 15"/>
          <p:cNvSpPr txBox="1"/>
          <p:nvPr/>
        </p:nvSpPr>
        <p:spPr>
          <a:xfrm>
            <a:off x="5166360" y="4206240"/>
            <a:ext cx="2560320" cy="14630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Above a set difference, treat it as a gap</a:t>
            </a:r>
            <a:endParaRPr lang="en-US" sz="1600" dirty="0"/>
          </a:p>
        </p:txBody>
      </p:sp>
      <p:sp>
        <p:nvSpPr>
          <p:cNvPr id="21" name="Shape 16"/>
          <p:cNvSpPr/>
          <p:nvPr/>
        </p:nvSpPr>
        <p:spPr>
          <a:xfrm>
            <a:off x="8046720" y="4206240"/>
            <a:ext cx="3566160" cy="1463040"/>
          </a:xfrm>
          <a:prstGeom prst="roundRect">
            <a:avLst>
              <a:gd name="adj" fmla="val 5000"/>
            </a:avLst>
          </a:prstGeom>
          <a:solidFill>
            <a:srgbClr val="FFFFFF"/>
          </a:solidFill>
          <a:ln w="12700">
            <a:solidFill>
              <a:srgbClr val="D9DEE2"/>
            </a:solidFill>
            <a:prstDash val="solid"/>
          </a:ln>
        </p:spPr>
      </p:sp>
      <p:sp>
        <p:nvSpPr>
          <p:cNvPr id="22" name="Shape 17"/>
          <p:cNvSpPr/>
          <p:nvPr/>
        </p:nvSpPr>
        <p:spPr>
          <a:xfrm>
            <a:off x="8229600" y="4434840"/>
            <a:ext cx="502920" cy="502920"/>
          </a:xfrm>
          <a:prstGeom prst="ellipse">
            <a:avLst/>
          </a:prstGeom>
          <a:solidFill>
            <a:srgbClr val="36454F"/>
          </a:solidFill>
          <a:ln/>
        </p:spPr>
      </p:sp>
      <p:sp>
        <p:nvSpPr>
          <p:cNvPr id="23" name="Text 18"/>
          <p:cNvSpPr txBox="1"/>
          <p:nvPr/>
        </p:nvSpPr>
        <p:spPr>
          <a:xfrm>
            <a:off x="8229600" y="4434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a:t>
            </a:r>
            <a:endParaRPr lang="en-US" sz="1600" dirty="0"/>
          </a:p>
        </p:txBody>
      </p:sp>
      <p:sp>
        <p:nvSpPr>
          <p:cNvPr id="24" name="Text 19"/>
          <p:cNvSpPr txBox="1"/>
          <p:nvPr/>
        </p:nvSpPr>
        <p:spPr>
          <a:xfrm>
            <a:off x="8915400" y="4206240"/>
            <a:ext cx="2560320" cy="14630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Use them and fix the cost later</a:t>
            </a:r>
            <a:endParaRPr lang="en-US" sz="1600" dirty="0"/>
          </a:p>
        </p:txBody>
      </p:sp>
      <p:sp>
        <p:nvSpPr>
          <p:cNvPr id="25" name="Text 20"/>
          <p:cNvSpPr txBox="1"/>
          <p:nvPr/>
        </p:nvSpPr>
        <p:spPr>
          <a:xfrm>
            <a:off x="548640" y="5897880"/>
            <a:ext cx="10972800" cy="36576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Then write the rule: when, then, who decides, by when, and if nobody answers.</a:t>
            </a:r>
            <a:endParaRPr lang="en-US" sz="14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name="Slide 9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DEFINE HOW IT SHOULD WORK: RULES AND EXCEPTIONS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Three ways to run this session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15:00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97</a:t>
            </a:r>
            <a:endParaRPr lang="en-US" sz="1000" dirty="0"/>
          </a:p>
        </p:txBody>
      </p:sp>
      <p:sp>
        <p:nvSpPr>
          <p:cNvPr id="7" name="Shape 4"/>
          <p:cNvSpPr/>
          <p:nvPr/>
        </p:nvSpPr>
        <p:spPr>
          <a:xfrm>
            <a:off x="548640" y="1463040"/>
            <a:ext cx="3566160" cy="4663440"/>
          </a:xfrm>
          <a:prstGeom prst="roundRect">
            <a:avLst>
              <a:gd name="adj" fmla="val 2051"/>
            </a:avLst>
          </a:prstGeom>
          <a:solidFill>
            <a:srgbClr val="FFFFFF"/>
          </a:solidFill>
          <a:ln w="12700">
            <a:solidFill>
              <a:srgbClr val="D9DEE2"/>
            </a:solidFill>
            <a:prstDash val="solid"/>
          </a:ln>
        </p:spPr>
      </p:sp>
      <p:sp>
        <p:nvSpPr>
          <p:cNvPr id="8" name="Shape 5"/>
          <p:cNvSpPr/>
          <p:nvPr/>
        </p:nvSpPr>
        <p:spPr>
          <a:xfrm>
            <a:off x="548640" y="1463040"/>
            <a:ext cx="3566160" cy="566928"/>
          </a:xfrm>
          <a:prstGeom prst="roundRect">
            <a:avLst>
              <a:gd name="adj" fmla="val 12903"/>
            </a:avLst>
          </a:prstGeom>
          <a:solidFill>
            <a:srgbClr val="287079"/>
          </a:solidFill>
          <a:ln/>
        </p:spPr>
      </p:sp>
      <p:sp>
        <p:nvSpPr>
          <p:cNvPr id="9" name="Shape 6"/>
          <p:cNvSpPr/>
          <p:nvPr/>
        </p:nvSpPr>
        <p:spPr>
          <a:xfrm>
            <a:off x="548640" y="1828800"/>
            <a:ext cx="3566160" cy="201168"/>
          </a:xfrm>
          <a:prstGeom prst="rect">
            <a:avLst/>
          </a:prstGeom>
          <a:solidFill>
            <a:srgbClr val="287079"/>
          </a:solidFill>
          <a:ln/>
        </p:spPr>
      </p:sp>
      <p:pic>
        <p:nvPicPr>
          <p:cNvPr id="10" name="Image 1" descr="/private/tmp/claude-501/-Users-salehhamed-Outcome-Engine/91861432-41e2-4884-bc97-63c6dff2d021/scratchpad/wk/icons/TbHandClick-white.png">    </p:cNvPr>
          <p:cNvPicPr>
            <a:picLocks noChangeAspect="1"/>
          </p:cNvPicPr>
          <p:nvPr/>
        </p:nvPicPr>
        <p:blipFill>
          <a:blip r:embed="rId4"/>
          <a:stretch>
            <a:fillRect/>
          </a:stretch>
        </p:blipFill>
        <p:spPr>
          <a:xfrm>
            <a:off x="713232" y="1554480"/>
            <a:ext cx="384048" cy="384048"/>
          </a:xfrm>
          <a:prstGeom prst="rect">
            <a:avLst/>
          </a:prstGeom>
        </p:spPr>
      </p:pic>
      <p:sp>
        <p:nvSpPr>
          <p:cNvPr id="11" name="Text 7"/>
          <p:cNvSpPr txBox="1"/>
          <p:nvPr/>
        </p:nvSpPr>
        <p:spPr>
          <a:xfrm>
            <a:off x="120700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A · HANDS-ON</a:t>
            </a:r>
            <a:endParaRPr lang="en-US" sz="1150" dirty="0"/>
          </a:p>
        </p:txBody>
      </p:sp>
      <p:sp>
        <p:nvSpPr>
          <p:cNvPr id="12" name="Text 8"/>
          <p:cNvSpPr txBox="1"/>
          <p:nvPr/>
        </p:nvSpPr>
        <p:spPr>
          <a:xfrm>
            <a:off x="77724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Exception stations</a:t>
            </a:r>
            <a:endParaRPr lang="en-US" sz="2100" dirty="0"/>
          </a:p>
        </p:txBody>
      </p:sp>
      <p:sp>
        <p:nvSpPr>
          <p:cNvPr id="13" name="Text 9"/>
          <p:cNvSpPr txBox="1"/>
          <p:nvPr/>
        </p:nvSpPr>
        <p:spPr>
          <a:xfrm>
            <a:off x="77724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Five stations, one exception each; tables rotate and build each rule.</a:t>
            </a:r>
            <a:endParaRPr lang="en-US" sz="1400" dirty="0"/>
          </a:p>
        </p:txBody>
      </p:sp>
      <p:pic>
        <p:nvPicPr>
          <p:cNvPr id="14" name="Image 2" descr="/private/tmp/claude-501/-Users-salehhamed-Outcome-Engine/91861432-41e2-4884-bc97-63c6dff2d021/scratchpad/wk/icons/TbClock-grey.png">    </p:cNvPr>
          <p:cNvPicPr>
            <a:picLocks noChangeAspect="1"/>
          </p:cNvPicPr>
          <p:nvPr/>
        </p:nvPicPr>
        <p:blipFill>
          <a:blip r:embed="rId5"/>
          <a:stretch>
            <a:fillRect/>
          </a:stretch>
        </p:blipFill>
        <p:spPr>
          <a:xfrm>
            <a:off x="777240" y="4297680"/>
            <a:ext cx="274320" cy="274320"/>
          </a:xfrm>
          <a:prstGeom prst="rect">
            <a:avLst/>
          </a:prstGeom>
        </p:spPr>
      </p:pic>
      <p:sp>
        <p:nvSpPr>
          <p:cNvPr id="15" name="Text 10"/>
          <p:cNvSpPr txBox="1"/>
          <p:nvPr/>
        </p:nvSpPr>
        <p:spPr>
          <a:xfrm>
            <a:off x="114300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75 min</a:t>
            </a:r>
            <a:endParaRPr lang="en-US" sz="1200" dirty="0"/>
          </a:p>
        </p:txBody>
      </p:sp>
      <p:pic>
        <p:nvPicPr>
          <p:cNvPr id="16" name="Image 3" descr="/private/tmp/claude-501/-Users-salehhamed-Outcome-Engine/91861432-41e2-4884-bc97-63c6dff2d021/scratchpad/wk/icons/TbUsers-grey.png">    </p:cNvPr>
          <p:cNvPicPr>
            <a:picLocks noChangeAspect="1"/>
          </p:cNvPicPr>
          <p:nvPr/>
        </p:nvPicPr>
        <p:blipFill>
          <a:blip r:embed="rId6"/>
          <a:stretch>
            <a:fillRect/>
          </a:stretch>
        </p:blipFill>
        <p:spPr>
          <a:xfrm>
            <a:off x="777240" y="4681728"/>
            <a:ext cx="274320" cy="274320"/>
          </a:xfrm>
          <a:prstGeom prst="rect">
            <a:avLst/>
          </a:prstGeom>
        </p:spPr>
      </p:pic>
      <p:sp>
        <p:nvSpPr>
          <p:cNvPr id="17" name="Text 11"/>
          <p:cNvSpPr txBox="1"/>
          <p:nvPr/>
        </p:nvSpPr>
        <p:spPr>
          <a:xfrm>
            <a:off x="114300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Tables rotating</a:t>
            </a:r>
            <a:endParaRPr lang="en-US" sz="1200" dirty="0"/>
          </a:p>
        </p:txBody>
      </p:sp>
      <p:pic>
        <p:nvPicPr>
          <p:cNvPr id="18" name="Image 4" descr="/private/tmp/claude-501/-Users-salehhamed-Outcome-Engine/91861432-41e2-4884-bc97-63c6dff2d021/scratchpad/wk/icons/TbGauge-grey.png">    </p:cNvPr>
          <p:cNvPicPr>
            <a:picLocks noChangeAspect="1"/>
          </p:cNvPicPr>
          <p:nvPr/>
        </p:nvPicPr>
        <p:blipFill>
          <a:blip r:embed="rId7"/>
          <a:stretch>
            <a:fillRect/>
          </a:stretch>
        </p:blipFill>
        <p:spPr>
          <a:xfrm>
            <a:off x="777240" y="5065776"/>
            <a:ext cx="274320" cy="274320"/>
          </a:xfrm>
          <a:prstGeom prst="rect">
            <a:avLst/>
          </a:prstGeom>
        </p:spPr>
      </p:pic>
      <p:sp>
        <p:nvSpPr>
          <p:cNvPr id="19" name="Text 12"/>
          <p:cNvSpPr txBox="1"/>
          <p:nvPr/>
        </p:nvSpPr>
        <p:spPr>
          <a:xfrm>
            <a:off x="114300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High energy</a:t>
            </a:r>
            <a:endParaRPr lang="en-US" sz="1200" dirty="0"/>
          </a:p>
        </p:txBody>
      </p:sp>
      <p:sp>
        <p:nvSpPr>
          <p:cNvPr id="20" name="Text 13"/>
          <p:cNvSpPr txBox="1"/>
          <p:nvPr/>
        </p:nvSpPr>
        <p:spPr>
          <a:xfrm>
            <a:off x="77724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Five tables or more, and space for stations.</a:t>
            </a:r>
            <a:endParaRPr lang="en-US" sz="1150" dirty="0"/>
          </a:p>
        </p:txBody>
      </p:sp>
      <p:pic>
        <p:nvPicPr>
          <p:cNvPr id="21" name="Image 5" descr="/private/tmp/claude-501/-Users-salehhamed-Outcome-Engine/91861432-41e2-4884-bc97-63c6dff2d021/scratchpad/wk/brand/clear.png">
            <a:hlinkClick r:id="rId9" tooltip="Option A" action="ppaction://hlinksldjump"/>
          </p:cNvPr>
          <p:cNvPicPr>
            <a:picLocks noChangeAspect="1"/>
          </p:cNvPicPr>
          <p:nvPr/>
        </p:nvPicPr>
        <p:blipFill>
          <a:blip r:embed="rId8"/>
          <a:stretch>
            <a:fillRect/>
          </a:stretch>
        </p:blipFill>
        <p:spPr>
          <a:xfrm>
            <a:off x="548640" y="1463040"/>
            <a:ext cx="3566160" cy="4663440"/>
          </a:xfrm>
          <a:prstGeom prst="rect">
            <a:avLst/>
          </a:prstGeom>
        </p:spPr>
      </p:pic>
      <p:sp>
        <p:nvSpPr>
          <p:cNvPr id="22" name="Shape 14"/>
          <p:cNvSpPr/>
          <p:nvPr/>
        </p:nvSpPr>
        <p:spPr>
          <a:xfrm>
            <a:off x="4297680" y="1463040"/>
            <a:ext cx="3566160" cy="4663440"/>
          </a:xfrm>
          <a:prstGeom prst="roundRect">
            <a:avLst>
              <a:gd name="adj" fmla="val 2051"/>
            </a:avLst>
          </a:prstGeom>
          <a:solidFill>
            <a:srgbClr val="FFFFFF"/>
          </a:solidFill>
          <a:ln w="12700">
            <a:solidFill>
              <a:srgbClr val="D9DEE2"/>
            </a:solidFill>
            <a:prstDash val="solid"/>
          </a:ln>
        </p:spPr>
      </p:sp>
      <p:sp>
        <p:nvSpPr>
          <p:cNvPr id="23" name="Shape 15"/>
          <p:cNvSpPr/>
          <p:nvPr/>
        </p:nvSpPr>
        <p:spPr>
          <a:xfrm>
            <a:off x="4297680" y="1463040"/>
            <a:ext cx="3566160" cy="566928"/>
          </a:xfrm>
          <a:prstGeom prst="roundRect">
            <a:avLst>
              <a:gd name="adj" fmla="val 12903"/>
            </a:avLst>
          </a:prstGeom>
          <a:solidFill>
            <a:srgbClr val="FF462D"/>
          </a:solidFill>
          <a:ln/>
        </p:spPr>
      </p:sp>
      <p:sp>
        <p:nvSpPr>
          <p:cNvPr id="24" name="Shape 16"/>
          <p:cNvSpPr/>
          <p:nvPr/>
        </p:nvSpPr>
        <p:spPr>
          <a:xfrm>
            <a:off x="4297680" y="1828800"/>
            <a:ext cx="3566160" cy="201168"/>
          </a:xfrm>
          <a:prstGeom prst="rect">
            <a:avLst/>
          </a:prstGeom>
          <a:solidFill>
            <a:srgbClr val="FF462D"/>
          </a:solidFill>
          <a:ln/>
        </p:spPr>
      </p:sp>
      <p:pic>
        <p:nvPicPr>
          <p:cNvPr id="25" name="Image 6" descr="/private/tmp/claude-501/-Users-salehhamed-Outcome-Engine/91861432-41e2-4884-bc97-63c6dff2d021/scratchpad/wk/icons/TbDeviceMobile-white.png">    </p:cNvPr>
          <p:cNvPicPr>
            <a:picLocks noChangeAspect="1"/>
          </p:cNvPicPr>
          <p:nvPr/>
        </p:nvPicPr>
        <p:blipFill>
          <a:blip r:embed="rId10"/>
          <a:stretch>
            <a:fillRect/>
          </a:stretch>
        </p:blipFill>
        <p:spPr>
          <a:xfrm>
            <a:off x="4462272" y="1554480"/>
            <a:ext cx="384048" cy="384048"/>
          </a:xfrm>
          <a:prstGeom prst="rect">
            <a:avLst/>
          </a:prstGeom>
        </p:spPr>
      </p:pic>
      <p:sp>
        <p:nvSpPr>
          <p:cNvPr id="26" name="Text 17"/>
          <p:cNvSpPr txBox="1"/>
          <p:nvPr/>
        </p:nvSpPr>
        <p:spPr>
          <a:xfrm>
            <a:off x="495604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B · LIVE VOTING</a:t>
            </a:r>
            <a:endParaRPr lang="en-US" sz="1150" dirty="0"/>
          </a:p>
        </p:txBody>
      </p:sp>
      <p:sp>
        <p:nvSpPr>
          <p:cNvPr id="27" name="Text 18"/>
          <p:cNvSpPr txBox="1"/>
          <p:nvPr/>
        </p:nvSpPr>
        <p:spPr>
          <a:xfrm>
            <a:off x="452628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Exception roulette</a:t>
            </a:r>
            <a:endParaRPr lang="en-US" sz="2100" dirty="0"/>
          </a:p>
        </p:txBody>
      </p:sp>
      <p:sp>
        <p:nvSpPr>
          <p:cNvPr id="28" name="Text 19"/>
          <p:cNvSpPr txBox="1"/>
          <p:nvPr/>
        </p:nvSpPr>
        <p:spPr>
          <a:xfrm>
            <a:off x="452628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The wheel picks an exception; phones choose a response and tables write the rule.</a:t>
            </a:r>
            <a:endParaRPr lang="en-US" sz="1400" dirty="0"/>
          </a:p>
        </p:txBody>
      </p:sp>
      <p:pic>
        <p:nvPicPr>
          <p:cNvPr id="29" name="Image 7" descr="/private/tmp/claude-501/-Users-salehhamed-Outcome-Engine/91861432-41e2-4884-bc97-63c6dff2d021/scratchpad/wk/icons/TbClock-grey.png">    </p:cNvPr>
          <p:cNvPicPr>
            <a:picLocks noChangeAspect="1"/>
          </p:cNvPicPr>
          <p:nvPr/>
        </p:nvPicPr>
        <p:blipFill>
          <a:blip r:embed="rId11"/>
          <a:stretch>
            <a:fillRect/>
          </a:stretch>
        </p:blipFill>
        <p:spPr>
          <a:xfrm>
            <a:off x="4526280" y="4297680"/>
            <a:ext cx="274320" cy="274320"/>
          </a:xfrm>
          <a:prstGeom prst="rect">
            <a:avLst/>
          </a:prstGeom>
        </p:spPr>
      </p:pic>
      <p:sp>
        <p:nvSpPr>
          <p:cNvPr id="30" name="Text 20"/>
          <p:cNvSpPr txBox="1"/>
          <p:nvPr/>
        </p:nvSpPr>
        <p:spPr>
          <a:xfrm>
            <a:off x="489204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75 min</a:t>
            </a:r>
            <a:endParaRPr lang="en-US" sz="1200" dirty="0"/>
          </a:p>
        </p:txBody>
      </p:sp>
      <p:pic>
        <p:nvPicPr>
          <p:cNvPr id="31" name="Image 8" descr="/private/tmp/claude-501/-Users-salehhamed-Outcome-Engine/91861432-41e2-4884-bc97-63c6dff2d021/scratchpad/wk/icons/TbUsers-grey.png">    </p:cNvPr>
          <p:cNvPicPr>
            <a:picLocks noChangeAspect="1"/>
          </p:cNvPicPr>
          <p:nvPr/>
        </p:nvPicPr>
        <p:blipFill>
          <a:blip r:embed="rId12"/>
          <a:stretch>
            <a:fillRect/>
          </a:stretch>
        </p:blipFill>
        <p:spPr>
          <a:xfrm>
            <a:off x="4526280" y="4681728"/>
            <a:ext cx="274320" cy="274320"/>
          </a:xfrm>
          <a:prstGeom prst="rect">
            <a:avLst/>
          </a:prstGeom>
        </p:spPr>
      </p:pic>
      <p:sp>
        <p:nvSpPr>
          <p:cNvPr id="32" name="Text 21"/>
          <p:cNvSpPr txBox="1"/>
          <p:nvPr/>
        </p:nvSpPr>
        <p:spPr>
          <a:xfrm>
            <a:off x="489204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Tables, phones</a:t>
            </a:r>
            <a:endParaRPr lang="en-US" sz="1200" dirty="0"/>
          </a:p>
        </p:txBody>
      </p:sp>
      <p:pic>
        <p:nvPicPr>
          <p:cNvPr id="33" name="Image 9" descr="/private/tmp/claude-501/-Users-salehhamed-Outcome-Engine/91861432-41e2-4884-bc97-63c6dff2d021/scratchpad/wk/icons/TbGauge-grey.png">    </p:cNvPr>
          <p:cNvPicPr>
            <a:picLocks noChangeAspect="1"/>
          </p:cNvPicPr>
          <p:nvPr/>
        </p:nvPicPr>
        <p:blipFill>
          <a:blip r:embed="rId13"/>
          <a:stretch>
            <a:fillRect/>
          </a:stretch>
        </p:blipFill>
        <p:spPr>
          <a:xfrm>
            <a:off x="4526280" y="5065776"/>
            <a:ext cx="274320" cy="274320"/>
          </a:xfrm>
          <a:prstGeom prst="rect">
            <a:avLst/>
          </a:prstGeom>
        </p:spPr>
      </p:pic>
      <p:sp>
        <p:nvSpPr>
          <p:cNvPr id="34" name="Text 22"/>
          <p:cNvSpPr txBox="1"/>
          <p:nvPr/>
        </p:nvSpPr>
        <p:spPr>
          <a:xfrm>
            <a:off x="489204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35" name="Text 23"/>
          <p:cNvSpPr txBox="1"/>
          <p:nvPr/>
        </p:nvSpPr>
        <p:spPr>
          <a:xfrm>
            <a:off x="452628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You want pace and full participation.</a:t>
            </a:r>
            <a:endParaRPr lang="en-US" sz="1150" dirty="0"/>
          </a:p>
        </p:txBody>
      </p:sp>
      <p:pic>
        <p:nvPicPr>
          <p:cNvPr id="36" name="Image 10" descr="/private/tmp/claude-501/-Users-salehhamed-Outcome-Engine/91861432-41e2-4884-bc97-63c6dff2d021/scratchpad/wk/brand/clear.png">
            <a:hlinkClick r:id="rId15" tooltip="Option B" action="ppaction://hlinksldjump"/>
          </p:cNvPr>
          <p:cNvPicPr>
            <a:picLocks noChangeAspect="1"/>
          </p:cNvPicPr>
          <p:nvPr/>
        </p:nvPicPr>
        <p:blipFill>
          <a:blip r:embed="rId14"/>
          <a:stretch>
            <a:fillRect/>
          </a:stretch>
        </p:blipFill>
        <p:spPr>
          <a:xfrm>
            <a:off x="4297680" y="1463040"/>
            <a:ext cx="3566160" cy="4663440"/>
          </a:xfrm>
          <a:prstGeom prst="rect">
            <a:avLst/>
          </a:prstGeom>
        </p:spPr>
      </p:pic>
      <p:sp>
        <p:nvSpPr>
          <p:cNvPr id="37" name="Shape 24"/>
          <p:cNvSpPr/>
          <p:nvPr/>
        </p:nvSpPr>
        <p:spPr>
          <a:xfrm>
            <a:off x="8046720" y="1463040"/>
            <a:ext cx="3566160" cy="4663440"/>
          </a:xfrm>
          <a:prstGeom prst="roundRect">
            <a:avLst>
              <a:gd name="adj" fmla="val 2051"/>
            </a:avLst>
          </a:prstGeom>
          <a:solidFill>
            <a:srgbClr val="FFFFFF"/>
          </a:solidFill>
          <a:ln w="12700">
            <a:solidFill>
              <a:srgbClr val="D9DEE2"/>
            </a:solidFill>
            <a:prstDash val="solid"/>
          </a:ln>
        </p:spPr>
      </p:sp>
      <p:sp>
        <p:nvSpPr>
          <p:cNvPr id="38" name="Shape 25"/>
          <p:cNvSpPr/>
          <p:nvPr/>
        </p:nvSpPr>
        <p:spPr>
          <a:xfrm>
            <a:off x="8046720" y="1463040"/>
            <a:ext cx="3566160" cy="566928"/>
          </a:xfrm>
          <a:prstGeom prst="roundRect">
            <a:avLst>
              <a:gd name="adj" fmla="val 12903"/>
            </a:avLst>
          </a:prstGeom>
          <a:solidFill>
            <a:srgbClr val="36454F"/>
          </a:solidFill>
          <a:ln/>
        </p:spPr>
      </p:sp>
      <p:sp>
        <p:nvSpPr>
          <p:cNvPr id="39" name="Shape 26"/>
          <p:cNvSpPr/>
          <p:nvPr/>
        </p:nvSpPr>
        <p:spPr>
          <a:xfrm>
            <a:off x="8046720" y="1828800"/>
            <a:ext cx="3566160" cy="201168"/>
          </a:xfrm>
          <a:prstGeom prst="rect">
            <a:avLst/>
          </a:prstGeom>
          <a:solidFill>
            <a:srgbClr val="36454F"/>
          </a:solidFill>
          <a:ln/>
        </p:spPr>
      </p:sp>
      <p:pic>
        <p:nvPicPr>
          <p:cNvPr id="40" name="Image 11" descr="/private/tmp/claude-501/-Users-salehhamed-Outcome-Engine/91861432-41e2-4884-bc97-63c6dff2d021/scratchpad/wk/icons/TbMasksTheater-white.png">    </p:cNvPr>
          <p:cNvPicPr>
            <a:picLocks noChangeAspect="1"/>
          </p:cNvPicPr>
          <p:nvPr/>
        </p:nvPicPr>
        <p:blipFill>
          <a:blip r:embed="rId16"/>
          <a:stretch>
            <a:fillRect/>
          </a:stretch>
        </p:blipFill>
        <p:spPr>
          <a:xfrm>
            <a:off x="8211312" y="1554480"/>
            <a:ext cx="384048" cy="384048"/>
          </a:xfrm>
          <a:prstGeom prst="rect">
            <a:avLst/>
          </a:prstGeom>
        </p:spPr>
      </p:pic>
      <p:sp>
        <p:nvSpPr>
          <p:cNvPr id="41" name="Text 27"/>
          <p:cNvSpPr txBox="1"/>
          <p:nvPr/>
        </p:nvSpPr>
        <p:spPr>
          <a:xfrm>
            <a:off x="870508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C · CASES AND CONVERSATION</a:t>
            </a:r>
            <a:endParaRPr lang="en-US" sz="1150" dirty="0"/>
          </a:p>
        </p:txBody>
      </p:sp>
      <p:sp>
        <p:nvSpPr>
          <p:cNvPr id="42" name="Text 28"/>
          <p:cNvSpPr txBox="1"/>
          <p:nvPr/>
        </p:nvSpPr>
        <p:spPr>
          <a:xfrm>
            <a:off x="827532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Rule court</a:t>
            </a:r>
            <a:endParaRPr lang="en-US" sz="2100" dirty="0"/>
          </a:p>
        </p:txBody>
      </p:sp>
      <p:sp>
        <p:nvSpPr>
          <p:cNvPr id="43" name="Text 29"/>
          <p:cNvSpPr txBox="1"/>
          <p:nvPr/>
        </p:nvSpPr>
        <p:spPr>
          <a:xfrm>
            <a:off x="827532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For each exception, two tables argue opposite rules; the room is the jury.</a:t>
            </a:r>
            <a:endParaRPr lang="en-US" sz="1400" dirty="0"/>
          </a:p>
        </p:txBody>
      </p:sp>
      <p:pic>
        <p:nvPicPr>
          <p:cNvPr id="44" name="Image 12" descr="/private/tmp/claude-501/-Users-salehhamed-Outcome-Engine/91861432-41e2-4884-bc97-63c6dff2d021/scratchpad/wk/icons/TbClock-grey.png">    </p:cNvPr>
          <p:cNvPicPr>
            <a:picLocks noChangeAspect="1"/>
          </p:cNvPicPr>
          <p:nvPr/>
        </p:nvPicPr>
        <p:blipFill>
          <a:blip r:embed="rId17"/>
          <a:stretch>
            <a:fillRect/>
          </a:stretch>
        </p:blipFill>
        <p:spPr>
          <a:xfrm>
            <a:off x="8275320" y="4297680"/>
            <a:ext cx="274320" cy="274320"/>
          </a:xfrm>
          <a:prstGeom prst="rect">
            <a:avLst/>
          </a:prstGeom>
        </p:spPr>
      </p:pic>
      <p:sp>
        <p:nvSpPr>
          <p:cNvPr id="45" name="Text 30"/>
          <p:cNvSpPr txBox="1"/>
          <p:nvPr/>
        </p:nvSpPr>
        <p:spPr>
          <a:xfrm>
            <a:off x="864108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75 min</a:t>
            </a:r>
            <a:endParaRPr lang="en-US" sz="1200" dirty="0"/>
          </a:p>
        </p:txBody>
      </p:sp>
      <p:pic>
        <p:nvPicPr>
          <p:cNvPr id="46" name="Image 13" descr="/private/tmp/claude-501/-Users-salehhamed-Outcome-Engine/91861432-41e2-4884-bc97-63c6dff2d021/scratchpad/wk/icons/TbUsers-grey.png">    </p:cNvPr>
          <p:cNvPicPr>
            <a:picLocks noChangeAspect="1"/>
          </p:cNvPicPr>
          <p:nvPr/>
        </p:nvPicPr>
        <p:blipFill>
          <a:blip r:embed="rId18"/>
          <a:stretch>
            <a:fillRect/>
          </a:stretch>
        </p:blipFill>
        <p:spPr>
          <a:xfrm>
            <a:off x="8275320" y="4681728"/>
            <a:ext cx="274320" cy="274320"/>
          </a:xfrm>
          <a:prstGeom prst="rect">
            <a:avLst/>
          </a:prstGeom>
        </p:spPr>
      </p:pic>
      <p:sp>
        <p:nvSpPr>
          <p:cNvPr id="47" name="Text 31"/>
          <p:cNvSpPr txBox="1"/>
          <p:nvPr/>
        </p:nvSpPr>
        <p:spPr>
          <a:xfrm>
            <a:off x="864108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Tables as advocates, room as jury</a:t>
            </a:r>
            <a:endParaRPr lang="en-US" sz="1200" dirty="0"/>
          </a:p>
        </p:txBody>
      </p:sp>
      <p:pic>
        <p:nvPicPr>
          <p:cNvPr id="48" name="Image 14" descr="/private/tmp/claude-501/-Users-salehhamed-Outcome-Engine/91861432-41e2-4884-bc97-63c6dff2d021/scratchpad/wk/icons/TbGauge-grey.png">    </p:cNvPr>
          <p:cNvPicPr>
            <a:picLocks noChangeAspect="1"/>
          </p:cNvPicPr>
          <p:nvPr/>
        </p:nvPicPr>
        <p:blipFill>
          <a:blip r:embed="rId19"/>
          <a:stretch>
            <a:fillRect/>
          </a:stretch>
        </p:blipFill>
        <p:spPr>
          <a:xfrm>
            <a:off x="8275320" y="5065776"/>
            <a:ext cx="274320" cy="274320"/>
          </a:xfrm>
          <a:prstGeom prst="rect">
            <a:avLst/>
          </a:prstGeom>
        </p:spPr>
      </p:pic>
      <p:sp>
        <p:nvSpPr>
          <p:cNvPr id="49" name="Text 32"/>
          <p:cNvSpPr txBox="1"/>
          <p:nvPr/>
        </p:nvSpPr>
        <p:spPr>
          <a:xfrm>
            <a:off x="864108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High energy</a:t>
            </a:r>
            <a:endParaRPr lang="en-US" sz="1200" dirty="0"/>
          </a:p>
        </p:txBody>
      </p:sp>
      <p:sp>
        <p:nvSpPr>
          <p:cNvPr id="50" name="Text 33"/>
          <p:cNvSpPr txBox="1"/>
          <p:nvPr/>
        </p:nvSpPr>
        <p:spPr>
          <a:xfrm>
            <a:off x="827532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room enjoys debate.</a:t>
            </a:r>
            <a:endParaRPr lang="en-US" sz="1150" dirty="0"/>
          </a:p>
        </p:txBody>
      </p:sp>
      <p:pic>
        <p:nvPicPr>
          <p:cNvPr id="51" name="Image 15" descr="/private/tmp/claude-501/-Users-salehhamed-Outcome-Engine/91861432-41e2-4884-bc97-63c6dff2d021/scratchpad/wk/brand/clear.png">
            <a:hlinkClick r:id="rId21" tooltip="Option C" action="ppaction://hlinksldjump"/>
          </p:cNvPr>
          <p:cNvPicPr>
            <a:picLocks noChangeAspect="1"/>
          </p:cNvPicPr>
          <p:nvPr/>
        </p:nvPicPr>
        <p:blipFill>
          <a:blip r:embed="rId20"/>
          <a:stretch>
            <a:fillRect/>
          </a:stretch>
        </p:blipFill>
        <p:spPr>
          <a:xfrm>
            <a:off x="8046720" y="1463040"/>
            <a:ext cx="3566160" cy="466344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name="Slide 9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OPTION A · HANDS-ON · RULES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Exception stations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15:00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98</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Five stations, one exception each; tables rotate and build each rule.</a:t>
            </a:r>
            <a:endParaRPr lang="en-US" sz="1900" dirty="0"/>
          </a:p>
        </p:txBody>
      </p:sp>
      <p:sp>
        <p:nvSpPr>
          <p:cNvPr id="8" name="Shape 5"/>
          <p:cNvSpPr/>
          <p:nvPr/>
        </p:nvSpPr>
        <p:spPr>
          <a:xfrm>
            <a:off x="548640" y="2240280"/>
            <a:ext cx="1442679" cy="1417320"/>
          </a:xfrm>
          <a:prstGeom prst="rect">
            <a:avLst/>
          </a:prstGeom>
          <a:solidFill>
            <a:srgbClr val="287079"/>
          </a:solidFill>
          <a:ln/>
        </p:spPr>
      </p:sp>
      <p:sp>
        <p:nvSpPr>
          <p:cNvPr id="9" name="Text 6"/>
          <p:cNvSpPr txBox="1"/>
          <p:nvPr/>
        </p:nvSpPr>
        <p:spPr>
          <a:xfrm>
            <a:off x="64008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0" name="Text 7"/>
          <p:cNvSpPr txBox="1"/>
          <p:nvPr/>
        </p:nvSpPr>
        <p:spPr>
          <a:xfrm>
            <a:off x="64008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Rule card</a:t>
            </a:r>
            <a:endParaRPr lang="en-US" sz="1500" dirty="0"/>
          </a:p>
        </p:txBody>
      </p:sp>
      <p:sp>
        <p:nvSpPr>
          <p:cNvPr id="11" name="Shape 8"/>
          <p:cNvSpPr/>
          <p:nvPr/>
        </p:nvSpPr>
        <p:spPr>
          <a:xfrm>
            <a:off x="2027895" y="2240280"/>
            <a:ext cx="7359701" cy="1417320"/>
          </a:xfrm>
          <a:prstGeom prst="rect">
            <a:avLst/>
          </a:prstGeom>
          <a:solidFill>
            <a:srgbClr val="5C8F95"/>
          </a:solidFill>
          <a:ln/>
        </p:spPr>
      </p:sp>
      <p:sp>
        <p:nvSpPr>
          <p:cNvPr id="12" name="Text 9"/>
          <p:cNvSpPr txBox="1"/>
          <p:nvPr/>
        </p:nvSpPr>
        <p:spPr>
          <a:xfrm>
            <a:off x="2119335" y="2331720"/>
            <a:ext cx="7213397"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50 min</a:t>
            </a:r>
            <a:endParaRPr lang="en-US" sz="1150" dirty="0"/>
          </a:p>
        </p:txBody>
      </p:sp>
      <p:sp>
        <p:nvSpPr>
          <p:cNvPr id="13" name="Text 10"/>
          <p:cNvSpPr txBox="1"/>
          <p:nvPr/>
        </p:nvSpPr>
        <p:spPr>
          <a:xfrm>
            <a:off x="2119335" y="2651760"/>
            <a:ext cx="7249973"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Five stations</a:t>
            </a:r>
            <a:endParaRPr lang="en-US" sz="1500" dirty="0"/>
          </a:p>
        </p:txBody>
      </p:sp>
      <p:sp>
        <p:nvSpPr>
          <p:cNvPr id="14" name="Shape 11"/>
          <p:cNvSpPr/>
          <p:nvPr/>
        </p:nvSpPr>
        <p:spPr>
          <a:xfrm>
            <a:off x="9424172" y="2240280"/>
            <a:ext cx="1442679" cy="1417320"/>
          </a:xfrm>
          <a:prstGeom prst="rect">
            <a:avLst/>
          </a:prstGeom>
          <a:solidFill>
            <a:srgbClr val="287079"/>
          </a:solidFill>
          <a:ln/>
        </p:spPr>
      </p:sp>
      <p:sp>
        <p:nvSpPr>
          <p:cNvPr id="15" name="Text 12"/>
          <p:cNvSpPr txBox="1"/>
          <p:nvPr/>
        </p:nvSpPr>
        <p:spPr>
          <a:xfrm>
            <a:off x="9515612"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6" name="Text 13"/>
          <p:cNvSpPr txBox="1"/>
          <p:nvPr/>
        </p:nvSpPr>
        <p:spPr>
          <a:xfrm>
            <a:off x="9515612"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Read the rules</a:t>
            </a:r>
            <a:endParaRPr lang="en-US" sz="1500" dirty="0"/>
          </a:p>
        </p:txBody>
      </p:sp>
      <p:sp>
        <p:nvSpPr>
          <p:cNvPr id="17" name="Shape 14"/>
          <p:cNvSpPr/>
          <p:nvPr/>
        </p:nvSpPr>
        <p:spPr>
          <a:xfrm>
            <a:off x="10903428" y="2240280"/>
            <a:ext cx="703052" cy="1417320"/>
          </a:xfrm>
          <a:prstGeom prst="rect">
            <a:avLst/>
          </a:prstGeom>
          <a:solidFill>
            <a:srgbClr val="5C8F95"/>
          </a:solidFill>
          <a:ln/>
        </p:spPr>
      </p:sp>
      <p:sp>
        <p:nvSpPr>
          <p:cNvPr id="18" name="Text 15"/>
          <p:cNvSpPr txBox="1"/>
          <p:nvPr/>
        </p:nvSpPr>
        <p:spPr>
          <a:xfrm>
            <a:off x="10994868" y="2331720"/>
            <a:ext cx="55674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9" name="Text 16"/>
          <p:cNvSpPr txBox="1"/>
          <p:nvPr/>
        </p:nvSpPr>
        <p:spPr>
          <a:xfrm>
            <a:off x="10994868" y="2651760"/>
            <a:ext cx="593324"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Check</a:t>
            </a:r>
            <a:endParaRPr lang="en-US" sz="950" dirty="0"/>
          </a:p>
        </p:txBody>
      </p:sp>
      <p:sp>
        <p:nvSpPr>
          <p:cNvPr id="20" name="Shape 17"/>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1"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2" name="Text 18"/>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3" name="Text 19"/>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Tables rotating</a:t>
            </a:r>
            <a:endParaRPr lang="en-US" sz="1300" dirty="0"/>
          </a:p>
        </p:txBody>
      </p:sp>
      <p:sp>
        <p:nvSpPr>
          <p:cNvPr id="24" name="Shape 20"/>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5"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6" name="Text 21"/>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7" name="Text 22"/>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Five final rules, photographed and typed up.</a:t>
            </a:r>
            <a:endParaRPr lang="en-US" sz="1300" dirty="0"/>
          </a:p>
        </p:txBody>
      </p:sp>
      <p:sp>
        <p:nvSpPr>
          <p:cNvPr id="28" name="Shape 23"/>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9"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30" name="Text 24"/>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31" name="Text 25"/>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FF462D"/>
                </a:solidFill>
                <a:latin typeface="Arial" pitchFamily="34" charset="0"/>
                <a:ea typeface="Arial" pitchFamily="34" charset="-122"/>
                <a:cs typeface="Arial" pitchFamily="34" charset="-120"/>
              </a:rPr>
              <a:t>OPTION B · LIVE VOTING · RULES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Exception roulette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15:00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99</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The wheel picks an exception; phones choose a response and tables write the rule.</a:t>
            </a:r>
            <a:endParaRPr lang="en-US" sz="1900" dirty="0"/>
          </a:p>
        </p:txBody>
      </p:sp>
      <p:sp>
        <p:nvSpPr>
          <p:cNvPr id="8" name="Shape 5"/>
          <p:cNvSpPr/>
          <p:nvPr/>
        </p:nvSpPr>
        <p:spPr>
          <a:xfrm>
            <a:off x="548640" y="2240280"/>
            <a:ext cx="1442679" cy="1417320"/>
          </a:xfrm>
          <a:prstGeom prst="rect">
            <a:avLst/>
          </a:prstGeom>
          <a:solidFill>
            <a:srgbClr val="FF462D"/>
          </a:solidFill>
          <a:ln/>
        </p:spPr>
      </p:sp>
      <p:sp>
        <p:nvSpPr>
          <p:cNvPr id="9" name="Text 6"/>
          <p:cNvSpPr txBox="1"/>
          <p:nvPr/>
        </p:nvSpPr>
        <p:spPr>
          <a:xfrm>
            <a:off x="64008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0" name="Text 7"/>
          <p:cNvSpPr txBox="1"/>
          <p:nvPr/>
        </p:nvSpPr>
        <p:spPr>
          <a:xfrm>
            <a:off x="64008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Rule card</a:t>
            </a:r>
            <a:endParaRPr lang="en-US" sz="1500" dirty="0"/>
          </a:p>
        </p:txBody>
      </p:sp>
      <p:sp>
        <p:nvSpPr>
          <p:cNvPr id="11" name="Shape 8"/>
          <p:cNvSpPr/>
          <p:nvPr/>
        </p:nvSpPr>
        <p:spPr>
          <a:xfrm>
            <a:off x="2027895" y="2240280"/>
            <a:ext cx="6620073" cy="1417320"/>
          </a:xfrm>
          <a:prstGeom prst="rect">
            <a:avLst/>
          </a:prstGeom>
          <a:solidFill>
            <a:srgbClr val="FF8A78"/>
          </a:solidFill>
          <a:ln/>
        </p:spPr>
      </p:sp>
      <p:sp>
        <p:nvSpPr>
          <p:cNvPr id="12" name="Text 9"/>
          <p:cNvSpPr txBox="1"/>
          <p:nvPr/>
        </p:nvSpPr>
        <p:spPr>
          <a:xfrm>
            <a:off x="2119335" y="2331720"/>
            <a:ext cx="647376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45 min</a:t>
            </a:r>
            <a:endParaRPr lang="en-US" sz="1150" dirty="0"/>
          </a:p>
        </p:txBody>
      </p:sp>
      <p:sp>
        <p:nvSpPr>
          <p:cNvPr id="13" name="Text 10"/>
          <p:cNvSpPr txBox="1"/>
          <p:nvPr/>
        </p:nvSpPr>
        <p:spPr>
          <a:xfrm>
            <a:off x="2119335" y="2651760"/>
            <a:ext cx="651034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Five spins</a:t>
            </a:r>
            <a:endParaRPr lang="en-US" sz="1500" dirty="0"/>
          </a:p>
        </p:txBody>
      </p:sp>
      <p:sp>
        <p:nvSpPr>
          <p:cNvPr id="14" name="Shape 11"/>
          <p:cNvSpPr/>
          <p:nvPr/>
        </p:nvSpPr>
        <p:spPr>
          <a:xfrm>
            <a:off x="8684544" y="2240280"/>
            <a:ext cx="2182307" cy="1417320"/>
          </a:xfrm>
          <a:prstGeom prst="rect">
            <a:avLst/>
          </a:prstGeom>
          <a:solidFill>
            <a:srgbClr val="FF462D"/>
          </a:solidFill>
          <a:ln/>
        </p:spPr>
      </p:sp>
      <p:sp>
        <p:nvSpPr>
          <p:cNvPr id="15" name="Text 12"/>
          <p:cNvSpPr txBox="1"/>
          <p:nvPr/>
        </p:nvSpPr>
        <p:spPr>
          <a:xfrm>
            <a:off x="8775984" y="2331720"/>
            <a:ext cx="203600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6" name="Text 13"/>
          <p:cNvSpPr txBox="1"/>
          <p:nvPr/>
        </p:nvSpPr>
        <p:spPr>
          <a:xfrm>
            <a:off x="8775984" y="2651760"/>
            <a:ext cx="2072579"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Vote the rules</a:t>
            </a:r>
            <a:endParaRPr lang="en-US" sz="1500" dirty="0"/>
          </a:p>
        </p:txBody>
      </p:sp>
      <p:sp>
        <p:nvSpPr>
          <p:cNvPr id="17" name="Shape 14"/>
          <p:cNvSpPr/>
          <p:nvPr/>
        </p:nvSpPr>
        <p:spPr>
          <a:xfrm>
            <a:off x="10903428" y="2240280"/>
            <a:ext cx="703052" cy="1417320"/>
          </a:xfrm>
          <a:prstGeom prst="rect">
            <a:avLst/>
          </a:prstGeom>
          <a:solidFill>
            <a:srgbClr val="FF8A78"/>
          </a:solidFill>
          <a:ln/>
        </p:spPr>
      </p:sp>
      <p:sp>
        <p:nvSpPr>
          <p:cNvPr id="18" name="Text 15"/>
          <p:cNvSpPr txBox="1"/>
          <p:nvPr/>
        </p:nvSpPr>
        <p:spPr>
          <a:xfrm>
            <a:off x="10994868" y="2331720"/>
            <a:ext cx="55674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9" name="Text 16"/>
          <p:cNvSpPr txBox="1"/>
          <p:nvPr/>
        </p:nvSpPr>
        <p:spPr>
          <a:xfrm>
            <a:off x="10994868" y="2651760"/>
            <a:ext cx="593324"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Check</a:t>
            </a:r>
            <a:endParaRPr lang="en-US" sz="950" dirty="0"/>
          </a:p>
        </p:txBody>
      </p:sp>
      <p:sp>
        <p:nvSpPr>
          <p:cNvPr id="20" name="Shape 17"/>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1"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2" name="Text 18"/>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3" name="Text 19"/>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Tables, phones</a:t>
            </a:r>
            <a:endParaRPr lang="en-US" sz="1300" dirty="0"/>
          </a:p>
        </p:txBody>
      </p:sp>
      <p:sp>
        <p:nvSpPr>
          <p:cNvPr id="24" name="Shape 20"/>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5"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6" name="Text 21"/>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7" name="Text 22"/>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Votes and rules, saved in the room tool.</a:t>
            </a:r>
            <a:endParaRPr lang="en-US" sz="1300" dirty="0"/>
          </a:p>
        </p:txBody>
      </p:sp>
      <p:sp>
        <p:nvSpPr>
          <p:cNvPr id="28" name="Shape 23"/>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29"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30" name="Text 24"/>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31" name="Text 25"/>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name="Slide 10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36454F"/>
                </a:solidFill>
                <a:latin typeface="Arial" pitchFamily="34" charset="0"/>
                <a:ea typeface="Arial" pitchFamily="34" charset="-122"/>
                <a:cs typeface="Arial" pitchFamily="34" charset="-120"/>
              </a:rPr>
              <a:t>OPTION C · CASES AND CONVERSATION · RULES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Rule court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15:00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100</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For each exception, two tables argue opposite rules; the room is the jury.</a:t>
            </a:r>
            <a:endParaRPr lang="en-US" sz="1900" dirty="0"/>
          </a:p>
        </p:txBody>
      </p:sp>
      <p:sp>
        <p:nvSpPr>
          <p:cNvPr id="8" name="Shape 5"/>
          <p:cNvSpPr/>
          <p:nvPr/>
        </p:nvSpPr>
        <p:spPr>
          <a:xfrm>
            <a:off x="548640" y="2240280"/>
            <a:ext cx="1442679" cy="1417320"/>
          </a:xfrm>
          <a:prstGeom prst="rect">
            <a:avLst/>
          </a:prstGeom>
          <a:solidFill>
            <a:srgbClr val="36454F"/>
          </a:solidFill>
          <a:ln/>
        </p:spPr>
      </p:sp>
      <p:sp>
        <p:nvSpPr>
          <p:cNvPr id="9" name="Text 6"/>
          <p:cNvSpPr txBox="1"/>
          <p:nvPr/>
        </p:nvSpPr>
        <p:spPr>
          <a:xfrm>
            <a:off x="64008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0" name="Text 7"/>
          <p:cNvSpPr txBox="1"/>
          <p:nvPr/>
        </p:nvSpPr>
        <p:spPr>
          <a:xfrm>
            <a:off x="64008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Rule card</a:t>
            </a:r>
            <a:endParaRPr lang="en-US" sz="1500" dirty="0"/>
          </a:p>
        </p:txBody>
      </p:sp>
      <p:sp>
        <p:nvSpPr>
          <p:cNvPr id="11" name="Shape 8"/>
          <p:cNvSpPr/>
          <p:nvPr/>
        </p:nvSpPr>
        <p:spPr>
          <a:xfrm>
            <a:off x="2027895" y="2240280"/>
            <a:ext cx="8099328" cy="1417320"/>
          </a:xfrm>
          <a:prstGeom prst="rect">
            <a:avLst/>
          </a:prstGeom>
          <a:solidFill>
            <a:srgbClr val="6B7B86"/>
          </a:solidFill>
          <a:ln/>
        </p:spPr>
      </p:sp>
      <p:sp>
        <p:nvSpPr>
          <p:cNvPr id="12" name="Text 9"/>
          <p:cNvSpPr txBox="1"/>
          <p:nvPr/>
        </p:nvSpPr>
        <p:spPr>
          <a:xfrm>
            <a:off x="2119335" y="2331720"/>
            <a:ext cx="7953024"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55 min</a:t>
            </a:r>
            <a:endParaRPr lang="en-US" sz="1150" dirty="0"/>
          </a:p>
        </p:txBody>
      </p:sp>
      <p:sp>
        <p:nvSpPr>
          <p:cNvPr id="13" name="Text 10"/>
          <p:cNvSpPr txBox="1"/>
          <p:nvPr/>
        </p:nvSpPr>
        <p:spPr>
          <a:xfrm>
            <a:off x="2119335" y="2651760"/>
            <a:ext cx="7989600"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Rule court</a:t>
            </a:r>
            <a:endParaRPr lang="en-US" sz="1500" dirty="0"/>
          </a:p>
        </p:txBody>
      </p:sp>
      <p:sp>
        <p:nvSpPr>
          <p:cNvPr id="14" name="Shape 11"/>
          <p:cNvSpPr/>
          <p:nvPr/>
        </p:nvSpPr>
        <p:spPr>
          <a:xfrm>
            <a:off x="10163800" y="2240280"/>
            <a:ext cx="832104" cy="1417320"/>
          </a:xfrm>
          <a:prstGeom prst="rect">
            <a:avLst/>
          </a:prstGeom>
          <a:solidFill>
            <a:srgbClr val="36454F"/>
          </a:solidFill>
          <a:ln/>
        </p:spPr>
      </p:sp>
      <p:sp>
        <p:nvSpPr>
          <p:cNvPr id="15" name="Text 12"/>
          <p:cNvSpPr txBox="1"/>
          <p:nvPr/>
        </p:nvSpPr>
        <p:spPr>
          <a:xfrm>
            <a:off x="10255240" y="2331720"/>
            <a:ext cx="685800"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6" name="Text 13"/>
          <p:cNvSpPr txBox="1"/>
          <p:nvPr/>
        </p:nvSpPr>
        <p:spPr>
          <a:xfrm>
            <a:off x="10255240" y="2651760"/>
            <a:ext cx="722376"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Read back</a:t>
            </a:r>
            <a:endParaRPr lang="en-US" sz="950" dirty="0"/>
          </a:p>
        </p:txBody>
      </p:sp>
      <p:sp>
        <p:nvSpPr>
          <p:cNvPr id="17" name="Shape 14"/>
          <p:cNvSpPr/>
          <p:nvPr/>
        </p:nvSpPr>
        <p:spPr>
          <a:xfrm>
            <a:off x="11032480" y="2240280"/>
            <a:ext cx="573999" cy="1417320"/>
          </a:xfrm>
          <a:prstGeom prst="rect">
            <a:avLst/>
          </a:prstGeom>
          <a:solidFill>
            <a:srgbClr val="6B7B86"/>
          </a:solidFill>
          <a:ln/>
        </p:spPr>
      </p:sp>
      <p:sp>
        <p:nvSpPr>
          <p:cNvPr id="18" name="Text 15"/>
          <p:cNvSpPr txBox="1"/>
          <p:nvPr/>
        </p:nvSpPr>
        <p:spPr>
          <a:xfrm>
            <a:off x="11123920" y="2331720"/>
            <a:ext cx="42769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9" name="Text 16"/>
          <p:cNvSpPr txBox="1"/>
          <p:nvPr/>
        </p:nvSpPr>
        <p:spPr>
          <a:xfrm>
            <a:off x="11123920" y="2651760"/>
            <a:ext cx="464271"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Check</a:t>
            </a:r>
            <a:endParaRPr lang="en-US" sz="950" dirty="0"/>
          </a:p>
        </p:txBody>
      </p:sp>
      <p:sp>
        <p:nvSpPr>
          <p:cNvPr id="20" name="Shape 17"/>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1"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2" name="Text 18"/>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3" name="Text 19"/>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Tables as advocates, room as jury</a:t>
            </a:r>
            <a:endParaRPr lang="en-US" sz="1300" dirty="0"/>
          </a:p>
        </p:txBody>
      </p:sp>
      <p:sp>
        <p:nvSpPr>
          <p:cNvPr id="24" name="Shape 20"/>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5"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6" name="Text 21"/>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7" name="Text 22"/>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Five winning rules and the losing argument worth keeping.</a:t>
            </a:r>
            <a:endParaRPr lang="en-US" sz="1300" dirty="0"/>
          </a:p>
        </p:txBody>
      </p:sp>
      <p:sp>
        <p:nvSpPr>
          <p:cNvPr id="28" name="Shape 23"/>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9"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30" name="Text 24"/>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31" name="Text 25"/>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RULES · FILL IN LIVE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Exception rules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15:00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101</a:t>
            </a:r>
            <a:endParaRPr lang="en-US" sz="1000" dirty="0"/>
          </a:p>
        </p:txBody>
      </p:sp>
      <p:graphicFrame>
        <p:nvGraphicFramePr>
          <p:cNvPr id="10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743200"/>
                <a:gridCol w="3840480"/>
                <a:gridCol w="2468880"/>
                <a:gridCol w="2039112"/>
              </a:tblGrid>
              <a:tr h="731520">
                <a:tc>
                  <a:txBody>
                    <a:bodyPr/>
                    <a:lstStyle/>
                    <a:p>
                      <a:pPr indent="0" marL="0">
                        <a:buNone/>
                      </a:pPr>
                      <a:r>
                        <a:rPr lang="en-US" sz="1500" b="1" dirty="0">
                          <a:solidFill>
                            <a:srgbClr val="FFFFFF"/>
                          </a:solidFill>
                          <a:latin typeface="Arial" pitchFamily="34" charset="0"/>
                          <a:ea typeface="Arial" pitchFamily="34" charset="-122"/>
                          <a:cs typeface="Arial" pitchFamily="34" charset="-120"/>
                        </a:rPr>
                        <a:t>Exception</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When … then</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Who decides, by when</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If nobody answers</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r>
              <a:tr h="731520">
                <a:tc>
                  <a:txBody>
                    <a:bodyPr/>
                    <a:lstStyle/>
                    <a:p>
                      <a:pPr indent="0" marL="0">
                        <a:buNone/>
                      </a:pPr>
                      <a:r>
                        <a:rPr lang="en-US" sz="1600" b="1" dirty="0">
                          <a:solidFill>
                            <a:srgbClr val="1F2A33"/>
                          </a:solidFill>
                          <a:latin typeface="Arial" pitchFamily="34" charset="0"/>
                          <a:ea typeface="Arial" pitchFamily="34" charset="-122"/>
                          <a:cs typeface="Arial" pitchFamily="34" charset="-120"/>
                        </a:rPr>
                        <a:t>Scope too vague to staff</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731520">
                <a:tc>
                  <a:txBody>
                    <a:bodyPr/>
                    <a:lstStyle/>
                    <a:p>
                      <a:pPr indent="0" marL="0">
                        <a:buNone/>
                      </a:pPr>
                      <a:r>
                        <a:rPr lang="en-US" sz="1600" b="1" dirty="0">
                          <a:solidFill>
                            <a:srgbClr val="1F2A33"/>
                          </a:solidFill>
                          <a:latin typeface="Arial" pitchFamily="34" charset="0"/>
                          <a:ea typeface="Arial" pitchFamily="34" charset="-122"/>
                          <a:cs typeface="Arial" pitchFamily="34" charset="-120"/>
                        </a:rPr>
                        <a:t>Two deals want the same person</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731520">
                <a:tc>
                  <a:txBody>
                    <a:bodyPr/>
                    <a:lstStyle/>
                    <a:p>
                      <a:pPr indent="0" marL="0">
                        <a:buNone/>
                      </a:pPr>
                      <a:r>
                        <a:rPr lang="en-US" sz="1600" b="1" dirty="0">
                          <a:solidFill>
                            <a:srgbClr val="1F2A33"/>
                          </a:solidFill>
                          <a:latin typeface="Arial" pitchFamily="34" charset="0"/>
                          <a:ea typeface="Arial" pitchFamily="34" charset="-122"/>
                          <a:cs typeface="Arial" pitchFamily="34" charset="-120"/>
                        </a:rPr>
                        <a:t>A skill missing from the approved list</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731520">
                <a:tc>
                  <a:txBody>
                    <a:bodyPr/>
                    <a:lstStyle/>
                    <a:p>
                      <a:pPr indent="0" marL="0">
                        <a:buNone/>
                      </a:pPr>
                      <a:r>
                        <a:rPr lang="en-US" sz="1600" b="1" dirty="0">
                          <a:solidFill>
                            <a:srgbClr val="1F2A33"/>
                          </a:solidFill>
                          <a:latin typeface="Arial" pitchFamily="34" charset="0"/>
                          <a:ea typeface="Arial" pitchFamily="34" charset="-122"/>
                          <a:cs typeface="Arial" pitchFamily="34" charset="-120"/>
                        </a:rPr>
                        <a:t>A release is refused</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731520">
                <a:tc>
                  <a:txBody>
                    <a:bodyPr/>
                    <a:lstStyle/>
                    <a:p>
                      <a:pPr indent="0" marL="0">
                        <a:buNone/>
                      </a:pPr>
                      <a:r>
                        <a:rPr lang="en-US" sz="1600" b="1" dirty="0">
                          <a:solidFill>
                            <a:srgbClr val="1F2A33"/>
                          </a:solidFill>
                          <a:latin typeface="Arial" pitchFamily="34" charset="0"/>
                          <a:ea typeface="Arial" pitchFamily="34" charset="-122"/>
                          <a:cs typeface="Arial" pitchFamily="34" charset="-120"/>
                        </a:rPr>
                        <a:t>Blocked by cost, not by people</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bl>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QUICK CHECK · HANDS UP OR PHONES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Which of these is a complete rule?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15:00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102</a:t>
            </a:r>
            <a:endParaRPr lang="en-US" sz="1000" dirty="0"/>
          </a:p>
        </p:txBody>
      </p:sp>
      <p:sp>
        <p:nvSpPr>
          <p:cNvPr id="7" name="Shape 4"/>
          <p:cNvSpPr/>
          <p:nvPr/>
        </p:nvSpPr>
        <p:spPr>
          <a:xfrm>
            <a:off x="548640" y="1828800"/>
            <a:ext cx="11091672" cy="1005840"/>
          </a:xfrm>
          <a:prstGeom prst="roundRect">
            <a:avLst>
              <a:gd name="adj" fmla="val 7273"/>
            </a:avLst>
          </a:prstGeom>
          <a:solidFill>
            <a:srgbClr val="FFFFFF"/>
          </a:solidFill>
          <a:ln w="12700">
            <a:solidFill>
              <a:srgbClr val="D9DEE2"/>
            </a:solidFill>
            <a:prstDash val="solid"/>
          </a:ln>
        </p:spPr>
      </p:sp>
      <p:sp>
        <p:nvSpPr>
          <p:cNvPr id="8" name="Shape 5"/>
          <p:cNvSpPr/>
          <p:nvPr/>
        </p:nvSpPr>
        <p:spPr>
          <a:xfrm>
            <a:off x="777240" y="2057400"/>
            <a:ext cx="548640" cy="548640"/>
          </a:xfrm>
          <a:prstGeom prst="ellipse">
            <a:avLst/>
          </a:prstGeom>
          <a:solidFill>
            <a:srgbClr val="36454F"/>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When a skill is not on the list, the list owner decides, and the plan waits for as long as that takes.</a:t>
            </a:r>
            <a:endParaRPr lang="en-US" sz="2000" dirty="0"/>
          </a:p>
        </p:txBody>
      </p:sp>
      <p:sp>
        <p:nvSpPr>
          <p:cNvPr id="11" name="Shape 8"/>
          <p:cNvSpPr/>
          <p:nvPr/>
        </p:nvSpPr>
        <p:spPr>
          <a:xfrm>
            <a:off x="548640" y="3017520"/>
            <a:ext cx="11091672" cy="1005840"/>
          </a:xfrm>
          <a:prstGeom prst="roundRect">
            <a:avLst>
              <a:gd name="adj" fmla="val 7273"/>
            </a:avLst>
          </a:prstGeom>
          <a:solidFill>
            <a:srgbClr val="FFFFFF"/>
          </a:solidFill>
          <a:ln w="12700">
            <a:solidFill>
              <a:srgbClr val="D9DEE2"/>
            </a:solidFill>
            <a:prstDash val="solid"/>
          </a:ln>
        </p:spPr>
      </p:sp>
      <p:sp>
        <p:nvSpPr>
          <p:cNvPr id="12" name="Shape 9"/>
          <p:cNvSpPr/>
          <p:nvPr/>
        </p:nvSpPr>
        <p:spPr>
          <a:xfrm>
            <a:off x="777240" y="3246120"/>
            <a:ext cx="548640" cy="548640"/>
          </a:xfrm>
          <a:prstGeom prst="ellipse">
            <a:avLst/>
          </a:prstGeom>
          <a:solidFill>
            <a:srgbClr val="36454F"/>
          </a:solidFill>
          <a:ln/>
        </p:spPr>
      </p:sp>
      <p:sp>
        <p:nvSpPr>
          <p:cNvPr id="13"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4"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When a skill is not on the list, the list owner decides within two days. No answer: the practice lead.</a:t>
            </a:r>
            <a:endParaRPr lang="en-US" sz="2000" dirty="0"/>
          </a:p>
        </p:txBody>
      </p:sp>
      <p:sp>
        <p:nvSpPr>
          <p:cNvPr id="15" name="Shape 12"/>
          <p:cNvSpPr/>
          <p:nvPr/>
        </p:nvSpPr>
        <p:spPr>
          <a:xfrm>
            <a:off x="548640" y="4206240"/>
            <a:ext cx="11091672" cy="1005840"/>
          </a:xfrm>
          <a:prstGeom prst="roundRect">
            <a:avLst>
              <a:gd name="adj" fmla="val 7273"/>
            </a:avLst>
          </a:prstGeom>
          <a:solidFill>
            <a:srgbClr val="FFFFFF"/>
          </a:solidFill>
          <a:ln w="12700">
            <a:solidFill>
              <a:srgbClr val="D9DEE2"/>
            </a:solidFill>
            <a:prstDash val="solid"/>
          </a:ln>
        </p:spPr>
      </p:sp>
      <p:sp>
        <p:nvSpPr>
          <p:cNvPr id="16" name="Shape 13"/>
          <p:cNvSpPr/>
          <p:nvPr/>
        </p:nvSpPr>
        <p:spPr>
          <a:xfrm>
            <a:off x="777240" y="4434840"/>
            <a:ext cx="548640" cy="548640"/>
          </a:xfrm>
          <a:prstGeom prst="ellipse">
            <a:avLst/>
          </a:prstGeom>
          <a:solidFill>
            <a:srgbClr val="36454F"/>
          </a:solidFill>
          <a:ln/>
        </p:spPr>
      </p:sp>
      <p:sp>
        <p:nvSpPr>
          <p:cNvPr id="17"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8"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When a skill is not on the list, someone in staffing looks into it as soon as they can and tells people.</a:t>
            </a:r>
            <a:endParaRPr lang="en-US" sz="20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CHECK · THE ANSWER</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Which of these is a complete rule?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15:00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103</a:t>
            </a:r>
            <a:endParaRPr lang="en-US" sz="1000" dirty="0"/>
          </a:p>
        </p:txBody>
      </p:sp>
      <p:sp>
        <p:nvSpPr>
          <p:cNvPr id="7" name="Shape 4"/>
          <p:cNvSpPr/>
          <p:nvPr/>
        </p:nvSpPr>
        <p:spPr>
          <a:xfrm>
            <a:off x="548640" y="1828800"/>
            <a:ext cx="11091672" cy="1005840"/>
          </a:xfrm>
          <a:prstGeom prst="roundRect">
            <a:avLst>
              <a:gd name="adj" fmla="val 7273"/>
            </a:avLst>
          </a:prstGeom>
          <a:solidFill>
            <a:srgbClr val="FFFFFF"/>
          </a:solidFill>
          <a:ln w="12700">
            <a:solidFill>
              <a:srgbClr val="D9DEE2"/>
            </a:solidFill>
            <a:prstDash val="solid"/>
          </a:ln>
        </p:spPr>
      </p:sp>
      <p:sp>
        <p:nvSpPr>
          <p:cNvPr id="8" name="Shape 5"/>
          <p:cNvSpPr/>
          <p:nvPr/>
        </p:nvSpPr>
        <p:spPr>
          <a:xfrm>
            <a:off x="777240" y="2057400"/>
            <a:ext cx="548640" cy="548640"/>
          </a:xfrm>
          <a:prstGeom prst="ellipse">
            <a:avLst/>
          </a:prstGeom>
          <a:solidFill>
            <a:srgbClr val="8A94A4"/>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When a skill is not on the list, the list owner decides, and the plan waits for as long as that takes.</a:t>
            </a:r>
            <a:endParaRPr lang="en-US" sz="2000" dirty="0"/>
          </a:p>
        </p:txBody>
      </p:sp>
      <p:sp>
        <p:nvSpPr>
          <p:cNvPr id="11" name="Shape 8"/>
          <p:cNvSpPr/>
          <p:nvPr/>
        </p:nvSpPr>
        <p:spPr>
          <a:xfrm>
            <a:off x="548640" y="3017520"/>
            <a:ext cx="11091672" cy="1005840"/>
          </a:xfrm>
          <a:prstGeom prst="roundRect">
            <a:avLst>
              <a:gd name="adj" fmla="val 7273"/>
            </a:avLst>
          </a:prstGeom>
          <a:solidFill>
            <a:srgbClr val="E3F1E9"/>
          </a:solidFill>
          <a:ln w="12700">
            <a:solidFill>
              <a:srgbClr val="2E8656"/>
            </a:solidFill>
            <a:prstDash val="solid"/>
          </a:ln>
        </p:spPr>
      </p:sp>
      <p:sp>
        <p:nvSpPr>
          <p:cNvPr id="12" name="Shape 9"/>
          <p:cNvSpPr/>
          <p:nvPr/>
        </p:nvSpPr>
        <p:spPr>
          <a:xfrm>
            <a:off x="777240" y="3246120"/>
            <a:ext cx="548640" cy="548640"/>
          </a:xfrm>
          <a:prstGeom prst="ellipse">
            <a:avLst/>
          </a:prstGeom>
          <a:solidFill>
            <a:srgbClr val="2E8656"/>
          </a:solidFill>
          <a:ln/>
        </p:spPr>
      </p:sp>
      <p:sp>
        <p:nvSpPr>
          <p:cNvPr id="13"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4"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When a skill is not on the list, the list owner decides within two days. No answer: the practice lead.</a:t>
            </a:r>
            <a:endParaRPr lang="en-US" sz="2000" dirty="0"/>
          </a:p>
        </p:txBody>
      </p:sp>
      <p:pic>
        <p:nvPicPr>
          <p:cNvPr id="15" name="Image 1" descr="/private/tmp/claude-501/-Users-salehhamed-Outcome-Engine/91861432-41e2-4884-bc97-63c6dff2d021/scratchpad/wk/icons/TbCircleCheck-green.png">    </p:cNvPr>
          <p:cNvPicPr>
            <a:picLocks noChangeAspect="1"/>
          </p:cNvPicPr>
          <p:nvPr/>
        </p:nvPicPr>
        <p:blipFill>
          <a:blip r:embed="rId4"/>
          <a:stretch>
            <a:fillRect/>
          </a:stretch>
        </p:blipFill>
        <p:spPr>
          <a:xfrm>
            <a:off x="10927080" y="3246120"/>
            <a:ext cx="548640" cy="548640"/>
          </a:xfrm>
          <a:prstGeom prst="rect">
            <a:avLst/>
          </a:prstGeom>
        </p:spPr>
      </p:pic>
      <p:sp>
        <p:nvSpPr>
          <p:cNvPr id="16" name="Shape 12"/>
          <p:cNvSpPr/>
          <p:nvPr/>
        </p:nvSpPr>
        <p:spPr>
          <a:xfrm>
            <a:off x="548640" y="4206240"/>
            <a:ext cx="11091672" cy="1005840"/>
          </a:xfrm>
          <a:prstGeom prst="roundRect">
            <a:avLst>
              <a:gd name="adj" fmla="val 7273"/>
            </a:avLst>
          </a:prstGeom>
          <a:solidFill>
            <a:srgbClr val="FFFFFF"/>
          </a:solidFill>
          <a:ln w="12700">
            <a:solidFill>
              <a:srgbClr val="D9DEE2"/>
            </a:solidFill>
            <a:prstDash val="solid"/>
          </a:ln>
        </p:spPr>
      </p:sp>
      <p:sp>
        <p:nvSpPr>
          <p:cNvPr id="17" name="Shape 13"/>
          <p:cNvSpPr/>
          <p:nvPr/>
        </p:nvSpPr>
        <p:spPr>
          <a:xfrm>
            <a:off x="777240" y="4434840"/>
            <a:ext cx="548640" cy="548640"/>
          </a:xfrm>
          <a:prstGeom prst="ellipse">
            <a:avLst/>
          </a:prstGeom>
          <a:solidFill>
            <a:srgbClr val="8A94A4"/>
          </a:solidFill>
          <a:ln/>
        </p:spPr>
      </p:sp>
      <p:sp>
        <p:nvSpPr>
          <p:cNvPr id="18"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9"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When a skill is not on the list, someone in staffing looks into it as soon as they can and tells people.</a:t>
            </a:r>
            <a:endParaRPr lang="en-US" sz="20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287079"/>
          </a:solidFill>
          <a:ln/>
        </p:spPr>
      </p:sp>
      <p:sp>
        <p:nvSpPr>
          <p:cNvPr id="3" name="Text 1"/>
          <p:cNvSpPr txBox="1"/>
          <p:nvPr/>
        </p:nvSpPr>
        <p:spPr>
          <a:xfrm>
            <a:off x="548640" y="548640"/>
            <a:ext cx="3474720" cy="274320"/>
          </a:xfrm>
          <a:prstGeom prst="rect">
            <a:avLst/>
          </a:prstGeom>
          <a:noFill/>
          <a:ln/>
        </p:spPr>
        <p:txBody>
          <a:bodyPr wrap="square" lIns="0" tIns="0" rIns="0" bIns="0" rtlCol="0" anchor="t"/>
          <a:lstStyle/>
          <a:p>
            <a:pPr indent="0" marL="0">
              <a:buNone/>
            </a:pPr>
            <a:r>
              <a:rPr lang="en-US" sz="1100" b="1" spc="150" kern="0" dirty="0">
                <a:solidFill>
                  <a:srgbClr val="D9DEE2"/>
                </a:solidFill>
                <a:latin typeface="Arial" pitchFamily="34" charset="0"/>
                <a:ea typeface="Arial" pitchFamily="34" charset="-122"/>
                <a:cs typeface="Arial" pitchFamily="34" charset="-120"/>
              </a:rPr>
              <a:t>DAY 1 · 16:15–16:45 · 30 MIN</a:t>
            </a:r>
            <a:endParaRPr lang="en-US" sz="1100" dirty="0"/>
          </a:p>
        </p:txBody>
      </p:sp>
      <p:sp>
        <p:nvSpPr>
          <p:cNvPr id="4" name="Text 2"/>
          <p:cNvSpPr txBox="1"/>
          <p:nvPr/>
        </p:nvSpPr>
        <p:spPr>
          <a:xfrm>
            <a:off x="548640" y="960120"/>
            <a:ext cx="3383280" cy="2377440"/>
          </a:xfrm>
          <a:prstGeom prst="rect">
            <a:avLst/>
          </a:prstGeom>
          <a:noFill/>
          <a:ln/>
        </p:spPr>
        <p:txBody>
          <a:bodyPr wrap="square" lIns="0" tIns="0" rIns="0" bIns="0" rtlCol="0" anchor="t"/>
          <a:lstStyle/>
          <a:p>
            <a:pPr indent="0" marL="0">
              <a:buNone/>
            </a:pPr>
            <a:r>
              <a:rPr lang="en-US" sz="3000" b="1" dirty="0">
                <a:solidFill>
                  <a:srgbClr val="FFFFFF"/>
                </a:solidFill>
                <a:latin typeface="TWK Everett" pitchFamily="34" charset="0"/>
                <a:ea typeface="TWK Everett" pitchFamily="34" charset="-122"/>
                <a:cs typeface="TWK Everett" pitchFamily="34" charset="-120"/>
              </a:rPr>
              <a:t>Build checkpoint</a:t>
            </a:r>
            <a:endParaRPr lang="en-US" sz="3000" dirty="0"/>
          </a:p>
        </p:txBody>
      </p:sp>
      <p:pic>
        <p:nvPicPr>
          <p:cNvPr id="5" name="Image 0" descr="/private/tmp/claude-501/-Users-salehhamed-Outcome-Engine/91861432-41e2-4884-bc97-63c6dff2d021/scratchpad/wk/icons/TbHammer-white.png">    </p:cNvPr>
          <p:cNvPicPr>
            <a:picLocks noChangeAspect="1"/>
          </p:cNvPicPr>
          <p:nvPr/>
        </p:nvPicPr>
        <p:blipFill>
          <a:blip r:embed="rId1"/>
          <a:stretch>
            <a:fillRect/>
          </a:stretch>
        </p:blipFill>
        <p:spPr>
          <a:xfrm>
            <a:off x="548640" y="3200400"/>
            <a:ext cx="685800" cy="685800"/>
          </a:xfrm>
          <a:prstGeom prst="rect">
            <a:avLst/>
          </a:prstGeom>
        </p:spPr>
      </p:pic>
      <p:sp>
        <p:nvSpPr>
          <p:cNvPr id="6" name="Shape 3"/>
          <p:cNvSpPr/>
          <p:nvPr/>
        </p:nvSpPr>
        <p:spPr>
          <a:xfrm>
            <a:off x="548640" y="4169664"/>
            <a:ext cx="237744" cy="237744"/>
          </a:xfrm>
          <a:prstGeom prst="ellipse">
            <a:avLst/>
          </a:prstGeom>
          <a:solidFill>
            <a:srgbClr val="FFFFFF"/>
          </a:solidFill>
          <a:ln/>
        </p:spPr>
      </p:sp>
      <p:sp>
        <p:nvSpPr>
          <p:cNvPr id="7" name="Shape 4"/>
          <p:cNvSpPr/>
          <p:nvPr/>
        </p:nvSpPr>
        <p:spPr>
          <a:xfrm>
            <a:off x="932688" y="4169664"/>
            <a:ext cx="237744" cy="237744"/>
          </a:xfrm>
          <a:prstGeom prst="ellipse">
            <a:avLst/>
          </a:prstGeom>
          <a:solidFill>
            <a:srgbClr val="FFFFFF"/>
          </a:solidFill>
          <a:ln/>
        </p:spPr>
      </p:sp>
      <p:sp>
        <p:nvSpPr>
          <p:cNvPr id="8" name="Shape 5"/>
          <p:cNvSpPr/>
          <p:nvPr/>
        </p:nvSpPr>
        <p:spPr>
          <a:xfrm>
            <a:off x="1316736" y="4169664"/>
            <a:ext cx="237744" cy="237744"/>
          </a:xfrm>
          <a:prstGeom prst="ellipse">
            <a:avLst/>
          </a:prstGeom>
          <a:solidFill>
            <a:srgbClr val="FFFFFF"/>
          </a:solidFill>
          <a:ln/>
        </p:spPr>
      </p:sp>
      <p:sp>
        <p:nvSpPr>
          <p:cNvPr id="9" name="Shape 6"/>
          <p:cNvSpPr/>
          <p:nvPr/>
        </p:nvSpPr>
        <p:spPr>
          <a:xfrm>
            <a:off x="1700784" y="4169664"/>
            <a:ext cx="237744" cy="237744"/>
          </a:xfrm>
          <a:prstGeom prst="ellipse">
            <a:avLst/>
          </a:prstGeom>
          <a:solidFill>
            <a:srgbClr val="FFFFFF"/>
          </a:solidFill>
          <a:ln/>
        </p:spPr>
      </p:sp>
      <p:sp>
        <p:nvSpPr>
          <p:cNvPr id="10" name="Shape 7"/>
          <p:cNvSpPr/>
          <p:nvPr/>
        </p:nvSpPr>
        <p:spPr>
          <a:xfrm>
            <a:off x="2048256" y="4133088"/>
            <a:ext cx="310896" cy="310896"/>
          </a:xfrm>
          <a:prstGeom prst="ellipse">
            <a:avLst/>
          </a:prstGeom>
          <a:solidFill>
            <a:srgbClr val="FF462D"/>
          </a:solidFill>
          <a:ln w="19050">
            <a:solidFill>
              <a:srgbClr val="FFFFFF"/>
            </a:solidFill>
            <a:prstDash val="solid"/>
          </a:ln>
        </p:spPr>
      </p:sp>
      <p:sp>
        <p:nvSpPr>
          <p:cNvPr id="11" name="Shape 8"/>
          <p:cNvSpPr/>
          <p:nvPr/>
        </p:nvSpPr>
        <p:spPr>
          <a:xfrm>
            <a:off x="2468880" y="4169664"/>
            <a:ext cx="237744" cy="237744"/>
          </a:xfrm>
          <a:prstGeom prst="ellipse">
            <a:avLst/>
          </a:prstGeom>
          <a:ln w="15875">
            <a:solidFill>
              <a:srgbClr val="D9DEE2"/>
            </a:solidFill>
            <a:prstDash val="solid"/>
          </a:ln>
        </p:spPr>
      </p:sp>
      <p:sp>
        <p:nvSpPr>
          <p:cNvPr id="12" name="Shape 9"/>
          <p:cNvSpPr/>
          <p:nvPr/>
        </p:nvSpPr>
        <p:spPr>
          <a:xfrm>
            <a:off x="2852928" y="4169664"/>
            <a:ext cx="237744" cy="237744"/>
          </a:xfrm>
          <a:prstGeom prst="ellipse">
            <a:avLst/>
          </a:prstGeom>
          <a:ln w="15875">
            <a:solidFill>
              <a:srgbClr val="D9DEE2"/>
            </a:solidFill>
            <a:prstDash val="solid"/>
          </a:ln>
        </p:spPr>
      </p:sp>
      <p:sp>
        <p:nvSpPr>
          <p:cNvPr id="13" name="Shape 10"/>
          <p:cNvSpPr/>
          <p:nvPr/>
        </p:nvSpPr>
        <p:spPr>
          <a:xfrm>
            <a:off x="3236976" y="4169664"/>
            <a:ext cx="237744" cy="237744"/>
          </a:xfrm>
          <a:prstGeom prst="ellipse">
            <a:avLst/>
          </a:prstGeom>
          <a:ln w="15875">
            <a:solidFill>
              <a:srgbClr val="D9DEE2"/>
            </a:solidFill>
            <a:prstDash val="solid"/>
          </a:ln>
        </p:spPr>
      </p:sp>
      <p:sp>
        <p:nvSpPr>
          <p:cNvPr id="14" name="Text 11"/>
          <p:cNvSpPr txBox="1"/>
          <p:nvPr/>
        </p:nvSpPr>
        <p:spPr>
          <a:xfrm>
            <a:off x="548640" y="4553712"/>
            <a:ext cx="338328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Still at step 5 of 8</a:t>
            </a:r>
            <a:endParaRPr lang="en-US" sz="1100" dirty="0"/>
          </a:p>
        </p:txBody>
      </p:sp>
      <p:sp>
        <p:nvSpPr>
          <p:cNvPr id="15" name="Text 12"/>
          <p:cNvSpPr txBox="1"/>
          <p:nvPr/>
        </p:nvSpPr>
        <p:spPr>
          <a:xfrm>
            <a:off x="4709160" y="685800"/>
            <a:ext cx="6400800" cy="320040"/>
          </a:xfrm>
          <a:prstGeom prst="rect">
            <a:avLst/>
          </a:prstGeom>
          <a:noFill/>
          <a:ln/>
        </p:spPr>
        <p:txBody>
          <a:bodyPr wrap="square" lIns="0" tIns="0" rIns="0" bIns="0" rtlCol="0" anchor="t"/>
          <a:lstStyle/>
          <a:p>
            <a:pPr indent="0" marL="0">
              <a:buNone/>
            </a:pPr>
            <a:r>
              <a:rPr lang="en-US" sz="1400" b="1" dirty="0">
                <a:solidFill>
                  <a:srgbClr val="287079"/>
                </a:solidFill>
                <a:latin typeface="Arial" pitchFamily="34" charset="0"/>
                <a:ea typeface="Arial" pitchFamily="34" charset="-122"/>
                <a:cs typeface="Arial" pitchFamily="34" charset="-120"/>
              </a:rPr>
              <a:t>By the end of this session, you can</a:t>
            </a:r>
            <a:endParaRPr lang="en-US" sz="1400" dirty="0"/>
          </a:p>
        </p:txBody>
      </p:sp>
      <p:pic>
        <p:nvPicPr>
          <p:cNvPr id="16" name="Image 1" descr="/private/tmp/claude-501/-Users-salehhamed-Outcome-Engine/91861432-41e2-4884-bc97-63c6dff2d021/scratchpad/wk/icons/TbCircleCheck-teal.png">    </p:cNvPr>
          <p:cNvPicPr>
            <a:picLocks noChangeAspect="1"/>
          </p:cNvPicPr>
          <p:nvPr/>
        </p:nvPicPr>
        <p:blipFill>
          <a:blip r:embed="rId2"/>
          <a:stretch>
            <a:fillRect/>
          </a:stretch>
        </p:blipFill>
        <p:spPr>
          <a:xfrm>
            <a:off x="4709160" y="1225296"/>
            <a:ext cx="411480" cy="411480"/>
          </a:xfrm>
          <a:prstGeom prst="rect">
            <a:avLst/>
          </a:prstGeom>
        </p:spPr>
      </p:pic>
      <p:sp>
        <p:nvSpPr>
          <p:cNvPr id="17" name="Text 13"/>
          <p:cNvSpPr txBox="1"/>
          <p:nvPr/>
        </p:nvSpPr>
        <p:spPr>
          <a:xfrm>
            <a:off x="5303520" y="118872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See the first working steps.</a:t>
            </a:r>
            <a:endParaRPr lang="en-US" sz="1700" dirty="0"/>
          </a:p>
        </p:txBody>
      </p:sp>
      <p:pic>
        <p:nvPicPr>
          <p:cNvPr id="18" name="Image 2" descr="/private/tmp/claude-501/-Users-salehhamed-Outcome-Engine/91861432-41e2-4884-bc97-63c6dff2d021/scratchpad/wk/icons/TbCircleCheck-teal.png">    </p:cNvPr>
          <p:cNvPicPr>
            <a:picLocks noChangeAspect="1"/>
          </p:cNvPicPr>
          <p:nvPr/>
        </p:nvPicPr>
        <p:blipFill>
          <a:blip r:embed="rId3"/>
          <a:stretch>
            <a:fillRect/>
          </a:stretch>
        </p:blipFill>
        <p:spPr>
          <a:xfrm>
            <a:off x="4709160" y="2093976"/>
            <a:ext cx="411480" cy="411480"/>
          </a:xfrm>
          <a:prstGeom prst="rect">
            <a:avLst/>
          </a:prstGeom>
        </p:spPr>
      </p:pic>
      <p:sp>
        <p:nvSpPr>
          <p:cNvPr id="19" name="Text 14"/>
          <p:cNvSpPr txBox="1"/>
          <p:nvPr/>
        </p:nvSpPr>
        <p:spPr>
          <a:xfrm>
            <a:off x="5303520" y="205740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Choose tomorrow's test cases.</a:t>
            </a:r>
            <a:endParaRPr lang="en-US" sz="1700" dirty="0"/>
          </a:p>
        </p:txBody>
      </p:sp>
      <p:pic>
        <p:nvPicPr>
          <p:cNvPr id="20" name="Image 3" descr="/private/tmp/claude-501/-Users-salehhamed-Outcome-Engine/91861432-41e2-4884-bc97-63c6dff2d021/scratchpad/wk/icons/TbCircleCheck-teal.png">    </p:cNvPr>
          <p:cNvPicPr>
            <a:picLocks noChangeAspect="1"/>
          </p:cNvPicPr>
          <p:nvPr/>
        </p:nvPicPr>
        <p:blipFill>
          <a:blip r:embed="rId4"/>
          <a:stretch>
            <a:fillRect/>
          </a:stretch>
        </p:blipFill>
        <p:spPr>
          <a:xfrm>
            <a:off x="4709160" y="2962656"/>
            <a:ext cx="411480" cy="411480"/>
          </a:xfrm>
          <a:prstGeom prst="rect">
            <a:avLst/>
          </a:prstGeom>
        </p:spPr>
      </p:pic>
      <p:sp>
        <p:nvSpPr>
          <p:cNvPr id="21" name="Text 15"/>
          <p:cNvSpPr txBox="1"/>
          <p:nvPr/>
        </p:nvSpPr>
        <p:spPr>
          <a:xfrm>
            <a:off x="5303520" y="292608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Give every decision seat a person and a backup for tomorrow.</a:t>
            </a:r>
            <a:endParaRPr lang="en-US" sz="1700" dirty="0"/>
          </a:p>
        </p:txBody>
      </p:sp>
      <p:pic>
        <p:nvPicPr>
          <p:cNvPr id="22" name="Image 4" descr="/private/tmp/claude-501/-Users-salehhamed-Outcome-Engine/91861432-41e2-4884-bc97-63c6dff2d021/scratchpad/wk/icons/TbCircleCheck-teal.png">    </p:cNvPr>
          <p:cNvPicPr>
            <a:picLocks noChangeAspect="1"/>
          </p:cNvPicPr>
          <p:nvPr/>
        </p:nvPicPr>
        <p:blipFill>
          <a:blip r:embed="rId5"/>
          <a:stretch>
            <a:fillRect/>
          </a:stretch>
        </p:blipFill>
        <p:spPr>
          <a:xfrm>
            <a:off x="4709160" y="3831336"/>
            <a:ext cx="411480" cy="411480"/>
          </a:xfrm>
          <a:prstGeom prst="rect">
            <a:avLst/>
          </a:prstGeom>
        </p:spPr>
      </p:pic>
      <p:sp>
        <p:nvSpPr>
          <p:cNvPr id="23" name="Text 16"/>
          <p:cNvSpPr txBox="1"/>
          <p:nvPr/>
        </p:nvSpPr>
        <p:spPr>
          <a:xfrm>
            <a:off x="5303520" y="379476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Give every open question an owner and a date.</a:t>
            </a:r>
            <a:endParaRPr lang="en-US" sz="1700" dirty="0"/>
          </a:p>
        </p:txBody>
      </p:sp>
      <p:sp>
        <p:nvSpPr>
          <p:cNvPr id="24" name="Shape 17"/>
          <p:cNvSpPr/>
          <p:nvPr/>
        </p:nvSpPr>
        <p:spPr>
          <a:xfrm>
            <a:off x="4709160" y="4800600"/>
            <a:ext cx="6931152" cy="1234440"/>
          </a:xfrm>
          <a:prstGeom prst="roundRect">
            <a:avLst>
              <a:gd name="adj" fmla="val 5926"/>
            </a:avLst>
          </a:prstGeom>
          <a:solidFill>
            <a:srgbClr val="FFF0EC"/>
          </a:solidFill>
          <a:ln/>
        </p:spPr>
      </p:sp>
      <p:sp>
        <p:nvSpPr>
          <p:cNvPr id="25" name="Text 18"/>
          <p:cNvSpPr txBox="1"/>
          <p:nvPr/>
        </p:nvSpPr>
        <p:spPr>
          <a:xfrm>
            <a:off x="4937760" y="4800600"/>
            <a:ext cx="6492240" cy="1234440"/>
          </a:xfrm>
          <a:prstGeom prst="rect">
            <a:avLst/>
          </a:prstGeom>
          <a:noFill/>
          <a:ln/>
        </p:spPr>
        <p:txBody>
          <a:bodyPr wrap="square" lIns="0" tIns="0" rIns="0" bIns="0" rtlCol="0" anchor="ctr"/>
          <a:lstStyle/>
          <a:p>
            <a:pPr indent="0" marL="0">
              <a:buNone/>
            </a:pPr>
            <a:r>
              <a:rPr lang="en-US" sz="1800" b="1" dirty="0">
                <a:solidFill>
                  <a:srgbClr val="FF462D"/>
                </a:solidFill>
                <a:latin typeface="Arial" pitchFamily="34" charset="0"/>
                <a:ea typeface="Arial" pitchFamily="34" charset="-122"/>
                <a:cs typeface="Arial" pitchFamily="34" charset="-120"/>
              </a:rPr>
              <a:t>Tomorrow we test what you agreed today.</a:t>
            </a:r>
            <a:endParaRPr lang="en-US" sz="1800" dirty="0"/>
          </a:p>
        </p:txBody>
      </p:sp>
      <p:sp>
        <p:nvSpPr>
          <p:cNvPr id="26" name="Text 19"/>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6"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7" action="ppaction://hlinksldjump" tooltip="The thre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104</a:t>
            </a:r>
            <a:endParaRPr lang="en-US" sz="10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BUILD CHECKPOINT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What is built so far</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16:15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105</a:t>
            </a:r>
            <a:endParaRPr lang="en-US" sz="1000" dirty="0"/>
          </a:p>
        </p:txBody>
      </p:sp>
      <p:sp>
        <p:nvSpPr>
          <p:cNvPr id="7" name="Text 4"/>
          <p:cNvSpPr txBox="1"/>
          <p:nvPr/>
        </p:nvSpPr>
        <p:spPr>
          <a:xfrm>
            <a:off x="548640" y="1463040"/>
            <a:ext cx="6400800" cy="365760"/>
          </a:xfrm>
          <a:prstGeom prst="rect">
            <a:avLst/>
          </a:prstGeom>
          <a:noFill/>
          <a:ln/>
        </p:spPr>
        <p:txBody>
          <a:bodyPr wrap="square" lIns="0" tIns="0" rIns="0" bIns="0" rtlCol="0" anchor="t"/>
          <a:lstStyle/>
          <a:p>
            <a:pPr indent="0" marL="0">
              <a:buNone/>
            </a:pPr>
            <a:r>
              <a:rPr lang="en-US" sz="1500" b="1" dirty="0">
                <a:solidFill>
                  <a:srgbClr val="287079"/>
                </a:solidFill>
                <a:latin typeface="Arial" pitchFamily="34" charset="0"/>
                <a:ea typeface="Arial" pitchFamily="34" charset="-122"/>
                <a:cs typeface="Arial" pitchFamily="34" charset="-120"/>
              </a:rPr>
              <a:t>Watch the demo and say which it is</a:t>
            </a:r>
            <a:endParaRPr lang="en-US" sz="1500" dirty="0"/>
          </a:p>
        </p:txBody>
      </p:sp>
      <p:sp>
        <p:nvSpPr>
          <p:cNvPr id="8" name="Text 5"/>
          <p:cNvSpPr txBox="1"/>
          <p:nvPr/>
        </p:nvSpPr>
        <p:spPr>
          <a:xfrm>
            <a:off x="7086600" y="1463040"/>
            <a:ext cx="1463040" cy="457200"/>
          </a:xfrm>
          <a:prstGeom prst="rect">
            <a:avLst/>
          </a:prstGeom>
          <a:noFill/>
          <a:ln/>
        </p:spPr>
        <p:txBody>
          <a:bodyPr wrap="square" lIns="0" tIns="0" rIns="0" bIns="0" rtlCol="0" anchor="ctr"/>
          <a:lstStyle/>
          <a:p>
            <a:pPr algn="ctr" indent="0" marL="0">
              <a:buNone/>
            </a:pPr>
            <a:r>
              <a:rPr lang="en-US" sz="1200" b="1" dirty="0">
                <a:solidFill>
                  <a:srgbClr val="2E8656"/>
                </a:solidFill>
                <a:latin typeface="Arial" pitchFamily="34" charset="0"/>
                <a:ea typeface="Arial" pitchFamily="34" charset="-122"/>
                <a:cs typeface="Arial" pitchFamily="34" charset="-120"/>
              </a:rPr>
              <a:t>Built</a:t>
            </a:r>
            <a:endParaRPr lang="en-US" sz="1200" dirty="0"/>
          </a:p>
        </p:txBody>
      </p:sp>
      <p:sp>
        <p:nvSpPr>
          <p:cNvPr id="9" name="Text 6"/>
          <p:cNvSpPr txBox="1"/>
          <p:nvPr/>
        </p:nvSpPr>
        <p:spPr>
          <a:xfrm>
            <a:off x="8641080" y="1463040"/>
            <a:ext cx="1463040" cy="457200"/>
          </a:xfrm>
          <a:prstGeom prst="rect">
            <a:avLst/>
          </a:prstGeom>
          <a:noFill/>
          <a:ln/>
        </p:spPr>
        <p:txBody>
          <a:bodyPr wrap="square" lIns="0" tIns="0" rIns="0" bIns="0" rtlCol="0" anchor="ctr"/>
          <a:lstStyle/>
          <a:p>
            <a:pPr algn="ctr" indent="0" marL="0">
              <a:buNone/>
            </a:pPr>
            <a:r>
              <a:rPr lang="en-US" sz="1200" b="1" dirty="0">
                <a:solidFill>
                  <a:srgbClr val="C98A1A"/>
                </a:solidFill>
                <a:latin typeface="Arial" pitchFamily="34" charset="0"/>
                <a:ea typeface="Arial" pitchFamily="34" charset="-122"/>
                <a:cs typeface="Arial" pitchFamily="34" charset="-120"/>
              </a:rPr>
              <a:t>A simple copy for now</a:t>
            </a:r>
            <a:endParaRPr lang="en-US" sz="1200" dirty="0"/>
          </a:p>
        </p:txBody>
      </p:sp>
      <p:sp>
        <p:nvSpPr>
          <p:cNvPr id="10" name="Text 7"/>
          <p:cNvSpPr txBox="1"/>
          <p:nvPr/>
        </p:nvSpPr>
        <p:spPr>
          <a:xfrm>
            <a:off x="10195560" y="1463040"/>
            <a:ext cx="1463040" cy="457200"/>
          </a:xfrm>
          <a:prstGeom prst="rect">
            <a:avLst/>
          </a:prstGeom>
          <a:noFill/>
          <a:ln/>
        </p:spPr>
        <p:txBody>
          <a:bodyPr wrap="square" lIns="0" tIns="0" rIns="0" bIns="0" rtlCol="0" anchor="ctr"/>
          <a:lstStyle/>
          <a:p>
            <a:pPr algn="ctr" indent="0" marL="0">
              <a:buNone/>
            </a:pPr>
            <a:r>
              <a:rPr lang="en-US" sz="1200" b="1" dirty="0">
                <a:solidFill>
                  <a:srgbClr val="8A94A4"/>
                </a:solidFill>
                <a:latin typeface="Arial" pitchFamily="34" charset="0"/>
                <a:ea typeface="Arial" pitchFamily="34" charset="-122"/>
                <a:cs typeface="Arial" pitchFamily="34" charset="-120"/>
              </a:rPr>
              <a:t>Not yet</a:t>
            </a:r>
            <a:endParaRPr lang="en-US" sz="1200" dirty="0"/>
          </a:p>
        </p:txBody>
      </p:sp>
      <p:sp>
        <p:nvSpPr>
          <p:cNvPr id="11" name="Shape 8"/>
          <p:cNvSpPr/>
          <p:nvPr/>
        </p:nvSpPr>
        <p:spPr>
          <a:xfrm>
            <a:off x="548640" y="1965960"/>
            <a:ext cx="11091672" cy="640080"/>
          </a:xfrm>
          <a:prstGeom prst="roundRect">
            <a:avLst>
              <a:gd name="adj" fmla="val 11429"/>
            </a:avLst>
          </a:prstGeom>
          <a:solidFill>
            <a:srgbClr val="FFFFFF"/>
          </a:solidFill>
          <a:ln w="12700">
            <a:solidFill>
              <a:srgbClr val="D9DEE2"/>
            </a:solidFill>
            <a:prstDash val="solid"/>
          </a:ln>
        </p:spPr>
      </p:sp>
      <p:sp>
        <p:nvSpPr>
          <p:cNvPr id="12" name="Text 9"/>
          <p:cNvSpPr txBox="1"/>
          <p:nvPr/>
        </p:nvSpPr>
        <p:spPr>
          <a:xfrm>
            <a:off x="777240" y="1965960"/>
            <a:ext cx="6217920" cy="640080"/>
          </a:xfrm>
          <a:prstGeom prst="rect">
            <a:avLst/>
          </a:prstGeom>
          <a:noFill/>
          <a:ln/>
        </p:spPr>
        <p:txBody>
          <a:bodyPr wrap="square" lIns="0" tIns="0" rIns="0" bIns="0" rtlCol="0" anchor="ctr"/>
          <a:lstStyle/>
          <a:p>
            <a:pPr indent="0" marL="0">
              <a:buNone/>
            </a:pPr>
            <a:r>
              <a:rPr lang="en-US" sz="1700" b="1" dirty="0">
                <a:solidFill>
                  <a:srgbClr val="1F2A33"/>
                </a:solidFill>
                <a:latin typeface="Arial" pitchFamily="34" charset="0"/>
                <a:ea typeface="Arial" pitchFamily="34" charset="-122"/>
                <a:cs typeface="Arial" pitchFamily="34" charset="-120"/>
              </a:rPr>
              <a:t>The outcome and done checks</a:t>
            </a:r>
            <a:endParaRPr lang="en-US" sz="1700" dirty="0"/>
          </a:p>
        </p:txBody>
      </p:sp>
      <p:sp>
        <p:nvSpPr>
          <p:cNvPr id="13" name="Shape 10"/>
          <p:cNvSpPr/>
          <p:nvPr/>
        </p:nvSpPr>
        <p:spPr>
          <a:xfrm>
            <a:off x="7653528" y="2103120"/>
            <a:ext cx="365760" cy="365760"/>
          </a:xfrm>
          <a:prstGeom prst="ellipse">
            <a:avLst/>
          </a:prstGeom>
          <a:ln w="25400">
            <a:solidFill>
              <a:srgbClr val="2E8656"/>
            </a:solidFill>
            <a:prstDash val="solid"/>
          </a:ln>
        </p:spPr>
      </p:sp>
      <p:sp>
        <p:nvSpPr>
          <p:cNvPr id="14" name="Shape 11"/>
          <p:cNvSpPr/>
          <p:nvPr/>
        </p:nvSpPr>
        <p:spPr>
          <a:xfrm>
            <a:off x="9208008" y="2103120"/>
            <a:ext cx="365760" cy="365760"/>
          </a:xfrm>
          <a:prstGeom prst="ellipse">
            <a:avLst/>
          </a:prstGeom>
          <a:ln w="25400">
            <a:solidFill>
              <a:srgbClr val="C98A1A"/>
            </a:solidFill>
            <a:prstDash val="solid"/>
          </a:ln>
        </p:spPr>
      </p:sp>
      <p:sp>
        <p:nvSpPr>
          <p:cNvPr id="15" name="Shape 12"/>
          <p:cNvSpPr/>
          <p:nvPr/>
        </p:nvSpPr>
        <p:spPr>
          <a:xfrm>
            <a:off x="10762488" y="2103120"/>
            <a:ext cx="365760" cy="365760"/>
          </a:xfrm>
          <a:prstGeom prst="ellipse">
            <a:avLst/>
          </a:prstGeom>
          <a:ln w="25400">
            <a:solidFill>
              <a:srgbClr val="8A94A4"/>
            </a:solidFill>
            <a:prstDash val="solid"/>
          </a:ln>
        </p:spPr>
      </p:sp>
      <p:sp>
        <p:nvSpPr>
          <p:cNvPr id="16" name="Shape 13"/>
          <p:cNvSpPr/>
          <p:nvPr/>
        </p:nvSpPr>
        <p:spPr>
          <a:xfrm>
            <a:off x="548640" y="2715768"/>
            <a:ext cx="11091672" cy="640080"/>
          </a:xfrm>
          <a:prstGeom prst="roundRect">
            <a:avLst>
              <a:gd name="adj" fmla="val 11429"/>
            </a:avLst>
          </a:prstGeom>
          <a:solidFill>
            <a:srgbClr val="FFFFFF"/>
          </a:solidFill>
          <a:ln w="12700">
            <a:solidFill>
              <a:srgbClr val="D9DEE2"/>
            </a:solidFill>
            <a:prstDash val="solid"/>
          </a:ln>
        </p:spPr>
      </p:sp>
      <p:sp>
        <p:nvSpPr>
          <p:cNvPr id="17" name="Text 14"/>
          <p:cNvSpPr txBox="1"/>
          <p:nvPr/>
        </p:nvSpPr>
        <p:spPr>
          <a:xfrm>
            <a:off x="777240" y="2715768"/>
            <a:ext cx="6217920" cy="640080"/>
          </a:xfrm>
          <a:prstGeom prst="rect">
            <a:avLst/>
          </a:prstGeom>
          <a:noFill/>
          <a:ln/>
        </p:spPr>
        <p:txBody>
          <a:bodyPr wrap="square" lIns="0" tIns="0" rIns="0" bIns="0" rtlCol="0" anchor="ctr"/>
          <a:lstStyle/>
          <a:p>
            <a:pPr indent="0" marL="0">
              <a:buNone/>
            </a:pPr>
            <a:r>
              <a:rPr lang="en-US" sz="1700" b="1" dirty="0">
                <a:solidFill>
                  <a:srgbClr val="1F2A33"/>
                </a:solidFill>
                <a:latin typeface="Arial" pitchFamily="34" charset="0"/>
                <a:ea typeface="Arial" pitchFamily="34" charset="-122"/>
                <a:cs typeface="Arial" pitchFamily="34" charset="-120"/>
              </a:rPr>
              <a:t>Each decision goes to its owner</a:t>
            </a:r>
            <a:endParaRPr lang="en-US" sz="1700" dirty="0"/>
          </a:p>
        </p:txBody>
      </p:sp>
      <p:sp>
        <p:nvSpPr>
          <p:cNvPr id="18" name="Shape 15"/>
          <p:cNvSpPr/>
          <p:nvPr/>
        </p:nvSpPr>
        <p:spPr>
          <a:xfrm>
            <a:off x="7653528" y="2852928"/>
            <a:ext cx="365760" cy="365760"/>
          </a:xfrm>
          <a:prstGeom prst="ellipse">
            <a:avLst/>
          </a:prstGeom>
          <a:ln w="25400">
            <a:solidFill>
              <a:srgbClr val="2E8656"/>
            </a:solidFill>
            <a:prstDash val="solid"/>
          </a:ln>
        </p:spPr>
      </p:sp>
      <p:sp>
        <p:nvSpPr>
          <p:cNvPr id="19" name="Shape 16"/>
          <p:cNvSpPr/>
          <p:nvPr/>
        </p:nvSpPr>
        <p:spPr>
          <a:xfrm>
            <a:off x="9208008" y="2852928"/>
            <a:ext cx="365760" cy="365760"/>
          </a:xfrm>
          <a:prstGeom prst="ellipse">
            <a:avLst/>
          </a:prstGeom>
          <a:ln w="25400">
            <a:solidFill>
              <a:srgbClr val="C98A1A"/>
            </a:solidFill>
            <a:prstDash val="solid"/>
          </a:ln>
        </p:spPr>
      </p:sp>
      <p:sp>
        <p:nvSpPr>
          <p:cNvPr id="20" name="Shape 17"/>
          <p:cNvSpPr/>
          <p:nvPr/>
        </p:nvSpPr>
        <p:spPr>
          <a:xfrm>
            <a:off x="10762488" y="2852928"/>
            <a:ext cx="365760" cy="365760"/>
          </a:xfrm>
          <a:prstGeom prst="ellipse">
            <a:avLst/>
          </a:prstGeom>
          <a:ln w="25400">
            <a:solidFill>
              <a:srgbClr val="8A94A4"/>
            </a:solidFill>
            <a:prstDash val="solid"/>
          </a:ln>
        </p:spPr>
      </p:sp>
      <p:sp>
        <p:nvSpPr>
          <p:cNvPr id="21" name="Shape 18"/>
          <p:cNvSpPr/>
          <p:nvPr/>
        </p:nvSpPr>
        <p:spPr>
          <a:xfrm>
            <a:off x="548640" y="3465576"/>
            <a:ext cx="11091672" cy="640080"/>
          </a:xfrm>
          <a:prstGeom prst="roundRect">
            <a:avLst>
              <a:gd name="adj" fmla="val 11429"/>
            </a:avLst>
          </a:prstGeom>
          <a:solidFill>
            <a:srgbClr val="FFFFFF"/>
          </a:solidFill>
          <a:ln w="12700">
            <a:solidFill>
              <a:srgbClr val="D9DEE2"/>
            </a:solidFill>
            <a:prstDash val="solid"/>
          </a:ln>
        </p:spPr>
      </p:sp>
      <p:sp>
        <p:nvSpPr>
          <p:cNvPr id="22" name="Text 19"/>
          <p:cNvSpPr txBox="1"/>
          <p:nvPr/>
        </p:nvSpPr>
        <p:spPr>
          <a:xfrm>
            <a:off x="777240" y="3465576"/>
            <a:ext cx="6217920" cy="640080"/>
          </a:xfrm>
          <a:prstGeom prst="rect">
            <a:avLst/>
          </a:prstGeom>
          <a:noFill/>
          <a:ln/>
        </p:spPr>
        <p:txBody>
          <a:bodyPr wrap="square" lIns="0" tIns="0" rIns="0" bIns="0" rtlCol="0" anchor="ctr"/>
          <a:lstStyle/>
          <a:p>
            <a:pPr indent="0" marL="0">
              <a:buNone/>
            </a:pPr>
            <a:r>
              <a:rPr lang="en-US" sz="1700" b="1" dirty="0">
                <a:solidFill>
                  <a:srgbClr val="1F2A33"/>
                </a:solidFill>
                <a:latin typeface="Arial" pitchFamily="34" charset="0"/>
                <a:ea typeface="Arial" pitchFamily="34" charset="-122"/>
                <a:cs typeface="Arial" pitchFamily="34" charset="-120"/>
              </a:rPr>
              <a:t>A rule check on every step</a:t>
            </a:r>
            <a:endParaRPr lang="en-US" sz="1700" dirty="0"/>
          </a:p>
        </p:txBody>
      </p:sp>
      <p:sp>
        <p:nvSpPr>
          <p:cNvPr id="23" name="Shape 20"/>
          <p:cNvSpPr/>
          <p:nvPr/>
        </p:nvSpPr>
        <p:spPr>
          <a:xfrm>
            <a:off x="7653528" y="3602736"/>
            <a:ext cx="365760" cy="365760"/>
          </a:xfrm>
          <a:prstGeom prst="ellipse">
            <a:avLst/>
          </a:prstGeom>
          <a:ln w="25400">
            <a:solidFill>
              <a:srgbClr val="2E8656"/>
            </a:solidFill>
            <a:prstDash val="solid"/>
          </a:ln>
        </p:spPr>
      </p:sp>
      <p:sp>
        <p:nvSpPr>
          <p:cNvPr id="24" name="Shape 21"/>
          <p:cNvSpPr/>
          <p:nvPr/>
        </p:nvSpPr>
        <p:spPr>
          <a:xfrm>
            <a:off x="9208008" y="3602736"/>
            <a:ext cx="365760" cy="365760"/>
          </a:xfrm>
          <a:prstGeom prst="ellipse">
            <a:avLst/>
          </a:prstGeom>
          <a:ln w="25400">
            <a:solidFill>
              <a:srgbClr val="C98A1A"/>
            </a:solidFill>
            <a:prstDash val="solid"/>
          </a:ln>
        </p:spPr>
      </p:sp>
      <p:sp>
        <p:nvSpPr>
          <p:cNvPr id="25" name="Shape 22"/>
          <p:cNvSpPr/>
          <p:nvPr/>
        </p:nvSpPr>
        <p:spPr>
          <a:xfrm>
            <a:off x="10762488" y="3602736"/>
            <a:ext cx="365760" cy="365760"/>
          </a:xfrm>
          <a:prstGeom prst="ellipse">
            <a:avLst/>
          </a:prstGeom>
          <a:ln w="25400">
            <a:solidFill>
              <a:srgbClr val="8A94A4"/>
            </a:solidFill>
            <a:prstDash val="solid"/>
          </a:ln>
        </p:spPr>
      </p:sp>
      <p:sp>
        <p:nvSpPr>
          <p:cNvPr id="26" name="Shape 23"/>
          <p:cNvSpPr/>
          <p:nvPr/>
        </p:nvSpPr>
        <p:spPr>
          <a:xfrm>
            <a:off x="548640" y="4215384"/>
            <a:ext cx="11091672" cy="640080"/>
          </a:xfrm>
          <a:prstGeom prst="roundRect">
            <a:avLst>
              <a:gd name="adj" fmla="val 11429"/>
            </a:avLst>
          </a:prstGeom>
          <a:solidFill>
            <a:srgbClr val="FFFFFF"/>
          </a:solidFill>
          <a:ln w="12700">
            <a:solidFill>
              <a:srgbClr val="D9DEE2"/>
            </a:solidFill>
            <a:prstDash val="solid"/>
          </a:ln>
        </p:spPr>
      </p:sp>
      <p:sp>
        <p:nvSpPr>
          <p:cNvPr id="27" name="Text 24"/>
          <p:cNvSpPr txBox="1"/>
          <p:nvPr/>
        </p:nvSpPr>
        <p:spPr>
          <a:xfrm>
            <a:off x="777240" y="4215384"/>
            <a:ext cx="6217920" cy="640080"/>
          </a:xfrm>
          <a:prstGeom prst="rect">
            <a:avLst/>
          </a:prstGeom>
          <a:noFill/>
          <a:ln/>
        </p:spPr>
        <p:txBody>
          <a:bodyPr wrap="square" lIns="0" tIns="0" rIns="0" bIns="0" rtlCol="0" anchor="ctr"/>
          <a:lstStyle/>
          <a:p>
            <a:pPr indent="0" marL="0">
              <a:buNone/>
            </a:pPr>
            <a:r>
              <a:rPr lang="en-US" sz="1700" b="1" dirty="0">
                <a:solidFill>
                  <a:srgbClr val="1F2A33"/>
                </a:solidFill>
                <a:latin typeface="Arial" pitchFamily="34" charset="0"/>
                <a:ea typeface="Arial" pitchFamily="34" charset="-122"/>
                <a:cs typeface="Arial" pitchFamily="34" charset="-120"/>
              </a:rPr>
              <a:t>A record of every step</a:t>
            </a:r>
            <a:endParaRPr lang="en-US" sz="1700" dirty="0"/>
          </a:p>
        </p:txBody>
      </p:sp>
      <p:sp>
        <p:nvSpPr>
          <p:cNvPr id="28" name="Shape 25"/>
          <p:cNvSpPr/>
          <p:nvPr/>
        </p:nvSpPr>
        <p:spPr>
          <a:xfrm>
            <a:off x="7653528" y="4352544"/>
            <a:ext cx="365760" cy="365760"/>
          </a:xfrm>
          <a:prstGeom prst="ellipse">
            <a:avLst/>
          </a:prstGeom>
          <a:ln w="25400">
            <a:solidFill>
              <a:srgbClr val="2E8656"/>
            </a:solidFill>
            <a:prstDash val="solid"/>
          </a:ln>
        </p:spPr>
      </p:sp>
      <p:sp>
        <p:nvSpPr>
          <p:cNvPr id="29" name="Shape 26"/>
          <p:cNvSpPr/>
          <p:nvPr/>
        </p:nvSpPr>
        <p:spPr>
          <a:xfrm>
            <a:off x="9208008" y="4352544"/>
            <a:ext cx="365760" cy="365760"/>
          </a:xfrm>
          <a:prstGeom prst="ellipse">
            <a:avLst/>
          </a:prstGeom>
          <a:ln w="25400">
            <a:solidFill>
              <a:srgbClr val="C98A1A"/>
            </a:solidFill>
            <a:prstDash val="solid"/>
          </a:ln>
        </p:spPr>
      </p:sp>
      <p:sp>
        <p:nvSpPr>
          <p:cNvPr id="30" name="Shape 27"/>
          <p:cNvSpPr/>
          <p:nvPr/>
        </p:nvSpPr>
        <p:spPr>
          <a:xfrm>
            <a:off x="10762488" y="4352544"/>
            <a:ext cx="365760" cy="365760"/>
          </a:xfrm>
          <a:prstGeom prst="ellipse">
            <a:avLst/>
          </a:prstGeom>
          <a:ln w="25400">
            <a:solidFill>
              <a:srgbClr val="8A94A4"/>
            </a:solidFill>
            <a:prstDash val="solid"/>
          </a:ln>
        </p:spPr>
      </p:sp>
      <p:sp>
        <p:nvSpPr>
          <p:cNvPr id="31" name="Shape 28"/>
          <p:cNvSpPr/>
          <p:nvPr/>
        </p:nvSpPr>
        <p:spPr>
          <a:xfrm>
            <a:off x="548640" y="4965192"/>
            <a:ext cx="11091672" cy="640080"/>
          </a:xfrm>
          <a:prstGeom prst="roundRect">
            <a:avLst>
              <a:gd name="adj" fmla="val 11429"/>
            </a:avLst>
          </a:prstGeom>
          <a:solidFill>
            <a:srgbClr val="FFFFFF"/>
          </a:solidFill>
          <a:ln w="12700">
            <a:solidFill>
              <a:srgbClr val="D9DEE2"/>
            </a:solidFill>
            <a:prstDash val="solid"/>
          </a:ln>
        </p:spPr>
      </p:sp>
      <p:sp>
        <p:nvSpPr>
          <p:cNvPr id="32" name="Text 29"/>
          <p:cNvSpPr txBox="1"/>
          <p:nvPr/>
        </p:nvSpPr>
        <p:spPr>
          <a:xfrm>
            <a:off x="777240" y="4965192"/>
            <a:ext cx="6217920" cy="640080"/>
          </a:xfrm>
          <a:prstGeom prst="rect">
            <a:avLst/>
          </a:prstGeom>
          <a:noFill/>
          <a:ln/>
        </p:spPr>
        <p:txBody>
          <a:bodyPr wrap="square" lIns="0" tIns="0" rIns="0" bIns="0" rtlCol="0" anchor="ctr"/>
          <a:lstStyle/>
          <a:p>
            <a:pPr indent="0" marL="0">
              <a:buNone/>
            </a:pPr>
            <a:r>
              <a:rPr lang="en-US" sz="1700" b="1" dirty="0">
                <a:solidFill>
                  <a:srgbClr val="1F2A33"/>
                </a:solidFill>
                <a:latin typeface="Arial" pitchFamily="34" charset="0"/>
                <a:ea typeface="Arial" pitchFamily="34" charset="-122"/>
                <a:cs typeface="Arial" pitchFamily="34" charset="-120"/>
              </a:rPr>
              <a:t>Test data that looks like Kyndryl's records</a:t>
            </a:r>
            <a:endParaRPr lang="en-US" sz="1700" dirty="0"/>
          </a:p>
        </p:txBody>
      </p:sp>
      <p:sp>
        <p:nvSpPr>
          <p:cNvPr id="33" name="Shape 30"/>
          <p:cNvSpPr/>
          <p:nvPr/>
        </p:nvSpPr>
        <p:spPr>
          <a:xfrm>
            <a:off x="7653528" y="5102352"/>
            <a:ext cx="365760" cy="365760"/>
          </a:xfrm>
          <a:prstGeom prst="ellipse">
            <a:avLst/>
          </a:prstGeom>
          <a:ln w="25400">
            <a:solidFill>
              <a:srgbClr val="2E8656"/>
            </a:solidFill>
            <a:prstDash val="solid"/>
          </a:ln>
        </p:spPr>
      </p:sp>
      <p:sp>
        <p:nvSpPr>
          <p:cNvPr id="34" name="Shape 31"/>
          <p:cNvSpPr/>
          <p:nvPr/>
        </p:nvSpPr>
        <p:spPr>
          <a:xfrm>
            <a:off x="9208008" y="5102352"/>
            <a:ext cx="365760" cy="365760"/>
          </a:xfrm>
          <a:prstGeom prst="ellipse">
            <a:avLst/>
          </a:prstGeom>
          <a:ln w="25400">
            <a:solidFill>
              <a:srgbClr val="C98A1A"/>
            </a:solidFill>
            <a:prstDash val="solid"/>
          </a:ln>
        </p:spPr>
      </p:sp>
      <p:sp>
        <p:nvSpPr>
          <p:cNvPr id="35" name="Shape 32"/>
          <p:cNvSpPr/>
          <p:nvPr/>
        </p:nvSpPr>
        <p:spPr>
          <a:xfrm>
            <a:off x="10762488" y="5102352"/>
            <a:ext cx="365760" cy="365760"/>
          </a:xfrm>
          <a:prstGeom prst="ellipse">
            <a:avLst/>
          </a:prstGeom>
          <a:ln w="25400">
            <a:solidFill>
              <a:srgbClr val="8A94A4"/>
            </a:solidFill>
            <a:prstDash val="solid"/>
          </a:ln>
        </p:spPr>
      </p:sp>
      <p:sp>
        <p:nvSpPr>
          <p:cNvPr id="36" name="Shape 33"/>
          <p:cNvSpPr/>
          <p:nvPr/>
        </p:nvSpPr>
        <p:spPr>
          <a:xfrm>
            <a:off x="548640" y="5806440"/>
            <a:ext cx="11091672" cy="457200"/>
          </a:xfrm>
          <a:prstGeom prst="roundRect">
            <a:avLst>
              <a:gd name="adj" fmla="val 16000"/>
            </a:avLst>
          </a:prstGeom>
          <a:solidFill>
            <a:srgbClr val="F2F4F5"/>
          </a:solidFill>
          <a:ln/>
        </p:spPr>
      </p:sp>
      <p:sp>
        <p:nvSpPr>
          <p:cNvPr id="37" name="Text 34"/>
          <p:cNvSpPr txBox="1"/>
          <p:nvPr/>
        </p:nvSpPr>
        <p:spPr>
          <a:xfrm>
            <a:off x="777240" y="5806440"/>
            <a:ext cx="10607040" cy="457200"/>
          </a:xfrm>
          <a:prstGeom prst="rect">
            <a:avLst/>
          </a:prstGeom>
          <a:noFill/>
          <a:ln/>
        </p:spPr>
        <p:txBody>
          <a:bodyPr wrap="square" lIns="0" tIns="0" rIns="0" bIns="0" rtlCol="0" anchor="ctr"/>
          <a:lstStyle/>
          <a:p>
            <a:pPr indent="0" marL="0">
              <a:buNone/>
            </a:pPr>
            <a:r>
              <a:rPr lang="en-US" sz="1350" dirty="0">
                <a:solidFill>
                  <a:srgbClr val="1F2A33"/>
                </a:solidFill>
                <a:latin typeface="Arial" pitchFamily="34" charset="0"/>
                <a:ea typeface="Arial" pitchFamily="34" charset="-122"/>
                <a:cs typeface="Arial" pitchFamily="34" charset="-120"/>
              </a:rPr>
              <a:t>A simple copy: a stand-in for a real system, with test data, labelled on screen.</a:t>
            </a:r>
            <a:endParaRPr lang="en-US" sz="13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 NAME AND A BACKUP FOR EACH</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Decision seats for tomorrow</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16:15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106</a:t>
            </a:r>
            <a:endParaRPr lang="en-US" sz="1000" dirty="0"/>
          </a:p>
        </p:txBody>
      </p:sp>
      <p:sp>
        <p:nvSpPr>
          <p:cNvPr id="7" name="Shape 4"/>
          <p:cNvSpPr/>
          <p:nvPr/>
        </p:nvSpPr>
        <p:spPr>
          <a:xfrm>
            <a:off x="548640" y="1508760"/>
            <a:ext cx="2651760" cy="2148840"/>
          </a:xfrm>
          <a:prstGeom prst="roundRect">
            <a:avLst>
              <a:gd name="adj" fmla="val 3404"/>
            </a:avLst>
          </a:prstGeom>
          <a:solidFill>
            <a:srgbClr val="FFFFFF"/>
          </a:solidFill>
          <a:ln w="12700">
            <a:solidFill>
              <a:srgbClr val="D9DEE2"/>
            </a:solidFill>
            <a:prstDash val="solid"/>
          </a:ln>
        </p:spPr>
      </p:sp>
      <p:pic>
        <p:nvPicPr>
          <p:cNvPr id="8" name="Image 1" descr="/private/tmp/claude-501/-Users-salehhamed-Outcome-Engine/91861432-41e2-4884-bc97-63c6dff2d021/scratchpad/wk/icons/TbFlag-amber.png">    </p:cNvPr>
          <p:cNvPicPr>
            <a:picLocks noChangeAspect="1"/>
          </p:cNvPicPr>
          <p:nvPr/>
        </p:nvPicPr>
        <p:blipFill>
          <a:blip r:embed="rId4"/>
          <a:stretch>
            <a:fillRect/>
          </a:stretch>
        </p:blipFill>
        <p:spPr>
          <a:xfrm>
            <a:off x="685800" y="1645920"/>
            <a:ext cx="457200" cy="457200"/>
          </a:xfrm>
          <a:prstGeom prst="rect">
            <a:avLst/>
          </a:prstGeom>
        </p:spPr>
      </p:pic>
      <p:sp>
        <p:nvSpPr>
          <p:cNvPr id="9" name="Text 5"/>
          <p:cNvSpPr txBox="1"/>
          <p:nvPr/>
        </p:nvSpPr>
        <p:spPr>
          <a:xfrm>
            <a:off x="1234440" y="1600200"/>
            <a:ext cx="1874520" cy="685800"/>
          </a:xfrm>
          <a:prstGeom prst="rect">
            <a:avLst/>
          </a:prstGeom>
          <a:noFill/>
          <a:ln/>
        </p:spPr>
        <p:txBody>
          <a:bodyPr wrap="square" lIns="0" tIns="0" rIns="0" bIns="0" rtlCol="0" anchor="ctr"/>
          <a:lstStyle/>
          <a:p>
            <a:pPr indent="0" marL="0">
              <a:buNone/>
            </a:pPr>
            <a:r>
              <a:rPr lang="en-US" sz="1250" b="1" dirty="0">
                <a:solidFill>
                  <a:srgbClr val="1F2A33"/>
                </a:solidFill>
                <a:latin typeface="Arial" pitchFamily="34" charset="0"/>
                <a:ea typeface="Arial" pitchFamily="34" charset="-122"/>
                <a:cs typeface="Arial" pitchFamily="34" charset="-120"/>
              </a:rPr>
              <a:t>Is the demand real enough to start?</a:t>
            </a:r>
            <a:endParaRPr lang="en-US" sz="1250" dirty="0"/>
          </a:p>
        </p:txBody>
      </p:sp>
      <p:sp>
        <p:nvSpPr>
          <p:cNvPr id="10" name="Text 6"/>
          <p:cNvSpPr txBox="1"/>
          <p:nvPr/>
        </p:nvSpPr>
        <p:spPr>
          <a:xfrm>
            <a:off x="685800" y="2423160"/>
            <a:ext cx="914400" cy="274320"/>
          </a:xfrm>
          <a:prstGeom prst="rect">
            <a:avLst/>
          </a:prstGeom>
          <a:noFill/>
          <a:ln/>
        </p:spPr>
        <p:txBody>
          <a:bodyPr wrap="square" lIns="0" tIns="0" rIns="0" bIns="0" rtlCol="0" anchor="t"/>
          <a:lstStyle/>
          <a:p>
            <a:pPr indent="0" marL="0">
              <a:buNone/>
            </a:pPr>
            <a:r>
              <a:rPr lang="en-US" sz="1050" dirty="0">
                <a:solidFill>
                  <a:srgbClr val="5A5A5A"/>
                </a:solidFill>
                <a:latin typeface="Arial" pitchFamily="34" charset="0"/>
                <a:ea typeface="Arial" pitchFamily="34" charset="-122"/>
                <a:cs typeface="Arial" pitchFamily="34" charset="-120"/>
              </a:rPr>
              <a:t>Owner</a:t>
            </a:r>
            <a:endParaRPr lang="en-US" sz="1050" dirty="0"/>
          </a:p>
        </p:txBody>
      </p:sp>
      <p:sp>
        <p:nvSpPr>
          <p:cNvPr id="11" name="Shape 7"/>
          <p:cNvSpPr/>
          <p:nvPr/>
        </p:nvSpPr>
        <p:spPr>
          <a:xfrm>
            <a:off x="685800" y="2926080"/>
            <a:ext cx="2377440" cy="914"/>
          </a:xfrm>
          <a:prstGeom prst="line">
            <a:avLst/>
          </a:prstGeom>
          <a:noFill/>
          <a:ln w="12700">
            <a:solidFill>
              <a:srgbClr val="D9DEE2"/>
            </a:solidFill>
            <a:prstDash val="solid"/>
          </a:ln>
        </p:spPr>
      </p:sp>
      <p:sp>
        <p:nvSpPr>
          <p:cNvPr id="12" name="Text 8"/>
          <p:cNvSpPr txBox="1"/>
          <p:nvPr/>
        </p:nvSpPr>
        <p:spPr>
          <a:xfrm>
            <a:off x="685800" y="2990088"/>
            <a:ext cx="914400" cy="274320"/>
          </a:xfrm>
          <a:prstGeom prst="rect">
            <a:avLst/>
          </a:prstGeom>
          <a:noFill/>
          <a:ln/>
        </p:spPr>
        <p:txBody>
          <a:bodyPr wrap="square" lIns="0" tIns="0" rIns="0" bIns="0" rtlCol="0" anchor="t"/>
          <a:lstStyle/>
          <a:p>
            <a:pPr indent="0" marL="0">
              <a:buNone/>
            </a:pPr>
            <a:r>
              <a:rPr lang="en-US" sz="1050" dirty="0">
                <a:solidFill>
                  <a:srgbClr val="5A5A5A"/>
                </a:solidFill>
                <a:latin typeface="Arial" pitchFamily="34" charset="0"/>
                <a:ea typeface="Arial" pitchFamily="34" charset="-122"/>
                <a:cs typeface="Arial" pitchFamily="34" charset="-120"/>
              </a:rPr>
              <a:t>Backup</a:t>
            </a:r>
            <a:endParaRPr lang="en-US" sz="1050" dirty="0"/>
          </a:p>
        </p:txBody>
      </p:sp>
      <p:sp>
        <p:nvSpPr>
          <p:cNvPr id="13" name="Shape 9"/>
          <p:cNvSpPr/>
          <p:nvPr/>
        </p:nvSpPr>
        <p:spPr>
          <a:xfrm>
            <a:off x="685800" y="3474720"/>
            <a:ext cx="2377440" cy="914"/>
          </a:xfrm>
          <a:prstGeom prst="line">
            <a:avLst/>
          </a:prstGeom>
          <a:noFill/>
          <a:ln w="12700">
            <a:solidFill>
              <a:srgbClr val="D9DEE2"/>
            </a:solidFill>
            <a:prstDash val="solid"/>
          </a:ln>
        </p:spPr>
      </p:sp>
      <p:sp>
        <p:nvSpPr>
          <p:cNvPr id="14" name="Shape 10"/>
          <p:cNvSpPr/>
          <p:nvPr/>
        </p:nvSpPr>
        <p:spPr>
          <a:xfrm>
            <a:off x="3364992" y="1508760"/>
            <a:ext cx="2651760" cy="2148840"/>
          </a:xfrm>
          <a:prstGeom prst="roundRect">
            <a:avLst>
              <a:gd name="adj" fmla="val 3404"/>
            </a:avLst>
          </a:prstGeom>
          <a:solidFill>
            <a:srgbClr val="FFFFFF"/>
          </a:solidFill>
          <a:ln w="12700">
            <a:solidFill>
              <a:srgbClr val="D9DEE2"/>
            </a:solidFill>
            <a:prstDash val="solid"/>
          </a:ln>
        </p:spPr>
      </p:sp>
      <p:pic>
        <p:nvPicPr>
          <p:cNvPr id="15" name="Image 2" descr="/private/tmp/claude-501/-Users-salehhamed-Outcome-Engine/91861432-41e2-4884-bc97-63c6dff2d021/scratchpad/wk/icons/TbClipboardCheck-amber.png">    </p:cNvPr>
          <p:cNvPicPr>
            <a:picLocks noChangeAspect="1"/>
          </p:cNvPicPr>
          <p:nvPr/>
        </p:nvPicPr>
        <p:blipFill>
          <a:blip r:embed="rId5"/>
          <a:stretch>
            <a:fillRect/>
          </a:stretch>
        </p:blipFill>
        <p:spPr>
          <a:xfrm>
            <a:off x="3502152" y="1645920"/>
            <a:ext cx="457200" cy="457200"/>
          </a:xfrm>
          <a:prstGeom prst="rect">
            <a:avLst/>
          </a:prstGeom>
        </p:spPr>
      </p:pic>
      <p:sp>
        <p:nvSpPr>
          <p:cNvPr id="16" name="Text 11"/>
          <p:cNvSpPr txBox="1"/>
          <p:nvPr/>
        </p:nvSpPr>
        <p:spPr>
          <a:xfrm>
            <a:off x="4050792" y="1600200"/>
            <a:ext cx="1874520" cy="685800"/>
          </a:xfrm>
          <a:prstGeom prst="rect">
            <a:avLst/>
          </a:prstGeom>
          <a:noFill/>
          <a:ln/>
        </p:spPr>
        <p:txBody>
          <a:bodyPr wrap="square" lIns="0" tIns="0" rIns="0" bIns="0" rtlCol="0" anchor="ctr"/>
          <a:lstStyle/>
          <a:p>
            <a:pPr indent="0" marL="0">
              <a:buNone/>
            </a:pPr>
            <a:r>
              <a:rPr lang="en-US" sz="1250" b="1" dirty="0">
                <a:solidFill>
                  <a:srgbClr val="1F2A33"/>
                </a:solidFill>
                <a:latin typeface="Arial" pitchFamily="34" charset="0"/>
                <a:ea typeface="Arial" pitchFamily="34" charset="-122"/>
                <a:cs typeface="Arial" pitchFamily="34" charset="-120"/>
              </a:rPr>
              <a:t>Is the requirement complete enough for staffing?</a:t>
            </a:r>
            <a:endParaRPr lang="en-US" sz="1250" dirty="0"/>
          </a:p>
        </p:txBody>
      </p:sp>
      <p:sp>
        <p:nvSpPr>
          <p:cNvPr id="17" name="Text 12"/>
          <p:cNvSpPr txBox="1"/>
          <p:nvPr/>
        </p:nvSpPr>
        <p:spPr>
          <a:xfrm>
            <a:off x="3502152" y="2423160"/>
            <a:ext cx="914400" cy="274320"/>
          </a:xfrm>
          <a:prstGeom prst="rect">
            <a:avLst/>
          </a:prstGeom>
          <a:noFill/>
          <a:ln/>
        </p:spPr>
        <p:txBody>
          <a:bodyPr wrap="square" lIns="0" tIns="0" rIns="0" bIns="0" rtlCol="0" anchor="t"/>
          <a:lstStyle/>
          <a:p>
            <a:pPr indent="0" marL="0">
              <a:buNone/>
            </a:pPr>
            <a:r>
              <a:rPr lang="en-US" sz="1050" dirty="0">
                <a:solidFill>
                  <a:srgbClr val="5A5A5A"/>
                </a:solidFill>
                <a:latin typeface="Arial" pitchFamily="34" charset="0"/>
                <a:ea typeface="Arial" pitchFamily="34" charset="-122"/>
                <a:cs typeface="Arial" pitchFamily="34" charset="-120"/>
              </a:rPr>
              <a:t>Owner</a:t>
            </a:r>
            <a:endParaRPr lang="en-US" sz="1050" dirty="0"/>
          </a:p>
        </p:txBody>
      </p:sp>
      <p:sp>
        <p:nvSpPr>
          <p:cNvPr id="18" name="Shape 13"/>
          <p:cNvSpPr/>
          <p:nvPr/>
        </p:nvSpPr>
        <p:spPr>
          <a:xfrm>
            <a:off x="3502152" y="2926080"/>
            <a:ext cx="2377440" cy="914"/>
          </a:xfrm>
          <a:prstGeom prst="line">
            <a:avLst/>
          </a:prstGeom>
          <a:noFill/>
          <a:ln w="12700">
            <a:solidFill>
              <a:srgbClr val="D9DEE2"/>
            </a:solidFill>
            <a:prstDash val="solid"/>
          </a:ln>
        </p:spPr>
      </p:sp>
      <p:sp>
        <p:nvSpPr>
          <p:cNvPr id="19" name="Text 14"/>
          <p:cNvSpPr txBox="1"/>
          <p:nvPr/>
        </p:nvSpPr>
        <p:spPr>
          <a:xfrm>
            <a:off x="3502152" y="2990088"/>
            <a:ext cx="914400" cy="274320"/>
          </a:xfrm>
          <a:prstGeom prst="rect">
            <a:avLst/>
          </a:prstGeom>
          <a:noFill/>
          <a:ln/>
        </p:spPr>
        <p:txBody>
          <a:bodyPr wrap="square" lIns="0" tIns="0" rIns="0" bIns="0" rtlCol="0" anchor="t"/>
          <a:lstStyle/>
          <a:p>
            <a:pPr indent="0" marL="0">
              <a:buNone/>
            </a:pPr>
            <a:r>
              <a:rPr lang="en-US" sz="1050" dirty="0">
                <a:solidFill>
                  <a:srgbClr val="5A5A5A"/>
                </a:solidFill>
                <a:latin typeface="Arial" pitchFamily="34" charset="0"/>
                <a:ea typeface="Arial" pitchFamily="34" charset="-122"/>
                <a:cs typeface="Arial" pitchFamily="34" charset="-120"/>
              </a:rPr>
              <a:t>Backup</a:t>
            </a:r>
            <a:endParaRPr lang="en-US" sz="1050" dirty="0"/>
          </a:p>
        </p:txBody>
      </p:sp>
      <p:sp>
        <p:nvSpPr>
          <p:cNvPr id="20" name="Shape 15"/>
          <p:cNvSpPr/>
          <p:nvPr/>
        </p:nvSpPr>
        <p:spPr>
          <a:xfrm>
            <a:off x="3502152" y="3474720"/>
            <a:ext cx="2377440" cy="914"/>
          </a:xfrm>
          <a:prstGeom prst="line">
            <a:avLst/>
          </a:prstGeom>
          <a:noFill/>
          <a:ln w="12700">
            <a:solidFill>
              <a:srgbClr val="D9DEE2"/>
            </a:solidFill>
            <a:prstDash val="solid"/>
          </a:ln>
        </p:spPr>
      </p:sp>
      <p:sp>
        <p:nvSpPr>
          <p:cNvPr id="21" name="Shape 16"/>
          <p:cNvSpPr/>
          <p:nvPr/>
        </p:nvSpPr>
        <p:spPr>
          <a:xfrm>
            <a:off x="6181344" y="1508760"/>
            <a:ext cx="2651760" cy="2148840"/>
          </a:xfrm>
          <a:prstGeom prst="roundRect">
            <a:avLst>
              <a:gd name="adj" fmla="val 3404"/>
            </a:avLst>
          </a:prstGeom>
          <a:solidFill>
            <a:srgbClr val="FFFFFF"/>
          </a:solidFill>
          <a:ln w="12700">
            <a:solidFill>
              <a:srgbClr val="D9DEE2"/>
            </a:solidFill>
            <a:prstDash val="solid"/>
          </a:ln>
        </p:spPr>
      </p:sp>
      <p:pic>
        <p:nvPicPr>
          <p:cNvPr id="22" name="Image 3" descr="/private/tmp/claude-501/-Users-salehhamed-Outcome-Engine/91861432-41e2-4884-bc97-63c6dff2d021/scratchpad/wk/icons/TbUserCheck-amber.png">    </p:cNvPr>
          <p:cNvPicPr>
            <a:picLocks noChangeAspect="1"/>
          </p:cNvPicPr>
          <p:nvPr/>
        </p:nvPicPr>
        <p:blipFill>
          <a:blip r:embed="rId6"/>
          <a:stretch>
            <a:fillRect/>
          </a:stretch>
        </p:blipFill>
        <p:spPr>
          <a:xfrm>
            <a:off x="6318504" y="1645920"/>
            <a:ext cx="457200" cy="457200"/>
          </a:xfrm>
          <a:prstGeom prst="rect">
            <a:avLst/>
          </a:prstGeom>
        </p:spPr>
      </p:pic>
      <p:sp>
        <p:nvSpPr>
          <p:cNvPr id="23" name="Text 17"/>
          <p:cNvSpPr txBox="1"/>
          <p:nvPr/>
        </p:nvSpPr>
        <p:spPr>
          <a:xfrm>
            <a:off x="6867144" y="1600200"/>
            <a:ext cx="1874520" cy="685800"/>
          </a:xfrm>
          <a:prstGeom prst="rect">
            <a:avLst/>
          </a:prstGeom>
          <a:noFill/>
          <a:ln/>
        </p:spPr>
        <p:txBody>
          <a:bodyPr wrap="square" lIns="0" tIns="0" rIns="0" bIns="0" rtlCol="0" anchor="ctr"/>
          <a:lstStyle/>
          <a:p>
            <a:pPr indent="0" marL="0">
              <a:buNone/>
            </a:pPr>
            <a:r>
              <a:rPr lang="en-US" sz="1250" b="1" dirty="0">
                <a:solidFill>
                  <a:srgbClr val="1F2A33"/>
                </a:solidFill>
                <a:latin typeface="Arial" pitchFamily="34" charset="0"/>
                <a:ea typeface="Arial" pitchFamily="34" charset="-122"/>
                <a:cs typeface="Arial" pitchFamily="34" charset="-120"/>
              </a:rPr>
              <a:t>Is the person really free?</a:t>
            </a:r>
            <a:endParaRPr lang="en-US" sz="1250" dirty="0"/>
          </a:p>
        </p:txBody>
      </p:sp>
      <p:sp>
        <p:nvSpPr>
          <p:cNvPr id="24" name="Text 18"/>
          <p:cNvSpPr txBox="1"/>
          <p:nvPr/>
        </p:nvSpPr>
        <p:spPr>
          <a:xfrm>
            <a:off x="6318504" y="2423160"/>
            <a:ext cx="914400" cy="274320"/>
          </a:xfrm>
          <a:prstGeom prst="rect">
            <a:avLst/>
          </a:prstGeom>
          <a:noFill/>
          <a:ln/>
        </p:spPr>
        <p:txBody>
          <a:bodyPr wrap="square" lIns="0" tIns="0" rIns="0" bIns="0" rtlCol="0" anchor="t"/>
          <a:lstStyle/>
          <a:p>
            <a:pPr indent="0" marL="0">
              <a:buNone/>
            </a:pPr>
            <a:r>
              <a:rPr lang="en-US" sz="1050" dirty="0">
                <a:solidFill>
                  <a:srgbClr val="5A5A5A"/>
                </a:solidFill>
                <a:latin typeface="Arial" pitchFamily="34" charset="0"/>
                <a:ea typeface="Arial" pitchFamily="34" charset="-122"/>
                <a:cs typeface="Arial" pitchFamily="34" charset="-120"/>
              </a:rPr>
              <a:t>Owner</a:t>
            </a:r>
            <a:endParaRPr lang="en-US" sz="1050" dirty="0"/>
          </a:p>
        </p:txBody>
      </p:sp>
      <p:sp>
        <p:nvSpPr>
          <p:cNvPr id="25" name="Shape 19"/>
          <p:cNvSpPr/>
          <p:nvPr/>
        </p:nvSpPr>
        <p:spPr>
          <a:xfrm>
            <a:off x="6318504" y="2926080"/>
            <a:ext cx="2377440" cy="914"/>
          </a:xfrm>
          <a:prstGeom prst="line">
            <a:avLst/>
          </a:prstGeom>
          <a:noFill/>
          <a:ln w="12700">
            <a:solidFill>
              <a:srgbClr val="D9DEE2"/>
            </a:solidFill>
            <a:prstDash val="solid"/>
          </a:ln>
        </p:spPr>
      </p:sp>
      <p:sp>
        <p:nvSpPr>
          <p:cNvPr id="26" name="Text 20"/>
          <p:cNvSpPr txBox="1"/>
          <p:nvPr/>
        </p:nvSpPr>
        <p:spPr>
          <a:xfrm>
            <a:off x="6318504" y="2990088"/>
            <a:ext cx="914400" cy="274320"/>
          </a:xfrm>
          <a:prstGeom prst="rect">
            <a:avLst/>
          </a:prstGeom>
          <a:noFill/>
          <a:ln/>
        </p:spPr>
        <p:txBody>
          <a:bodyPr wrap="square" lIns="0" tIns="0" rIns="0" bIns="0" rtlCol="0" anchor="t"/>
          <a:lstStyle/>
          <a:p>
            <a:pPr indent="0" marL="0">
              <a:buNone/>
            </a:pPr>
            <a:r>
              <a:rPr lang="en-US" sz="1050" dirty="0">
                <a:solidFill>
                  <a:srgbClr val="5A5A5A"/>
                </a:solidFill>
                <a:latin typeface="Arial" pitchFamily="34" charset="0"/>
                <a:ea typeface="Arial" pitchFamily="34" charset="-122"/>
                <a:cs typeface="Arial" pitchFamily="34" charset="-120"/>
              </a:rPr>
              <a:t>Backup</a:t>
            </a:r>
            <a:endParaRPr lang="en-US" sz="1050" dirty="0"/>
          </a:p>
        </p:txBody>
      </p:sp>
      <p:sp>
        <p:nvSpPr>
          <p:cNvPr id="27" name="Shape 21"/>
          <p:cNvSpPr/>
          <p:nvPr/>
        </p:nvSpPr>
        <p:spPr>
          <a:xfrm>
            <a:off x="6318504" y="3474720"/>
            <a:ext cx="2377440" cy="914"/>
          </a:xfrm>
          <a:prstGeom prst="line">
            <a:avLst/>
          </a:prstGeom>
          <a:noFill/>
          <a:ln w="12700">
            <a:solidFill>
              <a:srgbClr val="D9DEE2"/>
            </a:solidFill>
            <a:prstDash val="solid"/>
          </a:ln>
        </p:spPr>
      </p:sp>
      <p:sp>
        <p:nvSpPr>
          <p:cNvPr id="28" name="Shape 22"/>
          <p:cNvSpPr/>
          <p:nvPr/>
        </p:nvSpPr>
        <p:spPr>
          <a:xfrm>
            <a:off x="8997696" y="1508760"/>
            <a:ext cx="2651760" cy="2148840"/>
          </a:xfrm>
          <a:prstGeom prst="roundRect">
            <a:avLst>
              <a:gd name="adj" fmla="val 3404"/>
            </a:avLst>
          </a:prstGeom>
          <a:solidFill>
            <a:srgbClr val="FFFFFF"/>
          </a:solidFill>
          <a:ln w="12700">
            <a:solidFill>
              <a:srgbClr val="D9DEE2"/>
            </a:solidFill>
            <a:prstDash val="solid"/>
          </a:ln>
        </p:spPr>
      </p:sp>
      <p:pic>
        <p:nvPicPr>
          <p:cNvPr id="29" name="Image 4" descr="/private/tmp/claude-501/-Users-salehhamed-Outcome-Engine/91861432-41e2-4884-bc97-63c6dff2d021/scratchpad/wk/icons/TbDoorExit-amber.png">    </p:cNvPr>
          <p:cNvPicPr>
            <a:picLocks noChangeAspect="1"/>
          </p:cNvPicPr>
          <p:nvPr/>
        </p:nvPicPr>
        <p:blipFill>
          <a:blip r:embed="rId7"/>
          <a:stretch>
            <a:fillRect/>
          </a:stretch>
        </p:blipFill>
        <p:spPr>
          <a:xfrm>
            <a:off x="9134856" y="1645920"/>
            <a:ext cx="457200" cy="457200"/>
          </a:xfrm>
          <a:prstGeom prst="rect">
            <a:avLst/>
          </a:prstGeom>
        </p:spPr>
      </p:pic>
      <p:sp>
        <p:nvSpPr>
          <p:cNvPr id="30" name="Text 23"/>
          <p:cNvSpPr txBox="1"/>
          <p:nvPr/>
        </p:nvSpPr>
        <p:spPr>
          <a:xfrm>
            <a:off x="9683496" y="1600200"/>
            <a:ext cx="1874520" cy="685800"/>
          </a:xfrm>
          <a:prstGeom prst="rect">
            <a:avLst/>
          </a:prstGeom>
          <a:noFill/>
          <a:ln/>
        </p:spPr>
        <p:txBody>
          <a:bodyPr wrap="square" lIns="0" tIns="0" rIns="0" bIns="0" rtlCol="0" anchor="ctr"/>
          <a:lstStyle/>
          <a:p>
            <a:pPr indent="0" marL="0">
              <a:buNone/>
            </a:pPr>
            <a:r>
              <a:rPr lang="en-US" sz="1250" b="1" dirty="0">
                <a:solidFill>
                  <a:srgbClr val="1F2A33"/>
                </a:solidFill>
                <a:latin typeface="Arial" pitchFamily="34" charset="0"/>
                <a:ea typeface="Arial" pitchFamily="34" charset="-122"/>
                <a:cs typeface="Arial" pitchFamily="34" charset="-120"/>
              </a:rPr>
              <a:t>Can they be released?</a:t>
            </a:r>
            <a:endParaRPr lang="en-US" sz="1250" dirty="0"/>
          </a:p>
        </p:txBody>
      </p:sp>
      <p:sp>
        <p:nvSpPr>
          <p:cNvPr id="31" name="Text 24"/>
          <p:cNvSpPr txBox="1"/>
          <p:nvPr/>
        </p:nvSpPr>
        <p:spPr>
          <a:xfrm>
            <a:off x="9134856" y="2423160"/>
            <a:ext cx="914400" cy="274320"/>
          </a:xfrm>
          <a:prstGeom prst="rect">
            <a:avLst/>
          </a:prstGeom>
          <a:noFill/>
          <a:ln/>
        </p:spPr>
        <p:txBody>
          <a:bodyPr wrap="square" lIns="0" tIns="0" rIns="0" bIns="0" rtlCol="0" anchor="t"/>
          <a:lstStyle/>
          <a:p>
            <a:pPr indent="0" marL="0">
              <a:buNone/>
            </a:pPr>
            <a:r>
              <a:rPr lang="en-US" sz="1050" dirty="0">
                <a:solidFill>
                  <a:srgbClr val="5A5A5A"/>
                </a:solidFill>
                <a:latin typeface="Arial" pitchFamily="34" charset="0"/>
                <a:ea typeface="Arial" pitchFamily="34" charset="-122"/>
                <a:cs typeface="Arial" pitchFamily="34" charset="-120"/>
              </a:rPr>
              <a:t>Owner</a:t>
            </a:r>
            <a:endParaRPr lang="en-US" sz="1050" dirty="0"/>
          </a:p>
        </p:txBody>
      </p:sp>
      <p:sp>
        <p:nvSpPr>
          <p:cNvPr id="32" name="Shape 25"/>
          <p:cNvSpPr/>
          <p:nvPr/>
        </p:nvSpPr>
        <p:spPr>
          <a:xfrm>
            <a:off x="9134856" y="2926080"/>
            <a:ext cx="2377440" cy="914"/>
          </a:xfrm>
          <a:prstGeom prst="line">
            <a:avLst/>
          </a:prstGeom>
          <a:noFill/>
          <a:ln w="12700">
            <a:solidFill>
              <a:srgbClr val="D9DEE2"/>
            </a:solidFill>
            <a:prstDash val="solid"/>
          </a:ln>
        </p:spPr>
      </p:sp>
      <p:sp>
        <p:nvSpPr>
          <p:cNvPr id="33" name="Text 26"/>
          <p:cNvSpPr txBox="1"/>
          <p:nvPr/>
        </p:nvSpPr>
        <p:spPr>
          <a:xfrm>
            <a:off x="9134856" y="2990088"/>
            <a:ext cx="914400" cy="274320"/>
          </a:xfrm>
          <a:prstGeom prst="rect">
            <a:avLst/>
          </a:prstGeom>
          <a:noFill/>
          <a:ln/>
        </p:spPr>
        <p:txBody>
          <a:bodyPr wrap="square" lIns="0" tIns="0" rIns="0" bIns="0" rtlCol="0" anchor="t"/>
          <a:lstStyle/>
          <a:p>
            <a:pPr indent="0" marL="0">
              <a:buNone/>
            </a:pPr>
            <a:r>
              <a:rPr lang="en-US" sz="1050" dirty="0">
                <a:solidFill>
                  <a:srgbClr val="5A5A5A"/>
                </a:solidFill>
                <a:latin typeface="Arial" pitchFamily="34" charset="0"/>
                <a:ea typeface="Arial" pitchFamily="34" charset="-122"/>
                <a:cs typeface="Arial" pitchFamily="34" charset="-120"/>
              </a:rPr>
              <a:t>Backup</a:t>
            </a:r>
            <a:endParaRPr lang="en-US" sz="1050" dirty="0"/>
          </a:p>
        </p:txBody>
      </p:sp>
      <p:sp>
        <p:nvSpPr>
          <p:cNvPr id="34" name="Shape 27"/>
          <p:cNvSpPr/>
          <p:nvPr/>
        </p:nvSpPr>
        <p:spPr>
          <a:xfrm>
            <a:off x="9134856" y="3474720"/>
            <a:ext cx="2377440" cy="914"/>
          </a:xfrm>
          <a:prstGeom prst="line">
            <a:avLst/>
          </a:prstGeom>
          <a:noFill/>
          <a:ln w="12700">
            <a:solidFill>
              <a:srgbClr val="D9DEE2"/>
            </a:solidFill>
            <a:prstDash val="solid"/>
          </a:ln>
        </p:spPr>
      </p:sp>
      <p:sp>
        <p:nvSpPr>
          <p:cNvPr id="35" name="Shape 28"/>
          <p:cNvSpPr/>
          <p:nvPr/>
        </p:nvSpPr>
        <p:spPr>
          <a:xfrm>
            <a:off x="548640" y="3840480"/>
            <a:ext cx="2651760" cy="2148840"/>
          </a:xfrm>
          <a:prstGeom prst="roundRect">
            <a:avLst>
              <a:gd name="adj" fmla="val 3404"/>
            </a:avLst>
          </a:prstGeom>
          <a:solidFill>
            <a:srgbClr val="FFFFFF"/>
          </a:solidFill>
          <a:ln w="12700">
            <a:solidFill>
              <a:srgbClr val="D9DEE2"/>
            </a:solidFill>
            <a:prstDash val="solid"/>
          </a:ln>
        </p:spPr>
      </p:sp>
      <p:pic>
        <p:nvPicPr>
          <p:cNvPr id="36" name="Image 5" descr="/private/tmp/claude-501/-Users-salehhamed-Outcome-Engine/91861432-41e2-4884-bc97-63c6dff2d021/scratchpad/wk/icons/TbUserQuestion-amber.png">    </p:cNvPr>
          <p:cNvPicPr>
            <a:picLocks noChangeAspect="1"/>
          </p:cNvPicPr>
          <p:nvPr/>
        </p:nvPicPr>
        <p:blipFill>
          <a:blip r:embed="rId8"/>
          <a:stretch>
            <a:fillRect/>
          </a:stretch>
        </p:blipFill>
        <p:spPr>
          <a:xfrm>
            <a:off x="685800" y="3977640"/>
            <a:ext cx="457200" cy="457200"/>
          </a:xfrm>
          <a:prstGeom prst="rect">
            <a:avLst/>
          </a:prstGeom>
        </p:spPr>
      </p:pic>
      <p:sp>
        <p:nvSpPr>
          <p:cNvPr id="37" name="Text 29"/>
          <p:cNvSpPr txBox="1"/>
          <p:nvPr/>
        </p:nvSpPr>
        <p:spPr>
          <a:xfrm>
            <a:off x="1234440" y="3931920"/>
            <a:ext cx="1874520" cy="685800"/>
          </a:xfrm>
          <a:prstGeom prst="rect">
            <a:avLst/>
          </a:prstGeom>
          <a:noFill/>
          <a:ln/>
        </p:spPr>
        <p:txBody>
          <a:bodyPr wrap="square" lIns="0" tIns="0" rIns="0" bIns="0" rtlCol="0" anchor="ctr"/>
          <a:lstStyle/>
          <a:p>
            <a:pPr indent="0" marL="0">
              <a:buNone/>
            </a:pPr>
            <a:r>
              <a:rPr lang="en-US" sz="1250" b="1" dirty="0">
                <a:solidFill>
                  <a:srgbClr val="1F2A33"/>
                </a:solidFill>
                <a:latin typeface="Arial" pitchFamily="34" charset="0"/>
                <a:ea typeface="Arial" pitchFamily="34" charset="-122"/>
                <a:cs typeface="Arial" pitchFamily="34" charset="-120"/>
              </a:rPr>
              <a:t>Is the shortfall a real gap?</a:t>
            </a:r>
            <a:endParaRPr lang="en-US" sz="1250" dirty="0"/>
          </a:p>
        </p:txBody>
      </p:sp>
      <p:sp>
        <p:nvSpPr>
          <p:cNvPr id="38" name="Text 30"/>
          <p:cNvSpPr txBox="1"/>
          <p:nvPr/>
        </p:nvSpPr>
        <p:spPr>
          <a:xfrm>
            <a:off x="685800" y="4754880"/>
            <a:ext cx="914400" cy="274320"/>
          </a:xfrm>
          <a:prstGeom prst="rect">
            <a:avLst/>
          </a:prstGeom>
          <a:noFill/>
          <a:ln/>
        </p:spPr>
        <p:txBody>
          <a:bodyPr wrap="square" lIns="0" tIns="0" rIns="0" bIns="0" rtlCol="0" anchor="t"/>
          <a:lstStyle/>
          <a:p>
            <a:pPr indent="0" marL="0">
              <a:buNone/>
            </a:pPr>
            <a:r>
              <a:rPr lang="en-US" sz="1050" dirty="0">
                <a:solidFill>
                  <a:srgbClr val="5A5A5A"/>
                </a:solidFill>
                <a:latin typeface="Arial" pitchFamily="34" charset="0"/>
                <a:ea typeface="Arial" pitchFamily="34" charset="-122"/>
                <a:cs typeface="Arial" pitchFamily="34" charset="-120"/>
              </a:rPr>
              <a:t>Owner</a:t>
            </a:r>
            <a:endParaRPr lang="en-US" sz="1050" dirty="0"/>
          </a:p>
        </p:txBody>
      </p:sp>
      <p:sp>
        <p:nvSpPr>
          <p:cNvPr id="39" name="Shape 31"/>
          <p:cNvSpPr/>
          <p:nvPr/>
        </p:nvSpPr>
        <p:spPr>
          <a:xfrm>
            <a:off x="685800" y="5257800"/>
            <a:ext cx="2377440" cy="914"/>
          </a:xfrm>
          <a:prstGeom prst="line">
            <a:avLst/>
          </a:prstGeom>
          <a:noFill/>
          <a:ln w="12700">
            <a:solidFill>
              <a:srgbClr val="D9DEE2"/>
            </a:solidFill>
            <a:prstDash val="solid"/>
          </a:ln>
        </p:spPr>
      </p:sp>
      <p:sp>
        <p:nvSpPr>
          <p:cNvPr id="40" name="Text 32"/>
          <p:cNvSpPr txBox="1"/>
          <p:nvPr/>
        </p:nvSpPr>
        <p:spPr>
          <a:xfrm>
            <a:off x="685800" y="5321808"/>
            <a:ext cx="914400" cy="274320"/>
          </a:xfrm>
          <a:prstGeom prst="rect">
            <a:avLst/>
          </a:prstGeom>
          <a:noFill/>
          <a:ln/>
        </p:spPr>
        <p:txBody>
          <a:bodyPr wrap="square" lIns="0" tIns="0" rIns="0" bIns="0" rtlCol="0" anchor="t"/>
          <a:lstStyle/>
          <a:p>
            <a:pPr indent="0" marL="0">
              <a:buNone/>
            </a:pPr>
            <a:r>
              <a:rPr lang="en-US" sz="1050" dirty="0">
                <a:solidFill>
                  <a:srgbClr val="5A5A5A"/>
                </a:solidFill>
                <a:latin typeface="Arial" pitchFamily="34" charset="0"/>
                <a:ea typeface="Arial" pitchFamily="34" charset="-122"/>
                <a:cs typeface="Arial" pitchFamily="34" charset="-120"/>
              </a:rPr>
              <a:t>Backup</a:t>
            </a:r>
            <a:endParaRPr lang="en-US" sz="1050" dirty="0"/>
          </a:p>
        </p:txBody>
      </p:sp>
      <p:sp>
        <p:nvSpPr>
          <p:cNvPr id="41" name="Shape 33"/>
          <p:cNvSpPr/>
          <p:nvPr/>
        </p:nvSpPr>
        <p:spPr>
          <a:xfrm>
            <a:off x="685800" y="5806440"/>
            <a:ext cx="2377440" cy="914"/>
          </a:xfrm>
          <a:prstGeom prst="line">
            <a:avLst/>
          </a:prstGeom>
          <a:noFill/>
          <a:ln w="12700">
            <a:solidFill>
              <a:srgbClr val="D9DEE2"/>
            </a:solidFill>
            <a:prstDash val="solid"/>
          </a:ln>
        </p:spPr>
      </p:sp>
      <p:sp>
        <p:nvSpPr>
          <p:cNvPr id="42" name="Shape 34"/>
          <p:cNvSpPr/>
          <p:nvPr/>
        </p:nvSpPr>
        <p:spPr>
          <a:xfrm>
            <a:off x="3364992" y="3840480"/>
            <a:ext cx="2651760" cy="2148840"/>
          </a:xfrm>
          <a:prstGeom prst="roundRect">
            <a:avLst>
              <a:gd name="adj" fmla="val 3404"/>
            </a:avLst>
          </a:prstGeom>
          <a:solidFill>
            <a:srgbClr val="FFFFFF"/>
          </a:solidFill>
          <a:ln w="12700">
            <a:solidFill>
              <a:srgbClr val="D9DEE2"/>
            </a:solidFill>
            <a:prstDash val="solid"/>
          </a:ln>
        </p:spPr>
      </p:sp>
      <p:pic>
        <p:nvPicPr>
          <p:cNvPr id="43" name="Image 6" descr="/private/tmp/claude-501/-Users-salehhamed-Outcome-Engine/91861432-41e2-4884-bc97-63c6dff2d021/scratchpad/wk/icons/TbRoute-amber.png">    </p:cNvPr>
          <p:cNvPicPr>
            <a:picLocks noChangeAspect="1"/>
          </p:cNvPicPr>
          <p:nvPr/>
        </p:nvPicPr>
        <p:blipFill>
          <a:blip r:embed="rId9"/>
          <a:stretch>
            <a:fillRect/>
          </a:stretch>
        </p:blipFill>
        <p:spPr>
          <a:xfrm>
            <a:off x="3502152" y="3977640"/>
            <a:ext cx="457200" cy="457200"/>
          </a:xfrm>
          <a:prstGeom prst="rect">
            <a:avLst/>
          </a:prstGeom>
        </p:spPr>
      </p:pic>
      <p:sp>
        <p:nvSpPr>
          <p:cNvPr id="44" name="Text 35"/>
          <p:cNvSpPr txBox="1"/>
          <p:nvPr/>
        </p:nvSpPr>
        <p:spPr>
          <a:xfrm>
            <a:off x="4050792" y="3931920"/>
            <a:ext cx="1874520" cy="685800"/>
          </a:xfrm>
          <a:prstGeom prst="rect">
            <a:avLst/>
          </a:prstGeom>
          <a:noFill/>
          <a:ln/>
        </p:spPr>
        <p:txBody>
          <a:bodyPr wrap="square" lIns="0" tIns="0" rIns="0" bIns="0" rtlCol="0" anchor="ctr"/>
          <a:lstStyle/>
          <a:p>
            <a:pPr indent="0" marL="0">
              <a:buNone/>
            </a:pPr>
            <a:r>
              <a:rPr lang="en-US" sz="1250" b="1" dirty="0">
                <a:solidFill>
                  <a:srgbClr val="1F2A33"/>
                </a:solidFill>
                <a:latin typeface="Arial" pitchFamily="34" charset="0"/>
                <a:ea typeface="Arial" pitchFamily="34" charset="-122"/>
                <a:cs typeface="Arial" pitchFamily="34" charset="-120"/>
              </a:rPr>
              <a:t>What is the response to the gap?</a:t>
            </a:r>
            <a:endParaRPr lang="en-US" sz="1250" dirty="0"/>
          </a:p>
        </p:txBody>
      </p:sp>
      <p:sp>
        <p:nvSpPr>
          <p:cNvPr id="45" name="Text 36"/>
          <p:cNvSpPr txBox="1"/>
          <p:nvPr/>
        </p:nvSpPr>
        <p:spPr>
          <a:xfrm>
            <a:off x="3502152" y="4754880"/>
            <a:ext cx="914400" cy="274320"/>
          </a:xfrm>
          <a:prstGeom prst="rect">
            <a:avLst/>
          </a:prstGeom>
          <a:noFill/>
          <a:ln/>
        </p:spPr>
        <p:txBody>
          <a:bodyPr wrap="square" lIns="0" tIns="0" rIns="0" bIns="0" rtlCol="0" anchor="t"/>
          <a:lstStyle/>
          <a:p>
            <a:pPr indent="0" marL="0">
              <a:buNone/>
            </a:pPr>
            <a:r>
              <a:rPr lang="en-US" sz="1050" dirty="0">
                <a:solidFill>
                  <a:srgbClr val="5A5A5A"/>
                </a:solidFill>
                <a:latin typeface="Arial" pitchFamily="34" charset="0"/>
                <a:ea typeface="Arial" pitchFamily="34" charset="-122"/>
                <a:cs typeface="Arial" pitchFamily="34" charset="-120"/>
              </a:rPr>
              <a:t>Owner</a:t>
            </a:r>
            <a:endParaRPr lang="en-US" sz="1050" dirty="0"/>
          </a:p>
        </p:txBody>
      </p:sp>
      <p:sp>
        <p:nvSpPr>
          <p:cNvPr id="46" name="Shape 37"/>
          <p:cNvSpPr/>
          <p:nvPr/>
        </p:nvSpPr>
        <p:spPr>
          <a:xfrm>
            <a:off x="3502152" y="5257800"/>
            <a:ext cx="2377440" cy="914"/>
          </a:xfrm>
          <a:prstGeom prst="line">
            <a:avLst/>
          </a:prstGeom>
          <a:noFill/>
          <a:ln w="12700">
            <a:solidFill>
              <a:srgbClr val="D9DEE2"/>
            </a:solidFill>
            <a:prstDash val="solid"/>
          </a:ln>
        </p:spPr>
      </p:sp>
      <p:sp>
        <p:nvSpPr>
          <p:cNvPr id="47" name="Text 38"/>
          <p:cNvSpPr txBox="1"/>
          <p:nvPr/>
        </p:nvSpPr>
        <p:spPr>
          <a:xfrm>
            <a:off x="3502152" y="5321808"/>
            <a:ext cx="914400" cy="274320"/>
          </a:xfrm>
          <a:prstGeom prst="rect">
            <a:avLst/>
          </a:prstGeom>
          <a:noFill/>
          <a:ln/>
        </p:spPr>
        <p:txBody>
          <a:bodyPr wrap="square" lIns="0" tIns="0" rIns="0" bIns="0" rtlCol="0" anchor="t"/>
          <a:lstStyle/>
          <a:p>
            <a:pPr indent="0" marL="0">
              <a:buNone/>
            </a:pPr>
            <a:r>
              <a:rPr lang="en-US" sz="1050" dirty="0">
                <a:solidFill>
                  <a:srgbClr val="5A5A5A"/>
                </a:solidFill>
                <a:latin typeface="Arial" pitchFamily="34" charset="0"/>
                <a:ea typeface="Arial" pitchFamily="34" charset="-122"/>
                <a:cs typeface="Arial" pitchFamily="34" charset="-120"/>
              </a:rPr>
              <a:t>Backup</a:t>
            </a:r>
            <a:endParaRPr lang="en-US" sz="1050" dirty="0"/>
          </a:p>
        </p:txBody>
      </p:sp>
      <p:sp>
        <p:nvSpPr>
          <p:cNvPr id="48" name="Shape 39"/>
          <p:cNvSpPr/>
          <p:nvPr/>
        </p:nvSpPr>
        <p:spPr>
          <a:xfrm>
            <a:off x="3502152" y="5806440"/>
            <a:ext cx="2377440" cy="914"/>
          </a:xfrm>
          <a:prstGeom prst="line">
            <a:avLst/>
          </a:prstGeom>
          <a:noFill/>
          <a:ln w="12700">
            <a:solidFill>
              <a:srgbClr val="D9DEE2"/>
            </a:solidFill>
            <a:prstDash val="solid"/>
          </a:ln>
        </p:spPr>
      </p:sp>
      <p:sp>
        <p:nvSpPr>
          <p:cNvPr id="49" name="Shape 40"/>
          <p:cNvSpPr/>
          <p:nvPr/>
        </p:nvSpPr>
        <p:spPr>
          <a:xfrm>
            <a:off x="6181344" y="3840480"/>
            <a:ext cx="2651760" cy="2148840"/>
          </a:xfrm>
          <a:prstGeom prst="roundRect">
            <a:avLst>
              <a:gd name="adj" fmla="val 3404"/>
            </a:avLst>
          </a:prstGeom>
          <a:solidFill>
            <a:srgbClr val="F2F4F5"/>
          </a:solidFill>
          <a:ln w="12700">
            <a:solidFill>
              <a:srgbClr val="D9DEE2"/>
            </a:solidFill>
            <a:prstDash val="solid"/>
          </a:ln>
        </p:spPr>
      </p:sp>
      <p:pic>
        <p:nvPicPr>
          <p:cNvPr id="50" name="Image 7" descr="/private/tmp/claude-501/-Users-salehhamed-Outcome-Engine/91861432-41e2-4884-bc97-63c6dff2d021/scratchpad/wk/icons/TbArrowsCross-grey.png">    </p:cNvPr>
          <p:cNvPicPr>
            <a:picLocks noChangeAspect="1"/>
          </p:cNvPicPr>
          <p:nvPr/>
        </p:nvPicPr>
        <p:blipFill>
          <a:blip r:embed="rId10"/>
          <a:stretch>
            <a:fillRect/>
          </a:stretch>
        </p:blipFill>
        <p:spPr>
          <a:xfrm>
            <a:off x="6318504" y="3977640"/>
            <a:ext cx="457200" cy="457200"/>
          </a:xfrm>
          <a:prstGeom prst="rect">
            <a:avLst/>
          </a:prstGeom>
        </p:spPr>
      </p:pic>
      <p:sp>
        <p:nvSpPr>
          <p:cNvPr id="51" name="Text 41"/>
          <p:cNvSpPr txBox="1"/>
          <p:nvPr/>
        </p:nvSpPr>
        <p:spPr>
          <a:xfrm>
            <a:off x="6867144" y="3931920"/>
            <a:ext cx="1874520" cy="685800"/>
          </a:xfrm>
          <a:prstGeom prst="rect">
            <a:avLst/>
          </a:prstGeom>
          <a:noFill/>
          <a:ln/>
        </p:spPr>
        <p:txBody>
          <a:bodyPr wrap="square" lIns="0" tIns="0" rIns="0" bIns="0" rtlCol="0" anchor="ctr"/>
          <a:lstStyle/>
          <a:p>
            <a:pPr indent="0" marL="0">
              <a:buNone/>
            </a:pPr>
            <a:r>
              <a:rPr lang="en-US" sz="1250" b="1" dirty="0">
                <a:solidFill>
                  <a:srgbClr val="1F2A33"/>
                </a:solidFill>
                <a:latin typeface="Arial" pitchFamily="34" charset="0"/>
                <a:ea typeface="Arial" pitchFamily="34" charset="-122"/>
                <a:cs typeface="Arial" pitchFamily="34" charset="-120"/>
              </a:rPr>
              <a:t>Which clashing hold stays?</a:t>
            </a:r>
            <a:endParaRPr lang="en-US" sz="1250" dirty="0"/>
          </a:p>
        </p:txBody>
      </p:sp>
      <p:sp>
        <p:nvSpPr>
          <p:cNvPr id="52" name="Text 42"/>
          <p:cNvSpPr txBox="1"/>
          <p:nvPr/>
        </p:nvSpPr>
        <p:spPr>
          <a:xfrm>
            <a:off x="6318504" y="4754880"/>
            <a:ext cx="914400" cy="274320"/>
          </a:xfrm>
          <a:prstGeom prst="rect">
            <a:avLst/>
          </a:prstGeom>
          <a:noFill/>
          <a:ln/>
        </p:spPr>
        <p:txBody>
          <a:bodyPr wrap="square" lIns="0" tIns="0" rIns="0" bIns="0" rtlCol="0" anchor="t"/>
          <a:lstStyle/>
          <a:p>
            <a:pPr indent="0" marL="0">
              <a:buNone/>
            </a:pPr>
            <a:r>
              <a:rPr lang="en-US" sz="1050" dirty="0">
                <a:solidFill>
                  <a:srgbClr val="5A5A5A"/>
                </a:solidFill>
                <a:latin typeface="Arial" pitchFamily="34" charset="0"/>
                <a:ea typeface="Arial" pitchFamily="34" charset="-122"/>
                <a:cs typeface="Arial" pitchFamily="34" charset="-120"/>
              </a:rPr>
              <a:t>Owner</a:t>
            </a:r>
            <a:endParaRPr lang="en-US" sz="1050" dirty="0"/>
          </a:p>
        </p:txBody>
      </p:sp>
      <p:sp>
        <p:nvSpPr>
          <p:cNvPr id="53" name="Shape 43"/>
          <p:cNvSpPr/>
          <p:nvPr/>
        </p:nvSpPr>
        <p:spPr>
          <a:xfrm>
            <a:off x="6318504" y="5257800"/>
            <a:ext cx="2377440" cy="914"/>
          </a:xfrm>
          <a:prstGeom prst="line">
            <a:avLst/>
          </a:prstGeom>
          <a:noFill/>
          <a:ln w="12700">
            <a:solidFill>
              <a:srgbClr val="D9DEE2"/>
            </a:solidFill>
            <a:prstDash val="solid"/>
          </a:ln>
        </p:spPr>
      </p:sp>
      <p:sp>
        <p:nvSpPr>
          <p:cNvPr id="54" name="Text 44"/>
          <p:cNvSpPr txBox="1"/>
          <p:nvPr/>
        </p:nvSpPr>
        <p:spPr>
          <a:xfrm>
            <a:off x="6318504" y="5321808"/>
            <a:ext cx="914400" cy="274320"/>
          </a:xfrm>
          <a:prstGeom prst="rect">
            <a:avLst/>
          </a:prstGeom>
          <a:noFill/>
          <a:ln/>
        </p:spPr>
        <p:txBody>
          <a:bodyPr wrap="square" lIns="0" tIns="0" rIns="0" bIns="0" rtlCol="0" anchor="t"/>
          <a:lstStyle/>
          <a:p>
            <a:pPr indent="0" marL="0">
              <a:buNone/>
            </a:pPr>
            <a:r>
              <a:rPr lang="en-US" sz="1050" dirty="0">
                <a:solidFill>
                  <a:srgbClr val="5A5A5A"/>
                </a:solidFill>
                <a:latin typeface="Arial" pitchFamily="34" charset="0"/>
                <a:ea typeface="Arial" pitchFamily="34" charset="-122"/>
                <a:cs typeface="Arial" pitchFamily="34" charset="-120"/>
              </a:rPr>
              <a:t>Backup</a:t>
            </a:r>
            <a:endParaRPr lang="en-US" sz="1050" dirty="0"/>
          </a:p>
        </p:txBody>
      </p:sp>
      <p:sp>
        <p:nvSpPr>
          <p:cNvPr id="55" name="Shape 45"/>
          <p:cNvSpPr/>
          <p:nvPr/>
        </p:nvSpPr>
        <p:spPr>
          <a:xfrm>
            <a:off x="6318504" y="5806440"/>
            <a:ext cx="2377440" cy="914"/>
          </a:xfrm>
          <a:prstGeom prst="line">
            <a:avLst/>
          </a:prstGeom>
          <a:noFill/>
          <a:ln w="12700">
            <a:solidFill>
              <a:srgbClr val="D9DEE2"/>
            </a:solidFill>
            <a:prstDash val="solid"/>
          </a:ln>
        </p:spPr>
      </p:sp>
      <p:sp>
        <p:nvSpPr>
          <p:cNvPr id="56" name="Shape 46"/>
          <p:cNvSpPr/>
          <p:nvPr/>
        </p:nvSpPr>
        <p:spPr>
          <a:xfrm>
            <a:off x="8997696" y="3840480"/>
            <a:ext cx="2651760" cy="2148840"/>
          </a:xfrm>
          <a:prstGeom prst="roundRect">
            <a:avLst>
              <a:gd name="adj" fmla="val 3404"/>
            </a:avLst>
          </a:prstGeom>
          <a:solidFill>
            <a:srgbClr val="F2F4F5"/>
          </a:solidFill>
          <a:ln w="12700">
            <a:solidFill>
              <a:srgbClr val="D9DEE2"/>
            </a:solidFill>
            <a:prstDash val="solid"/>
          </a:ln>
        </p:spPr>
      </p:sp>
      <p:pic>
        <p:nvPicPr>
          <p:cNvPr id="57" name="Image 8" descr="/private/tmp/claude-501/-Users-salehhamed-Outcome-Engine/91861432-41e2-4884-bc97-63c6dff2d021/scratchpad/wk/icons/TbSignature-grey.png">    </p:cNvPr>
          <p:cNvPicPr>
            <a:picLocks noChangeAspect="1"/>
          </p:cNvPicPr>
          <p:nvPr/>
        </p:nvPicPr>
        <p:blipFill>
          <a:blip r:embed="rId11"/>
          <a:stretch>
            <a:fillRect/>
          </a:stretch>
        </p:blipFill>
        <p:spPr>
          <a:xfrm>
            <a:off x="9134856" y="3977640"/>
            <a:ext cx="457200" cy="457200"/>
          </a:xfrm>
          <a:prstGeom prst="rect">
            <a:avLst/>
          </a:prstGeom>
        </p:spPr>
      </p:pic>
      <p:sp>
        <p:nvSpPr>
          <p:cNvPr id="58" name="Text 47"/>
          <p:cNvSpPr txBox="1"/>
          <p:nvPr/>
        </p:nvSpPr>
        <p:spPr>
          <a:xfrm>
            <a:off x="9683496" y="3931920"/>
            <a:ext cx="1874520" cy="685800"/>
          </a:xfrm>
          <a:prstGeom prst="rect">
            <a:avLst/>
          </a:prstGeom>
          <a:noFill/>
          <a:ln/>
        </p:spPr>
        <p:txBody>
          <a:bodyPr wrap="square" lIns="0" tIns="0" rIns="0" bIns="0" rtlCol="0" anchor="ctr"/>
          <a:lstStyle/>
          <a:p>
            <a:pPr indent="0" marL="0">
              <a:buNone/>
            </a:pPr>
            <a:r>
              <a:rPr lang="en-US" sz="1250" b="1" dirty="0">
                <a:solidFill>
                  <a:srgbClr val="1F2A33"/>
                </a:solidFill>
                <a:latin typeface="Arial" pitchFamily="34" charset="0"/>
                <a:ea typeface="Arial" pitchFamily="34" charset="-122"/>
                <a:cs typeface="Arial" pitchFamily="34" charset="-120"/>
              </a:rPr>
              <a:t>Approve the plan</a:t>
            </a:r>
            <a:endParaRPr lang="en-US" sz="1250" dirty="0"/>
          </a:p>
        </p:txBody>
      </p:sp>
      <p:sp>
        <p:nvSpPr>
          <p:cNvPr id="59" name="Text 48"/>
          <p:cNvSpPr txBox="1"/>
          <p:nvPr/>
        </p:nvSpPr>
        <p:spPr>
          <a:xfrm>
            <a:off x="9134856" y="4754880"/>
            <a:ext cx="914400" cy="274320"/>
          </a:xfrm>
          <a:prstGeom prst="rect">
            <a:avLst/>
          </a:prstGeom>
          <a:noFill/>
          <a:ln/>
        </p:spPr>
        <p:txBody>
          <a:bodyPr wrap="square" lIns="0" tIns="0" rIns="0" bIns="0" rtlCol="0" anchor="t"/>
          <a:lstStyle/>
          <a:p>
            <a:pPr indent="0" marL="0">
              <a:buNone/>
            </a:pPr>
            <a:r>
              <a:rPr lang="en-US" sz="1050" dirty="0">
                <a:solidFill>
                  <a:srgbClr val="5A5A5A"/>
                </a:solidFill>
                <a:latin typeface="Arial" pitchFamily="34" charset="0"/>
                <a:ea typeface="Arial" pitchFamily="34" charset="-122"/>
                <a:cs typeface="Arial" pitchFamily="34" charset="-120"/>
              </a:rPr>
              <a:t>Owner</a:t>
            </a:r>
            <a:endParaRPr lang="en-US" sz="1050" dirty="0"/>
          </a:p>
        </p:txBody>
      </p:sp>
      <p:sp>
        <p:nvSpPr>
          <p:cNvPr id="60" name="Shape 49"/>
          <p:cNvSpPr/>
          <p:nvPr/>
        </p:nvSpPr>
        <p:spPr>
          <a:xfrm>
            <a:off x="9134856" y="5257800"/>
            <a:ext cx="2377440" cy="914"/>
          </a:xfrm>
          <a:prstGeom prst="line">
            <a:avLst/>
          </a:prstGeom>
          <a:noFill/>
          <a:ln w="12700">
            <a:solidFill>
              <a:srgbClr val="D9DEE2"/>
            </a:solidFill>
            <a:prstDash val="solid"/>
          </a:ln>
        </p:spPr>
      </p:sp>
      <p:sp>
        <p:nvSpPr>
          <p:cNvPr id="61" name="Text 50"/>
          <p:cNvSpPr txBox="1"/>
          <p:nvPr/>
        </p:nvSpPr>
        <p:spPr>
          <a:xfrm>
            <a:off x="9134856" y="5321808"/>
            <a:ext cx="914400" cy="274320"/>
          </a:xfrm>
          <a:prstGeom prst="rect">
            <a:avLst/>
          </a:prstGeom>
          <a:noFill/>
          <a:ln/>
        </p:spPr>
        <p:txBody>
          <a:bodyPr wrap="square" lIns="0" tIns="0" rIns="0" bIns="0" rtlCol="0" anchor="t"/>
          <a:lstStyle/>
          <a:p>
            <a:pPr indent="0" marL="0">
              <a:buNone/>
            </a:pPr>
            <a:r>
              <a:rPr lang="en-US" sz="1050" dirty="0">
                <a:solidFill>
                  <a:srgbClr val="5A5A5A"/>
                </a:solidFill>
                <a:latin typeface="Arial" pitchFamily="34" charset="0"/>
                <a:ea typeface="Arial" pitchFamily="34" charset="-122"/>
                <a:cs typeface="Arial" pitchFamily="34" charset="-120"/>
              </a:rPr>
              <a:t>Backup</a:t>
            </a:r>
            <a:endParaRPr lang="en-US" sz="1050" dirty="0"/>
          </a:p>
        </p:txBody>
      </p:sp>
      <p:sp>
        <p:nvSpPr>
          <p:cNvPr id="62" name="Shape 51"/>
          <p:cNvSpPr/>
          <p:nvPr/>
        </p:nvSpPr>
        <p:spPr>
          <a:xfrm>
            <a:off x="9134856" y="5806440"/>
            <a:ext cx="2377440" cy="914"/>
          </a:xfrm>
          <a:prstGeom prst="line">
            <a:avLst/>
          </a:prstGeom>
          <a:noFill/>
          <a:ln w="12700">
            <a:solidFill>
              <a:srgbClr val="D9DEE2"/>
            </a:solidFill>
            <a:prstDash val="solid"/>
          </a:ln>
        </p:spPr>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name="Slide 10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BUILD CHECKPOINT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Three ways to run this session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16:15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107</a:t>
            </a:r>
            <a:endParaRPr lang="en-US" sz="1000" dirty="0"/>
          </a:p>
        </p:txBody>
      </p:sp>
      <p:sp>
        <p:nvSpPr>
          <p:cNvPr id="7" name="Shape 4"/>
          <p:cNvSpPr/>
          <p:nvPr/>
        </p:nvSpPr>
        <p:spPr>
          <a:xfrm>
            <a:off x="548640" y="1463040"/>
            <a:ext cx="3566160" cy="4663440"/>
          </a:xfrm>
          <a:prstGeom prst="roundRect">
            <a:avLst>
              <a:gd name="adj" fmla="val 2051"/>
            </a:avLst>
          </a:prstGeom>
          <a:solidFill>
            <a:srgbClr val="FFFFFF"/>
          </a:solidFill>
          <a:ln w="12700">
            <a:solidFill>
              <a:srgbClr val="D9DEE2"/>
            </a:solidFill>
            <a:prstDash val="solid"/>
          </a:ln>
        </p:spPr>
      </p:sp>
      <p:sp>
        <p:nvSpPr>
          <p:cNvPr id="8" name="Shape 5"/>
          <p:cNvSpPr/>
          <p:nvPr/>
        </p:nvSpPr>
        <p:spPr>
          <a:xfrm>
            <a:off x="548640" y="1463040"/>
            <a:ext cx="3566160" cy="566928"/>
          </a:xfrm>
          <a:prstGeom prst="roundRect">
            <a:avLst>
              <a:gd name="adj" fmla="val 12903"/>
            </a:avLst>
          </a:prstGeom>
          <a:solidFill>
            <a:srgbClr val="287079"/>
          </a:solidFill>
          <a:ln/>
        </p:spPr>
      </p:sp>
      <p:sp>
        <p:nvSpPr>
          <p:cNvPr id="9" name="Shape 6"/>
          <p:cNvSpPr/>
          <p:nvPr/>
        </p:nvSpPr>
        <p:spPr>
          <a:xfrm>
            <a:off x="548640" y="1828800"/>
            <a:ext cx="3566160" cy="201168"/>
          </a:xfrm>
          <a:prstGeom prst="rect">
            <a:avLst/>
          </a:prstGeom>
          <a:solidFill>
            <a:srgbClr val="287079"/>
          </a:solidFill>
          <a:ln/>
        </p:spPr>
      </p:sp>
      <p:pic>
        <p:nvPicPr>
          <p:cNvPr id="10" name="Image 1" descr="/private/tmp/claude-501/-Users-salehhamed-Outcome-Engine/91861432-41e2-4884-bc97-63c6dff2d021/scratchpad/wk/icons/TbHandClick-white.png">    </p:cNvPr>
          <p:cNvPicPr>
            <a:picLocks noChangeAspect="1"/>
          </p:cNvPicPr>
          <p:nvPr/>
        </p:nvPicPr>
        <p:blipFill>
          <a:blip r:embed="rId4"/>
          <a:stretch>
            <a:fillRect/>
          </a:stretch>
        </p:blipFill>
        <p:spPr>
          <a:xfrm>
            <a:off x="713232" y="1554480"/>
            <a:ext cx="384048" cy="384048"/>
          </a:xfrm>
          <a:prstGeom prst="rect">
            <a:avLst/>
          </a:prstGeom>
        </p:spPr>
      </p:pic>
      <p:sp>
        <p:nvSpPr>
          <p:cNvPr id="11" name="Text 7"/>
          <p:cNvSpPr txBox="1"/>
          <p:nvPr/>
        </p:nvSpPr>
        <p:spPr>
          <a:xfrm>
            <a:off x="120700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A · HANDS-ON</a:t>
            </a:r>
            <a:endParaRPr lang="en-US" sz="1150" dirty="0"/>
          </a:p>
        </p:txBody>
      </p:sp>
      <p:sp>
        <p:nvSpPr>
          <p:cNvPr id="12" name="Text 8"/>
          <p:cNvSpPr txBox="1"/>
          <p:nvPr/>
        </p:nvSpPr>
        <p:spPr>
          <a:xfrm>
            <a:off x="77724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Show, choose, sign up</a:t>
            </a:r>
            <a:endParaRPr lang="en-US" sz="2100" dirty="0"/>
          </a:p>
        </p:txBody>
      </p:sp>
      <p:sp>
        <p:nvSpPr>
          <p:cNvPr id="13" name="Text 9"/>
          <p:cNvSpPr txBox="1"/>
          <p:nvPr/>
        </p:nvSpPr>
        <p:spPr>
          <a:xfrm>
            <a:off x="77724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A short demo, a dot vote on cases, and a seat sign-up sheet.</a:t>
            </a:r>
            <a:endParaRPr lang="en-US" sz="1400" dirty="0"/>
          </a:p>
        </p:txBody>
      </p:sp>
      <p:pic>
        <p:nvPicPr>
          <p:cNvPr id="14" name="Image 2" descr="/private/tmp/claude-501/-Users-salehhamed-Outcome-Engine/91861432-41e2-4884-bc97-63c6dff2d021/scratchpad/wk/icons/TbClock-grey.png">    </p:cNvPr>
          <p:cNvPicPr>
            <a:picLocks noChangeAspect="1"/>
          </p:cNvPicPr>
          <p:nvPr/>
        </p:nvPicPr>
        <p:blipFill>
          <a:blip r:embed="rId5"/>
          <a:stretch>
            <a:fillRect/>
          </a:stretch>
        </p:blipFill>
        <p:spPr>
          <a:xfrm>
            <a:off x="777240" y="4297680"/>
            <a:ext cx="274320" cy="274320"/>
          </a:xfrm>
          <a:prstGeom prst="rect">
            <a:avLst/>
          </a:prstGeom>
        </p:spPr>
      </p:pic>
      <p:sp>
        <p:nvSpPr>
          <p:cNvPr id="15" name="Text 10"/>
          <p:cNvSpPr txBox="1"/>
          <p:nvPr/>
        </p:nvSpPr>
        <p:spPr>
          <a:xfrm>
            <a:off x="114300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30 min</a:t>
            </a:r>
            <a:endParaRPr lang="en-US" sz="1200" dirty="0"/>
          </a:p>
        </p:txBody>
      </p:sp>
      <p:pic>
        <p:nvPicPr>
          <p:cNvPr id="16" name="Image 3" descr="/private/tmp/claude-501/-Users-salehhamed-Outcome-Engine/91861432-41e2-4884-bc97-63c6dff2d021/scratchpad/wk/icons/TbUsers-grey.png">    </p:cNvPr>
          <p:cNvPicPr>
            <a:picLocks noChangeAspect="1"/>
          </p:cNvPicPr>
          <p:nvPr/>
        </p:nvPicPr>
        <p:blipFill>
          <a:blip r:embed="rId6"/>
          <a:stretch>
            <a:fillRect/>
          </a:stretch>
        </p:blipFill>
        <p:spPr>
          <a:xfrm>
            <a:off x="777240" y="4681728"/>
            <a:ext cx="274320" cy="274320"/>
          </a:xfrm>
          <a:prstGeom prst="rect">
            <a:avLst/>
          </a:prstGeom>
        </p:spPr>
      </p:pic>
      <p:sp>
        <p:nvSpPr>
          <p:cNvPr id="17" name="Text 11"/>
          <p:cNvSpPr txBox="1"/>
          <p:nvPr/>
        </p:nvSpPr>
        <p:spPr>
          <a:xfrm>
            <a:off x="114300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Whole room</a:t>
            </a:r>
            <a:endParaRPr lang="en-US" sz="1200" dirty="0"/>
          </a:p>
        </p:txBody>
      </p:sp>
      <p:pic>
        <p:nvPicPr>
          <p:cNvPr id="18" name="Image 4" descr="/private/tmp/claude-501/-Users-salehhamed-Outcome-Engine/91861432-41e2-4884-bc97-63c6dff2d021/scratchpad/wk/icons/TbGauge-grey.png">    </p:cNvPr>
          <p:cNvPicPr>
            <a:picLocks noChangeAspect="1"/>
          </p:cNvPicPr>
          <p:nvPr/>
        </p:nvPicPr>
        <p:blipFill>
          <a:blip r:embed="rId7"/>
          <a:stretch>
            <a:fillRect/>
          </a:stretch>
        </p:blipFill>
        <p:spPr>
          <a:xfrm>
            <a:off x="777240" y="5065776"/>
            <a:ext cx="274320" cy="274320"/>
          </a:xfrm>
          <a:prstGeom prst="rect">
            <a:avLst/>
          </a:prstGeom>
        </p:spPr>
      </p:pic>
      <p:sp>
        <p:nvSpPr>
          <p:cNvPr id="19" name="Text 12"/>
          <p:cNvSpPr txBox="1"/>
          <p:nvPr/>
        </p:nvSpPr>
        <p:spPr>
          <a:xfrm>
            <a:off x="114300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20" name="Text 13"/>
          <p:cNvSpPr txBox="1"/>
          <p:nvPr/>
        </p:nvSpPr>
        <p:spPr>
          <a:xfrm>
            <a:off x="77724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You want everything visible on the wall at the end of the day.</a:t>
            </a:r>
            <a:endParaRPr lang="en-US" sz="1150" dirty="0"/>
          </a:p>
        </p:txBody>
      </p:sp>
      <p:pic>
        <p:nvPicPr>
          <p:cNvPr id="21" name="Image 5" descr="/private/tmp/claude-501/-Users-salehhamed-Outcome-Engine/91861432-41e2-4884-bc97-63c6dff2d021/scratchpad/wk/brand/clear.png">
            <a:hlinkClick r:id="rId9" tooltip="Option A" action="ppaction://hlinksldjump"/>
          </p:cNvPr>
          <p:cNvPicPr>
            <a:picLocks noChangeAspect="1"/>
          </p:cNvPicPr>
          <p:nvPr/>
        </p:nvPicPr>
        <p:blipFill>
          <a:blip r:embed="rId8"/>
          <a:stretch>
            <a:fillRect/>
          </a:stretch>
        </p:blipFill>
        <p:spPr>
          <a:xfrm>
            <a:off x="548640" y="1463040"/>
            <a:ext cx="3566160" cy="4663440"/>
          </a:xfrm>
          <a:prstGeom prst="rect">
            <a:avLst/>
          </a:prstGeom>
        </p:spPr>
      </p:pic>
      <p:sp>
        <p:nvSpPr>
          <p:cNvPr id="22" name="Shape 14"/>
          <p:cNvSpPr/>
          <p:nvPr/>
        </p:nvSpPr>
        <p:spPr>
          <a:xfrm>
            <a:off x="4297680" y="1463040"/>
            <a:ext cx="3566160" cy="4663440"/>
          </a:xfrm>
          <a:prstGeom prst="roundRect">
            <a:avLst>
              <a:gd name="adj" fmla="val 2051"/>
            </a:avLst>
          </a:prstGeom>
          <a:solidFill>
            <a:srgbClr val="FFFFFF"/>
          </a:solidFill>
          <a:ln w="12700">
            <a:solidFill>
              <a:srgbClr val="D9DEE2"/>
            </a:solidFill>
            <a:prstDash val="solid"/>
          </a:ln>
        </p:spPr>
      </p:sp>
      <p:sp>
        <p:nvSpPr>
          <p:cNvPr id="23" name="Shape 15"/>
          <p:cNvSpPr/>
          <p:nvPr/>
        </p:nvSpPr>
        <p:spPr>
          <a:xfrm>
            <a:off x="4297680" y="1463040"/>
            <a:ext cx="3566160" cy="566928"/>
          </a:xfrm>
          <a:prstGeom prst="roundRect">
            <a:avLst>
              <a:gd name="adj" fmla="val 12903"/>
            </a:avLst>
          </a:prstGeom>
          <a:solidFill>
            <a:srgbClr val="FF462D"/>
          </a:solidFill>
          <a:ln/>
        </p:spPr>
      </p:sp>
      <p:sp>
        <p:nvSpPr>
          <p:cNvPr id="24" name="Shape 16"/>
          <p:cNvSpPr/>
          <p:nvPr/>
        </p:nvSpPr>
        <p:spPr>
          <a:xfrm>
            <a:off x="4297680" y="1828800"/>
            <a:ext cx="3566160" cy="201168"/>
          </a:xfrm>
          <a:prstGeom prst="rect">
            <a:avLst/>
          </a:prstGeom>
          <a:solidFill>
            <a:srgbClr val="FF462D"/>
          </a:solidFill>
          <a:ln/>
        </p:spPr>
      </p:sp>
      <p:pic>
        <p:nvPicPr>
          <p:cNvPr id="25" name="Image 6" descr="/private/tmp/claude-501/-Users-salehhamed-Outcome-Engine/91861432-41e2-4884-bc97-63c6dff2d021/scratchpad/wk/icons/TbDeviceMobile-white.png">    </p:cNvPr>
          <p:cNvPicPr>
            <a:picLocks noChangeAspect="1"/>
          </p:cNvPicPr>
          <p:nvPr/>
        </p:nvPicPr>
        <p:blipFill>
          <a:blip r:embed="rId10"/>
          <a:stretch>
            <a:fillRect/>
          </a:stretch>
        </p:blipFill>
        <p:spPr>
          <a:xfrm>
            <a:off x="4462272" y="1554480"/>
            <a:ext cx="384048" cy="384048"/>
          </a:xfrm>
          <a:prstGeom prst="rect">
            <a:avLst/>
          </a:prstGeom>
        </p:spPr>
      </p:pic>
      <p:sp>
        <p:nvSpPr>
          <p:cNvPr id="26" name="Text 17"/>
          <p:cNvSpPr txBox="1"/>
          <p:nvPr/>
        </p:nvSpPr>
        <p:spPr>
          <a:xfrm>
            <a:off x="495604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B · LIVE VOTING</a:t>
            </a:r>
            <a:endParaRPr lang="en-US" sz="1150" dirty="0"/>
          </a:p>
        </p:txBody>
      </p:sp>
      <p:sp>
        <p:nvSpPr>
          <p:cNvPr id="27" name="Text 18"/>
          <p:cNvSpPr txBox="1"/>
          <p:nvPr/>
        </p:nvSpPr>
        <p:spPr>
          <a:xfrm>
            <a:off x="452628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Choose on phones</a:t>
            </a:r>
            <a:endParaRPr lang="en-US" sz="2100" dirty="0"/>
          </a:p>
        </p:txBody>
      </p:sp>
      <p:sp>
        <p:nvSpPr>
          <p:cNvPr id="28" name="Text 19"/>
          <p:cNvSpPr txBox="1"/>
          <p:nvPr/>
        </p:nvSpPr>
        <p:spPr>
          <a:xfrm>
            <a:off x="452628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A short demo, then cases and seats chosen on phones.</a:t>
            </a:r>
            <a:endParaRPr lang="en-US" sz="1400" dirty="0"/>
          </a:p>
        </p:txBody>
      </p:sp>
      <p:pic>
        <p:nvPicPr>
          <p:cNvPr id="29" name="Image 7" descr="/private/tmp/claude-501/-Users-salehhamed-Outcome-Engine/91861432-41e2-4884-bc97-63c6dff2d021/scratchpad/wk/icons/TbClock-grey.png">    </p:cNvPr>
          <p:cNvPicPr>
            <a:picLocks noChangeAspect="1"/>
          </p:cNvPicPr>
          <p:nvPr/>
        </p:nvPicPr>
        <p:blipFill>
          <a:blip r:embed="rId11"/>
          <a:stretch>
            <a:fillRect/>
          </a:stretch>
        </p:blipFill>
        <p:spPr>
          <a:xfrm>
            <a:off x="4526280" y="4297680"/>
            <a:ext cx="274320" cy="274320"/>
          </a:xfrm>
          <a:prstGeom prst="rect">
            <a:avLst/>
          </a:prstGeom>
        </p:spPr>
      </p:pic>
      <p:sp>
        <p:nvSpPr>
          <p:cNvPr id="30" name="Text 20"/>
          <p:cNvSpPr txBox="1"/>
          <p:nvPr/>
        </p:nvSpPr>
        <p:spPr>
          <a:xfrm>
            <a:off x="489204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30 min</a:t>
            </a:r>
            <a:endParaRPr lang="en-US" sz="1200" dirty="0"/>
          </a:p>
        </p:txBody>
      </p:sp>
      <p:pic>
        <p:nvPicPr>
          <p:cNvPr id="31" name="Image 8" descr="/private/tmp/claude-501/-Users-salehhamed-Outcome-Engine/91861432-41e2-4884-bc97-63c6dff2d021/scratchpad/wk/icons/TbUsers-grey.png">    </p:cNvPr>
          <p:cNvPicPr>
            <a:picLocks noChangeAspect="1"/>
          </p:cNvPicPr>
          <p:nvPr/>
        </p:nvPicPr>
        <p:blipFill>
          <a:blip r:embed="rId12"/>
          <a:stretch>
            <a:fillRect/>
          </a:stretch>
        </p:blipFill>
        <p:spPr>
          <a:xfrm>
            <a:off x="4526280" y="4681728"/>
            <a:ext cx="274320" cy="274320"/>
          </a:xfrm>
          <a:prstGeom prst="rect">
            <a:avLst/>
          </a:prstGeom>
        </p:spPr>
      </p:pic>
      <p:sp>
        <p:nvSpPr>
          <p:cNvPr id="32" name="Text 21"/>
          <p:cNvSpPr txBox="1"/>
          <p:nvPr/>
        </p:nvSpPr>
        <p:spPr>
          <a:xfrm>
            <a:off x="489204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Whole room</a:t>
            </a:r>
            <a:endParaRPr lang="en-US" sz="1200" dirty="0"/>
          </a:p>
        </p:txBody>
      </p:sp>
      <p:pic>
        <p:nvPicPr>
          <p:cNvPr id="33" name="Image 9" descr="/private/tmp/claude-501/-Users-salehhamed-Outcome-Engine/91861432-41e2-4884-bc97-63c6dff2d021/scratchpad/wk/icons/TbGauge-grey.png">    </p:cNvPr>
          <p:cNvPicPr>
            <a:picLocks noChangeAspect="1"/>
          </p:cNvPicPr>
          <p:nvPr/>
        </p:nvPicPr>
        <p:blipFill>
          <a:blip r:embed="rId13"/>
          <a:stretch>
            <a:fillRect/>
          </a:stretch>
        </p:blipFill>
        <p:spPr>
          <a:xfrm>
            <a:off x="4526280" y="5065776"/>
            <a:ext cx="274320" cy="274320"/>
          </a:xfrm>
          <a:prstGeom prst="rect">
            <a:avLst/>
          </a:prstGeom>
        </p:spPr>
      </p:pic>
      <p:sp>
        <p:nvSpPr>
          <p:cNvPr id="34" name="Text 22"/>
          <p:cNvSpPr txBox="1"/>
          <p:nvPr/>
        </p:nvSpPr>
        <p:spPr>
          <a:xfrm>
            <a:off x="489204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35" name="Text 23"/>
          <p:cNvSpPr txBox="1"/>
          <p:nvPr/>
        </p:nvSpPr>
        <p:spPr>
          <a:xfrm>
            <a:off x="452628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room tool is already in use.</a:t>
            </a:r>
            <a:endParaRPr lang="en-US" sz="1150" dirty="0"/>
          </a:p>
        </p:txBody>
      </p:sp>
      <p:pic>
        <p:nvPicPr>
          <p:cNvPr id="36" name="Image 10" descr="/private/tmp/claude-501/-Users-salehhamed-Outcome-Engine/91861432-41e2-4884-bc97-63c6dff2d021/scratchpad/wk/brand/clear.png">
            <a:hlinkClick r:id="rId15" tooltip="Option B" action="ppaction://hlinksldjump"/>
          </p:cNvPr>
          <p:cNvPicPr>
            <a:picLocks noChangeAspect="1"/>
          </p:cNvPicPr>
          <p:nvPr/>
        </p:nvPicPr>
        <p:blipFill>
          <a:blip r:embed="rId14"/>
          <a:stretch>
            <a:fillRect/>
          </a:stretch>
        </p:blipFill>
        <p:spPr>
          <a:xfrm>
            <a:off x="4297680" y="1463040"/>
            <a:ext cx="3566160" cy="4663440"/>
          </a:xfrm>
          <a:prstGeom prst="rect">
            <a:avLst/>
          </a:prstGeom>
        </p:spPr>
      </p:pic>
      <p:sp>
        <p:nvSpPr>
          <p:cNvPr id="37" name="Shape 24"/>
          <p:cNvSpPr/>
          <p:nvPr/>
        </p:nvSpPr>
        <p:spPr>
          <a:xfrm>
            <a:off x="8046720" y="1463040"/>
            <a:ext cx="3566160" cy="4663440"/>
          </a:xfrm>
          <a:prstGeom prst="roundRect">
            <a:avLst>
              <a:gd name="adj" fmla="val 2051"/>
            </a:avLst>
          </a:prstGeom>
          <a:solidFill>
            <a:srgbClr val="FFFFFF"/>
          </a:solidFill>
          <a:ln w="12700">
            <a:solidFill>
              <a:srgbClr val="D9DEE2"/>
            </a:solidFill>
            <a:prstDash val="solid"/>
          </a:ln>
        </p:spPr>
      </p:sp>
      <p:sp>
        <p:nvSpPr>
          <p:cNvPr id="38" name="Shape 25"/>
          <p:cNvSpPr/>
          <p:nvPr/>
        </p:nvSpPr>
        <p:spPr>
          <a:xfrm>
            <a:off x="8046720" y="1463040"/>
            <a:ext cx="3566160" cy="566928"/>
          </a:xfrm>
          <a:prstGeom prst="roundRect">
            <a:avLst>
              <a:gd name="adj" fmla="val 12903"/>
            </a:avLst>
          </a:prstGeom>
          <a:solidFill>
            <a:srgbClr val="36454F"/>
          </a:solidFill>
          <a:ln/>
        </p:spPr>
      </p:sp>
      <p:sp>
        <p:nvSpPr>
          <p:cNvPr id="39" name="Shape 26"/>
          <p:cNvSpPr/>
          <p:nvPr/>
        </p:nvSpPr>
        <p:spPr>
          <a:xfrm>
            <a:off x="8046720" y="1828800"/>
            <a:ext cx="3566160" cy="201168"/>
          </a:xfrm>
          <a:prstGeom prst="rect">
            <a:avLst/>
          </a:prstGeom>
          <a:solidFill>
            <a:srgbClr val="36454F"/>
          </a:solidFill>
          <a:ln/>
        </p:spPr>
      </p:sp>
      <p:pic>
        <p:nvPicPr>
          <p:cNvPr id="40" name="Image 11" descr="/private/tmp/claude-501/-Users-salehhamed-Outcome-Engine/91861432-41e2-4884-bc97-63c6dff2d021/scratchpad/wk/icons/TbMasksTheater-white.png">    </p:cNvPr>
          <p:cNvPicPr>
            <a:picLocks noChangeAspect="1"/>
          </p:cNvPicPr>
          <p:nvPr/>
        </p:nvPicPr>
        <p:blipFill>
          <a:blip r:embed="rId16"/>
          <a:stretch>
            <a:fillRect/>
          </a:stretch>
        </p:blipFill>
        <p:spPr>
          <a:xfrm>
            <a:off x="8211312" y="1554480"/>
            <a:ext cx="384048" cy="384048"/>
          </a:xfrm>
          <a:prstGeom prst="rect">
            <a:avLst/>
          </a:prstGeom>
        </p:spPr>
      </p:pic>
      <p:sp>
        <p:nvSpPr>
          <p:cNvPr id="41" name="Text 27"/>
          <p:cNvSpPr txBox="1"/>
          <p:nvPr/>
        </p:nvSpPr>
        <p:spPr>
          <a:xfrm>
            <a:off x="870508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C · CASES AND CONVERSATION</a:t>
            </a:r>
            <a:endParaRPr lang="en-US" sz="1150" dirty="0"/>
          </a:p>
        </p:txBody>
      </p:sp>
      <p:sp>
        <p:nvSpPr>
          <p:cNvPr id="42" name="Text 28"/>
          <p:cNvSpPr txBox="1"/>
          <p:nvPr/>
        </p:nvSpPr>
        <p:spPr>
          <a:xfrm>
            <a:off x="827532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Imagine it failed</a:t>
            </a:r>
            <a:endParaRPr lang="en-US" sz="2100" dirty="0"/>
          </a:p>
        </p:txBody>
      </p:sp>
      <p:sp>
        <p:nvSpPr>
          <p:cNvPr id="43" name="Text 29"/>
          <p:cNvSpPr txBox="1"/>
          <p:nvPr/>
        </p:nvSpPr>
        <p:spPr>
          <a:xfrm>
            <a:off x="827532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Imagine tomorrow's live run failed; list why, so the build team can prevent it.</a:t>
            </a:r>
            <a:endParaRPr lang="en-US" sz="1400" dirty="0"/>
          </a:p>
        </p:txBody>
      </p:sp>
      <p:pic>
        <p:nvPicPr>
          <p:cNvPr id="44" name="Image 12" descr="/private/tmp/claude-501/-Users-salehhamed-Outcome-Engine/91861432-41e2-4884-bc97-63c6dff2d021/scratchpad/wk/icons/TbClock-grey.png">    </p:cNvPr>
          <p:cNvPicPr>
            <a:picLocks noChangeAspect="1"/>
          </p:cNvPicPr>
          <p:nvPr/>
        </p:nvPicPr>
        <p:blipFill>
          <a:blip r:embed="rId17"/>
          <a:stretch>
            <a:fillRect/>
          </a:stretch>
        </p:blipFill>
        <p:spPr>
          <a:xfrm>
            <a:off x="8275320" y="4297680"/>
            <a:ext cx="274320" cy="274320"/>
          </a:xfrm>
          <a:prstGeom prst="rect">
            <a:avLst/>
          </a:prstGeom>
        </p:spPr>
      </p:pic>
      <p:sp>
        <p:nvSpPr>
          <p:cNvPr id="45" name="Text 30"/>
          <p:cNvSpPr txBox="1"/>
          <p:nvPr/>
        </p:nvSpPr>
        <p:spPr>
          <a:xfrm>
            <a:off x="864108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30 min</a:t>
            </a:r>
            <a:endParaRPr lang="en-US" sz="1200" dirty="0"/>
          </a:p>
        </p:txBody>
      </p:sp>
      <p:pic>
        <p:nvPicPr>
          <p:cNvPr id="46" name="Image 13" descr="/private/tmp/claude-501/-Users-salehhamed-Outcome-Engine/91861432-41e2-4884-bc97-63c6dff2d021/scratchpad/wk/icons/TbUsers-grey.png">    </p:cNvPr>
          <p:cNvPicPr>
            <a:picLocks noChangeAspect="1"/>
          </p:cNvPicPr>
          <p:nvPr/>
        </p:nvPicPr>
        <p:blipFill>
          <a:blip r:embed="rId18"/>
          <a:stretch>
            <a:fillRect/>
          </a:stretch>
        </p:blipFill>
        <p:spPr>
          <a:xfrm>
            <a:off x="8275320" y="4681728"/>
            <a:ext cx="274320" cy="274320"/>
          </a:xfrm>
          <a:prstGeom prst="rect">
            <a:avLst/>
          </a:prstGeom>
        </p:spPr>
      </p:pic>
      <p:sp>
        <p:nvSpPr>
          <p:cNvPr id="47" name="Text 31"/>
          <p:cNvSpPr txBox="1"/>
          <p:nvPr/>
        </p:nvSpPr>
        <p:spPr>
          <a:xfrm>
            <a:off x="864108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Whole room</a:t>
            </a:r>
            <a:endParaRPr lang="en-US" sz="1200" dirty="0"/>
          </a:p>
        </p:txBody>
      </p:sp>
      <p:pic>
        <p:nvPicPr>
          <p:cNvPr id="48" name="Image 14" descr="/private/tmp/claude-501/-Users-salehhamed-Outcome-Engine/91861432-41e2-4884-bc97-63c6dff2d021/scratchpad/wk/icons/TbGauge-grey.png">    </p:cNvPr>
          <p:cNvPicPr>
            <a:picLocks noChangeAspect="1"/>
          </p:cNvPicPr>
          <p:nvPr/>
        </p:nvPicPr>
        <p:blipFill>
          <a:blip r:embed="rId19"/>
          <a:stretch>
            <a:fillRect/>
          </a:stretch>
        </p:blipFill>
        <p:spPr>
          <a:xfrm>
            <a:off x="8275320" y="5065776"/>
            <a:ext cx="274320" cy="274320"/>
          </a:xfrm>
          <a:prstGeom prst="rect">
            <a:avLst/>
          </a:prstGeom>
        </p:spPr>
      </p:pic>
      <p:sp>
        <p:nvSpPr>
          <p:cNvPr id="49" name="Text 32"/>
          <p:cNvSpPr txBox="1"/>
          <p:nvPr/>
        </p:nvSpPr>
        <p:spPr>
          <a:xfrm>
            <a:off x="864108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50" name="Text 33"/>
          <p:cNvSpPr txBox="1"/>
          <p:nvPr/>
        </p:nvSpPr>
        <p:spPr>
          <a:xfrm>
            <a:off x="827532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You sense hidden worries about tomorrow.</a:t>
            </a:r>
            <a:endParaRPr lang="en-US" sz="1150" dirty="0"/>
          </a:p>
        </p:txBody>
      </p:sp>
      <p:pic>
        <p:nvPicPr>
          <p:cNvPr id="51" name="Image 15" descr="/private/tmp/claude-501/-Users-salehhamed-Outcome-Engine/91861432-41e2-4884-bc97-63c6dff2d021/scratchpad/wk/brand/clear.png">
            <a:hlinkClick r:id="rId21" tooltip="Option C" action="ppaction://hlinksldjump"/>
          </p:cNvPr>
          <p:cNvPicPr>
            <a:picLocks noChangeAspect="1"/>
          </p:cNvPicPr>
          <p:nvPr/>
        </p:nvPicPr>
        <p:blipFill>
          <a:blip r:embed="rId20"/>
          <a:stretch>
            <a:fillRect/>
          </a:stretch>
        </p:blipFill>
        <p:spPr>
          <a:xfrm>
            <a:off x="8046720" y="1463040"/>
            <a:ext cx="3566160" cy="466344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OPTION A · HANDS-ON · CHECKPOINT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Show, choose, sign up</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16:15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108</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A short demo, a dot vote on cases, and a seat sign-up sheet.</a:t>
            </a:r>
            <a:endParaRPr lang="en-US" sz="1900" dirty="0"/>
          </a:p>
        </p:txBody>
      </p:sp>
      <p:sp>
        <p:nvSpPr>
          <p:cNvPr id="8" name="Shape 5"/>
          <p:cNvSpPr/>
          <p:nvPr/>
        </p:nvSpPr>
        <p:spPr>
          <a:xfrm>
            <a:off x="548640" y="2240280"/>
            <a:ext cx="3661562" cy="1417320"/>
          </a:xfrm>
          <a:prstGeom prst="rect">
            <a:avLst/>
          </a:prstGeom>
          <a:solidFill>
            <a:srgbClr val="287079"/>
          </a:solidFill>
          <a:ln/>
        </p:spPr>
      </p:sp>
      <p:sp>
        <p:nvSpPr>
          <p:cNvPr id="9" name="Text 6"/>
          <p:cNvSpPr txBox="1"/>
          <p:nvPr/>
        </p:nvSpPr>
        <p:spPr>
          <a:xfrm>
            <a:off x="640080"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0" name="Text 7"/>
          <p:cNvSpPr txBox="1"/>
          <p:nvPr/>
        </p:nvSpPr>
        <p:spPr>
          <a:xfrm>
            <a:off x="640080"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Demo</a:t>
            </a:r>
            <a:endParaRPr lang="en-US" sz="1500" dirty="0"/>
          </a:p>
        </p:txBody>
      </p:sp>
      <p:sp>
        <p:nvSpPr>
          <p:cNvPr id="11" name="Shape 8"/>
          <p:cNvSpPr/>
          <p:nvPr/>
        </p:nvSpPr>
        <p:spPr>
          <a:xfrm>
            <a:off x="4246778" y="2240280"/>
            <a:ext cx="2921935" cy="1417320"/>
          </a:xfrm>
          <a:prstGeom prst="rect">
            <a:avLst/>
          </a:prstGeom>
          <a:solidFill>
            <a:srgbClr val="5C8F95"/>
          </a:solidFill>
          <a:ln/>
        </p:spPr>
      </p:sp>
      <p:sp>
        <p:nvSpPr>
          <p:cNvPr id="12" name="Text 9"/>
          <p:cNvSpPr txBox="1"/>
          <p:nvPr/>
        </p:nvSpPr>
        <p:spPr>
          <a:xfrm>
            <a:off x="4338218" y="2331720"/>
            <a:ext cx="2775631"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8 min</a:t>
            </a:r>
            <a:endParaRPr lang="en-US" sz="1150" dirty="0"/>
          </a:p>
        </p:txBody>
      </p:sp>
      <p:sp>
        <p:nvSpPr>
          <p:cNvPr id="13" name="Text 10"/>
          <p:cNvSpPr txBox="1"/>
          <p:nvPr/>
        </p:nvSpPr>
        <p:spPr>
          <a:xfrm>
            <a:off x="4338218" y="2651760"/>
            <a:ext cx="2812207"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Vote the cases</a:t>
            </a:r>
            <a:endParaRPr lang="en-US" sz="1500" dirty="0"/>
          </a:p>
        </p:txBody>
      </p:sp>
      <p:sp>
        <p:nvSpPr>
          <p:cNvPr id="14" name="Shape 11"/>
          <p:cNvSpPr/>
          <p:nvPr/>
        </p:nvSpPr>
        <p:spPr>
          <a:xfrm>
            <a:off x="7205289" y="2240280"/>
            <a:ext cx="2552121" cy="1417320"/>
          </a:xfrm>
          <a:prstGeom prst="rect">
            <a:avLst/>
          </a:prstGeom>
          <a:solidFill>
            <a:srgbClr val="287079"/>
          </a:solidFill>
          <a:ln/>
        </p:spPr>
      </p:sp>
      <p:sp>
        <p:nvSpPr>
          <p:cNvPr id="15" name="Text 12"/>
          <p:cNvSpPr txBox="1"/>
          <p:nvPr/>
        </p:nvSpPr>
        <p:spPr>
          <a:xfrm>
            <a:off x="7296729" y="2331720"/>
            <a:ext cx="2405817"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7 min</a:t>
            </a:r>
            <a:endParaRPr lang="en-US" sz="1150" dirty="0"/>
          </a:p>
        </p:txBody>
      </p:sp>
      <p:sp>
        <p:nvSpPr>
          <p:cNvPr id="16" name="Text 13"/>
          <p:cNvSpPr txBox="1"/>
          <p:nvPr/>
        </p:nvSpPr>
        <p:spPr>
          <a:xfrm>
            <a:off x="7296729" y="2651760"/>
            <a:ext cx="2442393"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Seat sign-up</a:t>
            </a:r>
            <a:endParaRPr lang="en-US" sz="1500" dirty="0"/>
          </a:p>
        </p:txBody>
      </p:sp>
      <p:sp>
        <p:nvSpPr>
          <p:cNvPr id="17" name="Shape 14"/>
          <p:cNvSpPr/>
          <p:nvPr/>
        </p:nvSpPr>
        <p:spPr>
          <a:xfrm>
            <a:off x="9793986" y="2240280"/>
            <a:ext cx="1812493" cy="1417320"/>
          </a:xfrm>
          <a:prstGeom prst="rect">
            <a:avLst/>
          </a:prstGeom>
          <a:solidFill>
            <a:srgbClr val="5C8F95"/>
          </a:solidFill>
          <a:ln/>
        </p:spPr>
      </p:sp>
      <p:sp>
        <p:nvSpPr>
          <p:cNvPr id="18" name="Text 15"/>
          <p:cNvSpPr txBox="1"/>
          <p:nvPr/>
        </p:nvSpPr>
        <p:spPr>
          <a:xfrm>
            <a:off x="9885426"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9" name="Text 16"/>
          <p:cNvSpPr txBox="1"/>
          <p:nvPr/>
        </p:nvSpPr>
        <p:spPr>
          <a:xfrm>
            <a:off x="9885426"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Owners</a:t>
            </a:r>
            <a:endParaRPr lang="en-US" sz="1500" dirty="0"/>
          </a:p>
        </p:txBody>
      </p:sp>
      <p:sp>
        <p:nvSpPr>
          <p:cNvPr id="20" name="Shape 17"/>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1"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2" name="Text 18"/>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3" name="Text 19"/>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Whole room</a:t>
            </a:r>
            <a:endParaRPr lang="en-US" sz="1300" dirty="0"/>
          </a:p>
        </p:txBody>
      </p:sp>
      <p:sp>
        <p:nvSpPr>
          <p:cNvPr id="24" name="Shape 20"/>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5"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6" name="Text 21"/>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7" name="Text 22"/>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Chosen cases, the seat list, open questions with owners.</a:t>
            </a:r>
            <a:endParaRPr lang="en-US" sz="1300" dirty="0"/>
          </a:p>
        </p:txBody>
      </p:sp>
      <p:sp>
        <p:nvSpPr>
          <p:cNvPr id="28" name="Shape 23"/>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9"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30" name="Text 24"/>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31" name="Text 25"/>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name="Slide 10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FF462D"/>
                </a:solidFill>
                <a:latin typeface="Arial" pitchFamily="34" charset="0"/>
                <a:ea typeface="Arial" pitchFamily="34" charset="-122"/>
                <a:cs typeface="Arial" pitchFamily="34" charset="-120"/>
              </a:rPr>
              <a:t>OPTION B · LIVE VOTING · CHECKPOINT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Choose on phones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16:15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109</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A short demo, then cases and seats chosen on phones.</a:t>
            </a:r>
            <a:endParaRPr lang="en-US" sz="1900" dirty="0"/>
          </a:p>
        </p:txBody>
      </p:sp>
      <p:sp>
        <p:nvSpPr>
          <p:cNvPr id="8" name="Shape 5"/>
          <p:cNvSpPr/>
          <p:nvPr/>
        </p:nvSpPr>
        <p:spPr>
          <a:xfrm>
            <a:off x="548640" y="2240280"/>
            <a:ext cx="3661562" cy="1417320"/>
          </a:xfrm>
          <a:prstGeom prst="rect">
            <a:avLst/>
          </a:prstGeom>
          <a:solidFill>
            <a:srgbClr val="FF462D"/>
          </a:solidFill>
          <a:ln/>
        </p:spPr>
      </p:sp>
      <p:sp>
        <p:nvSpPr>
          <p:cNvPr id="9" name="Text 6"/>
          <p:cNvSpPr txBox="1"/>
          <p:nvPr/>
        </p:nvSpPr>
        <p:spPr>
          <a:xfrm>
            <a:off x="640080"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0" name="Text 7"/>
          <p:cNvSpPr txBox="1"/>
          <p:nvPr/>
        </p:nvSpPr>
        <p:spPr>
          <a:xfrm>
            <a:off x="640080"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Demo</a:t>
            </a:r>
            <a:endParaRPr lang="en-US" sz="1500" dirty="0"/>
          </a:p>
        </p:txBody>
      </p:sp>
      <p:sp>
        <p:nvSpPr>
          <p:cNvPr id="11" name="Shape 8"/>
          <p:cNvSpPr/>
          <p:nvPr/>
        </p:nvSpPr>
        <p:spPr>
          <a:xfrm>
            <a:off x="4246778" y="2240280"/>
            <a:ext cx="2921935" cy="1417320"/>
          </a:xfrm>
          <a:prstGeom prst="rect">
            <a:avLst/>
          </a:prstGeom>
          <a:solidFill>
            <a:srgbClr val="FF8A78"/>
          </a:solidFill>
          <a:ln/>
        </p:spPr>
      </p:sp>
      <p:sp>
        <p:nvSpPr>
          <p:cNvPr id="12" name="Text 9"/>
          <p:cNvSpPr txBox="1"/>
          <p:nvPr/>
        </p:nvSpPr>
        <p:spPr>
          <a:xfrm>
            <a:off x="4338218" y="2331720"/>
            <a:ext cx="2775631"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8 min</a:t>
            </a:r>
            <a:endParaRPr lang="en-US" sz="1150" dirty="0"/>
          </a:p>
        </p:txBody>
      </p:sp>
      <p:sp>
        <p:nvSpPr>
          <p:cNvPr id="13" name="Text 10"/>
          <p:cNvSpPr txBox="1"/>
          <p:nvPr/>
        </p:nvSpPr>
        <p:spPr>
          <a:xfrm>
            <a:off x="4338218" y="2651760"/>
            <a:ext cx="2812207"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Vote the cases</a:t>
            </a:r>
            <a:endParaRPr lang="en-US" sz="1500" dirty="0"/>
          </a:p>
        </p:txBody>
      </p:sp>
      <p:sp>
        <p:nvSpPr>
          <p:cNvPr id="14" name="Shape 11"/>
          <p:cNvSpPr/>
          <p:nvPr/>
        </p:nvSpPr>
        <p:spPr>
          <a:xfrm>
            <a:off x="7205289" y="2240280"/>
            <a:ext cx="2552121" cy="1417320"/>
          </a:xfrm>
          <a:prstGeom prst="rect">
            <a:avLst/>
          </a:prstGeom>
          <a:solidFill>
            <a:srgbClr val="FF462D"/>
          </a:solidFill>
          <a:ln/>
        </p:spPr>
      </p:sp>
      <p:sp>
        <p:nvSpPr>
          <p:cNvPr id="15" name="Text 12"/>
          <p:cNvSpPr txBox="1"/>
          <p:nvPr/>
        </p:nvSpPr>
        <p:spPr>
          <a:xfrm>
            <a:off x="7296729" y="2331720"/>
            <a:ext cx="2405817"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7 min</a:t>
            </a:r>
            <a:endParaRPr lang="en-US" sz="1150" dirty="0"/>
          </a:p>
        </p:txBody>
      </p:sp>
      <p:sp>
        <p:nvSpPr>
          <p:cNvPr id="16" name="Text 13"/>
          <p:cNvSpPr txBox="1"/>
          <p:nvPr/>
        </p:nvSpPr>
        <p:spPr>
          <a:xfrm>
            <a:off x="7296729" y="2651760"/>
            <a:ext cx="2442393"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Claim seats</a:t>
            </a:r>
            <a:endParaRPr lang="en-US" sz="1500" dirty="0"/>
          </a:p>
        </p:txBody>
      </p:sp>
      <p:sp>
        <p:nvSpPr>
          <p:cNvPr id="17" name="Shape 14"/>
          <p:cNvSpPr/>
          <p:nvPr/>
        </p:nvSpPr>
        <p:spPr>
          <a:xfrm>
            <a:off x="9793986" y="2240280"/>
            <a:ext cx="1812493" cy="1417320"/>
          </a:xfrm>
          <a:prstGeom prst="rect">
            <a:avLst/>
          </a:prstGeom>
          <a:solidFill>
            <a:srgbClr val="FF8A78"/>
          </a:solidFill>
          <a:ln/>
        </p:spPr>
      </p:sp>
      <p:sp>
        <p:nvSpPr>
          <p:cNvPr id="18" name="Text 15"/>
          <p:cNvSpPr txBox="1"/>
          <p:nvPr/>
        </p:nvSpPr>
        <p:spPr>
          <a:xfrm>
            <a:off x="9885426"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9" name="Text 16"/>
          <p:cNvSpPr txBox="1"/>
          <p:nvPr/>
        </p:nvSpPr>
        <p:spPr>
          <a:xfrm>
            <a:off x="9885426"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Owners</a:t>
            </a:r>
            <a:endParaRPr lang="en-US" sz="1500" dirty="0"/>
          </a:p>
        </p:txBody>
      </p:sp>
      <p:sp>
        <p:nvSpPr>
          <p:cNvPr id="20" name="Shape 17"/>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1"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2" name="Text 18"/>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3" name="Text 19"/>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Whole room</a:t>
            </a:r>
            <a:endParaRPr lang="en-US" sz="1300" dirty="0"/>
          </a:p>
        </p:txBody>
      </p:sp>
      <p:sp>
        <p:nvSpPr>
          <p:cNvPr id="24" name="Shape 20"/>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5"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6" name="Text 21"/>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7" name="Text 22"/>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Saved in the room tool.</a:t>
            </a:r>
            <a:endParaRPr lang="en-US" sz="1300" dirty="0"/>
          </a:p>
        </p:txBody>
      </p:sp>
      <p:sp>
        <p:nvSpPr>
          <p:cNvPr id="28" name="Shape 23"/>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29"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30" name="Text 24"/>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31" name="Text 25"/>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name="Slide 1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36454F"/>
                </a:solidFill>
                <a:latin typeface="Arial" pitchFamily="34" charset="0"/>
                <a:ea typeface="Arial" pitchFamily="34" charset="-122"/>
                <a:cs typeface="Arial" pitchFamily="34" charset="-120"/>
              </a:rPr>
              <a:t>OPTION C · CASES AND CONVERSATION · CHECKPOINT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Imagine it failed</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16:15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110</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Imagine tomorrow's live run failed; list why, so the build team can prevent it.</a:t>
            </a:r>
            <a:endParaRPr lang="en-US" sz="1900" dirty="0"/>
          </a:p>
        </p:txBody>
      </p:sp>
      <p:sp>
        <p:nvSpPr>
          <p:cNvPr id="8" name="Shape 5"/>
          <p:cNvSpPr/>
          <p:nvPr/>
        </p:nvSpPr>
        <p:spPr>
          <a:xfrm>
            <a:off x="548640" y="2240280"/>
            <a:ext cx="3661562" cy="1417320"/>
          </a:xfrm>
          <a:prstGeom prst="rect">
            <a:avLst/>
          </a:prstGeom>
          <a:solidFill>
            <a:srgbClr val="36454F"/>
          </a:solidFill>
          <a:ln/>
        </p:spPr>
      </p:sp>
      <p:sp>
        <p:nvSpPr>
          <p:cNvPr id="9" name="Text 6"/>
          <p:cNvSpPr txBox="1"/>
          <p:nvPr/>
        </p:nvSpPr>
        <p:spPr>
          <a:xfrm>
            <a:off x="640080"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0" name="Text 7"/>
          <p:cNvSpPr txBox="1"/>
          <p:nvPr/>
        </p:nvSpPr>
        <p:spPr>
          <a:xfrm>
            <a:off x="640080"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Demo</a:t>
            </a:r>
            <a:endParaRPr lang="en-US" sz="1500" dirty="0"/>
          </a:p>
        </p:txBody>
      </p:sp>
      <p:sp>
        <p:nvSpPr>
          <p:cNvPr id="11" name="Shape 8"/>
          <p:cNvSpPr/>
          <p:nvPr/>
        </p:nvSpPr>
        <p:spPr>
          <a:xfrm>
            <a:off x="4246778" y="2240280"/>
            <a:ext cx="2921935" cy="1417320"/>
          </a:xfrm>
          <a:prstGeom prst="rect">
            <a:avLst/>
          </a:prstGeom>
          <a:solidFill>
            <a:srgbClr val="6B7B86"/>
          </a:solidFill>
          <a:ln/>
        </p:spPr>
      </p:sp>
      <p:sp>
        <p:nvSpPr>
          <p:cNvPr id="12" name="Text 9"/>
          <p:cNvSpPr txBox="1"/>
          <p:nvPr/>
        </p:nvSpPr>
        <p:spPr>
          <a:xfrm>
            <a:off x="4338218" y="2331720"/>
            <a:ext cx="2775631"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8 min</a:t>
            </a:r>
            <a:endParaRPr lang="en-US" sz="1150" dirty="0"/>
          </a:p>
        </p:txBody>
      </p:sp>
      <p:sp>
        <p:nvSpPr>
          <p:cNvPr id="13" name="Text 10"/>
          <p:cNvSpPr txBox="1"/>
          <p:nvPr/>
        </p:nvSpPr>
        <p:spPr>
          <a:xfrm>
            <a:off x="4338218" y="2651760"/>
            <a:ext cx="2812207"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Imagine it failed</a:t>
            </a:r>
            <a:endParaRPr lang="en-US" sz="1500" dirty="0"/>
          </a:p>
        </p:txBody>
      </p:sp>
      <p:sp>
        <p:nvSpPr>
          <p:cNvPr id="14" name="Shape 11"/>
          <p:cNvSpPr/>
          <p:nvPr/>
        </p:nvSpPr>
        <p:spPr>
          <a:xfrm>
            <a:off x="7205289" y="2240280"/>
            <a:ext cx="2552121" cy="1417320"/>
          </a:xfrm>
          <a:prstGeom prst="rect">
            <a:avLst/>
          </a:prstGeom>
          <a:solidFill>
            <a:srgbClr val="36454F"/>
          </a:solidFill>
          <a:ln/>
        </p:spPr>
      </p:sp>
      <p:sp>
        <p:nvSpPr>
          <p:cNvPr id="15" name="Text 12"/>
          <p:cNvSpPr txBox="1"/>
          <p:nvPr/>
        </p:nvSpPr>
        <p:spPr>
          <a:xfrm>
            <a:off x="7296729" y="2331720"/>
            <a:ext cx="2405817"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7 min</a:t>
            </a:r>
            <a:endParaRPr lang="en-US" sz="1150" dirty="0"/>
          </a:p>
        </p:txBody>
      </p:sp>
      <p:sp>
        <p:nvSpPr>
          <p:cNvPr id="16" name="Text 13"/>
          <p:cNvSpPr txBox="1"/>
          <p:nvPr/>
        </p:nvSpPr>
        <p:spPr>
          <a:xfrm>
            <a:off x="7296729" y="2651760"/>
            <a:ext cx="2442393"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Seat sign-up</a:t>
            </a:r>
            <a:endParaRPr lang="en-US" sz="1500" dirty="0"/>
          </a:p>
        </p:txBody>
      </p:sp>
      <p:sp>
        <p:nvSpPr>
          <p:cNvPr id="17" name="Shape 14"/>
          <p:cNvSpPr/>
          <p:nvPr/>
        </p:nvSpPr>
        <p:spPr>
          <a:xfrm>
            <a:off x="9793986" y="2240280"/>
            <a:ext cx="1812493" cy="1417320"/>
          </a:xfrm>
          <a:prstGeom prst="rect">
            <a:avLst/>
          </a:prstGeom>
          <a:solidFill>
            <a:srgbClr val="6B7B86"/>
          </a:solidFill>
          <a:ln/>
        </p:spPr>
      </p:sp>
      <p:sp>
        <p:nvSpPr>
          <p:cNvPr id="18" name="Text 15"/>
          <p:cNvSpPr txBox="1"/>
          <p:nvPr/>
        </p:nvSpPr>
        <p:spPr>
          <a:xfrm>
            <a:off x="9885426"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9" name="Text 16"/>
          <p:cNvSpPr txBox="1"/>
          <p:nvPr/>
        </p:nvSpPr>
        <p:spPr>
          <a:xfrm>
            <a:off x="9885426"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Owners</a:t>
            </a:r>
            <a:endParaRPr lang="en-US" sz="1500" dirty="0"/>
          </a:p>
        </p:txBody>
      </p:sp>
      <p:sp>
        <p:nvSpPr>
          <p:cNvPr id="20" name="Shape 17"/>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1"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2" name="Text 18"/>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3" name="Text 19"/>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Whole room</a:t>
            </a:r>
            <a:endParaRPr lang="en-US" sz="1300" dirty="0"/>
          </a:p>
        </p:txBody>
      </p:sp>
      <p:sp>
        <p:nvSpPr>
          <p:cNvPr id="24" name="Shape 20"/>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5"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6" name="Text 21"/>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7" name="Text 22"/>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Top five risks for the build team, seats, owners.</a:t>
            </a:r>
            <a:endParaRPr lang="en-US" sz="1300" dirty="0"/>
          </a:p>
        </p:txBody>
      </p:sp>
      <p:sp>
        <p:nvSpPr>
          <p:cNvPr id="28" name="Shape 23"/>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29"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30" name="Text 24"/>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31" name="Text 25"/>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CHECKPOINT · FILL IN LIVE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Tomorrow's cases and open questions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16:15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111</a:t>
            </a:r>
            <a:endParaRPr lang="en-US" sz="1000" dirty="0"/>
          </a:p>
        </p:txBody>
      </p:sp>
      <p:sp>
        <p:nvSpPr>
          <p:cNvPr id="7" name="Shape 4"/>
          <p:cNvSpPr/>
          <p:nvPr/>
        </p:nvSpPr>
        <p:spPr>
          <a:xfrm>
            <a:off x="548640" y="1463040"/>
            <a:ext cx="5455768" cy="4572000"/>
          </a:xfrm>
          <a:prstGeom prst="roundRect">
            <a:avLst>
              <a:gd name="adj" fmla="val 1600"/>
            </a:avLst>
          </a:prstGeom>
          <a:solidFill>
            <a:srgbClr val="FFFFFF"/>
          </a:solidFill>
          <a:ln w="12700">
            <a:solidFill>
              <a:srgbClr val="D9DEE2"/>
            </a:solidFill>
            <a:prstDash val="solid"/>
          </a:ln>
        </p:spPr>
      </p:sp>
      <p:sp>
        <p:nvSpPr>
          <p:cNvPr id="8" name="Shape 5"/>
          <p:cNvSpPr/>
          <p:nvPr/>
        </p:nvSpPr>
        <p:spPr>
          <a:xfrm>
            <a:off x="731520" y="1645920"/>
            <a:ext cx="548640" cy="548640"/>
          </a:xfrm>
          <a:prstGeom prst="ellipse">
            <a:avLst/>
          </a:prstGeom>
          <a:solidFill>
            <a:srgbClr val="287079"/>
          </a:solidFill>
          <a:ln/>
        </p:spPr>
      </p:sp>
      <p:pic>
        <p:nvPicPr>
          <p:cNvPr id="9" name="Image 1" descr="/private/tmp/claude-501/-Users-salehhamed-Outcome-Engine/91861432-41e2-4884-bc97-63c6dff2d021/scratchpad/wk/icons/TbBug-white.png">    </p:cNvPr>
          <p:cNvPicPr>
            <a:picLocks noChangeAspect="1"/>
          </p:cNvPicPr>
          <p:nvPr/>
        </p:nvPicPr>
        <p:blipFill>
          <a:blip r:embed="rId4"/>
          <a:stretch>
            <a:fillRect/>
          </a:stretch>
        </p:blipFill>
        <p:spPr>
          <a:xfrm>
            <a:off x="841248" y="1755648"/>
            <a:ext cx="329184" cy="329184"/>
          </a:xfrm>
          <a:prstGeom prst="rect">
            <a:avLst/>
          </a:prstGeom>
        </p:spPr>
      </p:pic>
      <p:sp>
        <p:nvSpPr>
          <p:cNvPr id="10" name="Text 6"/>
          <p:cNvSpPr txBox="1"/>
          <p:nvPr/>
        </p:nvSpPr>
        <p:spPr>
          <a:xfrm>
            <a:off x="1463040" y="1645920"/>
            <a:ext cx="4358488" cy="5486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Cases to run tomorrow</a:t>
            </a:r>
            <a:endParaRPr lang="en-US" sz="1600" dirty="0"/>
          </a:p>
        </p:txBody>
      </p:sp>
      <p:sp>
        <p:nvSpPr>
          <p:cNvPr id="11" name="Shape 7"/>
          <p:cNvSpPr/>
          <p:nvPr/>
        </p:nvSpPr>
        <p:spPr>
          <a:xfrm>
            <a:off x="6187288" y="1463040"/>
            <a:ext cx="5455768" cy="4572000"/>
          </a:xfrm>
          <a:prstGeom prst="roundRect">
            <a:avLst>
              <a:gd name="adj" fmla="val 1600"/>
            </a:avLst>
          </a:prstGeom>
          <a:solidFill>
            <a:srgbClr val="FFFFFF"/>
          </a:solidFill>
          <a:ln w="12700">
            <a:solidFill>
              <a:srgbClr val="D9DEE2"/>
            </a:solidFill>
            <a:prstDash val="solid"/>
          </a:ln>
        </p:spPr>
      </p:sp>
      <p:sp>
        <p:nvSpPr>
          <p:cNvPr id="12" name="Shape 8"/>
          <p:cNvSpPr/>
          <p:nvPr/>
        </p:nvSpPr>
        <p:spPr>
          <a:xfrm>
            <a:off x="6370168" y="1645920"/>
            <a:ext cx="548640" cy="548640"/>
          </a:xfrm>
          <a:prstGeom prst="ellipse">
            <a:avLst/>
          </a:prstGeom>
          <a:solidFill>
            <a:srgbClr val="287079"/>
          </a:solidFill>
          <a:ln/>
        </p:spPr>
      </p:sp>
      <p:pic>
        <p:nvPicPr>
          <p:cNvPr id="13" name="Image 2" descr="/private/tmp/claude-501/-Users-salehhamed-Outcome-Engine/91861432-41e2-4884-bc97-63c6dff2d021/scratchpad/wk/icons/TbMessageQuestion-white.png">    </p:cNvPr>
          <p:cNvPicPr>
            <a:picLocks noChangeAspect="1"/>
          </p:cNvPicPr>
          <p:nvPr/>
        </p:nvPicPr>
        <p:blipFill>
          <a:blip r:embed="rId5"/>
          <a:stretch>
            <a:fillRect/>
          </a:stretch>
        </p:blipFill>
        <p:spPr>
          <a:xfrm>
            <a:off x="6479896" y="1755648"/>
            <a:ext cx="329184" cy="329184"/>
          </a:xfrm>
          <a:prstGeom prst="rect">
            <a:avLst/>
          </a:prstGeom>
        </p:spPr>
      </p:pic>
      <p:sp>
        <p:nvSpPr>
          <p:cNvPr id="14" name="Text 9"/>
          <p:cNvSpPr txBox="1"/>
          <p:nvPr/>
        </p:nvSpPr>
        <p:spPr>
          <a:xfrm>
            <a:off x="7101688" y="1645920"/>
            <a:ext cx="4358488" cy="5486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Open questions, each with an owner and a date</a:t>
            </a:r>
            <a:endParaRPr lang="en-US" sz="16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287079"/>
          </a:solidFill>
          <a:ln/>
        </p:spPr>
      </p:sp>
      <p:sp>
        <p:nvSpPr>
          <p:cNvPr id="3" name="Text 1"/>
          <p:cNvSpPr txBox="1"/>
          <p:nvPr/>
        </p:nvSpPr>
        <p:spPr>
          <a:xfrm>
            <a:off x="548640" y="548640"/>
            <a:ext cx="3474720" cy="274320"/>
          </a:xfrm>
          <a:prstGeom prst="rect">
            <a:avLst/>
          </a:prstGeom>
          <a:noFill/>
          <a:ln/>
        </p:spPr>
        <p:txBody>
          <a:bodyPr wrap="square" lIns="0" tIns="0" rIns="0" bIns="0" rtlCol="0" anchor="t"/>
          <a:lstStyle/>
          <a:p>
            <a:pPr indent="0" marL="0">
              <a:buNone/>
            </a:pPr>
            <a:r>
              <a:rPr lang="en-US" sz="1100" b="1" spc="150" kern="0" dirty="0">
                <a:solidFill>
                  <a:srgbClr val="D9DEE2"/>
                </a:solidFill>
                <a:latin typeface="Arial" pitchFamily="34" charset="0"/>
                <a:ea typeface="Arial" pitchFamily="34" charset="-122"/>
                <a:cs typeface="Arial" pitchFamily="34" charset="-120"/>
              </a:rPr>
              <a:t>DAY 1 · 16:45–17:00 · 15 MIN</a:t>
            </a:r>
            <a:endParaRPr lang="en-US" sz="1100" dirty="0"/>
          </a:p>
        </p:txBody>
      </p:sp>
      <p:sp>
        <p:nvSpPr>
          <p:cNvPr id="4" name="Text 2"/>
          <p:cNvSpPr txBox="1"/>
          <p:nvPr/>
        </p:nvSpPr>
        <p:spPr>
          <a:xfrm>
            <a:off x="548640" y="960120"/>
            <a:ext cx="3383280" cy="2377440"/>
          </a:xfrm>
          <a:prstGeom prst="rect">
            <a:avLst/>
          </a:prstGeom>
          <a:noFill/>
          <a:ln/>
        </p:spPr>
        <p:txBody>
          <a:bodyPr wrap="square" lIns="0" tIns="0" rIns="0" bIns="0" rtlCol="0" anchor="t"/>
          <a:lstStyle/>
          <a:p>
            <a:pPr indent="0" marL="0">
              <a:buNone/>
            </a:pPr>
            <a:r>
              <a:rPr lang="en-US" sz="3000" b="1" dirty="0">
                <a:solidFill>
                  <a:srgbClr val="FFFFFF"/>
                </a:solidFill>
                <a:latin typeface="TWK Everett" pitchFamily="34" charset="0"/>
                <a:ea typeface="TWK Everett" pitchFamily="34" charset="-122"/>
                <a:cs typeface="TWK Everett" pitchFamily="34" charset="-120"/>
              </a:rPr>
              <a:t>Close of Day 1</a:t>
            </a:r>
            <a:endParaRPr lang="en-US" sz="3000" dirty="0"/>
          </a:p>
        </p:txBody>
      </p:sp>
      <p:pic>
        <p:nvPicPr>
          <p:cNvPr id="5" name="Image 0" descr="/private/tmp/claude-501/-Users-salehhamed-Outcome-Engine/91861432-41e2-4884-bc97-63c6dff2d021/scratchpad/wk/icons/TbMoon-white.png">    </p:cNvPr>
          <p:cNvPicPr>
            <a:picLocks noChangeAspect="1"/>
          </p:cNvPicPr>
          <p:nvPr/>
        </p:nvPicPr>
        <p:blipFill>
          <a:blip r:embed="rId1"/>
          <a:stretch>
            <a:fillRect/>
          </a:stretch>
        </p:blipFill>
        <p:spPr>
          <a:xfrm>
            <a:off x="548640" y="3200400"/>
            <a:ext cx="685800" cy="685800"/>
          </a:xfrm>
          <a:prstGeom prst="rect">
            <a:avLst/>
          </a:prstGeom>
        </p:spPr>
      </p:pic>
      <p:sp>
        <p:nvSpPr>
          <p:cNvPr id="6" name="Shape 3"/>
          <p:cNvSpPr/>
          <p:nvPr/>
        </p:nvSpPr>
        <p:spPr>
          <a:xfrm>
            <a:off x="548640" y="4169664"/>
            <a:ext cx="237744" cy="237744"/>
          </a:xfrm>
          <a:prstGeom prst="ellipse">
            <a:avLst/>
          </a:prstGeom>
          <a:solidFill>
            <a:srgbClr val="FFFFFF"/>
          </a:solidFill>
          <a:ln/>
        </p:spPr>
      </p:sp>
      <p:sp>
        <p:nvSpPr>
          <p:cNvPr id="7" name="Shape 4"/>
          <p:cNvSpPr/>
          <p:nvPr/>
        </p:nvSpPr>
        <p:spPr>
          <a:xfrm>
            <a:off x="932688" y="4169664"/>
            <a:ext cx="237744" cy="237744"/>
          </a:xfrm>
          <a:prstGeom prst="ellipse">
            <a:avLst/>
          </a:prstGeom>
          <a:solidFill>
            <a:srgbClr val="FFFFFF"/>
          </a:solidFill>
          <a:ln/>
        </p:spPr>
      </p:sp>
      <p:sp>
        <p:nvSpPr>
          <p:cNvPr id="8" name="Shape 5"/>
          <p:cNvSpPr/>
          <p:nvPr/>
        </p:nvSpPr>
        <p:spPr>
          <a:xfrm>
            <a:off x="1316736" y="4169664"/>
            <a:ext cx="237744" cy="237744"/>
          </a:xfrm>
          <a:prstGeom prst="ellipse">
            <a:avLst/>
          </a:prstGeom>
          <a:solidFill>
            <a:srgbClr val="FFFFFF"/>
          </a:solidFill>
          <a:ln/>
        </p:spPr>
      </p:sp>
      <p:sp>
        <p:nvSpPr>
          <p:cNvPr id="9" name="Shape 6"/>
          <p:cNvSpPr/>
          <p:nvPr/>
        </p:nvSpPr>
        <p:spPr>
          <a:xfrm>
            <a:off x="1700784" y="4169664"/>
            <a:ext cx="237744" cy="237744"/>
          </a:xfrm>
          <a:prstGeom prst="ellipse">
            <a:avLst/>
          </a:prstGeom>
          <a:solidFill>
            <a:srgbClr val="FFFFFF"/>
          </a:solidFill>
          <a:ln/>
        </p:spPr>
      </p:sp>
      <p:sp>
        <p:nvSpPr>
          <p:cNvPr id="10" name="Shape 7"/>
          <p:cNvSpPr/>
          <p:nvPr/>
        </p:nvSpPr>
        <p:spPr>
          <a:xfrm>
            <a:off x="2048256" y="4133088"/>
            <a:ext cx="310896" cy="310896"/>
          </a:xfrm>
          <a:prstGeom prst="ellipse">
            <a:avLst/>
          </a:prstGeom>
          <a:solidFill>
            <a:srgbClr val="FF462D"/>
          </a:solidFill>
          <a:ln w="19050">
            <a:solidFill>
              <a:srgbClr val="FFFFFF"/>
            </a:solidFill>
            <a:prstDash val="solid"/>
          </a:ln>
        </p:spPr>
      </p:sp>
      <p:sp>
        <p:nvSpPr>
          <p:cNvPr id="11" name="Shape 8"/>
          <p:cNvSpPr/>
          <p:nvPr/>
        </p:nvSpPr>
        <p:spPr>
          <a:xfrm>
            <a:off x="2468880" y="4169664"/>
            <a:ext cx="237744" cy="237744"/>
          </a:xfrm>
          <a:prstGeom prst="ellipse">
            <a:avLst/>
          </a:prstGeom>
          <a:ln w="15875">
            <a:solidFill>
              <a:srgbClr val="D9DEE2"/>
            </a:solidFill>
            <a:prstDash val="solid"/>
          </a:ln>
        </p:spPr>
      </p:sp>
      <p:sp>
        <p:nvSpPr>
          <p:cNvPr id="12" name="Shape 9"/>
          <p:cNvSpPr/>
          <p:nvPr/>
        </p:nvSpPr>
        <p:spPr>
          <a:xfrm>
            <a:off x="2852928" y="4169664"/>
            <a:ext cx="237744" cy="237744"/>
          </a:xfrm>
          <a:prstGeom prst="ellipse">
            <a:avLst/>
          </a:prstGeom>
          <a:ln w="15875">
            <a:solidFill>
              <a:srgbClr val="D9DEE2"/>
            </a:solidFill>
            <a:prstDash val="solid"/>
          </a:ln>
        </p:spPr>
      </p:sp>
      <p:sp>
        <p:nvSpPr>
          <p:cNvPr id="13" name="Shape 10"/>
          <p:cNvSpPr/>
          <p:nvPr/>
        </p:nvSpPr>
        <p:spPr>
          <a:xfrm>
            <a:off x="3236976" y="4169664"/>
            <a:ext cx="237744" cy="237744"/>
          </a:xfrm>
          <a:prstGeom prst="ellipse">
            <a:avLst/>
          </a:prstGeom>
          <a:ln w="15875">
            <a:solidFill>
              <a:srgbClr val="D9DEE2"/>
            </a:solidFill>
            <a:prstDash val="solid"/>
          </a:ln>
        </p:spPr>
      </p:sp>
      <p:sp>
        <p:nvSpPr>
          <p:cNvPr id="14" name="Text 11"/>
          <p:cNvSpPr txBox="1"/>
          <p:nvPr/>
        </p:nvSpPr>
        <p:spPr>
          <a:xfrm>
            <a:off x="548640" y="4553712"/>
            <a:ext cx="338328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Still at step 5 of 8</a:t>
            </a:r>
            <a:endParaRPr lang="en-US" sz="1100" dirty="0"/>
          </a:p>
        </p:txBody>
      </p:sp>
      <p:sp>
        <p:nvSpPr>
          <p:cNvPr id="15" name="Text 12"/>
          <p:cNvSpPr txBox="1"/>
          <p:nvPr/>
        </p:nvSpPr>
        <p:spPr>
          <a:xfrm>
            <a:off x="4709160" y="685800"/>
            <a:ext cx="6400800" cy="320040"/>
          </a:xfrm>
          <a:prstGeom prst="rect">
            <a:avLst/>
          </a:prstGeom>
          <a:noFill/>
          <a:ln/>
        </p:spPr>
        <p:txBody>
          <a:bodyPr wrap="square" lIns="0" tIns="0" rIns="0" bIns="0" rtlCol="0" anchor="t"/>
          <a:lstStyle/>
          <a:p>
            <a:pPr indent="0" marL="0">
              <a:buNone/>
            </a:pPr>
            <a:r>
              <a:rPr lang="en-US" sz="1400" b="1" dirty="0">
                <a:solidFill>
                  <a:srgbClr val="287079"/>
                </a:solidFill>
                <a:latin typeface="Arial" pitchFamily="34" charset="0"/>
                <a:ea typeface="Arial" pitchFamily="34" charset="-122"/>
                <a:cs typeface="Arial" pitchFamily="34" charset="-120"/>
              </a:rPr>
              <a:t>By the end of this session, you can</a:t>
            </a:r>
            <a:endParaRPr lang="en-US" sz="1400" dirty="0"/>
          </a:p>
        </p:txBody>
      </p:sp>
      <p:pic>
        <p:nvPicPr>
          <p:cNvPr id="16" name="Image 1" descr="/private/tmp/claude-501/-Users-salehhamed-Outcome-Engine/91861432-41e2-4884-bc97-63c6dff2d021/scratchpad/wk/icons/TbCircleCheck-teal.png">    </p:cNvPr>
          <p:cNvPicPr>
            <a:picLocks noChangeAspect="1"/>
          </p:cNvPicPr>
          <p:nvPr/>
        </p:nvPicPr>
        <p:blipFill>
          <a:blip r:embed="rId2"/>
          <a:stretch>
            <a:fillRect/>
          </a:stretch>
        </p:blipFill>
        <p:spPr>
          <a:xfrm>
            <a:off x="4709160" y="1225296"/>
            <a:ext cx="411480" cy="411480"/>
          </a:xfrm>
          <a:prstGeom prst="rect">
            <a:avLst/>
          </a:prstGeom>
        </p:spPr>
      </p:pic>
      <p:sp>
        <p:nvSpPr>
          <p:cNvPr id="17" name="Text 13"/>
          <p:cNvSpPr txBox="1"/>
          <p:nvPr/>
        </p:nvSpPr>
        <p:spPr>
          <a:xfrm>
            <a:off x="5303520" y="118872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Recall what we agreed today.</a:t>
            </a:r>
            <a:endParaRPr lang="en-US" sz="1700" dirty="0"/>
          </a:p>
        </p:txBody>
      </p:sp>
      <p:pic>
        <p:nvPicPr>
          <p:cNvPr id="18" name="Image 2" descr="/private/tmp/claude-501/-Users-salehhamed-Outcome-Engine/91861432-41e2-4884-bc97-63c6dff2d021/scratchpad/wk/icons/TbCircleCheck-teal.png">    </p:cNvPr>
          <p:cNvPicPr>
            <a:picLocks noChangeAspect="1"/>
          </p:cNvPicPr>
          <p:nvPr/>
        </p:nvPicPr>
        <p:blipFill>
          <a:blip r:embed="rId3"/>
          <a:stretch>
            <a:fillRect/>
          </a:stretch>
        </p:blipFill>
        <p:spPr>
          <a:xfrm>
            <a:off x="4709160" y="2093976"/>
            <a:ext cx="411480" cy="411480"/>
          </a:xfrm>
          <a:prstGeom prst="rect">
            <a:avLst/>
          </a:prstGeom>
        </p:spPr>
      </p:pic>
      <p:sp>
        <p:nvSpPr>
          <p:cNvPr id="19" name="Text 14"/>
          <p:cNvSpPr txBox="1"/>
          <p:nvPr/>
        </p:nvSpPr>
        <p:spPr>
          <a:xfrm>
            <a:off x="5303520" y="205740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Check our own understanding.</a:t>
            </a:r>
            <a:endParaRPr lang="en-US" sz="1700" dirty="0"/>
          </a:p>
        </p:txBody>
      </p:sp>
      <p:pic>
        <p:nvPicPr>
          <p:cNvPr id="20" name="Image 3" descr="/private/tmp/claude-501/-Users-salehhamed-Outcome-Engine/91861432-41e2-4884-bc97-63c6dff2d021/scratchpad/wk/icons/TbCircleCheck-teal.png">    </p:cNvPr>
          <p:cNvPicPr>
            <a:picLocks noChangeAspect="1"/>
          </p:cNvPicPr>
          <p:nvPr/>
        </p:nvPicPr>
        <p:blipFill>
          <a:blip r:embed="rId4"/>
          <a:stretch>
            <a:fillRect/>
          </a:stretch>
        </p:blipFill>
        <p:spPr>
          <a:xfrm>
            <a:off x="4709160" y="2962656"/>
            <a:ext cx="411480" cy="411480"/>
          </a:xfrm>
          <a:prstGeom prst="rect">
            <a:avLst/>
          </a:prstGeom>
        </p:spPr>
      </p:pic>
      <p:sp>
        <p:nvSpPr>
          <p:cNvPr id="21" name="Text 15"/>
          <p:cNvSpPr txBox="1"/>
          <p:nvPr/>
        </p:nvSpPr>
        <p:spPr>
          <a:xfrm>
            <a:off x="5303520" y="292608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Know what happens overnight.</a:t>
            </a:r>
            <a:endParaRPr lang="en-US" sz="1700" dirty="0"/>
          </a:p>
        </p:txBody>
      </p:sp>
      <p:sp>
        <p:nvSpPr>
          <p:cNvPr id="22" name="Shape 16"/>
          <p:cNvSpPr/>
          <p:nvPr/>
        </p:nvSpPr>
        <p:spPr>
          <a:xfrm>
            <a:off x="4709160" y="4800600"/>
            <a:ext cx="6931152" cy="1234440"/>
          </a:xfrm>
          <a:prstGeom prst="roundRect">
            <a:avLst>
              <a:gd name="adj" fmla="val 5926"/>
            </a:avLst>
          </a:prstGeom>
          <a:solidFill>
            <a:srgbClr val="FFF0EC"/>
          </a:solidFill>
          <a:ln/>
        </p:spPr>
      </p:sp>
      <p:sp>
        <p:nvSpPr>
          <p:cNvPr id="23" name="Text 17"/>
          <p:cNvSpPr txBox="1"/>
          <p:nvPr/>
        </p:nvSpPr>
        <p:spPr>
          <a:xfrm>
            <a:off x="4937760" y="4800600"/>
            <a:ext cx="6492240" cy="1234440"/>
          </a:xfrm>
          <a:prstGeom prst="rect">
            <a:avLst/>
          </a:prstGeom>
          <a:noFill/>
          <a:ln/>
        </p:spPr>
        <p:txBody>
          <a:bodyPr wrap="square" lIns="0" tIns="0" rIns="0" bIns="0" rtlCol="0" anchor="ctr"/>
          <a:lstStyle/>
          <a:p>
            <a:pPr indent="0" marL="0">
              <a:buNone/>
            </a:pPr>
            <a:r>
              <a:rPr lang="en-US" sz="1800" b="1" dirty="0">
                <a:solidFill>
                  <a:srgbClr val="FF462D"/>
                </a:solidFill>
                <a:latin typeface="Arial" pitchFamily="34" charset="0"/>
                <a:ea typeface="Arial" pitchFamily="34" charset="-122"/>
                <a:cs typeface="Arial" pitchFamily="34" charset="-120"/>
              </a:rPr>
              <a:t>Today we agreed what good looks like. Tonight it gets built.</a:t>
            </a:r>
            <a:endParaRPr lang="en-US" sz="1800" dirty="0"/>
          </a:p>
        </p:txBody>
      </p:sp>
      <p:sp>
        <p:nvSpPr>
          <p:cNvPr id="24" name="Text 18"/>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5"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6" action="ppaction://hlinksldjump" tooltip="The thre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112</a:t>
            </a:r>
            <a:endParaRPr lang="en-US" sz="10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CLOSE OF DAY 1 · FILL IN LIVE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What we agreed today</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16:45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113</a:t>
            </a:r>
            <a:endParaRPr lang="en-US" sz="1000" dirty="0"/>
          </a:p>
        </p:txBody>
      </p:sp>
      <p:sp>
        <p:nvSpPr>
          <p:cNvPr id="7" name="Shape 4"/>
          <p:cNvSpPr/>
          <p:nvPr/>
        </p:nvSpPr>
        <p:spPr>
          <a:xfrm>
            <a:off x="548640" y="1508760"/>
            <a:ext cx="5440680" cy="2148840"/>
          </a:xfrm>
          <a:prstGeom prst="roundRect">
            <a:avLst>
              <a:gd name="adj" fmla="val 3404"/>
            </a:avLst>
          </a:prstGeom>
          <a:solidFill>
            <a:srgbClr val="FFFFFF"/>
          </a:solidFill>
          <a:ln w="12700">
            <a:solidFill>
              <a:srgbClr val="D9DEE2"/>
            </a:solidFill>
            <a:prstDash val="solid"/>
          </a:ln>
        </p:spPr>
      </p:sp>
      <p:sp>
        <p:nvSpPr>
          <p:cNvPr id="8" name="Shape 5"/>
          <p:cNvSpPr/>
          <p:nvPr/>
        </p:nvSpPr>
        <p:spPr>
          <a:xfrm>
            <a:off x="731520" y="1691640"/>
            <a:ext cx="594360" cy="594360"/>
          </a:xfrm>
          <a:prstGeom prst="ellipse">
            <a:avLst/>
          </a:prstGeom>
          <a:solidFill>
            <a:srgbClr val="287079"/>
          </a:solidFill>
          <a:ln/>
        </p:spPr>
      </p:sp>
      <p:pic>
        <p:nvPicPr>
          <p:cNvPr id="9" name="Image 1" descr="/private/tmp/claude-501/-Users-salehhamed-Outcome-Engine/91861432-41e2-4884-bc97-63c6dff2d021/scratchpad/wk/icons/TbTarget-white.png">    </p:cNvPr>
          <p:cNvPicPr>
            <a:picLocks noChangeAspect="1"/>
          </p:cNvPicPr>
          <p:nvPr/>
        </p:nvPicPr>
        <p:blipFill>
          <a:blip r:embed="rId4"/>
          <a:stretch>
            <a:fillRect/>
          </a:stretch>
        </p:blipFill>
        <p:spPr>
          <a:xfrm>
            <a:off x="850392" y="1810512"/>
            <a:ext cx="356616" cy="356616"/>
          </a:xfrm>
          <a:prstGeom prst="rect">
            <a:avLst/>
          </a:prstGeom>
        </p:spPr>
      </p:pic>
      <p:sp>
        <p:nvSpPr>
          <p:cNvPr id="10" name="Text 6"/>
          <p:cNvSpPr txBox="1"/>
          <p:nvPr/>
        </p:nvSpPr>
        <p:spPr>
          <a:xfrm>
            <a:off x="1508760" y="1691640"/>
            <a:ext cx="4206240" cy="594360"/>
          </a:xfrm>
          <a:prstGeom prst="rect">
            <a:avLst/>
          </a:prstGeom>
          <a:noFill/>
          <a:ln/>
        </p:spPr>
        <p:txBody>
          <a:bodyPr wrap="square" lIns="0" tIns="0" rIns="0" bIns="0" rtlCol="0" anchor="ctr"/>
          <a:lstStyle/>
          <a:p>
            <a:pPr indent="0" marL="0">
              <a:buNone/>
            </a:pPr>
            <a:r>
              <a:rPr lang="en-US" sz="1800" b="1" dirty="0">
                <a:solidFill>
                  <a:srgbClr val="1F2A33"/>
                </a:solidFill>
                <a:latin typeface="Arial" pitchFamily="34" charset="0"/>
                <a:ea typeface="Arial" pitchFamily="34" charset="-122"/>
                <a:cs typeface="Arial" pitchFamily="34" charset="-120"/>
              </a:rPr>
              <a:t>Our outcome</a:t>
            </a:r>
            <a:endParaRPr lang="en-US" sz="1800" dirty="0"/>
          </a:p>
        </p:txBody>
      </p:sp>
      <p:sp>
        <p:nvSpPr>
          <p:cNvPr id="11" name="Shape 7"/>
          <p:cNvSpPr/>
          <p:nvPr/>
        </p:nvSpPr>
        <p:spPr>
          <a:xfrm>
            <a:off x="6172200" y="1508760"/>
            <a:ext cx="5440680" cy="2148840"/>
          </a:xfrm>
          <a:prstGeom prst="roundRect">
            <a:avLst>
              <a:gd name="adj" fmla="val 3404"/>
            </a:avLst>
          </a:prstGeom>
          <a:solidFill>
            <a:srgbClr val="FFFFFF"/>
          </a:solidFill>
          <a:ln w="12700">
            <a:solidFill>
              <a:srgbClr val="D9DEE2"/>
            </a:solidFill>
            <a:prstDash val="solid"/>
          </a:ln>
        </p:spPr>
      </p:sp>
      <p:sp>
        <p:nvSpPr>
          <p:cNvPr id="12" name="Shape 8"/>
          <p:cNvSpPr/>
          <p:nvPr/>
        </p:nvSpPr>
        <p:spPr>
          <a:xfrm>
            <a:off x="6355080" y="1691640"/>
            <a:ext cx="594360" cy="594360"/>
          </a:xfrm>
          <a:prstGeom prst="ellipse">
            <a:avLst/>
          </a:prstGeom>
          <a:solidFill>
            <a:srgbClr val="287079"/>
          </a:solidFill>
          <a:ln/>
        </p:spPr>
      </p:sp>
      <p:pic>
        <p:nvPicPr>
          <p:cNvPr id="13" name="Image 2" descr="/private/tmp/claude-501/-Users-salehhamed-Outcome-Engine/91861432-41e2-4884-bc97-63c6dff2d021/scratchpad/wk/icons/TbFlag3-white.png">    </p:cNvPr>
          <p:cNvPicPr>
            <a:picLocks noChangeAspect="1"/>
          </p:cNvPicPr>
          <p:nvPr/>
        </p:nvPicPr>
        <p:blipFill>
          <a:blip r:embed="rId5"/>
          <a:stretch>
            <a:fillRect/>
          </a:stretch>
        </p:blipFill>
        <p:spPr>
          <a:xfrm>
            <a:off x="6473952" y="1810512"/>
            <a:ext cx="356616" cy="356616"/>
          </a:xfrm>
          <a:prstGeom prst="rect">
            <a:avLst/>
          </a:prstGeom>
        </p:spPr>
      </p:pic>
      <p:sp>
        <p:nvSpPr>
          <p:cNvPr id="14" name="Text 9"/>
          <p:cNvSpPr txBox="1"/>
          <p:nvPr/>
        </p:nvSpPr>
        <p:spPr>
          <a:xfrm>
            <a:off x="7132320" y="1691640"/>
            <a:ext cx="4206240" cy="594360"/>
          </a:xfrm>
          <a:prstGeom prst="rect">
            <a:avLst/>
          </a:prstGeom>
          <a:noFill/>
          <a:ln/>
        </p:spPr>
        <p:txBody>
          <a:bodyPr wrap="square" lIns="0" tIns="0" rIns="0" bIns="0" rtlCol="0" anchor="ctr"/>
          <a:lstStyle/>
          <a:p>
            <a:pPr indent="0" marL="0">
              <a:buNone/>
            </a:pPr>
            <a:r>
              <a:rPr lang="en-US" sz="1800" b="1" dirty="0">
                <a:solidFill>
                  <a:srgbClr val="1F2A33"/>
                </a:solidFill>
                <a:latin typeface="Arial" pitchFamily="34" charset="0"/>
                <a:ea typeface="Arial" pitchFamily="34" charset="-122"/>
                <a:cs typeface="Arial" pitchFamily="34" charset="-120"/>
              </a:rPr>
              <a:t>Where it ends</a:t>
            </a:r>
            <a:endParaRPr lang="en-US" sz="1800" dirty="0"/>
          </a:p>
        </p:txBody>
      </p:sp>
      <p:sp>
        <p:nvSpPr>
          <p:cNvPr id="15" name="Shape 10"/>
          <p:cNvSpPr/>
          <p:nvPr/>
        </p:nvSpPr>
        <p:spPr>
          <a:xfrm>
            <a:off x="548640" y="3840480"/>
            <a:ext cx="5440680" cy="2148840"/>
          </a:xfrm>
          <a:prstGeom prst="roundRect">
            <a:avLst>
              <a:gd name="adj" fmla="val 3404"/>
            </a:avLst>
          </a:prstGeom>
          <a:solidFill>
            <a:srgbClr val="FFFFFF"/>
          </a:solidFill>
          <a:ln w="12700">
            <a:solidFill>
              <a:srgbClr val="D9DEE2"/>
            </a:solidFill>
            <a:prstDash val="solid"/>
          </a:ln>
        </p:spPr>
      </p:sp>
      <p:sp>
        <p:nvSpPr>
          <p:cNvPr id="16" name="Shape 11"/>
          <p:cNvSpPr/>
          <p:nvPr/>
        </p:nvSpPr>
        <p:spPr>
          <a:xfrm>
            <a:off x="731520" y="4023360"/>
            <a:ext cx="594360" cy="594360"/>
          </a:xfrm>
          <a:prstGeom prst="ellipse">
            <a:avLst/>
          </a:prstGeom>
          <a:solidFill>
            <a:srgbClr val="287079"/>
          </a:solidFill>
          <a:ln/>
        </p:spPr>
      </p:sp>
      <p:pic>
        <p:nvPicPr>
          <p:cNvPr id="17" name="Image 3" descr="/private/tmp/claude-501/-Users-salehhamed-Outcome-Engine/91861432-41e2-4884-bc97-63c6dff2d021/scratchpad/wk/icons/TbUserCheck-white.png">    </p:cNvPr>
          <p:cNvPicPr>
            <a:picLocks noChangeAspect="1"/>
          </p:cNvPicPr>
          <p:nvPr/>
        </p:nvPicPr>
        <p:blipFill>
          <a:blip r:embed="rId6"/>
          <a:stretch>
            <a:fillRect/>
          </a:stretch>
        </p:blipFill>
        <p:spPr>
          <a:xfrm>
            <a:off x="850392" y="4142232"/>
            <a:ext cx="356616" cy="356616"/>
          </a:xfrm>
          <a:prstGeom prst="rect">
            <a:avLst/>
          </a:prstGeom>
        </p:spPr>
      </p:pic>
      <p:sp>
        <p:nvSpPr>
          <p:cNvPr id="18" name="Text 12"/>
          <p:cNvSpPr txBox="1"/>
          <p:nvPr/>
        </p:nvSpPr>
        <p:spPr>
          <a:xfrm>
            <a:off x="1508760" y="4023360"/>
            <a:ext cx="4206240" cy="594360"/>
          </a:xfrm>
          <a:prstGeom prst="rect">
            <a:avLst/>
          </a:prstGeom>
          <a:noFill/>
          <a:ln/>
        </p:spPr>
        <p:txBody>
          <a:bodyPr wrap="square" lIns="0" tIns="0" rIns="0" bIns="0" rtlCol="0" anchor="ctr"/>
          <a:lstStyle/>
          <a:p>
            <a:pPr indent="0" marL="0">
              <a:buNone/>
            </a:pPr>
            <a:r>
              <a:rPr lang="en-US" sz="1800" b="1" dirty="0">
                <a:solidFill>
                  <a:srgbClr val="1F2A33"/>
                </a:solidFill>
                <a:latin typeface="Arial" pitchFamily="34" charset="0"/>
                <a:ea typeface="Arial" pitchFamily="34" charset="-122"/>
                <a:cs typeface="Arial" pitchFamily="34" charset="-120"/>
              </a:rPr>
              <a:t>Who decides</a:t>
            </a:r>
            <a:endParaRPr lang="en-US" sz="1800" dirty="0"/>
          </a:p>
        </p:txBody>
      </p:sp>
      <p:sp>
        <p:nvSpPr>
          <p:cNvPr id="19" name="Shape 13"/>
          <p:cNvSpPr/>
          <p:nvPr/>
        </p:nvSpPr>
        <p:spPr>
          <a:xfrm>
            <a:off x="6172200" y="3840480"/>
            <a:ext cx="5440680" cy="2148840"/>
          </a:xfrm>
          <a:prstGeom prst="roundRect">
            <a:avLst>
              <a:gd name="adj" fmla="val 3404"/>
            </a:avLst>
          </a:prstGeom>
          <a:solidFill>
            <a:srgbClr val="FFFFFF"/>
          </a:solidFill>
          <a:ln w="12700">
            <a:solidFill>
              <a:srgbClr val="D9DEE2"/>
            </a:solidFill>
            <a:prstDash val="solid"/>
          </a:ln>
        </p:spPr>
      </p:sp>
      <p:sp>
        <p:nvSpPr>
          <p:cNvPr id="20" name="Shape 14"/>
          <p:cNvSpPr/>
          <p:nvPr/>
        </p:nvSpPr>
        <p:spPr>
          <a:xfrm>
            <a:off x="6355080" y="4023360"/>
            <a:ext cx="594360" cy="594360"/>
          </a:xfrm>
          <a:prstGeom prst="ellipse">
            <a:avLst/>
          </a:prstGeom>
          <a:solidFill>
            <a:srgbClr val="287079"/>
          </a:solidFill>
          <a:ln/>
        </p:spPr>
      </p:sp>
      <p:pic>
        <p:nvPicPr>
          <p:cNvPr id="21" name="Image 4" descr="/private/tmp/claude-501/-Users-salehhamed-Outcome-Engine/91861432-41e2-4884-bc97-63c6dff2d021/scratchpad/wk/icons/TbGavel-white.png">    </p:cNvPr>
          <p:cNvPicPr>
            <a:picLocks noChangeAspect="1"/>
          </p:cNvPicPr>
          <p:nvPr/>
        </p:nvPicPr>
        <p:blipFill>
          <a:blip r:embed="rId7"/>
          <a:stretch>
            <a:fillRect/>
          </a:stretch>
        </p:blipFill>
        <p:spPr>
          <a:xfrm>
            <a:off x="6473952" y="4142232"/>
            <a:ext cx="356616" cy="356616"/>
          </a:xfrm>
          <a:prstGeom prst="rect">
            <a:avLst/>
          </a:prstGeom>
        </p:spPr>
      </p:pic>
      <p:sp>
        <p:nvSpPr>
          <p:cNvPr id="22" name="Text 15"/>
          <p:cNvSpPr txBox="1"/>
          <p:nvPr/>
        </p:nvSpPr>
        <p:spPr>
          <a:xfrm>
            <a:off x="7132320" y="4023360"/>
            <a:ext cx="4206240" cy="594360"/>
          </a:xfrm>
          <a:prstGeom prst="rect">
            <a:avLst/>
          </a:prstGeom>
          <a:noFill/>
          <a:ln/>
        </p:spPr>
        <p:txBody>
          <a:bodyPr wrap="square" lIns="0" tIns="0" rIns="0" bIns="0" rtlCol="0" anchor="ctr"/>
          <a:lstStyle/>
          <a:p>
            <a:pPr indent="0" marL="0">
              <a:buNone/>
            </a:pPr>
            <a:r>
              <a:rPr lang="en-US" sz="1800" b="1" dirty="0">
                <a:solidFill>
                  <a:srgbClr val="1F2A33"/>
                </a:solidFill>
                <a:latin typeface="Arial" pitchFamily="34" charset="0"/>
                <a:ea typeface="Arial" pitchFamily="34" charset="-122"/>
                <a:cs typeface="Arial" pitchFamily="34" charset="-120"/>
              </a:rPr>
              <a:t>Our rules</a:t>
            </a:r>
            <a:endParaRPr lang="en-US" sz="18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CLOSE OF DAY 1</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Where are you on the ladder?</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16:45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114</a:t>
            </a:r>
            <a:endParaRPr lang="en-US" sz="1000" dirty="0"/>
          </a:p>
        </p:txBody>
      </p:sp>
      <p:sp>
        <p:nvSpPr>
          <p:cNvPr id="7" name="Shape 4"/>
          <p:cNvSpPr/>
          <p:nvPr/>
        </p:nvSpPr>
        <p:spPr>
          <a:xfrm>
            <a:off x="548640" y="1417320"/>
            <a:ext cx="8229600" cy="548640"/>
          </a:xfrm>
          <a:prstGeom prst="rect">
            <a:avLst/>
          </a:prstGeom>
          <a:solidFill>
            <a:srgbClr val="F2F4F5"/>
          </a:solidFill>
          <a:ln/>
        </p:spPr>
      </p:sp>
      <p:sp>
        <p:nvSpPr>
          <p:cNvPr id="8" name="Text 5"/>
          <p:cNvSpPr txBox="1"/>
          <p:nvPr/>
        </p:nvSpPr>
        <p:spPr>
          <a:xfrm>
            <a:off x="548640" y="1417320"/>
            <a:ext cx="502920" cy="548640"/>
          </a:xfrm>
          <a:prstGeom prst="rect">
            <a:avLst/>
          </a:prstGeom>
          <a:noFill/>
          <a:ln/>
        </p:spPr>
        <p:txBody>
          <a:bodyPr wrap="square" lIns="0" tIns="0" rIns="0" bIns="0" rtlCol="0" anchor="ctr"/>
          <a:lstStyle/>
          <a:p>
            <a:pPr algn="ctr" indent="0" marL="0">
              <a:buNone/>
            </a:pPr>
            <a:r>
              <a:rPr lang="en-US" sz="1500" b="1" dirty="0">
                <a:solidFill>
                  <a:srgbClr val="8A94A4"/>
                </a:solidFill>
                <a:latin typeface="Arial" pitchFamily="34" charset="0"/>
                <a:ea typeface="Arial" pitchFamily="34" charset="-122"/>
                <a:cs typeface="Arial" pitchFamily="34" charset="-120"/>
              </a:rPr>
              <a:t>8</a:t>
            </a:r>
            <a:endParaRPr lang="en-US" sz="1500" dirty="0"/>
          </a:p>
        </p:txBody>
      </p:sp>
      <p:sp>
        <p:nvSpPr>
          <p:cNvPr id="9" name="Text 6"/>
          <p:cNvSpPr txBox="1"/>
          <p:nvPr/>
        </p:nvSpPr>
        <p:spPr>
          <a:xfrm>
            <a:off x="1097280" y="1417320"/>
            <a:ext cx="2331720" cy="548640"/>
          </a:xfrm>
          <a:prstGeom prst="rect">
            <a:avLst/>
          </a:prstGeom>
          <a:noFill/>
          <a:ln/>
        </p:spPr>
        <p:txBody>
          <a:bodyPr wrap="square" lIns="0" tIns="0" rIns="0" bIns="0" rtlCol="0" anchor="ctr"/>
          <a:lstStyle/>
          <a:p>
            <a:pPr indent="0" marL="0">
              <a:buNone/>
            </a:pPr>
            <a:r>
              <a:rPr lang="en-US" sz="1400" b="1" dirty="0">
                <a:solidFill>
                  <a:srgbClr val="8A94A4"/>
                </a:solidFill>
                <a:latin typeface="Arial" pitchFamily="34" charset="0"/>
                <a:ea typeface="Arial" pitchFamily="34" charset="-122"/>
                <a:cs typeface="Arial" pitchFamily="34" charset="-120"/>
              </a:rPr>
              <a:t>Decide what next</a:t>
            </a:r>
            <a:endParaRPr lang="en-US" sz="1400" dirty="0"/>
          </a:p>
        </p:txBody>
      </p:sp>
      <p:sp>
        <p:nvSpPr>
          <p:cNvPr id="10" name="Text 7"/>
          <p:cNvSpPr txBox="1"/>
          <p:nvPr/>
        </p:nvSpPr>
        <p:spPr>
          <a:xfrm>
            <a:off x="3474720" y="1417320"/>
            <a:ext cx="5212080" cy="548640"/>
          </a:xfrm>
          <a:prstGeom prst="rect">
            <a:avLst/>
          </a:prstGeom>
          <a:noFill/>
          <a:ln/>
        </p:spPr>
        <p:txBody>
          <a:bodyPr wrap="square" lIns="0" tIns="0" rIns="0" bIns="0" rtlCol="0" anchor="ctr"/>
          <a:lstStyle/>
          <a:p>
            <a:pPr indent="0" marL="0">
              <a:buNone/>
            </a:pPr>
            <a:r>
              <a:rPr lang="en-US" sz="1250" dirty="0">
                <a:solidFill>
                  <a:srgbClr val="8A94A4"/>
                </a:solidFill>
                <a:latin typeface="Arial" pitchFamily="34" charset="0"/>
                <a:ea typeface="Arial" pitchFamily="34" charset="-122"/>
                <a:cs typeface="Arial" pitchFamily="34" charset="-120"/>
              </a:rPr>
              <a:t>I can weigh the evidence and decide what to take forward.</a:t>
            </a:r>
            <a:endParaRPr lang="en-US" sz="1250" dirty="0"/>
          </a:p>
        </p:txBody>
      </p:sp>
      <p:sp>
        <p:nvSpPr>
          <p:cNvPr id="11" name="Shape 8"/>
          <p:cNvSpPr/>
          <p:nvPr/>
        </p:nvSpPr>
        <p:spPr>
          <a:xfrm>
            <a:off x="548640" y="2002536"/>
            <a:ext cx="8229600" cy="548640"/>
          </a:xfrm>
          <a:prstGeom prst="rect">
            <a:avLst/>
          </a:prstGeom>
          <a:solidFill>
            <a:srgbClr val="F2F4F5"/>
          </a:solidFill>
          <a:ln/>
        </p:spPr>
      </p:sp>
      <p:sp>
        <p:nvSpPr>
          <p:cNvPr id="12" name="Text 9"/>
          <p:cNvSpPr txBox="1"/>
          <p:nvPr/>
        </p:nvSpPr>
        <p:spPr>
          <a:xfrm>
            <a:off x="548640" y="2002536"/>
            <a:ext cx="502920" cy="548640"/>
          </a:xfrm>
          <a:prstGeom prst="rect">
            <a:avLst/>
          </a:prstGeom>
          <a:noFill/>
          <a:ln/>
        </p:spPr>
        <p:txBody>
          <a:bodyPr wrap="square" lIns="0" tIns="0" rIns="0" bIns="0" rtlCol="0" anchor="ctr"/>
          <a:lstStyle/>
          <a:p>
            <a:pPr algn="ctr" indent="0" marL="0">
              <a:buNone/>
            </a:pPr>
            <a:r>
              <a:rPr lang="en-US" sz="1500" b="1" dirty="0">
                <a:solidFill>
                  <a:srgbClr val="8A94A4"/>
                </a:solidFill>
                <a:latin typeface="Arial" pitchFamily="34" charset="0"/>
                <a:ea typeface="Arial" pitchFamily="34" charset="-122"/>
                <a:cs typeface="Arial" pitchFamily="34" charset="-120"/>
              </a:rPr>
              <a:t>7</a:t>
            </a:r>
            <a:endParaRPr lang="en-US" sz="1500" dirty="0"/>
          </a:p>
        </p:txBody>
      </p:sp>
      <p:sp>
        <p:nvSpPr>
          <p:cNvPr id="13" name="Text 10"/>
          <p:cNvSpPr txBox="1"/>
          <p:nvPr/>
        </p:nvSpPr>
        <p:spPr>
          <a:xfrm>
            <a:off x="1097280" y="2002536"/>
            <a:ext cx="2331720" cy="548640"/>
          </a:xfrm>
          <a:prstGeom prst="rect">
            <a:avLst/>
          </a:prstGeom>
          <a:noFill/>
          <a:ln/>
        </p:spPr>
        <p:txBody>
          <a:bodyPr wrap="square" lIns="0" tIns="0" rIns="0" bIns="0" rtlCol="0" anchor="ctr"/>
          <a:lstStyle/>
          <a:p>
            <a:pPr indent="0" marL="0">
              <a:buNone/>
            </a:pPr>
            <a:r>
              <a:rPr lang="en-US" sz="1400" b="1" dirty="0">
                <a:solidFill>
                  <a:srgbClr val="8A94A4"/>
                </a:solidFill>
                <a:latin typeface="Arial" pitchFamily="34" charset="0"/>
                <a:ea typeface="Arial" pitchFamily="34" charset="-122"/>
                <a:cs typeface="Arial" pitchFamily="34" charset="-120"/>
              </a:rPr>
              <a:t>Rules for moves</a:t>
            </a:r>
            <a:endParaRPr lang="en-US" sz="1400" dirty="0"/>
          </a:p>
        </p:txBody>
      </p:sp>
      <p:sp>
        <p:nvSpPr>
          <p:cNvPr id="14" name="Text 11"/>
          <p:cNvSpPr txBox="1"/>
          <p:nvPr/>
        </p:nvSpPr>
        <p:spPr>
          <a:xfrm>
            <a:off x="3474720" y="2002536"/>
            <a:ext cx="5212080" cy="548640"/>
          </a:xfrm>
          <a:prstGeom prst="rect">
            <a:avLst/>
          </a:prstGeom>
          <a:noFill/>
          <a:ln/>
        </p:spPr>
        <p:txBody>
          <a:bodyPr wrap="square" lIns="0" tIns="0" rIns="0" bIns="0" rtlCol="0" anchor="ctr"/>
          <a:lstStyle/>
          <a:p>
            <a:pPr indent="0" marL="0">
              <a:buNone/>
            </a:pPr>
            <a:r>
              <a:rPr lang="en-US" sz="1250" dirty="0">
                <a:solidFill>
                  <a:srgbClr val="8A94A4"/>
                </a:solidFill>
                <a:latin typeface="Arial" pitchFamily="34" charset="0"/>
                <a:ea typeface="Arial" pitchFamily="34" charset="-122"/>
                <a:cs typeface="Arial" pitchFamily="34" charset="-120"/>
              </a:rPr>
              <a:t>I can set the rules for moving people up to the work they are qualified for.</a:t>
            </a:r>
            <a:endParaRPr lang="en-US" sz="1250" dirty="0"/>
          </a:p>
        </p:txBody>
      </p:sp>
      <p:sp>
        <p:nvSpPr>
          <p:cNvPr id="15" name="Shape 12"/>
          <p:cNvSpPr/>
          <p:nvPr/>
        </p:nvSpPr>
        <p:spPr>
          <a:xfrm>
            <a:off x="548640" y="2587752"/>
            <a:ext cx="8229600" cy="548640"/>
          </a:xfrm>
          <a:prstGeom prst="rect">
            <a:avLst/>
          </a:prstGeom>
          <a:solidFill>
            <a:srgbClr val="F2F4F5"/>
          </a:solidFill>
          <a:ln/>
        </p:spPr>
      </p:sp>
      <p:sp>
        <p:nvSpPr>
          <p:cNvPr id="16" name="Text 13"/>
          <p:cNvSpPr txBox="1"/>
          <p:nvPr/>
        </p:nvSpPr>
        <p:spPr>
          <a:xfrm>
            <a:off x="548640" y="2587752"/>
            <a:ext cx="502920" cy="548640"/>
          </a:xfrm>
          <a:prstGeom prst="rect">
            <a:avLst/>
          </a:prstGeom>
          <a:noFill/>
          <a:ln/>
        </p:spPr>
        <p:txBody>
          <a:bodyPr wrap="square" lIns="0" tIns="0" rIns="0" bIns="0" rtlCol="0" anchor="ctr"/>
          <a:lstStyle/>
          <a:p>
            <a:pPr algn="ctr" indent="0" marL="0">
              <a:buNone/>
            </a:pPr>
            <a:r>
              <a:rPr lang="en-US" sz="1500" b="1" dirty="0">
                <a:solidFill>
                  <a:srgbClr val="8A94A4"/>
                </a:solidFill>
                <a:latin typeface="Arial" pitchFamily="34" charset="0"/>
                <a:ea typeface="Arial" pitchFamily="34" charset="-122"/>
                <a:cs typeface="Arial" pitchFamily="34" charset="-120"/>
              </a:rPr>
              <a:t>6</a:t>
            </a:r>
            <a:endParaRPr lang="en-US" sz="1500" dirty="0"/>
          </a:p>
        </p:txBody>
      </p:sp>
      <p:sp>
        <p:nvSpPr>
          <p:cNvPr id="17" name="Text 14"/>
          <p:cNvSpPr txBox="1"/>
          <p:nvPr/>
        </p:nvSpPr>
        <p:spPr>
          <a:xfrm>
            <a:off x="1097280" y="2587752"/>
            <a:ext cx="2331720" cy="548640"/>
          </a:xfrm>
          <a:prstGeom prst="rect">
            <a:avLst/>
          </a:prstGeom>
          <a:noFill/>
          <a:ln/>
        </p:spPr>
        <p:txBody>
          <a:bodyPr wrap="square" lIns="0" tIns="0" rIns="0" bIns="0" rtlCol="0" anchor="ctr"/>
          <a:lstStyle/>
          <a:p>
            <a:pPr indent="0" marL="0">
              <a:buNone/>
            </a:pPr>
            <a:r>
              <a:rPr lang="en-US" sz="1400" b="1" dirty="0">
                <a:solidFill>
                  <a:srgbClr val="8A94A4"/>
                </a:solidFill>
                <a:latin typeface="Arial" pitchFamily="34" charset="0"/>
                <a:ea typeface="Arial" pitchFamily="34" charset="-122"/>
                <a:cs typeface="Arial" pitchFamily="34" charset="-120"/>
              </a:rPr>
              <a:t>Judge a working version</a:t>
            </a:r>
            <a:endParaRPr lang="en-US" sz="1400" dirty="0"/>
          </a:p>
        </p:txBody>
      </p:sp>
      <p:sp>
        <p:nvSpPr>
          <p:cNvPr id="18" name="Text 15"/>
          <p:cNvSpPr txBox="1"/>
          <p:nvPr/>
        </p:nvSpPr>
        <p:spPr>
          <a:xfrm>
            <a:off x="3474720" y="2587752"/>
            <a:ext cx="5212080" cy="548640"/>
          </a:xfrm>
          <a:prstGeom prst="rect">
            <a:avLst/>
          </a:prstGeom>
          <a:noFill/>
          <a:ln/>
        </p:spPr>
        <p:txBody>
          <a:bodyPr wrap="square" lIns="0" tIns="0" rIns="0" bIns="0" rtlCol="0" anchor="ctr"/>
          <a:lstStyle/>
          <a:p>
            <a:pPr indent="0" marL="0">
              <a:buNone/>
            </a:pPr>
            <a:r>
              <a:rPr lang="en-US" sz="1250" dirty="0">
                <a:solidFill>
                  <a:srgbClr val="8A94A4"/>
                </a:solidFill>
                <a:latin typeface="Arial" pitchFamily="34" charset="0"/>
                <a:ea typeface="Arial" pitchFamily="34" charset="-122"/>
                <a:cs typeface="Arial" pitchFamily="34" charset="-120"/>
              </a:rPr>
              <a:t>I can test a working version and say what it got wrong.</a:t>
            </a:r>
            <a:endParaRPr lang="en-US" sz="1250" dirty="0"/>
          </a:p>
        </p:txBody>
      </p:sp>
      <p:sp>
        <p:nvSpPr>
          <p:cNvPr id="19" name="Shape 16"/>
          <p:cNvSpPr/>
          <p:nvPr/>
        </p:nvSpPr>
        <p:spPr>
          <a:xfrm>
            <a:off x="548640" y="3172968"/>
            <a:ext cx="8229600" cy="548640"/>
          </a:xfrm>
          <a:prstGeom prst="rect">
            <a:avLst/>
          </a:prstGeom>
          <a:solidFill>
            <a:srgbClr val="FF462D"/>
          </a:solidFill>
          <a:ln/>
        </p:spPr>
      </p:sp>
      <p:sp>
        <p:nvSpPr>
          <p:cNvPr id="20" name="Text 17"/>
          <p:cNvSpPr txBox="1"/>
          <p:nvPr/>
        </p:nvSpPr>
        <p:spPr>
          <a:xfrm>
            <a:off x="548640" y="3172968"/>
            <a:ext cx="5029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1" name="Text 18"/>
          <p:cNvSpPr txBox="1"/>
          <p:nvPr/>
        </p:nvSpPr>
        <p:spPr>
          <a:xfrm>
            <a:off x="1097280" y="3172968"/>
            <a:ext cx="2331720" cy="5486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When things go wrong</a:t>
            </a:r>
            <a:endParaRPr lang="en-US" sz="1400" dirty="0"/>
          </a:p>
        </p:txBody>
      </p:sp>
      <p:sp>
        <p:nvSpPr>
          <p:cNvPr id="22" name="Text 19"/>
          <p:cNvSpPr txBox="1"/>
          <p:nvPr/>
        </p:nvSpPr>
        <p:spPr>
          <a:xfrm>
            <a:off x="3474720" y="3172968"/>
            <a:ext cx="5212080"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I can write the rule for an exception: what happens, who decides, by when.</a:t>
            </a:r>
            <a:endParaRPr lang="en-US" sz="1250" dirty="0"/>
          </a:p>
        </p:txBody>
      </p:sp>
      <p:sp>
        <p:nvSpPr>
          <p:cNvPr id="23" name="Shape 20"/>
          <p:cNvSpPr/>
          <p:nvPr/>
        </p:nvSpPr>
        <p:spPr>
          <a:xfrm>
            <a:off x="548640" y="3758184"/>
            <a:ext cx="8229600" cy="548640"/>
          </a:xfrm>
          <a:prstGeom prst="rect">
            <a:avLst/>
          </a:prstGeom>
          <a:solidFill>
            <a:srgbClr val="EEF6F7"/>
          </a:solidFill>
          <a:ln/>
        </p:spPr>
      </p:sp>
      <p:sp>
        <p:nvSpPr>
          <p:cNvPr id="24" name="Text 21"/>
          <p:cNvSpPr txBox="1"/>
          <p:nvPr/>
        </p:nvSpPr>
        <p:spPr>
          <a:xfrm>
            <a:off x="548640" y="3758184"/>
            <a:ext cx="502920" cy="548640"/>
          </a:xfrm>
          <a:prstGeom prst="rect">
            <a:avLst/>
          </a:prstGeom>
          <a:noFill/>
          <a:ln/>
        </p:spPr>
        <p:txBody>
          <a:bodyPr wrap="square" lIns="0" tIns="0" rIns="0" bIns="0" rtlCol="0" anchor="ctr"/>
          <a:lstStyle/>
          <a:p>
            <a:pPr algn="ctr" indent="0" marL="0">
              <a:buNone/>
            </a:pPr>
            <a:r>
              <a:rPr lang="en-US" sz="1500" b="1" dirty="0">
                <a:solidFill>
                  <a:srgbClr val="287079"/>
                </a:solidFill>
                <a:latin typeface="Arial" pitchFamily="34" charset="0"/>
                <a:ea typeface="Arial" pitchFamily="34" charset="-122"/>
                <a:cs typeface="Arial" pitchFamily="34" charset="-120"/>
              </a:rPr>
              <a:t>4</a:t>
            </a:r>
            <a:endParaRPr lang="en-US" sz="1500" dirty="0"/>
          </a:p>
        </p:txBody>
      </p:sp>
      <p:sp>
        <p:nvSpPr>
          <p:cNvPr id="25" name="Text 22"/>
          <p:cNvSpPr txBox="1"/>
          <p:nvPr/>
        </p:nvSpPr>
        <p:spPr>
          <a:xfrm>
            <a:off x="1097280" y="3758184"/>
            <a:ext cx="2331720" cy="548640"/>
          </a:xfrm>
          <a:prstGeom prst="rect">
            <a:avLst/>
          </a:prstGeom>
          <a:noFill/>
          <a:ln/>
        </p:spPr>
        <p:txBody>
          <a:bodyPr wrap="square" lIns="0" tIns="0" rIns="0" bIns="0" rtlCol="0" anchor="ctr"/>
          <a:lstStyle/>
          <a:p>
            <a:pPr indent="0" marL="0">
              <a:buNone/>
            </a:pPr>
            <a:r>
              <a:rPr lang="en-US" sz="1400" b="1" dirty="0">
                <a:solidFill>
                  <a:srgbClr val="1F2A33"/>
                </a:solidFill>
                <a:latin typeface="Arial" pitchFamily="34" charset="0"/>
                <a:ea typeface="Arial" pitchFamily="34" charset="-122"/>
                <a:cs typeface="Arial" pitchFamily="34" charset="-120"/>
              </a:rPr>
              <a:t>Who decides</a:t>
            </a:r>
            <a:endParaRPr lang="en-US" sz="1400" dirty="0"/>
          </a:p>
        </p:txBody>
      </p:sp>
      <p:sp>
        <p:nvSpPr>
          <p:cNvPr id="26" name="Text 23"/>
          <p:cNvSpPr txBox="1"/>
          <p:nvPr/>
        </p:nvSpPr>
        <p:spPr>
          <a:xfrm>
            <a:off x="3474720" y="3758184"/>
            <a:ext cx="5212080" cy="548640"/>
          </a:xfrm>
          <a:prstGeom prst="rect">
            <a:avLst/>
          </a:prstGeom>
          <a:noFill/>
          <a:ln/>
        </p:spPr>
        <p:txBody>
          <a:bodyPr wrap="square" lIns="0" tIns="0" rIns="0" bIns="0" rtlCol="0" anchor="ctr"/>
          <a:lstStyle/>
          <a:p>
            <a:pPr indent="0" marL="0">
              <a:buNone/>
            </a:pPr>
            <a:r>
              <a:rPr lang="en-US" sz="1250" dirty="0">
                <a:solidFill>
                  <a:srgbClr val="1F2A33"/>
                </a:solidFill>
                <a:latin typeface="Arial" pitchFamily="34" charset="0"/>
                <a:ea typeface="Arial" pitchFamily="34" charset="-122"/>
                <a:cs typeface="Arial" pitchFamily="34" charset="-120"/>
              </a:rPr>
              <a:t>I know which decisions need a person, who, and what they need to see.</a:t>
            </a:r>
            <a:endParaRPr lang="en-US" sz="1250" dirty="0"/>
          </a:p>
        </p:txBody>
      </p:sp>
      <p:sp>
        <p:nvSpPr>
          <p:cNvPr id="27" name="Shape 24"/>
          <p:cNvSpPr/>
          <p:nvPr/>
        </p:nvSpPr>
        <p:spPr>
          <a:xfrm>
            <a:off x="548640" y="4343400"/>
            <a:ext cx="8229600" cy="548640"/>
          </a:xfrm>
          <a:prstGeom prst="rect">
            <a:avLst/>
          </a:prstGeom>
          <a:solidFill>
            <a:srgbClr val="EEF6F7"/>
          </a:solidFill>
          <a:ln/>
        </p:spPr>
      </p:sp>
      <p:sp>
        <p:nvSpPr>
          <p:cNvPr id="28" name="Text 25"/>
          <p:cNvSpPr txBox="1"/>
          <p:nvPr/>
        </p:nvSpPr>
        <p:spPr>
          <a:xfrm>
            <a:off x="548640" y="4343400"/>
            <a:ext cx="502920" cy="548640"/>
          </a:xfrm>
          <a:prstGeom prst="rect">
            <a:avLst/>
          </a:prstGeom>
          <a:noFill/>
          <a:ln/>
        </p:spPr>
        <p:txBody>
          <a:bodyPr wrap="square" lIns="0" tIns="0" rIns="0" bIns="0" rtlCol="0" anchor="ctr"/>
          <a:lstStyle/>
          <a:p>
            <a:pPr algn="ctr" indent="0" marL="0">
              <a:buNone/>
            </a:pPr>
            <a:r>
              <a:rPr lang="en-US" sz="1500" b="1" dirty="0">
                <a:solidFill>
                  <a:srgbClr val="287079"/>
                </a:solidFill>
                <a:latin typeface="Arial" pitchFamily="34" charset="0"/>
                <a:ea typeface="Arial" pitchFamily="34" charset="-122"/>
                <a:cs typeface="Arial" pitchFamily="34" charset="-120"/>
              </a:rPr>
              <a:t>3</a:t>
            </a:r>
            <a:endParaRPr lang="en-US" sz="1500" dirty="0"/>
          </a:p>
        </p:txBody>
      </p:sp>
      <p:sp>
        <p:nvSpPr>
          <p:cNvPr id="29" name="Text 26"/>
          <p:cNvSpPr txBox="1"/>
          <p:nvPr/>
        </p:nvSpPr>
        <p:spPr>
          <a:xfrm>
            <a:off x="1097280" y="4343400"/>
            <a:ext cx="2331720" cy="548640"/>
          </a:xfrm>
          <a:prstGeom prst="rect">
            <a:avLst/>
          </a:prstGeom>
          <a:noFill/>
          <a:ln/>
        </p:spPr>
        <p:txBody>
          <a:bodyPr wrap="square" lIns="0" tIns="0" rIns="0" bIns="0" rtlCol="0" anchor="ctr"/>
          <a:lstStyle/>
          <a:p>
            <a:pPr indent="0" marL="0">
              <a:buNone/>
            </a:pPr>
            <a:r>
              <a:rPr lang="en-US" sz="1400" b="1" dirty="0">
                <a:solidFill>
                  <a:srgbClr val="1F2A33"/>
                </a:solidFill>
                <a:latin typeface="Arial" pitchFamily="34" charset="0"/>
                <a:ea typeface="Arial" pitchFamily="34" charset="-122"/>
                <a:cs typeface="Arial" pitchFamily="34" charset="-120"/>
              </a:rPr>
              <a:t>The result we want</a:t>
            </a:r>
            <a:endParaRPr lang="en-US" sz="1400" dirty="0"/>
          </a:p>
        </p:txBody>
      </p:sp>
      <p:sp>
        <p:nvSpPr>
          <p:cNvPr id="30" name="Text 27"/>
          <p:cNvSpPr txBox="1"/>
          <p:nvPr/>
        </p:nvSpPr>
        <p:spPr>
          <a:xfrm>
            <a:off x="3474720" y="4343400"/>
            <a:ext cx="5212080" cy="548640"/>
          </a:xfrm>
          <a:prstGeom prst="rect">
            <a:avLst/>
          </a:prstGeom>
          <a:noFill/>
          <a:ln/>
        </p:spPr>
        <p:txBody>
          <a:bodyPr wrap="square" lIns="0" tIns="0" rIns="0" bIns="0" rtlCol="0" anchor="ctr"/>
          <a:lstStyle/>
          <a:p>
            <a:pPr indent="0" marL="0">
              <a:buNone/>
            </a:pPr>
            <a:r>
              <a:rPr lang="en-US" sz="1250" dirty="0">
                <a:solidFill>
                  <a:srgbClr val="1F2A33"/>
                </a:solidFill>
                <a:latin typeface="Arial" pitchFamily="34" charset="0"/>
                <a:ea typeface="Arial" pitchFamily="34" charset="-122"/>
                <a:cs typeface="Arial" pitchFamily="34" charset="-120"/>
              </a:rPr>
              <a:t>I can say the result we want, and how a record would prove it.</a:t>
            </a:r>
            <a:endParaRPr lang="en-US" sz="1250" dirty="0"/>
          </a:p>
        </p:txBody>
      </p:sp>
      <p:sp>
        <p:nvSpPr>
          <p:cNvPr id="31" name="Shape 28"/>
          <p:cNvSpPr/>
          <p:nvPr/>
        </p:nvSpPr>
        <p:spPr>
          <a:xfrm>
            <a:off x="548640" y="4928616"/>
            <a:ext cx="8229600" cy="548640"/>
          </a:xfrm>
          <a:prstGeom prst="rect">
            <a:avLst/>
          </a:prstGeom>
          <a:solidFill>
            <a:srgbClr val="EEF6F7"/>
          </a:solidFill>
          <a:ln/>
        </p:spPr>
      </p:sp>
      <p:sp>
        <p:nvSpPr>
          <p:cNvPr id="32" name="Text 29"/>
          <p:cNvSpPr txBox="1"/>
          <p:nvPr/>
        </p:nvSpPr>
        <p:spPr>
          <a:xfrm>
            <a:off x="548640" y="4928616"/>
            <a:ext cx="502920" cy="548640"/>
          </a:xfrm>
          <a:prstGeom prst="rect">
            <a:avLst/>
          </a:prstGeom>
          <a:noFill/>
          <a:ln/>
        </p:spPr>
        <p:txBody>
          <a:bodyPr wrap="square" lIns="0" tIns="0" rIns="0" bIns="0" rtlCol="0" anchor="ctr"/>
          <a:lstStyle/>
          <a:p>
            <a:pPr algn="ctr" indent="0" marL="0">
              <a:buNone/>
            </a:pPr>
            <a:r>
              <a:rPr lang="en-US" sz="1500" b="1" dirty="0">
                <a:solidFill>
                  <a:srgbClr val="287079"/>
                </a:solidFill>
                <a:latin typeface="Arial" pitchFamily="34" charset="0"/>
                <a:ea typeface="Arial" pitchFamily="34" charset="-122"/>
                <a:cs typeface="Arial" pitchFamily="34" charset="-120"/>
              </a:rPr>
              <a:t>2</a:t>
            </a:r>
            <a:endParaRPr lang="en-US" sz="1500" dirty="0"/>
          </a:p>
        </p:txBody>
      </p:sp>
      <p:sp>
        <p:nvSpPr>
          <p:cNvPr id="33" name="Text 30"/>
          <p:cNvSpPr txBox="1"/>
          <p:nvPr/>
        </p:nvSpPr>
        <p:spPr>
          <a:xfrm>
            <a:off x="1097280" y="4928616"/>
            <a:ext cx="2331720" cy="548640"/>
          </a:xfrm>
          <a:prstGeom prst="rect">
            <a:avLst/>
          </a:prstGeom>
          <a:noFill/>
          <a:ln/>
        </p:spPr>
        <p:txBody>
          <a:bodyPr wrap="square" lIns="0" tIns="0" rIns="0" bIns="0" rtlCol="0" anchor="ctr"/>
          <a:lstStyle/>
          <a:p>
            <a:pPr indent="0" marL="0">
              <a:buNone/>
            </a:pPr>
            <a:r>
              <a:rPr lang="en-US" sz="1400" b="1" dirty="0">
                <a:solidFill>
                  <a:srgbClr val="1F2A33"/>
                </a:solidFill>
                <a:latin typeface="Arial" pitchFamily="34" charset="0"/>
                <a:ea typeface="Arial" pitchFamily="34" charset="-122"/>
                <a:cs typeface="Arial" pitchFamily="34" charset="-120"/>
              </a:rPr>
              <a:t>The real problem</a:t>
            </a:r>
            <a:endParaRPr lang="en-US" sz="1400" dirty="0"/>
          </a:p>
        </p:txBody>
      </p:sp>
      <p:sp>
        <p:nvSpPr>
          <p:cNvPr id="34" name="Text 31"/>
          <p:cNvSpPr txBox="1"/>
          <p:nvPr/>
        </p:nvSpPr>
        <p:spPr>
          <a:xfrm>
            <a:off x="3474720" y="4928616"/>
            <a:ext cx="5212080" cy="548640"/>
          </a:xfrm>
          <a:prstGeom prst="rect">
            <a:avLst/>
          </a:prstGeom>
          <a:noFill/>
          <a:ln/>
        </p:spPr>
        <p:txBody>
          <a:bodyPr wrap="square" lIns="0" tIns="0" rIns="0" bIns="0" rtlCol="0" anchor="ctr"/>
          <a:lstStyle/>
          <a:p>
            <a:pPr indent="0" marL="0">
              <a:buNone/>
            </a:pPr>
            <a:r>
              <a:rPr lang="en-US" sz="1250" dirty="0">
                <a:solidFill>
                  <a:srgbClr val="1F2A33"/>
                </a:solidFill>
                <a:latin typeface="Arial" pitchFamily="34" charset="0"/>
                <a:ea typeface="Arial" pitchFamily="34" charset="-122"/>
                <a:cs typeface="Arial" pitchFamily="34" charset="-120"/>
              </a:rPr>
              <a:t>I see where records and reality part, at each stage of a deal.</a:t>
            </a:r>
            <a:endParaRPr lang="en-US" sz="1250" dirty="0"/>
          </a:p>
        </p:txBody>
      </p:sp>
      <p:sp>
        <p:nvSpPr>
          <p:cNvPr id="35" name="Shape 32"/>
          <p:cNvSpPr/>
          <p:nvPr/>
        </p:nvSpPr>
        <p:spPr>
          <a:xfrm>
            <a:off x="548640" y="5513832"/>
            <a:ext cx="8229600" cy="548640"/>
          </a:xfrm>
          <a:prstGeom prst="rect">
            <a:avLst/>
          </a:prstGeom>
          <a:solidFill>
            <a:srgbClr val="EEF6F7"/>
          </a:solidFill>
          <a:ln/>
        </p:spPr>
      </p:sp>
      <p:sp>
        <p:nvSpPr>
          <p:cNvPr id="36" name="Text 33"/>
          <p:cNvSpPr txBox="1"/>
          <p:nvPr/>
        </p:nvSpPr>
        <p:spPr>
          <a:xfrm>
            <a:off x="548640" y="5513832"/>
            <a:ext cx="502920" cy="548640"/>
          </a:xfrm>
          <a:prstGeom prst="rect">
            <a:avLst/>
          </a:prstGeom>
          <a:noFill/>
          <a:ln/>
        </p:spPr>
        <p:txBody>
          <a:bodyPr wrap="square" lIns="0" tIns="0" rIns="0" bIns="0" rtlCol="0" anchor="ctr"/>
          <a:lstStyle/>
          <a:p>
            <a:pPr algn="ctr" indent="0" marL="0">
              <a:buNone/>
            </a:pPr>
            <a:r>
              <a:rPr lang="en-US" sz="1500" b="1" dirty="0">
                <a:solidFill>
                  <a:srgbClr val="287079"/>
                </a:solidFill>
                <a:latin typeface="Arial" pitchFamily="34" charset="0"/>
                <a:ea typeface="Arial" pitchFamily="34" charset="-122"/>
                <a:cs typeface="Arial" pitchFamily="34" charset="-120"/>
              </a:rPr>
              <a:t>1</a:t>
            </a:r>
            <a:endParaRPr lang="en-US" sz="1500" dirty="0"/>
          </a:p>
        </p:txBody>
      </p:sp>
      <p:sp>
        <p:nvSpPr>
          <p:cNvPr id="37" name="Text 34"/>
          <p:cNvSpPr txBox="1"/>
          <p:nvPr/>
        </p:nvSpPr>
        <p:spPr>
          <a:xfrm>
            <a:off x="1097280" y="5513832"/>
            <a:ext cx="2331720" cy="548640"/>
          </a:xfrm>
          <a:prstGeom prst="rect">
            <a:avLst/>
          </a:prstGeom>
          <a:noFill/>
          <a:ln/>
        </p:spPr>
        <p:txBody>
          <a:bodyPr wrap="square" lIns="0" tIns="0" rIns="0" bIns="0" rtlCol="0" anchor="ctr"/>
          <a:lstStyle/>
          <a:p>
            <a:pPr indent="0" marL="0">
              <a:buNone/>
            </a:pPr>
            <a:r>
              <a:rPr lang="en-US" sz="1400" b="1" dirty="0">
                <a:solidFill>
                  <a:srgbClr val="1F2A33"/>
                </a:solidFill>
                <a:latin typeface="Arial" pitchFamily="34" charset="0"/>
                <a:ea typeface="Arial" pitchFamily="34" charset="-122"/>
                <a:cs typeface="Arial" pitchFamily="34" charset="-120"/>
              </a:rPr>
              <a:t>Why we are here</a:t>
            </a:r>
            <a:endParaRPr lang="en-US" sz="1400" dirty="0"/>
          </a:p>
        </p:txBody>
      </p:sp>
      <p:sp>
        <p:nvSpPr>
          <p:cNvPr id="38" name="Text 35"/>
          <p:cNvSpPr txBox="1"/>
          <p:nvPr/>
        </p:nvSpPr>
        <p:spPr>
          <a:xfrm>
            <a:off x="3474720" y="5513832"/>
            <a:ext cx="5212080" cy="548640"/>
          </a:xfrm>
          <a:prstGeom prst="rect">
            <a:avLst/>
          </a:prstGeom>
          <a:noFill/>
          <a:ln/>
        </p:spPr>
        <p:txBody>
          <a:bodyPr wrap="square" lIns="0" tIns="0" rIns="0" bIns="0" rtlCol="0" anchor="ctr"/>
          <a:lstStyle/>
          <a:p>
            <a:pPr indent="0" marL="0">
              <a:buNone/>
            </a:pPr>
            <a:r>
              <a:rPr lang="en-US" sz="1250" dirty="0">
                <a:solidFill>
                  <a:srgbClr val="1F2A33"/>
                </a:solidFill>
                <a:latin typeface="Arial" pitchFamily="34" charset="0"/>
                <a:ea typeface="Arial" pitchFamily="34" charset="-122"/>
                <a:cs typeface="Arial" pitchFamily="34" charset="-120"/>
              </a:rPr>
              <a:t>I know why we are here and what we decide at the end.</a:t>
            </a:r>
            <a:endParaRPr lang="en-US" sz="1250" dirty="0"/>
          </a:p>
        </p:txBody>
      </p:sp>
      <p:sp>
        <p:nvSpPr>
          <p:cNvPr id="39" name="Shape 36"/>
          <p:cNvSpPr/>
          <p:nvPr/>
        </p:nvSpPr>
        <p:spPr>
          <a:xfrm>
            <a:off x="9006840" y="1417320"/>
            <a:ext cx="2633472" cy="4663440"/>
          </a:xfrm>
          <a:prstGeom prst="roundRect">
            <a:avLst>
              <a:gd name="adj" fmla="val 3472"/>
            </a:avLst>
          </a:prstGeom>
          <a:solidFill>
            <a:srgbClr val="EEF6F7"/>
          </a:solidFill>
          <a:ln/>
        </p:spPr>
      </p:sp>
      <p:pic>
        <p:nvPicPr>
          <p:cNvPr id="40" name="Image 1" descr="/private/tmp/claude-501/-Users-salehhamed-Outcome-Engine/91861432-41e2-4884-bc97-63c6dff2d021/scratchpad/wk/icons/TbStairsUp-teal.png">    </p:cNvPr>
          <p:cNvPicPr>
            <a:picLocks noChangeAspect="1"/>
          </p:cNvPicPr>
          <p:nvPr/>
        </p:nvPicPr>
        <p:blipFill>
          <a:blip r:embed="rId4"/>
          <a:stretch>
            <a:fillRect/>
          </a:stretch>
        </p:blipFill>
        <p:spPr>
          <a:xfrm>
            <a:off x="9235440" y="1645920"/>
            <a:ext cx="731520" cy="731520"/>
          </a:xfrm>
          <a:prstGeom prst="rect">
            <a:avLst/>
          </a:prstGeom>
        </p:spPr>
      </p:pic>
      <p:sp>
        <p:nvSpPr>
          <p:cNvPr id="41" name="Text 37"/>
          <p:cNvSpPr txBox="1"/>
          <p:nvPr/>
        </p:nvSpPr>
        <p:spPr>
          <a:xfrm>
            <a:off x="9235440" y="2514600"/>
            <a:ext cx="2240280" cy="1280160"/>
          </a:xfrm>
          <a:prstGeom prst="rect">
            <a:avLst/>
          </a:prstGeom>
          <a:noFill/>
          <a:ln/>
        </p:spPr>
        <p:txBody>
          <a:bodyPr wrap="square" lIns="0" tIns="0" rIns="0" bIns="0" rtlCol="0" anchor="t"/>
          <a:lstStyle/>
          <a:p>
            <a:pPr indent="0" marL="0">
              <a:buNone/>
            </a:pPr>
            <a:r>
              <a:rPr lang="en-US" sz="1600" b="1" dirty="0">
                <a:solidFill>
                  <a:srgbClr val="1F2A33"/>
                </a:solidFill>
                <a:latin typeface="Arial" pitchFamily="34" charset="0"/>
                <a:ea typeface="Arial" pitchFamily="34" charset="-122"/>
                <a:cs typeface="Arial" pitchFamily="34" charset="-120"/>
              </a:rPr>
              <a:t>Put a dot on the step you honestly reached.</a:t>
            </a:r>
            <a:endParaRPr lang="en-US" sz="1600" dirty="0"/>
          </a:p>
        </p:txBody>
      </p:sp>
      <p:sp>
        <p:nvSpPr>
          <p:cNvPr id="42" name="Text 38"/>
          <p:cNvSpPr txBox="1"/>
          <p:nvPr/>
        </p:nvSpPr>
        <p:spPr>
          <a:xfrm>
            <a:off x="9235440" y="3886200"/>
            <a:ext cx="2240280" cy="2011680"/>
          </a:xfrm>
          <a:prstGeom prst="rect">
            <a:avLst/>
          </a:prstGeom>
          <a:noFill/>
          <a:ln/>
        </p:spPr>
        <p:txBody>
          <a:bodyPr wrap="square" lIns="0" tIns="0" rIns="0" bIns="0" rtlCol="0" anchor="t"/>
          <a:lstStyle/>
          <a:p>
            <a:pPr indent="0" marL="0">
              <a:buNone/>
            </a:pPr>
            <a:r>
              <a:rPr lang="en-US" sz="1300" dirty="0">
                <a:solidFill>
                  <a:srgbClr val="5A5A5A"/>
                </a:solidFill>
                <a:latin typeface="Arial" pitchFamily="34" charset="0"/>
                <a:ea typeface="Arial" pitchFamily="34" charset="-122"/>
                <a:cs typeface="Arial" pitchFamily="34" charset="-120"/>
              </a:rPr>
              <a:t>The red step is where we aimed today. Low dots tell us what to go over again tomorrow.</a:t>
            </a:r>
            <a:endParaRPr lang="en-US" sz="13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OVERNIGHT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Tonight, it gets built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16:45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115</a:t>
            </a:r>
            <a:endParaRPr lang="en-US" sz="1000" dirty="0"/>
          </a:p>
        </p:txBody>
      </p:sp>
      <p:sp>
        <p:nvSpPr>
          <p:cNvPr id="7" name="Shape 4"/>
          <p:cNvSpPr/>
          <p:nvPr/>
        </p:nvSpPr>
        <p:spPr>
          <a:xfrm>
            <a:off x="548640" y="1645920"/>
            <a:ext cx="1280160" cy="1280160"/>
          </a:xfrm>
          <a:prstGeom prst="ellipse">
            <a:avLst/>
          </a:prstGeom>
          <a:solidFill>
            <a:srgbClr val="36454F"/>
          </a:solidFill>
          <a:ln/>
        </p:spPr>
      </p:sp>
      <p:pic>
        <p:nvPicPr>
          <p:cNvPr id="8" name="Image 1" descr="/private/tmp/claude-501/-Users-salehhamed-Outcome-Engine/91861432-41e2-4884-bc97-63c6dff2d021/scratchpad/wk/icons/TbMoon-white.png">    </p:cNvPr>
          <p:cNvPicPr>
            <a:picLocks noChangeAspect="1"/>
          </p:cNvPicPr>
          <p:nvPr/>
        </p:nvPicPr>
        <p:blipFill>
          <a:blip r:embed="rId4"/>
          <a:stretch>
            <a:fillRect/>
          </a:stretch>
        </p:blipFill>
        <p:spPr>
          <a:xfrm>
            <a:off x="804672" y="1901952"/>
            <a:ext cx="768096" cy="768096"/>
          </a:xfrm>
          <a:prstGeom prst="rect">
            <a:avLst/>
          </a:prstGeom>
        </p:spPr>
      </p:pic>
      <p:pic>
        <p:nvPicPr>
          <p:cNvPr id="9" name="Image 2" descr="/private/tmp/claude-501/-Users-salehhamed-Outcome-Engine/91861432-41e2-4884-bc97-63c6dff2d021/scratchpad/wk/icons/TbCircleCheck-green.png">    </p:cNvPr>
          <p:cNvPicPr>
            <a:picLocks noChangeAspect="1"/>
          </p:cNvPicPr>
          <p:nvPr/>
        </p:nvPicPr>
        <p:blipFill>
          <a:blip r:embed="rId5"/>
          <a:stretch>
            <a:fillRect/>
          </a:stretch>
        </p:blipFill>
        <p:spPr>
          <a:xfrm>
            <a:off x="2194560" y="1691640"/>
            <a:ext cx="438912" cy="438912"/>
          </a:xfrm>
          <a:prstGeom prst="rect">
            <a:avLst/>
          </a:prstGeom>
        </p:spPr>
      </p:pic>
      <p:sp>
        <p:nvSpPr>
          <p:cNvPr id="10" name="Text 5"/>
          <p:cNvSpPr txBox="1"/>
          <p:nvPr/>
        </p:nvSpPr>
        <p:spPr>
          <a:xfrm>
            <a:off x="2788920" y="1664208"/>
            <a:ext cx="8229600" cy="502920"/>
          </a:xfrm>
          <a:prstGeom prst="rect">
            <a:avLst/>
          </a:prstGeom>
          <a:noFill/>
          <a:ln/>
        </p:spPr>
        <p:txBody>
          <a:bodyPr wrap="square" lIns="0" tIns="0" rIns="0" bIns="0" rtlCol="0" anchor="ctr"/>
          <a:lstStyle/>
          <a:p>
            <a:pPr indent="0" marL="0">
              <a:buNone/>
            </a:pPr>
            <a:r>
              <a:rPr lang="en-US" sz="1900" dirty="0">
                <a:solidFill>
                  <a:srgbClr val="1F2A33"/>
                </a:solidFill>
                <a:latin typeface="Arial" pitchFamily="34" charset="0"/>
                <a:ea typeface="Arial" pitchFamily="34" charset="-122"/>
                <a:cs typeface="Arial" pitchFamily="34" charset="-120"/>
              </a:rPr>
              <a:t>The outcome and the done checks</a:t>
            </a:r>
            <a:endParaRPr lang="en-US" sz="1900" dirty="0"/>
          </a:p>
        </p:txBody>
      </p:sp>
      <p:pic>
        <p:nvPicPr>
          <p:cNvPr id="11" name="Image 3" descr="/private/tmp/claude-501/-Users-salehhamed-Outcome-Engine/91861432-41e2-4884-bc97-63c6dff2d021/scratchpad/wk/icons/TbCircleCheck-green.png">    </p:cNvPr>
          <p:cNvPicPr>
            <a:picLocks noChangeAspect="1"/>
          </p:cNvPicPr>
          <p:nvPr/>
        </p:nvPicPr>
        <p:blipFill>
          <a:blip r:embed="rId6"/>
          <a:stretch>
            <a:fillRect/>
          </a:stretch>
        </p:blipFill>
        <p:spPr>
          <a:xfrm>
            <a:off x="2194560" y="2377440"/>
            <a:ext cx="438912" cy="438912"/>
          </a:xfrm>
          <a:prstGeom prst="rect">
            <a:avLst/>
          </a:prstGeom>
        </p:spPr>
      </p:pic>
      <p:sp>
        <p:nvSpPr>
          <p:cNvPr id="12" name="Text 6"/>
          <p:cNvSpPr txBox="1"/>
          <p:nvPr/>
        </p:nvSpPr>
        <p:spPr>
          <a:xfrm>
            <a:off x="2788920" y="2350008"/>
            <a:ext cx="8229600" cy="502920"/>
          </a:xfrm>
          <a:prstGeom prst="rect">
            <a:avLst/>
          </a:prstGeom>
          <a:noFill/>
          <a:ln/>
        </p:spPr>
        <p:txBody>
          <a:bodyPr wrap="square" lIns="0" tIns="0" rIns="0" bIns="0" rtlCol="0" anchor="ctr"/>
          <a:lstStyle/>
          <a:p>
            <a:pPr indent="0" marL="0">
              <a:buNone/>
            </a:pPr>
            <a:r>
              <a:rPr lang="en-US" sz="1900" dirty="0">
                <a:solidFill>
                  <a:srgbClr val="1F2A33"/>
                </a:solidFill>
                <a:latin typeface="Arial" pitchFamily="34" charset="0"/>
                <a:ea typeface="Arial" pitchFamily="34" charset="-122"/>
                <a:cs typeface="Arial" pitchFamily="34" charset="-120"/>
              </a:rPr>
              <a:t>Each decision sent to its named owner</a:t>
            </a:r>
            <a:endParaRPr lang="en-US" sz="1900" dirty="0"/>
          </a:p>
        </p:txBody>
      </p:sp>
      <p:pic>
        <p:nvPicPr>
          <p:cNvPr id="13" name="Image 4" descr="/private/tmp/claude-501/-Users-salehhamed-Outcome-Engine/91861432-41e2-4884-bc97-63c6dff2d021/scratchpad/wk/icons/TbCircleCheck-green.png">    </p:cNvPr>
          <p:cNvPicPr>
            <a:picLocks noChangeAspect="1"/>
          </p:cNvPicPr>
          <p:nvPr/>
        </p:nvPicPr>
        <p:blipFill>
          <a:blip r:embed="rId7"/>
          <a:stretch>
            <a:fillRect/>
          </a:stretch>
        </p:blipFill>
        <p:spPr>
          <a:xfrm>
            <a:off x="2194560" y="3063240"/>
            <a:ext cx="438912" cy="438912"/>
          </a:xfrm>
          <a:prstGeom prst="rect">
            <a:avLst/>
          </a:prstGeom>
        </p:spPr>
      </p:pic>
      <p:sp>
        <p:nvSpPr>
          <p:cNvPr id="14" name="Text 7"/>
          <p:cNvSpPr txBox="1"/>
          <p:nvPr/>
        </p:nvSpPr>
        <p:spPr>
          <a:xfrm>
            <a:off x="2788920" y="3035808"/>
            <a:ext cx="8229600" cy="502920"/>
          </a:xfrm>
          <a:prstGeom prst="rect">
            <a:avLst/>
          </a:prstGeom>
          <a:noFill/>
          <a:ln/>
        </p:spPr>
        <p:txBody>
          <a:bodyPr wrap="square" lIns="0" tIns="0" rIns="0" bIns="0" rtlCol="0" anchor="ctr"/>
          <a:lstStyle/>
          <a:p>
            <a:pPr indent="0" marL="0">
              <a:buNone/>
            </a:pPr>
            <a:r>
              <a:rPr lang="en-US" sz="1900" dirty="0">
                <a:solidFill>
                  <a:srgbClr val="1F2A33"/>
                </a:solidFill>
                <a:latin typeface="Arial" pitchFamily="34" charset="0"/>
                <a:ea typeface="Arial" pitchFamily="34" charset="-122"/>
                <a:cs typeface="Arial" pitchFamily="34" charset="-120"/>
              </a:rPr>
              <a:t>A rule check on every step</a:t>
            </a:r>
            <a:endParaRPr lang="en-US" sz="1900" dirty="0"/>
          </a:p>
        </p:txBody>
      </p:sp>
      <p:pic>
        <p:nvPicPr>
          <p:cNvPr id="15" name="Image 5" descr="/private/tmp/claude-501/-Users-salehhamed-Outcome-Engine/91861432-41e2-4884-bc97-63c6dff2d021/scratchpad/wk/icons/TbCircleCheck-green.png">    </p:cNvPr>
          <p:cNvPicPr>
            <a:picLocks noChangeAspect="1"/>
          </p:cNvPicPr>
          <p:nvPr/>
        </p:nvPicPr>
        <p:blipFill>
          <a:blip r:embed="rId8"/>
          <a:stretch>
            <a:fillRect/>
          </a:stretch>
        </p:blipFill>
        <p:spPr>
          <a:xfrm>
            <a:off x="2194560" y="3749040"/>
            <a:ext cx="438912" cy="438912"/>
          </a:xfrm>
          <a:prstGeom prst="rect">
            <a:avLst/>
          </a:prstGeom>
        </p:spPr>
      </p:pic>
      <p:sp>
        <p:nvSpPr>
          <p:cNvPr id="16" name="Text 8"/>
          <p:cNvSpPr txBox="1"/>
          <p:nvPr/>
        </p:nvSpPr>
        <p:spPr>
          <a:xfrm>
            <a:off x="2788920" y="3721608"/>
            <a:ext cx="8229600" cy="502920"/>
          </a:xfrm>
          <a:prstGeom prst="rect">
            <a:avLst/>
          </a:prstGeom>
          <a:noFill/>
          <a:ln/>
        </p:spPr>
        <p:txBody>
          <a:bodyPr wrap="square" lIns="0" tIns="0" rIns="0" bIns="0" rtlCol="0" anchor="ctr"/>
          <a:lstStyle/>
          <a:p>
            <a:pPr indent="0" marL="0">
              <a:buNone/>
            </a:pPr>
            <a:r>
              <a:rPr lang="en-US" sz="1900" dirty="0">
                <a:solidFill>
                  <a:srgbClr val="1F2A33"/>
                </a:solidFill>
                <a:latin typeface="Arial" pitchFamily="34" charset="0"/>
                <a:ea typeface="Arial" pitchFamily="34" charset="-122"/>
                <a:cs typeface="Arial" pitchFamily="34" charset="-120"/>
              </a:rPr>
              <a:t>A record of everything that happens</a:t>
            </a:r>
            <a:endParaRPr lang="en-US" sz="1900" dirty="0"/>
          </a:p>
        </p:txBody>
      </p:sp>
      <p:sp>
        <p:nvSpPr>
          <p:cNvPr id="17" name="Shape 9"/>
          <p:cNvSpPr/>
          <p:nvPr/>
        </p:nvSpPr>
        <p:spPr>
          <a:xfrm>
            <a:off x="548640" y="4846320"/>
            <a:ext cx="11091672" cy="1143000"/>
          </a:xfrm>
          <a:prstGeom prst="roundRect">
            <a:avLst>
              <a:gd name="adj" fmla="val 8000"/>
            </a:avLst>
          </a:prstGeom>
          <a:solidFill>
            <a:srgbClr val="F2F4F5"/>
          </a:solidFill>
          <a:ln/>
        </p:spPr>
      </p:sp>
      <p:pic>
        <p:nvPicPr>
          <p:cNvPr id="18" name="Image 6" descr="/private/tmp/claude-501/-Users-salehhamed-Outcome-Engine/91861432-41e2-4884-bc97-63c6dff2d021/scratchpad/wk/icons/TbSun-amber.png">    </p:cNvPr>
          <p:cNvPicPr>
            <a:picLocks noChangeAspect="1"/>
          </p:cNvPicPr>
          <p:nvPr/>
        </p:nvPicPr>
        <p:blipFill>
          <a:blip r:embed="rId9"/>
          <a:stretch>
            <a:fillRect/>
          </a:stretch>
        </p:blipFill>
        <p:spPr>
          <a:xfrm>
            <a:off x="822960" y="5074920"/>
            <a:ext cx="685800" cy="685800"/>
          </a:xfrm>
          <a:prstGeom prst="rect">
            <a:avLst/>
          </a:prstGeom>
        </p:spPr>
      </p:pic>
      <p:sp>
        <p:nvSpPr>
          <p:cNvPr id="19" name="Text 10"/>
          <p:cNvSpPr txBox="1"/>
          <p:nvPr/>
        </p:nvSpPr>
        <p:spPr>
          <a:xfrm>
            <a:off x="1737360" y="4846320"/>
            <a:ext cx="9144000" cy="1143000"/>
          </a:xfrm>
          <a:prstGeom prst="rect">
            <a:avLst/>
          </a:prstGeom>
          <a:noFill/>
          <a:ln/>
        </p:spPr>
        <p:txBody>
          <a:bodyPr wrap="square" lIns="0" tIns="0" rIns="0" bIns="0" rtlCol="0" anchor="ctr"/>
          <a:lstStyle/>
          <a:p>
            <a:pPr indent="0" marL="0">
              <a:buNone/>
            </a:pPr>
            <a:r>
              <a:rPr lang="en-US" sz="2400" b="1" dirty="0">
                <a:solidFill>
                  <a:srgbClr val="1F2A33"/>
                </a:solidFill>
                <a:latin typeface="Arial" pitchFamily="34" charset="0"/>
                <a:ea typeface="Arial" pitchFamily="34" charset="-122"/>
                <a:cs typeface="Arial" pitchFamily="34" charset="-120"/>
              </a:rPr>
              <a:t>See you at 09:00. Coffee from 08:30.</a:t>
            </a:r>
            <a:endParaRPr lang="en-US" sz="24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name="Slide 1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CLOSE OF DAY 1</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Three ways to run this session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16:45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116</a:t>
            </a:r>
            <a:endParaRPr lang="en-US" sz="1000" dirty="0"/>
          </a:p>
        </p:txBody>
      </p:sp>
      <p:sp>
        <p:nvSpPr>
          <p:cNvPr id="7" name="Shape 4"/>
          <p:cNvSpPr/>
          <p:nvPr/>
        </p:nvSpPr>
        <p:spPr>
          <a:xfrm>
            <a:off x="548640" y="1463040"/>
            <a:ext cx="3566160" cy="4663440"/>
          </a:xfrm>
          <a:prstGeom prst="roundRect">
            <a:avLst>
              <a:gd name="adj" fmla="val 2051"/>
            </a:avLst>
          </a:prstGeom>
          <a:solidFill>
            <a:srgbClr val="FFFFFF"/>
          </a:solidFill>
          <a:ln w="12700">
            <a:solidFill>
              <a:srgbClr val="D9DEE2"/>
            </a:solidFill>
            <a:prstDash val="solid"/>
          </a:ln>
        </p:spPr>
      </p:sp>
      <p:sp>
        <p:nvSpPr>
          <p:cNvPr id="8" name="Shape 5"/>
          <p:cNvSpPr/>
          <p:nvPr/>
        </p:nvSpPr>
        <p:spPr>
          <a:xfrm>
            <a:off x="548640" y="1463040"/>
            <a:ext cx="3566160" cy="566928"/>
          </a:xfrm>
          <a:prstGeom prst="roundRect">
            <a:avLst>
              <a:gd name="adj" fmla="val 12903"/>
            </a:avLst>
          </a:prstGeom>
          <a:solidFill>
            <a:srgbClr val="287079"/>
          </a:solidFill>
          <a:ln/>
        </p:spPr>
      </p:sp>
      <p:sp>
        <p:nvSpPr>
          <p:cNvPr id="9" name="Shape 6"/>
          <p:cNvSpPr/>
          <p:nvPr/>
        </p:nvSpPr>
        <p:spPr>
          <a:xfrm>
            <a:off x="548640" y="1828800"/>
            <a:ext cx="3566160" cy="201168"/>
          </a:xfrm>
          <a:prstGeom prst="rect">
            <a:avLst/>
          </a:prstGeom>
          <a:solidFill>
            <a:srgbClr val="287079"/>
          </a:solidFill>
          <a:ln/>
        </p:spPr>
      </p:sp>
      <p:pic>
        <p:nvPicPr>
          <p:cNvPr id="10" name="Image 1" descr="/private/tmp/claude-501/-Users-salehhamed-Outcome-Engine/91861432-41e2-4884-bc97-63c6dff2d021/scratchpad/wk/icons/TbHandClick-white.png">    </p:cNvPr>
          <p:cNvPicPr>
            <a:picLocks noChangeAspect="1"/>
          </p:cNvPicPr>
          <p:nvPr/>
        </p:nvPicPr>
        <p:blipFill>
          <a:blip r:embed="rId4"/>
          <a:stretch>
            <a:fillRect/>
          </a:stretch>
        </p:blipFill>
        <p:spPr>
          <a:xfrm>
            <a:off x="713232" y="1554480"/>
            <a:ext cx="384048" cy="384048"/>
          </a:xfrm>
          <a:prstGeom prst="rect">
            <a:avLst/>
          </a:prstGeom>
        </p:spPr>
      </p:pic>
      <p:sp>
        <p:nvSpPr>
          <p:cNvPr id="11" name="Text 7"/>
          <p:cNvSpPr txBox="1"/>
          <p:nvPr/>
        </p:nvSpPr>
        <p:spPr>
          <a:xfrm>
            <a:off x="120700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A · HANDS-ON</a:t>
            </a:r>
            <a:endParaRPr lang="en-US" sz="1150" dirty="0"/>
          </a:p>
        </p:txBody>
      </p:sp>
      <p:sp>
        <p:nvSpPr>
          <p:cNvPr id="12" name="Text 8"/>
          <p:cNvSpPr txBox="1"/>
          <p:nvPr/>
        </p:nvSpPr>
        <p:spPr>
          <a:xfrm>
            <a:off x="77724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Dots on the ladder</a:t>
            </a:r>
            <a:endParaRPr lang="en-US" sz="2100" dirty="0"/>
          </a:p>
        </p:txBody>
      </p:sp>
      <p:sp>
        <p:nvSpPr>
          <p:cNvPr id="13" name="Text 9"/>
          <p:cNvSpPr txBox="1"/>
          <p:nvPr/>
        </p:nvSpPr>
        <p:spPr>
          <a:xfrm>
            <a:off x="77724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Recap, then each person puts a dot on the step they feel they reached.</a:t>
            </a:r>
            <a:endParaRPr lang="en-US" sz="1400" dirty="0"/>
          </a:p>
        </p:txBody>
      </p:sp>
      <p:pic>
        <p:nvPicPr>
          <p:cNvPr id="14" name="Image 2" descr="/private/tmp/claude-501/-Users-salehhamed-Outcome-Engine/91861432-41e2-4884-bc97-63c6dff2d021/scratchpad/wk/icons/TbClock-grey.png">    </p:cNvPr>
          <p:cNvPicPr>
            <a:picLocks noChangeAspect="1"/>
          </p:cNvPicPr>
          <p:nvPr/>
        </p:nvPicPr>
        <p:blipFill>
          <a:blip r:embed="rId5"/>
          <a:stretch>
            <a:fillRect/>
          </a:stretch>
        </p:blipFill>
        <p:spPr>
          <a:xfrm>
            <a:off x="777240" y="4297680"/>
            <a:ext cx="274320" cy="274320"/>
          </a:xfrm>
          <a:prstGeom prst="rect">
            <a:avLst/>
          </a:prstGeom>
        </p:spPr>
      </p:pic>
      <p:sp>
        <p:nvSpPr>
          <p:cNvPr id="15" name="Text 10"/>
          <p:cNvSpPr txBox="1"/>
          <p:nvPr/>
        </p:nvSpPr>
        <p:spPr>
          <a:xfrm>
            <a:off x="114300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15 min</a:t>
            </a:r>
            <a:endParaRPr lang="en-US" sz="1200" dirty="0"/>
          </a:p>
        </p:txBody>
      </p:sp>
      <p:pic>
        <p:nvPicPr>
          <p:cNvPr id="16" name="Image 3" descr="/private/tmp/claude-501/-Users-salehhamed-Outcome-Engine/91861432-41e2-4884-bc97-63c6dff2d021/scratchpad/wk/icons/TbUsers-grey.png">    </p:cNvPr>
          <p:cNvPicPr>
            <a:picLocks noChangeAspect="1"/>
          </p:cNvPicPr>
          <p:nvPr/>
        </p:nvPicPr>
        <p:blipFill>
          <a:blip r:embed="rId6"/>
          <a:stretch>
            <a:fillRect/>
          </a:stretch>
        </p:blipFill>
        <p:spPr>
          <a:xfrm>
            <a:off x="777240" y="4681728"/>
            <a:ext cx="274320" cy="274320"/>
          </a:xfrm>
          <a:prstGeom prst="rect">
            <a:avLst/>
          </a:prstGeom>
        </p:spPr>
      </p:pic>
      <p:sp>
        <p:nvSpPr>
          <p:cNvPr id="17" name="Text 11"/>
          <p:cNvSpPr txBox="1"/>
          <p:nvPr/>
        </p:nvSpPr>
        <p:spPr>
          <a:xfrm>
            <a:off x="114300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Each person</a:t>
            </a:r>
            <a:endParaRPr lang="en-US" sz="1200" dirty="0"/>
          </a:p>
        </p:txBody>
      </p:sp>
      <p:pic>
        <p:nvPicPr>
          <p:cNvPr id="18" name="Image 4" descr="/private/tmp/claude-501/-Users-salehhamed-Outcome-Engine/91861432-41e2-4884-bc97-63c6dff2d021/scratchpad/wk/icons/TbGauge-grey.png">    </p:cNvPr>
          <p:cNvPicPr>
            <a:picLocks noChangeAspect="1"/>
          </p:cNvPicPr>
          <p:nvPr/>
        </p:nvPicPr>
        <p:blipFill>
          <a:blip r:embed="rId7"/>
          <a:stretch>
            <a:fillRect/>
          </a:stretch>
        </p:blipFill>
        <p:spPr>
          <a:xfrm>
            <a:off x="777240" y="5065776"/>
            <a:ext cx="274320" cy="274320"/>
          </a:xfrm>
          <a:prstGeom prst="rect">
            <a:avLst/>
          </a:prstGeom>
        </p:spPr>
      </p:pic>
      <p:sp>
        <p:nvSpPr>
          <p:cNvPr id="19" name="Text 12"/>
          <p:cNvSpPr txBox="1"/>
          <p:nvPr/>
        </p:nvSpPr>
        <p:spPr>
          <a:xfrm>
            <a:off x="114300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Calm energy</a:t>
            </a:r>
            <a:endParaRPr lang="en-US" sz="1200" dirty="0"/>
          </a:p>
        </p:txBody>
      </p:sp>
      <p:sp>
        <p:nvSpPr>
          <p:cNvPr id="20" name="Text 13"/>
          <p:cNvSpPr txBox="1"/>
          <p:nvPr/>
        </p:nvSpPr>
        <p:spPr>
          <a:xfrm>
            <a:off x="77724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You want a quiet, honest read of the room.</a:t>
            </a:r>
            <a:endParaRPr lang="en-US" sz="1150" dirty="0"/>
          </a:p>
        </p:txBody>
      </p:sp>
      <p:pic>
        <p:nvPicPr>
          <p:cNvPr id="21" name="Image 5" descr="/private/tmp/claude-501/-Users-salehhamed-Outcome-Engine/91861432-41e2-4884-bc97-63c6dff2d021/scratchpad/wk/brand/clear.png">
            <a:hlinkClick r:id="rId9" tooltip="Option A" action="ppaction://hlinksldjump"/>
          </p:cNvPr>
          <p:cNvPicPr>
            <a:picLocks noChangeAspect="1"/>
          </p:cNvPicPr>
          <p:nvPr/>
        </p:nvPicPr>
        <p:blipFill>
          <a:blip r:embed="rId8"/>
          <a:stretch>
            <a:fillRect/>
          </a:stretch>
        </p:blipFill>
        <p:spPr>
          <a:xfrm>
            <a:off x="548640" y="1463040"/>
            <a:ext cx="3566160" cy="4663440"/>
          </a:xfrm>
          <a:prstGeom prst="rect">
            <a:avLst/>
          </a:prstGeom>
        </p:spPr>
      </p:pic>
      <p:sp>
        <p:nvSpPr>
          <p:cNvPr id="22" name="Shape 14"/>
          <p:cNvSpPr/>
          <p:nvPr/>
        </p:nvSpPr>
        <p:spPr>
          <a:xfrm>
            <a:off x="4297680" y="1463040"/>
            <a:ext cx="3566160" cy="4663440"/>
          </a:xfrm>
          <a:prstGeom prst="roundRect">
            <a:avLst>
              <a:gd name="adj" fmla="val 2051"/>
            </a:avLst>
          </a:prstGeom>
          <a:solidFill>
            <a:srgbClr val="FFFFFF"/>
          </a:solidFill>
          <a:ln w="12700">
            <a:solidFill>
              <a:srgbClr val="D9DEE2"/>
            </a:solidFill>
            <a:prstDash val="solid"/>
          </a:ln>
        </p:spPr>
      </p:sp>
      <p:sp>
        <p:nvSpPr>
          <p:cNvPr id="23" name="Shape 15"/>
          <p:cNvSpPr/>
          <p:nvPr/>
        </p:nvSpPr>
        <p:spPr>
          <a:xfrm>
            <a:off x="4297680" y="1463040"/>
            <a:ext cx="3566160" cy="566928"/>
          </a:xfrm>
          <a:prstGeom prst="roundRect">
            <a:avLst>
              <a:gd name="adj" fmla="val 12903"/>
            </a:avLst>
          </a:prstGeom>
          <a:solidFill>
            <a:srgbClr val="FF462D"/>
          </a:solidFill>
          <a:ln/>
        </p:spPr>
      </p:sp>
      <p:sp>
        <p:nvSpPr>
          <p:cNvPr id="24" name="Shape 16"/>
          <p:cNvSpPr/>
          <p:nvPr/>
        </p:nvSpPr>
        <p:spPr>
          <a:xfrm>
            <a:off x="4297680" y="1828800"/>
            <a:ext cx="3566160" cy="201168"/>
          </a:xfrm>
          <a:prstGeom prst="rect">
            <a:avLst/>
          </a:prstGeom>
          <a:solidFill>
            <a:srgbClr val="FF462D"/>
          </a:solidFill>
          <a:ln/>
        </p:spPr>
      </p:sp>
      <p:pic>
        <p:nvPicPr>
          <p:cNvPr id="25" name="Image 6" descr="/private/tmp/claude-501/-Users-salehhamed-Outcome-Engine/91861432-41e2-4884-bc97-63c6dff2d021/scratchpad/wk/icons/TbDeviceMobile-white.png">    </p:cNvPr>
          <p:cNvPicPr>
            <a:picLocks noChangeAspect="1"/>
          </p:cNvPicPr>
          <p:nvPr/>
        </p:nvPicPr>
        <p:blipFill>
          <a:blip r:embed="rId10"/>
          <a:stretch>
            <a:fillRect/>
          </a:stretch>
        </p:blipFill>
        <p:spPr>
          <a:xfrm>
            <a:off x="4462272" y="1554480"/>
            <a:ext cx="384048" cy="384048"/>
          </a:xfrm>
          <a:prstGeom prst="rect">
            <a:avLst/>
          </a:prstGeom>
        </p:spPr>
      </p:pic>
      <p:sp>
        <p:nvSpPr>
          <p:cNvPr id="26" name="Text 17"/>
          <p:cNvSpPr txBox="1"/>
          <p:nvPr/>
        </p:nvSpPr>
        <p:spPr>
          <a:xfrm>
            <a:off x="495604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B · LIVE VOTING</a:t>
            </a:r>
            <a:endParaRPr lang="en-US" sz="1150" dirty="0"/>
          </a:p>
        </p:txBody>
      </p:sp>
      <p:sp>
        <p:nvSpPr>
          <p:cNvPr id="27" name="Text 18"/>
          <p:cNvSpPr txBox="1"/>
          <p:nvPr/>
        </p:nvSpPr>
        <p:spPr>
          <a:xfrm>
            <a:off x="452628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One word and a step</a:t>
            </a:r>
            <a:endParaRPr lang="en-US" sz="2100" dirty="0"/>
          </a:p>
        </p:txBody>
      </p:sp>
      <p:sp>
        <p:nvSpPr>
          <p:cNvPr id="28" name="Text 19"/>
          <p:cNvSpPr txBox="1"/>
          <p:nvPr/>
        </p:nvSpPr>
        <p:spPr>
          <a:xfrm>
            <a:off x="452628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Phones: which step did you reach, and one word for today.</a:t>
            </a:r>
            <a:endParaRPr lang="en-US" sz="1400" dirty="0"/>
          </a:p>
        </p:txBody>
      </p:sp>
      <p:pic>
        <p:nvPicPr>
          <p:cNvPr id="29" name="Image 7" descr="/private/tmp/claude-501/-Users-salehhamed-Outcome-Engine/91861432-41e2-4884-bc97-63c6dff2d021/scratchpad/wk/icons/TbClock-grey.png">    </p:cNvPr>
          <p:cNvPicPr>
            <a:picLocks noChangeAspect="1"/>
          </p:cNvPicPr>
          <p:nvPr/>
        </p:nvPicPr>
        <p:blipFill>
          <a:blip r:embed="rId11"/>
          <a:stretch>
            <a:fillRect/>
          </a:stretch>
        </p:blipFill>
        <p:spPr>
          <a:xfrm>
            <a:off x="4526280" y="4297680"/>
            <a:ext cx="274320" cy="274320"/>
          </a:xfrm>
          <a:prstGeom prst="rect">
            <a:avLst/>
          </a:prstGeom>
        </p:spPr>
      </p:pic>
      <p:sp>
        <p:nvSpPr>
          <p:cNvPr id="30" name="Text 20"/>
          <p:cNvSpPr txBox="1"/>
          <p:nvPr/>
        </p:nvSpPr>
        <p:spPr>
          <a:xfrm>
            <a:off x="489204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15 min</a:t>
            </a:r>
            <a:endParaRPr lang="en-US" sz="1200" dirty="0"/>
          </a:p>
        </p:txBody>
      </p:sp>
      <p:pic>
        <p:nvPicPr>
          <p:cNvPr id="31" name="Image 8" descr="/private/tmp/claude-501/-Users-salehhamed-Outcome-Engine/91861432-41e2-4884-bc97-63c6dff2d021/scratchpad/wk/icons/TbUsers-grey.png">    </p:cNvPr>
          <p:cNvPicPr>
            <a:picLocks noChangeAspect="1"/>
          </p:cNvPicPr>
          <p:nvPr/>
        </p:nvPicPr>
        <p:blipFill>
          <a:blip r:embed="rId12"/>
          <a:stretch>
            <a:fillRect/>
          </a:stretch>
        </p:blipFill>
        <p:spPr>
          <a:xfrm>
            <a:off x="4526280" y="4681728"/>
            <a:ext cx="274320" cy="274320"/>
          </a:xfrm>
          <a:prstGeom prst="rect">
            <a:avLst/>
          </a:prstGeom>
        </p:spPr>
      </p:pic>
      <p:sp>
        <p:nvSpPr>
          <p:cNvPr id="32" name="Text 21"/>
          <p:cNvSpPr txBox="1"/>
          <p:nvPr/>
        </p:nvSpPr>
        <p:spPr>
          <a:xfrm>
            <a:off x="489204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Each person</a:t>
            </a:r>
            <a:endParaRPr lang="en-US" sz="1200" dirty="0"/>
          </a:p>
        </p:txBody>
      </p:sp>
      <p:pic>
        <p:nvPicPr>
          <p:cNvPr id="33" name="Image 9" descr="/private/tmp/claude-501/-Users-salehhamed-Outcome-Engine/91861432-41e2-4884-bc97-63c6dff2d021/scratchpad/wk/icons/TbGauge-grey.png">    </p:cNvPr>
          <p:cNvPicPr>
            <a:picLocks noChangeAspect="1"/>
          </p:cNvPicPr>
          <p:nvPr/>
        </p:nvPicPr>
        <p:blipFill>
          <a:blip r:embed="rId13"/>
          <a:stretch>
            <a:fillRect/>
          </a:stretch>
        </p:blipFill>
        <p:spPr>
          <a:xfrm>
            <a:off x="4526280" y="5065776"/>
            <a:ext cx="274320" cy="274320"/>
          </a:xfrm>
          <a:prstGeom prst="rect">
            <a:avLst/>
          </a:prstGeom>
        </p:spPr>
      </p:pic>
      <p:sp>
        <p:nvSpPr>
          <p:cNvPr id="34" name="Text 22"/>
          <p:cNvSpPr txBox="1"/>
          <p:nvPr/>
        </p:nvSpPr>
        <p:spPr>
          <a:xfrm>
            <a:off x="489204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Calm energy</a:t>
            </a:r>
            <a:endParaRPr lang="en-US" sz="1200" dirty="0"/>
          </a:p>
        </p:txBody>
      </p:sp>
      <p:sp>
        <p:nvSpPr>
          <p:cNvPr id="35" name="Text 23"/>
          <p:cNvSpPr txBox="1"/>
          <p:nvPr/>
        </p:nvSpPr>
        <p:spPr>
          <a:xfrm>
            <a:off x="452628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room tool is in use.</a:t>
            </a:r>
            <a:endParaRPr lang="en-US" sz="1150" dirty="0"/>
          </a:p>
        </p:txBody>
      </p:sp>
      <p:pic>
        <p:nvPicPr>
          <p:cNvPr id="36" name="Image 10" descr="/private/tmp/claude-501/-Users-salehhamed-Outcome-Engine/91861432-41e2-4884-bc97-63c6dff2d021/scratchpad/wk/brand/clear.png">
            <a:hlinkClick r:id="rId15" tooltip="Option B" action="ppaction://hlinksldjump"/>
          </p:cNvPr>
          <p:cNvPicPr>
            <a:picLocks noChangeAspect="1"/>
          </p:cNvPicPr>
          <p:nvPr/>
        </p:nvPicPr>
        <p:blipFill>
          <a:blip r:embed="rId14"/>
          <a:stretch>
            <a:fillRect/>
          </a:stretch>
        </p:blipFill>
        <p:spPr>
          <a:xfrm>
            <a:off x="4297680" y="1463040"/>
            <a:ext cx="3566160" cy="4663440"/>
          </a:xfrm>
          <a:prstGeom prst="rect">
            <a:avLst/>
          </a:prstGeom>
        </p:spPr>
      </p:pic>
      <p:sp>
        <p:nvSpPr>
          <p:cNvPr id="37" name="Shape 24"/>
          <p:cNvSpPr/>
          <p:nvPr/>
        </p:nvSpPr>
        <p:spPr>
          <a:xfrm>
            <a:off x="8046720" y="1463040"/>
            <a:ext cx="3566160" cy="4663440"/>
          </a:xfrm>
          <a:prstGeom prst="roundRect">
            <a:avLst>
              <a:gd name="adj" fmla="val 2051"/>
            </a:avLst>
          </a:prstGeom>
          <a:solidFill>
            <a:srgbClr val="FFFFFF"/>
          </a:solidFill>
          <a:ln w="12700">
            <a:solidFill>
              <a:srgbClr val="D9DEE2"/>
            </a:solidFill>
            <a:prstDash val="solid"/>
          </a:ln>
        </p:spPr>
      </p:sp>
      <p:sp>
        <p:nvSpPr>
          <p:cNvPr id="38" name="Shape 25"/>
          <p:cNvSpPr/>
          <p:nvPr/>
        </p:nvSpPr>
        <p:spPr>
          <a:xfrm>
            <a:off x="8046720" y="1463040"/>
            <a:ext cx="3566160" cy="566928"/>
          </a:xfrm>
          <a:prstGeom prst="roundRect">
            <a:avLst>
              <a:gd name="adj" fmla="val 12903"/>
            </a:avLst>
          </a:prstGeom>
          <a:solidFill>
            <a:srgbClr val="36454F"/>
          </a:solidFill>
          <a:ln/>
        </p:spPr>
      </p:sp>
      <p:sp>
        <p:nvSpPr>
          <p:cNvPr id="39" name="Shape 26"/>
          <p:cNvSpPr/>
          <p:nvPr/>
        </p:nvSpPr>
        <p:spPr>
          <a:xfrm>
            <a:off x="8046720" y="1828800"/>
            <a:ext cx="3566160" cy="201168"/>
          </a:xfrm>
          <a:prstGeom prst="rect">
            <a:avLst/>
          </a:prstGeom>
          <a:solidFill>
            <a:srgbClr val="36454F"/>
          </a:solidFill>
          <a:ln/>
        </p:spPr>
      </p:sp>
      <p:pic>
        <p:nvPicPr>
          <p:cNvPr id="40" name="Image 11" descr="/private/tmp/claude-501/-Users-salehhamed-Outcome-Engine/91861432-41e2-4884-bc97-63c6dff2d021/scratchpad/wk/icons/TbMasksTheater-white.png">    </p:cNvPr>
          <p:cNvPicPr>
            <a:picLocks noChangeAspect="1"/>
          </p:cNvPicPr>
          <p:nvPr/>
        </p:nvPicPr>
        <p:blipFill>
          <a:blip r:embed="rId16"/>
          <a:stretch>
            <a:fillRect/>
          </a:stretch>
        </p:blipFill>
        <p:spPr>
          <a:xfrm>
            <a:off x="8211312" y="1554480"/>
            <a:ext cx="384048" cy="384048"/>
          </a:xfrm>
          <a:prstGeom prst="rect">
            <a:avLst/>
          </a:prstGeom>
        </p:spPr>
      </p:pic>
      <p:sp>
        <p:nvSpPr>
          <p:cNvPr id="41" name="Text 27"/>
          <p:cNvSpPr txBox="1"/>
          <p:nvPr/>
        </p:nvSpPr>
        <p:spPr>
          <a:xfrm>
            <a:off x="870508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C · CASES AND CONVERSATION</a:t>
            </a:r>
            <a:endParaRPr lang="en-US" sz="1150" dirty="0"/>
          </a:p>
        </p:txBody>
      </p:sp>
      <p:sp>
        <p:nvSpPr>
          <p:cNvPr id="42" name="Text 28"/>
          <p:cNvSpPr txBox="1"/>
          <p:nvPr/>
        </p:nvSpPr>
        <p:spPr>
          <a:xfrm>
            <a:off x="827532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Tomorrow's headline</a:t>
            </a:r>
            <a:endParaRPr lang="en-US" sz="2100" dirty="0"/>
          </a:p>
        </p:txBody>
      </p:sp>
      <p:sp>
        <p:nvSpPr>
          <p:cNvPr id="43" name="Text 29"/>
          <p:cNvSpPr txBox="1"/>
          <p:nvPr/>
        </p:nvSpPr>
        <p:spPr>
          <a:xfrm>
            <a:off x="827532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Each person writes the headline they want to read at 16:40 tomorrow.</a:t>
            </a:r>
            <a:endParaRPr lang="en-US" sz="1400" dirty="0"/>
          </a:p>
        </p:txBody>
      </p:sp>
      <p:pic>
        <p:nvPicPr>
          <p:cNvPr id="44" name="Image 12" descr="/private/tmp/claude-501/-Users-salehhamed-Outcome-Engine/91861432-41e2-4884-bc97-63c6dff2d021/scratchpad/wk/icons/TbClock-grey.png">    </p:cNvPr>
          <p:cNvPicPr>
            <a:picLocks noChangeAspect="1"/>
          </p:cNvPicPr>
          <p:nvPr/>
        </p:nvPicPr>
        <p:blipFill>
          <a:blip r:embed="rId17"/>
          <a:stretch>
            <a:fillRect/>
          </a:stretch>
        </p:blipFill>
        <p:spPr>
          <a:xfrm>
            <a:off x="8275320" y="4297680"/>
            <a:ext cx="274320" cy="274320"/>
          </a:xfrm>
          <a:prstGeom prst="rect">
            <a:avLst/>
          </a:prstGeom>
        </p:spPr>
      </p:pic>
      <p:sp>
        <p:nvSpPr>
          <p:cNvPr id="45" name="Text 30"/>
          <p:cNvSpPr txBox="1"/>
          <p:nvPr/>
        </p:nvSpPr>
        <p:spPr>
          <a:xfrm>
            <a:off x="864108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15 min</a:t>
            </a:r>
            <a:endParaRPr lang="en-US" sz="1200" dirty="0"/>
          </a:p>
        </p:txBody>
      </p:sp>
      <p:pic>
        <p:nvPicPr>
          <p:cNvPr id="46" name="Image 13" descr="/private/tmp/claude-501/-Users-salehhamed-Outcome-Engine/91861432-41e2-4884-bc97-63c6dff2d021/scratchpad/wk/icons/TbUsers-grey.png">    </p:cNvPr>
          <p:cNvPicPr>
            <a:picLocks noChangeAspect="1"/>
          </p:cNvPicPr>
          <p:nvPr/>
        </p:nvPicPr>
        <p:blipFill>
          <a:blip r:embed="rId18"/>
          <a:stretch>
            <a:fillRect/>
          </a:stretch>
        </p:blipFill>
        <p:spPr>
          <a:xfrm>
            <a:off x="8275320" y="4681728"/>
            <a:ext cx="274320" cy="274320"/>
          </a:xfrm>
          <a:prstGeom prst="rect">
            <a:avLst/>
          </a:prstGeom>
        </p:spPr>
      </p:pic>
      <p:sp>
        <p:nvSpPr>
          <p:cNvPr id="47" name="Text 31"/>
          <p:cNvSpPr txBox="1"/>
          <p:nvPr/>
        </p:nvSpPr>
        <p:spPr>
          <a:xfrm>
            <a:off x="864108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Each person</a:t>
            </a:r>
            <a:endParaRPr lang="en-US" sz="1200" dirty="0"/>
          </a:p>
        </p:txBody>
      </p:sp>
      <p:pic>
        <p:nvPicPr>
          <p:cNvPr id="48" name="Image 14" descr="/private/tmp/claude-501/-Users-salehhamed-Outcome-Engine/91861432-41e2-4884-bc97-63c6dff2d021/scratchpad/wk/icons/TbGauge-grey.png">    </p:cNvPr>
          <p:cNvPicPr>
            <a:picLocks noChangeAspect="1"/>
          </p:cNvPicPr>
          <p:nvPr/>
        </p:nvPicPr>
        <p:blipFill>
          <a:blip r:embed="rId19"/>
          <a:stretch>
            <a:fillRect/>
          </a:stretch>
        </p:blipFill>
        <p:spPr>
          <a:xfrm>
            <a:off x="8275320" y="5065776"/>
            <a:ext cx="274320" cy="274320"/>
          </a:xfrm>
          <a:prstGeom prst="rect">
            <a:avLst/>
          </a:prstGeom>
        </p:spPr>
      </p:pic>
      <p:sp>
        <p:nvSpPr>
          <p:cNvPr id="49" name="Text 32"/>
          <p:cNvSpPr txBox="1"/>
          <p:nvPr/>
        </p:nvSpPr>
        <p:spPr>
          <a:xfrm>
            <a:off x="864108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Calm energy</a:t>
            </a:r>
            <a:endParaRPr lang="en-US" sz="1200" dirty="0"/>
          </a:p>
        </p:txBody>
      </p:sp>
      <p:sp>
        <p:nvSpPr>
          <p:cNvPr id="50" name="Text 33"/>
          <p:cNvSpPr txBox="1"/>
          <p:nvPr/>
        </p:nvSpPr>
        <p:spPr>
          <a:xfrm>
            <a:off x="827532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You want the room to leave with intent.</a:t>
            </a:r>
            <a:endParaRPr lang="en-US" sz="1150" dirty="0"/>
          </a:p>
        </p:txBody>
      </p:sp>
      <p:pic>
        <p:nvPicPr>
          <p:cNvPr id="51" name="Image 15" descr="/private/tmp/claude-501/-Users-salehhamed-Outcome-Engine/91861432-41e2-4884-bc97-63c6dff2d021/scratchpad/wk/brand/clear.png">
            <a:hlinkClick r:id="rId21" tooltip="Option C" action="ppaction://hlinksldjump"/>
          </p:cNvPr>
          <p:cNvPicPr>
            <a:picLocks noChangeAspect="1"/>
          </p:cNvPicPr>
          <p:nvPr/>
        </p:nvPicPr>
        <p:blipFill>
          <a:blip r:embed="rId20"/>
          <a:stretch>
            <a:fillRect/>
          </a:stretch>
        </p:blipFill>
        <p:spPr>
          <a:xfrm>
            <a:off x="8046720" y="1463040"/>
            <a:ext cx="3566160" cy="4663440"/>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0">
  <p:cSld name="Slide 1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OPTION A · HANDS-ON · CLOSE OF DAY 1</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Dots on the ladder</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16:45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117</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Recap, then each person puts a dot on the step they feel they reached.</a:t>
            </a:r>
            <a:endParaRPr lang="en-US" sz="1900" dirty="0"/>
          </a:p>
        </p:txBody>
      </p:sp>
      <p:sp>
        <p:nvSpPr>
          <p:cNvPr id="8" name="Shape 5"/>
          <p:cNvSpPr/>
          <p:nvPr/>
        </p:nvSpPr>
        <p:spPr>
          <a:xfrm>
            <a:off x="548640" y="2240280"/>
            <a:ext cx="3661562" cy="1417320"/>
          </a:xfrm>
          <a:prstGeom prst="rect">
            <a:avLst/>
          </a:prstGeom>
          <a:solidFill>
            <a:srgbClr val="287079"/>
          </a:solidFill>
          <a:ln/>
        </p:spPr>
      </p:sp>
      <p:sp>
        <p:nvSpPr>
          <p:cNvPr id="9" name="Text 6"/>
          <p:cNvSpPr txBox="1"/>
          <p:nvPr/>
        </p:nvSpPr>
        <p:spPr>
          <a:xfrm>
            <a:off x="640080"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0" name="Text 7"/>
          <p:cNvSpPr txBox="1"/>
          <p:nvPr/>
        </p:nvSpPr>
        <p:spPr>
          <a:xfrm>
            <a:off x="640080"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Recap</a:t>
            </a:r>
            <a:endParaRPr lang="en-US" sz="1500" dirty="0"/>
          </a:p>
        </p:txBody>
      </p:sp>
      <p:sp>
        <p:nvSpPr>
          <p:cNvPr id="11" name="Shape 8"/>
          <p:cNvSpPr/>
          <p:nvPr/>
        </p:nvSpPr>
        <p:spPr>
          <a:xfrm>
            <a:off x="4246778" y="2240280"/>
            <a:ext cx="3661562" cy="1417320"/>
          </a:xfrm>
          <a:prstGeom prst="rect">
            <a:avLst/>
          </a:prstGeom>
          <a:solidFill>
            <a:srgbClr val="5C8F95"/>
          </a:solidFill>
          <a:ln/>
        </p:spPr>
      </p:sp>
      <p:sp>
        <p:nvSpPr>
          <p:cNvPr id="12" name="Text 9"/>
          <p:cNvSpPr txBox="1"/>
          <p:nvPr/>
        </p:nvSpPr>
        <p:spPr>
          <a:xfrm>
            <a:off x="4338218"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3" name="Text 10"/>
          <p:cNvSpPr txBox="1"/>
          <p:nvPr/>
        </p:nvSpPr>
        <p:spPr>
          <a:xfrm>
            <a:off x="4338218"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Ladder dots</a:t>
            </a:r>
            <a:endParaRPr lang="en-US" sz="1500" dirty="0"/>
          </a:p>
        </p:txBody>
      </p:sp>
      <p:sp>
        <p:nvSpPr>
          <p:cNvPr id="14" name="Shape 11"/>
          <p:cNvSpPr/>
          <p:nvPr/>
        </p:nvSpPr>
        <p:spPr>
          <a:xfrm>
            <a:off x="7944917" y="2240280"/>
            <a:ext cx="3661562" cy="1417320"/>
          </a:xfrm>
          <a:prstGeom prst="rect">
            <a:avLst/>
          </a:prstGeom>
          <a:solidFill>
            <a:srgbClr val="287079"/>
          </a:solidFill>
          <a:ln/>
        </p:spPr>
      </p:sp>
      <p:sp>
        <p:nvSpPr>
          <p:cNvPr id="15" name="Text 12"/>
          <p:cNvSpPr txBox="1"/>
          <p:nvPr/>
        </p:nvSpPr>
        <p:spPr>
          <a:xfrm>
            <a:off x="8036357"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6" name="Text 13"/>
          <p:cNvSpPr txBox="1"/>
          <p:nvPr/>
        </p:nvSpPr>
        <p:spPr>
          <a:xfrm>
            <a:off x="8036357"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Overnight</a:t>
            </a:r>
            <a:endParaRPr lang="en-US" sz="1500" dirty="0"/>
          </a:p>
        </p:txBody>
      </p:sp>
      <p:sp>
        <p:nvSpPr>
          <p:cNvPr id="17" name="Shape 14"/>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8"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9" name="Text 15"/>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0" name="Text 16"/>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Each person</a:t>
            </a:r>
            <a:endParaRPr lang="en-US" sz="1300" dirty="0"/>
          </a:p>
        </p:txBody>
      </p:sp>
      <p:sp>
        <p:nvSpPr>
          <p:cNvPr id="21" name="Shape 17"/>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2"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3" name="Text 18"/>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4" name="Text 19"/>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Ladder dots, photographed.</a:t>
            </a:r>
            <a:endParaRPr lang="en-US" sz="1300" dirty="0"/>
          </a:p>
        </p:txBody>
      </p:sp>
      <p:sp>
        <p:nvSpPr>
          <p:cNvPr id="25" name="Shape 20"/>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6"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27" name="Text 21"/>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28" name="Text 22"/>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FF462D"/>
                </a:solidFill>
                <a:latin typeface="Arial" pitchFamily="34" charset="0"/>
                <a:ea typeface="Arial" pitchFamily="34" charset="-122"/>
                <a:cs typeface="Arial" pitchFamily="34" charset="-120"/>
              </a:rPr>
              <a:t>OPTION B · LIVE VOTING · CLOSE OF DAY 1</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One word and a step</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16:45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118</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Phones: which step did you reach, and one word for today.</a:t>
            </a:r>
            <a:endParaRPr lang="en-US" sz="1900" dirty="0"/>
          </a:p>
        </p:txBody>
      </p:sp>
      <p:sp>
        <p:nvSpPr>
          <p:cNvPr id="8" name="Shape 5"/>
          <p:cNvSpPr/>
          <p:nvPr/>
        </p:nvSpPr>
        <p:spPr>
          <a:xfrm>
            <a:off x="548640" y="2240280"/>
            <a:ext cx="3661562" cy="1417320"/>
          </a:xfrm>
          <a:prstGeom prst="rect">
            <a:avLst/>
          </a:prstGeom>
          <a:solidFill>
            <a:srgbClr val="FF462D"/>
          </a:solidFill>
          <a:ln/>
        </p:spPr>
      </p:sp>
      <p:sp>
        <p:nvSpPr>
          <p:cNvPr id="9" name="Text 6"/>
          <p:cNvSpPr txBox="1"/>
          <p:nvPr/>
        </p:nvSpPr>
        <p:spPr>
          <a:xfrm>
            <a:off x="640080"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0" name="Text 7"/>
          <p:cNvSpPr txBox="1"/>
          <p:nvPr/>
        </p:nvSpPr>
        <p:spPr>
          <a:xfrm>
            <a:off x="640080"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Recap</a:t>
            </a:r>
            <a:endParaRPr lang="en-US" sz="1500" dirty="0"/>
          </a:p>
        </p:txBody>
      </p:sp>
      <p:sp>
        <p:nvSpPr>
          <p:cNvPr id="11" name="Shape 8"/>
          <p:cNvSpPr/>
          <p:nvPr/>
        </p:nvSpPr>
        <p:spPr>
          <a:xfrm>
            <a:off x="4246778" y="2240280"/>
            <a:ext cx="3661562" cy="1417320"/>
          </a:xfrm>
          <a:prstGeom prst="rect">
            <a:avLst/>
          </a:prstGeom>
          <a:solidFill>
            <a:srgbClr val="FF8A78"/>
          </a:solidFill>
          <a:ln/>
        </p:spPr>
      </p:sp>
      <p:sp>
        <p:nvSpPr>
          <p:cNvPr id="12" name="Text 9"/>
          <p:cNvSpPr txBox="1"/>
          <p:nvPr/>
        </p:nvSpPr>
        <p:spPr>
          <a:xfrm>
            <a:off x="4338218"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3" name="Text 10"/>
          <p:cNvSpPr txBox="1"/>
          <p:nvPr/>
        </p:nvSpPr>
        <p:spPr>
          <a:xfrm>
            <a:off x="4338218"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Step and word</a:t>
            </a:r>
            <a:endParaRPr lang="en-US" sz="1500" dirty="0"/>
          </a:p>
        </p:txBody>
      </p:sp>
      <p:sp>
        <p:nvSpPr>
          <p:cNvPr id="14" name="Shape 11"/>
          <p:cNvSpPr/>
          <p:nvPr/>
        </p:nvSpPr>
        <p:spPr>
          <a:xfrm>
            <a:off x="7944917" y="2240280"/>
            <a:ext cx="3661562" cy="1417320"/>
          </a:xfrm>
          <a:prstGeom prst="rect">
            <a:avLst/>
          </a:prstGeom>
          <a:solidFill>
            <a:srgbClr val="FF462D"/>
          </a:solidFill>
          <a:ln/>
        </p:spPr>
      </p:sp>
      <p:sp>
        <p:nvSpPr>
          <p:cNvPr id="15" name="Text 12"/>
          <p:cNvSpPr txBox="1"/>
          <p:nvPr/>
        </p:nvSpPr>
        <p:spPr>
          <a:xfrm>
            <a:off x="8036357"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6" name="Text 13"/>
          <p:cNvSpPr txBox="1"/>
          <p:nvPr/>
        </p:nvSpPr>
        <p:spPr>
          <a:xfrm>
            <a:off x="8036357"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Overnight</a:t>
            </a:r>
            <a:endParaRPr lang="en-US" sz="1500" dirty="0"/>
          </a:p>
        </p:txBody>
      </p:sp>
      <p:sp>
        <p:nvSpPr>
          <p:cNvPr id="17" name="Shape 14"/>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8"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9" name="Text 15"/>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0" name="Text 16"/>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Each person</a:t>
            </a:r>
            <a:endParaRPr lang="en-US" sz="1300" dirty="0"/>
          </a:p>
        </p:txBody>
      </p:sp>
      <p:sp>
        <p:nvSpPr>
          <p:cNvPr id="21" name="Shape 17"/>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2"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3" name="Text 18"/>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4" name="Text 19"/>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Saved in the room tool.</a:t>
            </a:r>
            <a:endParaRPr lang="en-US" sz="1300" dirty="0"/>
          </a:p>
        </p:txBody>
      </p:sp>
      <p:sp>
        <p:nvSpPr>
          <p:cNvPr id="25" name="Shape 20"/>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26"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27" name="Text 21"/>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28" name="Text 22"/>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0">
  <p:cSld name="Slide 1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36454F"/>
                </a:solidFill>
                <a:latin typeface="Arial" pitchFamily="34" charset="0"/>
                <a:ea typeface="Arial" pitchFamily="34" charset="-122"/>
                <a:cs typeface="Arial" pitchFamily="34" charset="-120"/>
              </a:rPr>
              <a:t>OPTION C · CASES AND CONVERSATION · CLOSE OF DAY 1</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Tomorrow's headline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1 · 16:45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119</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Each person writes the headline they want to read at 16:40 tomorrow.</a:t>
            </a:r>
            <a:endParaRPr lang="en-US" sz="1900" dirty="0"/>
          </a:p>
        </p:txBody>
      </p:sp>
      <p:sp>
        <p:nvSpPr>
          <p:cNvPr id="8" name="Shape 5"/>
          <p:cNvSpPr/>
          <p:nvPr/>
        </p:nvSpPr>
        <p:spPr>
          <a:xfrm>
            <a:off x="548640" y="2240280"/>
            <a:ext cx="3661562" cy="1417320"/>
          </a:xfrm>
          <a:prstGeom prst="rect">
            <a:avLst/>
          </a:prstGeom>
          <a:solidFill>
            <a:srgbClr val="36454F"/>
          </a:solidFill>
          <a:ln/>
        </p:spPr>
      </p:sp>
      <p:sp>
        <p:nvSpPr>
          <p:cNvPr id="9" name="Text 6"/>
          <p:cNvSpPr txBox="1"/>
          <p:nvPr/>
        </p:nvSpPr>
        <p:spPr>
          <a:xfrm>
            <a:off x="640080"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0" name="Text 7"/>
          <p:cNvSpPr txBox="1"/>
          <p:nvPr/>
        </p:nvSpPr>
        <p:spPr>
          <a:xfrm>
            <a:off x="640080"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Recap</a:t>
            </a:r>
            <a:endParaRPr lang="en-US" sz="1500" dirty="0"/>
          </a:p>
        </p:txBody>
      </p:sp>
      <p:sp>
        <p:nvSpPr>
          <p:cNvPr id="11" name="Shape 8"/>
          <p:cNvSpPr/>
          <p:nvPr/>
        </p:nvSpPr>
        <p:spPr>
          <a:xfrm>
            <a:off x="4246778" y="2240280"/>
            <a:ext cx="5140818" cy="1417320"/>
          </a:xfrm>
          <a:prstGeom prst="rect">
            <a:avLst/>
          </a:prstGeom>
          <a:solidFill>
            <a:srgbClr val="6B7B86"/>
          </a:solidFill>
          <a:ln/>
        </p:spPr>
      </p:sp>
      <p:sp>
        <p:nvSpPr>
          <p:cNvPr id="12" name="Text 9"/>
          <p:cNvSpPr txBox="1"/>
          <p:nvPr/>
        </p:nvSpPr>
        <p:spPr>
          <a:xfrm>
            <a:off x="4338218" y="2331720"/>
            <a:ext cx="4994514"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7 min</a:t>
            </a:r>
            <a:endParaRPr lang="en-US" sz="1150" dirty="0"/>
          </a:p>
        </p:txBody>
      </p:sp>
      <p:sp>
        <p:nvSpPr>
          <p:cNvPr id="13" name="Text 10"/>
          <p:cNvSpPr txBox="1"/>
          <p:nvPr/>
        </p:nvSpPr>
        <p:spPr>
          <a:xfrm>
            <a:off x="4338218" y="2651760"/>
            <a:ext cx="5031090"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Headlines</a:t>
            </a:r>
            <a:endParaRPr lang="en-US" sz="1500" dirty="0"/>
          </a:p>
        </p:txBody>
      </p:sp>
      <p:sp>
        <p:nvSpPr>
          <p:cNvPr id="14" name="Shape 11"/>
          <p:cNvSpPr/>
          <p:nvPr/>
        </p:nvSpPr>
        <p:spPr>
          <a:xfrm>
            <a:off x="9424172" y="2240280"/>
            <a:ext cx="2182307" cy="1417320"/>
          </a:xfrm>
          <a:prstGeom prst="rect">
            <a:avLst/>
          </a:prstGeom>
          <a:solidFill>
            <a:srgbClr val="36454F"/>
          </a:solidFill>
          <a:ln/>
        </p:spPr>
      </p:sp>
      <p:sp>
        <p:nvSpPr>
          <p:cNvPr id="15" name="Text 12"/>
          <p:cNvSpPr txBox="1"/>
          <p:nvPr/>
        </p:nvSpPr>
        <p:spPr>
          <a:xfrm>
            <a:off x="9515612" y="2331720"/>
            <a:ext cx="203600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 min</a:t>
            </a:r>
            <a:endParaRPr lang="en-US" sz="1150" dirty="0"/>
          </a:p>
        </p:txBody>
      </p:sp>
      <p:sp>
        <p:nvSpPr>
          <p:cNvPr id="16" name="Text 13"/>
          <p:cNvSpPr txBox="1"/>
          <p:nvPr/>
        </p:nvSpPr>
        <p:spPr>
          <a:xfrm>
            <a:off x="9515612" y="2651760"/>
            <a:ext cx="2072579"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Overnight</a:t>
            </a:r>
            <a:endParaRPr lang="en-US" sz="1500" dirty="0"/>
          </a:p>
        </p:txBody>
      </p:sp>
      <p:sp>
        <p:nvSpPr>
          <p:cNvPr id="17" name="Shape 14"/>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8"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9" name="Text 15"/>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0" name="Text 16"/>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Each person</a:t>
            </a:r>
            <a:endParaRPr lang="en-US" sz="1300" dirty="0"/>
          </a:p>
        </p:txBody>
      </p:sp>
      <p:sp>
        <p:nvSpPr>
          <p:cNvPr id="21" name="Shape 17"/>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2"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3" name="Text 18"/>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4" name="Text 19"/>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Headlines on the wall; read again at the close tomorrow.</a:t>
            </a:r>
            <a:endParaRPr lang="en-US" sz="1300" dirty="0"/>
          </a:p>
        </p:txBody>
      </p:sp>
      <p:sp>
        <p:nvSpPr>
          <p:cNvPr id="25" name="Shape 20"/>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6"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27" name="Text 21"/>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28" name="Text 22"/>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36454F"/>
        </a:solidFill>
      </p:bgPr>
    </p:bg>
    <p:spTree>
      <p:nvGrpSpPr>
        <p:cNvPr id="1" name=""/>
        <p:cNvGrpSpPr/>
        <p:nvPr/>
      </p:nvGrpSpPr>
      <p:grpSpPr>
        <a:xfrm>
          <a:off x="0" y="0"/>
          <a:ext cx="0" cy="0"/>
          <a:chOff x="0" y="0"/>
          <a:chExt cx="0" cy="0"/>
        </a:xfrm>
      </p:grpSpPr>
      <p:pic>
        <p:nvPicPr>
          <p:cNvPr id="2" name="Image 0" descr="/private/tmp/claude-501/-Users-salehhamed-Outcome-Engine/91861432-41e2-4884-bc97-63c6dff2d021/scratchpad/wk/brand/title-pattern-white.png">    </p:cNvPr>
          <p:cNvPicPr>
            <a:picLocks noChangeAspect="1"/>
          </p:cNvPicPr>
          <p:nvPr/>
        </p:nvPicPr>
        <p:blipFill>
          <a:blip r:embed="rId1"/>
          <a:srcRect l="0" r="0" t="0" b="0"/>
          <a:stretch/>
        </p:blipFill>
        <p:spPr>
          <a:xfrm>
            <a:off x="7818120" y="0"/>
            <a:ext cx="4373575" cy="6858000"/>
          </a:xfrm>
          <a:prstGeom prst="rect">
            <a:avLst/>
          </a:prstGeom>
        </p:spPr>
      </p:pic>
      <p:pic>
        <p:nvPicPr>
          <p:cNvPr id="3" name="Image 1" descr="/private/tmp/claude-501/-Users-salehhamed-Outcome-Engine/91861432-41e2-4884-bc97-63c6dff2d021/scratchpad/wk/brand/logo-white.png">    </p:cNvPr>
          <p:cNvPicPr>
            <a:picLocks noChangeAspect="1"/>
          </p:cNvPicPr>
          <p:nvPr/>
        </p:nvPicPr>
        <p:blipFill>
          <a:blip r:embed="rId2"/>
          <a:stretch>
            <a:fillRect/>
          </a:stretch>
        </p:blipFill>
        <p:spPr>
          <a:xfrm>
            <a:off x="548640" y="502920"/>
            <a:ext cx="1234440" cy="393192"/>
          </a:xfrm>
          <a:prstGeom prst="rect">
            <a:avLst/>
          </a:prstGeom>
        </p:spPr>
      </p:pic>
      <p:sp>
        <p:nvSpPr>
          <p:cNvPr id="4" name="Text 0"/>
          <p:cNvSpPr txBox="1"/>
          <p:nvPr/>
        </p:nvSpPr>
        <p:spPr>
          <a:xfrm>
            <a:off x="548640" y="2011680"/>
            <a:ext cx="7315200" cy="292608"/>
          </a:xfrm>
          <a:prstGeom prst="rect">
            <a:avLst/>
          </a:prstGeom>
          <a:noFill/>
          <a:ln/>
        </p:spPr>
        <p:txBody>
          <a:bodyPr wrap="square" lIns="0" tIns="0" rIns="0" bIns="0" rtlCol="0" anchor="t"/>
          <a:lstStyle/>
          <a:p>
            <a:pPr indent="0" marL="0">
              <a:buNone/>
            </a:pPr>
            <a:r>
              <a:rPr lang="en-US" sz="1400" b="1" spc="200" kern="0" dirty="0">
                <a:solidFill>
                  <a:srgbClr val="D9DEE2"/>
                </a:solidFill>
                <a:latin typeface="Arial" pitchFamily="34" charset="0"/>
                <a:ea typeface="Arial" pitchFamily="34" charset="-122"/>
                <a:cs typeface="Arial" pitchFamily="34" charset="-120"/>
              </a:rPr>
              <a:t>DAY 2 · WEDNESDAY 7 OCTOBER</a:t>
            </a:r>
            <a:endParaRPr lang="en-US" sz="1400" dirty="0"/>
          </a:p>
        </p:txBody>
      </p:sp>
      <p:sp>
        <p:nvSpPr>
          <p:cNvPr id="5" name="Text 1"/>
          <p:cNvSpPr txBox="1"/>
          <p:nvPr/>
        </p:nvSpPr>
        <p:spPr>
          <a:xfrm>
            <a:off x="548640" y="2423160"/>
            <a:ext cx="6949440" cy="1645920"/>
          </a:xfrm>
          <a:prstGeom prst="rect">
            <a:avLst/>
          </a:prstGeom>
          <a:noFill/>
          <a:ln/>
        </p:spPr>
        <p:txBody>
          <a:bodyPr wrap="square" lIns="0" tIns="0" rIns="0" bIns="0" rtlCol="0" anchor="t"/>
          <a:lstStyle/>
          <a:p>
            <a:pPr indent="0" marL="0">
              <a:buNone/>
            </a:pPr>
            <a:r>
              <a:rPr lang="en-US" sz="4000" b="1" dirty="0">
                <a:solidFill>
                  <a:srgbClr val="FFFFFF"/>
                </a:solidFill>
                <a:latin typeface="TWK Everett" pitchFamily="34" charset="0"/>
                <a:ea typeface="TWK Everett" pitchFamily="34" charset="-122"/>
                <a:cs typeface="TWK Everett" pitchFamily="34" charset="-120"/>
              </a:rPr>
              <a:t>Test it and decide what to take forward</a:t>
            </a:r>
            <a:endParaRPr lang="en-US" sz="4000" dirty="0"/>
          </a:p>
        </p:txBody>
      </p:sp>
      <p:pic>
        <p:nvPicPr>
          <p:cNvPr id="6" name="Image 2" descr="/private/tmp/claude-501/-Users-salehhamed-Outcome-Engine/91861432-41e2-4884-bc97-63c6dff2d021/scratchpad/wk/icons/TbBug-white.png">    </p:cNvPr>
          <p:cNvPicPr>
            <a:picLocks noChangeAspect="1"/>
          </p:cNvPicPr>
          <p:nvPr/>
        </p:nvPicPr>
        <p:blipFill>
          <a:blip r:embed="rId3"/>
          <a:stretch>
            <a:fillRect/>
          </a:stretch>
        </p:blipFill>
        <p:spPr>
          <a:xfrm>
            <a:off x="548640" y="4343400"/>
            <a:ext cx="384048" cy="384048"/>
          </a:xfrm>
          <a:prstGeom prst="rect">
            <a:avLst/>
          </a:prstGeom>
        </p:spPr>
      </p:pic>
      <p:sp>
        <p:nvSpPr>
          <p:cNvPr id="7" name="Text 2"/>
          <p:cNvSpPr txBox="1"/>
          <p:nvPr/>
        </p:nvSpPr>
        <p:spPr>
          <a:xfrm>
            <a:off x="1097280" y="4343400"/>
            <a:ext cx="6400800" cy="384048"/>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Test the working version</a:t>
            </a:r>
            <a:endParaRPr lang="en-US" sz="1700" dirty="0"/>
          </a:p>
        </p:txBody>
      </p:sp>
      <p:pic>
        <p:nvPicPr>
          <p:cNvPr id="8" name="Image 3" descr="/private/tmp/claude-501/-Users-salehhamed-Outcome-Engine/91861432-41e2-4884-bc97-63c6dff2d021/scratchpad/wk/icons/TbArrowsRightLeft-white.png">    </p:cNvPr>
          <p:cNvPicPr>
            <a:picLocks noChangeAspect="1"/>
          </p:cNvPicPr>
          <p:nvPr/>
        </p:nvPicPr>
        <p:blipFill>
          <a:blip r:embed="rId4"/>
          <a:stretch>
            <a:fillRect/>
          </a:stretch>
        </p:blipFill>
        <p:spPr>
          <a:xfrm>
            <a:off x="548640" y="4892040"/>
            <a:ext cx="384048" cy="384048"/>
          </a:xfrm>
          <a:prstGeom prst="rect">
            <a:avLst/>
          </a:prstGeom>
        </p:spPr>
      </p:pic>
      <p:sp>
        <p:nvSpPr>
          <p:cNvPr id="9" name="Text 3"/>
          <p:cNvSpPr txBox="1"/>
          <p:nvPr/>
        </p:nvSpPr>
        <p:spPr>
          <a:xfrm>
            <a:off x="1097280" y="4892040"/>
            <a:ext cx="6400800" cy="384048"/>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Settle the boundaries and the rules for moves</a:t>
            </a:r>
            <a:endParaRPr lang="en-US" sz="1700" dirty="0"/>
          </a:p>
        </p:txBody>
      </p:sp>
      <p:pic>
        <p:nvPicPr>
          <p:cNvPr id="10" name="Image 4" descr="/private/tmp/claude-501/-Users-salehhamed-Outcome-Engine/91861432-41e2-4884-bc97-63c6dff2d021/scratchpad/wk/icons/TbFlag3-white.png">    </p:cNvPr>
          <p:cNvPicPr>
            <a:picLocks noChangeAspect="1"/>
          </p:cNvPicPr>
          <p:nvPr/>
        </p:nvPicPr>
        <p:blipFill>
          <a:blip r:embed="rId5"/>
          <a:stretch>
            <a:fillRect/>
          </a:stretch>
        </p:blipFill>
        <p:spPr>
          <a:xfrm>
            <a:off x="548640" y="5440680"/>
            <a:ext cx="384048" cy="384048"/>
          </a:xfrm>
          <a:prstGeom prst="rect">
            <a:avLst/>
          </a:prstGeom>
        </p:spPr>
      </p:pic>
      <p:sp>
        <p:nvSpPr>
          <p:cNvPr id="11" name="Text 4"/>
          <p:cNvSpPr txBox="1"/>
          <p:nvPr/>
        </p:nvSpPr>
        <p:spPr>
          <a:xfrm>
            <a:off x="1097280" y="5440680"/>
            <a:ext cx="6400800" cy="384048"/>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Decide what to take forward</a:t>
            </a:r>
            <a:endParaRPr lang="en-US" sz="17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BEFORE WE START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Join the room</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08:30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121</a:t>
            </a:r>
            <a:endParaRPr lang="en-US" sz="1000" dirty="0"/>
          </a:p>
        </p:txBody>
      </p:sp>
      <p:sp>
        <p:nvSpPr>
          <p:cNvPr id="7" name="Shape 4"/>
          <p:cNvSpPr/>
          <p:nvPr/>
        </p:nvSpPr>
        <p:spPr>
          <a:xfrm>
            <a:off x="548640" y="1737360"/>
            <a:ext cx="2331720" cy="2834640"/>
          </a:xfrm>
          <a:prstGeom prst="roundRect">
            <a:avLst>
              <a:gd name="adj" fmla="val 3137"/>
            </a:avLst>
          </a:prstGeom>
          <a:solidFill>
            <a:srgbClr val="FFFFFF"/>
          </a:solidFill>
          <a:ln w="12700">
            <a:solidFill>
              <a:srgbClr val="D9DEE2"/>
            </a:solidFill>
            <a:prstDash val="solid"/>
          </a:ln>
        </p:spPr>
      </p:sp>
      <p:sp>
        <p:nvSpPr>
          <p:cNvPr id="8" name="Shape 5"/>
          <p:cNvSpPr/>
          <p:nvPr/>
        </p:nvSpPr>
        <p:spPr>
          <a:xfrm>
            <a:off x="731520" y="1920240"/>
            <a:ext cx="457200" cy="457200"/>
          </a:xfrm>
          <a:prstGeom prst="ellipse">
            <a:avLst/>
          </a:prstGeom>
          <a:solidFill>
            <a:srgbClr val="FF462D"/>
          </a:solidFill>
          <a:ln/>
        </p:spPr>
      </p:sp>
      <p:sp>
        <p:nvSpPr>
          <p:cNvPr id="9" name="Text 6"/>
          <p:cNvSpPr txBox="1"/>
          <p:nvPr/>
        </p:nvSpPr>
        <p:spPr>
          <a:xfrm>
            <a:off x="73152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pic>
        <p:nvPicPr>
          <p:cNvPr id="10" name="Image 1" descr="/private/tmp/claude-501/-Users-salehhamed-Outcome-Engine/91861432-41e2-4884-bc97-63c6dff2d021/scratchpad/wk/icons/TbQrcode-teal.png">    </p:cNvPr>
          <p:cNvPicPr>
            <a:picLocks noChangeAspect="1"/>
          </p:cNvPicPr>
          <p:nvPr/>
        </p:nvPicPr>
        <p:blipFill>
          <a:blip r:embed="rId4"/>
          <a:stretch>
            <a:fillRect/>
          </a:stretch>
        </p:blipFill>
        <p:spPr>
          <a:xfrm>
            <a:off x="1207008" y="2514600"/>
            <a:ext cx="1005840" cy="1005840"/>
          </a:xfrm>
          <a:prstGeom prst="rect">
            <a:avLst/>
          </a:prstGeom>
        </p:spPr>
      </p:pic>
      <p:sp>
        <p:nvSpPr>
          <p:cNvPr id="11" name="Text 7"/>
          <p:cNvSpPr txBox="1"/>
          <p:nvPr/>
        </p:nvSpPr>
        <p:spPr>
          <a:xfrm>
            <a:off x="731520" y="3657600"/>
            <a:ext cx="1965960" cy="365760"/>
          </a:xfrm>
          <a:prstGeom prst="rect">
            <a:avLst/>
          </a:prstGeom>
          <a:noFill/>
          <a:ln/>
        </p:spPr>
        <p:txBody>
          <a:bodyPr wrap="square" lIns="0" tIns="0" rIns="0" bIns="0" rtlCol="0" anchor="t"/>
          <a:lstStyle/>
          <a:p>
            <a:pPr algn="ctr" indent="0" marL="0">
              <a:buNone/>
            </a:pPr>
            <a:r>
              <a:rPr lang="en-US" sz="1700" b="1" dirty="0">
                <a:solidFill>
                  <a:srgbClr val="1F2A33"/>
                </a:solidFill>
                <a:latin typeface="Arial" pitchFamily="34" charset="0"/>
                <a:ea typeface="Arial" pitchFamily="34" charset="-122"/>
                <a:cs typeface="Arial" pitchFamily="34" charset="-120"/>
              </a:rPr>
              <a:t>Scan the code</a:t>
            </a:r>
            <a:endParaRPr lang="en-US" sz="1700" dirty="0"/>
          </a:p>
        </p:txBody>
      </p:sp>
      <p:sp>
        <p:nvSpPr>
          <p:cNvPr id="12" name="Text 8"/>
          <p:cNvSpPr txBox="1"/>
          <p:nvPr/>
        </p:nvSpPr>
        <p:spPr>
          <a:xfrm>
            <a:off x="731520" y="4041648"/>
            <a:ext cx="1965960" cy="365760"/>
          </a:xfrm>
          <a:prstGeom prst="rect">
            <a:avLst/>
          </a:prstGeom>
          <a:noFill/>
          <a:ln/>
        </p:spPr>
        <p:txBody>
          <a:bodyPr wrap="square" lIns="0" tIns="0" rIns="0" bIns="0" rtlCol="0" anchor="t"/>
          <a:lstStyle/>
          <a:p>
            <a:pPr algn="ctr" indent="0" marL="0">
              <a:buNone/>
            </a:pPr>
            <a:r>
              <a:rPr lang="en-US" sz="1250" dirty="0">
                <a:solidFill>
                  <a:srgbClr val="5A5A5A"/>
                </a:solidFill>
                <a:latin typeface="Arial" pitchFamily="34" charset="0"/>
                <a:ea typeface="Arial" pitchFamily="34" charset="-122"/>
                <a:cs typeface="Arial" pitchFamily="34" charset="-120"/>
              </a:rPr>
              <a:t>on the room screen</a:t>
            </a:r>
            <a:endParaRPr lang="en-US" sz="1250" dirty="0"/>
          </a:p>
        </p:txBody>
      </p:sp>
      <p:sp>
        <p:nvSpPr>
          <p:cNvPr id="13" name="Shape 9"/>
          <p:cNvSpPr/>
          <p:nvPr/>
        </p:nvSpPr>
        <p:spPr>
          <a:xfrm>
            <a:off x="3063240" y="1737360"/>
            <a:ext cx="2331720" cy="2834640"/>
          </a:xfrm>
          <a:prstGeom prst="roundRect">
            <a:avLst>
              <a:gd name="adj" fmla="val 3137"/>
            </a:avLst>
          </a:prstGeom>
          <a:solidFill>
            <a:srgbClr val="FFFFFF"/>
          </a:solidFill>
          <a:ln w="12700">
            <a:solidFill>
              <a:srgbClr val="D9DEE2"/>
            </a:solidFill>
            <a:prstDash val="solid"/>
          </a:ln>
        </p:spPr>
      </p:sp>
      <p:sp>
        <p:nvSpPr>
          <p:cNvPr id="14" name="Shape 10"/>
          <p:cNvSpPr/>
          <p:nvPr/>
        </p:nvSpPr>
        <p:spPr>
          <a:xfrm>
            <a:off x="3246120" y="1920240"/>
            <a:ext cx="457200" cy="457200"/>
          </a:xfrm>
          <a:prstGeom prst="ellipse">
            <a:avLst/>
          </a:prstGeom>
          <a:solidFill>
            <a:srgbClr val="FF462D"/>
          </a:solidFill>
          <a:ln/>
        </p:spPr>
      </p:sp>
      <p:sp>
        <p:nvSpPr>
          <p:cNvPr id="15" name="Text 11"/>
          <p:cNvSpPr txBox="1"/>
          <p:nvPr/>
        </p:nvSpPr>
        <p:spPr>
          <a:xfrm>
            <a:off x="324612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pic>
        <p:nvPicPr>
          <p:cNvPr id="16" name="Image 2" descr="/private/tmp/claude-501/-Users-salehhamed-Outcome-Engine/91861432-41e2-4884-bc97-63c6dff2d021/scratchpad/wk/icons/TbUserCircle-teal.png">    </p:cNvPr>
          <p:cNvPicPr>
            <a:picLocks noChangeAspect="1"/>
          </p:cNvPicPr>
          <p:nvPr/>
        </p:nvPicPr>
        <p:blipFill>
          <a:blip r:embed="rId5"/>
          <a:stretch>
            <a:fillRect/>
          </a:stretch>
        </p:blipFill>
        <p:spPr>
          <a:xfrm>
            <a:off x="3721608" y="2514600"/>
            <a:ext cx="1005840" cy="1005840"/>
          </a:xfrm>
          <a:prstGeom prst="rect">
            <a:avLst/>
          </a:prstGeom>
        </p:spPr>
      </p:pic>
      <p:sp>
        <p:nvSpPr>
          <p:cNvPr id="17" name="Text 12"/>
          <p:cNvSpPr txBox="1"/>
          <p:nvPr/>
        </p:nvSpPr>
        <p:spPr>
          <a:xfrm>
            <a:off x="3246120" y="3657600"/>
            <a:ext cx="1965960" cy="365760"/>
          </a:xfrm>
          <a:prstGeom prst="rect">
            <a:avLst/>
          </a:prstGeom>
          <a:noFill/>
          <a:ln/>
        </p:spPr>
        <p:txBody>
          <a:bodyPr wrap="square" lIns="0" tIns="0" rIns="0" bIns="0" rtlCol="0" anchor="t"/>
          <a:lstStyle/>
          <a:p>
            <a:pPr algn="ctr" indent="0" marL="0">
              <a:buNone/>
            </a:pPr>
            <a:r>
              <a:rPr lang="en-US" sz="1700" b="1" dirty="0">
                <a:solidFill>
                  <a:srgbClr val="1F2A33"/>
                </a:solidFill>
                <a:latin typeface="Arial" pitchFamily="34" charset="0"/>
                <a:ea typeface="Arial" pitchFamily="34" charset="-122"/>
                <a:cs typeface="Arial" pitchFamily="34" charset="-120"/>
              </a:rPr>
              <a:t>Pick your name</a:t>
            </a:r>
            <a:endParaRPr lang="en-US" sz="1700" dirty="0"/>
          </a:p>
        </p:txBody>
      </p:sp>
      <p:sp>
        <p:nvSpPr>
          <p:cNvPr id="18" name="Text 13"/>
          <p:cNvSpPr txBox="1"/>
          <p:nvPr/>
        </p:nvSpPr>
        <p:spPr>
          <a:xfrm>
            <a:off x="3246120" y="4041648"/>
            <a:ext cx="1965960" cy="365760"/>
          </a:xfrm>
          <a:prstGeom prst="rect">
            <a:avLst/>
          </a:prstGeom>
          <a:noFill/>
          <a:ln/>
        </p:spPr>
        <p:txBody>
          <a:bodyPr wrap="square" lIns="0" tIns="0" rIns="0" bIns="0" rtlCol="0" anchor="t"/>
          <a:lstStyle/>
          <a:p>
            <a:pPr algn="ctr" indent="0" marL="0">
              <a:buNone/>
            </a:pPr>
            <a:r>
              <a:rPr lang="en-US" sz="1250" dirty="0">
                <a:solidFill>
                  <a:srgbClr val="5A5A5A"/>
                </a:solidFill>
                <a:latin typeface="Arial" pitchFamily="34" charset="0"/>
                <a:ea typeface="Arial" pitchFamily="34" charset="-122"/>
                <a:cs typeface="Arial" pitchFamily="34" charset="-120"/>
              </a:rPr>
              <a:t>or type it</a:t>
            </a:r>
            <a:endParaRPr lang="en-US" sz="1250" dirty="0"/>
          </a:p>
        </p:txBody>
      </p:sp>
      <p:sp>
        <p:nvSpPr>
          <p:cNvPr id="19" name="Shape 14"/>
          <p:cNvSpPr/>
          <p:nvPr/>
        </p:nvSpPr>
        <p:spPr>
          <a:xfrm>
            <a:off x="5577840" y="1737360"/>
            <a:ext cx="2331720" cy="2834640"/>
          </a:xfrm>
          <a:prstGeom prst="roundRect">
            <a:avLst>
              <a:gd name="adj" fmla="val 3137"/>
            </a:avLst>
          </a:prstGeom>
          <a:solidFill>
            <a:srgbClr val="FFFFFF"/>
          </a:solidFill>
          <a:ln w="12700">
            <a:solidFill>
              <a:srgbClr val="D9DEE2"/>
            </a:solidFill>
            <a:prstDash val="solid"/>
          </a:ln>
        </p:spPr>
      </p:sp>
      <p:sp>
        <p:nvSpPr>
          <p:cNvPr id="20" name="Shape 15"/>
          <p:cNvSpPr/>
          <p:nvPr/>
        </p:nvSpPr>
        <p:spPr>
          <a:xfrm>
            <a:off x="5760720" y="1920240"/>
            <a:ext cx="457200" cy="457200"/>
          </a:xfrm>
          <a:prstGeom prst="ellipse">
            <a:avLst/>
          </a:prstGeom>
          <a:solidFill>
            <a:srgbClr val="FF462D"/>
          </a:solidFill>
          <a:ln/>
        </p:spPr>
      </p:sp>
      <p:sp>
        <p:nvSpPr>
          <p:cNvPr id="21" name="Text 16"/>
          <p:cNvSpPr txBox="1"/>
          <p:nvPr/>
        </p:nvSpPr>
        <p:spPr>
          <a:xfrm>
            <a:off x="576072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pic>
        <p:nvPicPr>
          <p:cNvPr id="22" name="Image 3" descr="/private/tmp/claude-501/-Users-salehhamed-Outcome-Engine/91861432-41e2-4884-bc97-63c6dff2d021/scratchpad/wk/icons/TbKey-teal.png">    </p:cNvPr>
          <p:cNvPicPr>
            <a:picLocks noChangeAspect="1"/>
          </p:cNvPicPr>
          <p:nvPr/>
        </p:nvPicPr>
        <p:blipFill>
          <a:blip r:embed="rId6"/>
          <a:stretch>
            <a:fillRect/>
          </a:stretch>
        </p:blipFill>
        <p:spPr>
          <a:xfrm>
            <a:off x="6236208" y="2514600"/>
            <a:ext cx="1005840" cy="1005840"/>
          </a:xfrm>
          <a:prstGeom prst="rect">
            <a:avLst/>
          </a:prstGeom>
        </p:spPr>
      </p:pic>
      <p:sp>
        <p:nvSpPr>
          <p:cNvPr id="23" name="Text 17"/>
          <p:cNvSpPr txBox="1"/>
          <p:nvPr/>
        </p:nvSpPr>
        <p:spPr>
          <a:xfrm>
            <a:off x="5760720" y="3657600"/>
            <a:ext cx="1965960" cy="365760"/>
          </a:xfrm>
          <a:prstGeom prst="rect">
            <a:avLst/>
          </a:prstGeom>
          <a:noFill/>
          <a:ln/>
        </p:spPr>
        <p:txBody>
          <a:bodyPr wrap="square" lIns="0" tIns="0" rIns="0" bIns="0" rtlCol="0" anchor="t"/>
          <a:lstStyle/>
          <a:p>
            <a:pPr algn="ctr" indent="0" marL="0">
              <a:buNone/>
            </a:pPr>
            <a:r>
              <a:rPr lang="en-US" sz="1700" b="1" dirty="0">
                <a:solidFill>
                  <a:srgbClr val="1F2A33"/>
                </a:solidFill>
                <a:latin typeface="Arial" pitchFamily="34" charset="0"/>
                <a:ea typeface="Arial" pitchFamily="34" charset="-122"/>
                <a:cs typeface="Arial" pitchFamily="34" charset="-120"/>
              </a:rPr>
              <a:t>Choose a PIN</a:t>
            </a:r>
            <a:endParaRPr lang="en-US" sz="1700" dirty="0"/>
          </a:p>
        </p:txBody>
      </p:sp>
      <p:sp>
        <p:nvSpPr>
          <p:cNvPr id="24" name="Text 18"/>
          <p:cNvSpPr txBox="1"/>
          <p:nvPr/>
        </p:nvSpPr>
        <p:spPr>
          <a:xfrm>
            <a:off x="5760720" y="4041648"/>
            <a:ext cx="1965960" cy="365760"/>
          </a:xfrm>
          <a:prstGeom prst="rect">
            <a:avLst/>
          </a:prstGeom>
          <a:noFill/>
          <a:ln/>
        </p:spPr>
        <p:txBody>
          <a:bodyPr wrap="square" lIns="0" tIns="0" rIns="0" bIns="0" rtlCol="0" anchor="t"/>
          <a:lstStyle/>
          <a:p>
            <a:pPr algn="ctr" indent="0" marL="0">
              <a:buNone/>
            </a:pPr>
            <a:r>
              <a:rPr lang="en-US" sz="1250" dirty="0">
                <a:solidFill>
                  <a:srgbClr val="5A5A5A"/>
                </a:solidFill>
                <a:latin typeface="Arial" pitchFamily="34" charset="0"/>
                <a:ea typeface="Arial" pitchFamily="34" charset="-122"/>
                <a:cs typeface="Arial" pitchFamily="34" charset="-120"/>
              </a:rPr>
              <a:t>four digits, the same on any device</a:t>
            </a:r>
            <a:endParaRPr lang="en-US" sz="1250" dirty="0"/>
          </a:p>
        </p:txBody>
      </p:sp>
      <p:sp>
        <p:nvSpPr>
          <p:cNvPr id="25" name="Shape 19"/>
          <p:cNvSpPr/>
          <p:nvPr/>
        </p:nvSpPr>
        <p:spPr>
          <a:xfrm>
            <a:off x="8458200" y="1737360"/>
            <a:ext cx="3108960" cy="2057400"/>
          </a:xfrm>
          <a:prstGeom prst="roundRect">
            <a:avLst>
              <a:gd name="adj" fmla="val 3556"/>
            </a:avLst>
          </a:prstGeom>
          <a:solidFill>
            <a:srgbClr val="1F2A33"/>
          </a:solidFill>
          <a:ln/>
        </p:spPr>
      </p:sp>
      <p:sp>
        <p:nvSpPr>
          <p:cNvPr id="26" name="Shape 20"/>
          <p:cNvSpPr/>
          <p:nvPr/>
        </p:nvSpPr>
        <p:spPr>
          <a:xfrm>
            <a:off x="9372600" y="2011680"/>
            <a:ext cx="1280160" cy="1280160"/>
          </a:xfrm>
          <a:prstGeom prst="roundRect">
            <a:avLst>
              <a:gd name="adj" fmla="val 4286"/>
            </a:avLst>
          </a:prstGeom>
          <a:solidFill>
            <a:srgbClr val="FFFFFF"/>
          </a:solidFill>
          <a:ln/>
        </p:spPr>
      </p:sp>
      <p:pic>
        <p:nvPicPr>
          <p:cNvPr id="27" name="Image 4" descr="/private/tmp/claude-501/-Users-salehhamed-Outcome-Engine/91861432-41e2-4884-bc97-63c6dff2d021/scratchpad/wk/icons/TbQrcode-ink.png">    </p:cNvPr>
          <p:cNvPicPr>
            <a:picLocks noChangeAspect="1"/>
          </p:cNvPicPr>
          <p:nvPr/>
        </p:nvPicPr>
        <p:blipFill>
          <a:blip r:embed="rId7"/>
          <a:stretch>
            <a:fillRect/>
          </a:stretch>
        </p:blipFill>
        <p:spPr>
          <a:xfrm>
            <a:off x="9464040" y="2103120"/>
            <a:ext cx="1097280" cy="1097280"/>
          </a:xfrm>
          <a:prstGeom prst="rect">
            <a:avLst/>
          </a:prstGeom>
        </p:spPr>
      </p:pic>
      <p:sp>
        <p:nvSpPr>
          <p:cNvPr id="28" name="Text 21"/>
          <p:cNvSpPr txBox="1"/>
          <p:nvPr/>
        </p:nvSpPr>
        <p:spPr>
          <a:xfrm>
            <a:off x="8458200" y="3337560"/>
            <a:ext cx="3108960" cy="36576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Join on your phone</a:t>
            </a:r>
            <a:endParaRPr lang="en-US" sz="1100" dirty="0"/>
          </a:p>
        </p:txBody>
      </p:sp>
      <p:sp>
        <p:nvSpPr>
          <p:cNvPr id="29" name="Shape 22"/>
          <p:cNvSpPr/>
          <p:nvPr/>
        </p:nvSpPr>
        <p:spPr>
          <a:xfrm>
            <a:off x="9875520" y="3794760"/>
            <a:ext cx="274320" cy="292608"/>
          </a:xfrm>
          <a:prstGeom prst="rect">
            <a:avLst/>
          </a:prstGeom>
          <a:solidFill>
            <a:srgbClr val="8A94A4"/>
          </a:solidFill>
          <a:ln/>
        </p:spPr>
      </p:sp>
      <p:sp>
        <p:nvSpPr>
          <p:cNvPr id="30" name="Shape 23"/>
          <p:cNvSpPr/>
          <p:nvPr/>
        </p:nvSpPr>
        <p:spPr>
          <a:xfrm>
            <a:off x="9464040" y="4087368"/>
            <a:ext cx="1097280" cy="91440"/>
          </a:xfrm>
          <a:prstGeom prst="roundRect">
            <a:avLst>
              <a:gd name="adj" fmla="val 50000"/>
            </a:avLst>
          </a:prstGeom>
          <a:solidFill>
            <a:srgbClr val="8A94A4"/>
          </a:solidFill>
          <a:ln/>
        </p:spPr>
      </p:sp>
      <p:sp>
        <p:nvSpPr>
          <p:cNvPr id="31" name="Text 24"/>
          <p:cNvSpPr txBox="1"/>
          <p:nvPr/>
        </p:nvSpPr>
        <p:spPr>
          <a:xfrm>
            <a:off x="8366760" y="4224528"/>
            <a:ext cx="3291840" cy="365760"/>
          </a:xfrm>
          <a:prstGeom prst="rect">
            <a:avLst/>
          </a:prstGeom>
          <a:noFill/>
          <a:ln/>
        </p:spPr>
        <p:txBody>
          <a:bodyPr wrap="square" lIns="0" tIns="0" rIns="0" bIns="0" rtlCol="0" anchor="t"/>
          <a:lstStyle/>
          <a:p>
            <a:pPr algn="ctr" indent="0" marL="0">
              <a:buNone/>
            </a:pPr>
            <a:r>
              <a:rPr lang="en-US" sz="1300" dirty="0">
                <a:solidFill>
                  <a:srgbClr val="5A5A5A"/>
                </a:solidFill>
                <a:latin typeface="Arial" pitchFamily="34" charset="0"/>
                <a:ea typeface="Arial" pitchFamily="34" charset="-122"/>
                <a:cs typeface="Arial" pitchFamily="34" charset="-120"/>
              </a:rPr>
              <a:t>The code is on the room screen</a:t>
            </a:r>
            <a:endParaRPr lang="en-US" sz="1300" dirty="0"/>
          </a:p>
        </p:txBody>
      </p:sp>
      <p:sp>
        <p:nvSpPr>
          <p:cNvPr id="32" name="Shape 25"/>
          <p:cNvSpPr/>
          <p:nvPr/>
        </p:nvSpPr>
        <p:spPr>
          <a:xfrm>
            <a:off x="548640" y="4892040"/>
            <a:ext cx="11091672" cy="1005840"/>
          </a:xfrm>
          <a:prstGeom prst="roundRect">
            <a:avLst>
              <a:gd name="adj" fmla="val 9091"/>
            </a:avLst>
          </a:prstGeom>
          <a:solidFill>
            <a:srgbClr val="EEF6F7"/>
          </a:solidFill>
          <a:ln/>
        </p:spPr>
      </p:sp>
      <p:pic>
        <p:nvPicPr>
          <p:cNvPr id="33" name="Image 5" descr="/private/tmp/claude-501/-Users-salehhamed-Outcome-Engine/91861432-41e2-4884-bc97-63c6dff2d021/scratchpad/wk/icons/TbDeviceMobile-teal.png">    </p:cNvPr>
          <p:cNvPicPr>
            <a:picLocks noChangeAspect="1"/>
          </p:cNvPicPr>
          <p:nvPr/>
        </p:nvPicPr>
        <p:blipFill>
          <a:blip r:embed="rId8"/>
          <a:stretch>
            <a:fillRect/>
          </a:stretch>
        </p:blipFill>
        <p:spPr>
          <a:xfrm>
            <a:off x="777240" y="5074920"/>
            <a:ext cx="640080" cy="640080"/>
          </a:xfrm>
          <a:prstGeom prst="rect">
            <a:avLst/>
          </a:prstGeom>
        </p:spPr>
      </p:pic>
      <p:sp>
        <p:nvSpPr>
          <p:cNvPr id="34" name="Text 26"/>
          <p:cNvSpPr txBox="1"/>
          <p:nvPr/>
        </p:nvSpPr>
        <p:spPr>
          <a:xfrm>
            <a:off x="1600200" y="4892040"/>
            <a:ext cx="9875520" cy="1005840"/>
          </a:xfrm>
          <a:prstGeom prst="rect">
            <a:avLst/>
          </a:prstGeom>
          <a:noFill/>
          <a:ln/>
        </p:spPr>
        <p:txBody>
          <a:bodyPr wrap="square" lIns="0" tIns="0" rIns="0" bIns="0" rtlCol="0" anchor="ctr"/>
          <a:lstStyle/>
          <a:p>
            <a:pPr indent="0" marL="0">
              <a:buNone/>
            </a:pPr>
            <a:r>
              <a:rPr lang="en-US" sz="1500" b="1" dirty="0">
                <a:solidFill>
                  <a:srgbClr val="287079"/>
                </a:solidFill>
                <a:latin typeface="Arial" pitchFamily="34" charset="0"/>
                <a:ea typeface="Arial" pitchFamily="34" charset="-122"/>
                <a:cs typeface="Arial" pitchFamily="34" charset="-120"/>
              </a:rPr>
              <a:t>No phone? </a:t>
            </a:r>
            <a:pPr indent="0" marL="0">
              <a:buNone/>
            </a:pPr>
            <a:r>
              <a:rPr lang="en-US" sz="1500" dirty="0">
                <a:solidFill>
                  <a:srgbClr val="1F2A33"/>
                </a:solidFill>
                <a:latin typeface="Arial" pitchFamily="34" charset="0"/>
                <a:ea typeface="Arial" pitchFamily="34" charset="-122"/>
                <a:cs typeface="Arial" pitchFamily="34" charset="-120"/>
              </a:rPr>
              <a:t>Use a paper card on your table. Every activity works on paper too.</a:t>
            </a:r>
            <a:endParaRPr lang="en-US" sz="15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ARRIVAL · DAY 2</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Good morning. Here is what changed overnight.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08:30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122</a:t>
            </a:r>
            <a:endParaRPr lang="en-US" sz="1000" dirty="0"/>
          </a:p>
        </p:txBody>
      </p:sp>
      <p:sp>
        <p:nvSpPr>
          <p:cNvPr id="7" name="Shape 4"/>
          <p:cNvSpPr/>
          <p:nvPr/>
        </p:nvSpPr>
        <p:spPr>
          <a:xfrm>
            <a:off x="548640" y="1600200"/>
            <a:ext cx="2194560" cy="3017520"/>
          </a:xfrm>
          <a:prstGeom prst="roundRect">
            <a:avLst>
              <a:gd name="adj" fmla="val 4167"/>
            </a:avLst>
          </a:prstGeom>
          <a:solidFill>
            <a:srgbClr val="FFFFFF"/>
          </a:solidFill>
          <a:ln w="25400">
            <a:solidFill>
              <a:srgbClr val="2E8656"/>
            </a:solidFill>
            <a:prstDash val="solid"/>
          </a:ln>
        </p:spPr>
      </p:sp>
      <p:pic>
        <p:nvPicPr>
          <p:cNvPr id="8" name="Image 1" descr="/private/tmp/claude-501/-Users-salehhamed-Outcome-Engine/91861432-41e2-4884-bc97-63c6dff2d021/scratchpad/wk/icons/TbCircleCheck-green.png">    </p:cNvPr>
          <p:cNvPicPr>
            <a:picLocks noChangeAspect="1"/>
          </p:cNvPicPr>
          <p:nvPr/>
        </p:nvPicPr>
        <p:blipFill>
          <a:blip r:embed="rId4"/>
          <a:stretch>
            <a:fillRect/>
          </a:stretch>
        </p:blipFill>
        <p:spPr>
          <a:xfrm>
            <a:off x="1188720" y="1920240"/>
            <a:ext cx="914400" cy="914400"/>
          </a:xfrm>
          <a:prstGeom prst="rect">
            <a:avLst/>
          </a:prstGeom>
        </p:spPr>
      </p:pic>
      <p:sp>
        <p:nvSpPr>
          <p:cNvPr id="9" name="Text 5"/>
          <p:cNvSpPr txBox="1"/>
          <p:nvPr/>
        </p:nvSpPr>
        <p:spPr>
          <a:xfrm>
            <a:off x="685800" y="3063240"/>
            <a:ext cx="1920240" cy="822960"/>
          </a:xfrm>
          <a:prstGeom prst="rect">
            <a:avLst/>
          </a:prstGeom>
          <a:noFill/>
          <a:ln/>
        </p:spPr>
        <p:txBody>
          <a:bodyPr wrap="square" lIns="0" tIns="0" rIns="0" bIns="0" rtlCol="0" anchor="t"/>
          <a:lstStyle/>
          <a:p>
            <a:pPr algn="ctr" indent="0" marL="0">
              <a:buNone/>
            </a:pPr>
            <a:r>
              <a:rPr lang="en-US" sz="1700" b="1" dirty="0">
                <a:solidFill>
                  <a:srgbClr val="1F2A33"/>
                </a:solidFill>
                <a:latin typeface="Arial" pitchFamily="34" charset="0"/>
                <a:ea typeface="Arial" pitchFamily="34" charset="-122"/>
                <a:cs typeface="Arial" pitchFamily="34" charset="-120"/>
              </a:rPr>
              <a:t>Built as agreed</a:t>
            </a:r>
            <a:endParaRPr lang="en-US" sz="1700" dirty="0"/>
          </a:p>
        </p:txBody>
      </p:sp>
      <p:sp>
        <p:nvSpPr>
          <p:cNvPr id="10" name="Shape 6"/>
          <p:cNvSpPr/>
          <p:nvPr/>
        </p:nvSpPr>
        <p:spPr>
          <a:xfrm>
            <a:off x="2880360" y="1600200"/>
            <a:ext cx="2194560" cy="3017520"/>
          </a:xfrm>
          <a:prstGeom prst="roundRect">
            <a:avLst>
              <a:gd name="adj" fmla="val 4167"/>
            </a:avLst>
          </a:prstGeom>
          <a:solidFill>
            <a:srgbClr val="FFFFFF"/>
          </a:solidFill>
          <a:ln w="25400">
            <a:solidFill>
              <a:srgbClr val="C98A1A"/>
            </a:solidFill>
            <a:prstDash val="solid"/>
          </a:ln>
        </p:spPr>
      </p:sp>
      <p:pic>
        <p:nvPicPr>
          <p:cNvPr id="11" name="Image 2" descr="/private/tmp/claude-501/-Users-salehhamed-Outcome-Engine/91861432-41e2-4884-bc97-63c6dff2d021/scratchpad/wk/icons/TbArrowsExchange-amber.png">    </p:cNvPr>
          <p:cNvPicPr>
            <a:picLocks noChangeAspect="1"/>
          </p:cNvPicPr>
          <p:nvPr/>
        </p:nvPicPr>
        <p:blipFill>
          <a:blip r:embed="rId5"/>
          <a:stretch>
            <a:fillRect/>
          </a:stretch>
        </p:blipFill>
        <p:spPr>
          <a:xfrm>
            <a:off x="3520440" y="1920240"/>
            <a:ext cx="914400" cy="914400"/>
          </a:xfrm>
          <a:prstGeom prst="rect">
            <a:avLst/>
          </a:prstGeom>
        </p:spPr>
      </p:pic>
      <p:sp>
        <p:nvSpPr>
          <p:cNvPr id="12" name="Text 7"/>
          <p:cNvSpPr txBox="1"/>
          <p:nvPr/>
        </p:nvSpPr>
        <p:spPr>
          <a:xfrm>
            <a:off x="3017520" y="3063240"/>
            <a:ext cx="1920240" cy="822960"/>
          </a:xfrm>
          <a:prstGeom prst="rect">
            <a:avLst/>
          </a:prstGeom>
          <a:noFill/>
          <a:ln/>
        </p:spPr>
        <p:txBody>
          <a:bodyPr wrap="square" lIns="0" tIns="0" rIns="0" bIns="0" rtlCol="0" anchor="t"/>
          <a:lstStyle/>
          <a:p>
            <a:pPr algn="ctr" indent="0" marL="0">
              <a:buNone/>
            </a:pPr>
            <a:r>
              <a:rPr lang="en-US" sz="1700" b="1" dirty="0">
                <a:solidFill>
                  <a:srgbClr val="1F2A33"/>
                </a:solidFill>
                <a:latin typeface="Arial" pitchFamily="34" charset="0"/>
                <a:ea typeface="Arial" pitchFamily="34" charset="-122"/>
                <a:cs typeface="Arial" pitchFamily="34" charset="-120"/>
              </a:rPr>
              <a:t>Built differently</a:t>
            </a:r>
            <a:endParaRPr lang="en-US" sz="1700" dirty="0"/>
          </a:p>
        </p:txBody>
      </p:sp>
      <p:sp>
        <p:nvSpPr>
          <p:cNvPr id="13" name="Shape 8"/>
          <p:cNvSpPr/>
          <p:nvPr/>
        </p:nvSpPr>
        <p:spPr>
          <a:xfrm>
            <a:off x="5212080" y="1600200"/>
            <a:ext cx="2194560" cy="3017520"/>
          </a:xfrm>
          <a:prstGeom prst="roundRect">
            <a:avLst>
              <a:gd name="adj" fmla="val 4167"/>
            </a:avLst>
          </a:prstGeom>
          <a:solidFill>
            <a:srgbClr val="FFFFFF"/>
          </a:solidFill>
          <a:ln w="25400">
            <a:solidFill>
              <a:srgbClr val="8A94A4"/>
            </a:solidFill>
            <a:prstDash val="solid"/>
          </a:ln>
        </p:spPr>
      </p:sp>
      <p:pic>
        <p:nvPicPr>
          <p:cNvPr id="14" name="Image 3" descr="/private/tmp/claude-501/-Users-salehhamed-Outcome-Engine/91861432-41e2-4884-bc97-63c6dff2d021/scratchpad/wk/icons/TbClock-grey.png">    </p:cNvPr>
          <p:cNvPicPr>
            <a:picLocks noChangeAspect="1"/>
          </p:cNvPicPr>
          <p:nvPr/>
        </p:nvPicPr>
        <p:blipFill>
          <a:blip r:embed="rId6"/>
          <a:stretch>
            <a:fillRect/>
          </a:stretch>
        </p:blipFill>
        <p:spPr>
          <a:xfrm>
            <a:off x="5852160" y="1920240"/>
            <a:ext cx="914400" cy="914400"/>
          </a:xfrm>
          <a:prstGeom prst="rect">
            <a:avLst/>
          </a:prstGeom>
        </p:spPr>
      </p:pic>
      <p:sp>
        <p:nvSpPr>
          <p:cNvPr id="15" name="Text 9"/>
          <p:cNvSpPr txBox="1"/>
          <p:nvPr/>
        </p:nvSpPr>
        <p:spPr>
          <a:xfrm>
            <a:off x="5349240" y="3063240"/>
            <a:ext cx="1920240" cy="822960"/>
          </a:xfrm>
          <a:prstGeom prst="rect">
            <a:avLst/>
          </a:prstGeom>
          <a:noFill/>
          <a:ln/>
        </p:spPr>
        <p:txBody>
          <a:bodyPr wrap="square" lIns="0" tIns="0" rIns="0" bIns="0" rtlCol="0" anchor="t"/>
          <a:lstStyle/>
          <a:p>
            <a:pPr algn="ctr" indent="0" marL="0">
              <a:buNone/>
            </a:pPr>
            <a:r>
              <a:rPr lang="en-US" sz="1700" b="1" dirty="0">
                <a:solidFill>
                  <a:srgbClr val="1F2A33"/>
                </a:solidFill>
                <a:latin typeface="Arial" pitchFamily="34" charset="0"/>
                <a:ea typeface="Arial" pitchFamily="34" charset="-122"/>
                <a:cs typeface="Arial" pitchFamily="34" charset="-120"/>
              </a:rPr>
              <a:t>Not built yet</a:t>
            </a:r>
            <a:endParaRPr lang="en-US" sz="1700" dirty="0"/>
          </a:p>
        </p:txBody>
      </p:sp>
      <p:sp>
        <p:nvSpPr>
          <p:cNvPr id="16" name="Shape 10"/>
          <p:cNvSpPr/>
          <p:nvPr/>
        </p:nvSpPr>
        <p:spPr>
          <a:xfrm>
            <a:off x="548640" y="4892040"/>
            <a:ext cx="6812280" cy="914400"/>
          </a:xfrm>
          <a:prstGeom prst="roundRect">
            <a:avLst>
              <a:gd name="adj" fmla="val 8000"/>
            </a:avLst>
          </a:prstGeom>
          <a:solidFill>
            <a:srgbClr val="F2F4F5"/>
          </a:solidFill>
          <a:ln/>
        </p:spPr>
      </p:sp>
      <p:pic>
        <p:nvPicPr>
          <p:cNvPr id="17" name="Image 4" descr="/private/tmp/claude-501/-Users-salehhamed-Outcome-Engine/91861432-41e2-4884-bc97-63c6dff2d021/scratchpad/wk/icons/TbHammer-green.png">    </p:cNvPr>
          <p:cNvPicPr>
            <a:picLocks noChangeAspect="1"/>
          </p:cNvPicPr>
          <p:nvPr/>
        </p:nvPicPr>
        <p:blipFill>
          <a:blip r:embed="rId7"/>
          <a:stretch>
            <a:fillRect/>
          </a:stretch>
        </p:blipFill>
        <p:spPr>
          <a:xfrm>
            <a:off x="777240" y="5074920"/>
            <a:ext cx="548640" cy="548640"/>
          </a:xfrm>
          <a:prstGeom prst="rect">
            <a:avLst/>
          </a:prstGeom>
        </p:spPr>
      </p:pic>
      <p:sp>
        <p:nvSpPr>
          <p:cNvPr id="18" name="Text 11"/>
          <p:cNvSpPr txBox="1"/>
          <p:nvPr/>
        </p:nvSpPr>
        <p:spPr>
          <a:xfrm>
            <a:off x="1508760" y="4892040"/>
            <a:ext cx="5760720" cy="9144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The build team walks you through all three at 09:00.</a:t>
            </a:r>
            <a:endParaRPr lang="en-US" sz="1500" dirty="0"/>
          </a:p>
        </p:txBody>
      </p:sp>
      <p:sp>
        <p:nvSpPr>
          <p:cNvPr id="19" name="Shape 12"/>
          <p:cNvSpPr/>
          <p:nvPr/>
        </p:nvSpPr>
        <p:spPr>
          <a:xfrm>
            <a:off x="7909560" y="1691640"/>
            <a:ext cx="777240" cy="777240"/>
          </a:xfrm>
          <a:prstGeom prst="ellipse">
            <a:avLst/>
          </a:prstGeom>
          <a:solidFill>
            <a:srgbClr val="287079"/>
          </a:solidFill>
          <a:ln/>
        </p:spPr>
      </p:sp>
      <p:pic>
        <p:nvPicPr>
          <p:cNvPr id="20" name="Image 5" descr="/private/tmp/claude-501/-Users-salehhamed-Outcome-Engine/91861432-41e2-4884-bc97-63c6dff2d021/scratchpad/wk/icons/TbUserCheck-white.png">    </p:cNvPr>
          <p:cNvPicPr>
            <a:picLocks noChangeAspect="1"/>
          </p:cNvPicPr>
          <p:nvPr/>
        </p:nvPicPr>
        <p:blipFill>
          <a:blip r:embed="rId8"/>
          <a:stretch>
            <a:fillRect/>
          </a:stretch>
        </p:blipFill>
        <p:spPr>
          <a:xfrm>
            <a:off x="8065008" y="1847088"/>
            <a:ext cx="466344" cy="466344"/>
          </a:xfrm>
          <a:prstGeom prst="rect">
            <a:avLst/>
          </a:prstGeom>
        </p:spPr>
      </p:pic>
      <p:sp>
        <p:nvSpPr>
          <p:cNvPr id="21" name="Text 13"/>
          <p:cNvSpPr txBox="1"/>
          <p:nvPr/>
        </p:nvSpPr>
        <p:spPr>
          <a:xfrm>
            <a:off x="8869680" y="1691640"/>
            <a:ext cx="2743200" cy="777240"/>
          </a:xfrm>
          <a:prstGeom prst="rect">
            <a:avLst/>
          </a:prstGeom>
          <a:noFill/>
          <a:ln/>
        </p:spPr>
        <p:txBody>
          <a:bodyPr wrap="square" lIns="0" tIns="0" rIns="0" bIns="0" rtlCol="0" anchor="ctr"/>
          <a:lstStyle/>
          <a:p>
            <a:pPr indent="0" marL="0">
              <a:buNone/>
            </a:pPr>
            <a:r>
              <a:rPr lang="en-US" sz="1700" b="1" dirty="0">
                <a:solidFill>
                  <a:srgbClr val="1F2A33"/>
                </a:solidFill>
                <a:latin typeface="Arial" pitchFamily="34" charset="0"/>
                <a:ea typeface="Arial" pitchFamily="34" charset="-122"/>
                <a:cs typeface="Arial" pitchFamily="34" charset="-120"/>
              </a:rPr>
              <a:t>Find your seat card</a:t>
            </a:r>
            <a:endParaRPr lang="en-US" sz="1700" dirty="0"/>
          </a:p>
        </p:txBody>
      </p:sp>
      <p:sp>
        <p:nvSpPr>
          <p:cNvPr id="22" name="Shape 14"/>
          <p:cNvSpPr/>
          <p:nvPr/>
        </p:nvSpPr>
        <p:spPr>
          <a:xfrm>
            <a:off x="7909560" y="3017520"/>
            <a:ext cx="777240" cy="777240"/>
          </a:xfrm>
          <a:prstGeom prst="ellipse">
            <a:avLst/>
          </a:prstGeom>
          <a:solidFill>
            <a:srgbClr val="287079"/>
          </a:solidFill>
          <a:ln/>
        </p:spPr>
      </p:sp>
      <p:pic>
        <p:nvPicPr>
          <p:cNvPr id="23" name="Image 6" descr="/private/tmp/claude-501/-Users-salehhamed-Outcome-Engine/91861432-41e2-4884-bc97-63c6dff2d021/scratchpad/wk/icons/TbMessageQuestion-white.png">    </p:cNvPr>
          <p:cNvPicPr>
            <a:picLocks noChangeAspect="1"/>
          </p:cNvPicPr>
          <p:nvPr/>
        </p:nvPicPr>
        <p:blipFill>
          <a:blip r:embed="rId9"/>
          <a:stretch>
            <a:fillRect/>
          </a:stretch>
        </p:blipFill>
        <p:spPr>
          <a:xfrm>
            <a:off x="8065008" y="3172968"/>
            <a:ext cx="466344" cy="466344"/>
          </a:xfrm>
          <a:prstGeom prst="rect">
            <a:avLst/>
          </a:prstGeom>
        </p:spPr>
      </p:pic>
      <p:sp>
        <p:nvSpPr>
          <p:cNvPr id="24" name="Text 15"/>
          <p:cNvSpPr txBox="1"/>
          <p:nvPr/>
        </p:nvSpPr>
        <p:spPr>
          <a:xfrm>
            <a:off x="8869680" y="3017520"/>
            <a:ext cx="2743200" cy="777240"/>
          </a:xfrm>
          <a:prstGeom prst="rect">
            <a:avLst/>
          </a:prstGeom>
          <a:noFill/>
          <a:ln/>
        </p:spPr>
        <p:txBody>
          <a:bodyPr wrap="square" lIns="0" tIns="0" rIns="0" bIns="0" rtlCol="0" anchor="ctr"/>
          <a:lstStyle/>
          <a:p>
            <a:pPr indent="0" marL="0">
              <a:buNone/>
            </a:pPr>
            <a:r>
              <a:rPr lang="en-US" sz="1700" b="1" dirty="0">
                <a:solidFill>
                  <a:srgbClr val="1F2A33"/>
                </a:solidFill>
                <a:latin typeface="Arial" pitchFamily="34" charset="0"/>
                <a:ea typeface="Arial" pitchFamily="34" charset="-122"/>
                <a:cs typeface="Arial" pitchFamily="34" charset="-120"/>
              </a:rPr>
              <a:t>Mark anything unclear</a:t>
            </a:r>
            <a:endParaRPr lang="en-US" sz="1700" dirty="0"/>
          </a:p>
        </p:txBody>
      </p:sp>
      <p:sp>
        <p:nvSpPr>
          <p:cNvPr id="25" name="Shape 16"/>
          <p:cNvSpPr/>
          <p:nvPr/>
        </p:nvSpPr>
        <p:spPr>
          <a:xfrm>
            <a:off x="7909560" y="4343400"/>
            <a:ext cx="777240" cy="777240"/>
          </a:xfrm>
          <a:prstGeom prst="ellipse">
            <a:avLst/>
          </a:prstGeom>
          <a:solidFill>
            <a:srgbClr val="287079"/>
          </a:solidFill>
          <a:ln/>
        </p:spPr>
      </p:sp>
      <p:pic>
        <p:nvPicPr>
          <p:cNvPr id="26" name="Image 7" descr="/private/tmp/claude-501/-Users-salehhamed-Outcome-Engine/91861432-41e2-4884-bc97-63c6dff2d021/scratchpad/wk/icons/TbDeviceMobile-white.png">    </p:cNvPr>
          <p:cNvPicPr>
            <a:picLocks noChangeAspect="1"/>
          </p:cNvPicPr>
          <p:nvPr/>
        </p:nvPicPr>
        <p:blipFill>
          <a:blip r:embed="rId10"/>
          <a:stretch>
            <a:fillRect/>
          </a:stretch>
        </p:blipFill>
        <p:spPr>
          <a:xfrm>
            <a:off x="8065008" y="4498848"/>
            <a:ext cx="466344" cy="466344"/>
          </a:xfrm>
          <a:prstGeom prst="rect">
            <a:avLst/>
          </a:prstGeom>
        </p:spPr>
      </p:pic>
      <p:sp>
        <p:nvSpPr>
          <p:cNvPr id="27" name="Text 17"/>
          <p:cNvSpPr txBox="1"/>
          <p:nvPr/>
        </p:nvSpPr>
        <p:spPr>
          <a:xfrm>
            <a:off x="8869680" y="4343400"/>
            <a:ext cx="2743200" cy="777240"/>
          </a:xfrm>
          <a:prstGeom prst="rect">
            <a:avLst/>
          </a:prstGeom>
          <a:noFill/>
          <a:ln/>
        </p:spPr>
        <p:txBody>
          <a:bodyPr wrap="square" lIns="0" tIns="0" rIns="0" bIns="0" rtlCol="0" anchor="ctr"/>
          <a:lstStyle/>
          <a:p>
            <a:pPr indent="0" marL="0">
              <a:buNone/>
            </a:pPr>
            <a:r>
              <a:rPr lang="en-US" sz="1700" b="1" dirty="0">
                <a:solidFill>
                  <a:srgbClr val="1F2A33"/>
                </a:solidFill>
                <a:latin typeface="Arial" pitchFamily="34" charset="0"/>
                <a:ea typeface="Arial" pitchFamily="34" charset="-122"/>
                <a:cs typeface="Arial" pitchFamily="34" charset="-120"/>
              </a:rPr>
              <a:t>Rejoin with your PIN</a:t>
            </a:r>
            <a:endParaRPr lang="en-US" sz="17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name="Slide 1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ARRIVAL</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Three ways to run this session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08:30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123</a:t>
            </a:r>
            <a:endParaRPr lang="en-US" sz="1000" dirty="0"/>
          </a:p>
        </p:txBody>
      </p:sp>
      <p:sp>
        <p:nvSpPr>
          <p:cNvPr id="7" name="Shape 4"/>
          <p:cNvSpPr/>
          <p:nvPr/>
        </p:nvSpPr>
        <p:spPr>
          <a:xfrm>
            <a:off x="548640" y="1463040"/>
            <a:ext cx="3566160" cy="4663440"/>
          </a:xfrm>
          <a:prstGeom prst="roundRect">
            <a:avLst>
              <a:gd name="adj" fmla="val 2051"/>
            </a:avLst>
          </a:prstGeom>
          <a:solidFill>
            <a:srgbClr val="FFFFFF"/>
          </a:solidFill>
          <a:ln w="12700">
            <a:solidFill>
              <a:srgbClr val="D9DEE2"/>
            </a:solidFill>
            <a:prstDash val="solid"/>
          </a:ln>
        </p:spPr>
      </p:sp>
      <p:sp>
        <p:nvSpPr>
          <p:cNvPr id="8" name="Shape 5"/>
          <p:cNvSpPr/>
          <p:nvPr/>
        </p:nvSpPr>
        <p:spPr>
          <a:xfrm>
            <a:off x="548640" y="1463040"/>
            <a:ext cx="3566160" cy="566928"/>
          </a:xfrm>
          <a:prstGeom prst="roundRect">
            <a:avLst>
              <a:gd name="adj" fmla="val 12903"/>
            </a:avLst>
          </a:prstGeom>
          <a:solidFill>
            <a:srgbClr val="287079"/>
          </a:solidFill>
          <a:ln/>
        </p:spPr>
      </p:sp>
      <p:sp>
        <p:nvSpPr>
          <p:cNvPr id="9" name="Shape 6"/>
          <p:cNvSpPr/>
          <p:nvPr/>
        </p:nvSpPr>
        <p:spPr>
          <a:xfrm>
            <a:off x="548640" y="1828800"/>
            <a:ext cx="3566160" cy="201168"/>
          </a:xfrm>
          <a:prstGeom prst="rect">
            <a:avLst/>
          </a:prstGeom>
          <a:solidFill>
            <a:srgbClr val="287079"/>
          </a:solidFill>
          <a:ln/>
        </p:spPr>
      </p:sp>
      <p:pic>
        <p:nvPicPr>
          <p:cNvPr id="10" name="Image 1" descr="/private/tmp/claude-501/-Users-salehhamed-Outcome-Engine/91861432-41e2-4884-bc97-63c6dff2d021/scratchpad/wk/icons/TbHandClick-white.png">    </p:cNvPr>
          <p:cNvPicPr>
            <a:picLocks noChangeAspect="1"/>
          </p:cNvPicPr>
          <p:nvPr/>
        </p:nvPicPr>
        <p:blipFill>
          <a:blip r:embed="rId4"/>
          <a:stretch>
            <a:fillRect/>
          </a:stretch>
        </p:blipFill>
        <p:spPr>
          <a:xfrm>
            <a:off x="713232" y="1554480"/>
            <a:ext cx="384048" cy="384048"/>
          </a:xfrm>
          <a:prstGeom prst="rect">
            <a:avLst/>
          </a:prstGeom>
        </p:spPr>
      </p:pic>
      <p:sp>
        <p:nvSpPr>
          <p:cNvPr id="11" name="Text 7"/>
          <p:cNvSpPr txBox="1"/>
          <p:nvPr/>
        </p:nvSpPr>
        <p:spPr>
          <a:xfrm>
            <a:off x="120700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A · HANDS-ON</a:t>
            </a:r>
            <a:endParaRPr lang="en-US" sz="1150" dirty="0"/>
          </a:p>
        </p:txBody>
      </p:sp>
      <p:sp>
        <p:nvSpPr>
          <p:cNvPr id="12" name="Text 8"/>
          <p:cNvSpPr txBox="1"/>
          <p:nvPr/>
        </p:nvSpPr>
        <p:spPr>
          <a:xfrm>
            <a:off x="77724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Overnight wall</a:t>
            </a:r>
            <a:endParaRPr lang="en-US" sz="2100" dirty="0"/>
          </a:p>
        </p:txBody>
      </p:sp>
      <p:sp>
        <p:nvSpPr>
          <p:cNvPr id="13" name="Text 9"/>
          <p:cNvSpPr txBox="1"/>
          <p:nvPr/>
        </p:nvSpPr>
        <p:spPr>
          <a:xfrm>
            <a:off x="77724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The build team posts what changed overnight; people mark anything unclear.</a:t>
            </a:r>
            <a:endParaRPr lang="en-US" sz="1400" dirty="0"/>
          </a:p>
        </p:txBody>
      </p:sp>
      <p:pic>
        <p:nvPicPr>
          <p:cNvPr id="14" name="Image 2" descr="/private/tmp/claude-501/-Users-salehhamed-Outcome-Engine/91861432-41e2-4884-bc97-63c6dff2d021/scratchpad/wk/icons/TbClock-grey.png">    </p:cNvPr>
          <p:cNvPicPr>
            <a:picLocks noChangeAspect="1"/>
          </p:cNvPicPr>
          <p:nvPr/>
        </p:nvPicPr>
        <p:blipFill>
          <a:blip r:embed="rId5"/>
          <a:stretch>
            <a:fillRect/>
          </a:stretch>
        </p:blipFill>
        <p:spPr>
          <a:xfrm>
            <a:off x="777240" y="4297680"/>
            <a:ext cx="274320" cy="274320"/>
          </a:xfrm>
          <a:prstGeom prst="rect">
            <a:avLst/>
          </a:prstGeom>
        </p:spPr>
      </p:pic>
      <p:sp>
        <p:nvSpPr>
          <p:cNvPr id="15" name="Text 10"/>
          <p:cNvSpPr txBox="1"/>
          <p:nvPr/>
        </p:nvSpPr>
        <p:spPr>
          <a:xfrm>
            <a:off x="114300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30 min</a:t>
            </a:r>
            <a:endParaRPr lang="en-US" sz="1200" dirty="0"/>
          </a:p>
        </p:txBody>
      </p:sp>
      <p:pic>
        <p:nvPicPr>
          <p:cNvPr id="16" name="Image 3" descr="/private/tmp/claude-501/-Users-salehhamed-Outcome-Engine/91861432-41e2-4884-bc97-63c6dff2d021/scratchpad/wk/icons/TbUsers-grey.png">    </p:cNvPr>
          <p:cNvPicPr>
            <a:picLocks noChangeAspect="1"/>
          </p:cNvPicPr>
          <p:nvPr/>
        </p:nvPicPr>
        <p:blipFill>
          <a:blip r:embed="rId6"/>
          <a:stretch>
            <a:fillRect/>
          </a:stretch>
        </p:blipFill>
        <p:spPr>
          <a:xfrm>
            <a:off x="777240" y="4681728"/>
            <a:ext cx="274320" cy="274320"/>
          </a:xfrm>
          <a:prstGeom prst="rect">
            <a:avLst/>
          </a:prstGeom>
        </p:spPr>
      </p:pic>
      <p:sp>
        <p:nvSpPr>
          <p:cNvPr id="17" name="Text 11"/>
          <p:cNvSpPr txBox="1"/>
          <p:nvPr/>
        </p:nvSpPr>
        <p:spPr>
          <a:xfrm>
            <a:off x="114300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Each person</a:t>
            </a:r>
            <a:endParaRPr lang="en-US" sz="1200" dirty="0"/>
          </a:p>
        </p:txBody>
      </p:sp>
      <p:pic>
        <p:nvPicPr>
          <p:cNvPr id="18" name="Image 4" descr="/private/tmp/claude-501/-Users-salehhamed-Outcome-Engine/91861432-41e2-4884-bc97-63c6dff2d021/scratchpad/wk/icons/TbGauge-grey.png">    </p:cNvPr>
          <p:cNvPicPr>
            <a:picLocks noChangeAspect="1"/>
          </p:cNvPicPr>
          <p:nvPr/>
        </p:nvPicPr>
        <p:blipFill>
          <a:blip r:embed="rId7"/>
          <a:stretch>
            <a:fillRect/>
          </a:stretch>
        </p:blipFill>
        <p:spPr>
          <a:xfrm>
            <a:off x="777240" y="5065776"/>
            <a:ext cx="274320" cy="274320"/>
          </a:xfrm>
          <a:prstGeom prst="rect">
            <a:avLst/>
          </a:prstGeom>
        </p:spPr>
      </p:pic>
      <p:sp>
        <p:nvSpPr>
          <p:cNvPr id="19" name="Text 12"/>
          <p:cNvSpPr txBox="1"/>
          <p:nvPr/>
        </p:nvSpPr>
        <p:spPr>
          <a:xfrm>
            <a:off x="114300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Calm energy</a:t>
            </a:r>
            <a:endParaRPr lang="en-US" sz="1200" dirty="0"/>
          </a:p>
        </p:txBody>
      </p:sp>
      <p:sp>
        <p:nvSpPr>
          <p:cNvPr id="20" name="Text 13"/>
          <p:cNvSpPr txBox="1"/>
          <p:nvPr/>
        </p:nvSpPr>
        <p:spPr>
          <a:xfrm>
            <a:off x="77724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build team has changes to show before 09:00.</a:t>
            </a:r>
            <a:endParaRPr lang="en-US" sz="1150" dirty="0"/>
          </a:p>
        </p:txBody>
      </p:sp>
      <p:pic>
        <p:nvPicPr>
          <p:cNvPr id="21" name="Image 5" descr="/private/tmp/claude-501/-Users-salehhamed-Outcome-Engine/91861432-41e2-4884-bc97-63c6dff2d021/scratchpad/wk/brand/clear.png">
            <a:hlinkClick r:id="rId9" tooltip="Option A" action="ppaction://hlinksldjump"/>
          </p:cNvPr>
          <p:cNvPicPr>
            <a:picLocks noChangeAspect="1"/>
          </p:cNvPicPr>
          <p:nvPr/>
        </p:nvPicPr>
        <p:blipFill>
          <a:blip r:embed="rId8"/>
          <a:stretch>
            <a:fillRect/>
          </a:stretch>
        </p:blipFill>
        <p:spPr>
          <a:xfrm>
            <a:off x="548640" y="1463040"/>
            <a:ext cx="3566160" cy="4663440"/>
          </a:xfrm>
          <a:prstGeom prst="rect">
            <a:avLst/>
          </a:prstGeom>
        </p:spPr>
      </p:pic>
      <p:sp>
        <p:nvSpPr>
          <p:cNvPr id="22" name="Shape 14"/>
          <p:cNvSpPr/>
          <p:nvPr/>
        </p:nvSpPr>
        <p:spPr>
          <a:xfrm>
            <a:off x="4297680" y="1463040"/>
            <a:ext cx="3566160" cy="4663440"/>
          </a:xfrm>
          <a:prstGeom prst="roundRect">
            <a:avLst>
              <a:gd name="adj" fmla="val 2051"/>
            </a:avLst>
          </a:prstGeom>
          <a:solidFill>
            <a:srgbClr val="FFFFFF"/>
          </a:solidFill>
          <a:ln w="12700">
            <a:solidFill>
              <a:srgbClr val="D9DEE2"/>
            </a:solidFill>
            <a:prstDash val="solid"/>
          </a:ln>
        </p:spPr>
      </p:sp>
      <p:sp>
        <p:nvSpPr>
          <p:cNvPr id="23" name="Shape 15"/>
          <p:cNvSpPr/>
          <p:nvPr/>
        </p:nvSpPr>
        <p:spPr>
          <a:xfrm>
            <a:off x="4297680" y="1463040"/>
            <a:ext cx="3566160" cy="566928"/>
          </a:xfrm>
          <a:prstGeom prst="roundRect">
            <a:avLst>
              <a:gd name="adj" fmla="val 12903"/>
            </a:avLst>
          </a:prstGeom>
          <a:solidFill>
            <a:srgbClr val="FF462D"/>
          </a:solidFill>
          <a:ln/>
        </p:spPr>
      </p:sp>
      <p:sp>
        <p:nvSpPr>
          <p:cNvPr id="24" name="Shape 16"/>
          <p:cNvSpPr/>
          <p:nvPr/>
        </p:nvSpPr>
        <p:spPr>
          <a:xfrm>
            <a:off x="4297680" y="1828800"/>
            <a:ext cx="3566160" cy="201168"/>
          </a:xfrm>
          <a:prstGeom prst="rect">
            <a:avLst/>
          </a:prstGeom>
          <a:solidFill>
            <a:srgbClr val="FF462D"/>
          </a:solidFill>
          <a:ln/>
        </p:spPr>
      </p:sp>
      <p:pic>
        <p:nvPicPr>
          <p:cNvPr id="25" name="Image 6" descr="/private/tmp/claude-501/-Users-salehhamed-Outcome-Engine/91861432-41e2-4884-bc97-63c6dff2d021/scratchpad/wk/icons/TbDeviceMobile-white.png">    </p:cNvPr>
          <p:cNvPicPr>
            <a:picLocks noChangeAspect="1"/>
          </p:cNvPicPr>
          <p:nvPr/>
        </p:nvPicPr>
        <p:blipFill>
          <a:blip r:embed="rId10"/>
          <a:stretch>
            <a:fillRect/>
          </a:stretch>
        </p:blipFill>
        <p:spPr>
          <a:xfrm>
            <a:off x="4462272" y="1554480"/>
            <a:ext cx="384048" cy="384048"/>
          </a:xfrm>
          <a:prstGeom prst="rect">
            <a:avLst/>
          </a:prstGeom>
        </p:spPr>
      </p:pic>
      <p:sp>
        <p:nvSpPr>
          <p:cNvPr id="26" name="Text 17"/>
          <p:cNvSpPr txBox="1"/>
          <p:nvPr/>
        </p:nvSpPr>
        <p:spPr>
          <a:xfrm>
            <a:off x="495604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B · LIVE VOTING</a:t>
            </a:r>
            <a:endParaRPr lang="en-US" sz="1150" dirty="0"/>
          </a:p>
        </p:txBody>
      </p:sp>
      <p:sp>
        <p:nvSpPr>
          <p:cNvPr id="27" name="Text 18"/>
          <p:cNvSpPr txBox="1"/>
          <p:nvPr/>
        </p:nvSpPr>
        <p:spPr>
          <a:xfrm>
            <a:off x="452628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Rejoin and remember</a:t>
            </a:r>
            <a:endParaRPr lang="en-US" sz="2100" dirty="0"/>
          </a:p>
        </p:txBody>
      </p:sp>
      <p:sp>
        <p:nvSpPr>
          <p:cNvPr id="28" name="Text 19"/>
          <p:cNvSpPr txBox="1"/>
          <p:nvPr/>
        </p:nvSpPr>
        <p:spPr>
          <a:xfrm>
            <a:off x="452628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Rejoin on phones and add one thing you remember from yesterday to the room's word cloud.</a:t>
            </a:r>
            <a:endParaRPr lang="en-US" sz="1400" dirty="0"/>
          </a:p>
        </p:txBody>
      </p:sp>
      <p:pic>
        <p:nvPicPr>
          <p:cNvPr id="29" name="Image 7" descr="/private/tmp/claude-501/-Users-salehhamed-Outcome-Engine/91861432-41e2-4884-bc97-63c6dff2d021/scratchpad/wk/icons/TbClock-grey.png">    </p:cNvPr>
          <p:cNvPicPr>
            <a:picLocks noChangeAspect="1"/>
          </p:cNvPicPr>
          <p:nvPr/>
        </p:nvPicPr>
        <p:blipFill>
          <a:blip r:embed="rId11"/>
          <a:stretch>
            <a:fillRect/>
          </a:stretch>
        </p:blipFill>
        <p:spPr>
          <a:xfrm>
            <a:off x="4526280" y="4297680"/>
            <a:ext cx="274320" cy="274320"/>
          </a:xfrm>
          <a:prstGeom prst="rect">
            <a:avLst/>
          </a:prstGeom>
        </p:spPr>
      </p:pic>
      <p:sp>
        <p:nvSpPr>
          <p:cNvPr id="30" name="Text 20"/>
          <p:cNvSpPr txBox="1"/>
          <p:nvPr/>
        </p:nvSpPr>
        <p:spPr>
          <a:xfrm>
            <a:off x="489204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30 min</a:t>
            </a:r>
            <a:endParaRPr lang="en-US" sz="1200" dirty="0"/>
          </a:p>
        </p:txBody>
      </p:sp>
      <p:pic>
        <p:nvPicPr>
          <p:cNvPr id="31" name="Image 8" descr="/private/tmp/claude-501/-Users-salehhamed-Outcome-Engine/91861432-41e2-4884-bc97-63c6dff2d021/scratchpad/wk/icons/TbUsers-grey.png">    </p:cNvPr>
          <p:cNvPicPr>
            <a:picLocks noChangeAspect="1"/>
          </p:cNvPicPr>
          <p:nvPr/>
        </p:nvPicPr>
        <p:blipFill>
          <a:blip r:embed="rId12"/>
          <a:stretch>
            <a:fillRect/>
          </a:stretch>
        </p:blipFill>
        <p:spPr>
          <a:xfrm>
            <a:off x="4526280" y="4681728"/>
            <a:ext cx="274320" cy="274320"/>
          </a:xfrm>
          <a:prstGeom prst="rect">
            <a:avLst/>
          </a:prstGeom>
        </p:spPr>
      </p:pic>
      <p:sp>
        <p:nvSpPr>
          <p:cNvPr id="32" name="Text 21"/>
          <p:cNvSpPr txBox="1"/>
          <p:nvPr/>
        </p:nvSpPr>
        <p:spPr>
          <a:xfrm>
            <a:off x="489204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Each person</a:t>
            </a:r>
            <a:endParaRPr lang="en-US" sz="1200" dirty="0"/>
          </a:p>
        </p:txBody>
      </p:sp>
      <p:pic>
        <p:nvPicPr>
          <p:cNvPr id="33" name="Image 9" descr="/private/tmp/claude-501/-Users-salehhamed-Outcome-Engine/91861432-41e2-4884-bc97-63c6dff2d021/scratchpad/wk/icons/TbGauge-grey.png">    </p:cNvPr>
          <p:cNvPicPr>
            <a:picLocks noChangeAspect="1"/>
          </p:cNvPicPr>
          <p:nvPr/>
        </p:nvPicPr>
        <p:blipFill>
          <a:blip r:embed="rId13"/>
          <a:stretch>
            <a:fillRect/>
          </a:stretch>
        </p:blipFill>
        <p:spPr>
          <a:xfrm>
            <a:off x="4526280" y="5065776"/>
            <a:ext cx="274320" cy="274320"/>
          </a:xfrm>
          <a:prstGeom prst="rect">
            <a:avLst/>
          </a:prstGeom>
        </p:spPr>
      </p:pic>
      <p:sp>
        <p:nvSpPr>
          <p:cNvPr id="34" name="Text 22"/>
          <p:cNvSpPr txBox="1"/>
          <p:nvPr/>
        </p:nvSpPr>
        <p:spPr>
          <a:xfrm>
            <a:off x="489204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Calm energy</a:t>
            </a:r>
            <a:endParaRPr lang="en-US" sz="1200" dirty="0"/>
          </a:p>
        </p:txBody>
      </p:sp>
      <p:sp>
        <p:nvSpPr>
          <p:cNvPr id="35" name="Text 23"/>
          <p:cNvSpPr txBox="1"/>
          <p:nvPr/>
        </p:nvSpPr>
        <p:spPr>
          <a:xfrm>
            <a:off x="452628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room tool is in use.</a:t>
            </a:r>
            <a:endParaRPr lang="en-US" sz="1150" dirty="0"/>
          </a:p>
        </p:txBody>
      </p:sp>
      <p:pic>
        <p:nvPicPr>
          <p:cNvPr id="36" name="Image 10" descr="/private/tmp/claude-501/-Users-salehhamed-Outcome-Engine/91861432-41e2-4884-bc97-63c6dff2d021/scratchpad/wk/brand/clear.png">
            <a:hlinkClick r:id="rId15" tooltip="Option B" action="ppaction://hlinksldjump"/>
          </p:cNvPr>
          <p:cNvPicPr>
            <a:picLocks noChangeAspect="1"/>
          </p:cNvPicPr>
          <p:nvPr/>
        </p:nvPicPr>
        <p:blipFill>
          <a:blip r:embed="rId14"/>
          <a:stretch>
            <a:fillRect/>
          </a:stretch>
        </p:blipFill>
        <p:spPr>
          <a:xfrm>
            <a:off x="4297680" y="1463040"/>
            <a:ext cx="3566160" cy="4663440"/>
          </a:xfrm>
          <a:prstGeom prst="rect">
            <a:avLst/>
          </a:prstGeom>
        </p:spPr>
      </p:pic>
      <p:sp>
        <p:nvSpPr>
          <p:cNvPr id="37" name="Shape 24"/>
          <p:cNvSpPr/>
          <p:nvPr/>
        </p:nvSpPr>
        <p:spPr>
          <a:xfrm>
            <a:off x="8046720" y="1463040"/>
            <a:ext cx="3566160" cy="4663440"/>
          </a:xfrm>
          <a:prstGeom prst="roundRect">
            <a:avLst>
              <a:gd name="adj" fmla="val 2051"/>
            </a:avLst>
          </a:prstGeom>
          <a:solidFill>
            <a:srgbClr val="FFFFFF"/>
          </a:solidFill>
          <a:ln w="12700">
            <a:solidFill>
              <a:srgbClr val="D9DEE2"/>
            </a:solidFill>
            <a:prstDash val="solid"/>
          </a:ln>
        </p:spPr>
      </p:sp>
      <p:sp>
        <p:nvSpPr>
          <p:cNvPr id="38" name="Shape 25"/>
          <p:cNvSpPr/>
          <p:nvPr/>
        </p:nvSpPr>
        <p:spPr>
          <a:xfrm>
            <a:off x="8046720" y="1463040"/>
            <a:ext cx="3566160" cy="566928"/>
          </a:xfrm>
          <a:prstGeom prst="roundRect">
            <a:avLst>
              <a:gd name="adj" fmla="val 12903"/>
            </a:avLst>
          </a:prstGeom>
          <a:solidFill>
            <a:srgbClr val="36454F"/>
          </a:solidFill>
          <a:ln/>
        </p:spPr>
      </p:sp>
      <p:sp>
        <p:nvSpPr>
          <p:cNvPr id="39" name="Shape 26"/>
          <p:cNvSpPr/>
          <p:nvPr/>
        </p:nvSpPr>
        <p:spPr>
          <a:xfrm>
            <a:off x="8046720" y="1828800"/>
            <a:ext cx="3566160" cy="201168"/>
          </a:xfrm>
          <a:prstGeom prst="rect">
            <a:avLst/>
          </a:prstGeom>
          <a:solidFill>
            <a:srgbClr val="36454F"/>
          </a:solidFill>
          <a:ln/>
        </p:spPr>
      </p:sp>
      <p:pic>
        <p:nvPicPr>
          <p:cNvPr id="40" name="Image 11" descr="/private/tmp/claude-501/-Users-salehhamed-Outcome-Engine/91861432-41e2-4884-bc97-63c6dff2d021/scratchpad/wk/icons/TbMasksTheater-white.png">    </p:cNvPr>
          <p:cNvPicPr>
            <a:picLocks noChangeAspect="1"/>
          </p:cNvPicPr>
          <p:nvPr/>
        </p:nvPicPr>
        <p:blipFill>
          <a:blip r:embed="rId16"/>
          <a:stretch>
            <a:fillRect/>
          </a:stretch>
        </p:blipFill>
        <p:spPr>
          <a:xfrm>
            <a:off x="8211312" y="1554480"/>
            <a:ext cx="384048" cy="384048"/>
          </a:xfrm>
          <a:prstGeom prst="rect">
            <a:avLst/>
          </a:prstGeom>
        </p:spPr>
      </p:pic>
      <p:sp>
        <p:nvSpPr>
          <p:cNvPr id="41" name="Text 27"/>
          <p:cNvSpPr txBox="1"/>
          <p:nvPr/>
        </p:nvSpPr>
        <p:spPr>
          <a:xfrm>
            <a:off x="870508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C · CASES AND CONVERSATION</a:t>
            </a:r>
            <a:endParaRPr lang="en-US" sz="1150" dirty="0"/>
          </a:p>
        </p:txBody>
      </p:sp>
      <p:sp>
        <p:nvSpPr>
          <p:cNvPr id="42" name="Text 28"/>
          <p:cNvSpPr txBox="1"/>
          <p:nvPr/>
        </p:nvSpPr>
        <p:spPr>
          <a:xfrm>
            <a:off x="827532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Seat check</a:t>
            </a:r>
            <a:endParaRPr lang="en-US" sz="2100" dirty="0"/>
          </a:p>
        </p:txBody>
      </p:sp>
      <p:sp>
        <p:nvSpPr>
          <p:cNvPr id="43" name="Text 29"/>
          <p:cNvSpPr txBox="1"/>
          <p:nvPr/>
        </p:nvSpPr>
        <p:spPr>
          <a:xfrm>
            <a:off x="827532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Decision owners find their seat card, read their decision and meet their backup.</a:t>
            </a:r>
            <a:endParaRPr lang="en-US" sz="1400" dirty="0"/>
          </a:p>
        </p:txBody>
      </p:sp>
      <p:pic>
        <p:nvPicPr>
          <p:cNvPr id="44" name="Image 12" descr="/private/tmp/claude-501/-Users-salehhamed-Outcome-Engine/91861432-41e2-4884-bc97-63c6dff2d021/scratchpad/wk/icons/TbClock-grey.png">    </p:cNvPr>
          <p:cNvPicPr>
            <a:picLocks noChangeAspect="1"/>
          </p:cNvPicPr>
          <p:nvPr/>
        </p:nvPicPr>
        <p:blipFill>
          <a:blip r:embed="rId17"/>
          <a:stretch>
            <a:fillRect/>
          </a:stretch>
        </p:blipFill>
        <p:spPr>
          <a:xfrm>
            <a:off x="8275320" y="4297680"/>
            <a:ext cx="274320" cy="274320"/>
          </a:xfrm>
          <a:prstGeom prst="rect">
            <a:avLst/>
          </a:prstGeom>
        </p:spPr>
      </p:pic>
      <p:sp>
        <p:nvSpPr>
          <p:cNvPr id="45" name="Text 30"/>
          <p:cNvSpPr txBox="1"/>
          <p:nvPr/>
        </p:nvSpPr>
        <p:spPr>
          <a:xfrm>
            <a:off x="864108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30 min</a:t>
            </a:r>
            <a:endParaRPr lang="en-US" sz="1200" dirty="0"/>
          </a:p>
        </p:txBody>
      </p:sp>
      <p:pic>
        <p:nvPicPr>
          <p:cNvPr id="46" name="Image 13" descr="/private/tmp/claude-501/-Users-salehhamed-Outcome-Engine/91861432-41e2-4884-bc97-63c6dff2d021/scratchpad/wk/icons/TbUsers-grey.png">    </p:cNvPr>
          <p:cNvPicPr>
            <a:picLocks noChangeAspect="1"/>
          </p:cNvPicPr>
          <p:nvPr/>
        </p:nvPicPr>
        <p:blipFill>
          <a:blip r:embed="rId18"/>
          <a:stretch>
            <a:fillRect/>
          </a:stretch>
        </p:blipFill>
        <p:spPr>
          <a:xfrm>
            <a:off x="8275320" y="4681728"/>
            <a:ext cx="274320" cy="274320"/>
          </a:xfrm>
          <a:prstGeom prst="rect">
            <a:avLst/>
          </a:prstGeom>
        </p:spPr>
      </p:pic>
      <p:sp>
        <p:nvSpPr>
          <p:cNvPr id="47" name="Text 31"/>
          <p:cNvSpPr txBox="1"/>
          <p:nvPr/>
        </p:nvSpPr>
        <p:spPr>
          <a:xfrm>
            <a:off x="864108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Decision owners</a:t>
            </a:r>
            <a:endParaRPr lang="en-US" sz="1200" dirty="0"/>
          </a:p>
        </p:txBody>
      </p:sp>
      <p:pic>
        <p:nvPicPr>
          <p:cNvPr id="48" name="Image 14" descr="/private/tmp/claude-501/-Users-salehhamed-Outcome-Engine/91861432-41e2-4884-bc97-63c6dff2d021/scratchpad/wk/icons/TbGauge-grey.png">    </p:cNvPr>
          <p:cNvPicPr>
            <a:picLocks noChangeAspect="1"/>
          </p:cNvPicPr>
          <p:nvPr/>
        </p:nvPicPr>
        <p:blipFill>
          <a:blip r:embed="rId19"/>
          <a:stretch>
            <a:fillRect/>
          </a:stretch>
        </p:blipFill>
        <p:spPr>
          <a:xfrm>
            <a:off x="8275320" y="5065776"/>
            <a:ext cx="274320" cy="274320"/>
          </a:xfrm>
          <a:prstGeom prst="rect">
            <a:avLst/>
          </a:prstGeom>
        </p:spPr>
      </p:pic>
      <p:sp>
        <p:nvSpPr>
          <p:cNvPr id="49" name="Text 32"/>
          <p:cNvSpPr txBox="1"/>
          <p:nvPr/>
        </p:nvSpPr>
        <p:spPr>
          <a:xfrm>
            <a:off x="864108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Calm energy</a:t>
            </a:r>
            <a:endParaRPr lang="en-US" sz="1200" dirty="0"/>
          </a:p>
        </p:txBody>
      </p:sp>
      <p:sp>
        <p:nvSpPr>
          <p:cNvPr id="50" name="Text 33"/>
          <p:cNvSpPr txBox="1"/>
          <p:nvPr/>
        </p:nvSpPr>
        <p:spPr>
          <a:xfrm>
            <a:off x="827532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Several people are new today.</a:t>
            </a:r>
            <a:endParaRPr lang="en-US" sz="1150" dirty="0"/>
          </a:p>
        </p:txBody>
      </p:sp>
      <p:pic>
        <p:nvPicPr>
          <p:cNvPr id="51" name="Image 15" descr="/private/tmp/claude-501/-Users-salehhamed-Outcome-Engine/91861432-41e2-4884-bc97-63c6dff2d021/scratchpad/wk/brand/clear.png">
            <a:hlinkClick r:id="rId21" tooltip="Option C" action="ppaction://hlinksldjump"/>
          </p:cNvPr>
          <p:cNvPicPr>
            <a:picLocks noChangeAspect="1"/>
          </p:cNvPicPr>
          <p:nvPr/>
        </p:nvPicPr>
        <p:blipFill>
          <a:blip r:embed="rId20"/>
          <a:stretch>
            <a:fillRect/>
          </a:stretch>
        </p:blipFill>
        <p:spPr>
          <a:xfrm>
            <a:off x="8046720" y="1463040"/>
            <a:ext cx="3566160" cy="4663440"/>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name="Slide 1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OPTION A · HANDS-ON · ARRIVAL</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Overnight wall</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08:30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124</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The build team posts what changed overnight; people mark anything unclear.</a:t>
            </a:r>
            <a:endParaRPr lang="en-US" sz="1900" dirty="0"/>
          </a:p>
        </p:txBody>
      </p:sp>
      <p:sp>
        <p:nvSpPr>
          <p:cNvPr id="8" name="Shape 5"/>
          <p:cNvSpPr/>
          <p:nvPr/>
        </p:nvSpPr>
        <p:spPr>
          <a:xfrm>
            <a:off x="548640" y="2240280"/>
            <a:ext cx="9208770" cy="1417320"/>
          </a:xfrm>
          <a:prstGeom prst="rect">
            <a:avLst/>
          </a:prstGeom>
          <a:solidFill>
            <a:srgbClr val="287079"/>
          </a:solidFill>
          <a:ln/>
        </p:spPr>
      </p:sp>
      <p:sp>
        <p:nvSpPr>
          <p:cNvPr id="9" name="Text 6"/>
          <p:cNvSpPr txBox="1"/>
          <p:nvPr/>
        </p:nvSpPr>
        <p:spPr>
          <a:xfrm>
            <a:off x="640080" y="2331720"/>
            <a:ext cx="9062466"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25 min</a:t>
            </a:r>
            <a:endParaRPr lang="en-US" sz="1150" dirty="0"/>
          </a:p>
        </p:txBody>
      </p:sp>
      <p:sp>
        <p:nvSpPr>
          <p:cNvPr id="10" name="Text 7"/>
          <p:cNvSpPr txBox="1"/>
          <p:nvPr/>
        </p:nvSpPr>
        <p:spPr>
          <a:xfrm>
            <a:off x="640080" y="2651760"/>
            <a:ext cx="9099042"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Read the wall</a:t>
            </a:r>
            <a:endParaRPr lang="en-US" sz="1500" dirty="0"/>
          </a:p>
        </p:txBody>
      </p:sp>
      <p:sp>
        <p:nvSpPr>
          <p:cNvPr id="11" name="Shape 8"/>
          <p:cNvSpPr/>
          <p:nvPr/>
        </p:nvSpPr>
        <p:spPr>
          <a:xfrm>
            <a:off x="9793986" y="2240280"/>
            <a:ext cx="1812493" cy="1417320"/>
          </a:xfrm>
          <a:prstGeom prst="rect">
            <a:avLst/>
          </a:prstGeom>
          <a:solidFill>
            <a:srgbClr val="5C8F95"/>
          </a:solidFill>
          <a:ln/>
        </p:spPr>
      </p:sp>
      <p:sp>
        <p:nvSpPr>
          <p:cNvPr id="12" name="Text 9"/>
          <p:cNvSpPr txBox="1"/>
          <p:nvPr/>
        </p:nvSpPr>
        <p:spPr>
          <a:xfrm>
            <a:off x="9885426"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3" name="Text 10"/>
          <p:cNvSpPr txBox="1"/>
          <p:nvPr/>
        </p:nvSpPr>
        <p:spPr>
          <a:xfrm>
            <a:off x="9885426"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Collect questions</a:t>
            </a:r>
            <a:endParaRPr lang="en-US" sz="1500" dirty="0"/>
          </a:p>
        </p:txBody>
      </p:sp>
      <p:sp>
        <p:nvSpPr>
          <p:cNvPr id="14" name="Shape 11"/>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5"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6" name="Text 12"/>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17" name="Text 13"/>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Each person</a:t>
            </a:r>
            <a:endParaRPr lang="en-US" sz="1300" dirty="0"/>
          </a:p>
        </p:txBody>
      </p:sp>
      <p:sp>
        <p:nvSpPr>
          <p:cNvPr id="18" name="Shape 14"/>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19"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0" name="Text 15"/>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1" name="Text 16"/>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Questions for 09:00.</a:t>
            </a:r>
            <a:endParaRPr lang="en-US" sz="1300" dirty="0"/>
          </a:p>
        </p:txBody>
      </p:sp>
      <p:sp>
        <p:nvSpPr>
          <p:cNvPr id="22" name="Shape 17"/>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3"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24" name="Text 18"/>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25" name="Text 19"/>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0">
  <p:cSld name="Slide 1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FF462D"/>
                </a:solidFill>
                <a:latin typeface="Arial" pitchFamily="34" charset="0"/>
                <a:ea typeface="Arial" pitchFamily="34" charset="-122"/>
                <a:cs typeface="Arial" pitchFamily="34" charset="-120"/>
              </a:rPr>
              <a:t>OPTION B · LIVE VOTING · ARRIVAL</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Rejoin and remember</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08:30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125</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Rejoin on phones and add one thing you remember from yesterday to the room's word cloud.</a:t>
            </a:r>
            <a:endParaRPr lang="en-US" sz="1900" dirty="0"/>
          </a:p>
        </p:txBody>
      </p:sp>
      <p:sp>
        <p:nvSpPr>
          <p:cNvPr id="8" name="Shape 5"/>
          <p:cNvSpPr/>
          <p:nvPr/>
        </p:nvSpPr>
        <p:spPr>
          <a:xfrm>
            <a:off x="548640" y="2240280"/>
            <a:ext cx="9208770" cy="1417320"/>
          </a:xfrm>
          <a:prstGeom prst="rect">
            <a:avLst/>
          </a:prstGeom>
          <a:solidFill>
            <a:srgbClr val="FF462D"/>
          </a:solidFill>
          <a:ln/>
        </p:spPr>
      </p:sp>
      <p:sp>
        <p:nvSpPr>
          <p:cNvPr id="9" name="Text 6"/>
          <p:cNvSpPr txBox="1"/>
          <p:nvPr/>
        </p:nvSpPr>
        <p:spPr>
          <a:xfrm>
            <a:off x="640080" y="2331720"/>
            <a:ext cx="9062466"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25 min</a:t>
            </a:r>
            <a:endParaRPr lang="en-US" sz="1150" dirty="0"/>
          </a:p>
        </p:txBody>
      </p:sp>
      <p:sp>
        <p:nvSpPr>
          <p:cNvPr id="10" name="Text 7"/>
          <p:cNvSpPr txBox="1"/>
          <p:nvPr/>
        </p:nvSpPr>
        <p:spPr>
          <a:xfrm>
            <a:off x="640080" y="2651760"/>
            <a:ext cx="9099042"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Rejoin and remember</a:t>
            </a:r>
            <a:endParaRPr lang="en-US" sz="1500" dirty="0"/>
          </a:p>
        </p:txBody>
      </p:sp>
      <p:sp>
        <p:nvSpPr>
          <p:cNvPr id="11" name="Shape 8"/>
          <p:cNvSpPr/>
          <p:nvPr/>
        </p:nvSpPr>
        <p:spPr>
          <a:xfrm>
            <a:off x="9793986" y="2240280"/>
            <a:ext cx="1812493" cy="1417320"/>
          </a:xfrm>
          <a:prstGeom prst="rect">
            <a:avLst/>
          </a:prstGeom>
          <a:solidFill>
            <a:srgbClr val="FF8A78"/>
          </a:solidFill>
          <a:ln/>
        </p:spPr>
      </p:sp>
      <p:sp>
        <p:nvSpPr>
          <p:cNvPr id="12" name="Text 9"/>
          <p:cNvSpPr txBox="1"/>
          <p:nvPr/>
        </p:nvSpPr>
        <p:spPr>
          <a:xfrm>
            <a:off x="9885426"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3" name="Text 10"/>
          <p:cNvSpPr txBox="1"/>
          <p:nvPr/>
        </p:nvSpPr>
        <p:spPr>
          <a:xfrm>
            <a:off x="9885426"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Read the cloud</a:t>
            </a:r>
            <a:endParaRPr lang="en-US" sz="1500" dirty="0"/>
          </a:p>
        </p:txBody>
      </p:sp>
      <p:sp>
        <p:nvSpPr>
          <p:cNvPr id="14" name="Shape 11"/>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5"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6" name="Text 12"/>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17" name="Text 13"/>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Each person</a:t>
            </a:r>
            <a:endParaRPr lang="en-US" sz="1300" dirty="0"/>
          </a:p>
        </p:txBody>
      </p:sp>
      <p:sp>
        <p:nvSpPr>
          <p:cNvPr id="18" name="Shape 14"/>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19"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0" name="Text 15"/>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1" name="Text 16"/>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The cloud shows what the room remembers, and what to repeat at 09:00.</a:t>
            </a:r>
            <a:endParaRPr lang="en-US" sz="1300" dirty="0"/>
          </a:p>
        </p:txBody>
      </p:sp>
      <p:sp>
        <p:nvSpPr>
          <p:cNvPr id="22" name="Shape 17"/>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23"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24" name="Text 18"/>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25" name="Text 19"/>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36454F"/>
                </a:solidFill>
                <a:latin typeface="Arial" pitchFamily="34" charset="0"/>
                <a:ea typeface="Arial" pitchFamily="34" charset="-122"/>
                <a:cs typeface="Arial" pitchFamily="34" charset="-120"/>
              </a:rPr>
              <a:t>OPTION C · CASES AND CONVERSATION · ARRIVAL</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Seat check</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08:30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126</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Decision owners find their seat card, read their decision and meet their backup.</a:t>
            </a:r>
            <a:endParaRPr lang="en-US" sz="1900" dirty="0"/>
          </a:p>
        </p:txBody>
      </p:sp>
      <p:sp>
        <p:nvSpPr>
          <p:cNvPr id="8" name="Shape 5"/>
          <p:cNvSpPr/>
          <p:nvPr/>
        </p:nvSpPr>
        <p:spPr>
          <a:xfrm>
            <a:off x="548640" y="2240280"/>
            <a:ext cx="9208770" cy="1417320"/>
          </a:xfrm>
          <a:prstGeom prst="rect">
            <a:avLst/>
          </a:prstGeom>
          <a:solidFill>
            <a:srgbClr val="36454F"/>
          </a:solidFill>
          <a:ln/>
        </p:spPr>
      </p:sp>
      <p:sp>
        <p:nvSpPr>
          <p:cNvPr id="9" name="Text 6"/>
          <p:cNvSpPr txBox="1"/>
          <p:nvPr/>
        </p:nvSpPr>
        <p:spPr>
          <a:xfrm>
            <a:off x="640080" y="2331720"/>
            <a:ext cx="9062466"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25 min</a:t>
            </a:r>
            <a:endParaRPr lang="en-US" sz="1150" dirty="0"/>
          </a:p>
        </p:txBody>
      </p:sp>
      <p:sp>
        <p:nvSpPr>
          <p:cNvPr id="10" name="Text 7"/>
          <p:cNvSpPr txBox="1"/>
          <p:nvPr/>
        </p:nvSpPr>
        <p:spPr>
          <a:xfrm>
            <a:off x="640080" y="2651760"/>
            <a:ext cx="9099042"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Find your seat</a:t>
            </a:r>
            <a:endParaRPr lang="en-US" sz="1500" dirty="0"/>
          </a:p>
        </p:txBody>
      </p:sp>
      <p:sp>
        <p:nvSpPr>
          <p:cNvPr id="11" name="Shape 8"/>
          <p:cNvSpPr/>
          <p:nvPr/>
        </p:nvSpPr>
        <p:spPr>
          <a:xfrm>
            <a:off x="9793986" y="2240280"/>
            <a:ext cx="1812493" cy="1417320"/>
          </a:xfrm>
          <a:prstGeom prst="rect">
            <a:avLst/>
          </a:prstGeom>
          <a:solidFill>
            <a:srgbClr val="6B7B86"/>
          </a:solidFill>
          <a:ln/>
        </p:spPr>
      </p:sp>
      <p:sp>
        <p:nvSpPr>
          <p:cNvPr id="12" name="Text 9"/>
          <p:cNvSpPr txBox="1"/>
          <p:nvPr/>
        </p:nvSpPr>
        <p:spPr>
          <a:xfrm>
            <a:off x="9885426"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3" name="Text 10"/>
          <p:cNvSpPr txBox="1"/>
          <p:nvPr/>
        </p:nvSpPr>
        <p:spPr>
          <a:xfrm>
            <a:off x="9885426"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Fill empty seats</a:t>
            </a:r>
            <a:endParaRPr lang="en-US" sz="1500" dirty="0"/>
          </a:p>
        </p:txBody>
      </p:sp>
      <p:sp>
        <p:nvSpPr>
          <p:cNvPr id="14" name="Shape 11"/>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5"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6" name="Text 12"/>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17" name="Text 13"/>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Decision owners</a:t>
            </a:r>
            <a:endParaRPr lang="en-US" sz="1300" dirty="0"/>
          </a:p>
        </p:txBody>
      </p:sp>
      <p:sp>
        <p:nvSpPr>
          <p:cNvPr id="18" name="Shape 14"/>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19"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0" name="Text 15"/>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1" name="Text 16"/>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Seats confirmed.</a:t>
            </a:r>
            <a:endParaRPr lang="en-US" sz="1300" dirty="0"/>
          </a:p>
        </p:txBody>
      </p:sp>
      <p:sp>
        <p:nvSpPr>
          <p:cNvPr id="22" name="Shape 17"/>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3"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24" name="Text 18"/>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25" name="Text 19"/>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36454F"/>
          </a:solidFill>
          <a:ln/>
        </p:spPr>
      </p:sp>
      <p:sp>
        <p:nvSpPr>
          <p:cNvPr id="3" name="Text 1"/>
          <p:cNvSpPr txBox="1"/>
          <p:nvPr/>
        </p:nvSpPr>
        <p:spPr>
          <a:xfrm>
            <a:off x="548640" y="548640"/>
            <a:ext cx="3474720" cy="274320"/>
          </a:xfrm>
          <a:prstGeom prst="rect">
            <a:avLst/>
          </a:prstGeom>
          <a:noFill/>
          <a:ln/>
        </p:spPr>
        <p:txBody>
          <a:bodyPr wrap="square" lIns="0" tIns="0" rIns="0" bIns="0" rtlCol="0" anchor="t"/>
          <a:lstStyle/>
          <a:p>
            <a:pPr indent="0" marL="0">
              <a:buNone/>
            </a:pPr>
            <a:r>
              <a:rPr lang="en-US" sz="1100" b="1" spc="150" kern="0" dirty="0">
                <a:solidFill>
                  <a:srgbClr val="D9DEE2"/>
                </a:solidFill>
                <a:latin typeface="Arial" pitchFamily="34" charset="0"/>
                <a:ea typeface="Arial" pitchFamily="34" charset="-122"/>
                <a:cs typeface="Arial" pitchFamily="34" charset="-120"/>
              </a:rPr>
              <a:t>DAY 2 · 09:00–09:15 · 15 MIN</a:t>
            </a:r>
            <a:endParaRPr lang="en-US" sz="1100" dirty="0"/>
          </a:p>
        </p:txBody>
      </p:sp>
      <p:sp>
        <p:nvSpPr>
          <p:cNvPr id="4" name="Text 2"/>
          <p:cNvSpPr txBox="1"/>
          <p:nvPr/>
        </p:nvSpPr>
        <p:spPr>
          <a:xfrm>
            <a:off x="548640" y="960120"/>
            <a:ext cx="3383280" cy="2377440"/>
          </a:xfrm>
          <a:prstGeom prst="rect">
            <a:avLst/>
          </a:prstGeom>
          <a:noFill/>
          <a:ln/>
        </p:spPr>
        <p:txBody>
          <a:bodyPr wrap="square" lIns="0" tIns="0" rIns="0" bIns="0" rtlCol="0" anchor="t"/>
          <a:lstStyle/>
          <a:p>
            <a:pPr indent="0" marL="0">
              <a:buNone/>
            </a:pPr>
            <a:r>
              <a:rPr lang="en-US" sz="3000" b="1" dirty="0">
                <a:solidFill>
                  <a:srgbClr val="FFFFFF"/>
                </a:solidFill>
                <a:latin typeface="TWK Everett" pitchFamily="34" charset="0"/>
                <a:ea typeface="TWK Everett" pitchFamily="34" charset="-122"/>
                <a:cs typeface="TWK Everett" pitchFamily="34" charset="-120"/>
              </a:rPr>
              <a:t>Recap and build status</a:t>
            </a:r>
            <a:endParaRPr lang="en-US" sz="3000" dirty="0"/>
          </a:p>
        </p:txBody>
      </p:sp>
      <p:pic>
        <p:nvPicPr>
          <p:cNvPr id="5" name="Image 0" descr="/private/tmp/claude-501/-Users-salehhamed-Outcome-Engine/91861432-41e2-4884-bc97-63c6dff2d021/scratchpad/wk/icons/TbRefresh-white.png">    </p:cNvPr>
          <p:cNvPicPr>
            <a:picLocks noChangeAspect="1"/>
          </p:cNvPicPr>
          <p:nvPr/>
        </p:nvPicPr>
        <p:blipFill>
          <a:blip r:embed="rId1"/>
          <a:stretch>
            <a:fillRect/>
          </a:stretch>
        </p:blipFill>
        <p:spPr>
          <a:xfrm>
            <a:off x="548640" y="3200400"/>
            <a:ext cx="685800" cy="685800"/>
          </a:xfrm>
          <a:prstGeom prst="rect">
            <a:avLst/>
          </a:prstGeom>
        </p:spPr>
      </p:pic>
      <p:sp>
        <p:nvSpPr>
          <p:cNvPr id="6" name="Shape 3"/>
          <p:cNvSpPr/>
          <p:nvPr/>
        </p:nvSpPr>
        <p:spPr>
          <a:xfrm>
            <a:off x="548640" y="4169664"/>
            <a:ext cx="237744" cy="237744"/>
          </a:xfrm>
          <a:prstGeom prst="ellipse">
            <a:avLst/>
          </a:prstGeom>
          <a:solidFill>
            <a:srgbClr val="FFFFFF"/>
          </a:solidFill>
          <a:ln/>
        </p:spPr>
      </p:sp>
      <p:sp>
        <p:nvSpPr>
          <p:cNvPr id="7" name="Shape 4"/>
          <p:cNvSpPr/>
          <p:nvPr/>
        </p:nvSpPr>
        <p:spPr>
          <a:xfrm>
            <a:off x="932688" y="4169664"/>
            <a:ext cx="237744" cy="237744"/>
          </a:xfrm>
          <a:prstGeom prst="ellipse">
            <a:avLst/>
          </a:prstGeom>
          <a:solidFill>
            <a:srgbClr val="FFFFFF"/>
          </a:solidFill>
          <a:ln/>
        </p:spPr>
      </p:sp>
      <p:sp>
        <p:nvSpPr>
          <p:cNvPr id="8" name="Shape 5"/>
          <p:cNvSpPr/>
          <p:nvPr/>
        </p:nvSpPr>
        <p:spPr>
          <a:xfrm>
            <a:off x="1316736" y="4169664"/>
            <a:ext cx="237744" cy="237744"/>
          </a:xfrm>
          <a:prstGeom prst="ellipse">
            <a:avLst/>
          </a:prstGeom>
          <a:solidFill>
            <a:srgbClr val="FFFFFF"/>
          </a:solidFill>
          <a:ln/>
        </p:spPr>
      </p:sp>
      <p:sp>
        <p:nvSpPr>
          <p:cNvPr id="9" name="Shape 6"/>
          <p:cNvSpPr/>
          <p:nvPr/>
        </p:nvSpPr>
        <p:spPr>
          <a:xfrm>
            <a:off x="1700784" y="4169664"/>
            <a:ext cx="237744" cy="237744"/>
          </a:xfrm>
          <a:prstGeom prst="ellipse">
            <a:avLst/>
          </a:prstGeom>
          <a:solidFill>
            <a:srgbClr val="FFFFFF"/>
          </a:solidFill>
          <a:ln/>
        </p:spPr>
      </p:sp>
      <p:sp>
        <p:nvSpPr>
          <p:cNvPr id="10" name="Shape 7"/>
          <p:cNvSpPr/>
          <p:nvPr/>
        </p:nvSpPr>
        <p:spPr>
          <a:xfrm>
            <a:off x="2048256" y="4133088"/>
            <a:ext cx="310896" cy="310896"/>
          </a:xfrm>
          <a:prstGeom prst="ellipse">
            <a:avLst/>
          </a:prstGeom>
          <a:solidFill>
            <a:srgbClr val="FF462D"/>
          </a:solidFill>
          <a:ln w="19050">
            <a:solidFill>
              <a:srgbClr val="FFFFFF"/>
            </a:solidFill>
            <a:prstDash val="solid"/>
          </a:ln>
        </p:spPr>
      </p:sp>
      <p:sp>
        <p:nvSpPr>
          <p:cNvPr id="11" name="Shape 8"/>
          <p:cNvSpPr/>
          <p:nvPr/>
        </p:nvSpPr>
        <p:spPr>
          <a:xfrm>
            <a:off x="2468880" y="4169664"/>
            <a:ext cx="237744" cy="237744"/>
          </a:xfrm>
          <a:prstGeom prst="ellipse">
            <a:avLst/>
          </a:prstGeom>
          <a:ln w="15875">
            <a:solidFill>
              <a:srgbClr val="D9DEE2"/>
            </a:solidFill>
            <a:prstDash val="solid"/>
          </a:ln>
        </p:spPr>
      </p:sp>
      <p:sp>
        <p:nvSpPr>
          <p:cNvPr id="12" name="Shape 9"/>
          <p:cNvSpPr/>
          <p:nvPr/>
        </p:nvSpPr>
        <p:spPr>
          <a:xfrm>
            <a:off x="2852928" y="4169664"/>
            <a:ext cx="237744" cy="237744"/>
          </a:xfrm>
          <a:prstGeom prst="ellipse">
            <a:avLst/>
          </a:prstGeom>
          <a:ln w="15875">
            <a:solidFill>
              <a:srgbClr val="D9DEE2"/>
            </a:solidFill>
            <a:prstDash val="solid"/>
          </a:ln>
        </p:spPr>
      </p:sp>
      <p:sp>
        <p:nvSpPr>
          <p:cNvPr id="13" name="Shape 10"/>
          <p:cNvSpPr/>
          <p:nvPr/>
        </p:nvSpPr>
        <p:spPr>
          <a:xfrm>
            <a:off x="3236976" y="4169664"/>
            <a:ext cx="237744" cy="237744"/>
          </a:xfrm>
          <a:prstGeom prst="ellipse">
            <a:avLst/>
          </a:prstGeom>
          <a:ln w="15875">
            <a:solidFill>
              <a:srgbClr val="D9DEE2"/>
            </a:solidFill>
            <a:prstDash val="solid"/>
          </a:ln>
        </p:spPr>
      </p:sp>
      <p:sp>
        <p:nvSpPr>
          <p:cNvPr id="14" name="Text 11"/>
          <p:cNvSpPr txBox="1"/>
          <p:nvPr/>
        </p:nvSpPr>
        <p:spPr>
          <a:xfrm>
            <a:off x="548640" y="4553712"/>
            <a:ext cx="338328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Still at step 5 of 8</a:t>
            </a:r>
            <a:endParaRPr lang="en-US" sz="1100" dirty="0"/>
          </a:p>
        </p:txBody>
      </p:sp>
      <p:sp>
        <p:nvSpPr>
          <p:cNvPr id="15" name="Text 12"/>
          <p:cNvSpPr txBox="1"/>
          <p:nvPr/>
        </p:nvSpPr>
        <p:spPr>
          <a:xfrm>
            <a:off x="4709160" y="685800"/>
            <a:ext cx="6400800" cy="320040"/>
          </a:xfrm>
          <a:prstGeom prst="rect">
            <a:avLst/>
          </a:prstGeom>
          <a:noFill/>
          <a:ln/>
        </p:spPr>
        <p:txBody>
          <a:bodyPr wrap="square" lIns="0" tIns="0" rIns="0" bIns="0" rtlCol="0" anchor="t"/>
          <a:lstStyle/>
          <a:p>
            <a:pPr indent="0" marL="0">
              <a:buNone/>
            </a:pPr>
            <a:r>
              <a:rPr lang="en-US" sz="1400" b="1" dirty="0">
                <a:solidFill>
                  <a:srgbClr val="287079"/>
                </a:solidFill>
                <a:latin typeface="Arial" pitchFamily="34" charset="0"/>
                <a:ea typeface="Arial" pitchFamily="34" charset="-122"/>
                <a:cs typeface="Arial" pitchFamily="34" charset="-120"/>
              </a:rPr>
              <a:t>By the end of this session, you can</a:t>
            </a:r>
            <a:endParaRPr lang="en-US" sz="1400" dirty="0"/>
          </a:p>
        </p:txBody>
      </p:sp>
      <p:pic>
        <p:nvPicPr>
          <p:cNvPr id="16" name="Image 1" descr="/private/tmp/claude-501/-Users-salehhamed-Outcome-Engine/91861432-41e2-4884-bc97-63c6dff2d021/scratchpad/wk/icons/TbCircleCheck-teal.png">    </p:cNvPr>
          <p:cNvPicPr>
            <a:picLocks noChangeAspect="1"/>
          </p:cNvPicPr>
          <p:nvPr/>
        </p:nvPicPr>
        <p:blipFill>
          <a:blip r:embed="rId2"/>
          <a:stretch>
            <a:fillRect/>
          </a:stretch>
        </p:blipFill>
        <p:spPr>
          <a:xfrm>
            <a:off x="4709160" y="1225296"/>
            <a:ext cx="411480" cy="411480"/>
          </a:xfrm>
          <a:prstGeom prst="rect">
            <a:avLst/>
          </a:prstGeom>
        </p:spPr>
      </p:pic>
      <p:sp>
        <p:nvSpPr>
          <p:cNvPr id="17" name="Text 13"/>
          <p:cNvSpPr txBox="1"/>
          <p:nvPr/>
        </p:nvSpPr>
        <p:spPr>
          <a:xfrm>
            <a:off x="5303520" y="118872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Know what was built overnight and what changed.</a:t>
            </a:r>
            <a:endParaRPr lang="en-US" sz="1700" dirty="0"/>
          </a:p>
        </p:txBody>
      </p:sp>
      <p:pic>
        <p:nvPicPr>
          <p:cNvPr id="18" name="Image 2" descr="/private/tmp/claude-501/-Users-salehhamed-Outcome-Engine/91861432-41e2-4884-bc97-63c6dff2d021/scratchpad/wk/icons/TbCircleCheck-teal.png">    </p:cNvPr>
          <p:cNvPicPr>
            <a:picLocks noChangeAspect="1"/>
          </p:cNvPicPr>
          <p:nvPr/>
        </p:nvPicPr>
        <p:blipFill>
          <a:blip r:embed="rId3"/>
          <a:stretch>
            <a:fillRect/>
          </a:stretch>
        </p:blipFill>
        <p:spPr>
          <a:xfrm>
            <a:off x="4709160" y="2093976"/>
            <a:ext cx="411480" cy="411480"/>
          </a:xfrm>
          <a:prstGeom prst="rect">
            <a:avLst/>
          </a:prstGeom>
        </p:spPr>
      </p:pic>
      <p:sp>
        <p:nvSpPr>
          <p:cNvPr id="19" name="Text 14"/>
          <p:cNvSpPr txBox="1"/>
          <p:nvPr/>
        </p:nvSpPr>
        <p:spPr>
          <a:xfrm>
            <a:off x="5303520" y="205740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Know today's cases and your seat.</a:t>
            </a:r>
            <a:endParaRPr lang="en-US" sz="1700" dirty="0"/>
          </a:p>
        </p:txBody>
      </p:sp>
      <p:sp>
        <p:nvSpPr>
          <p:cNvPr id="20" name="Shape 15"/>
          <p:cNvSpPr/>
          <p:nvPr/>
        </p:nvSpPr>
        <p:spPr>
          <a:xfrm>
            <a:off x="4709160" y="4800600"/>
            <a:ext cx="6931152" cy="1234440"/>
          </a:xfrm>
          <a:prstGeom prst="roundRect">
            <a:avLst>
              <a:gd name="adj" fmla="val 5926"/>
            </a:avLst>
          </a:prstGeom>
          <a:solidFill>
            <a:srgbClr val="FFF0EC"/>
          </a:solidFill>
          <a:ln/>
        </p:spPr>
      </p:sp>
      <p:sp>
        <p:nvSpPr>
          <p:cNvPr id="21" name="Text 16"/>
          <p:cNvSpPr txBox="1"/>
          <p:nvPr/>
        </p:nvSpPr>
        <p:spPr>
          <a:xfrm>
            <a:off x="4937760" y="4800600"/>
            <a:ext cx="6492240" cy="1234440"/>
          </a:xfrm>
          <a:prstGeom prst="rect">
            <a:avLst/>
          </a:prstGeom>
          <a:noFill/>
          <a:ln/>
        </p:spPr>
        <p:txBody>
          <a:bodyPr wrap="square" lIns="0" tIns="0" rIns="0" bIns="0" rtlCol="0" anchor="ctr"/>
          <a:lstStyle/>
          <a:p>
            <a:pPr indent="0" marL="0">
              <a:buNone/>
            </a:pPr>
            <a:r>
              <a:rPr lang="en-US" sz="1800" b="1" dirty="0">
                <a:solidFill>
                  <a:srgbClr val="FF462D"/>
                </a:solidFill>
                <a:latin typeface="Arial" pitchFamily="34" charset="0"/>
                <a:ea typeface="Arial" pitchFamily="34" charset="-122"/>
                <a:cs typeface="Arial" pitchFamily="34" charset="-120"/>
              </a:rPr>
              <a:t>What you agreed yesterday is now running. Today we try to break it.</a:t>
            </a:r>
            <a:endParaRPr lang="en-US" sz="1800" dirty="0"/>
          </a:p>
        </p:txBody>
      </p:sp>
      <p:sp>
        <p:nvSpPr>
          <p:cNvPr id="22" name="Text 17"/>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4"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5" action="ppaction://hlinksldjump" tooltip="The thre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127</a:t>
            </a:r>
            <a:endParaRPr lang="en-US" sz="10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RECAP AND BUILD STATUS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Today on one page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09:00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128</a:t>
            </a:r>
            <a:endParaRPr lang="en-US" sz="1000" dirty="0"/>
          </a:p>
        </p:txBody>
      </p:sp>
      <p:sp>
        <p:nvSpPr>
          <p:cNvPr id="7" name="Shape 4"/>
          <p:cNvSpPr/>
          <p:nvPr/>
        </p:nvSpPr>
        <p:spPr>
          <a:xfrm>
            <a:off x="548640" y="1600200"/>
            <a:ext cx="1737360" cy="2651760"/>
          </a:xfrm>
          <a:prstGeom prst="roundRect">
            <a:avLst>
              <a:gd name="adj" fmla="val 5263"/>
            </a:avLst>
          </a:prstGeom>
          <a:solidFill>
            <a:srgbClr val="287079"/>
          </a:solidFill>
          <a:ln/>
        </p:spPr>
      </p:sp>
      <p:pic>
        <p:nvPicPr>
          <p:cNvPr id="8" name="Image 1" descr="/private/tmp/claude-501/-Users-salehhamed-Outcome-Engine/91861432-41e2-4884-bc97-63c6dff2d021/scratchpad/wk/icons/TbBug-white.png">    </p:cNvPr>
          <p:cNvPicPr>
            <a:picLocks noChangeAspect="1"/>
          </p:cNvPicPr>
          <p:nvPr/>
        </p:nvPicPr>
        <p:blipFill>
          <a:blip r:embed="rId4"/>
          <a:stretch>
            <a:fillRect/>
          </a:stretch>
        </p:blipFill>
        <p:spPr>
          <a:xfrm>
            <a:off x="1051560" y="1828800"/>
            <a:ext cx="731520" cy="731520"/>
          </a:xfrm>
          <a:prstGeom prst="rect">
            <a:avLst/>
          </a:prstGeom>
        </p:spPr>
      </p:pic>
      <p:sp>
        <p:nvSpPr>
          <p:cNvPr id="9" name="Text 5"/>
          <p:cNvSpPr txBox="1"/>
          <p:nvPr/>
        </p:nvSpPr>
        <p:spPr>
          <a:xfrm>
            <a:off x="548640" y="2743200"/>
            <a:ext cx="173736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09:15</a:t>
            </a:r>
            <a:endParaRPr lang="en-US" sz="1400" dirty="0"/>
          </a:p>
        </p:txBody>
      </p:sp>
      <p:sp>
        <p:nvSpPr>
          <p:cNvPr id="10" name="Text 6"/>
          <p:cNvSpPr txBox="1"/>
          <p:nvPr/>
        </p:nvSpPr>
        <p:spPr>
          <a:xfrm>
            <a:off x="640080" y="3108960"/>
            <a:ext cx="1554480" cy="91440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Test it</a:t>
            </a:r>
            <a:endParaRPr lang="en-US" sz="1600" dirty="0"/>
          </a:p>
        </p:txBody>
      </p:sp>
      <p:sp>
        <p:nvSpPr>
          <p:cNvPr id="11" name="Shape 7"/>
          <p:cNvSpPr/>
          <p:nvPr/>
        </p:nvSpPr>
        <p:spPr>
          <a:xfrm>
            <a:off x="2423160" y="1600200"/>
            <a:ext cx="1737360" cy="2651760"/>
          </a:xfrm>
          <a:prstGeom prst="roundRect">
            <a:avLst>
              <a:gd name="adj" fmla="val 5263"/>
            </a:avLst>
          </a:prstGeom>
          <a:solidFill>
            <a:srgbClr val="287079"/>
          </a:solidFill>
          <a:ln/>
        </p:spPr>
      </p:sp>
      <p:pic>
        <p:nvPicPr>
          <p:cNvPr id="12" name="Image 2" descr="/private/tmp/claude-501/-Users-salehhamed-Outcome-Engine/91861432-41e2-4884-bc97-63c6dff2d021/scratchpad/wk/icons/TbArrowsRightLeft-white.png">    </p:cNvPr>
          <p:cNvPicPr>
            <a:picLocks noChangeAspect="1"/>
          </p:cNvPicPr>
          <p:nvPr/>
        </p:nvPicPr>
        <p:blipFill>
          <a:blip r:embed="rId5"/>
          <a:stretch>
            <a:fillRect/>
          </a:stretch>
        </p:blipFill>
        <p:spPr>
          <a:xfrm>
            <a:off x="2926080" y="1828800"/>
            <a:ext cx="731520" cy="731520"/>
          </a:xfrm>
          <a:prstGeom prst="rect">
            <a:avLst/>
          </a:prstGeom>
        </p:spPr>
      </p:pic>
      <p:sp>
        <p:nvSpPr>
          <p:cNvPr id="13" name="Text 8"/>
          <p:cNvSpPr txBox="1"/>
          <p:nvPr/>
        </p:nvSpPr>
        <p:spPr>
          <a:xfrm>
            <a:off x="2423160" y="2743200"/>
            <a:ext cx="173736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10:45</a:t>
            </a:r>
            <a:endParaRPr lang="en-US" sz="1400" dirty="0"/>
          </a:p>
        </p:txBody>
      </p:sp>
      <p:sp>
        <p:nvSpPr>
          <p:cNvPr id="14" name="Text 9"/>
          <p:cNvSpPr txBox="1"/>
          <p:nvPr/>
        </p:nvSpPr>
        <p:spPr>
          <a:xfrm>
            <a:off x="2514600" y="3108960"/>
            <a:ext cx="1554480" cy="91440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Boundaries</a:t>
            </a:r>
            <a:endParaRPr lang="en-US" sz="1600" dirty="0"/>
          </a:p>
        </p:txBody>
      </p:sp>
      <p:sp>
        <p:nvSpPr>
          <p:cNvPr id="15" name="Shape 10"/>
          <p:cNvSpPr/>
          <p:nvPr/>
        </p:nvSpPr>
        <p:spPr>
          <a:xfrm>
            <a:off x="4297680" y="1600200"/>
            <a:ext cx="1737360" cy="2651760"/>
          </a:xfrm>
          <a:prstGeom prst="roundRect">
            <a:avLst>
              <a:gd name="adj" fmla="val 5263"/>
            </a:avLst>
          </a:prstGeom>
          <a:solidFill>
            <a:srgbClr val="FF462D"/>
          </a:solidFill>
          <a:ln/>
        </p:spPr>
      </p:sp>
      <p:pic>
        <p:nvPicPr>
          <p:cNvPr id="16" name="Image 3" descr="/private/tmp/claude-501/-Users-salehhamed-Outcome-Engine/91861432-41e2-4884-bc97-63c6dff2d021/scratchpad/wk/icons/TbStairsUp-white.png">    </p:cNvPr>
          <p:cNvPicPr>
            <a:picLocks noChangeAspect="1"/>
          </p:cNvPicPr>
          <p:nvPr/>
        </p:nvPicPr>
        <p:blipFill>
          <a:blip r:embed="rId6"/>
          <a:stretch>
            <a:fillRect/>
          </a:stretch>
        </p:blipFill>
        <p:spPr>
          <a:xfrm>
            <a:off x="4800600" y="1828800"/>
            <a:ext cx="731520" cy="731520"/>
          </a:xfrm>
          <a:prstGeom prst="rect">
            <a:avLst/>
          </a:prstGeom>
        </p:spPr>
      </p:pic>
      <p:sp>
        <p:nvSpPr>
          <p:cNvPr id="17" name="Text 11"/>
          <p:cNvSpPr txBox="1"/>
          <p:nvPr/>
        </p:nvSpPr>
        <p:spPr>
          <a:xfrm>
            <a:off x="4297680" y="2743200"/>
            <a:ext cx="173736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11:45</a:t>
            </a:r>
            <a:endParaRPr lang="en-US" sz="1400" dirty="0"/>
          </a:p>
        </p:txBody>
      </p:sp>
      <p:sp>
        <p:nvSpPr>
          <p:cNvPr id="18" name="Text 12"/>
          <p:cNvSpPr txBox="1"/>
          <p:nvPr/>
        </p:nvSpPr>
        <p:spPr>
          <a:xfrm>
            <a:off x="4389120" y="3108960"/>
            <a:ext cx="1554480" cy="91440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Rotation rules</a:t>
            </a:r>
            <a:endParaRPr lang="en-US" sz="1600" dirty="0"/>
          </a:p>
        </p:txBody>
      </p:sp>
      <p:sp>
        <p:nvSpPr>
          <p:cNvPr id="19" name="Shape 13"/>
          <p:cNvSpPr/>
          <p:nvPr/>
        </p:nvSpPr>
        <p:spPr>
          <a:xfrm>
            <a:off x="6172200" y="1600200"/>
            <a:ext cx="1737360" cy="2651760"/>
          </a:xfrm>
          <a:prstGeom prst="roundRect">
            <a:avLst>
              <a:gd name="adj" fmla="val 5263"/>
            </a:avLst>
          </a:prstGeom>
          <a:solidFill>
            <a:srgbClr val="287079"/>
          </a:solidFill>
          <a:ln/>
        </p:spPr>
      </p:sp>
      <p:pic>
        <p:nvPicPr>
          <p:cNvPr id="20" name="Image 4" descr="/private/tmp/claude-501/-Users-salehhamed-Outcome-Engine/91861432-41e2-4884-bc97-63c6dff2d021/scratchpad/wk/icons/TbRoute-white.png">    </p:cNvPr>
          <p:cNvPicPr>
            <a:picLocks noChangeAspect="1"/>
          </p:cNvPicPr>
          <p:nvPr/>
        </p:nvPicPr>
        <p:blipFill>
          <a:blip r:embed="rId7"/>
          <a:stretch>
            <a:fillRect/>
          </a:stretch>
        </p:blipFill>
        <p:spPr>
          <a:xfrm>
            <a:off x="6675120" y="1828800"/>
            <a:ext cx="731520" cy="731520"/>
          </a:xfrm>
          <a:prstGeom prst="rect">
            <a:avLst/>
          </a:prstGeom>
        </p:spPr>
      </p:pic>
      <p:sp>
        <p:nvSpPr>
          <p:cNvPr id="21" name="Text 14"/>
          <p:cNvSpPr txBox="1"/>
          <p:nvPr/>
        </p:nvSpPr>
        <p:spPr>
          <a:xfrm>
            <a:off x="6172200" y="2743200"/>
            <a:ext cx="173736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13:45</a:t>
            </a:r>
            <a:endParaRPr lang="en-US" sz="1400" dirty="0"/>
          </a:p>
        </p:txBody>
      </p:sp>
      <p:sp>
        <p:nvSpPr>
          <p:cNvPr id="22" name="Text 15"/>
          <p:cNvSpPr txBox="1"/>
          <p:nvPr/>
        </p:nvSpPr>
        <p:spPr>
          <a:xfrm>
            <a:off x="6263640" y="3108960"/>
            <a:ext cx="1554480" cy="91440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What happens next</a:t>
            </a:r>
            <a:endParaRPr lang="en-US" sz="1600" dirty="0"/>
          </a:p>
        </p:txBody>
      </p:sp>
      <p:sp>
        <p:nvSpPr>
          <p:cNvPr id="23" name="Shape 16"/>
          <p:cNvSpPr/>
          <p:nvPr/>
        </p:nvSpPr>
        <p:spPr>
          <a:xfrm>
            <a:off x="8046720" y="1600200"/>
            <a:ext cx="1737360" cy="2651760"/>
          </a:xfrm>
          <a:prstGeom prst="roundRect">
            <a:avLst>
              <a:gd name="adj" fmla="val 5263"/>
            </a:avLst>
          </a:prstGeom>
          <a:solidFill>
            <a:srgbClr val="287079"/>
          </a:solidFill>
          <a:ln/>
        </p:spPr>
      </p:sp>
      <p:pic>
        <p:nvPicPr>
          <p:cNvPr id="24" name="Image 5" descr="/private/tmp/claude-501/-Users-salehhamed-Outcome-Engine/91861432-41e2-4884-bc97-63c6dff2d021/scratchpad/wk/icons/TbPlayerPlay-white.png">    </p:cNvPr>
          <p:cNvPicPr>
            <a:picLocks noChangeAspect="1"/>
          </p:cNvPicPr>
          <p:nvPr/>
        </p:nvPicPr>
        <p:blipFill>
          <a:blip r:embed="rId8"/>
          <a:stretch>
            <a:fillRect/>
          </a:stretch>
        </p:blipFill>
        <p:spPr>
          <a:xfrm>
            <a:off x="8549640" y="1828800"/>
            <a:ext cx="731520" cy="731520"/>
          </a:xfrm>
          <a:prstGeom prst="rect">
            <a:avLst/>
          </a:prstGeom>
        </p:spPr>
      </p:pic>
      <p:sp>
        <p:nvSpPr>
          <p:cNvPr id="25" name="Text 17"/>
          <p:cNvSpPr txBox="1"/>
          <p:nvPr/>
        </p:nvSpPr>
        <p:spPr>
          <a:xfrm>
            <a:off x="8046720" y="2743200"/>
            <a:ext cx="173736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15:15</a:t>
            </a:r>
            <a:endParaRPr lang="en-US" sz="1400" dirty="0"/>
          </a:p>
        </p:txBody>
      </p:sp>
      <p:sp>
        <p:nvSpPr>
          <p:cNvPr id="26" name="Text 18"/>
          <p:cNvSpPr txBox="1"/>
          <p:nvPr/>
        </p:nvSpPr>
        <p:spPr>
          <a:xfrm>
            <a:off x="8138160" y="3108960"/>
            <a:ext cx="1554480" cy="91440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Live review</a:t>
            </a:r>
            <a:endParaRPr lang="en-US" sz="1600" dirty="0"/>
          </a:p>
        </p:txBody>
      </p:sp>
      <p:sp>
        <p:nvSpPr>
          <p:cNvPr id="27" name="Shape 19"/>
          <p:cNvSpPr/>
          <p:nvPr/>
        </p:nvSpPr>
        <p:spPr>
          <a:xfrm>
            <a:off x="9921240" y="1600200"/>
            <a:ext cx="1737360" cy="2651760"/>
          </a:xfrm>
          <a:prstGeom prst="roundRect">
            <a:avLst>
              <a:gd name="adj" fmla="val 5263"/>
            </a:avLst>
          </a:prstGeom>
          <a:solidFill>
            <a:srgbClr val="36454F"/>
          </a:solidFill>
          <a:ln/>
        </p:spPr>
      </p:sp>
      <p:pic>
        <p:nvPicPr>
          <p:cNvPr id="28" name="Image 6" descr="/private/tmp/claude-501/-Users-salehhamed-Outcome-Engine/91861432-41e2-4884-bc97-63c6dff2d021/scratchpad/wk/icons/TbFlag3-white.png">    </p:cNvPr>
          <p:cNvPicPr>
            <a:picLocks noChangeAspect="1"/>
          </p:cNvPicPr>
          <p:nvPr/>
        </p:nvPicPr>
        <p:blipFill>
          <a:blip r:embed="rId9"/>
          <a:stretch>
            <a:fillRect/>
          </a:stretch>
        </p:blipFill>
        <p:spPr>
          <a:xfrm>
            <a:off x="10424160" y="1828800"/>
            <a:ext cx="731520" cy="731520"/>
          </a:xfrm>
          <a:prstGeom prst="rect">
            <a:avLst/>
          </a:prstGeom>
        </p:spPr>
      </p:pic>
      <p:sp>
        <p:nvSpPr>
          <p:cNvPr id="29" name="Text 20"/>
          <p:cNvSpPr txBox="1"/>
          <p:nvPr/>
        </p:nvSpPr>
        <p:spPr>
          <a:xfrm>
            <a:off x="9921240" y="2743200"/>
            <a:ext cx="1737360"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16:15</a:t>
            </a:r>
            <a:endParaRPr lang="en-US" sz="1400" dirty="0"/>
          </a:p>
        </p:txBody>
      </p:sp>
      <p:sp>
        <p:nvSpPr>
          <p:cNvPr id="30" name="Text 21"/>
          <p:cNvSpPr txBox="1"/>
          <p:nvPr/>
        </p:nvSpPr>
        <p:spPr>
          <a:xfrm>
            <a:off x="10012680" y="3108960"/>
            <a:ext cx="1554480" cy="91440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The decision</a:t>
            </a:r>
            <a:endParaRPr lang="en-US" sz="1600" dirty="0"/>
          </a:p>
        </p:txBody>
      </p:sp>
      <p:pic>
        <p:nvPicPr>
          <p:cNvPr id="31" name="Image 7" descr="/private/tmp/claude-501/-Users-salehhamed-Outcome-Engine/91861432-41e2-4884-bc97-63c6dff2d021/scratchpad/wk/icons/TbWorld-red.png">    </p:cNvPr>
          <p:cNvPicPr>
            <a:picLocks noChangeAspect="1"/>
          </p:cNvPicPr>
          <p:nvPr/>
        </p:nvPicPr>
        <p:blipFill>
          <a:blip r:embed="rId10"/>
          <a:stretch>
            <a:fillRect/>
          </a:stretch>
        </p:blipFill>
        <p:spPr>
          <a:xfrm>
            <a:off x="4297680" y="4434840"/>
            <a:ext cx="411480" cy="411480"/>
          </a:xfrm>
          <a:prstGeom prst="rect">
            <a:avLst/>
          </a:prstGeom>
        </p:spPr>
      </p:pic>
      <p:sp>
        <p:nvSpPr>
          <p:cNvPr id="32" name="Text 22"/>
          <p:cNvSpPr txBox="1"/>
          <p:nvPr/>
        </p:nvSpPr>
        <p:spPr>
          <a:xfrm>
            <a:off x="4800600" y="4407408"/>
            <a:ext cx="6858000" cy="457200"/>
          </a:xfrm>
          <a:prstGeom prst="rect">
            <a:avLst/>
          </a:prstGeom>
          <a:noFill/>
          <a:ln/>
        </p:spPr>
        <p:txBody>
          <a:bodyPr wrap="square" lIns="0" tIns="0" rIns="0" bIns="0" rtlCol="0" anchor="ctr"/>
          <a:lstStyle/>
          <a:p>
            <a:pPr indent="0" marL="0">
              <a:buNone/>
            </a:pPr>
            <a:r>
              <a:rPr lang="en-US" sz="1500" b="1" dirty="0">
                <a:solidFill>
                  <a:srgbClr val="FF462D"/>
                </a:solidFill>
                <a:latin typeface="Arial" pitchFamily="34" charset="0"/>
                <a:ea typeface="Arial" pitchFamily="34" charset="-122"/>
                <a:cs typeface="Arial" pitchFamily="34" charset="-120"/>
              </a:rPr>
              <a:t>The markets join at 11:45 for the rotation rules.</a:t>
            </a:r>
            <a:endParaRPr lang="en-US" sz="1500" dirty="0"/>
          </a:p>
        </p:txBody>
      </p:sp>
      <p:sp>
        <p:nvSpPr>
          <p:cNvPr id="33" name="Shape 23"/>
          <p:cNvSpPr/>
          <p:nvPr/>
        </p:nvSpPr>
        <p:spPr>
          <a:xfrm>
            <a:off x="548640" y="5120640"/>
            <a:ext cx="11091672" cy="868680"/>
          </a:xfrm>
          <a:prstGeom prst="roundRect">
            <a:avLst>
              <a:gd name="adj" fmla="val 8421"/>
            </a:avLst>
          </a:prstGeom>
          <a:solidFill>
            <a:srgbClr val="EEF6F7"/>
          </a:solidFill>
          <a:ln/>
        </p:spPr>
      </p:sp>
      <p:sp>
        <p:nvSpPr>
          <p:cNvPr id="34" name="Text 24"/>
          <p:cNvSpPr txBox="1"/>
          <p:nvPr/>
        </p:nvSpPr>
        <p:spPr>
          <a:xfrm>
            <a:off x="868680" y="5120640"/>
            <a:ext cx="10515600" cy="868680"/>
          </a:xfrm>
          <a:prstGeom prst="rect">
            <a:avLst/>
          </a:prstGeom>
          <a:noFill/>
          <a:ln/>
        </p:spPr>
        <p:txBody>
          <a:bodyPr wrap="square" lIns="0" tIns="0" rIns="0" bIns="0" rtlCol="0" anchor="ctr"/>
          <a:lstStyle/>
          <a:p>
            <a:pPr indent="0" marL="0">
              <a:buNone/>
            </a:pPr>
            <a:r>
              <a:rPr lang="en-US" sz="1900" b="1" dirty="0">
                <a:solidFill>
                  <a:srgbClr val="287079"/>
                </a:solidFill>
                <a:latin typeface="Arial" pitchFamily="34" charset="0"/>
                <a:ea typeface="Arial" pitchFamily="34" charset="-122"/>
                <a:cs typeface="Arial" pitchFamily="34" charset="-120"/>
              </a:rPr>
              <a:t>Today we try to break what we agreed yesterday. Then we decide.</a:t>
            </a:r>
            <a:endParaRPr lang="en-US" sz="19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BUILD TEAM</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What was built overnight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09:00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129</a:t>
            </a:r>
            <a:endParaRPr lang="en-US" sz="1000" dirty="0"/>
          </a:p>
        </p:txBody>
      </p:sp>
      <p:sp>
        <p:nvSpPr>
          <p:cNvPr id="7" name="Shape 4"/>
          <p:cNvSpPr/>
          <p:nvPr/>
        </p:nvSpPr>
        <p:spPr>
          <a:xfrm>
            <a:off x="548640" y="1508760"/>
            <a:ext cx="6766560" cy="4526280"/>
          </a:xfrm>
          <a:prstGeom prst="roundRect">
            <a:avLst>
              <a:gd name="adj" fmla="val 2020"/>
            </a:avLst>
          </a:prstGeom>
          <a:solidFill>
            <a:srgbClr val="F2F4F5"/>
          </a:solidFill>
          <a:ln/>
        </p:spPr>
      </p:sp>
      <p:sp>
        <p:nvSpPr>
          <p:cNvPr id="8" name="Shape 5"/>
          <p:cNvSpPr/>
          <p:nvPr/>
        </p:nvSpPr>
        <p:spPr>
          <a:xfrm>
            <a:off x="2103120" y="2103120"/>
            <a:ext cx="3657600" cy="2286000"/>
          </a:xfrm>
          <a:prstGeom prst="roundRect">
            <a:avLst>
              <a:gd name="adj" fmla="val 3200"/>
            </a:avLst>
          </a:prstGeom>
          <a:solidFill>
            <a:srgbClr val="1F2A33"/>
          </a:solidFill>
          <a:ln/>
        </p:spPr>
      </p:sp>
      <p:pic>
        <p:nvPicPr>
          <p:cNvPr id="9" name="Image 1" descr="/private/tmp/claude-501/-Users-salehhamed-Outcome-Engine/91861432-41e2-4884-bc97-63c6dff2d021/scratchpad/wk/icons/TbPlayerPlay-white.png">    </p:cNvPr>
          <p:cNvPicPr>
            <a:picLocks noChangeAspect="1"/>
          </p:cNvPicPr>
          <p:nvPr/>
        </p:nvPicPr>
        <p:blipFill>
          <a:blip r:embed="rId4"/>
          <a:stretch>
            <a:fillRect/>
          </a:stretch>
        </p:blipFill>
        <p:spPr>
          <a:xfrm>
            <a:off x="3520440" y="2743200"/>
            <a:ext cx="822960" cy="822960"/>
          </a:xfrm>
          <a:prstGeom prst="rect">
            <a:avLst/>
          </a:prstGeom>
        </p:spPr>
      </p:pic>
      <p:sp>
        <p:nvSpPr>
          <p:cNvPr id="10" name="Shape 6"/>
          <p:cNvSpPr/>
          <p:nvPr/>
        </p:nvSpPr>
        <p:spPr>
          <a:xfrm>
            <a:off x="1737360" y="4389120"/>
            <a:ext cx="4389120" cy="164592"/>
          </a:xfrm>
          <a:prstGeom prst="roundRect">
            <a:avLst>
              <a:gd name="adj" fmla="val 33333"/>
            </a:avLst>
          </a:prstGeom>
          <a:solidFill>
            <a:srgbClr val="8A94A4"/>
          </a:solidFill>
          <a:ln/>
        </p:spPr>
      </p:sp>
      <p:sp>
        <p:nvSpPr>
          <p:cNvPr id="11" name="Text 7"/>
          <p:cNvSpPr txBox="1"/>
          <p:nvPr/>
        </p:nvSpPr>
        <p:spPr>
          <a:xfrm>
            <a:off x="914400" y="4846320"/>
            <a:ext cx="6035040" cy="731520"/>
          </a:xfrm>
          <a:prstGeom prst="rect">
            <a:avLst/>
          </a:prstGeom>
          <a:noFill/>
          <a:ln/>
        </p:spPr>
        <p:txBody>
          <a:bodyPr wrap="square" lIns="0" tIns="0" rIns="0" bIns="0" rtlCol="0" anchor="ctr"/>
          <a:lstStyle/>
          <a:p>
            <a:pPr algn="ctr" indent="0" marL="0">
              <a:buNone/>
            </a:pPr>
            <a:r>
              <a:rPr lang="en-US" sz="1700" b="1" dirty="0">
                <a:solidFill>
                  <a:srgbClr val="1F2A33"/>
                </a:solidFill>
                <a:latin typeface="Arial" pitchFamily="34" charset="0"/>
                <a:ea typeface="Arial" pitchFamily="34" charset="-122"/>
                <a:cs typeface="Arial" pitchFamily="34" charset="-120"/>
              </a:rPr>
              <a:t>The build team shows it live, on the main screen.</a:t>
            </a:r>
            <a:endParaRPr lang="en-US" sz="1700" dirty="0"/>
          </a:p>
        </p:txBody>
      </p:sp>
      <p:sp>
        <p:nvSpPr>
          <p:cNvPr id="12" name="Text 8"/>
          <p:cNvSpPr txBox="1"/>
          <p:nvPr/>
        </p:nvSpPr>
        <p:spPr>
          <a:xfrm>
            <a:off x="7680960" y="1508760"/>
            <a:ext cx="3931920" cy="365760"/>
          </a:xfrm>
          <a:prstGeom prst="rect">
            <a:avLst/>
          </a:prstGeom>
          <a:noFill/>
          <a:ln/>
        </p:spPr>
        <p:txBody>
          <a:bodyPr wrap="square" lIns="0" tIns="0" rIns="0" bIns="0" rtlCol="0" anchor="t"/>
          <a:lstStyle/>
          <a:p>
            <a:pPr indent="0" marL="0">
              <a:buNone/>
            </a:pPr>
            <a:r>
              <a:rPr lang="en-US" sz="1500" b="1" dirty="0">
                <a:solidFill>
                  <a:srgbClr val="287079"/>
                </a:solidFill>
                <a:latin typeface="Arial" pitchFamily="34" charset="0"/>
                <a:ea typeface="Arial" pitchFamily="34" charset="-122"/>
                <a:cs typeface="Arial" pitchFamily="34" charset="-120"/>
              </a:rPr>
              <a:t>The build team tells you</a:t>
            </a:r>
            <a:endParaRPr lang="en-US" sz="1500" dirty="0"/>
          </a:p>
        </p:txBody>
      </p:sp>
      <p:sp>
        <p:nvSpPr>
          <p:cNvPr id="13" name="Shape 9"/>
          <p:cNvSpPr/>
          <p:nvPr/>
        </p:nvSpPr>
        <p:spPr>
          <a:xfrm>
            <a:off x="7680960" y="2011680"/>
            <a:ext cx="3959352" cy="804672"/>
          </a:xfrm>
          <a:prstGeom prst="roundRect">
            <a:avLst>
              <a:gd name="adj" fmla="val 9091"/>
            </a:avLst>
          </a:prstGeom>
          <a:solidFill>
            <a:srgbClr val="FFFFFF"/>
          </a:solidFill>
          <a:ln w="12700">
            <a:solidFill>
              <a:srgbClr val="D9DEE2"/>
            </a:solidFill>
            <a:prstDash val="solid"/>
          </a:ln>
        </p:spPr>
      </p:sp>
      <p:pic>
        <p:nvPicPr>
          <p:cNvPr id="14" name="Image 2" descr="/private/tmp/claude-501/-Users-salehhamed-Outcome-Engine/91861432-41e2-4884-bc97-63c6dff2d021/scratchpad/wk/icons/TbArrowsExchange-teal.png">    </p:cNvPr>
          <p:cNvPicPr>
            <a:picLocks noChangeAspect="1"/>
          </p:cNvPicPr>
          <p:nvPr/>
        </p:nvPicPr>
        <p:blipFill>
          <a:blip r:embed="rId5"/>
          <a:stretch>
            <a:fillRect/>
          </a:stretch>
        </p:blipFill>
        <p:spPr>
          <a:xfrm>
            <a:off x="7863840" y="2194560"/>
            <a:ext cx="438912" cy="438912"/>
          </a:xfrm>
          <a:prstGeom prst="rect">
            <a:avLst/>
          </a:prstGeom>
        </p:spPr>
      </p:pic>
      <p:sp>
        <p:nvSpPr>
          <p:cNvPr id="15" name="Text 10"/>
          <p:cNvSpPr txBox="1"/>
          <p:nvPr/>
        </p:nvSpPr>
        <p:spPr>
          <a:xfrm>
            <a:off x="8458200" y="2011680"/>
            <a:ext cx="3063240" cy="804672"/>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changed from yesterday</a:t>
            </a:r>
            <a:endParaRPr lang="en-US" sz="1500" dirty="0"/>
          </a:p>
        </p:txBody>
      </p:sp>
      <p:sp>
        <p:nvSpPr>
          <p:cNvPr id="16" name="Shape 11"/>
          <p:cNvSpPr/>
          <p:nvPr/>
        </p:nvSpPr>
        <p:spPr>
          <a:xfrm>
            <a:off x="7680960" y="2971800"/>
            <a:ext cx="3959352" cy="804672"/>
          </a:xfrm>
          <a:prstGeom prst="roundRect">
            <a:avLst>
              <a:gd name="adj" fmla="val 9091"/>
            </a:avLst>
          </a:prstGeom>
          <a:solidFill>
            <a:srgbClr val="FFFFFF"/>
          </a:solidFill>
          <a:ln w="12700">
            <a:solidFill>
              <a:srgbClr val="D9DEE2"/>
            </a:solidFill>
            <a:prstDash val="solid"/>
          </a:ln>
        </p:spPr>
      </p:sp>
      <p:pic>
        <p:nvPicPr>
          <p:cNvPr id="17" name="Image 3" descr="/private/tmp/claude-501/-Users-salehhamed-Outcome-Engine/91861432-41e2-4884-bc97-63c6dff2d021/scratchpad/wk/icons/TbMessageCircle-teal.png">    </p:cNvPr>
          <p:cNvPicPr>
            <a:picLocks noChangeAspect="1"/>
          </p:cNvPicPr>
          <p:nvPr/>
        </p:nvPicPr>
        <p:blipFill>
          <a:blip r:embed="rId6"/>
          <a:stretch>
            <a:fillRect/>
          </a:stretch>
        </p:blipFill>
        <p:spPr>
          <a:xfrm>
            <a:off x="7863840" y="3154680"/>
            <a:ext cx="438912" cy="438912"/>
          </a:xfrm>
          <a:prstGeom prst="rect">
            <a:avLst/>
          </a:prstGeom>
        </p:spPr>
      </p:pic>
      <p:sp>
        <p:nvSpPr>
          <p:cNvPr id="18" name="Text 12"/>
          <p:cNvSpPr txBox="1"/>
          <p:nvPr/>
        </p:nvSpPr>
        <p:spPr>
          <a:xfrm>
            <a:off x="8458200" y="2971800"/>
            <a:ext cx="3063240" cy="804672"/>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Why it changed</a:t>
            </a:r>
            <a:endParaRPr lang="en-US" sz="1500" dirty="0"/>
          </a:p>
        </p:txBody>
      </p:sp>
      <p:sp>
        <p:nvSpPr>
          <p:cNvPr id="19" name="Shape 13"/>
          <p:cNvSpPr/>
          <p:nvPr/>
        </p:nvSpPr>
        <p:spPr>
          <a:xfrm>
            <a:off x="7680960" y="3931920"/>
            <a:ext cx="3959352" cy="804672"/>
          </a:xfrm>
          <a:prstGeom prst="roundRect">
            <a:avLst>
              <a:gd name="adj" fmla="val 9091"/>
            </a:avLst>
          </a:prstGeom>
          <a:solidFill>
            <a:srgbClr val="FFFFFF"/>
          </a:solidFill>
          <a:ln w="12700">
            <a:solidFill>
              <a:srgbClr val="D9DEE2"/>
            </a:solidFill>
            <a:prstDash val="solid"/>
          </a:ln>
        </p:spPr>
      </p:sp>
      <p:pic>
        <p:nvPicPr>
          <p:cNvPr id="20" name="Image 4" descr="/private/tmp/claude-501/-Users-salehhamed-Outcome-Engine/91861432-41e2-4884-bc97-63c6dff2d021/scratchpad/wk/icons/TbBug-teal.png">    </p:cNvPr>
          <p:cNvPicPr>
            <a:picLocks noChangeAspect="1"/>
          </p:cNvPicPr>
          <p:nvPr/>
        </p:nvPicPr>
        <p:blipFill>
          <a:blip r:embed="rId7"/>
          <a:stretch>
            <a:fillRect/>
          </a:stretch>
        </p:blipFill>
        <p:spPr>
          <a:xfrm>
            <a:off x="7863840" y="4114800"/>
            <a:ext cx="438912" cy="438912"/>
          </a:xfrm>
          <a:prstGeom prst="rect">
            <a:avLst/>
          </a:prstGeom>
        </p:spPr>
      </p:pic>
      <p:sp>
        <p:nvSpPr>
          <p:cNvPr id="21" name="Text 14"/>
          <p:cNvSpPr txBox="1"/>
          <p:nvPr/>
        </p:nvSpPr>
        <p:spPr>
          <a:xfrm>
            <a:off x="8458200" y="3931920"/>
            <a:ext cx="3063240" cy="804672"/>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to test hardest today</a:t>
            </a:r>
            <a:endParaRPr lang="en-US" sz="1500" dirty="0"/>
          </a:p>
        </p:txBody>
      </p:sp>
      <p:sp>
        <p:nvSpPr>
          <p:cNvPr id="22" name="Shape 15"/>
          <p:cNvSpPr/>
          <p:nvPr/>
        </p:nvSpPr>
        <p:spPr>
          <a:xfrm>
            <a:off x="7680960" y="4892040"/>
            <a:ext cx="3959352" cy="804672"/>
          </a:xfrm>
          <a:prstGeom prst="roundRect">
            <a:avLst>
              <a:gd name="adj" fmla="val 9091"/>
            </a:avLst>
          </a:prstGeom>
          <a:solidFill>
            <a:srgbClr val="FFFFFF"/>
          </a:solidFill>
          <a:ln w="12700">
            <a:solidFill>
              <a:srgbClr val="D9DEE2"/>
            </a:solidFill>
            <a:prstDash val="solid"/>
          </a:ln>
        </p:spPr>
      </p:sp>
      <p:pic>
        <p:nvPicPr>
          <p:cNvPr id="23" name="Image 5" descr="/private/tmp/claude-501/-Users-salehhamed-Outcome-Engine/91861432-41e2-4884-bc97-63c6dff2d021/scratchpad/wk/icons/TbTools-teal.png">    </p:cNvPr>
          <p:cNvPicPr>
            <a:picLocks noChangeAspect="1"/>
          </p:cNvPicPr>
          <p:nvPr/>
        </p:nvPicPr>
        <p:blipFill>
          <a:blip r:embed="rId8"/>
          <a:stretch>
            <a:fillRect/>
          </a:stretch>
        </p:blipFill>
        <p:spPr>
          <a:xfrm>
            <a:off x="7863840" y="5074920"/>
            <a:ext cx="438912" cy="438912"/>
          </a:xfrm>
          <a:prstGeom prst="rect">
            <a:avLst/>
          </a:prstGeom>
        </p:spPr>
      </p:pic>
      <p:sp>
        <p:nvSpPr>
          <p:cNvPr id="24" name="Text 16"/>
          <p:cNvSpPr txBox="1"/>
          <p:nvPr/>
        </p:nvSpPr>
        <p:spPr>
          <a:xfrm>
            <a:off x="8458200" y="4892040"/>
            <a:ext cx="3063240" cy="804672"/>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is a stand-in for now</a:t>
            </a:r>
            <a:endParaRPr lang="en-US" sz="15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0">
  <p:cSld name="Slide 1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RECAP AND BUILD STATUS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Three ways to run this session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09:00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130</a:t>
            </a:r>
            <a:endParaRPr lang="en-US" sz="1000" dirty="0"/>
          </a:p>
        </p:txBody>
      </p:sp>
      <p:sp>
        <p:nvSpPr>
          <p:cNvPr id="7" name="Shape 4"/>
          <p:cNvSpPr/>
          <p:nvPr/>
        </p:nvSpPr>
        <p:spPr>
          <a:xfrm>
            <a:off x="548640" y="1463040"/>
            <a:ext cx="3566160" cy="4663440"/>
          </a:xfrm>
          <a:prstGeom prst="roundRect">
            <a:avLst>
              <a:gd name="adj" fmla="val 2051"/>
            </a:avLst>
          </a:prstGeom>
          <a:solidFill>
            <a:srgbClr val="FFFFFF"/>
          </a:solidFill>
          <a:ln w="12700">
            <a:solidFill>
              <a:srgbClr val="D9DEE2"/>
            </a:solidFill>
            <a:prstDash val="solid"/>
          </a:ln>
        </p:spPr>
      </p:sp>
      <p:sp>
        <p:nvSpPr>
          <p:cNvPr id="8" name="Shape 5"/>
          <p:cNvSpPr/>
          <p:nvPr/>
        </p:nvSpPr>
        <p:spPr>
          <a:xfrm>
            <a:off x="548640" y="1463040"/>
            <a:ext cx="3566160" cy="566928"/>
          </a:xfrm>
          <a:prstGeom prst="roundRect">
            <a:avLst>
              <a:gd name="adj" fmla="val 12903"/>
            </a:avLst>
          </a:prstGeom>
          <a:solidFill>
            <a:srgbClr val="287079"/>
          </a:solidFill>
          <a:ln/>
        </p:spPr>
      </p:sp>
      <p:sp>
        <p:nvSpPr>
          <p:cNvPr id="9" name="Shape 6"/>
          <p:cNvSpPr/>
          <p:nvPr/>
        </p:nvSpPr>
        <p:spPr>
          <a:xfrm>
            <a:off x="548640" y="1828800"/>
            <a:ext cx="3566160" cy="201168"/>
          </a:xfrm>
          <a:prstGeom prst="rect">
            <a:avLst/>
          </a:prstGeom>
          <a:solidFill>
            <a:srgbClr val="287079"/>
          </a:solidFill>
          <a:ln/>
        </p:spPr>
      </p:sp>
      <p:pic>
        <p:nvPicPr>
          <p:cNvPr id="10" name="Image 1" descr="/private/tmp/claude-501/-Users-salehhamed-Outcome-Engine/91861432-41e2-4884-bc97-63c6dff2d021/scratchpad/wk/icons/TbHandClick-white.png">    </p:cNvPr>
          <p:cNvPicPr>
            <a:picLocks noChangeAspect="1"/>
          </p:cNvPicPr>
          <p:nvPr/>
        </p:nvPicPr>
        <p:blipFill>
          <a:blip r:embed="rId4"/>
          <a:stretch>
            <a:fillRect/>
          </a:stretch>
        </p:blipFill>
        <p:spPr>
          <a:xfrm>
            <a:off x="713232" y="1554480"/>
            <a:ext cx="384048" cy="384048"/>
          </a:xfrm>
          <a:prstGeom prst="rect">
            <a:avLst/>
          </a:prstGeom>
        </p:spPr>
      </p:pic>
      <p:sp>
        <p:nvSpPr>
          <p:cNvPr id="11" name="Text 7"/>
          <p:cNvSpPr txBox="1"/>
          <p:nvPr/>
        </p:nvSpPr>
        <p:spPr>
          <a:xfrm>
            <a:off x="120700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A · HANDS-ON</a:t>
            </a:r>
            <a:endParaRPr lang="en-US" sz="1150" dirty="0"/>
          </a:p>
        </p:txBody>
      </p:sp>
      <p:sp>
        <p:nvSpPr>
          <p:cNvPr id="12" name="Text 8"/>
          <p:cNvSpPr txBox="1"/>
          <p:nvPr/>
        </p:nvSpPr>
        <p:spPr>
          <a:xfrm>
            <a:off x="77724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Spot the difference</a:t>
            </a:r>
            <a:endParaRPr lang="en-US" sz="2100" dirty="0"/>
          </a:p>
        </p:txBody>
      </p:sp>
      <p:sp>
        <p:nvSpPr>
          <p:cNvPr id="13" name="Text 9"/>
          <p:cNvSpPr txBox="1"/>
          <p:nvPr/>
        </p:nvSpPr>
        <p:spPr>
          <a:xfrm>
            <a:off x="77724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Yesterday's agreements next to what was built; each table spots one difference.</a:t>
            </a:r>
            <a:endParaRPr lang="en-US" sz="1400" dirty="0"/>
          </a:p>
        </p:txBody>
      </p:sp>
      <p:pic>
        <p:nvPicPr>
          <p:cNvPr id="14" name="Image 2" descr="/private/tmp/claude-501/-Users-salehhamed-Outcome-Engine/91861432-41e2-4884-bc97-63c6dff2d021/scratchpad/wk/icons/TbClock-grey.png">    </p:cNvPr>
          <p:cNvPicPr>
            <a:picLocks noChangeAspect="1"/>
          </p:cNvPicPr>
          <p:nvPr/>
        </p:nvPicPr>
        <p:blipFill>
          <a:blip r:embed="rId5"/>
          <a:stretch>
            <a:fillRect/>
          </a:stretch>
        </p:blipFill>
        <p:spPr>
          <a:xfrm>
            <a:off x="777240" y="4297680"/>
            <a:ext cx="274320" cy="274320"/>
          </a:xfrm>
          <a:prstGeom prst="rect">
            <a:avLst/>
          </a:prstGeom>
        </p:spPr>
      </p:pic>
      <p:sp>
        <p:nvSpPr>
          <p:cNvPr id="15" name="Text 10"/>
          <p:cNvSpPr txBox="1"/>
          <p:nvPr/>
        </p:nvSpPr>
        <p:spPr>
          <a:xfrm>
            <a:off x="114300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15 min</a:t>
            </a:r>
            <a:endParaRPr lang="en-US" sz="1200" dirty="0"/>
          </a:p>
        </p:txBody>
      </p:sp>
      <p:pic>
        <p:nvPicPr>
          <p:cNvPr id="16" name="Image 3" descr="/private/tmp/claude-501/-Users-salehhamed-Outcome-Engine/91861432-41e2-4884-bc97-63c6dff2d021/scratchpad/wk/icons/TbUsers-grey.png">    </p:cNvPr>
          <p:cNvPicPr>
            <a:picLocks noChangeAspect="1"/>
          </p:cNvPicPr>
          <p:nvPr/>
        </p:nvPicPr>
        <p:blipFill>
          <a:blip r:embed="rId6"/>
          <a:stretch>
            <a:fillRect/>
          </a:stretch>
        </p:blipFill>
        <p:spPr>
          <a:xfrm>
            <a:off x="777240" y="4681728"/>
            <a:ext cx="274320" cy="274320"/>
          </a:xfrm>
          <a:prstGeom prst="rect">
            <a:avLst/>
          </a:prstGeom>
        </p:spPr>
      </p:pic>
      <p:sp>
        <p:nvSpPr>
          <p:cNvPr id="17" name="Text 11"/>
          <p:cNvSpPr txBox="1"/>
          <p:nvPr/>
        </p:nvSpPr>
        <p:spPr>
          <a:xfrm>
            <a:off x="114300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Tables</a:t>
            </a:r>
            <a:endParaRPr lang="en-US" sz="1200" dirty="0"/>
          </a:p>
        </p:txBody>
      </p:sp>
      <p:pic>
        <p:nvPicPr>
          <p:cNvPr id="18" name="Image 4" descr="/private/tmp/claude-501/-Users-salehhamed-Outcome-Engine/91861432-41e2-4884-bc97-63c6dff2d021/scratchpad/wk/icons/TbGauge-grey.png">    </p:cNvPr>
          <p:cNvPicPr>
            <a:picLocks noChangeAspect="1"/>
          </p:cNvPicPr>
          <p:nvPr/>
        </p:nvPicPr>
        <p:blipFill>
          <a:blip r:embed="rId7"/>
          <a:stretch>
            <a:fillRect/>
          </a:stretch>
        </p:blipFill>
        <p:spPr>
          <a:xfrm>
            <a:off x="777240" y="5065776"/>
            <a:ext cx="274320" cy="274320"/>
          </a:xfrm>
          <a:prstGeom prst="rect">
            <a:avLst/>
          </a:prstGeom>
        </p:spPr>
      </p:pic>
      <p:sp>
        <p:nvSpPr>
          <p:cNvPr id="19" name="Text 12"/>
          <p:cNvSpPr txBox="1"/>
          <p:nvPr/>
        </p:nvSpPr>
        <p:spPr>
          <a:xfrm>
            <a:off x="114300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20" name="Text 13"/>
          <p:cNvSpPr txBox="1"/>
          <p:nvPr/>
        </p:nvSpPr>
        <p:spPr>
          <a:xfrm>
            <a:off x="77724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build changed something from Day 1.</a:t>
            </a:r>
            <a:endParaRPr lang="en-US" sz="1150" dirty="0"/>
          </a:p>
        </p:txBody>
      </p:sp>
      <p:pic>
        <p:nvPicPr>
          <p:cNvPr id="21" name="Image 5" descr="/private/tmp/claude-501/-Users-salehhamed-Outcome-Engine/91861432-41e2-4884-bc97-63c6dff2d021/scratchpad/wk/brand/clear.png">
            <a:hlinkClick r:id="rId9" tooltip="Option A" action="ppaction://hlinksldjump"/>
          </p:cNvPr>
          <p:cNvPicPr>
            <a:picLocks noChangeAspect="1"/>
          </p:cNvPicPr>
          <p:nvPr/>
        </p:nvPicPr>
        <p:blipFill>
          <a:blip r:embed="rId8"/>
          <a:stretch>
            <a:fillRect/>
          </a:stretch>
        </p:blipFill>
        <p:spPr>
          <a:xfrm>
            <a:off x="548640" y="1463040"/>
            <a:ext cx="3566160" cy="4663440"/>
          </a:xfrm>
          <a:prstGeom prst="rect">
            <a:avLst/>
          </a:prstGeom>
        </p:spPr>
      </p:pic>
      <p:sp>
        <p:nvSpPr>
          <p:cNvPr id="22" name="Shape 14"/>
          <p:cNvSpPr/>
          <p:nvPr/>
        </p:nvSpPr>
        <p:spPr>
          <a:xfrm>
            <a:off x="4297680" y="1463040"/>
            <a:ext cx="3566160" cy="4663440"/>
          </a:xfrm>
          <a:prstGeom prst="roundRect">
            <a:avLst>
              <a:gd name="adj" fmla="val 2051"/>
            </a:avLst>
          </a:prstGeom>
          <a:solidFill>
            <a:srgbClr val="FFFFFF"/>
          </a:solidFill>
          <a:ln w="12700">
            <a:solidFill>
              <a:srgbClr val="D9DEE2"/>
            </a:solidFill>
            <a:prstDash val="solid"/>
          </a:ln>
        </p:spPr>
      </p:sp>
      <p:sp>
        <p:nvSpPr>
          <p:cNvPr id="23" name="Shape 15"/>
          <p:cNvSpPr/>
          <p:nvPr/>
        </p:nvSpPr>
        <p:spPr>
          <a:xfrm>
            <a:off x="4297680" y="1463040"/>
            <a:ext cx="3566160" cy="566928"/>
          </a:xfrm>
          <a:prstGeom prst="roundRect">
            <a:avLst>
              <a:gd name="adj" fmla="val 12903"/>
            </a:avLst>
          </a:prstGeom>
          <a:solidFill>
            <a:srgbClr val="FF462D"/>
          </a:solidFill>
          <a:ln/>
        </p:spPr>
      </p:sp>
      <p:sp>
        <p:nvSpPr>
          <p:cNvPr id="24" name="Shape 16"/>
          <p:cNvSpPr/>
          <p:nvPr/>
        </p:nvSpPr>
        <p:spPr>
          <a:xfrm>
            <a:off x="4297680" y="1828800"/>
            <a:ext cx="3566160" cy="201168"/>
          </a:xfrm>
          <a:prstGeom prst="rect">
            <a:avLst/>
          </a:prstGeom>
          <a:solidFill>
            <a:srgbClr val="FF462D"/>
          </a:solidFill>
          <a:ln/>
        </p:spPr>
      </p:sp>
      <p:pic>
        <p:nvPicPr>
          <p:cNvPr id="25" name="Image 6" descr="/private/tmp/claude-501/-Users-salehhamed-Outcome-Engine/91861432-41e2-4884-bc97-63c6dff2d021/scratchpad/wk/icons/TbDeviceMobile-white.png">    </p:cNvPr>
          <p:cNvPicPr>
            <a:picLocks noChangeAspect="1"/>
          </p:cNvPicPr>
          <p:nvPr/>
        </p:nvPicPr>
        <p:blipFill>
          <a:blip r:embed="rId10"/>
          <a:stretch>
            <a:fillRect/>
          </a:stretch>
        </p:blipFill>
        <p:spPr>
          <a:xfrm>
            <a:off x="4462272" y="1554480"/>
            <a:ext cx="384048" cy="384048"/>
          </a:xfrm>
          <a:prstGeom prst="rect">
            <a:avLst/>
          </a:prstGeom>
        </p:spPr>
      </p:pic>
      <p:sp>
        <p:nvSpPr>
          <p:cNvPr id="26" name="Text 17"/>
          <p:cNvSpPr txBox="1"/>
          <p:nvPr/>
        </p:nvSpPr>
        <p:spPr>
          <a:xfrm>
            <a:off x="495604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B · LIVE VOTING</a:t>
            </a:r>
            <a:endParaRPr lang="en-US" sz="1150" dirty="0"/>
          </a:p>
        </p:txBody>
      </p:sp>
      <p:sp>
        <p:nvSpPr>
          <p:cNvPr id="27" name="Text 18"/>
          <p:cNvSpPr txBox="1"/>
          <p:nvPr/>
        </p:nvSpPr>
        <p:spPr>
          <a:xfrm>
            <a:off x="452628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Three-question quiz</a:t>
            </a:r>
            <a:endParaRPr lang="en-US" sz="2100" dirty="0"/>
          </a:p>
        </p:txBody>
      </p:sp>
      <p:sp>
        <p:nvSpPr>
          <p:cNvPr id="28" name="Text 19"/>
          <p:cNvSpPr txBox="1"/>
          <p:nvPr/>
        </p:nvSpPr>
        <p:spPr>
          <a:xfrm>
            <a:off x="452628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Three questions on phones about yesterday, then the build summary.</a:t>
            </a:r>
            <a:endParaRPr lang="en-US" sz="1400" dirty="0"/>
          </a:p>
        </p:txBody>
      </p:sp>
      <p:pic>
        <p:nvPicPr>
          <p:cNvPr id="29" name="Image 7" descr="/private/tmp/claude-501/-Users-salehhamed-Outcome-Engine/91861432-41e2-4884-bc97-63c6dff2d021/scratchpad/wk/icons/TbClock-grey.png">    </p:cNvPr>
          <p:cNvPicPr>
            <a:picLocks noChangeAspect="1"/>
          </p:cNvPicPr>
          <p:nvPr/>
        </p:nvPicPr>
        <p:blipFill>
          <a:blip r:embed="rId11"/>
          <a:stretch>
            <a:fillRect/>
          </a:stretch>
        </p:blipFill>
        <p:spPr>
          <a:xfrm>
            <a:off x="4526280" y="4297680"/>
            <a:ext cx="274320" cy="274320"/>
          </a:xfrm>
          <a:prstGeom prst="rect">
            <a:avLst/>
          </a:prstGeom>
        </p:spPr>
      </p:pic>
      <p:sp>
        <p:nvSpPr>
          <p:cNvPr id="30" name="Text 20"/>
          <p:cNvSpPr txBox="1"/>
          <p:nvPr/>
        </p:nvSpPr>
        <p:spPr>
          <a:xfrm>
            <a:off x="489204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15 min</a:t>
            </a:r>
            <a:endParaRPr lang="en-US" sz="1200" dirty="0"/>
          </a:p>
        </p:txBody>
      </p:sp>
      <p:pic>
        <p:nvPicPr>
          <p:cNvPr id="31" name="Image 8" descr="/private/tmp/claude-501/-Users-salehhamed-Outcome-Engine/91861432-41e2-4884-bc97-63c6dff2d021/scratchpad/wk/icons/TbUsers-grey.png">    </p:cNvPr>
          <p:cNvPicPr>
            <a:picLocks noChangeAspect="1"/>
          </p:cNvPicPr>
          <p:nvPr/>
        </p:nvPicPr>
        <p:blipFill>
          <a:blip r:embed="rId12"/>
          <a:stretch>
            <a:fillRect/>
          </a:stretch>
        </p:blipFill>
        <p:spPr>
          <a:xfrm>
            <a:off x="4526280" y="4681728"/>
            <a:ext cx="274320" cy="274320"/>
          </a:xfrm>
          <a:prstGeom prst="rect">
            <a:avLst/>
          </a:prstGeom>
        </p:spPr>
      </p:pic>
      <p:sp>
        <p:nvSpPr>
          <p:cNvPr id="32" name="Text 21"/>
          <p:cNvSpPr txBox="1"/>
          <p:nvPr/>
        </p:nvSpPr>
        <p:spPr>
          <a:xfrm>
            <a:off x="489204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Each person</a:t>
            </a:r>
            <a:endParaRPr lang="en-US" sz="1200" dirty="0"/>
          </a:p>
        </p:txBody>
      </p:sp>
      <p:pic>
        <p:nvPicPr>
          <p:cNvPr id="33" name="Image 9" descr="/private/tmp/claude-501/-Users-salehhamed-Outcome-Engine/91861432-41e2-4884-bc97-63c6dff2d021/scratchpad/wk/icons/TbGauge-grey.png">    </p:cNvPr>
          <p:cNvPicPr>
            <a:picLocks noChangeAspect="1"/>
          </p:cNvPicPr>
          <p:nvPr/>
        </p:nvPicPr>
        <p:blipFill>
          <a:blip r:embed="rId13"/>
          <a:stretch>
            <a:fillRect/>
          </a:stretch>
        </p:blipFill>
        <p:spPr>
          <a:xfrm>
            <a:off x="4526280" y="5065776"/>
            <a:ext cx="274320" cy="274320"/>
          </a:xfrm>
          <a:prstGeom prst="rect">
            <a:avLst/>
          </a:prstGeom>
        </p:spPr>
      </p:pic>
      <p:sp>
        <p:nvSpPr>
          <p:cNvPr id="34" name="Text 22"/>
          <p:cNvSpPr txBox="1"/>
          <p:nvPr/>
        </p:nvSpPr>
        <p:spPr>
          <a:xfrm>
            <a:off x="489204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35" name="Text 23"/>
          <p:cNvSpPr txBox="1"/>
          <p:nvPr/>
        </p:nvSpPr>
        <p:spPr>
          <a:xfrm>
            <a:off x="452628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You want a quick check on yesterday.</a:t>
            </a:r>
            <a:endParaRPr lang="en-US" sz="1150" dirty="0"/>
          </a:p>
        </p:txBody>
      </p:sp>
      <p:pic>
        <p:nvPicPr>
          <p:cNvPr id="36" name="Image 10" descr="/private/tmp/claude-501/-Users-salehhamed-Outcome-Engine/91861432-41e2-4884-bc97-63c6dff2d021/scratchpad/wk/brand/clear.png">
            <a:hlinkClick r:id="rId15" tooltip="Option B" action="ppaction://hlinksldjump"/>
          </p:cNvPr>
          <p:cNvPicPr>
            <a:picLocks noChangeAspect="1"/>
          </p:cNvPicPr>
          <p:nvPr/>
        </p:nvPicPr>
        <p:blipFill>
          <a:blip r:embed="rId14"/>
          <a:stretch>
            <a:fillRect/>
          </a:stretch>
        </p:blipFill>
        <p:spPr>
          <a:xfrm>
            <a:off x="4297680" y="1463040"/>
            <a:ext cx="3566160" cy="4663440"/>
          </a:xfrm>
          <a:prstGeom prst="rect">
            <a:avLst/>
          </a:prstGeom>
        </p:spPr>
      </p:pic>
      <p:sp>
        <p:nvSpPr>
          <p:cNvPr id="37" name="Shape 24"/>
          <p:cNvSpPr/>
          <p:nvPr/>
        </p:nvSpPr>
        <p:spPr>
          <a:xfrm>
            <a:off x="8046720" y="1463040"/>
            <a:ext cx="3566160" cy="4663440"/>
          </a:xfrm>
          <a:prstGeom prst="roundRect">
            <a:avLst>
              <a:gd name="adj" fmla="val 2051"/>
            </a:avLst>
          </a:prstGeom>
          <a:solidFill>
            <a:srgbClr val="FFFFFF"/>
          </a:solidFill>
          <a:ln w="12700">
            <a:solidFill>
              <a:srgbClr val="D9DEE2"/>
            </a:solidFill>
            <a:prstDash val="solid"/>
          </a:ln>
        </p:spPr>
      </p:sp>
      <p:sp>
        <p:nvSpPr>
          <p:cNvPr id="38" name="Shape 25"/>
          <p:cNvSpPr/>
          <p:nvPr/>
        </p:nvSpPr>
        <p:spPr>
          <a:xfrm>
            <a:off x="8046720" y="1463040"/>
            <a:ext cx="3566160" cy="566928"/>
          </a:xfrm>
          <a:prstGeom prst="roundRect">
            <a:avLst>
              <a:gd name="adj" fmla="val 12903"/>
            </a:avLst>
          </a:prstGeom>
          <a:solidFill>
            <a:srgbClr val="36454F"/>
          </a:solidFill>
          <a:ln/>
        </p:spPr>
      </p:sp>
      <p:sp>
        <p:nvSpPr>
          <p:cNvPr id="39" name="Shape 26"/>
          <p:cNvSpPr/>
          <p:nvPr/>
        </p:nvSpPr>
        <p:spPr>
          <a:xfrm>
            <a:off x="8046720" y="1828800"/>
            <a:ext cx="3566160" cy="201168"/>
          </a:xfrm>
          <a:prstGeom prst="rect">
            <a:avLst/>
          </a:prstGeom>
          <a:solidFill>
            <a:srgbClr val="36454F"/>
          </a:solidFill>
          <a:ln/>
        </p:spPr>
      </p:sp>
      <p:pic>
        <p:nvPicPr>
          <p:cNvPr id="40" name="Image 11" descr="/private/tmp/claude-501/-Users-salehhamed-Outcome-Engine/91861432-41e2-4884-bc97-63c6dff2d021/scratchpad/wk/icons/TbMasksTheater-white.png">    </p:cNvPr>
          <p:cNvPicPr>
            <a:picLocks noChangeAspect="1"/>
          </p:cNvPicPr>
          <p:nvPr/>
        </p:nvPicPr>
        <p:blipFill>
          <a:blip r:embed="rId16"/>
          <a:stretch>
            <a:fillRect/>
          </a:stretch>
        </p:blipFill>
        <p:spPr>
          <a:xfrm>
            <a:off x="8211312" y="1554480"/>
            <a:ext cx="384048" cy="384048"/>
          </a:xfrm>
          <a:prstGeom prst="rect">
            <a:avLst/>
          </a:prstGeom>
        </p:spPr>
      </p:pic>
      <p:sp>
        <p:nvSpPr>
          <p:cNvPr id="41" name="Text 27"/>
          <p:cNvSpPr txBox="1"/>
          <p:nvPr/>
        </p:nvSpPr>
        <p:spPr>
          <a:xfrm>
            <a:off x="870508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C · CASES AND CONVERSATION</a:t>
            </a:r>
            <a:endParaRPr lang="en-US" sz="1150" dirty="0"/>
          </a:p>
        </p:txBody>
      </p:sp>
      <p:sp>
        <p:nvSpPr>
          <p:cNvPr id="42" name="Text 28"/>
          <p:cNvSpPr txBox="1"/>
          <p:nvPr/>
        </p:nvSpPr>
        <p:spPr>
          <a:xfrm>
            <a:off x="827532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Your questions first</a:t>
            </a:r>
            <a:endParaRPr lang="en-US" sz="2100" dirty="0"/>
          </a:p>
        </p:txBody>
      </p:sp>
      <p:sp>
        <p:nvSpPr>
          <p:cNvPr id="43" name="Text 29"/>
          <p:cNvSpPr txBox="1"/>
          <p:nvPr/>
        </p:nvSpPr>
        <p:spPr>
          <a:xfrm>
            <a:off x="827532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The engineers answer the overnight question marks, then show the build.</a:t>
            </a:r>
            <a:endParaRPr lang="en-US" sz="1400" dirty="0"/>
          </a:p>
        </p:txBody>
      </p:sp>
      <p:pic>
        <p:nvPicPr>
          <p:cNvPr id="44" name="Image 12" descr="/private/tmp/claude-501/-Users-salehhamed-Outcome-Engine/91861432-41e2-4884-bc97-63c6dff2d021/scratchpad/wk/icons/TbClock-grey.png">    </p:cNvPr>
          <p:cNvPicPr>
            <a:picLocks noChangeAspect="1"/>
          </p:cNvPicPr>
          <p:nvPr/>
        </p:nvPicPr>
        <p:blipFill>
          <a:blip r:embed="rId17"/>
          <a:stretch>
            <a:fillRect/>
          </a:stretch>
        </p:blipFill>
        <p:spPr>
          <a:xfrm>
            <a:off x="8275320" y="4297680"/>
            <a:ext cx="274320" cy="274320"/>
          </a:xfrm>
          <a:prstGeom prst="rect">
            <a:avLst/>
          </a:prstGeom>
        </p:spPr>
      </p:pic>
      <p:sp>
        <p:nvSpPr>
          <p:cNvPr id="45" name="Text 30"/>
          <p:cNvSpPr txBox="1"/>
          <p:nvPr/>
        </p:nvSpPr>
        <p:spPr>
          <a:xfrm>
            <a:off x="864108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15 min</a:t>
            </a:r>
            <a:endParaRPr lang="en-US" sz="1200" dirty="0"/>
          </a:p>
        </p:txBody>
      </p:sp>
      <p:pic>
        <p:nvPicPr>
          <p:cNvPr id="46" name="Image 13" descr="/private/tmp/claude-501/-Users-salehhamed-Outcome-Engine/91861432-41e2-4884-bc97-63c6dff2d021/scratchpad/wk/icons/TbUsers-grey.png">    </p:cNvPr>
          <p:cNvPicPr>
            <a:picLocks noChangeAspect="1"/>
          </p:cNvPicPr>
          <p:nvPr/>
        </p:nvPicPr>
        <p:blipFill>
          <a:blip r:embed="rId18"/>
          <a:stretch>
            <a:fillRect/>
          </a:stretch>
        </p:blipFill>
        <p:spPr>
          <a:xfrm>
            <a:off x="8275320" y="4681728"/>
            <a:ext cx="274320" cy="274320"/>
          </a:xfrm>
          <a:prstGeom prst="rect">
            <a:avLst/>
          </a:prstGeom>
        </p:spPr>
      </p:pic>
      <p:sp>
        <p:nvSpPr>
          <p:cNvPr id="47" name="Text 31"/>
          <p:cNvSpPr txBox="1"/>
          <p:nvPr/>
        </p:nvSpPr>
        <p:spPr>
          <a:xfrm>
            <a:off x="864108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Whole room</a:t>
            </a:r>
            <a:endParaRPr lang="en-US" sz="1200" dirty="0"/>
          </a:p>
        </p:txBody>
      </p:sp>
      <p:pic>
        <p:nvPicPr>
          <p:cNvPr id="48" name="Image 14" descr="/private/tmp/claude-501/-Users-salehhamed-Outcome-Engine/91861432-41e2-4884-bc97-63c6dff2d021/scratchpad/wk/icons/TbGauge-grey.png">    </p:cNvPr>
          <p:cNvPicPr>
            <a:picLocks noChangeAspect="1"/>
          </p:cNvPicPr>
          <p:nvPr/>
        </p:nvPicPr>
        <p:blipFill>
          <a:blip r:embed="rId19"/>
          <a:stretch>
            <a:fillRect/>
          </a:stretch>
        </p:blipFill>
        <p:spPr>
          <a:xfrm>
            <a:off x="8275320" y="5065776"/>
            <a:ext cx="274320" cy="274320"/>
          </a:xfrm>
          <a:prstGeom prst="rect">
            <a:avLst/>
          </a:prstGeom>
        </p:spPr>
      </p:pic>
      <p:sp>
        <p:nvSpPr>
          <p:cNvPr id="49" name="Text 32"/>
          <p:cNvSpPr txBox="1"/>
          <p:nvPr/>
        </p:nvSpPr>
        <p:spPr>
          <a:xfrm>
            <a:off x="864108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Calm energy</a:t>
            </a:r>
            <a:endParaRPr lang="en-US" sz="1200" dirty="0"/>
          </a:p>
        </p:txBody>
      </p:sp>
      <p:sp>
        <p:nvSpPr>
          <p:cNvPr id="50" name="Text 33"/>
          <p:cNvSpPr txBox="1"/>
          <p:nvPr/>
        </p:nvSpPr>
        <p:spPr>
          <a:xfrm>
            <a:off x="827532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arrival wall raised questions.</a:t>
            </a:r>
            <a:endParaRPr lang="en-US" sz="1150" dirty="0"/>
          </a:p>
        </p:txBody>
      </p:sp>
      <p:pic>
        <p:nvPicPr>
          <p:cNvPr id="51" name="Image 15" descr="/private/tmp/claude-501/-Users-salehhamed-Outcome-Engine/91861432-41e2-4884-bc97-63c6dff2d021/scratchpad/wk/brand/clear.png">
            <a:hlinkClick r:id="rId21" tooltip="Option C" action="ppaction://hlinksldjump"/>
          </p:cNvPr>
          <p:cNvPicPr>
            <a:picLocks noChangeAspect="1"/>
          </p:cNvPicPr>
          <p:nvPr/>
        </p:nvPicPr>
        <p:blipFill>
          <a:blip r:embed="rId20"/>
          <a:stretch>
            <a:fillRect/>
          </a:stretch>
        </p:blipFill>
        <p:spPr>
          <a:xfrm>
            <a:off x="8046720" y="1463040"/>
            <a:ext cx="3566160" cy="4663440"/>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0">
  <p:cSld name="Slide 1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OPTION A · HANDS-ON · RECAP</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Spot the difference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09:00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131</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Yesterday's agreements next to what was built; each table spots one difference.</a:t>
            </a:r>
            <a:endParaRPr lang="en-US" sz="1900" dirty="0"/>
          </a:p>
        </p:txBody>
      </p:sp>
      <p:sp>
        <p:nvSpPr>
          <p:cNvPr id="8" name="Shape 5"/>
          <p:cNvSpPr/>
          <p:nvPr/>
        </p:nvSpPr>
        <p:spPr>
          <a:xfrm>
            <a:off x="548640" y="2240280"/>
            <a:ext cx="2182307" cy="1417320"/>
          </a:xfrm>
          <a:prstGeom prst="rect">
            <a:avLst/>
          </a:prstGeom>
          <a:solidFill>
            <a:srgbClr val="287079"/>
          </a:solidFill>
          <a:ln/>
        </p:spPr>
      </p:sp>
      <p:sp>
        <p:nvSpPr>
          <p:cNvPr id="9" name="Text 6"/>
          <p:cNvSpPr txBox="1"/>
          <p:nvPr/>
        </p:nvSpPr>
        <p:spPr>
          <a:xfrm>
            <a:off x="640080" y="2331720"/>
            <a:ext cx="203600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 min</a:t>
            </a:r>
            <a:endParaRPr lang="en-US" sz="1150" dirty="0"/>
          </a:p>
        </p:txBody>
      </p:sp>
      <p:sp>
        <p:nvSpPr>
          <p:cNvPr id="10" name="Text 7"/>
          <p:cNvSpPr txBox="1"/>
          <p:nvPr/>
        </p:nvSpPr>
        <p:spPr>
          <a:xfrm>
            <a:off x="640080" y="2651760"/>
            <a:ext cx="2072579"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Today</a:t>
            </a:r>
            <a:endParaRPr lang="en-US" sz="1500" dirty="0"/>
          </a:p>
        </p:txBody>
      </p:sp>
      <p:sp>
        <p:nvSpPr>
          <p:cNvPr id="11" name="Shape 8"/>
          <p:cNvSpPr/>
          <p:nvPr/>
        </p:nvSpPr>
        <p:spPr>
          <a:xfrm>
            <a:off x="2767523" y="2240280"/>
            <a:ext cx="5140818" cy="1417320"/>
          </a:xfrm>
          <a:prstGeom prst="rect">
            <a:avLst/>
          </a:prstGeom>
          <a:solidFill>
            <a:srgbClr val="5C8F95"/>
          </a:solidFill>
          <a:ln/>
        </p:spPr>
      </p:sp>
      <p:sp>
        <p:nvSpPr>
          <p:cNvPr id="12" name="Text 9"/>
          <p:cNvSpPr txBox="1"/>
          <p:nvPr/>
        </p:nvSpPr>
        <p:spPr>
          <a:xfrm>
            <a:off x="2858963" y="2331720"/>
            <a:ext cx="4994514"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7 min</a:t>
            </a:r>
            <a:endParaRPr lang="en-US" sz="1150" dirty="0"/>
          </a:p>
        </p:txBody>
      </p:sp>
      <p:sp>
        <p:nvSpPr>
          <p:cNvPr id="13" name="Text 10"/>
          <p:cNvSpPr txBox="1"/>
          <p:nvPr/>
        </p:nvSpPr>
        <p:spPr>
          <a:xfrm>
            <a:off x="2858963" y="2651760"/>
            <a:ext cx="5031090"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Built overnight</a:t>
            </a:r>
            <a:endParaRPr lang="en-US" sz="1500" dirty="0"/>
          </a:p>
        </p:txBody>
      </p:sp>
      <p:sp>
        <p:nvSpPr>
          <p:cNvPr id="14" name="Shape 11"/>
          <p:cNvSpPr/>
          <p:nvPr/>
        </p:nvSpPr>
        <p:spPr>
          <a:xfrm>
            <a:off x="7944917" y="2240280"/>
            <a:ext cx="3661562" cy="1417320"/>
          </a:xfrm>
          <a:prstGeom prst="rect">
            <a:avLst/>
          </a:prstGeom>
          <a:solidFill>
            <a:srgbClr val="287079"/>
          </a:solidFill>
          <a:ln/>
        </p:spPr>
      </p:sp>
      <p:sp>
        <p:nvSpPr>
          <p:cNvPr id="15" name="Text 12"/>
          <p:cNvSpPr txBox="1"/>
          <p:nvPr/>
        </p:nvSpPr>
        <p:spPr>
          <a:xfrm>
            <a:off x="8036357"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6" name="Text 13"/>
          <p:cNvSpPr txBox="1"/>
          <p:nvPr/>
        </p:nvSpPr>
        <p:spPr>
          <a:xfrm>
            <a:off x="8036357"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Spot differences</a:t>
            </a:r>
            <a:endParaRPr lang="en-US" sz="1500" dirty="0"/>
          </a:p>
        </p:txBody>
      </p:sp>
      <p:sp>
        <p:nvSpPr>
          <p:cNvPr id="17" name="Shape 14"/>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8"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9" name="Text 15"/>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0" name="Text 16"/>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Tables</a:t>
            </a:r>
            <a:endParaRPr lang="en-US" sz="1300" dirty="0"/>
          </a:p>
        </p:txBody>
      </p:sp>
      <p:sp>
        <p:nvSpPr>
          <p:cNvPr id="21" name="Shape 17"/>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2"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3" name="Text 18"/>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4" name="Text 19"/>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Differences, each with a yes or a fix.</a:t>
            </a:r>
            <a:endParaRPr lang="en-US" sz="1300" dirty="0"/>
          </a:p>
        </p:txBody>
      </p:sp>
      <p:sp>
        <p:nvSpPr>
          <p:cNvPr id="25" name="Shape 20"/>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6"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27" name="Text 21"/>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28" name="Text 22"/>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FF462D"/>
                </a:solidFill>
                <a:latin typeface="Arial" pitchFamily="34" charset="0"/>
                <a:ea typeface="Arial" pitchFamily="34" charset="-122"/>
                <a:cs typeface="Arial" pitchFamily="34" charset="-120"/>
              </a:rPr>
              <a:t>OPTION B · LIVE VOTING · RECAP</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Three-question quiz</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09:00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132</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Three questions on phones about yesterday, then the build summary.</a:t>
            </a:r>
            <a:endParaRPr lang="en-US" sz="1900" dirty="0"/>
          </a:p>
        </p:txBody>
      </p:sp>
      <p:sp>
        <p:nvSpPr>
          <p:cNvPr id="8" name="Shape 5"/>
          <p:cNvSpPr/>
          <p:nvPr/>
        </p:nvSpPr>
        <p:spPr>
          <a:xfrm>
            <a:off x="548640" y="2240280"/>
            <a:ext cx="2182307" cy="1417320"/>
          </a:xfrm>
          <a:prstGeom prst="rect">
            <a:avLst/>
          </a:prstGeom>
          <a:solidFill>
            <a:srgbClr val="FF462D"/>
          </a:solidFill>
          <a:ln/>
        </p:spPr>
      </p:sp>
      <p:sp>
        <p:nvSpPr>
          <p:cNvPr id="9" name="Text 6"/>
          <p:cNvSpPr txBox="1"/>
          <p:nvPr/>
        </p:nvSpPr>
        <p:spPr>
          <a:xfrm>
            <a:off x="640080" y="2331720"/>
            <a:ext cx="203600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 min</a:t>
            </a:r>
            <a:endParaRPr lang="en-US" sz="1150" dirty="0"/>
          </a:p>
        </p:txBody>
      </p:sp>
      <p:sp>
        <p:nvSpPr>
          <p:cNvPr id="10" name="Text 7"/>
          <p:cNvSpPr txBox="1"/>
          <p:nvPr/>
        </p:nvSpPr>
        <p:spPr>
          <a:xfrm>
            <a:off x="640080" y="2651760"/>
            <a:ext cx="2072579"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Today</a:t>
            </a:r>
            <a:endParaRPr lang="en-US" sz="1500" dirty="0"/>
          </a:p>
        </p:txBody>
      </p:sp>
      <p:sp>
        <p:nvSpPr>
          <p:cNvPr id="11" name="Shape 8"/>
          <p:cNvSpPr/>
          <p:nvPr/>
        </p:nvSpPr>
        <p:spPr>
          <a:xfrm>
            <a:off x="2767523" y="2240280"/>
            <a:ext cx="3661562" cy="1417320"/>
          </a:xfrm>
          <a:prstGeom prst="rect">
            <a:avLst/>
          </a:prstGeom>
          <a:solidFill>
            <a:srgbClr val="FF8A78"/>
          </a:solidFill>
          <a:ln/>
        </p:spPr>
      </p:sp>
      <p:sp>
        <p:nvSpPr>
          <p:cNvPr id="12" name="Text 9"/>
          <p:cNvSpPr txBox="1"/>
          <p:nvPr/>
        </p:nvSpPr>
        <p:spPr>
          <a:xfrm>
            <a:off x="2858963"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3" name="Text 10"/>
          <p:cNvSpPr txBox="1"/>
          <p:nvPr/>
        </p:nvSpPr>
        <p:spPr>
          <a:xfrm>
            <a:off x="2858963"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Quiz</a:t>
            </a:r>
            <a:endParaRPr lang="en-US" sz="1500" dirty="0"/>
          </a:p>
        </p:txBody>
      </p:sp>
      <p:sp>
        <p:nvSpPr>
          <p:cNvPr id="14" name="Shape 11"/>
          <p:cNvSpPr/>
          <p:nvPr/>
        </p:nvSpPr>
        <p:spPr>
          <a:xfrm>
            <a:off x="6465661" y="2240280"/>
            <a:ext cx="5140818" cy="1417320"/>
          </a:xfrm>
          <a:prstGeom prst="rect">
            <a:avLst/>
          </a:prstGeom>
          <a:solidFill>
            <a:srgbClr val="FF462D"/>
          </a:solidFill>
          <a:ln/>
        </p:spPr>
      </p:sp>
      <p:sp>
        <p:nvSpPr>
          <p:cNvPr id="15" name="Text 12"/>
          <p:cNvSpPr txBox="1"/>
          <p:nvPr/>
        </p:nvSpPr>
        <p:spPr>
          <a:xfrm>
            <a:off x="6557101" y="2331720"/>
            <a:ext cx="4994514"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7 min</a:t>
            </a:r>
            <a:endParaRPr lang="en-US" sz="1150" dirty="0"/>
          </a:p>
        </p:txBody>
      </p:sp>
      <p:sp>
        <p:nvSpPr>
          <p:cNvPr id="16" name="Text 13"/>
          <p:cNvSpPr txBox="1"/>
          <p:nvPr/>
        </p:nvSpPr>
        <p:spPr>
          <a:xfrm>
            <a:off x="6557101" y="2651760"/>
            <a:ext cx="5031090"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Built overnight</a:t>
            </a:r>
            <a:endParaRPr lang="en-US" sz="1500" dirty="0"/>
          </a:p>
        </p:txBody>
      </p:sp>
      <p:sp>
        <p:nvSpPr>
          <p:cNvPr id="17" name="Shape 14"/>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8"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9" name="Text 15"/>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0" name="Text 16"/>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Each person</a:t>
            </a:r>
            <a:endParaRPr lang="en-US" sz="1300" dirty="0"/>
          </a:p>
        </p:txBody>
      </p:sp>
      <p:sp>
        <p:nvSpPr>
          <p:cNvPr id="21" name="Shape 17"/>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2"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3" name="Text 18"/>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4" name="Text 19"/>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Saved in the room tool.</a:t>
            </a:r>
            <a:endParaRPr lang="en-US" sz="1300" dirty="0"/>
          </a:p>
        </p:txBody>
      </p:sp>
      <p:sp>
        <p:nvSpPr>
          <p:cNvPr id="25" name="Shape 20"/>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26"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27" name="Text 21"/>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28" name="Text 22"/>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0">
  <p:cSld name="Slide 1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36454F"/>
                </a:solidFill>
                <a:latin typeface="Arial" pitchFamily="34" charset="0"/>
                <a:ea typeface="Arial" pitchFamily="34" charset="-122"/>
                <a:cs typeface="Arial" pitchFamily="34" charset="-120"/>
              </a:rPr>
              <a:t>OPTION C · CASES AND CONVERSATION · RECAP</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Your questions first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09:00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133</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The engineers answer the overnight question marks, then show the build.</a:t>
            </a:r>
            <a:endParaRPr lang="en-US" sz="1900" dirty="0"/>
          </a:p>
        </p:txBody>
      </p:sp>
      <p:sp>
        <p:nvSpPr>
          <p:cNvPr id="8" name="Shape 5"/>
          <p:cNvSpPr/>
          <p:nvPr/>
        </p:nvSpPr>
        <p:spPr>
          <a:xfrm>
            <a:off x="548640" y="2240280"/>
            <a:ext cx="2182307" cy="1417320"/>
          </a:xfrm>
          <a:prstGeom prst="rect">
            <a:avLst/>
          </a:prstGeom>
          <a:solidFill>
            <a:srgbClr val="36454F"/>
          </a:solidFill>
          <a:ln/>
        </p:spPr>
      </p:sp>
      <p:sp>
        <p:nvSpPr>
          <p:cNvPr id="9" name="Text 6"/>
          <p:cNvSpPr txBox="1"/>
          <p:nvPr/>
        </p:nvSpPr>
        <p:spPr>
          <a:xfrm>
            <a:off x="640080" y="2331720"/>
            <a:ext cx="203600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 min</a:t>
            </a:r>
            <a:endParaRPr lang="en-US" sz="1150" dirty="0"/>
          </a:p>
        </p:txBody>
      </p:sp>
      <p:sp>
        <p:nvSpPr>
          <p:cNvPr id="10" name="Text 7"/>
          <p:cNvSpPr txBox="1"/>
          <p:nvPr/>
        </p:nvSpPr>
        <p:spPr>
          <a:xfrm>
            <a:off x="640080" y="2651760"/>
            <a:ext cx="2072579"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Today</a:t>
            </a:r>
            <a:endParaRPr lang="en-US" sz="1500" dirty="0"/>
          </a:p>
        </p:txBody>
      </p:sp>
      <p:sp>
        <p:nvSpPr>
          <p:cNvPr id="11" name="Shape 8"/>
          <p:cNvSpPr/>
          <p:nvPr/>
        </p:nvSpPr>
        <p:spPr>
          <a:xfrm>
            <a:off x="2767523" y="2240280"/>
            <a:ext cx="3661562" cy="1417320"/>
          </a:xfrm>
          <a:prstGeom prst="rect">
            <a:avLst/>
          </a:prstGeom>
          <a:solidFill>
            <a:srgbClr val="6B7B86"/>
          </a:solidFill>
          <a:ln/>
        </p:spPr>
      </p:sp>
      <p:sp>
        <p:nvSpPr>
          <p:cNvPr id="12" name="Text 9"/>
          <p:cNvSpPr txBox="1"/>
          <p:nvPr/>
        </p:nvSpPr>
        <p:spPr>
          <a:xfrm>
            <a:off x="2858963"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3" name="Text 10"/>
          <p:cNvSpPr txBox="1"/>
          <p:nvPr/>
        </p:nvSpPr>
        <p:spPr>
          <a:xfrm>
            <a:off x="2858963"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Your questions</a:t>
            </a:r>
            <a:endParaRPr lang="en-US" sz="1500" dirty="0"/>
          </a:p>
        </p:txBody>
      </p:sp>
      <p:sp>
        <p:nvSpPr>
          <p:cNvPr id="14" name="Shape 11"/>
          <p:cNvSpPr/>
          <p:nvPr/>
        </p:nvSpPr>
        <p:spPr>
          <a:xfrm>
            <a:off x="6465661" y="2240280"/>
            <a:ext cx="5140818" cy="1417320"/>
          </a:xfrm>
          <a:prstGeom prst="rect">
            <a:avLst/>
          </a:prstGeom>
          <a:solidFill>
            <a:srgbClr val="36454F"/>
          </a:solidFill>
          <a:ln/>
        </p:spPr>
      </p:sp>
      <p:sp>
        <p:nvSpPr>
          <p:cNvPr id="15" name="Text 12"/>
          <p:cNvSpPr txBox="1"/>
          <p:nvPr/>
        </p:nvSpPr>
        <p:spPr>
          <a:xfrm>
            <a:off x="6557101" y="2331720"/>
            <a:ext cx="4994514"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7 min</a:t>
            </a:r>
            <a:endParaRPr lang="en-US" sz="1150" dirty="0"/>
          </a:p>
        </p:txBody>
      </p:sp>
      <p:sp>
        <p:nvSpPr>
          <p:cNvPr id="16" name="Text 13"/>
          <p:cNvSpPr txBox="1"/>
          <p:nvPr/>
        </p:nvSpPr>
        <p:spPr>
          <a:xfrm>
            <a:off x="6557101" y="2651760"/>
            <a:ext cx="5031090"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Built overnight</a:t>
            </a:r>
            <a:endParaRPr lang="en-US" sz="1500" dirty="0"/>
          </a:p>
        </p:txBody>
      </p:sp>
      <p:sp>
        <p:nvSpPr>
          <p:cNvPr id="17" name="Shape 14"/>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8"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9" name="Text 15"/>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0" name="Text 16"/>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Whole room</a:t>
            </a:r>
            <a:endParaRPr lang="en-US" sz="1300" dirty="0"/>
          </a:p>
        </p:txBody>
      </p:sp>
      <p:sp>
        <p:nvSpPr>
          <p:cNvPr id="21" name="Shape 17"/>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2"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3" name="Text 18"/>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4" name="Text 19"/>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Answers, or owners for open questions.</a:t>
            </a:r>
            <a:endParaRPr lang="en-US" sz="1300" dirty="0"/>
          </a:p>
        </p:txBody>
      </p:sp>
      <p:sp>
        <p:nvSpPr>
          <p:cNvPr id="25" name="Shape 20"/>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6"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27" name="Text 21"/>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28" name="Text 22"/>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36454F"/>
          </a:solidFill>
          <a:ln/>
        </p:spPr>
      </p:sp>
      <p:sp>
        <p:nvSpPr>
          <p:cNvPr id="3" name="Text 1"/>
          <p:cNvSpPr txBox="1"/>
          <p:nvPr/>
        </p:nvSpPr>
        <p:spPr>
          <a:xfrm>
            <a:off x="548640" y="548640"/>
            <a:ext cx="3474720" cy="274320"/>
          </a:xfrm>
          <a:prstGeom prst="rect">
            <a:avLst/>
          </a:prstGeom>
          <a:noFill/>
          <a:ln/>
        </p:spPr>
        <p:txBody>
          <a:bodyPr wrap="square" lIns="0" tIns="0" rIns="0" bIns="0" rtlCol="0" anchor="t"/>
          <a:lstStyle/>
          <a:p>
            <a:pPr indent="0" marL="0">
              <a:buNone/>
            </a:pPr>
            <a:r>
              <a:rPr lang="en-US" sz="1100" b="1" spc="150" kern="0" dirty="0">
                <a:solidFill>
                  <a:srgbClr val="D9DEE2"/>
                </a:solidFill>
                <a:latin typeface="Arial" pitchFamily="34" charset="0"/>
                <a:ea typeface="Arial" pitchFamily="34" charset="-122"/>
                <a:cs typeface="Arial" pitchFamily="34" charset="-120"/>
              </a:rPr>
              <a:t>DAY 2 · 09:15–10:30 · 75 MIN</a:t>
            </a:r>
            <a:endParaRPr lang="en-US" sz="1100" dirty="0"/>
          </a:p>
        </p:txBody>
      </p:sp>
      <p:sp>
        <p:nvSpPr>
          <p:cNvPr id="4" name="Text 2"/>
          <p:cNvSpPr txBox="1"/>
          <p:nvPr/>
        </p:nvSpPr>
        <p:spPr>
          <a:xfrm>
            <a:off x="548640" y="960120"/>
            <a:ext cx="3383280" cy="2377440"/>
          </a:xfrm>
          <a:prstGeom prst="rect">
            <a:avLst/>
          </a:prstGeom>
          <a:noFill/>
          <a:ln/>
        </p:spPr>
        <p:txBody>
          <a:bodyPr wrap="square" lIns="0" tIns="0" rIns="0" bIns="0" rtlCol="0" anchor="t"/>
          <a:lstStyle/>
          <a:p>
            <a:pPr indent="0" marL="0">
              <a:buNone/>
            </a:pPr>
            <a:r>
              <a:rPr lang="en-US" sz="3000" b="1" dirty="0">
                <a:solidFill>
                  <a:srgbClr val="FFFFFF"/>
                </a:solidFill>
                <a:latin typeface="TWK Everett" pitchFamily="34" charset="0"/>
                <a:ea typeface="TWK Everett" pitchFamily="34" charset="-122"/>
                <a:cs typeface="TWK Everett" pitchFamily="34" charset="-120"/>
              </a:rPr>
              <a:t>Test the Proof of Concept</a:t>
            </a:r>
            <a:endParaRPr lang="en-US" sz="3000" dirty="0"/>
          </a:p>
        </p:txBody>
      </p:sp>
      <p:pic>
        <p:nvPicPr>
          <p:cNvPr id="5" name="Image 0" descr="/private/tmp/claude-501/-Users-salehhamed-Outcome-Engine/91861432-41e2-4884-bc97-63c6dff2d021/scratchpad/wk/icons/TbBug-white.png">    </p:cNvPr>
          <p:cNvPicPr>
            <a:picLocks noChangeAspect="1"/>
          </p:cNvPicPr>
          <p:nvPr/>
        </p:nvPicPr>
        <p:blipFill>
          <a:blip r:embed="rId1"/>
          <a:stretch>
            <a:fillRect/>
          </a:stretch>
        </p:blipFill>
        <p:spPr>
          <a:xfrm>
            <a:off x="548640" y="3200400"/>
            <a:ext cx="685800" cy="685800"/>
          </a:xfrm>
          <a:prstGeom prst="rect">
            <a:avLst/>
          </a:prstGeom>
        </p:spPr>
      </p:pic>
      <p:sp>
        <p:nvSpPr>
          <p:cNvPr id="6" name="Shape 3"/>
          <p:cNvSpPr/>
          <p:nvPr/>
        </p:nvSpPr>
        <p:spPr>
          <a:xfrm>
            <a:off x="548640" y="4169664"/>
            <a:ext cx="237744" cy="237744"/>
          </a:xfrm>
          <a:prstGeom prst="ellipse">
            <a:avLst/>
          </a:prstGeom>
          <a:solidFill>
            <a:srgbClr val="FFFFFF"/>
          </a:solidFill>
          <a:ln/>
        </p:spPr>
      </p:sp>
      <p:sp>
        <p:nvSpPr>
          <p:cNvPr id="7" name="Shape 4"/>
          <p:cNvSpPr/>
          <p:nvPr/>
        </p:nvSpPr>
        <p:spPr>
          <a:xfrm>
            <a:off x="932688" y="4169664"/>
            <a:ext cx="237744" cy="237744"/>
          </a:xfrm>
          <a:prstGeom prst="ellipse">
            <a:avLst/>
          </a:prstGeom>
          <a:solidFill>
            <a:srgbClr val="FFFFFF"/>
          </a:solidFill>
          <a:ln/>
        </p:spPr>
      </p:sp>
      <p:sp>
        <p:nvSpPr>
          <p:cNvPr id="8" name="Shape 5"/>
          <p:cNvSpPr/>
          <p:nvPr/>
        </p:nvSpPr>
        <p:spPr>
          <a:xfrm>
            <a:off x="1316736" y="4169664"/>
            <a:ext cx="237744" cy="237744"/>
          </a:xfrm>
          <a:prstGeom prst="ellipse">
            <a:avLst/>
          </a:prstGeom>
          <a:solidFill>
            <a:srgbClr val="FFFFFF"/>
          </a:solidFill>
          <a:ln/>
        </p:spPr>
      </p:sp>
      <p:sp>
        <p:nvSpPr>
          <p:cNvPr id="9" name="Shape 6"/>
          <p:cNvSpPr/>
          <p:nvPr/>
        </p:nvSpPr>
        <p:spPr>
          <a:xfrm>
            <a:off x="1700784" y="4169664"/>
            <a:ext cx="237744" cy="237744"/>
          </a:xfrm>
          <a:prstGeom prst="ellipse">
            <a:avLst/>
          </a:prstGeom>
          <a:solidFill>
            <a:srgbClr val="FFFFFF"/>
          </a:solidFill>
          <a:ln/>
        </p:spPr>
      </p:sp>
      <p:sp>
        <p:nvSpPr>
          <p:cNvPr id="10" name="Shape 7"/>
          <p:cNvSpPr/>
          <p:nvPr/>
        </p:nvSpPr>
        <p:spPr>
          <a:xfrm>
            <a:off x="2084832" y="4169664"/>
            <a:ext cx="237744" cy="237744"/>
          </a:xfrm>
          <a:prstGeom prst="ellipse">
            <a:avLst/>
          </a:prstGeom>
          <a:solidFill>
            <a:srgbClr val="FFFFFF"/>
          </a:solidFill>
          <a:ln/>
        </p:spPr>
      </p:sp>
      <p:sp>
        <p:nvSpPr>
          <p:cNvPr id="11" name="Shape 8"/>
          <p:cNvSpPr/>
          <p:nvPr/>
        </p:nvSpPr>
        <p:spPr>
          <a:xfrm>
            <a:off x="2432304" y="4133088"/>
            <a:ext cx="310896" cy="310896"/>
          </a:xfrm>
          <a:prstGeom prst="ellipse">
            <a:avLst/>
          </a:prstGeom>
          <a:solidFill>
            <a:srgbClr val="FF462D"/>
          </a:solidFill>
          <a:ln w="19050">
            <a:solidFill>
              <a:srgbClr val="FFFFFF"/>
            </a:solidFill>
            <a:prstDash val="solid"/>
          </a:ln>
        </p:spPr>
      </p:sp>
      <p:sp>
        <p:nvSpPr>
          <p:cNvPr id="12" name="Shape 9"/>
          <p:cNvSpPr/>
          <p:nvPr/>
        </p:nvSpPr>
        <p:spPr>
          <a:xfrm>
            <a:off x="2852928" y="4169664"/>
            <a:ext cx="237744" cy="237744"/>
          </a:xfrm>
          <a:prstGeom prst="ellipse">
            <a:avLst/>
          </a:prstGeom>
          <a:ln w="15875">
            <a:solidFill>
              <a:srgbClr val="D9DEE2"/>
            </a:solidFill>
            <a:prstDash val="solid"/>
          </a:ln>
        </p:spPr>
      </p:sp>
      <p:sp>
        <p:nvSpPr>
          <p:cNvPr id="13" name="Shape 10"/>
          <p:cNvSpPr/>
          <p:nvPr/>
        </p:nvSpPr>
        <p:spPr>
          <a:xfrm>
            <a:off x="3236976" y="4169664"/>
            <a:ext cx="237744" cy="237744"/>
          </a:xfrm>
          <a:prstGeom prst="ellipse">
            <a:avLst/>
          </a:prstGeom>
          <a:ln w="15875">
            <a:solidFill>
              <a:srgbClr val="D9DEE2"/>
            </a:solidFill>
            <a:prstDash val="solid"/>
          </a:ln>
        </p:spPr>
      </p:sp>
      <p:sp>
        <p:nvSpPr>
          <p:cNvPr id="14" name="Text 11"/>
          <p:cNvSpPr txBox="1"/>
          <p:nvPr/>
        </p:nvSpPr>
        <p:spPr>
          <a:xfrm>
            <a:off x="548640" y="4553712"/>
            <a:ext cx="338328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Step 6 of 8: Judge a working version</a:t>
            </a:r>
            <a:endParaRPr lang="en-US" sz="1100" dirty="0"/>
          </a:p>
        </p:txBody>
      </p:sp>
      <p:sp>
        <p:nvSpPr>
          <p:cNvPr id="15" name="Text 12"/>
          <p:cNvSpPr txBox="1"/>
          <p:nvPr/>
        </p:nvSpPr>
        <p:spPr>
          <a:xfrm>
            <a:off x="4709160" y="685800"/>
            <a:ext cx="6400800" cy="320040"/>
          </a:xfrm>
          <a:prstGeom prst="rect">
            <a:avLst/>
          </a:prstGeom>
          <a:noFill/>
          <a:ln/>
        </p:spPr>
        <p:txBody>
          <a:bodyPr wrap="square" lIns="0" tIns="0" rIns="0" bIns="0" rtlCol="0" anchor="t"/>
          <a:lstStyle/>
          <a:p>
            <a:pPr indent="0" marL="0">
              <a:buNone/>
            </a:pPr>
            <a:r>
              <a:rPr lang="en-US" sz="1400" b="1" dirty="0">
                <a:solidFill>
                  <a:srgbClr val="287079"/>
                </a:solidFill>
                <a:latin typeface="Arial" pitchFamily="34" charset="0"/>
                <a:ea typeface="Arial" pitchFamily="34" charset="-122"/>
                <a:cs typeface="Arial" pitchFamily="34" charset="-120"/>
              </a:rPr>
              <a:t>By the end of this session, you can</a:t>
            </a:r>
            <a:endParaRPr lang="en-US" sz="1400" dirty="0"/>
          </a:p>
        </p:txBody>
      </p:sp>
      <p:pic>
        <p:nvPicPr>
          <p:cNvPr id="16" name="Image 1" descr="/private/tmp/claude-501/-Users-salehhamed-Outcome-Engine/91861432-41e2-4884-bc97-63c6dff2d021/scratchpad/wk/icons/TbCircleCheck-teal.png">    </p:cNvPr>
          <p:cNvPicPr>
            <a:picLocks noChangeAspect="1"/>
          </p:cNvPicPr>
          <p:nvPr/>
        </p:nvPicPr>
        <p:blipFill>
          <a:blip r:embed="rId2"/>
          <a:stretch>
            <a:fillRect/>
          </a:stretch>
        </p:blipFill>
        <p:spPr>
          <a:xfrm>
            <a:off x="4709160" y="1225296"/>
            <a:ext cx="411480" cy="411480"/>
          </a:xfrm>
          <a:prstGeom prst="rect">
            <a:avLst/>
          </a:prstGeom>
        </p:spPr>
      </p:pic>
      <p:sp>
        <p:nvSpPr>
          <p:cNvPr id="17" name="Text 13"/>
          <p:cNvSpPr txBox="1"/>
          <p:nvPr/>
        </p:nvSpPr>
        <p:spPr>
          <a:xfrm>
            <a:off x="5303520" y="118872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Run five kinds of test case through the working version.</a:t>
            </a:r>
            <a:endParaRPr lang="en-US" sz="1700" dirty="0"/>
          </a:p>
        </p:txBody>
      </p:sp>
      <p:pic>
        <p:nvPicPr>
          <p:cNvPr id="18" name="Image 2" descr="/private/tmp/claude-501/-Users-salehhamed-Outcome-Engine/91861432-41e2-4884-bc97-63c6dff2d021/scratchpad/wk/icons/TbCircleCheck-teal.png">    </p:cNvPr>
          <p:cNvPicPr>
            <a:picLocks noChangeAspect="1"/>
          </p:cNvPicPr>
          <p:nvPr/>
        </p:nvPicPr>
        <p:blipFill>
          <a:blip r:embed="rId3"/>
          <a:stretch>
            <a:fillRect/>
          </a:stretch>
        </p:blipFill>
        <p:spPr>
          <a:xfrm>
            <a:off x="4709160" y="2093976"/>
            <a:ext cx="411480" cy="411480"/>
          </a:xfrm>
          <a:prstGeom prst="rect">
            <a:avLst/>
          </a:prstGeom>
        </p:spPr>
      </p:pic>
      <p:sp>
        <p:nvSpPr>
          <p:cNvPr id="19" name="Text 14"/>
          <p:cNvSpPr txBox="1"/>
          <p:nvPr/>
        </p:nvSpPr>
        <p:spPr>
          <a:xfrm>
            <a:off x="5303520" y="205740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Act in your own decision seat.</a:t>
            </a:r>
            <a:endParaRPr lang="en-US" sz="1700" dirty="0"/>
          </a:p>
        </p:txBody>
      </p:sp>
      <p:pic>
        <p:nvPicPr>
          <p:cNvPr id="20" name="Image 3" descr="/private/tmp/claude-501/-Users-salehhamed-Outcome-Engine/91861432-41e2-4884-bc97-63c6dff2d021/scratchpad/wk/icons/TbCircleCheck-teal.png">    </p:cNvPr>
          <p:cNvPicPr>
            <a:picLocks noChangeAspect="1"/>
          </p:cNvPicPr>
          <p:nvPr/>
        </p:nvPicPr>
        <p:blipFill>
          <a:blip r:embed="rId4"/>
          <a:stretch>
            <a:fillRect/>
          </a:stretch>
        </p:blipFill>
        <p:spPr>
          <a:xfrm>
            <a:off x="4709160" y="2962656"/>
            <a:ext cx="411480" cy="411480"/>
          </a:xfrm>
          <a:prstGeom prst="rect">
            <a:avLst/>
          </a:prstGeom>
        </p:spPr>
      </p:pic>
      <p:sp>
        <p:nvSpPr>
          <p:cNvPr id="21" name="Text 15"/>
          <p:cNvSpPr txBox="1"/>
          <p:nvPr/>
        </p:nvSpPr>
        <p:spPr>
          <a:xfrm>
            <a:off x="5303520" y="292608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Log every wrong result, missing fact and wrong person.</a:t>
            </a:r>
            <a:endParaRPr lang="en-US" sz="1700" dirty="0"/>
          </a:p>
        </p:txBody>
      </p:sp>
      <p:sp>
        <p:nvSpPr>
          <p:cNvPr id="22" name="Shape 16"/>
          <p:cNvSpPr/>
          <p:nvPr/>
        </p:nvSpPr>
        <p:spPr>
          <a:xfrm>
            <a:off x="4709160" y="4800600"/>
            <a:ext cx="6931152" cy="1234440"/>
          </a:xfrm>
          <a:prstGeom prst="roundRect">
            <a:avLst>
              <a:gd name="adj" fmla="val 5926"/>
            </a:avLst>
          </a:prstGeom>
          <a:solidFill>
            <a:srgbClr val="FFF0EC"/>
          </a:solidFill>
          <a:ln/>
        </p:spPr>
      </p:sp>
      <p:sp>
        <p:nvSpPr>
          <p:cNvPr id="23" name="Text 17"/>
          <p:cNvSpPr txBox="1"/>
          <p:nvPr/>
        </p:nvSpPr>
        <p:spPr>
          <a:xfrm>
            <a:off x="4937760" y="4800600"/>
            <a:ext cx="6492240" cy="1234440"/>
          </a:xfrm>
          <a:prstGeom prst="rect">
            <a:avLst/>
          </a:prstGeom>
          <a:noFill/>
          <a:ln/>
        </p:spPr>
        <p:txBody>
          <a:bodyPr wrap="square" lIns="0" tIns="0" rIns="0" bIns="0" rtlCol="0" anchor="ctr"/>
          <a:lstStyle/>
          <a:p>
            <a:pPr indent="0" marL="0">
              <a:buNone/>
            </a:pPr>
            <a:r>
              <a:rPr lang="en-US" sz="1800" b="1" dirty="0">
                <a:solidFill>
                  <a:srgbClr val="FF462D"/>
                </a:solidFill>
                <a:latin typeface="Arial" pitchFamily="34" charset="0"/>
                <a:ea typeface="Arial" pitchFamily="34" charset="-122"/>
                <a:cs typeface="Arial" pitchFamily="34" charset="-120"/>
              </a:rPr>
              <a:t>Finding problems is the job today. A test that finds nothing is not good enough.</a:t>
            </a:r>
            <a:endParaRPr lang="en-US" sz="1800" dirty="0"/>
          </a:p>
        </p:txBody>
      </p:sp>
      <p:sp>
        <p:nvSpPr>
          <p:cNvPr id="24" name="Text 18"/>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5"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6" action="ppaction://hlinksldjump" tooltip="The thre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134</a:t>
            </a:r>
            <a:endParaRPr lang="en-US" sz="10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TEST THE WORKING VERSION</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Five kinds of test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09:15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135</a:t>
            </a:r>
            <a:endParaRPr lang="en-US" sz="1000" dirty="0"/>
          </a:p>
        </p:txBody>
      </p:sp>
      <p:sp>
        <p:nvSpPr>
          <p:cNvPr id="7" name="Shape 4"/>
          <p:cNvSpPr/>
          <p:nvPr/>
        </p:nvSpPr>
        <p:spPr>
          <a:xfrm>
            <a:off x="548640" y="1554480"/>
            <a:ext cx="2103120" cy="3840480"/>
          </a:xfrm>
          <a:prstGeom prst="roundRect">
            <a:avLst>
              <a:gd name="adj" fmla="val 3478"/>
            </a:avLst>
          </a:prstGeom>
          <a:solidFill>
            <a:srgbClr val="FFFFFF"/>
          </a:solidFill>
          <a:ln w="12700">
            <a:solidFill>
              <a:srgbClr val="D9DEE2"/>
            </a:solidFill>
            <a:prstDash val="solid"/>
          </a:ln>
        </p:spPr>
      </p:sp>
      <p:sp>
        <p:nvSpPr>
          <p:cNvPr id="8" name="Shape 5"/>
          <p:cNvSpPr/>
          <p:nvPr/>
        </p:nvSpPr>
        <p:spPr>
          <a:xfrm>
            <a:off x="685800" y="1691640"/>
            <a:ext cx="411480" cy="411480"/>
          </a:xfrm>
          <a:prstGeom prst="ellipse">
            <a:avLst/>
          </a:prstGeom>
          <a:solidFill>
            <a:srgbClr val="287079"/>
          </a:solidFill>
          <a:ln/>
        </p:spPr>
      </p:sp>
      <p:sp>
        <p:nvSpPr>
          <p:cNvPr id="9" name="Text 6"/>
          <p:cNvSpPr txBox="1"/>
          <p:nvPr/>
        </p:nvSpPr>
        <p:spPr>
          <a:xfrm>
            <a:off x="685800" y="16916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pic>
        <p:nvPicPr>
          <p:cNvPr id="10" name="Image 1" descr="/private/tmp/claude-501/-Users-salehhamed-Outcome-Engine/91861432-41e2-4884-bc97-63c6dff2d021/scratchpad/wk/icons/TbMoodSmile-teal.png">    </p:cNvPr>
          <p:cNvPicPr>
            <a:picLocks noChangeAspect="1"/>
          </p:cNvPicPr>
          <p:nvPr/>
        </p:nvPicPr>
        <p:blipFill>
          <a:blip r:embed="rId4"/>
          <a:stretch>
            <a:fillRect/>
          </a:stretch>
        </p:blipFill>
        <p:spPr>
          <a:xfrm>
            <a:off x="1143000" y="2240280"/>
            <a:ext cx="914400" cy="914400"/>
          </a:xfrm>
          <a:prstGeom prst="rect">
            <a:avLst/>
          </a:prstGeom>
        </p:spPr>
      </p:pic>
      <p:sp>
        <p:nvSpPr>
          <p:cNvPr id="11" name="Text 7"/>
          <p:cNvSpPr txBox="1"/>
          <p:nvPr/>
        </p:nvSpPr>
        <p:spPr>
          <a:xfrm>
            <a:off x="685800" y="3291840"/>
            <a:ext cx="1828800" cy="685800"/>
          </a:xfrm>
          <a:prstGeom prst="rect">
            <a:avLst/>
          </a:prstGeom>
          <a:noFill/>
          <a:ln/>
        </p:spPr>
        <p:txBody>
          <a:bodyPr wrap="square" lIns="0" tIns="0" rIns="0" bIns="0" rtlCol="0" anchor="t"/>
          <a:lstStyle/>
          <a:p>
            <a:pPr algn="ctr" indent="0" marL="0">
              <a:buNone/>
            </a:pPr>
            <a:r>
              <a:rPr lang="en-US" sz="1700" b="1" dirty="0">
                <a:solidFill>
                  <a:srgbClr val="1F2A33"/>
                </a:solidFill>
                <a:latin typeface="Arial" pitchFamily="34" charset="0"/>
                <a:ea typeface="Arial" pitchFamily="34" charset="-122"/>
                <a:cs typeface="Arial" pitchFamily="34" charset="-120"/>
              </a:rPr>
              <a:t>Everything goes right</a:t>
            </a:r>
            <a:endParaRPr lang="en-US" sz="1700" dirty="0"/>
          </a:p>
        </p:txBody>
      </p:sp>
      <p:sp>
        <p:nvSpPr>
          <p:cNvPr id="12" name="Text 8"/>
          <p:cNvSpPr txBox="1"/>
          <p:nvPr/>
        </p:nvSpPr>
        <p:spPr>
          <a:xfrm>
            <a:off x="685800" y="3977640"/>
            <a:ext cx="1828800" cy="1325880"/>
          </a:xfrm>
          <a:prstGeom prst="rect">
            <a:avLst/>
          </a:prstGeom>
          <a:noFill/>
          <a:ln/>
        </p:spPr>
        <p:txBody>
          <a:bodyPr wrap="square" lIns="0" tIns="0" rIns="0" bIns="0" rtlCol="0" anchor="t"/>
          <a:lstStyle/>
          <a:p>
            <a:pPr algn="ctr" indent="0" marL="0">
              <a:buNone/>
            </a:pPr>
            <a:r>
              <a:rPr lang="en-US" sz="1250" dirty="0">
                <a:solidFill>
                  <a:srgbClr val="5A5A5A"/>
                </a:solidFill>
                <a:latin typeface="Arial" pitchFamily="34" charset="0"/>
                <a:ea typeface="Arial" pitchFamily="34" charset="-122"/>
                <a:cs typeface="Arial" pitchFamily="34" charset="-120"/>
              </a:rPr>
              <a:t>R1: the engineer is confirmed free, released and held.</a:t>
            </a:r>
            <a:endParaRPr lang="en-US" sz="1250" dirty="0"/>
          </a:p>
        </p:txBody>
      </p:sp>
      <p:sp>
        <p:nvSpPr>
          <p:cNvPr id="13" name="Shape 9"/>
          <p:cNvSpPr/>
          <p:nvPr/>
        </p:nvSpPr>
        <p:spPr>
          <a:xfrm>
            <a:off x="2788920" y="1554480"/>
            <a:ext cx="2103120" cy="3840480"/>
          </a:xfrm>
          <a:prstGeom prst="roundRect">
            <a:avLst>
              <a:gd name="adj" fmla="val 3478"/>
            </a:avLst>
          </a:prstGeom>
          <a:solidFill>
            <a:srgbClr val="FFFFFF"/>
          </a:solidFill>
          <a:ln w="12700">
            <a:solidFill>
              <a:srgbClr val="D9DEE2"/>
            </a:solidFill>
            <a:prstDash val="solid"/>
          </a:ln>
        </p:spPr>
      </p:sp>
      <p:sp>
        <p:nvSpPr>
          <p:cNvPr id="14" name="Shape 10"/>
          <p:cNvSpPr/>
          <p:nvPr/>
        </p:nvSpPr>
        <p:spPr>
          <a:xfrm>
            <a:off x="2926080" y="1691640"/>
            <a:ext cx="411480" cy="411480"/>
          </a:xfrm>
          <a:prstGeom prst="ellipse">
            <a:avLst/>
          </a:prstGeom>
          <a:solidFill>
            <a:srgbClr val="287079"/>
          </a:solidFill>
          <a:ln/>
        </p:spPr>
      </p:sp>
      <p:sp>
        <p:nvSpPr>
          <p:cNvPr id="15" name="Text 11"/>
          <p:cNvSpPr txBox="1"/>
          <p:nvPr/>
        </p:nvSpPr>
        <p:spPr>
          <a:xfrm>
            <a:off x="2926080" y="16916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pic>
        <p:nvPicPr>
          <p:cNvPr id="16" name="Image 2" descr="/private/tmp/claude-501/-Users-salehhamed-Outcome-Engine/91861432-41e2-4884-bc97-63c6dff2d021/scratchpad/wk/icons/TbClockExclamation-teal.png">    </p:cNvPr>
          <p:cNvPicPr>
            <a:picLocks noChangeAspect="1"/>
          </p:cNvPicPr>
          <p:nvPr/>
        </p:nvPicPr>
        <p:blipFill>
          <a:blip r:embed="rId5"/>
          <a:stretch>
            <a:fillRect/>
          </a:stretch>
        </p:blipFill>
        <p:spPr>
          <a:xfrm>
            <a:off x="3383280" y="2240280"/>
            <a:ext cx="914400" cy="914400"/>
          </a:xfrm>
          <a:prstGeom prst="rect">
            <a:avLst/>
          </a:prstGeom>
        </p:spPr>
      </p:pic>
      <p:sp>
        <p:nvSpPr>
          <p:cNvPr id="17" name="Text 12"/>
          <p:cNvSpPr txBox="1"/>
          <p:nvPr/>
        </p:nvSpPr>
        <p:spPr>
          <a:xfrm>
            <a:off x="2926080" y="3291840"/>
            <a:ext cx="1828800" cy="685800"/>
          </a:xfrm>
          <a:prstGeom prst="rect">
            <a:avLst/>
          </a:prstGeom>
          <a:noFill/>
          <a:ln/>
        </p:spPr>
        <p:txBody>
          <a:bodyPr wrap="square" lIns="0" tIns="0" rIns="0" bIns="0" rtlCol="0" anchor="t"/>
          <a:lstStyle/>
          <a:p>
            <a:pPr algn="ctr" indent="0" marL="0">
              <a:buNone/>
            </a:pPr>
            <a:r>
              <a:rPr lang="en-US" sz="1700" b="1" dirty="0">
                <a:solidFill>
                  <a:srgbClr val="1F2A33"/>
                </a:solidFill>
                <a:latin typeface="Arial" pitchFamily="34" charset="0"/>
                <a:ea typeface="Arial" pitchFamily="34" charset="-122"/>
                <a:cs typeface="Arial" pitchFamily="34" charset="-120"/>
              </a:rPr>
              <a:t>Nobody answers</a:t>
            </a:r>
            <a:endParaRPr lang="en-US" sz="1700" dirty="0"/>
          </a:p>
        </p:txBody>
      </p:sp>
      <p:sp>
        <p:nvSpPr>
          <p:cNvPr id="18" name="Text 13"/>
          <p:cNvSpPr txBox="1"/>
          <p:nvPr/>
        </p:nvSpPr>
        <p:spPr>
          <a:xfrm>
            <a:off x="2926080" y="3977640"/>
            <a:ext cx="1828800" cy="1325880"/>
          </a:xfrm>
          <a:prstGeom prst="rect">
            <a:avLst/>
          </a:prstGeom>
          <a:noFill/>
          <a:ln/>
        </p:spPr>
        <p:txBody>
          <a:bodyPr wrap="square" lIns="0" tIns="0" rIns="0" bIns="0" rtlCol="0" anchor="t"/>
          <a:lstStyle/>
          <a:p>
            <a:pPr algn="ctr" indent="0" marL="0">
              <a:buNone/>
            </a:pPr>
            <a:r>
              <a:rPr lang="en-US" sz="1250" dirty="0">
                <a:solidFill>
                  <a:srgbClr val="5A5A5A"/>
                </a:solidFill>
                <a:latin typeface="Arial" pitchFamily="34" charset="0"/>
                <a:ea typeface="Arial" pitchFamily="34" charset="-122"/>
                <a:cs typeface="Arial" pitchFamily="34" charset="-120"/>
              </a:rPr>
              <a:t>A manager misses the deadline. Does it go to the backup?</a:t>
            </a:r>
            <a:endParaRPr lang="en-US" sz="1250" dirty="0"/>
          </a:p>
        </p:txBody>
      </p:sp>
      <p:sp>
        <p:nvSpPr>
          <p:cNvPr id="19" name="Shape 14"/>
          <p:cNvSpPr/>
          <p:nvPr/>
        </p:nvSpPr>
        <p:spPr>
          <a:xfrm>
            <a:off x="5029200" y="1554480"/>
            <a:ext cx="2103120" cy="3840480"/>
          </a:xfrm>
          <a:prstGeom prst="roundRect">
            <a:avLst>
              <a:gd name="adj" fmla="val 3478"/>
            </a:avLst>
          </a:prstGeom>
          <a:solidFill>
            <a:srgbClr val="FFFFFF"/>
          </a:solidFill>
          <a:ln w="12700">
            <a:solidFill>
              <a:srgbClr val="D9DEE2"/>
            </a:solidFill>
            <a:prstDash val="solid"/>
          </a:ln>
        </p:spPr>
      </p:sp>
      <p:sp>
        <p:nvSpPr>
          <p:cNvPr id="20" name="Shape 15"/>
          <p:cNvSpPr/>
          <p:nvPr/>
        </p:nvSpPr>
        <p:spPr>
          <a:xfrm>
            <a:off x="5166360" y="1691640"/>
            <a:ext cx="411480" cy="411480"/>
          </a:xfrm>
          <a:prstGeom prst="ellipse">
            <a:avLst/>
          </a:prstGeom>
          <a:solidFill>
            <a:srgbClr val="287079"/>
          </a:solidFill>
          <a:ln/>
        </p:spPr>
      </p:sp>
      <p:sp>
        <p:nvSpPr>
          <p:cNvPr id="21" name="Text 16"/>
          <p:cNvSpPr txBox="1"/>
          <p:nvPr/>
        </p:nvSpPr>
        <p:spPr>
          <a:xfrm>
            <a:off x="5166360" y="16916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pic>
        <p:nvPicPr>
          <p:cNvPr id="22" name="Image 3" descr="/private/tmp/claude-501/-Users-salehhamed-Outcome-Engine/91861432-41e2-4884-bc97-63c6dff2d021/scratchpad/wk/icons/TbArrowsCross-teal.png">    </p:cNvPr>
          <p:cNvPicPr>
            <a:picLocks noChangeAspect="1"/>
          </p:cNvPicPr>
          <p:nvPr/>
        </p:nvPicPr>
        <p:blipFill>
          <a:blip r:embed="rId6"/>
          <a:stretch>
            <a:fillRect/>
          </a:stretch>
        </p:blipFill>
        <p:spPr>
          <a:xfrm>
            <a:off x="5623560" y="2240280"/>
            <a:ext cx="914400" cy="914400"/>
          </a:xfrm>
          <a:prstGeom prst="rect">
            <a:avLst/>
          </a:prstGeom>
        </p:spPr>
      </p:pic>
      <p:sp>
        <p:nvSpPr>
          <p:cNvPr id="23" name="Text 17"/>
          <p:cNvSpPr txBox="1"/>
          <p:nvPr/>
        </p:nvSpPr>
        <p:spPr>
          <a:xfrm>
            <a:off x="5166360" y="3291840"/>
            <a:ext cx="1828800" cy="685800"/>
          </a:xfrm>
          <a:prstGeom prst="rect">
            <a:avLst/>
          </a:prstGeom>
          <a:noFill/>
          <a:ln/>
        </p:spPr>
        <p:txBody>
          <a:bodyPr wrap="square" lIns="0" tIns="0" rIns="0" bIns="0" rtlCol="0" anchor="t"/>
          <a:lstStyle/>
          <a:p>
            <a:pPr algn="ctr" indent="0" marL="0">
              <a:buNone/>
            </a:pPr>
            <a:r>
              <a:rPr lang="en-US" sz="1700" b="1" dirty="0">
                <a:solidFill>
                  <a:srgbClr val="1F2A33"/>
                </a:solidFill>
                <a:latin typeface="Arial" pitchFamily="34" charset="0"/>
                <a:ea typeface="Arial" pitchFamily="34" charset="-122"/>
                <a:cs typeface="Arial" pitchFamily="34" charset="-120"/>
              </a:rPr>
              <a:t>Two deals, one person</a:t>
            </a:r>
            <a:endParaRPr lang="en-US" sz="1700" dirty="0"/>
          </a:p>
        </p:txBody>
      </p:sp>
      <p:sp>
        <p:nvSpPr>
          <p:cNvPr id="24" name="Text 18"/>
          <p:cNvSpPr txBox="1"/>
          <p:nvPr/>
        </p:nvSpPr>
        <p:spPr>
          <a:xfrm>
            <a:off x="5166360" y="3977640"/>
            <a:ext cx="1828800" cy="1325880"/>
          </a:xfrm>
          <a:prstGeom prst="rect">
            <a:avLst/>
          </a:prstGeom>
          <a:noFill/>
          <a:ln/>
        </p:spPr>
        <p:txBody>
          <a:bodyPr wrap="square" lIns="0" tIns="0" rIns="0" bIns="0" rtlCol="0" anchor="t"/>
          <a:lstStyle/>
          <a:p>
            <a:pPr algn="ctr" indent="0" marL="0">
              <a:buNone/>
            </a:pPr>
            <a:r>
              <a:rPr lang="en-US" sz="1250" dirty="0">
                <a:solidFill>
                  <a:srgbClr val="5A5A5A"/>
                </a:solidFill>
                <a:latin typeface="Arial" pitchFamily="34" charset="0"/>
                <a:ea typeface="Arial" pitchFamily="34" charset="-122"/>
                <a:cs typeface="Arial" pitchFamily="34" charset="-120"/>
              </a:rPr>
              <a:t>R3: another deal wants the project manager.</a:t>
            </a:r>
            <a:endParaRPr lang="en-US" sz="1250" dirty="0"/>
          </a:p>
        </p:txBody>
      </p:sp>
      <p:sp>
        <p:nvSpPr>
          <p:cNvPr id="25" name="Shape 19"/>
          <p:cNvSpPr/>
          <p:nvPr/>
        </p:nvSpPr>
        <p:spPr>
          <a:xfrm>
            <a:off x="7269480" y="1554480"/>
            <a:ext cx="2103120" cy="3840480"/>
          </a:xfrm>
          <a:prstGeom prst="roundRect">
            <a:avLst>
              <a:gd name="adj" fmla="val 3478"/>
            </a:avLst>
          </a:prstGeom>
          <a:solidFill>
            <a:srgbClr val="FFFFFF"/>
          </a:solidFill>
          <a:ln w="12700">
            <a:solidFill>
              <a:srgbClr val="D9DEE2"/>
            </a:solidFill>
            <a:prstDash val="solid"/>
          </a:ln>
        </p:spPr>
      </p:sp>
      <p:sp>
        <p:nvSpPr>
          <p:cNvPr id="26" name="Shape 20"/>
          <p:cNvSpPr/>
          <p:nvPr/>
        </p:nvSpPr>
        <p:spPr>
          <a:xfrm>
            <a:off x="7406640" y="1691640"/>
            <a:ext cx="411480" cy="411480"/>
          </a:xfrm>
          <a:prstGeom prst="ellipse">
            <a:avLst/>
          </a:prstGeom>
          <a:solidFill>
            <a:srgbClr val="287079"/>
          </a:solidFill>
          <a:ln/>
        </p:spPr>
      </p:sp>
      <p:sp>
        <p:nvSpPr>
          <p:cNvPr id="27" name="Text 21"/>
          <p:cNvSpPr txBox="1"/>
          <p:nvPr/>
        </p:nvSpPr>
        <p:spPr>
          <a:xfrm>
            <a:off x="7406640" y="16916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pic>
        <p:nvPicPr>
          <p:cNvPr id="28" name="Image 4" descr="/private/tmp/claude-501/-Users-salehhamed-Outcome-Engine/91861432-41e2-4884-bc97-63c6dff2d021/scratchpad/wk/icons/TbHandStop-teal.png">    </p:cNvPr>
          <p:cNvPicPr>
            <a:picLocks noChangeAspect="1"/>
          </p:cNvPicPr>
          <p:nvPr/>
        </p:nvPicPr>
        <p:blipFill>
          <a:blip r:embed="rId7"/>
          <a:stretch>
            <a:fillRect/>
          </a:stretch>
        </p:blipFill>
        <p:spPr>
          <a:xfrm>
            <a:off x="7863840" y="2240280"/>
            <a:ext cx="914400" cy="914400"/>
          </a:xfrm>
          <a:prstGeom prst="rect">
            <a:avLst/>
          </a:prstGeom>
        </p:spPr>
      </p:pic>
      <p:sp>
        <p:nvSpPr>
          <p:cNvPr id="29" name="Text 22"/>
          <p:cNvSpPr txBox="1"/>
          <p:nvPr/>
        </p:nvSpPr>
        <p:spPr>
          <a:xfrm>
            <a:off x="7406640" y="3291840"/>
            <a:ext cx="1828800" cy="685800"/>
          </a:xfrm>
          <a:prstGeom prst="rect">
            <a:avLst/>
          </a:prstGeom>
          <a:noFill/>
          <a:ln/>
        </p:spPr>
        <p:txBody>
          <a:bodyPr wrap="square" lIns="0" tIns="0" rIns="0" bIns="0" rtlCol="0" anchor="t"/>
          <a:lstStyle/>
          <a:p>
            <a:pPr algn="ctr" indent="0" marL="0">
              <a:buNone/>
            </a:pPr>
            <a:r>
              <a:rPr lang="en-US" sz="1700" b="1" dirty="0">
                <a:solidFill>
                  <a:srgbClr val="1F2A33"/>
                </a:solidFill>
                <a:latin typeface="Arial" pitchFamily="34" charset="0"/>
                <a:ea typeface="Arial" pitchFamily="34" charset="-122"/>
                <a:cs typeface="Arial" pitchFamily="34" charset="-120"/>
              </a:rPr>
              <a:t>Release refused</a:t>
            </a:r>
            <a:endParaRPr lang="en-US" sz="1700" dirty="0"/>
          </a:p>
        </p:txBody>
      </p:sp>
      <p:sp>
        <p:nvSpPr>
          <p:cNvPr id="30" name="Text 23"/>
          <p:cNvSpPr txBox="1"/>
          <p:nvPr/>
        </p:nvSpPr>
        <p:spPr>
          <a:xfrm>
            <a:off x="7406640" y="3977640"/>
            <a:ext cx="1828800" cy="1325880"/>
          </a:xfrm>
          <a:prstGeom prst="rect">
            <a:avLst/>
          </a:prstGeom>
          <a:noFill/>
          <a:ln/>
        </p:spPr>
        <p:txBody>
          <a:bodyPr wrap="square" lIns="0" tIns="0" rIns="0" bIns="0" rtlCol="0" anchor="t"/>
          <a:lstStyle/>
          <a:p>
            <a:pPr algn="ctr" indent="0" marL="0">
              <a:buNone/>
            </a:pPr>
            <a:r>
              <a:rPr lang="en-US" sz="1250" dirty="0">
                <a:solidFill>
                  <a:srgbClr val="5A5A5A"/>
                </a:solidFill>
                <a:latin typeface="Arial" pitchFamily="34" charset="0"/>
                <a:ea typeface="Arial" pitchFamily="34" charset="-122"/>
                <a:cs typeface="Arial" pitchFamily="34" charset="-120"/>
              </a:rPr>
              <a:t>R2: the only other firewall expert cannot be released.</a:t>
            </a:r>
            <a:endParaRPr lang="en-US" sz="1250" dirty="0"/>
          </a:p>
        </p:txBody>
      </p:sp>
      <p:sp>
        <p:nvSpPr>
          <p:cNvPr id="31" name="Shape 24"/>
          <p:cNvSpPr/>
          <p:nvPr/>
        </p:nvSpPr>
        <p:spPr>
          <a:xfrm>
            <a:off x="9509760" y="1554480"/>
            <a:ext cx="2103120" cy="3840480"/>
          </a:xfrm>
          <a:prstGeom prst="roundRect">
            <a:avLst>
              <a:gd name="adj" fmla="val 3478"/>
            </a:avLst>
          </a:prstGeom>
          <a:solidFill>
            <a:srgbClr val="FFF0EC"/>
          </a:solidFill>
          <a:ln w="12700">
            <a:solidFill>
              <a:srgbClr val="FF462D"/>
            </a:solidFill>
            <a:prstDash val="solid"/>
          </a:ln>
        </p:spPr>
      </p:sp>
      <p:sp>
        <p:nvSpPr>
          <p:cNvPr id="32" name="Shape 25"/>
          <p:cNvSpPr/>
          <p:nvPr/>
        </p:nvSpPr>
        <p:spPr>
          <a:xfrm>
            <a:off x="9646920" y="1691640"/>
            <a:ext cx="411480" cy="411480"/>
          </a:xfrm>
          <a:prstGeom prst="ellipse">
            <a:avLst/>
          </a:prstGeom>
          <a:solidFill>
            <a:srgbClr val="FF462D"/>
          </a:solidFill>
          <a:ln/>
        </p:spPr>
      </p:sp>
      <p:sp>
        <p:nvSpPr>
          <p:cNvPr id="33" name="Text 26"/>
          <p:cNvSpPr txBox="1"/>
          <p:nvPr/>
        </p:nvSpPr>
        <p:spPr>
          <a:xfrm>
            <a:off x="9646920" y="16916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pic>
        <p:nvPicPr>
          <p:cNvPr id="34" name="Image 5" descr="/private/tmp/claude-501/-Users-salehhamed-Outcome-Engine/91861432-41e2-4884-bc97-63c6dff2d021/scratchpad/wk/icons/TbBan-red.png">    </p:cNvPr>
          <p:cNvPicPr>
            <a:picLocks noChangeAspect="1"/>
          </p:cNvPicPr>
          <p:nvPr/>
        </p:nvPicPr>
        <p:blipFill>
          <a:blip r:embed="rId8"/>
          <a:stretch>
            <a:fillRect/>
          </a:stretch>
        </p:blipFill>
        <p:spPr>
          <a:xfrm>
            <a:off x="10104120" y="2240280"/>
            <a:ext cx="914400" cy="914400"/>
          </a:xfrm>
          <a:prstGeom prst="rect">
            <a:avLst/>
          </a:prstGeom>
        </p:spPr>
      </p:pic>
      <p:sp>
        <p:nvSpPr>
          <p:cNvPr id="35" name="Text 27"/>
          <p:cNvSpPr txBox="1"/>
          <p:nvPr/>
        </p:nvSpPr>
        <p:spPr>
          <a:xfrm>
            <a:off x="9646920" y="3291840"/>
            <a:ext cx="1828800" cy="685800"/>
          </a:xfrm>
          <a:prstGeom prst="rect">
            <a:avLst/>
          </a:prstGeom>
          <a:noFill/>
          <a:ln/>
        </p:spPr>
        <p:txBody>
          <a:bodyPr wrap="square" lIns="0" tIns="0" rIns="0" bIns="0" rtlCol="0" anchor="t"/>
          <a:lstStyle/>
          <a:p>
            <a:pPr algn="ctr" indent="0" marL="0">
              <a:buNone/>
            </a:pPr>
            <a:r>
              <a:rPr lang="en-US" sz="1700" b="1" dirty="0">
                <a:solidFill>
                  <a:srgbClr val="1F2A33"/>
                </a:solidFill>
                <a:latin typeface="Arial" pitchFamily="34" charset="0"/>
                <a:ea typeface="Arial" pitchFamily="34" charset="-122"/>
                <a:cs typeface="Arial" pitchFamily="34" charset="-120"/>
              </a:rPr>
              <a:t>A rule broken</a:t>
            </a:r>
            <a:endParaRPr lang="en-US" sz="1700" dirty="0"/>
          </a:p>
        </p:txBody>
      </p:sp>
      <p:sp>
        <p:nvSpPr>
          <p:cNvPr id="36" name="Text 28"/>
          <p:cNvSpPr txBox="1"/>
          <p:nvPr/>
        </p:nvSpPr>
        <p:spPr>
          <a:xfrm>
            <a:off x="9646920" y="3977640"/>
            <a:ext cx="1828800" cy="1325880"/>
          </a:xfrm>
          <a:prstGeom prst="rect">
            <a:avLst/>
          </a:prstGeom>
          <a:noFill/>
          <a:ln/>
        </p:spPr>
        <p:txBody>
          <a:bodyPr wrap="square" lIns="0" tIns="0" rIns="0" bIns="0" rtlCol="0" anchor="t"/>
          <a:lstStyle/>
          <a:p>
            <a:pPr algn="ctr" indent="0" marL="0">
              <a:buNone/>
            </a:pPr>
            <a:r>
              <a:rPr lang="en-US" sz="1250" dirty="0">
                <a:solidFill>
                  <a:srgbClr val="5A5A5A"/>
                </a:solidFill>
                <a:latin typeface="Arial" pitchFamily="34" charset="0"/>
                <a:ea typeface="Arial" pitchFamily="34" charset="-122"/>
                <a:cs typeface="Arial" pitchFamily="34" charset="-120"/>
              </a:rPr>
              <a:t>Try to sign before the plan is approved. Is it refused, with the rule shown?</a:t>
            </a:r>
            <a:endParaRPr lang="en-US" sz="1250" dirty="0"/>
          </a:p>
        </p:txBody>
      </p:sp>
      <p:sp>
        <p:nvSpPr>
          <p:cNvPr id="37" name="Text 29"/>
          <p:cNvSpPr txBox="1"/>
          <p:nvPr/>
        </p:nvSpPr>
        <p:spPr>
          <a:xfrm>
            <a:off x="548640" y="5669280"/>
            <a:ext cx="10972800" cy="365760"/>
          </a:xfrm>
          <a:prstGeom prst="rect">
            <a:avLst/>
          </a:prstGeom>
          <a:noFill/>
          <a:ln/>
        </p:spPr>
        <p:txBody>
          <a:bodyPr wrap="square" lIns="0" tIns="0" rIns="0" bIns="0" rtlCol="0" anchor="t"/>
          <a:lstStyle/>
          <a:p>
            <a:pPr indent="0" marL="0">
              <a:buNone/>
            </a:pPr>
            <a:r>
              <a:rPr lang="en-US" sz="1500" dirty="0">
                <a:solidFill>
                  <a:srgbClr val="5A5A5A"/>
                </a:solidFill>
                <a:latin typeface="Arial" pitchFamily="34" charset="0"/>
                <a:ea typeface="Arial" pitchFamily="34" charset="-122"/>
                <a:cs typeface="Arial" pitchFamily="34" charset="-120"/>
              </a:rPr>
              <a:t>Each runs on Northgate, run again from the start as if it were new, or on one of your own cases.</a:t>
            </a:r>
            <a:endParaRPr lang="en-US" sz="15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EVERY FINDING HAS A TYPE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What to look for</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09:15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136</a:t>
            </a:r>
            <a:endParaRPr lang="en-US" sz="1000" dirty="0"/>
          </a:p>
        </p:txBody>
      </p:sp>
      <p:sp>
        <p:nvSpPr>
          <p:cNvPr id="7" name="Shape 4"/>
          <p:cNvSpPr/>
          <p:nvPr/>
        </p:nvSpPr>
        <p:spPr>
          <a:xfrm>
            <a:off x="548640" y="1508760"/>
            <a:ext cx="777240" cy="777240"/>
          </a:xfrm>
          <a:prstGeom prst="roundRect">
            <a:avLst>
              <a:gd name="adj" fmla="val 11765"/>
            </a:avLst>
          </a:prstGeom>
          <a:solidFill>
            <a:srgbClr val="FF462D"/>
          </a:solidFill>
          <a:ln/>
        </p:spPr>
      </p:sp>
      <p:pic>
        <p:nvPicPr>
          <p:cNvPr id="8" name="Image 1" descr="/private/tmp/claude-501/-Users-salehhamed-Outcome-Engine/91861432-41e2-4884-bc97-63c6dff2d021/scratchpad/wk/icons/TbX-white.png">    </p:cNvPr>
          <p:cNvPicPr>
            <a:picLocks noChangeAspect="1"/>
          </p:cNvPicPr>
          <p:nvPr/>
        </p:nvPicPr>
        <p:blipFill>
          <a:blip r:embed="rId4"/>
          <a:stretch>
            <a:fillRect/>
          </a:stretch>
        </p:blipFill>
        <p:spPr>
          <a:xfrm>
            <a:off x="704088" y="1664208"/>
            <a:ext cx="457200" cy="457200"/>
          </a:xfrm>
          <a:prstGeom prst="rect">
            <a:avLst/>
          </a:prstGeom>
        </p:spPr>
      </p:pic>
      <p:sp>
        <p:nvSpPr>
          <p:cNvPr id="9" name="Text 5"/>
          <p:cNvSpPr txBox="1"/>
          <p:nvPr/>
        </p:nvSpPr>
        <p:spPr>
          <a:xfrm>
            <a:off x="1554480" y="1508760"/>
            <a:ext cx="3291840" cy="777240"/>
          </a:xfrm>
          <a:prstGeom prst="rect">
            <a:avLst/>
          </a:prstGeom>
          <a:noFill/>
          <a:ln/>
        </p:spPr>
        <p:txBody>
          <a:bodyPr wrap="square" lIns="0" tIns="0" rIns="0" bIns="0" rtlCol="0" anchor="ctr"/>
          <a:lstStyle/>
          <a:p>
            <a:pPr indent="0" marL="0">
              <a:buNone/>
            </a:pPr>
            <a:r>
              <a:rPr lang="en-US" sz="1900" b="1" dirty="0">
                <a:solidFill>
                  <a:srgbClr val="FF462D"/>
                </a:solidFill>
                <a:latin typeface="Arial" pitchFamily="34" charset="0"/>
                <a:ea typeface="Arial" pitchFamily="34" charset="-122"/>
                <a:cs typeface="Arial" pitchFamily="34" charset="-120"/>
              </a:rPr>
              <a:t>Wrong result</a:t>
            </a:r>
            <a:endParaRPr lang="en-US" sz="1900" dirty="0"/>
          </a:p>
        </p:txBody>
      </p:sp>
      <p:sp>
        <p:nvSpPr>
          <p:cNvPr id="10" name="Text 6"/>
          <p:cNvSpPr txBox="1"/>
          <p:nvPr/>
        </p:nvSpPr>
        <p:spPr>
          <a:xfrm>
            <a:off x="4937760" y="1508760"/>
            <a:ext cx="7132320" cy="777240"/>
          </a:xfrm>
          <a:prstGeom prst="rect">
            <a:avLst/>
          </a:prstGeom>
          <a:noFill/>
          <a:ln/>
        </p:spPr>
        <p:txBody>
          <a:bodyPr wrap="square" lIns="0" tIns="0" rIns="0" bIns="0" rtlCol="0" anchor="ctr"/>
          <a:lstStyle/>
          <a:p>
            <a:pPr indent="0" marL="0">
              <a:buNone/>
            </a:pPr>
            <a:r>
              <a:rPr lang="en-US" sz="1600" dirty="0">
                <a:solidFill>
                  <a:srgbClr val="1F2A33"/>
                </a:solidFill>
                <a:latin typeface="Arial" pitchFamily="34" charset="0"/>
                <a:ea typeface="Arial" pitchFamily="34" charset="-122"/>
                <a:cs typeface="Arial" pitchFamily="34" charset="-120"/>
              </a:rPr>
              <a:t>It did something we did not agree.</a:t>
            </a:r>
            <a:endParaRPr lang="en-US" sz="1600" dirty="0"/>
          </a:p>
        </p:txBody>
      </p:sp>
      <p:sp>
        <p:nvSpPr>
          <p:cNvPr id="11" name="Shape 7"/>
          <p:cNvSpPr/>
          <p:nvPr/>
        </p:nvSpPr>
        <p:spPr>
          <a:xfrm>
            <a:off x="548640" y="2404872"/>
            <a:ext cx="777240" cy="777240"/>
          </a:xfrm>
          <a:prstGeom prst="roundRect">
            <a:avLst>
              <a:gd name="adj" fmla="val 11765"/>
            </a:avLst>
          </a:prstGeom>
          <a:solidFill>
            <a:srgbClr val="C98A1A"/>
          </a:solidFill>
          <a:ln/>
        </p:spPr>
      </p:sp>
      <p:pic>
        <p:nvPicPr>
          <p:cNvPr id="12" name="Image 2" descr="/private/tmp/claude-501/-Users-salehhamed-Outcome-Engine/91861432-41e2-4884-bc97-63c6dff2d021/scratchpad/wk/icons/TbFileAlert-white.png">    </p:cNvPr>
          <p:cNvPicPr>
            <a:picLocks noChangeAspect="1"/>
          </p:cNvPicPr>
          <p:nvPr/>
        </p:nvPicPr>
        <p:blipFill>
          <a:blip r:embed="rId5"/>
          <a:stretch>
            <a:fillRect/>
          </a:stretch>
        </p:blipFill>
        <p:spPr>
          <a:xfrm>
            <a:off x="704088" y="2560320"/>
            <a:ext cx="457200" cy="457200"/>
          </a:xfrm>
          <a:prstGeom prst="rect">
            <a:avLst/>
          </a:prstGeom>
        </p:spPr>
      </p:pic>
      <p:sp>
        <p:nvSpPr>
          <p:cNvPr id="13" name="Text 8"/>
          <p:cNvSpPr txBox="1"/>
          <p:nvPr/>
        </p:nvSpPr>
        <p:spPr>
          <a:xfrm>
            <a:off x="1554480" y="2404872"/>
            <a:ext cx="3291840" cy="777240"/>
          </a:xfrm>
          <a:prstGeom prst="rect">
            <a:avLst/>
          </a:prstGeom>
          <a:noFill/>
          <a:ln/>
        </p:spPr>
        <p:txBody>
          <a:bodyPr wrap="square" lIns="0" tIns="0" rIns="0" bIns="0" rtlCol="0" anchor="ctr"/>
          <a:lstStyle/>
          <a:p>
            <a:pPr indent="0" marL="0">
              <a:buNone/>
            </a:pPr>
            <a:r>
              <a:rPr lang="en-US" sz="1900" b="1" dirty="0">
                <a:solidFill>
                  <a:srgbClr val="C98A1A"/>
                </a:solidFill>
                <a:latin typeface="Arial" pitchFamily="34" charset="0"/>
                <a:ea typeface="Arial" pitchFamily="34" charset="-122"/>
                <a:cs typeface="Arial" pitchFamily="34" charset="-120"/>
              </a:rPr>
              <a:t>Missing evidence</a:t>
            </a:r>
            <a:endParaRPr lang="en-US" sz="1900" dirty="0"/>
          </a:p>
        </p:txBody>
      </p:sp>
      <p:sp>
        <p:nvSpPr>
          <p:cNvPr id="14" name="Text 9"/>
          <p:cNvSpPr txBox="1"/>
          <p:nvPr/>
        </p:nvSpPr>
        <p:spPr>
          <a:xfrm>
            <a:off x="4937760" y="2404872"/>
            <a:ext cx="7132320" cy="777240"/>
          </a:xfrm>
          <a:prstGeom prst="rect">
            <a:avLst/>
          </a:prstGeom>
          <a:noFill/>
          <a:ln/>
        </p:spPr>
        <p:txBody>
          <a:bodyPr wrap="square" lIns="0" tIns="0" rIns="0" bIns="0" rtlCol="0" anchor="ctr"/>
          <a:lstStyle/>
          <a:p>
            <a:pPr indent="0" marL="0">
              <a:buNone/>
            </a:pPr>
            <a:r>
              <a:rPr lang="en-US" sz="1600" dirty="0">
                <a:solidFill>
                  <a:srgbClr val="1F2A33"/>
                </a:solidFill>
                <a:latin typeface="Arial" pitchFamily="34" charset="0"/>
                <a:ea typeface="Arial" pitchFamily="34" charset="-122"/>
                <a:cs typeface="Arial" pitchFamily="34" charset="-120"/>
              </a:rPr>
              <a:t>A decision owner lacked a fact they needed.</a:t>
            </a:r>
            <a:endParaRPr lang="en-US" sz="1600" dirty="0"/>
          </a:p>
        </p:txBody>
      </p:sp>
      <p:sp>
        <p:nvSpPr>
          <p:cNvPr id="15" name="Shape 10"/>
          <p:cNvSpPr/>
          <p:nvPr/>
        </p:nvSpPr>
        <p:spPr>
          <a:xfrm>
            <a:off x="548640" y="3300984"/>
            <a:ext cx="777240" cy="777240"/>
          </a:xfrm>
          <a:prstGeom prst="roundRect">
            <a:avLst>
              <a:gd name="adj" fmla="val 11765"/>
            </a:avLst>
          </a:prstGeom>
          <a:solidFill>
            <a:srgbClr val="36454F"/>
          </a:solidFill>
          <a:ln/>
        </p:spPr>
      </p:sp>
      <p:pic>
        <p:nvPicPr>
          <p:cNvPr id="16" name="Image 3" descr="/private/tmp/claude-501/-Users-salehhamed-Outcome-Engine/91861432-41e2-4884-bc97-63c6dff2d021/scratchpad/wk/icons/TbUserX-white.png">    </p:cNvPr>
          <p:cNvPicPr>
            <a:picLocks noChangeAspect="1"/>
          </p:cNvPicPr>
          <p:nvPr/>
        </p:nvPicPr>
        <p:blipFill>
          <a:blip r:embed="rId6"/>
          <a:stretch>
            <a:fillRect/>
          </a:stretch>
        </p:blipFill>
        <p:spPr>
          <a:xfrm>
            <a:off x="704088" y="3456432"/>
            <a:ext cx="457200" cy="457200"/>
          </a:xfrm>
          <a:prstGeom prst="rect">
            <a:avLst/>
          </a:prstGeom>
        </p:spPr>
      </p:pic>
      <p:sp>
        <p:nvSpPr>
          <p:cNvPr id="17" name="Text 11"/>
          <p:cNvSpPr txBox="1"/>
          <p:nvPr/>
        </p:nvSpPr>
        <p:spPr>
          <a:xfrm>
            <a:off x="1554480" y="3300984"/>
            <a:ext cx="3291840" cy="777240"/>
          </a:xfrm>
          <a:prstGeom prst="rect">
            <a:avLst/>
          </a:prstGeom>
          <a:noFill/>
          <a:ln/>
        </p:spPr>
        <p:txBody>
          <a:bodyPr wrap="square" lIns="0" tIns="0" rIns="0" bIns="0" rtlCol="0" anchor="ctr"/>
          <a:lstStyle/>
          <a:p>
            <a:pPr indent="0" marL="0">
              <a:buNone/>
            </a:pPr>
            <a:r>
              <a:rPr lang="en-US" sz="1900" b="1" dirty="0">
                <a:solidFill>
                  <a:srgbClr val="36454F"/>
                </a:solidFill>
                <a:latin typeface="Arial" pitchFamily="34" charset="0"/>
                <a:ea typeface="Arial" pitchFamily="34" charset="-122"/>
                <a:cs typeface="Arial" pitchFamily="34" charset="-120"/>
              </a:rPr>
              <a:t>Wrong person</a:t>
            </a:r>
            <a:endParaRPr lang="en-US" sz="1900" dirty="0"/>
          </a:p>
        </p:txBody>
      </p:sp>
      <p:sp>
        <p:nvSpPr>
          <p:cNvPr id="18" name="Text 12"/>
          <p:cNvSpPr txBox="1"/>
          <p:nvPr/>
        </p:nvSpPr>
        <p:spPr>
          <a:xfrm>
            <a:off x="4937760" y="3300984"/>
            <a:ext cx="7132320" cy="777240"/>
          </a:xfrm>
          <a:prstGeom prst="rect">
            <a:avLst/>
          </a:prstGeom>
          <a:noFill/>
          <a:ln/>
        </p:spPr>
        <p:txBody>
          <a:bodyPr wrap="square" lIns="0" tIns="0" rIns="0" bIns="0" rtlCol="0" anchor="ctr"/>
          <a:lstStyle/>
          <a:p>
            <a:pPr indent="0" marL="0">
              <a:buNone/>
            </a:pPr>
            <a:r>
              <a:rPr lang="en-US" sz="1600" dirty="0">
                <a:solidFill>
                  <a:srgbClr val="1F2A33"/>
                </a:solidFill>
                <a:latin typeface="Arial" pitchFamily="34" charset="0"/>
                <a:ea typeface="Arial" pitchFamily="34" charset="-122"/>
                <a:cs typeface="Arial" pitchFamily="34" charset="-120"/>
              </a:rPr>
              <a:t>A decision went to the wrong role, or nobody.</a:t>
            </a:r>
            <a:endParaRPr lang="en-US" sz="1600" dirty="0"/>
          </a:p>
        </p:txBody>
      </p:sp>
      <p:sp>
        <p:nvSpPr>
          <p:cNvPr id="19" name="Shape 13"/>
          <p:cNvSpPr/>
          <p:nvPr/>
        </p:nvSpPr>
        <p:spPr>
          <a:xfrm>
            <a:off x="548640" y="4197096"/>
            <a:ext cx="777240" cy="777240"/>
          </a:xfrm>
          <a:prstGeom prst="roundRect">
            <a:avLst>
              <a:gd name="adj" fmla="val 11765"/>
            </a:avLst>
          </a:prstGeom>
          <a:solidFill>
            <a:srgbClr val="8A94A4"/>
          </a:solidFill>
          <a:ln/>
        </p:spPr>
      </p:sp>
      <p:pic>
        <p:nvPicPr>
          <p:cNvPr id="20" name="Image 4" descr="/private/tmp/claude-501/-Users-salehhamed-Outcome-Engine/91861432-41e2-4884-bc97-63c6dff2d021/scratchpad/wk/icons/TbQuestionMark-white.png">    </p:cNvPr>
          <p:cNvPicPr>
            <a:picLocks noChangeAspect="1"/>
          </p:cNvPicPr>
          <p:nvPr/>
        </p:nvPicPr>
        <p:blipFill>
          <a:blip r:embed="rId7"/>
          <a:stretch>
            <a:fillRect/>
          </a:stretch>
        </p:blipFill>
        <p:spPr>
          <a:xfrm>
            <a:off x="704088" y="4352544"/>
            <a:ext cx="457200" cy="457200"/>
          </a:xfrm>
          <a:prstGeom prst="rect">
            <a:avLst/>
          </a:prstGeom>
        </p:spPr>
      </p:pic>
      <p:sp>
        <p:nvSpPr>
          <p:cNvPr id="21" name="Text 14"/>
          <p:cNvSpPr txBox="1"/>
          <p:nvPr/>
        </p:nvSpPr>
        <p:spPr>
          <a:xfrm>
            <a:off x="1554480" y="4197096"/>
            <a:ext cx="3291840" cy="777240"/>
          </a:xfrm>
          <a:prstGeom prst="rect">
            <a:avLst/>
          </a:prstGeom>
          <a:noFill/>
          <a:ln/>
        </p:spPr>
        <p:txBody>
          <a:bodyPr wrap="square" lIns="0" tIns="0" rIns="0" bIns="0" rtlCol="0" anchor="ctr"/>
          <a:lstStyle/>
          <a:p>
            <a:pPr indent="0" marL="0">
              <a:buNone/>
            </a:pPr>
            <a:r>
              <a:rPr lang="en-US" sz="1900" b="1" dirty="0">
                <a:solidFill>
                  <a:srgbClr val="5A5A5A"/>
                </a:solidFill>
                <a:latin typeface="Arial" pitchFamily="34" charset="0"/>
                <a:ea typeface="Arial" pitchFamily="34" charset="-122"/>
                <a:cs typeface="Arial" pitchFamily="34" charset="-120"/>
              </a:rPr>
              <a:t>Unclear</a:t>
            </a:r>
            <a:endParaRPr lang="en-US" sz="1900" dirty="0"/>
          </a:p>
        </p:txBody>
      </p:sp>
      <p:sp>
        <p:nvSpPr>
          <p:cNvPr id="22" name="Text 15"/>
          <p:cNvSpPr txBox="1"/>
          <p:nvPr/>
        </p:nvSpPr>
        <p:spPr>
          <a:xfrm>
            <a:off x="4937760" y="4197096"/>
            <a:ext cx="7132320" cy="777240"/>
          </a:xfrm>
          <a:prstGeom prst="rect">
            <a:avLst/>
          </a:prstGeom>
          <a:noFill/>
          <a:ln/>
        </p:spPr>
        <p:txBody>
          <a:bodyPr wrap="square" lIns="0" tIns="0" rIns="0" bIns="0" rtlCol="0" anchor="ctr"/>
          <a:lstStyle/>
          <a:p>
            <a:pPr indent="0" marL="0">
              <a:buNone/>
            </a:pPr>
            <a:r>
              <a:rPr lang="en-US" sz="1600" dirty="0">
                <a:solidFill>
                  <a:srgbClr val="1F2A33"/>
                </a:solidFill>
                <a:latin typeface="Arial" pitchFamily="34" charset="0"/>
                <a:ea typeface="Arial" pitchFamily="34" charset="-122"/>
                <a:cs typeface="Arial" pitchFamily="34" charset="-120"/>
              </a:rPr>
              <a:t>A screen or word confused someone.</a:t>
            </a:r>
            <a:endParaRPr lang="en-US" sz="1600" dirty="0"/>
          </a:p>
        </p:txBody>
      </p:sp>
      <p:sp>
        <p:nvSpPr>
          <p:cNvPr id="23" name="Shape 16"/>
          <p:cNvSpPr/>
          <p:nvPr/>
        </p:nvSpPr>
        <p:spPr>
          <a:xfrm>
            <a:off x="548640" y="5093208"/>
            <a:ext cx="777240" cy="777240"/>
          </a:xfrm>
          <a:prstGeom prst="roundRect">
            <a:avLst>
              <a:gd name="adj" fmla="val 11765"/>
            </a:avLst>
          </a:prstGeom>
          <a:solidFill>
            <a:srgbClr val="2E8656"/>
          </a:solidFill>
          <a:ln/>
        </p:spPr>
      </p:sp>
      <p:pic>
        <p:nvPicPr>
          <p:cNvPr id="24" name="Image 5" descr="/private/tmp/claude-501/-Users-salehhamed-Outcome-Engine/91861432-41e2-4884-bc97-63c6dff2d021/scratchpad/wk/icons/TbCheck-white.png">    </p:cNvPr>
          <p:cNvPicPr>
            <a:picLocks noChangeAspect="1"/>
          </p:cNvPicPr>
          <p:nvPr/>
        </p:nvPicPr>
        <p:blipFill>
          <a:blip r:embed="rId8"/>
          <a:stretch>
            <a:fillRect/>
          </a:stretch>
        </p:blipFill>
        <p:spPr>
          <a:xfrm>
            <a:off x="704088" y="5248656"/>
            <a:ext cx="457200" cy="457200"/>
          </a:xfrm>
          <a:prstGeom prst="rect">
            <a:avLst/>
          </a:prstGeom>
        </p:spPr>
      </p:pic>
      <p:sp>
        <p:nvSpPr>
          <p:cNvPr id="25" name="Text 17"/>
          <p:cNvSpPr txBox="1"/>
          <p:nvPr/>
        </p:nvSpPr>
        <p:spPr>
          <a:xfrm>
            <a:off x="1554480" y="5093208"/>
            <a:ext cx="3291840" cy="777240"/>
          </a:xfrm>
          <a:prstGeom prst="rect">
            <a:avLst/>
          </a:prstGeom>
          <a:noFill/>
          <a:ln/>
        </p:spPr>
        <p:txBody>
          <a:bodyPr wrap="square" lIns="0" tIns="0" rIns="0" bIns="0" rtlCol="0" anchor="ctr"/>
          <a:lstStyle/>
          <a:p>
            <a:pPr indent="0" marL="0">
              <a:buNone/>
            </a:pPr>
            <a:r>
              <a:rPr lang="en-US" sz="1900" b="1" dirty="0">
                <a:solidFill>
                  <a:srgbClr val="2E8656"/>
                </a:solidFill>
                <a:latin typeface="Arial" pitchFamily="34" charset="0"/>
                <a:ea typeface="Arial" pitchFamily="34" charset="-122"/>
                <a:cs typeface="Arial" pitchFamily="34" charset="-120"/>
              </a:rPr>
              <a:t>Worked as agreed</a:t>
            </a:r>
            <a:endParaRPr lang="en-US" sz="1900" dirty="0"/>
          </a:p>
        </p:txBody>
      </p:sp>
      <p:sp>
        <p:nvSpPr>
          <p:cNvPr id="26" name="Text 18"/>
          <p:cNvSpPr txBox="1"/>
          <p:nvPr/>
        </p:nvSpPr>
        <p:spPr>
          <a:xfrm>
            <a:off x="4937760" y="5093208"/>
            <a:ext cx="7132320" cy="777240"/>
          </a:xfrm>
          <a:prstGeom prst="rect">
            <a:avLst/>
          </a:prstGeom>
          <a:noFill/>
          <a:ln/>
        </p:spPr>
        <p:txBody>
          <a:bodyPr wrap="square" lIns="0" tIns="0" rIns="0" bIns="0" rtlCol="0" anchor="ctr"/>
          <a:lstStyle/>
          <a:p>
            <a:pPr indent="0" marL="0">
              <a:buNone/>
            </a:pPr>
            <a:r>
              <a:rPr lang="en-US" sz="1600" dirty="0">
                <a:solidFill>
                  <a:srgbClr val="1F2A33"/>
                </a:solidFill>
                <a:latin typeface="Arial" pitchFamily="34" charset="0"/>
                <a:ea typeface="Arial" pitchFamily="34" charset="-122"/>
                <a:cs typeface="Arial" pitchFamily="34" charset="-120"/>
              </a:rPr>
              <a:t>Worth saying out loud too.</a:t>
            </a:r>
            <a:endParaRPr lang="en-US" sz="1600" dirty="0"/>
          </a:p>
        </p:txBody>
      </p:sp>
      <p:sp>
        <p:nvSpPr>
          <p:cNvPr id="27" name="Text 19"/>
          <p:cNvSpPr txBox="1"/>
          <p:nvPr/>
        </p:nvSpPr>
        <p:spPr>
          <a:xfrm>
            <a:off x="548640" y="6035040"/>
            <a:ext cx="10972800" cy="320040"/>
          </a:xfrm>
          <a:prstGeom prst="rect">
            <a:avLst/>
          </a:prstGeom>
          <a:noFill/>
          <a:ln/>
        </p:spPr>
        <p:txBody>
          <a:bodyPr wrap="square" lIns="0" tIns="0" rIns="0" bIns="0" rtlCol="0" anchor="t"/>
          <a:lstStyle/>
          <a:p>
            <a:pPr indent="0" marL="0">
              <a:buNone/>
            </a:pPr>
            <a:r>
              <a:rPr lang="en-US" sz="1300" i="1" dirty="0">
                <a:solidFill>
                  <a:srgbClr val="5A5A5A"/>
                </a:solidFill>
                <a:latin typeface="Arial" pitchFamily="34" charset="0"/>
                <a:ea typeface="Arial" pitchFamily="34" charset="-122"/>
                <a:cs typeface="Arial" pitchFamily="34" charset="-120"/>
              </a:rPr>
              <a:t>Write one finding per slip, or one per phone entry.</a:t>
            </a:r>
            <a:endParaRPr lang="en-US" sz="13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DECISION OWNERS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Your seat today</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09:15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137</a:t>
            </a:r>
            <a:endParaRPr lang="en-US" sz="1000" dirty="0"/>
          </a:p>
        </p:txBody>
      </p:sp>
      <p:sp>
        <p:nvSpPr>
          <p:cNvPr id="7" name="Shape 4"/>
          <p:cNvSpPr/>
          <p:nvPr/>
        </p:nvSpPr>
        <p:spPr>
          <a:xfrm>
            <a:off x="548640" y="1508760"/>
            <a:ext cx="5120640" cy="4526280"/>
          </a:xfrm>
          <a:prstGeom prst="roundRect">
            <a:avLst>
              <a:gd name="adj" fmla="val 2424"/>
            </a:avLst>
          </a:prstGeom>
          <a:solidFill>
            <a:srgbClr val="36454F"/>
          </a:solidFill>
          <a:ln/>
        </p:spPr>
      </p:sp>
      <p:pic>
        <p:nvPicPr>
          <p:cNvPr id="8" name="Image 1" descr="/private/tmp/claude-501/-Users-salehhamed-Outcome-Engine/91861432-41e2-4884-bc97-63c6dff2d021/scratchpad/wk/icons/TbDeviceMobile-white.png">    </p:cNvPr>
          <p:cNvPicPr>
            <a:picLocks noChangeAspect="1"/>
          </p:cNvPicPr>
          <p:nvPr/>
        </p:nvPicPr>
        <p:blipFill>
          <a:blip r:embed="rId4"/>
          <a:stretch>
            <a:fillRect/>
          </a:stretch>
        </p:blipFill>
        <p:spPr>
          <a:xfrm>
            <a:off x="822960" y="1737360"/>
            <a:ext cx="640080" cy="640080"/>
          </a:xfrm>
          <a:prstGeom prst="rect">
            <a:avLst/>
          </a:prstGeom>
        </p:spPr>
      </p:pic>
      <p:sp>
        <p:nvSpPr>
          <p:cNvPr id="9" name="Text 5"/>
          <p:cNvSpPr txBox="1"/>
          <p:nvPr/>
        </p:nvSpPr>
        <p:spPr>
          <a:xfrm>
            <a:off x="1600200" y="1737360"/>
            <a:ext cx="3840480" cy="6400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What you will see</a:t>
            </a:r>
            <a:endParaRPr lang="en-US" sz="1800" dirty="0"/>
          </a:p>
        </p:txBody>
      </p:sp>
      <p:pic>
        <p:nvPicPr>
          <p:cNvPr id="10" name="Image 2" descr="/private/tmp/claude-501/-Users-salehhamed-Outcome-Engine/91861432-41e2-4884-bc97-63c6dff2d021/scratchpad/wk/icons/TbFlag-white.png">    </p:cNvPr>
          <p:cNvPicPr>
            <a:picLocks noChangeAspect="1"/>
          </p:cNvPicPr>
          <p:nvPr/>
        </p:nvPicPr>
        <p:blipFill>
          <a:blip r:embed="rId5"/>
          <a:stretch>
            <a:fillRect/>
          </a:stretch>
        </p:blipFill>
        <p:spPr>
          <a:xfrm>
            <a:off x="868680" y="2651760"/>
            <a:ext cx="457200" cy="457200"/>
          </a:xfrm>
          <a:prstGeom prst="rect">
            <a:avLst/>
          </a:prstGeom>
        </p:spPr>
      </p:pic>
      <p:sp>
        <p:nvSpPr>
          <p:cNvPr id="11" name="Text 6"/>
          <p:cNvSpPr txBox="1"/>
          <p:nvPr/>
        </p:nvSpPr>
        <p:spPr>
          <a:xfrm>
            <a:off x="1508760" y="2606040"/>
            <a:ext cx="3931920" cy="5486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The question</a:t>
            </a:r>
            <a:endParaRPr lang="en-US" sz="1600" dirty="0"/>
          </a:p>
        </p:txBody>
      </p:sp>
      <p:pic>
        <p:nvPicPr>
          <p:cNvPr id="12" name="Image 3" descr="/private/tmp/claude-501/-Users-salehhamed-Outcome-Engine/91861432-41e2-4884-bc97-63c6dff2d021/scratchpad/wk/icons/TbFileSearch-white.png">    </p:cNvPr>
          <p:cNvPicPr>
            <a:picLocks noChangeAspect="1"/>
          </p:cNvPicPr>
          <p:nvPr/>
        </p:nvPicPr>
        <p:blipFill>
          <a:blip r:embed="rId6"/>
          <a:stretch>
            <a:fillRect/>
          </a:stretch>
        </p:blipFill>
        <p:spPr>
          <a:xfrm>
            <a:off x="868680" y="3474720"/>
            <a:ext cx="457200" cy="457200"/>
          </a:xfrm>
          <a:prstGeom prst="rect">
            <a:avLst/>
          </a:prstGeom>
        </p:spPr>
      </p:pic>
      <p:sp>
        <p:nvSpPr>
          <p:cNvPr id="13" name="Text 7"/>
          <p:cNvSpPr txBox="1"/>
          <p:nvPr/>
        </p:nvSpPr>
        <p:spPr>
          <a:xfrm>
            <a:off x="1508760" y="3429000"/>
            <a:ext cx="3931920" cy="5486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The evidence, with where it came from</a:t>
            </a:r>
            <a:endParaRPr lang="en-US" sz="1600" dirty="0"/>
          </a:p>
        </p:txBody>
      </p:sp>
      <p:pic>
        <p:nvPicPr>
          <p:cNvPr id="14" name="Image 4" descr="/private/tmp/claude-501/-Users-salehhamed-Outcome-Engine/91861432-41e2-4884-bc97-63c6dff2d021/scratchpad/wk/icons/TbClock-white.png">    </p:cNvPr>
          <p:cNvPicPr>
            <a:picLocks noChangeAspect="1"/>
          </p:cNvPicPr>
          <p:nvPr/>
        </p:nvPicPr>
        <p:blipFill>
          <a:blip r:embed="rId7"/>
          <a:stretch>
            <a:fillRect/>
          </a:stretch>
        </p:blipFill>
        <p:spPr>
          <a:xfrm>
            <a:off x="868680" y="4297680"/>
            <a:ext cx="457200" cy="457200"/>
          </a:xfrm>
          <a:prstGeom prst="rect">
            <a:avLst/>
          </a:prstGeom>
        </p:spPr>
      </p:pic>
      <p:sp>
        <p:nvSpPr>
          <p:cNvPr id="15" name="Text 8"/>
          <p:cNvSpPr txBox="1"/>
          <p:nvPr/>
        </p:nvSpPr>
        <p:spPr>
          <a:xfrm>
            <a:off x="1508760" y="4251960"/>
            <a:ext cx="3931920" cy="5486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Your deadline</a:t>
            </a:r>
            <a:endParaRPr lang="en-US" sz="1600" dirty="0"/>
          </a:p>
        </p:txBody>
      </p:sp>
      <p:pic>
        <p:nvPicPr>
          <p:cNvPr id="16" name="Image 5" descr="/private/tmp/claude-501/-Users-salehhamed-Outcome-Engine/91861432-41e2-4884-bc97-63c6dff2d021/scratchpad/wk/icons/TbThumbUp-white.png">    </p:cNvPr>
          <p:cNvPicPr>
            <a:picLocks noChangeAspect="1"/>
          </p:cNvPicPr>
          <p:nvPr/>
        </p:nvPicPr>
        <p:blipFill>
          <a:blip r:embed="rId8"/>
          <a:stretch>
            <a:fillRect/>
          </a:stretch>
        </p:blipFill>
        <p:spPr>
          <a:xfrm>
            <a:off x="868680" y="5120640"/>
            <a:ext cx="457200" cy="457200"/>
          </a:xfrm>
          <a:prstGeom prst="rect">
            <a:avLst/>
          </a:prstGeom>
        </p:spPr>
      </p:pic>
      <p:sp>
        <p:nvSpPr>
          <p:cNvPr id="17" name="Text 9"/>
          <p:cNvSpPr txBox="1"/>
          <p:nvPr/>
        </p:nvSpPr>
        <p:spPr>
          <a:xfrm>
            <a:off x="1508760" y="5074920"/>
            <a:ext cx="3931920" cy="5486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Accept, or decline with a reason</a:t>
            </a:r>
            <a:endParaRPr lang="en-US" sz="1600" dirty="0"/>
          </a:p>
        </p:txBody>
      </p:sp>
      <p:sp>
        <p:nvSpPr>
          <p:cNvPr id="18" name="Text 10"/>
          <p:cNvSpPr txBox="1"/>
          <p:nvPr/>
        </p:nvSpPr>
        <p:spPr>
          <a:xfrm>
            <a:off x="6035040" y="1554480"/>
            <a:ext cx="5486400" cy="411480"/>
          </a:xfrm>
          <a:prstGeom prst="rect">
            <a:avLst/>
          </a:prstGeom>
          <a:noFill/>
          <a:ln/>
        </p:spPr>
        <p:txBody>
          <a:bodyPr wrap="square" lIns="0" tIns="0" rIns="0" bIns="0" rtlCol="0" anchor="t"/>
          <a:lstStyle/>
          <a:p>
            <a:pPr indent="0" marL="0">
              <a:buNone/>
            </a:pPr>
            <a:r>
              <a:rPr lang="en-US" sz="1800" b="1" dirty="0">
                <a:solidFill>
                  <a:srgbClr val="287079"/>
                </a:solidFill>
                <a:latin typeface="Arial" pitchFamily="34" charset="0"/>
                <a:ea typeface="Arial" pitchFamily="34" charset="-122"/>
                <a:cs typeface="Arial" pitchFamily="34" charset="-120"/>
              </a:rPr>
              <a:t>Not in a seat?</a:t>
            </a:r>
            <a:endParaRPr lang="en-US" sz="1800" dirty="0"/>
          </a:p>
        </p:txBody>
      </p:sp>
      <p:sp>
        <p:nvSpPr>
          <p:cNvPr id="19" name="Text 11"/>
          <p:cNvSpPr txBox="1"/>
          <p:nvPr/>
        </p:nvSpPr>
        <p:spPr>
          <a:xfrm>
            <a:off x="6035040" y="2011680"/>
            <a:ext cx="5577840" cy="109728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Watch the main screen and log every finding. You are the test team.</a:t>
            </a:r>
            <a:endParaRPr lang="en-US" sz="1700" dirty="0"/>
          </a:p>
        </p:txBody>
      </p:sp>
      <p:sp>
        <p:nvSpPr>
          <p:cNvPr id="20" name="Shape 12"/>
          <p:cNvSpPr/>
          <p:nvPr/>
        </p:nvSpPr>
        <p:spPr>
          <a:xfrm>
            <a:off x="6035040" y="3383280"/>
            <a:ext cx="5605272" cy="2651760"/>
          </a:xfrm>
          <a:prstGeom prst="roundRect">
            <a:avLst>
              <a:gd name="adj" fmla="val 3448"/>
            </a:avLst>
          </a:prstGeom>
          <a:solidFill>
            <a:srgbClr val="FDF3E1"/>
          </a:solidFill>
          <a:ln/>
        </p:spPr>
      </p:sp>
      <p:pic>
        <p:nvPicPr>
          <p:cNvPr id="21" name="Image 6" descr="/private/tmp/claude-501/-Users-salehhamed-Outcome-Engine/91861432-41e2-4884-bc97-63c6dff2d021/scratchpad/wk/icons/TbAlertTriangle-amber.png">    </p:cNvPr>
          <p:cNvPicPr>
            <a:picLocks noChangeAspect="1"/>
          </p:cNvPicPr>
          <p:nvPr/>
        </p:nvPicPr>
        <p:blipFill>
          <a:blip r:embed="rId9"/>
          <a:stretch>
            <a:fillRect/>
          </a:stretch>
        </p:blipFill>
        <p:spPr>
          <a:xfrm>
            <a:off x="6263640" y="3611880"/>
            <a:ext cx="548640" cy="548640"/>
          </a:xfrm>
          <a:prstGeom prst="rect">
            <a:avLst/>
          </a:prstGeom>
        </p:spPr>
      </p:pic>
      <p:sp>
        <p:nvSpPr>
          <p:cNvPr id="22" name="Text 13"/>
          <p:cNvSpPr txBox="1"/>
          <p:nvPr/>
        </p:nvSpPr>
        <p:spPr>
          <a:xfrm>
            <a:off x="6263640" y="4251960"/>
            <a:ext cx="5166360" cy="1645920"/>
          </a:xfrm>
          <a:prstGeom prst="rect">
            <a:avLst/>
          </a:prstGeom>
          <a:noFill/>
          <a:ln/>
        </p:spPr>
        <p:txBody>
          <a:bodyPr wrap="square" lIns="0" tIns="0" rIns="0" bIns="0" rtlCol="0" anchor="t"/>
          <a:lstStyle/>
          <a:p>
            <a:pPr indent="0" marL="0">
              <a:buNone/>
            </a:pPr>
            <a:r>
              <a:rPr lang="en-US" sz="1600" b="1" dirty="0">
                <a:solidFill>
                  <a:srgbClr val="1F2A33"/>
                </a:solidFill>
                <a:latin typeface="Arial" pitchFamily="34" charset="0"/>
                <a:ea typeface="Arial" pitchFamily="34" charset="-122"/>
                <a:cs typeface="Arial" pitchFamily="34" charset="-120"/>
              </a:rPr>
              <a:t>Decide only from what is on the screen. If something you need is missing, that is a finding.</a:t>
            </a:r>
            <a:endParaRPr lang="en-US" sz="16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0">
  <p:cSld name="Slide 1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TEST THE PROOF OF CONCEPT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Three ways to run this session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09:15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138</a:t>
            </a:r>
            <a:endParaRPr lang="en-US" sz="1000" dirty="0"/>
          </a:p>
        </p:txBody>
      </p:sp>
      <p:sp>
        <p:nvSpPr>
          <p:cNvPr id="7" name="Shape 4"/>
          <p:cNvSpPr/>
          <p:nvPr/>
        </p:nvSpPr>
        <p:spPr>
          <a:xfrm>
            <a:off x="548640" y="1463040"/>
            <a:ext cx="3566160" cy="4663440"/>
          </a:xfrm>
          <a:prstGeom prst="roundRect">
            <a:avLst>
              <a:gd name="adj" fmla="val 2051"/>
            </a:avLst>
          </a:prstGeom>
          <a:solidFill>
            <a:srgbClr val="FFFFFF"/>
          </a:solidFill>
          <a:ln w="12700">
            <a:solidFill>
              <a:srgbClr val="D9DEE2"/>
            </a:solidFill>
            <a:prstDash val="solid"/>
          </a:ln>
        </p:spPr>
      </p:sp>
      <p:sp>
        <p:nvSpPr>
          <p:cNvPr id="8" name="Shape 5"/>
          <p:cNvSpPr/>
          <p:nvPr/>
        </p:nvSpPr>
        <p:spPr>
          <a:xfrm>
            <a:off x="548640" y="1463040"/>
            <a:ext cx="3566160" cy="566928"/>
          </a:xfrm>
          <a:prstGeom prst="roundRect">
            <a:avLst>
              <a:gd name="adj" fmla="val 12903"/>
            </a:avLst>
          </a:prstGeom>
          <a:solidFill>
            <a:srgbClr val="287079"/>
          </a:solidFill>
          <a:ln/>
        </p:spPr>
      </p:sp>
      <p:sp>
        <p:nvSpPr>
          <p:cNvPr id="9" name="Shape 6"/>
          <p:cNvSpPr/>
          <p:nvPr/>
        </p:nvSpPr>
        <p:spPr>
          <a:xfrm>
            <a:off x="548640" y="1828800"/>
            <a:ext cx="3566160" cy="201168"/>
          </a:xfrm>
          <a:prstGeom prst="rect">
            <a:avLst/>
          </a:prstGeom>
          <a:solidFill>
            <a:srgbClr val="287079"/>
          </a:solidFill>
          <a:ln/>
        </p:spPr>
      </p:sp>
      <p:pic>
        <p:nvPicPr>
          <p:cNvPr id="10" name="Image 1" descr="/private/tmp/claude-501/-Users-salehhamed-Outcome-Engine/91861432-41e2-4884-bc97-63c6dff2d021/scratchpad/wk/icons/TbHandClick-white.png">    </p:cNvPr>
          <p:cNvPicPr>
            <a:picLocks noChangeAspect="1"/>
          </p:cNvPicPr>
          <p:nvPr/>
        </p:nvPicPr>
        <p:blipFill>
          <a:blip r:embed="rId4"/>
          <a:stretch>
            <a:fillRect/>
          </a:stretch>
        </p:blipFill>
        <p:spPr>
          <a:xfrm>
            <a:off x="713232" y="1554480"/>
            <a:ext cx="384048" cy="384048"/>
          </a:xfrm>
          <a:prstGeom prst="rect">
            <a:avLst/>
          </a:prstGeom>
        </p:spPr>
      </p:pic>
      <p:sp>
        <p:nvSpPr>
          <p:cNvPr id="11" name="Text 7"/>
          <p:cNvSpPr txBox="1"/>
          <p:nvPr/>
        </p:nvSpPr>
        <p:spPr>
          <a:xfrm>
            <a:off x="120700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A · HANDS-ON</a:t>
            </a:r>
            <a:endParaRPr lang="en-US" sz="1150" dirty="0"/>
          </a:p>
        </p:txBody>
      </p:sp>
      <p:sp>
        <p:nvSpPr>
          <p:cNvPr id="12" name="Text 8"/>
          <p:cNvSpPr txBox="1"/>
          <p:nvPr/>
        </p:nvSpPr>
        <p:spPr>
          <a:xfrm>
            <a:off x="77724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Seats and slips</a:t>
            </a:r>
            <a:endParaRPr lang="en-US" sz="2100" dirty="0"/>
          </a:p>
        </p:txBody>
      </p:sp>
      <p:sp>
        <p:nvSpPr>
          <p:cNvPr id="13" name="Text 9"/>
          <p:cNvSpPr txBox="1"/>
          <p:nvPr/>
        </p:nvSpPr>
        <p:spPr>
          <a:xfrm>
            <a:off x="77724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Decision owners answer in the working version; everyone else writes finding slips for the fix wall.</a:t>
            </a:r>
            <a:endParaRPr lang="en-US" sz="1400" dirty="0"/>
          </a:p>
        </p:txBody>
      </p:sp>
      <p:pic>
        <p:nvPicPr>
          <p:cNvPr id="14" name="Image 2" descr="/private/tmp/claude-501/-Users-salehhamed-Outcome-Engine/91861432-41e2-4884-bc97-63c6dff2d021/scratchpad/wk/icons/TbClock-grey.png">    </p:cNvPr>
          <p:cNvPicPr>
            <a:picLocks noChangeAspect="1"/>
          </p:cNvPicPr>
          <p:nvPr/>
        </p:nvPicPr>
        <p:blipFill>
          <a:blip r:embed="rId5"/>
          <a:stretch>
            <a:fillRect/>
          </a:stretch>
        </p:blipFill>
        <p:spPr>
          <a:xfrm>
            <a:off x="777240" y="4297680"/>
            <a:ext cx="274320" cy="274320"/>
          </a:xfrm>
          <a:prstGeom prst="rect">
            <a:avLst/>
          </a:prstGeom>
        </p:spPr>
      </p:pic>
      <p:sp>
        <p:nvSpPr>
          <p:cNvPr id="15" name="Text 10"/>
          <p:cNvSpPr txBox="1"/>
          <p:nvPr/>
        </p:nvSpPr>
        <p:spPr>
          <a:xfrm>
            <a:off x="114300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75 min</a:t>
            </a:r>
            <a:endParaRPr lang="en-US" sz="1200" dirty="0"/>
          </a:p>
        </p:txBody>
      </p:sp>
      <p:pic>
        <p:nvPicPr>
          <p:cNvPr id="16" name="Image 3" descr="/private/tmp/claude-501/-Users-salehhamed-Outcome-Engine/91861432-41e2-4884-bc97-63c6dff2d021/scratchpad/wk/icons/TbUsers-grey.png">    </p:cNvPr>
          <p:cNvPicPr>
            <a:picLocks noChangeAspect="1"/>
          </p:cNvPicPr>
          <p:nvPr/>
        </p:nvPicPr>
        <p:blipFill>
          <a:blip r:embed="rId6"/>
          <a:stretch>
            <a:fillRect/>
          </a:stretch>
        </p:blipFill>
        <p:spPr>
          <a:xfrm>
            <a:off x="777240" y="4681728"/>
            <a:ext cx="274320" cy="274320"/>
          </a:xfrm>
          <a:prstGeom prst="rect">
            <a:avLst/>
          </a:prstGeom>
        </p:spPr>
      </p:pic>
      <p:sp>
        <p:nvSpPr>
          <p:cNvPr id="17" name="Text 11"/>
          <p:cNvSpPr txBox="1"/>
          <p:nvPr/>
        </p:nvSpPr>
        <p:spPr>
          <a:xfrm>
            <a:off x="114300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Decision owners and observers</a:t>
            </a:r>
            <a:endParaRPr lang="en-US" sz="1200" dirty="0"/>
          </a:p>
        </p:txBody>
      </p:sp>
      <p:pic>
        <p:nvPicPr>
          <p:cNvPr id="18" name="Image 4" descr="/private/tmp/claude-501/-Users-salehhamed-Outcome-Engine/91861432-41e2-4884-bc97-63c6dff2d021/scratchpad/wk/icons/TbGauge-grey.png">    </p:cNvPr>
          <p:cNvPicPr>
            <a:picLocks noChangeAspect="1"/>
          </p:cNvPicPr>
          <p:nvPr/>
        </p:nvPicPr>
        <p:blipFill>
          <a:blip r:embed="rId7"/>
          <a:stretch>
            <a:fillRect/>
          </a:stretch>
        </p:blipFill>
        <p:spPr>
          <a:xfrm>
            <a:off x="777240" y="5065776"/>
            <a:ext cx="274320" cy="274320"/>
          </a:xfrm>
          <a:prstGeom prst="rect">
            <a:avLst/>
          </a:prstGeom>
        </p:spPr>
      </p:pic>
      <p:sp>
        <p:nvSpPr>
          <p:cNvPr id="19" name="Text 12"/>
          <p:cNvSpPr txBox="1"/>
          <p:nvPr/>
        </p:nvSpPr>
        <p:spPr>
          <a:xfrm>
            <a:off x="114300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20" name="Text 13"/>
          <p:cNvSpPr txBox="1"/>
          <p:nvPr/>
        </p:nvSpPr>
        <p:spPr>
          <a:xfrm>
            <a:off x="77724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You want decision owners to feel what the real job is like.</a:t>
            </a:r>
            <a:endParaRPr lang="en-US" sz="1150" dirty="0"/>
          </a:p>
        </p:txBody>
      </p:sp>
      <p:pic>
        <p:nvPicPr>
          <p:cNvPr id="21" name="Image 5" descr="/private/tmp/claude-501/-Users-salehhamed-Outcome-Engine/91861432-41e2-4884-bc97-63c6dff2d021/scratchpad/wk/brand/clear.png">
            <a:hlinkClick r:id="rId9" tooltip="Option A" action="ppaction://hlinksldjump"/>
          </p:cNvPr>
          <p:cNvPicPr>
            <a:picLocks noChangeAspect="1"/>
          </p:cNvPicPr>
          <p:nvPr/>
        </p:nvPicPr>
        <p:blipFill>
          <a:blip r:embed="rId8"/>
          <a:stretch>
            <a:fillRect/>
          </a:stretch>
        </p:blipFill>
        <p:spPr>
          <a:xfrm>
            <a:off x="548640" y="1463040"/>
            <a:ext cx="3566160" cy="4663440"/>
          </a:xfrm>
          <a:prstGeom prst="rect">
            <a:avLst/>
          </a:prstGeom>
        </p:spPr>
      </p:pic>
      <p:sp>
        <p:nvSpPr>
          <p:cNvPr id="22" name="Shape 14"/>
          <p:cNvSpPr/>
          <p:nvPr/>
        </p:nvSpPr>
        <p:spPr>
          <a:xfrm>
            <a:off x="4297680" y="1463040"/>
            <a:ext cx="3566160" cy="4663440"/>
          </a:xfrm>
          <a:prstGeom prst="roundRect">
            <a:avLst>
              <a:gd name="adj" fmla="val 2051"/>
            </a:avLst>
          </a:prstGeom>
          <a:solidFill>
            <a:srgbClr val="FFFFFF"/>
          </a:solidFill>
          <a:ln w="12700">
            <a:solidFill>
              <a:srgbClr val="D9DEE2"/>
            </a:solidFill>
            <a:prstDash val="solid"/>
          </a:ln>
        </p:spPr>
      </p:sp>
      <p:sp>
        <p:nvSpPr>
          <p:cNvPr id="23" name="Shape 15"/>
          <p:cNvSpPr/>
          <p:nvPr/>
        </p:nvSpPr>
        <p:spPr>
          <a:xfrm>
            <a:off x="4297680" y="1463040"/>
            <a:ext cx="3566160" cy="566928"/>
          </a:xfrm>
          <a:prstGeom prst="roundRect">
            <a:avLst>
              <a:gd name="adj" fmla="val 12903"/>
            </a:avLst>
          </a:prstGeom>
          <a:solidFill>
            <a:srgbClr val="FF462D"/>
          </a:solidFill>
          <a:ln/>
        </p:spPr>
      </p:sp>
      <p:sp>
        <p:nvSpPr>
          <p:cNvPr id="24" name="Shape 16"/>
          <p:cNvSpPr/>
          <p:nvPr/>
        </p:nvSpPr>
        <p:spPr>
          <a:xfrm>
            <a:off x="4297680" y="1828800"/>
            <a:ext cx="3566160" cy="201168"/>
          </a:xfrm>
          <a:prstGeom prst="rect">
            <a:avLst/>
          </a:prstGeom>
          <a:solidFill>
            <a:srgbClr val="FF462D"/>
          </a:solidFill>
          <a:ln/>
        </p:spPr>
      </p:sp>
      <p:pic>
        <p:nvPicPr>
          <p:cNvPr id="25" name="Image 6" descr="/private/tmp/claude-501/-Users-salehhamed-Outcome-Engine/91861432-41e2-4884-bc97-63c6dff2d021/scratchpad/wk/icons/TbDeviceMobile-white.png">    </p:cNvPr>
          <p:cNvPicPr>
            <a:picLocks noChangeAspect="1"/>
          </p:cNvPicPr>
          <p:nvPr/>
        </p:nvPicPr>
        <p:blipFill>
          <a:blip r:embed="rId10"/>
          <a:stretch>
            <a:fillRect/>
          </a:stretch>
        </p:blipFill>
        <p:spPr>
          <a:xfrm>
            <a:off x="4462272" y="1554480"/>
            <a:ext cx="384048" cy="384048"/>
          </a:xfrm>
          <a:prstGeom prst="rect">
            <a:avLst/>
          </a:prstGeom>
        </p:spPr>
      </p:pic>
      <p:sp>
        <p:nvSpPr>
          <p:cNvPr id="26" name="Text 17"/>
          <p:cNvSpPr txBox="1"/>
          <p:nvPr/>
        </p:nvSpPr>
        <p:spPr>
          <a:xfrm>
            <a:off x="495604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B · LIVE VOTING</a:t>
            </a:r>
            <a:endParaRPr lang="en-US" sz="1150" dirty="0"/>
          </a:p>
        </p:txBody>
      </p:sp>
      <p:sp>
        <p:nvSpPr>
          <p:cNvPr id="27" name="Text 18"/>
          <p:cNvSpPr txBox="1"/>
          <p:nvPr/>
        </p:nvSpPr>
        <p:spPr>
          <a:xfrm>
            <a:off x="452628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Problem hunt</a:t>
            </a:r>
            <a:endParaRPr lang="en-US" sz="2100" dirty="0"/>
          </a:p>
        </p:txBody>
      </p:sp>
      <p:sp>
        <p:nvSpPr>
          <p:cNvPr id="28" name="Text 19"/>
          <p:cNvSpPr txBox="1"/>
          <p:nvPr/>
        </p:nvSpPr>
        <p:spPr>
          <a:xfrm>
            <a:off x="452628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Decision owners answer from their seats; everyone else logs findings on phones; the top ones become the fix list.</a:t>
            </a:r>
            <a:endParaRPr lang="en-US" sz="1400" dirty="0"/>
          </a:p>
        </p:txBody>
      </p:sp>
      <p:pic>
        <p:nvPicPr>
          <p:cNvPr id="29" name="Image 7" descr="/private/tmp/claude-501/-Users-salehhamed-Outcome-Engine/91861432-41e2-4884-bc97-63c6dff2d021/scratchpad/wk/icons/TbClock-grey.png">    </p:cNvPr>
          <p:cNvPicPr>
            <a:picLocks noChangeAspect="1"/>
          </p:cNvPicPr>
          <p:nvPr/>
        </p:nvPicPr>
        <p:blipFill>
          <a:blip r:embed="rId11"/>
          <a:stretch>
            <a:fillRect/>
          </a:stretch>
        </p:blipFill>
        <p:spPr>
          <a:xfrm>
            <a:off x="4526280" y="4297680"/>
            <a:ext cx="274320" cy="274320"/>
          </a:xfrm>
          <a:prstGeom prst="rect">
            <a:avLst/>
          </a:prstGeom>
        </p:spPr>
      </p:pic>
      <p:sp>
        <p:nvSpPr>
          <p:cNvPr id="30" name="Text 20"/>
          <p:cNvSpPr txBox="1"/>
          <p:nvPr/>
        </p:nvSpPr>
        <p:spPr>
          <a:xfrm>
            <a:off x="489204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75 min</a:t>
            </a:r>
            <a:endParaRPr lang="en-US" sz="1200" dirty="0"/>
          </a:p>
        </p:txBody>
      </p:sp>
      <p:pic>
        <p:nvPicPr>
          <p:cNvPr id="31" name="Image 8" descr="/private/tmp/claude-501/-Users-salehhamed-Outcome-Engine/91861432-41e2-4884-bc97-63c6dff2d021/scratchpad/wk/icons/TbUsers-grey.png">    </p:cNvPr>
          <p:cNvPicPr>
            <a:picLocks noChangeAspect="1"/>
          </p:cNvPicPr>
          <p:nvPr/>
        </p:nvPicPr>
        <p:blipFill>
          <a:blip r:embed="rId12"/>
          <a:stretch>
            <a:fillRect/>
          </a:stretch>
        </p:blipFill>
        <p:spPr>
          <a:xfrm>
            <a:off x="4526280" y="4681728"/>
            <a:ext cx="274320" cy="274320"/>
          </a:xfrm>
          <a:prstGeom prst="rect">
            <a:avLst/>
          </a:prstGeom>
        </p:spPr>
      </p:pic>
      <p:sp>
        <p:nvSpPr>
          <p:cNvPr id="32" name="Text 21"/>
          <p:cNvSpPr txBox="1"/>
          <p:nvPr/>
        </p:nvSpPr>
        <p:spPr>
          <a:xfrm>
            <a:off x="489204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Each person</a:t>
            </a:r>
            <a:endParaRPr lang="en-US" sz="1200" dirty="0"/>
          </a:p>
        </p:txBody>
      </p:sp>
      <p:pic>
        <p:nvPicPr>
          <p:cNvPr id="33" name="Image 9" descr="/private/tmp/claude-501/-Users-salehhamed-Outcome-Engine/91861432-41e2-4884-bc97-63c6dff2d021/scratchpad/wk/icons/TbGauge-grey.png">    </p:cNvPr>
          <p:cNvPicPr>
            <a:picLocks noChangeAspect="1"/>
          </p:cNvPicPr>
          <p:nvPr/>
        </p:nvPicPr>
        <p:blipFill>
          <a:blip r:embed="rId13"/>
          <a:stretch>
            <a:fillRect/>
          </a:stretch>
        </p:blipFill>
        <p:spPr>
          <a:xfrm>
            <a:off x="4526280" y="5065776"/>
            <a:ext cx="274320" cy="274320"/>
          </a:xfrm>
          <a:prstGeom prst="rect">
            <a:avLst/>
          </a:prstGeom>
        </p:spPr>
      </p:pic>
      <p:sp>
        <p:nvSpPr>
          <p:cNvPr id="34" name="Text 22"/>
          <p:cNvSpPr txBox="1"/>
          <p:nvPr/>
        </p:nvSpPr>
        <p:spPr>
          <a:xfrm>
            <a:off x="489204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High energy</a:t>
            </a:r>
            <a:endParaRPr lang="en-US" sz="1200" dirty="0"/>
          </a:p>
        </p:txBody>
      </p:sp>
      <p:sp>
        <p:nvSpPr>
          <p:cNvPr id="35" name="Text 23"/>
          <p:cNvSpPr txBox="1"/>
          <p:nvPr/>
        </p:nvSpPr>
        <p:spPr>
          <a:xfrm>
            <a:off x="452628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You want maximum attention for a full hour.</a:t>
            </a:r>
            <a:endParaRPr lang="en-US" sz="1150" dirty="0"/>
          </a:p>
        </p:txBody>
      </p:sp>
      <p:pic>
        <p:nvPicPr>
          <p:cNvPr id="36" name="Image 10" descr="/private/tmp/claude-501/-Users-salehhamed-Outcome-Engine/91861432-41e2-4884-bc97-63c6dff2d021/scratchpad/wk/brand/clear.png">
            <a:hlinkClick r:id="rId15" tooltip="Option B" action="ppaction://hlinksldjump"/>
          </p:cNvPr>
          <p:cNvPicPr>
            <a:picLocks noChangeAspect="1"/>
          </p:cNvPicPr>
          <p:nvPr/>
        </p:nvPicPr>
        <p:blipFill>
          <a:blip r:embed="rId14"/>
          <a:stretch>
            <a:fillRect/>
          </a:stretch>
        </p:blipFill>
        <p:spPr>
          <a:xfrm>
            <a:off x="4297680" y="1463040"/>
            <a:ext cx="3566160" cy="4663440"/>
          </a:xfrm>
          <a:prstGeom prst="rect">
            <a:avLst/>
          </a:prstGeom>
        </p:spPr>
      </p:pic>
      <p:sp>
        <p:nvSpPr>
          <p:cNvPr id="37" name="Shape 24"/>
          <p:cNvSpPr/>
          <p:nvPr/>
        </p:nvSpPr>
        <p:spPr>
          <a:xfrm>
            <a:off x="8046720" y="1463040"/>
            <a:ext cx="3566160" cy="4663440"/>
          </a:xfrm>
          <a:prstGeom prst="roundRect">
            <a:avLst>
              <a:gd name="adj" fmla="val 2051"/>
            </a:avLst>
          </a:prstGeom>
          <a:solidFill>
            <a:srgbClr val="FFFFFF"/>
          </a:solidFill>
          <a:ln w="12700">
            <a:solidFill>
              <a:srgbClr val="D9DEE2"/>
            </a:solidFill>
            <a:prstDash val="solid"/>
          </a:ln>
        </p:spPr>
      </p:sp>
      <p:sp>
        <p:nvSpPr>
          <p:cNvPr id="38" name="Shape 25"/>
          <p:cNvSpPr/>
          <p:nvPr/>
        </p:nvSpPr>
        <p:spPr>
          <a:xfrm>
            <a:off x="8046720" y="1463040"/>
            <a:ext cx="3566160" cy="566928"/>
          </a:xfrm>
          <a:prstGeom prst="roundRect">
            <a:avLst>
              <a:gd name="adj" fmla="val 12903"/>
            </a:avLst>
          </a:prstGeom>
          <a:solidFill>
            <a:srgbClr val="36454F"/>
          </a:solidFill>
          <a:ln/>
        </p:spPr>
      </p:sp>
      <p:sp>
        <p:nvSpPr>
          <p:cNvPr id="39" name="Shape 26"/>
          <p:cNvSpPr/>
          <p:nvPr/>
        </p:nvSpPr>
        <p:spPr>
          <a:xfrm>
            <a:off x="8046720" y="1828800"/>
            <a:ext cx="3566160" cy="201168"/>
          </a:xfrm>
          <a:prstGeom prst="rect">
            <a:avLst/>
          </a:prstGeom>
          <a:solidFill>
            <a:srgbClr val="36454F"/>
          </a:solidFill>
          <a:ln/>
        </p:spPr>
      </p:sp>
      <p:pic>
        <p:nvPicPr>
          <p:cNvPr id="40" name="Image 11" descr="/private/tmp/claude-501/-Users-salehhamed-Outcome-Engine/91861432-41e2-4884-bc97-63c6dff2d021/scratchpad/wk/icons/TbMasksTheater-white.png">    </p:cNvPr>
          <p:cNvPicPr>
            <a:picLocks noChangeAspect="1"/>
          </p:cNvPicPr>
          <p:nvPr/>
        </p:nvPicPr>
        <p:blipFill>
          <a:blip r:embed="rId16"/>
          <a:stretch>
            <a:fillRect/>
          </a:stretch>
        </p:blipFill>
        <p:spPr>
          <a:xfrm>
            <a:off x="8211312" y="1554480"/>
            <a:ext cx="384048" cy="384048"/>
          </a:xfrm>
          <a:prstGeom prst="rect">
            <a:avLst/>
          </a:prstGeom>
        </p:spPr>
      </p:pic>
      <p:sp>
        <p:nvSpPr>
          <p:cNvPr id="41" name="Text 27"/>
          <p:cNvSpPr txBox="1"/>
          <p:nvPr/>
        </p:nvSpPr>
        <p:spPr>
          <a:xfrm>
            <a:off x="870508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C · CASES AND CONVERSATION</a:t>
            </a:r>
            <a:endParaRPr lang="en-US" sz="1150" dirty="0"/>
          </a:p>
        </p:txBody>
      </p:sp>
      <p:sp>
        <p:nvSpPr>
          <p:cNvPr id="42" name="Text 28"/>
          <p:cNvSpPr txBox="1"/>
          <p:nvPr/>
        </p:nvSpPr>
        <p:spPr>
          <a:xfrm>
            <a:off x="827532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Test stations</a:t>
            </a:r>
            <a:endParaRPr lang="en-US" sz="2100" dirty="0"/>
          </a:p>
        </p:txBody>
      </p:sp>
      <p:sp>
        <p:nvSpPr>
          <p:cNvPr id="43" name="Text 29"/>
          <p:cNvSpPr txBox="1"/>
          <p:nvPr/>
        </p:nvSpPr>
        <p:spPr>
          <a:xfrm>
            <a:off x="827532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Five stations, one kind of test each; tables rotate with a scripted case card.</a:t>
            </a:r>
            <a:endParaRPr lang="en-US" sz="1400" dirty="0"/>
          </a:p>
        </p:txBody>
      </p:sp>
      <p:pic>
        <p:nvPicPr>
          <p:cNvPr id="44" name="Image 12" descr="/private/tmp/claude-501/-Users-salehhamed-Outcome-Engine/91861432-41e2-4884-bc97-63c6dff2d021/scratchpad/wk/icons/TbClock-grey.png">    </p:cNvPr>
          <p:cNvPicPr>
            <a:picLocks noChangeAspect="1"/>
          </p:cNvPicPr>
          <p:nvPr/>
        </p:nvPicPr>
        <p:blipFill>
          <a:blip r:embed="rId17"/>
          <a:stretch>
            <a:fillRect/>
          </a:stretch>
        </p:blipFill>
        <p:spPr>
          <a:xfrm>
            <a:off x="8275320" y="4297680"/>
            <a:ext cx="274320" cy="274320"/>
          </a:xfrm>
          <a:prstGeom prst="rect">
            <a:avLst/>
          </a:prstGeom>
        </p:spPr>
      </p:pic>
      <p:sp>
        <p:nvSpPr>
          <p:cNvPr id="45" name="Text 30"/>
          <p:cNvSpPr txBox="1"/>
          <p:nvPr/>
        </p:nvSpPr>
        <p:spPr>
          <a:xfrm>
            <a:off x="864108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75 min</a:t>
            </a:r>
            <a:endParaRPr lang="en-US" sz="1200" dirty="0"/>
          </a:p>
        </p:txBody>
      </p:sp>
      <p:pic>
        <p:nvPicPr>
          <p:cNvPr id="46" name="Image 13" descr="/private/tmp/claude-501/-Users-salehhamed-Outcome-Engine/91861432-41e2-4884-bc97-63c6dff2d021/scratchpad/wk/icons/TbUsers-grey.png">    </p:cNvPr>
          <p:cNvPicPr>
            <a:picLocks noChangeAspect="1"/>
          </p:cNvPicPr>
          <p:nvPr/>
        </p:nvPicPr>
        <p:blipFill>
          <a:blip r:embed="rId18"/>
          <a:stretch>
            <a:fillRect/>
          </a:stretch>
        </p:blipFill>
        <p:spPr>
          <a:xfrm>
            <a:off x="8275320" y="4681728"/>
            <a:ext cx="274320" cy="274320"/>
          </a:xfrm>
          <a:prstGeom prst="rect">
            <a:avLst/>
          </a:prstGeom>
        </p:spPr>
      </p:pic>
      <p:sp>
        <p:nvSpPr>
          <p:cNvPr id="47" name="Text 31"/>
          <p:cNvSpPr txBox="1"/>
          <p:nvPr/>
        </p:nvSpPr>
        <p:spPr>
          <a:xfrm>
            <a:off x="864108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Tables rotating</a:t>
            </a:r>
            <a:endParaRPr lang="en-US" sz="1200" dirty="0"/>
          </a:p>
        </p:txBody>
      </p:sp>
      <p:pic>
        <p:nvPicPr>
          <p:cNvPr id="48" name="Image 14" descr="/private/tmp/claude-501/-Users-salehhamed-Outcome-Engine/91861432-41e2-4884-bc97-63c6dff2d021/scratchpad/wk/icons/TbGauge-grey.png">    </p:cNvPr>
          <p:cNvPicPr>
            <a:picLocks noChangeAspect="1"/>
          </p:cNvPicPr>
          <p:nvPr/>
        </p:nvPicPr>
        <p:blipFill>
          <a:blip r:embed="rId19"/>
          <a:stretch>
            <a:fillRect/>
          </a:stretch>
        </p:blipFill>
        <p:spPr>
          <a:xfrm>
            <a:off x="8275320" y="5065776"/>
            <a:ext cx="274320" cy="274320"/>
          </a:xfrm>
          <a:prstGeom prst="rect">
            <a:avLst/>
          </a:prstGeom>
        </p:spPr>
      </p:pic>
      <p:sp>
        <p:nvSpPr>
          <p:cNvPr id="49" name="Text 32"/>
          <p:cNvSpPr txBox="1"/>
          <p:nvPr/>
        </p:nvSpPr>
        <p:spPr>
          <a:xfrm>
            <a:off x="864108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High energy</a:t>
            </a:r>
            <a:endParaRPr lang="en-US" sz="1200" dirty="0"/>
          </a:p>
        </p:txBody>
      </p:sp>
      <p:sp>
        <p:nvSpPr>
          <p:cNvPr id="50" name="Text 33"/>
          <p:cNvSpPr txBox="1"/>
          <p:nvPr/>
        </p:nvSpPr>
        <p:spPr>
          <a:xfrm>
            <a:off x="827532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Enough laptops for five stations, and a decision owner at each.</a:t>
            </a:r>
            <a:endParaRPr lang="en-US" sz="1150" dirty="0"/>
          </a:p>
        </p:txBody>
      </p:sp>
      <p:pic>
        <p:nvPicPr>
          <p:cNvPr id="51" name="Image 15" descr="/private/tmp/claude-501/-Users-salehhamed-Outcome-Engine/91861432-41e2-4884-bc97-63c6dff2d021/scratchpad/wk/brand/clear.png">
            <a:hlinkClick r:id="rId21" tooltip="Option C" action="ppaction://hlinksldjump"/>
          </p:cNvPr>
          <p:cNvPicPr>
            <a:picLocks noChangeAspect="1"/>
          </p:cNvPicPr>
          <p:nvPr/>
        </p:nvPicPr>
        <p:blipFill>
          <a:blip r:embed="rId20"/>
          <a:stretch>
            <a:fillRect/>
          </a:stretch>
        </p:blipFill>
        <p:spPr>
          <a:xfrm>
            <a:off x="8046720" y="1463040"/>
            <a:ext cx="3566160" cy="4663440"/>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0">
  <p:cSld name="Slide 1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OPTION A · HANDS-ON · TEST IT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Seats and slips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09:15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139</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Decision owners answer in the working version; everyone else writes finding slips for the fix wall.</a:t>
            </a:r>
            <a:endParaRPr lang="en-US" sz="1900" dirty="0"/>
          </a:p>
        </p:txBody>
      </p:sp>
      <p:sp>
        <p:nvSpPr>
          <p:cNvPr id="8" name="Shape 5"/>
          <p:cNvSpPr/>
          <p:nvPr/>
        </p:nvSpPr>
        <p:spPr>
          <a:xfrm>
            <a:off x="548640" y="2240280"/>
            <a:ext cx="1442679" cy="1417320"/>
          </a:xfrm>
          <a:prstGeom prst="rect">
            <a:avLst/>
          </a:prstGeom>
          <a:solidFill>
            <a:srgbClr val="287079"/>
          </a:solidFill>
          <a:ln/>
        </p:spPr>
      </p:sp>
      <p:sp>
        <p:nvSpPr>
          <p:cNvPr id="9" name="Text 6"/>
          <p:cNvSpPr txBox="1"/>
          <p:nvPr/>
        </p:nvSpPr>
        <p:spPr>
          <a:xfrm>
            <a:off x="64008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0" name="Text 7"/>
          <p:cNvSpPr txBox="1"/>
          <p:nvPr/>
        </p:nvSpPr>
        <p:spPr>
          <a:xfrm>
            <a:off x="64008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How to test</a:t>
            </a:r>
            <a:endParaRPr lang="en-US" sz="1500" dirty="0"/>
          </a:p>
        </p:txBody>
      </p:sp>
      <p:sp>
        <p:nvSpPr>
          <p:cNvPr id="11" name="Shape 8"/>
          <p:cNvSpPr/>
          <p:nvPr/>
        </p:nvSpPr>
        <p:spPr>
          <a:xfrm>
            <a:off x="2027895" y="2240280"/>
            <a:ext cx="8099328" cy="1417320"/>
          </a:xfrm>
          <a:prstGeom prst="rect">
            <a:avLst/>
          </a:prstGeom>
          <a:solidFill>
            <a:srgbClr val="5C8F95"/>
          </a:solidFill>
          <a:ln/>
        </p:spPr>
      </p:sp>
      <p:sp>
        <p:nvSpPr>
          <p:cNvPr id="12" name="Text 9"/>
          <p:cNvSpPr txBox="1"/>
          <p:nvPr/>
        </p:nvSpPr>
        <p:spPr>
          <a:xfrm>
            <a:off x="2119335" y="2331720"/>
            <a:ext cx="7953024"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55 min</a:t>
            </a:r>
            <a:endParaRPr lang="en-US" sz="1150" dirty="0"/>
          </a:p>
        </p:txBody>
      </p:sp>
      <p:sp>
        <p:nvSpPr>
          <p:cNvPr id="13" name="Text 10"/>
          <p:cNvSpPr txBox="1"/>
          <p:nvPr/>
        </p:nvSpPr>
        <p:spPr>
          <a:xfrm>
            <a:off x="2119335" y="2651760"/>
            <a:ext cx="7989600"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Five tests</a:t>
            </a:r>
            <a:endParaRPr lang="en-US" sz="1500" dirty="0"/>
          </a:p>
        </p:txBody>
      </p:sp>
      <p:sp>
        <p:nvSpPr>
          <p:cNvPr id="14" name="Shape 11"/>
          <p:cNvSpPr/>
          <p:nvPr/>
        </p:nvSpPr>
        <p:spPr>
          <a:xfrm>
            <a:off x="10163800" y="2240280"/>
            <a:ext cx="1442679" cy="1417320"/>
          </a:xfrm>
          <a:prstGeom prst="rect">
            <a:avLst/>
          </a:prstGeom>
          <a:solidFill>
            <a:srgbClr val="287079"/>
          </a:solidFill>
          <a:ln/>
        </p:spPr>
      </p:sp>
      <p:sp>
        <p:nvSpPr>
          <p:cNvPr id="15" name="Text 12"/>
          <p:cNvSpPr txBox="1"/>
          <p:nvPr/>
        </p:nvSpPr>
        <p:spPr>
          <a:xfrm>
            <a:off x="1025524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6" name="Text 13"/>
          <p:cNvSpPr txBox="1"/>
          <p:nvPr/>
        </p:nvSpPr>
        <p:spPr>
          <a:xfrm>
            <a:off x="1025524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Sort the fix wall</a:t>
            </a:r>
            <a:endParaRPr lang="en-US" sz="1500" dirty="0"/>
          </a:p>
        </p:txBody>
      </p:sp>
      <p:sp>
        <p:nvSpPr>
          <p:cNvPr id="17" name="Shape 14"/>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8"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9" name="Text 15"/>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0" name="Text 16"/>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Decision owners and observers</a:t>
            </a:r>
            <a:endParaRPr lang="en-US" sz="1300" dirty="0"/>
          </a:p>
        </p:txBody>
      </p:sp>
      <p:sp>
        <p:nvSpPr>
          <p:cNvPr id="21" name="Shape 17"/>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2"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3" name="Text 18"/>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4" name="Text 19"/>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The fix wall, typed up and handed to the build team at 10:30.</a:t>
            </a:r>
            <a:endParaRPr lang="en-US" sz="1300" dirty="0"/>
          </a:p>
        </p:txBody>
      </p:sp>
      <p:sp>
        <p:nvSpPr>
          <p:cNvPr id="25" name="Shape 20"/>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6"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27" name="Text 21"/>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28" name="Text 22"/>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FF462D"/>
                </a:solidFill>
                <a:latin typeface="Arial" pitchFamily="34" charset="0"/>
                <a:ea typeface="Arial" pitchFamily="34" charset="-122"/>
                <a:cs typeface="Arial" pitchFamily="34" charset="-120"/>
              </a:rPr>
              <a:t>OPTION B · LIVE VOTING · TEST IT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Problem hunt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09:15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140</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Decision owners answer from their seats; everyone else logs findings on phones; the top ones become the fix list.</a:t>
            </a:r>
            <a:endParaRPr lang="en-US" sz="1900" dirty="0"/>
          </a:p>
        </p:txBody>
      </p:sp>
      <p:sp>
        <p:nvSpPr>
          <p:cNvPr id="8" name="Shape 5"/>
          <p:cNvSpPr/>
          <p:nvPr/>
        </p:nvSpPr>
        <p:spPr>
          <a:xfrm>
            <a:off x="548640" y="2240280"/>
            <a:ext cx="1442679" cy="1417320"/>
          </a:xfrm>
          <a:prstGeom prst="rect">
            <a:avLst/>
          </a:prstGeom>
          <a:solidFill>
            <a:srgbClr val="FF462D"/>
          </a:solidFill>
          <a:ln/>
        </p:spPr>
      </p:sp>
      <p:sp>
        <p:nvSpPr>
          <p:cNvPr id="9" name="Text 6"/>
          <p:cNvSpPr txBox="1"/>
          <p:nvPr/>
        </p:nvSpPr>
        <p:spPr>
          <a:xfrm>
            <a:off x="64008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0" name="Text 7"/>
          <p:cNvSpPr txBox="1"/>
          <p:nvPr/>
        </p:nvSpPr>
        <p:spPr>
          <a:xfrm>
            <a:off x="64008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How to test</a:t>
            </a:r>
            <a:endParaRPr lang="en-US" sz="1500" dirty="0"/>
          </a:p>
        </p:txBody>
      </p:sp>
      <p:sp>
        <p:nvSpPr>
          <p:cNvPr id="11" name="Shape 8"/>
          <p:cNvSpPr/>
          <p:nvPr/>
        </p:nvSpPr>
        <p:spPr>
          <a:xfrm>
            <a:off x="2027895" y="2240280"/>
            <a:ext cx="8099328" cy="1417320"/>
          </a:xfrm>
          <a:prstGeom prst="rect">
            <a:avLst/>
          </a:prstGeom>
          <a:solidFill>
            <a:srgbClr val="FF8A78"/>
          </a:solidFill>
          <a:ln/>
        </p:spPr>
      </p:sp>
      <p:sp>
        <p:nvSpPr>
          <p:cNvPr id="12" name="Text 9"/>
          <p:cNvSpPr txBox="1"/>
          <p:nvPr/>
        </p:nvSpPr>
        <p:spPr>
          <a:xfrm>
            <a:off x="2119335" y="2331720"/>
            <a:ext cx="7953024"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55 min</a:t>
            </a:r>
            <a:endParaRPr lang="en-US" sz="1150" dirty="0"/>
          </a:p>
        </p:txBody>
      </p:sp>
      <p:sp>
        <p:nvSpPr>
          <p:cNvPr id="13" name="Text 10"/>
          <p:cNvSpPr txBox="1"/>
          <p:nvPr/>
        </p:nvSpPr>
        <p:spPr>
          <a:xfrm>
            <a:off x="2119335" y="2651760"/>
            <a:ext cx="7989600"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Five tests</a:t>
            </a:r>
            <a:endParaRPr lang="en-US" sz="1500" dirty="0"/>
          </a:p>
        </p:txBody>
      </p:sp>
      <p:sp>
        <p:nvSpPr>
          <p:cNvPr id="14" name="Shape 11"/>
          <p:cNvSpPr/>
          <p:nvPr/>
        </p:nvSpPr>
        <p:spPr>
          <a:xfrm>
            <a:off x="10163800" y="2240280"/>
            <a:ext cx="1442679" cy="1417320"/>
          </a:xfrm>
          <a:prstGeom prst="rect">
            <a:avLst/>
          </a:prstGeom>
          <a:solidFill>
            <a:srgbClr val="FF462D"/>
          </a:solidFill>
          <a:ln/>
        </p:spPr>
      </p:sp>
      <p:sp>
        <p:nvSpPr>
          <p:cNvPr id="15" name="Text 12"/>
          <p:cNvSpPr txBox="1"/>
          <p:nvPr/>
        </p:nvSpPr>
        <p:spPr>
          <a:xfrm>
            <a:off x="1025524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6" name="Text 13"/>
          <p:cNvSpPr txBox="1"/>
          <p:nvPr/>
        </p:nvSpPr>
        <p:spPr>
          <a:xfrm>
            <a:off x="1025524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Top findings</a:t>
            </a:r>
            <a:endParaRPr lang="en-US" sz="1500" dirty="0"/>
          </a:p>
        </p:txBody>
      </p:sp>
      <p:sp>
        <p:nvSpPr>
          <p:cNvPr id="17" name="Shape 14"/>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8"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9" name="Text 15"/>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0" name="Text 16"/>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Each person</a:t>
            </a:r>
            <a:endParaRPr lang="en-US" sz="1300" dirty="0"/>
          </a:p>
        </p:txBody>
      </p:sp>
      <p:sp>
        <p:nvSpPr>
          <p:cNvPr id="21" name="Shape 17"/>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2"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3" name="Text 18"/>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4" name="Text 19"/>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Findings and points, saved and exported for the build team.</a:t>
            </a:r>
            <a:endParaRPr lang="en-US" sz="1300" dirty="0"/>
          </a:p>
        </p:txBody>
      </p:sp>
      <p:sp>
        <p:nvSpPr>
          <p:cNvPr id="25" name="Shape 20"/>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26"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27" name="Text 21"/>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28" name="Text 22"/>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0">
  <p:cSld name="Slide 1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36454F"/>
                </a:solidFill>
                <a:latin typeface="Arial" pitchFamily="34" charset="0"/>
                <a:ea typeface="Arial" pitchFamily="34" charset="-122"/>
                <a:cs typeface="Arial" pitchFamily="34" charset="-120"/>
              </a:rPr>
              <a:t>OPTION C · CASES AND CONVERSATION · TEST IT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Test stations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09:15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141</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Five stations, one kind of test each; tables rotate with a scripted case card.</a:t>
            </a:r>
            <a:endParaRPr lang="en-US" sz="1900" dirty="0"/>
          </a:p>
        </p:txBody>
      </p:sp>
      <p:sp>
        <p:nvSpPr>
          <p:cNvPr id="8" name="Shape 5"/>
          <p:cNvSpPr/>
          <p:nvPr/>
        </p:nvSpPr>
        <p:spPr>
          <a:xfrm>
            <a:off x="548640" y="2240280"/>
            <a:ext cx="1442679" cy="1417320"/>
          </a:xfrm>
          <a:prstGeom prst="rect">
            <a:avLst/>
          </a:prstGeom>
          <a:solidFill>
            <a:srgbClr val="36454F"/>
          </a:solidFill>
          <a:ln/>
        </p:spPr>
      </p:sp>
      <p:sp>
        <p:nvSpPr>
          <p:cNvPr id="9" name="Text 6"/>
          <p:cNvSpPr txBox="1"/>
          <p:nvPr/>
        </p:nvSpPr>
        <p:spPr>
          <a:xfrm>
            <a:off x="64008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0" name="Text 7"/>
          <p:cNvSpPr txBox="1"/>
          <p:nvPr/>
        </p:nvSpPr>
        <p:spPr>
          <a:xfrm>
            <a:off x="64008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How to test</a:t>
            </a:r>
            <a:endParaRPr lang="en-US" sz="1500" dirty="0"/>
          </a:p>
        </p:txBody>
      </p:sp>
      <p:sp>
        <p:nvSpPr>
          <p:cNvPr id="11" name="Shape 8"/>
          <p:cNvSpPr/>
          <p:nvPr/>
        </p:nvSpPr>
        <p:spPr>
          <a:xfrm>
            <a:off x="2027895" y="2240280"/>
            <a:ext cx="7359701" cy="1417320"/>
          </a:xfrm>
          <a:prstGeom prst="rect">
            <a:avLst/>
          </a:prstGeom>
          <a:solidFill>
            <a:srgbClr val="6B7B86"/>
          </a:solidFill>
          <a:ln/>
        </p:spPr>
      </p:sp>
      <p:sp>
        <p:nvSpPr>
          <p:cNvPr id="12" name="Text 9"/>
          <p:cNvSpPr txBox="1"/>
          <p:nvPr/>
        </p:nvSpPr>
        <p:spPr>
          <a:xfrm>
            <a:off x="2119335" y="2331720"/>
            <a:ext cx="7213397"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50 min</a:t>
            </a:r>
            <a:endParaRPr lang="en-US" sz="1150" dirty="0"/>
          </a:p>
        </p:txBody>
      </p:sp>
      <p:sp>
        <p:nvSpPr>
          <p:cNvPr id="13" name="Text 10"/>
          <p:cNvSpPr txBox="1"/>
          <p:nvPr/>
        </p:nvSpPr>
        <p:spPr>
          <a:xfrm>
            <a:off x="2119335" y="2651760"/>
            <a:ext cx="7249973"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Five stations</a:t>
            </a:r>
            <a:endParaRPr lang="en-US" sz="1500" dirty="0"/>
          </a:p>
        </p:txBody>
      </p:sp>
      <p:sp>
        <p:nvSpPr>
          <p:cNvPr id="14" name="Shape 11"/>
          <p:cNvSpPr/>
          <p:nvPr/>
        </p:nvSpPr>
        <p:spPr>
          <a:xfrm>
            <a:off x="9424172" y="2240280"/>
            <a:ext cx="2182307" cy="1417320"/>
          </a:xfrm>
          <a:prstGeom prst="rect">
            <a:avLst/>
          </a:prstGeom>
          <a:solidFill>
            <a:srgbClr val="36454F"/>
          </a:solidFill>
          <a:ln/>
        </p:spPr>
      </p:sp>
      <p:sp>
        <p:nvSpPr>
          <p:cNvPr id="15" name="Text 12"/>
          <p:cNvSpPr txBox="1"/>
          <p:nvPr/>
        </p:nvSpPr>
        <p:spPr>
          <a:xfrm>
            <a:off x="9515612" y="2331720"/>
            <a:ext cx="203600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6" name="Text 13"/>
          <p:cNvSpPr txBox="1"/>
          <p:nvPr/>
        </p:nvSpPr>
        <p:spPr>
          <a:xfrm>
            <a:off x="9515612" y="2651760"/>
            <a:ext cx="2072579"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Fix list</a:t>
            </a:r>
            <a:endParaRPr lang="en-US" sz="1500" dirty="0"/>
          </a:p>
        </p:txBody>
      </p:sp>
      <p:sp>
        <p:nvSpPr>
          <p:cNvPr id="17" name="Shape 14"/>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8"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9" name="Text 15"/>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0" name="Text 16"/>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Tables rotating</a:t>
            </a:r>
            <a:endParaRPr lang="en-US" sz="1300" dirty="0"/>
          </a:p>
        </p:txBody>
      </p:sp>
      <p:sp>
        <p:nvSpPr>
          <p:cNvPr id="21" name="Shape 17"/>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2"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3" name="Text 18"/>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4" name="Text 19"/>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Five station logs and the fix list.</a:t>
            </a:r>
            <a:endParaRPr lang="en-US" sz="1300" dirty="0"/>
          </a:p>
        </p:txBody>
      </p:sp>
      <p:sp>
        <p:nvSpPr>
          <p:cNvPr id="25" name="Shape 20"/>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6"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27" name="Text 21"/>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28" name="Text 22"/>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TEST IT · FILL IN LIVE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Fix list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09:15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142</a:t>
            </a:r>
            <a:endParaRPr lang="en-US" sz="1000" dirty="0"/>
          </a:p>
        </p:txBody>
      </p:sp>
      <p:graphicFrame>
        <p:nvGraphicFramePr>
          <p:cNvPr id="14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4754880"/>
                <a:gridCol w="2377440"/>
                <a:gridCol w="1920240"/>
                <a:gridCol w="2039112"/>
              </a:tblGrid>
              <a:tr h="666206">
                <a:tc>
                  <a:txBody>
                    <a:bodyPr/>
                    <a:lstStyle/>
                    <a:p>
                      <a:pPr indent="0" marL="0">
                        <a:buNone/>
                      </a:pPr>
                      <a:r>
                        <a:rPr lang="en-US" sz="1500" b="1" dirty="0">
                          <a:solidFill>
                            <a:srgbClr val="FFFFFF"/>
                          </a:solidFill>
                          <a:latin typeface="Arial" pitchFamily="34" charset="0"/>
                          <a:ea typeface="Arial" pitchFamily="34" charset="-122"/>
                          <a:cs typeface="Arial" pitchFamily="34" charset="-120"/>
                        </a:rPr>
                        <a:t>Finding</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Kind and test</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Today or later</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Owner</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r>
              <a:tr h="666206">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666206">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666206">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666206">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666206">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666206">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bl>
          </a:graphicData>
        </a:graphic>
      </p:graphicFrame>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QUICK CHECK · HANDS UP OR PHONES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400" b="1" dirty="0">
                <a:solidFill>
                  <a:srgbClr val="1F2A33"/>
                </a:solidFill>
                <a:latin typeface="TWK Everett" pitchFamily="34" charset="0"/>
                <a:ea typeface="TWK Everett" pitchFamily="34" charset="-122"/>
                <a:cs typeface="TWK Everett" pitchFamily="34" charset="-120"/>
              </a:rPr>
              <a:t>A decision went to the resourcing lead, but the room agreed the practice lead owns it. What kind of finding is it?</a:t>
            </a:r>
            <a:endParaRPr lang="en-US" sz="24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09:15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143</a:t>
            </a:r>
            <a:endParaRPr lang="en-US" sz="1000" dirty="0"/>
          </a:p>
        </p:txBody>
      </p:sp>
      <p:sp>
        <p:nvSpPr>
          <p:cNvPr id="7" name="Shape 4"/>
          <p:cNvSpPr/>
          <p:nvPr/>
        </p:nvSpPr>
        <p:spPr>
          <a:xfrm>
            <a:off x="548640" y="1828800"/>
            <a:ext cx="11091672" cy="1005840"/>
          </a:xfrm>
          <a:prstGeom prst="roundRect">
            <a:avLst>
              <a:gd name="adj" fmla="val 7273"/>
            </a:avLst>
          </a:prstGeom>
          <a:solidFill>
            <a:srgbClr val="FFFFFF"/>
          </a:solidFill>
          <a:ln w="12700">
            <a:solidFill>
              <a:srgbClr val="D9DEE2"/>
            </a:solidFill>
            <a:prstDash val="solid"/>
          </a:ln>
        </p:spPr>
      </p:sp>
      <p:sp>
        <p:nvSpPr>
          <p:cNvPr id="8" name="Shape 5"/>
          <p:cNvSpPr/>
          <p:nvPr/>
        </p:nvSpPr>
        <p:spPr>
          <a:xfrm>
            <a:off x="777240" y="2057400"/>
            <a:ext cx="548640" cy="548640"/>
          </a:xfrm>
          <a:prstGeom prst="ellipse">
            <a:avLst/>
          </a:prstGeom>
          <a:solidFill>
            <a:srgbClr val="36454F"/>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Wrong person</a:t>
            </a:r>
            <a:endParaRPr lang="en-US" sz="2000" dirty="0"/>
          </a:p>
        </p:txBody>
      </p:sp>
      <p:sp>
        <p:nvSpPr>
          <p:cNvPr id="11" name="Shape 8"/>
          <p:cNvSpPr/>
          <p:nvPr/>
        </p:nvSpPr>
        <p:spPr>
          <a:xfrm>
            <a:off x="548640" y="3017520"/>
            <a:ext cx="11091672" cy="1005840"/>
          </a:xfrm>
          <a:prstGeom prst="roundRect">
            <a:avLst>
              <a:gd name="adj" fmla="val 7273"/>
            </a:avLst>
          </a:prstGeom>
          <a:solidFill>
            <a:srgbClr val="FFFFFF"/>
          </a:solidFill>
          <a:ln w="12700">
            <a:solidFill>
              <a:srgbClr val="D9DEE2"/>
            </a:solidFill>
            <a:prstDash val="solid"/>
          </a:ln>
        </p:spPr>
      </p:sp>
      <p:sp>
        <p:nvSpPr>
          <p:cNvPr id="12" name="Shape 9"/>
          <p:cNvSpPr/>
          <p:nvPr/>
        </p:nvSpPr>
        <p:spPr>
          <a:xfrm>
            <a:off x="777240" y="3246120"/>
            <a:ext cx="548640" cy="548640"/>
          </a:xfrm>
          <a:prstGeom prst="ellipse">
            <a:avLst/>
          </a:prstGeom>
          <a:solidFill>
            <a:srgbClr val="36454F"/>
          </a:solidFill>
          <a:ln/>
        </p:spPr>
      </p:sp>
      <p:sp>
        <p:nvSpPr>
          <p:cNvPr id="13"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4"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Wrong result</a:t>
            </a:r>
            <a:endParaRPr lang="en-US" sz="2000" dirty="0"/>
          </a:p>
        </p:txBody>
      </p:sp>
      <p:sp>
        <p:nvSpPr>
          <p:cNvPr id="15" name="Shape 12"/>
          <p:cNvSpPr/>
          <p:nvPr/>
        </p:nvSpPr>
        <p:spPr>
          <a:xfrm>
            <a:off x="548640" y="4206240"/>
            <a:ext cx="11091672" cy="1005840"/>
          </a:xfrm>
          <a:prstGeom prst="roundRect">
            <a:avLst>
              <a:gd name="adj" fmla="val 7273"/>
            </a:avLst>
          </a:prstGeom>
          <a:solidFill>
            <a:srgbClr val="FFFFFF"/>
          </a:solidFill>
          <a:ln w="12700">
            <a:solidFill>
              <a:srgbClr val="D9DEE2"/>
            </a:solidFill>
            <a:prstDash val="solid"/>
          </a:ln>
        </p:spPr>
      </p:sp>
      <p:sp>
        <p:nvSpPr>
          <p:cNvPr id="16" name="Shape 13"/>
          <p:cNvSpPr/>
          <p:nvPr/>
        </p:nvSpPr>
        <p:spPr>
          <a:xfrm>
            <a:off x="777240" y="4434840"/>
            <a:ext cx="548640" cy="548640"/>
          </a:xfrm>
          <a:prstGeom prst="ellipse">
            <a:avLst/>
          </a:prstGeom>
          <a:solidFill>
            <a:srgbClr val="36454F"/>
          </a:solidFill>
          <a:ln/>
        </p:spPr>
      </p:sp>
      <p:sp>
        <p:nvSpPr>
          <p:cNvPr id="17"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8"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Missing evidence</a:t>
            </a:r>
            <a:endParaRPr lang="en-US" sz="20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CHECK · THE ANSWER</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400" b="1" dirty="0">
                <a:solidFill>
                  <a:srgbClr val="1F2A33"/>
                </a:solidFill>
                <a:latin typeface="TWK Everett" pitchFamily="34" charset="0"/>
                <a:ea typeface="TWK Everett" pitchFamily="34" charset="-122"/>
                <a:cs typeface="TWK Everett" pitchFamily="34" charset="-120"/>
              </a:rPr>
              <a:t>A decision went to the resourcing lead, but the room agreed the practice lead owns it. What kind of finding is it?</a:t>
            </a:r>
            <a:endParaRPr lang="en-US" sz="24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09:15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144</a:t>
            </a:r>
            <a:endParaRPr lang="en-US" sz="1000" dirty="0"/>
          </a:p>
        </p:txBody>
      </p:sp>
      <p:sp>
        <p:nvSpPr>
          <p:cNvPr id="7" name="Shape 4"/>
          <p:cNvSpPr/>
          <p:nvPr/>
        </p:nvSpPr>
        <p:spPr>
          <a:xfrm>
            <a:off x="548640" y="1828800"/>
            <a:ext cx="11091672" cy="1005840"/>
          </a:xfrm>
          <a:prstGeom prst="roundRect">
            <a:avLst>
              <a:gd name="adj" fmla="val 7273"/>
            </a:avLst>
          </a:prstGeom>
          <a:solidFill>
            <a:srgbClr val="E3F1E9"/>
          </a:solidFill>
          <a:ln w="12700">
            <a:solidFill>
              <a:srgbClr val="2E8656"/>
            </a:solidFill>
            <a:prstDash val="solid"/>
          </a:ln>
        </p:spPr>
      </p:sp>
      <p:sp>
        <p:nvSpPr>
          <p:cNvPr id="8" name="Shape 5"/>
          <p:cNvSpPr/>
          <p:nvPr/>
        </p:nvSpPr>
        <p:spPr>
          <a:xfrm>
            <a:off x="777240" y="2057400"/>
            <a:ext cx="548640" cy="548640"/>
          </a:xfrm>
          <a:prstGeom prst="ellipse">
            <a:avLst/>
          </a:prstGeom>
          <a:solidFill>
            <a:srgbClr val="2E8656"/>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Wrong person</a:t>
            </a:r>
            <a:endParaRPr lang="en-US" sz="2000" dirty="0"/>
          </a:p>
        </p:txBody>
      </p:sp>
      <p:pic>
        <p:nvPicPr>
          <p:cNvPr id="11" name="Image 1" descr="/private/tmp/claude-501/-Users-salehhamed-Outcome-Engine/91861432-41e2-4884-bc97-63c6dff2d021/scratchpad/wk/icons/TbCircleCheck-green.png">    </p:cNvPr>
          <p:cNvPicPr>
            <a:picLocks noChangeAspect="1"/>
          </p:cNvPicPr>
          <p:nvPr/>
        </p:nvPicPr>
        <p:blipFill>
          <a:blip r:embed="rId4"/>
          <a:stretch>
            <a:fillRect/>
          </a:stretch>
        </p:blipFill>
        <p:spPr>
          <a:xfrm>
            <a:off x="10927080" y="2057400"/>
            <a:ext cx="548640" cy="548640"/>
          </a:xfrm>
          <a:prstGeom prst="rect">
            <a:avLst/>
          </a:prstGeom>
        </p:spPr>
      </p:pic>
      <p:sp>
        <p:nvSpPr>
          <p:cNvPr id="12" name="Shape 8"/>
          <p:cNvSpPr/>
          <p:nvPr/>
        </p:nvSpPr>
        <p:spPr>
          <a:xfrm>
            <a:off x="548640" y="3017520"/>
            <a:ext cx="11091672" cy="1005840"/>
          </a:xfrm>
          <a:prstGeom prst="roundRect">
            <a:avLst>
              <a:gd name="adj" fmla="val 7273"/>
            </a:avLst>
          </a:prstGeom>
          <a:solidFill>
            <a:srgbClr val="FFFFFF"/>
          </a:solidFill>
          <a:ln w="12700">
            <a:solidFill>
              <a:srgbClr val="D9DEE2"/>
            </a:solidFill>
            <a:prstDash val="solid"/>
          </a:ln>
        </p:spPr>
      </p:sp>
      <p:sp>
        <p:nvSpPr>
          <p:cNvPr id="13" name="Shape 9"/>
          <p:cNvSpPr/>
          <p:nvPr/>
        </p:nvSpPr>
        <p:spPr>
          <a:xfrm>
            <a:off x="777240" y="3246120"/>
            <a:ext cx="548640" cy="548640"/>
          </a:xfrm>
          <a:prstGeom prst="ellipse">
            <a:avLst/>
          </a:prstGeom>
          <a:solidFill>
            <a:srgbClr val="8A94A4"/>
          </a:solidFill>
          <a:ln/>
        </p:spPr>
      </p:sp>
      <p:sp>
        <p:nvSpPr>
          <p:cNvPr id="14"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5"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Wrong result</a:t>
            </a:r>
            <a:endParaRPr lang="en-US" sz="2000" dirty="0"/>
          </a:p>
        </p:txBody>
      </p:sp>
      <p:sp>
        <p:nvSpPr>
          <p:cNvPr id="16" name="Shape 12"/>
          <p:cNvSpPr/>
          <p:nvPr/>
        </p:nvSpPr>
        <p:spPr>
          <a:xfrm>
            <a:off x="548640" y="4206240"/>
            <a:ext cx="11091672" cy="1005840"/>
          </a:xfrm>
          <a:prstGeom prst="roundRect">
            <a:avLst>
              <a:gd name="adj" fmla="val 7273"/>
            </a:avLst>
          </a:prstGeom>
          <a:solidFill>
            <a:srgbClr val="FFFFFF"/>
          </a:solidFill>
          <a:ln w="12700">
            <a:solidFill>
              <a:srgbClr val="D9DEE2"/>
            </a:solidFill>
            <a:prstDash val="solid"/>
          </a:ln>
        </p:spPr>
      </p:sp>
      <p:sp>
        <p:nvSpPr>
          <p:cNvPr id="17" name="Shape 13"/>
          <p:cNvSpPr/>
          <p:nvPr/>
        </p:nvSpPr>
        <p:spPr>
          <a:xfrm>
            <a:off x="777240" y="4434840"/>
            <a:ext cx="548640" cy="548640"/>
          </a:xfrm>
          <a:prstGeom prst="ellipse">
            <a:avLst/>
          </a:prstGeom>
          <a:solidFill>
            <a:srgbClr val="8A94A4"/>
          </a:solidFill>
          <a:ln/>
        </p:spPr>
      </p:sp>
      <p:sp>
        <p:nvSpPr>
          <p:cNvPr id="18"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9"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Missing evidence</a:t>
            </a:r>
            <a:endParaRPr lang="en-US" sz="20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BREAK · FIX LIST TO THE BUILD TEAM</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Break · fix list to the build team</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10:30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8A94A4"/>
                </a:solidFill>
                <a:latin typeface="Arial" pitchFamily="34" charset="0"/>
                <a:ea typeface="Arial" pitchFamily="34" charset="-122"/>
                <a:cs typeface="Arial" pitchFamily="34" charset="-120"/>
              </a:rPr>
              <a:t>   145</a:t>
            </a:r>
            <a:endParaRPr lang="en-US" sz="1000" dirty="0"/>
          </a:p>
        </p:txBody>
      </p:sp>
      <p:sp>
        <p:nvSpPr>
          <p:cNvPr id="7" name="Shape 4"/>
          <p:cNvSpPr/>
          <p:nvPr/>
        </p:nvSpPr>
        <p:spPr>
          <a:xfrm>
            <a:off x="548640" y="1737360"/>
            <a:ext cx="1280160" cy="1280160"/>
          </a:xfrm>
          <a:prstGeom prst="ellipse">
            <a:avLst/>
          </a:prstGeom>
          <a:solidFill>
            <a:srgbClr val="287079"/>
          </a:solidFill>
          <a:ln/>
        </p:spPr>
      </p:sp>
      <p:pic>
        <p:nvPicPr>
          <p:cNvPr id="8" name="Image 1" descr="/private/tmp/claude-501/-Users-salehhamed-Outcome-Engine/91861432-41e2-4884-bc97-63c6dff2d021/scratchpad/wk/icons/TbCoffee-white.png">    </p:cNvPr>
          <p:cNvPicPr>
            <a:picLocks noChangeAspect="1"/>
          </p:cNvPicPr>
          <p:nvPr/>
        </p:nvPicPr>
        <p:blipFill>
          <a:blip r:embed="rId3"/>
          <a:stretch>
            <a:fillRect/>
          </a:stretch>
        </p:blipFill>
        <p:spPr>
          <a:xfrm>
            <a:off x="804672" y="1993392"/>
            <a:ext cx="768096" cy="768096"/>
          </a:xfrm>
          <a:prstGeom prst="rect">
            <a:avLst/>
          </a:prstGeom>
        </p:spPr>
      </p:pic>
      <p:sp>
        <p:nvSpPr>
          <p:cNvPr id="9" name="Text 5"/>
          <p:cNvSpPr txBox="1"/>
          <p:nvPr/>
        </p:nvSpPr>
        <p:spPr>
          <a:xfrm>
            <a:off x="2194560" y="1737360"/>
            <a:ext cx="8229600" cy="1280160"/>
          </a:xfrm>
          <a:prstGeom prst="rect">
            <a:avLst/>
          </a:prstGeom>
          <a:noFill/>
          <a:ln/>
        </p:spPr>
        <p:txBody>
          <a:bodyPr wrap="square" lIns="0" tIns="0" rIns="0" bIns="0" rtlCol="0" anchor="ctr"/>
          <a:lstStyle/>
          <a:p>
            <a:pPr indent="0" marL="0">
              <a:buNone/>
            </a:pPr>
            <a:r>
              <a:rPr lang="en-US" sz="4000" b="1" dirty="0">
                <a:solidFill>
                  <a:srgbClr val="1F2A33"/>
                </a:solidFill>
                <a:latin typeface="TWK Everett" pitchFamily="34" charset="0"/>
                <a:ea typeface="TWK Everett" pitchFamily="34" charset="-122"/>
                <a:cs typeface="TWK Everett" pitchFamily="34" charset="-120"/>
              </a:rPr>
              <a:t>Back at 10:45</a:t>
            </a:r>
            <a:endParaRPr lang="en-US" sz="4000" dirty="0"/>
          </a:p>
        </p:txBody>
      </p:sp>
      <p:pic>
        <p:nvPicPr>
          <p:cNvPr id="10" name="Image 2" descr="/private/tmp/claude-501/-Users-salehhamed-Outcome-Engine/91861432-41e2-4884-bc97-63c6dff2d021/scratchpad/wk/icons/TbHammer-green.png">    </p:cNvPr>
          <p:cNvPicPr>
            <a:picLocks noChangeAspect="1"/>
          </p:cNvPicPr>
          <p:nvPr/>
        </p:nvPicPr>
        <p:blipFill>
          <a:blip r:embed="rId4"/>
          <a:stretch>
            <a:fillRect/>
          </a:stretch>
        </p:blipFill>
        <p:spPr>
          <a:xfrm>
            <a:off x="548640" y="3657600"/>
            <a:ext cx="548640" cy="548640"/>
          </a:xfrm>
          <a:prstGeom prst="rect">
            <a:avLst/>
          </a:prstGeom>
        </p:spPr>
      </p:pic>
      <p:sp>
        <p:nvSpPr>
          <p:cNvPr id="11" name="Text 6"/>
          <p:cNvSpPr txBox="1"/>
          <p:nvPr/>
        </p:nvSpPr>
        <p:spPr>
          <a:xfrm>
            <a:off x="1280160" y="3611880"/>
            <a:ext cx="10058400" cy="731520"/>
          </a:xfrm>
          <a:prstGeom prst="rect">
            <a:avLst/>
          </a:prstGeom>
          <a:noFill/>
          <a:ln/>
        </p:spPr>
        <p:txBody>
          <a:bodyPr wrap="square" lIns="0" tIns="0" rIns="0" bIns="0" rtlCol="0" anchor="ctr"/>
          <a:lstStyle/>
          <a:p>
            <a:pPr indent="0" marL="0">
              <a:buNone/>
            </a:pPr>
            <a:r>
              <a:rPr lang="en-US" sz="1800" b="1" dirty="0">
                <a:solidFill>
                  <a:srgbClr val="2E8656"/>
                </a:solidFill>
                <a:latin typeface="Arial" pitchFamily="34" charset="0"/>
                <a:ea typeface="Arial" pitchFamily="34" charset="-122"/>
                <a:cs typeface="Arial" pitchFamily="34" charset="-120"/>
              </a:rPr>
              <a:t>The engineering team takes the fix list.</a:t>
            </a:r>
            <a:endParaRPr lang="en-US" sz="1800" dirty="0"/>
          </a:p>
        </p:txBody>
      </p:sp>
      <p:sp>
        <p:nvSpPr>
          <p:cNvPr id="12" name="Text 7"/>
          <p:cNvSpPr txBox="1"/>
          <p:nvPr/>
        </p:nvSpPr>
        <p:spPr>
          <a:xfrm>
            <a:off x="548640" y="5120640"/>
            <a:ext cx="10058400" cy="457200"/>
          </a:xfrm>
          <a:prstGeom prst="rect">
            <a:avLst/>
          </a:prstGeom>
          <a:noFill/>
          <a:ln/>
        </p:spPr>
        <p:txBody>
          <a:bodyPr wrap="square" lIns="0" tIns="0" rIns="0" bIns="0" rtlCol="0" anchor="t"/>
          <a:lstStyle/>
          <a:p>
            <a:pPr indent="0" marL="0">
              <a:buNone/>
            </a:pPr>
            <a:r>
              <a:rPr lang="en-US" sz="1500" dirty="0">
                <a:solidFill>
                  <a:srgbClr val="5A5A5A"/>
                </a:solidFill>
                <a:latin typeface="Arial" pitchFamily="34" charset="0"/>
                <a:ea typeface="Arial" pitchFamily="34" charset="-122"/>
                <a:cs typeface="Arial" pitchFamily="34" charset="-120"/>
              </a:rPr>
              <a:t>Questions? Put them on the parking wall or in the room tool.</a:t>
            </a:r>
            <a:endParaRPr lang="en-US" sz="15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36454F"/>
          </a:solidFill>
          <a:ln/>
        </p:spPr>
      </p:sp>
      <p:sp>
        <p:nvSpPr>
          <p:cNvPr id="3" name="Text 1"/>
          <p:cNvSpPr txBox="1"/>
          <p:nvPr/>
        </p:nvSpPr>
        <p:spPr>
          <a:xfrm>
            <a:off x="548640" y="548640"/>
            <a:ext cx="3474720" cy="274320"/>
          </a:xfrm>
          <a:prstGeom prst="rect">
            <a:avLst/>
          </a:prstGeom>
          <a:noFill/>
          <a:ln/>
        </p:spPr>
        <p:txBody>
          <a:bodyPr wrap="square" lIns="0" tIns="0" rIns="0" bIns="0" rtlCol="0" anchor="t"/>
          <a:lstStyle/>
          <a:p>
            <a:pPr indent="0" marL="0">
              <a:buNone/>
            </a:pPr>
            <a:r>
              <a:rPr lang="en-US" sz="1100" b="1" spc="150" kern="0" dirty="0">
                <a:solidFill>
                  <a:srgbClr val="D9DEE2"/>
                </a:solidFill>
                <a:latin typeface="Arial" pitchFamily="34" charset="0"/>
                <a:ea typeface="Arial" pitchFamily="34" charset="-122"/>
                <a:cs typeface="Arial" pitchFamily="34" charset="-120"/>
              </a:rPr>
              <a:t>DAY 2 · 10:45–11:45 · 60 MIN</a:t>
            </a:r>
            <a:endParaRPr lang="en-US" sz="1100" dirty="0"/>
          </a:p>
        </p:txBody>
      </p:sp>
      <p:sp>
        <p:nvSpPr>
          <p:cNvPr id="4" name="Text 2"/>
          <p:cNvSpPr txBox="1"/>
          <p:nvPr/>
        </p:nvSpPr>
        <p:spPr>
          <a:xfrm>
            <a:off x="548640" y="960120"/>
            <a:ext cx="3383280" cy="2377440"/>
          </a:xfrm>
          <a:prstGeom prst="rect">
            <a:avLst/>
          </a:prstGeom>
          <a:noFill/>
          <a:ln/>
        </p:spPr>
        <p:txBody>
          <a:bodyPr wrap="square" lIns="0" tIns="0" rIns="0" bIns="0" rtlCol="0" anchor="t"/>
          <a:lstStyle/>
          <a:p>
            <a:pPr indent="0" marL="0">
              <a:buNone/>
            </a:pPr>
            <a:r>
              <a:rPr lang="en-US" sz="3000" b="1" dirty="0">
                <a:solidFill>
                  <a:srgbClr val="FFFFFF"/>
                </a:solidFill>
                <a:latin typeface="TWK Everett" pitchFamily="34" charset="0"/>
                <a:ea typeface="TWK Everett" pitchFamily="34" charset="-122"/>
                <a:cs typeface="TWK Everett" pitchFamily="34" charset="-120"/>
              </a:rPr>
              <a:t>Resolve key boundaries</a:t>
            </a:r>
            <a:endParaRPr lang="en-US" sz="3000" dirty="0"/>
          </a:p>
        </p:txBody>
      </p:sp>
      <p:pic>
        <p:nvPicPr>
          <p:cNvPr id="5" name="Image 0" descr="/private/tmp/claude-501/-Users-salehhamed-Outcome-Engine/91861432-41e2-4884-bc97-63c6dff2d021/scratchpad/wk/icons/TbArrowsRightLeft-white.png">    </p:cNvPr>
          <p:cNvPicPr>
            <a:picLocks noChangeAspect="1"/>
          </p:cNvPicPr>
          <p:nvPr/>
        </p:nvPicPr>
        <p:blipFill>
          <a:blip r:embed="rId1"/>
          <a:stretch>
            <a:fillRect/>
          </a:stretch>
        </p:blipFill>
        <p:spPr>
          <a:xfrm>
            <a:off x="548640" y="3200400"/>
            <a:ext cx="685800" cy="685800"/>
          </a:xfrm>
          <a:prstGeom prst="rect">
            <a:avLst/>
          </a:prstGeom>
        </p:spPr>
      </p:pic>
      <p:sp>
        <p:nvSpPr>
          <p:cNvPr id="6" name="Shape 3"/>
          <p:cNvSpPr/>
          <p:nvPr/>
        </p:nvSpPr>
        <p:spPr>
          <a:xfrm>
            <a:off x="548640" y="4169664"/>
            <a:ext cx="237744" cy="237744"/>
          </a:xfrm>
          <a:prstGeom prst="ellipse">
            <a:avLst/>
          </a:prstGeom>
          <a:solidFill>
            <a:srgbClr val="FFFFFF"/>
          </a:solidFill>
          <a:ln/>
        </p:spPr>
      </p:sp>
      <p:sp>
        <p:nvSpPr>
          <p:cNvPr id="7" name="Shape 4"/>
          <p:cNvSpPr/>
          <p:nvPr/>
        </p:nvSpPr>
        <p:spPr>
          <a:xfrm>
            <a:off x="932688" y="4169664"/>
            <a:ext cx="237744" cy="237744"/>
          </a:xfrm>
          <a:prstGeom prst="ellipse">
            <a:avLst/>
          </a:prstGeom>
          <a:solidFill>
            <a:srgbClr val="FFFFFF"/>
          </a:solidFill>
          <a:ln/>
        </p:spPr>
      </p:sp>
      <p:sp>
        <p:nvSpPr>
          <p:cNvPr id="8" name="Shape 5"/>
          <p:cNvSpPr/>
          <p:nvPr/>
        </p:nvSpPr>
        <p:spPr>
          <a:xfrm>
            <a:off x="1316736" y="4169664"/>
            <a:ext cx="237744" cy="237744"/>
          </a:xfrm>
          <a:prstGeom prst="ellipse">
            <a:avLst/>
          </a:prstGeom>
          <a:solidFill>
            <a:srgbClr val="FFFFFF"/>
          </a:solidFill>
          <a:ln/>
        </p:spPr>
      </p:sp>
      <p:sp>
        <p:nvSpPr>
          <p:cNvPr id="9" name="Shape 6"/>
          <p:cNvSpPr/>
          <p:nvPr/>
        </p:nvSpPr>
        <p:spPr>
          <a:xfrm>
            <a:off x="1700784" y="4169664"/>
            <a:ext cx="237744" cy="237744"/>
          </a:xfrm>
          <a:prstGeom prst="ellipse">
            <a:avLst/>
          </a:prstGeom>
          <a:solidFill>
            <a:srgbClr val="FFFFFF"/>
          </a:solidFill>
          <a:ln/>
        </p:spPr>
      </p:sp>
      <p:sp>
        <p:nvSpPr>
          <p:cNvPr id="10" name="Shape 7"/>
          <p:cNvSpPr/>
          <p:nvPr/>
        </p:nvSpPr>
        <p:spPr>
          <a:xfrm>
            <a:off x="2084832" y="4169664"/>
            <a:ext cx="237744" cy="237744"/>
          </a:xfrm>
          <a:prstGeom prst="ellipse">
            <a:avLst/>
          </a:prstGeom>
          <a:solidFill>
            <a:srgbClr val="FFFFFF"/>
          </a:solidFill>
          <a:ln/>
        </p:spPr>
      </p:sp>
      <p:sp>
        <p:nvSpPr>
          <p:cNvPr id="11" name="Shape 8"/>
          <p:cNvSpPr/>
          <p:nvPr/>
        </p:nvSpPr>
        <p:spPr>
          <a:xfrm>
            <a:off x="2432304" y="4133088"/>
            <a:ext cx="310896" cy="310896"/>
          </a:xfrm>
          <a:prstGeom prst="ellipse">
            <a:avLst/>
          </a:prstGeom>
          <a:solidFill>
            <a:srgbClr val="FF462D"/>
          </a:solidFill>
          <a:ln w="19050">
            <a:solidFill>
              <a:srgbClr val="FFFFFF"/>
            </a:solidFill>
            <a:prstDash val="solid"/>
          </a:ln>
        </p:spPr>
      </p:sp>
      <p:sp>
        <p:nvSpPr>
          <p:cNvPr id="12" name="Shape 9"/>
          <p:cNvSpPr/>
          <p:nvPr/>
        </p:nvSpPr>
        <p:spPr>
          <a:xfrm>
            <a:off x="2852928" y="4169664"/>
            <a:ext cx="237744" cy="237744"/>
          </a:xfrm>
          <a:prstGeom prst="ellipse">
            <a:avLst/>
          </a:prstGeom>
          <a:ln w="15875">
            <a:solidFill>
              <a:srgbClr val="D9DEE2"/>
            </a:solidFill>
            <a:prstDash val="solid"/>
          </a:ln>
        </p:spPr>
      </p:sp>
      <p:sp>
        <p:nvSpPr>
          <p:cNvPr id="13" name="Shape 10"/>
          <p:cNvSpPr/>
          <p:nvPr/>
        </p:nvSpPr>
        <p:spPr>
          <a:xfrm>
            <a:off x="3236976" y="4169664"/>
            <a:ext cx="237744" cy="237744"/>
          </a:xfrm>
          <a:prstGeom prst="ellipse">
            <a:avLst/>
          </a:prstGeom>
          <a:ln w="15875">
            <a:solidFill>
              <a:srgbClr val="D9DEE2"/>
            </a:solidFill>
            <a:prstDash val="solid"/>
          </a:ln>
        </p:spPr>
      </p:sp>
      <p:sp>
        <p:nvSpPr>
          <p:cNvPr id="14" name="Text 11"/>
          <p:cNvSpPr txBox="1"/>
          <p:nvPr/>
        </p:nvSpPr>
        <p:spPr>
          <a:xfrm>
            <a:off x="548640" y="4553712"/>
            <a:ext cx="338328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Still at step 6 of 8</a:t>
            </a:r>
            <a:endParaRPr lang="en-US" sz="1100" dirty="0"/>
          </a:p>
        </p:txBody>
      </p:sp>
      <p:sp>
        <p:nvSpPr>
          <p:cNvPr id="15" name="Text 12"/>
          <p:cNvSpPr txBox="1"/>
          <p:nvPr/>
        </p:nvSpPr>
        <p:spPr>
          <a:xfrm>
            <a:off x="4709160" y="685800"/>
            <a:ext cx="6400800" cy="320040"/>
          </a:xfrm>
          <a:prstGeom prst="rect">
            <a:avLst/>
          </a:prstGeom>
          <a:noFill/>
          <a:ln/>
        </p:spPr>
        <p:txBody>
          <a:bodyPr wrap="square" lIns="0" tIns="0" rIns="0" bIns="0" rtlCol="0" anchor="t"/>
          <a:lstStyle/>
          <a:p>
            <a:pPr indent="0" marL="0">
              <a:buNone/>
            </a:pPr>
            <a:r>
              <a:rPr lang="en-US" sz="1400" b="1" dirty="0">
                <a:solidFill>
                  <a:srgbClr val="287079"/>
                </a:solidFill>
                <a:latin typeface="Arial" pitchFamily="34" charset="0"/>
                <a:ea typeface="Arial" pitchFamily="34" charset="-122"/>
                <a:cs typeface="Arial" pitchFamily="34" charset="-120"/>
              </a:rPr>
              <a:t>By the end of this session, you can</a:t>
            </a:r>
            <a:endParaRPr lang="en-US" sz="1400" dirty="0"/>
          </a:p>
        </p:txBody>
      </p:sp>
      <p:pic>
        <p:nvPicPr>
          <p:cNvPr id="16" name="Image 1" descr="/private/tmp/claude-501/-Users-salehhamed-Outcome-Engine/91861432-41e2-4884-bc97-63c6dff2d021/scratchpad/wk/icons/TbCircleCheck-teal.png">    </p:cNvPr>
          <p:cNvPicPr>
            <a:picLocks noChangeAspect="1"/>
          </p:cNvPicPr>
          <p:nvPr/>
        </p:nvPicPr>
        <p:blipFill>
          <a:blip r:embed="rId2"/>
          <a:stretch>
            <a:fillRect/>
          </a:stretch>
        </p:blipFill>
        <p:spPr>
          <a:xfrm>
            <a:off x="4709160" y="1225296"/>
            <a:ext cx="411480" cy="411480"/>
          </a:xfrm>
          <a:prstGeom prst="rect">
            <a:avLst/>
          </a:prstGeom>
        </p:spPr>
      </p:pic>
      <p:sp>
        <p:nvSpPr>
          <p:cNvPr id="17" name="Text 13"/>
          <p:cNvSpPr txBox="1"/>
          <p:nvPr/>
        </p:nvSpPr>
        <p:spPr>
          <a:xfrm>
            <a:off x="5303520" y="118872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Settle the four boundaries that testing exposed.</a:t>
            </a:r>
            <a:endParaRPr lang="en-US" sz="1700" dirty="0"/>
          </a:p>
        </p:txBody>
      </p:sp>
      <p:pic>
        <p:nvPicPr>
          <p:cNvPr id="18" name="Image 2" descr="/private/tmp/claude-501/-Users-salehhamed-Outcome-Engine/91861432-41e2-4884-bc97-63c6dff2d021/scratchpad/wk/icons/TbCircleCheck-teal.png">    </p:cNvPr>
          <p:cNvPicPr>
            <a:picLocks noChangeAspect="1"/>
          </p:cNvPicPr>
          <p:nvPr/>
        </p:nvPicPr>
        <p:blipFill>
          <a:blip r:embed="rId3"/>
          <a:stretch>
            <a:fillRect/>
          </a:stretch>
        </p:blipFill>
        <p:spPr>
          <a:xfrm>
            <a:off x="4709160" y="2093976"/>
            <a:ext cx="411480" cy="411480"/>
          </a:xfrm>
          <a:prstGeom prst="rect">
            <a:avLst/>
          </a:prstGeom>
        </p:spPr>
      </p:pic>
      <p:sp>
        <p:nvSpPr>
          <p:cNvPr id="19" name="Text 14"/>
          <p:cNvSpPr txBox="1"/>
          <p:nvPr/>
        </p:nvSpPr>
        <p:spPr>
          <a:xfrm>
            <a:off x="5303520" y="205740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Give each one an owner today, or an owner and a date.</a:t>
            </a:r>
            <a:endParaRPr lang="en-US" sz="1700" dirty="0"/>
          </a:p>
        </p:txBody>
      </p:sp>
      <p:sp>
        <p:nvSpPr>
          <p:cNvPr id="20" name="Shape 15"/>
          <p:cNvSpPr/>
          <p:nvPr/>
        </p:nvSpPr>
        <p:spPr>
          <a:xfrm>
            <a:off x="4709160" y="4800600"/>
            <a:ext cx="6931152" cy="1234440"/>
          </a:xfrm>
          <a:prstGeom prst="roundRect">
            <a:avLst>
              <a:gd name="adj" fmla="val 5926"/>
            </a:avLst>
          </a:prstGeom>
          <a:solidFill>
            <a:srgbClr val="FFF0EC"/>
          </a:solidFill>
          <a:ln/>
        </p:spPr>
      </p:sp>
      <p:sp>
        <p:nvSpPr>
          <p:cNvPr id="21" name="Text 16"/>
          <p:cNvSpPr txBox="1"/>
          <p:nvPr/>
        </p:nvSpPr>
        <p:spPr>
          <a:xfrm>
            <a:off x="4937760" y="4800600"/>
            <a:ext cx="6492240" cy="1234440"/>
          </a:xfrm>
          <a:prstGeom prst="rect">
            <a:avLst/>
          </a:prstGeom>
          <a:noFill/>
          <a:ln/>
        </p:spPr>
        <p:txBody>
          <a:bodyPr wrap="square" lIns="0" tIns="0" rIns="0" bIns="0" rtlCol="0" anchor="ctr"/>
          <a:lstStyle/>
          <a:p>
            <a:pPr indent="0" marL="0">
              <a:buNone/>
            </a:pPr>
            <a:r>
              <a:rPr lang="en-US" sz="1800" b="1" dirty="0">
                <a:solidFill>
                  <a:srgbClr val="FF462D"/>
                </a:solidFill>
                <a:latin typeface="Arial" pitchFamily="34" charset="0"/>
                <a:ea typeface="Arial" pitchFamily="34" charset="-122"/>
                <a:cs typeface="Arial" pitchFamily="34" charset="-120"/>
              </a:rPr>
              <a:t>Every boundary gets an owner today, or an owner and a date.</a:t>
            </a:r>
            <a:endParaRPr lang="en-US" sz="1800" dirty="0"/>
          </a:p>
        </p:txBody>
      </p:sp>
      <p:sp>
        <p:nvSpPr>
          <p:cNvPr id="22" name="Text 17"/>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4"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5" action="ppaction://hlinksldjump" tooltip="The thre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146</a:t>
            </a:r>
            <a:endParaRPr lang="en-US" sz="10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WHAT TESTING EXPOSED</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Four boundaries to settle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10:45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147</a:t>
            </a:r>
            <a:endParaRPr lang="en-US" sz="1000" dirty="0"/>
          </a:p>
        </p:txBody>
      </p:sp>
      <p:sp>
        <p:nvSpPr>
          <p:cNvPr id="7" name="Shape 4"/>
          <p:cNvSpPr/>
          <p:nvPr/>
        </p:nvSpPr>
        <p:spPr>
          <a:xfrm>
            <a:off x="548640" y="1508760"/>
            <a:ext cx="5440680" cy="2103120"/>
          </a:xfrm>
          <a:prstGeom prst="roundRect">
            <a:avLst>
              <a:gd name="adj" fmla="val 3478"/>
            </a:avLst>
          </a:prstGeom>
          <a:solidFill>
            <a:srgbClr val="FFFFFF"/>
          </a:solidFill>
          <a:ln w="12700">
            <a:solidFill>
              <a:srgbClr val="D9DEE2"/>
            </a:solidFill>
            <a:prstDash val="solid"/>
          </a:ln>
        </p:spPr>
      </p:sp>
      <p:sp>
        <p:nvSpPr>
          <p:cNvPr id="8" name="Shape 5"/>
          <p:cNvSpPr/>
          <p:nvPr/>
        </p:nvSpPr>
        <p:spPr>
          <a:xfrm>
            <a:off x="731520" y="1691640"/>
            <a:ext cx="457200" cy="457200"/>
          </a:xfrm>
          <a:prstGeom prst="ellipse">
            <a:avLst/>
          </a:prstGeom>
          <a:solidFill>
            <a:srgbClr val="FF462D"/>
          </a:solidFill>
          <a:ln/>
        </p:spPr>
      </p:sp>
      <p:sp>
        <p:nvSpPr>
          <p:cNvPr id="9" name="Text 6"/>
          <p:cNvSpPr txBox="1"/>
          <p:nvPr/>
        </p:nvSpPr>
        <p:spPr>
          <a:xfrm>
            <a:off x="731520" y="16916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pic>
        <p:nvPicPr>
          <p:cNvPr id="10" name="Image 1" descr="/private/tmp/claude-501/-Users-salehhamed-Outcome-Engine/91861432-41e2-4884-bc97-63c6dff2d021/scratchpad/wk/icons/TbUserQuestion-teal.png">    </p:cNvPr>
          <p:cNvPicPr>
            <a:picLocks noChangeAspect="1"/>
          </p:cNvPicPr>
          <p:nvPr/>
        </p:nvPicPr>
        <p:blipFill>
          <a:blip r:embed="rId4"/>
          <a:stretch>
            <a:fillRect/>
          </a:stretch>
        </p:blipFill>
        <p:spPr>
          <a:xfrm>
            <a:off x="5166360" y="1691640"/>
            <a:ext cx="594360" cy="594360"/>
          </a:xfrm>
          <a:prstGeom prst="rect">
            <a:avLst/>
          </a:prstGeom>
        </p:spPr>
      </p:pic>
      <p:sp>
        <p:nvSpPr>
          <p:cNvPr id="11" name="Text 7"/>
          <p:cNvSpPr txBox="1"/>
          <p:nvPr/>
        </p:nvSpPr>
        <p:spPr>
          <a:xfrm>
            <a:off x="777240" y="2286000"/>
            <a:ext cx="4983480" cy="1188720"/>
          </a:xfrm>
          <a:prstGeom prst="rect">
            <a:avLst/>
          </a:prstGeom>
          <a:noFill/>
          <a:ln/>
        </p:spPr>
        <p:txBody>
          <a:bodyPr wrap="square" lIns="0" tIns="0" rIns="0" bIns="0" rtlCol="0" anchor="t"/>
          <a:lstStyle/>
          <a:p>
            <a:pPr indent="0" marL="0">
              <a:buNone/>
            </a:pPr>
            <a:r>
              <a:rPr lang="en-US" sz="1800" b="1" dirty="0">
                <a:solidFill>
                  <a:srgbClr val="1F2A33"/>
                </a:solidFill>
                <a:latin typeface="Arial" pitchFamily="34" charset="0"/>
                <a:ea typeface="Arial" pitchFamily="34" charset="-122"/>
                <a:cs typeface="Arial" pitchFamily="34" charset="-120"/>
              </a:rPr>
              <a:t>Who confirms that a shortfall is a real gap?</a:t>
            </a:r>
            <a:endParaRPr lang="en-US" sz="1800" dirty="0"/>
          </a:p>
        </p:txBody>
      </p:sp>
      <p:pic>
        <p:nvPicPr>
          <p:cNvPr id="12" name="Image 2" descr="/private/tmp/claude-501/-Users-salehhamed-Outcome-Engine/91861432-41e2-4884-bc97-63c6dff2d021/scratchpad/wk/brand/clear.png">
            <a:hlinkClick r:id="rId6" tooltip="Boundary 1" action="ppaction://hlinksldjump"/>
          </p:cNvPr>
          <p:cNvPicPr>
            <a:picLocks noChangeAspect="1"/>
          </p:cNvPicPr>
          <p:nvPr/>
        </p:nvPicPr>
        <p:blipFill>
          <a:blip r:embed="rId5"/>
          <a:stretch>
            <a:fillRect/>
          </a:stretch>
        </p:blipFill>
        <p:spPr>
          <a:xfrm>
            <a:off x="548640" y="1508760"/>
            <a:ext cx="5440680" cy="2103120"/>
          </a:xfrm>
          <a:prstGeom prst="rect">
            <a:avLst/>
          </a:prstGeom>
        </p:spPr>
      </p:pic>
      <p:sp>
        <p:nvSpPr>
          <p:cNvPr id="13" name="Shape 8"/>
          <p:cNvSpPr/>
          <p:nvPr/>
        </p:nvSpPr>
        <p:spPr>
          <a:xfrm>
            <a:off x="6172200" y="1508760"/>
            <a:ext cx="5440680" cy="2103120"/>
          </a:xfrm>
          <a:prstGeom prst="roundRect">
            <a:avLst>
              <a:gd name="adj" fmla="val 3478"/>
            </a:avLst>
          </a:prstGeom>
          <a:solidFill>
            <a:srgbClr val="FFFFFF"/>
          </a:solidFill>
          <a:ln w="12700">
            <a:solidFill>
              <a:srgbClr val="D9DEE2"/>
            </a:solidFill>
            <a:prstDash val="solid"/>
          </a:ln>
        </p:spPr>
      </p:sp>
      <p:sp>
        <p:nvSpPr>
          <p:cNvPr id="14" name="Shape 9"/>
          <p:cNvSpPr/>
          <p:nvPr/>
        </p:nvSpPr>
        <p:spPr>
          <a:xfrm>
            <a:off x="6355080" y="1691640"/>
            <a:ext cx="457200" cy="457200"/>
          </a:xfrm>
          <a:prstGeom prst="ellipse">
            <a:avLst/>
          </a:prstGeom>
          <a:solidFill>
            <a:srgbClr val="FF462D"/>
          </a:solidFill>
          <a:ln/>
        </p:spPr>
      </p:sp>
      <p:sp>
        <p:nvSpPr>
          <p:cNvPr id="15" name="Text 10"/>
          <p:cNvSpPr txBox="1"/>
          <p:nvPr/>
        </p:nvSpPr>
        <p:spPr>
          <a:xfrm>
            <a:off x="6355080" y="16916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pic>
        <p:nvPicPr>
          <p:cNvPr id="16" name="Image 3" descr="/private/tmp/claude-501/-Users-salehhamed-Outcome-Engine/91861432-41e2-4884-bc97-63c6dff2d021/scratchpad/wk/icons/TbDatabase-teal.png">    </p:cNvPr>
          <p:cNvPicPr>
            <a:picLocks noChangeAspect="1"/>
          </p:cNvPicPr>
          <p:nvPr/>
        </p:nvPicPr>
        <p:blipFill>
          <a:blip r:embed="rId7"/>
          <a:stretch>
            <a:fillRect/>
          </a:stretch>
        </p:blipFill>
        <p:spPr>
          <a:xfrm>
            <a:off x="10789920" y="1691640"/>
            <a:ext cx="594360" cy="594360"/>
          </a:xfrm>
          <a:prstGeom prst="rect">
            <a:avLst/>
          </a:prstGeom>
        </p:spPr>
      </p:pic>
      <p:sp>
        <p:nvSpPr>
          <p:cNvPr id="17" name="Text 11"/>
          <p:cNvSpPr txBox="1"/>
          <p:nvPr/>
        </p:nvSpPr>
        <p:spPr>
          <a:xfrm>
            <a:off x="6400800" y="2286000"/>
            <a:ext cx="4983480" cy="1188720"/>
          </a:xfrm>
          <a:prstGeom prst="rect">
            <a:avLst/>
          </a:prstGeom>
          <a:noFill/>
          <a:ln/>
        </p:spPr>
        <p:txBody>
          <a:bodyPr wrap="square" lIns="0" tIns="0" rIns="0" bIns="0" rtlCol="0" anchor="t"/>
          <a:lstStyle/>
          <a:p>
            <a:pPr indent="0" marL="0">
              <a:buNone/>
            </a:pPr>
            <a:r>
              <a:rPr lang="en-US" sz="1800" b="1" dirty="0">
                <a:solidFill>
                  <a:srgbClr val="1F2A33"/>
                </a:solidFill>
                <a:latin typeface="Arial" pitchFamily="34" charset="0"/>
                <a:ea typeface="Arial" pitchFamily="34" charset="-122"/>
                <a:cs typeface="Arial" pitchFamily="34" charset="-120"/>
              </a:rPr>
              <a:t>When records disagree about who is free, which one wins?</a:t>
            </a:r>
            <a:endParaRPr lang="en-US" sz="1800" dirty="0"/>
          </a:p>
        </p:txBody>
      </p:sp>
      <p:pic>
        <p:nvPicPr>
          <p:cNvPr id="18" name="Image 4" descr="/private/tmp/claude-501/-Users-salehhamed-Outcome-Engine/91861432-41e2-4884-bc97-63c6dff2d021/scratchpad/wk/brand/clear.png">
            <a:hlinkClick r:id="rId9" tooltip="Boundary 2" action="ppaction://hlinksldjump"/>
          </p:cNvPr>
          <p:cNvPicPr>
            <a:picLocks noChangeAspect="1"/>
          </p:cNvPicPr>
          <p:nvPr/>
        </p:nvPicPr>
        <p:blipFill>
          <a:blip r:embed="rId8"/>
          <a:stretch>
            <a:fillRect/>
          </a:stretch>
        </p:blipFill>
        <p:spPr>
          <a:xfrm>
            <a:off x="6172200" y="1508760"/>
            <a:ext cx="5440680" cy="2103120"/>
          </a:xfrm>
          <a:prstGeom prst="rect">
            <a:avLst/>
          </a:prstGeom>
        </p:spPr>
      </p:pic>
      <p:sp>
        <p:nvSpPr>
          <p:cNvPr id="19" name="Shape 12"/>
          <p:cNvSpPr/>
          <p:nvPr/>
        </p:nvSpPr>
        <p:spPr>
          <a:xfrm>
            <a:off x="548640" y="3794760"/>
            <a:ext cx="5440680" cy="2103120"/>
          </a:xfrm>
          <a:prstGeom prst="roundRect">
            <a:avLst>
              <a:gd name="adj" fmla="val 3478"/>
            </a:avLst>
          </a:prstGeom>
          <a:solidFill>
            <a:srgbClr val="FFFFFF"/>
          </a:solidFill>
          <a:ln w="12700">
            <a:solidFill>
              <a:srgbClr val="D9DEE2"/>
            </a:solidFill>
            <a:prstDash val="solid"/>
          </a:ln>
        </p:spPr>
      </p:sp>
      <p:sp>
        <p:nvSpPr>
          <p:cNvPr id="20" name="Shape 13"/>
          <p:cNvSpPr/>
          <p:nvPr/>
        </p:nvSpPr>
        <p:spPr>
          <a:xfrm>
            <a:off x="731520" y="3977640"/>
            <a:ext cx="457200" cy="457200"/>
          </a:xfrm>
          <a:prstGeom prst="ellipse">
            <a:avLst/>
          </a:prstGeom>
          <a:solidFill>
            <a:srgbClr val="FF462D"/>
          </a:solidFill>
          <a:ln/>
        </p:spPr>
      </p:sp>
      <p:sp>
        <p:nvSpPr>
          <p:cNvPr id="21" name="Text 14"/>
          <p:cNvSpPr txBox="1"/>
          <p:nvPr/>
        </p:nvSpPr>
        <p:spPr>
          <a:xfrm>
            <a:off x="731520" y="39776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pic>
        <p:nvPicPr>
          <p:cNvPr id="22" name="Image 5" descr="/private/tmp/claude-501/-Users-salehhamed-Outcome-Engine/91861432-41e2-4884-bc97-63c6dff2d021/scratchpad/wk/icons/TbArrowsRightLeft-teal.png">    </p:cNvPr>
          <p:cNvPicPr>
            <a:picLocks noChangeAspect="1"/>
          </p:cNvPicPr>
          <p:nvPr/>
        </p:nvPicPr>
        <p:blipFill>
          <a:blip r:embed="rId10"/>
          <a:stretch>
            <a:fillRect/>
          </a:stretch>
        </p:blipFill>
        <p:spPr>
          <a:xfrm>
            <a:off x="5166360" y="3977640"/>
            <a:ext cx="594360" cy="594360"/>
          </a:xfrm>
          <a:prstGeom prst="rect">
            <a:avLst/>
          </a:prstGeom>
        </p:spPr>
      </p:pic>
      <p:sp>
        <p:nvSpPr>
          <p:cNvPr id="23" name="Text 15"/>
          <p:cNvSpPr txBox="1"/>
          <p:nvPr/>
        </p:nvSpPr>
        <p:spPr>
          <a:xfrm>
            <a:off x="777240" y="4572000"/>
            <a:ext cx="4983480" cy="1188720"/>
          </a:xfrm>
          <a:prstGeom prst="rect">
            <a:avLst/>
          </a:prstGeom>
          <a:noFill/>
          <a:ln/>
        </p:spPr>
        <p:txBody>
          <a:bodyPr wrap="square" lIns="0" tIns="0" rIns="0" bIns="0" rtlCol="0" anchor="t"/>
          <a:lstStyle/>
          <a:p>
            <a:pPr indent="0" marL="0">
              <a:buNone/>
            </a:pPr>
            <a:r>
              <a:rPr lang="en-US" sz="1800" b="1" dirty="0">
                <a:solidFill>
                  <a:srgbClr val="1F2A33"/>
                </a:solidFill>
                <a:latin typeface="Arial" pitchFamily="34" charset="0"/>
                <a:ea typeface="Arial" pitchFamily="34" charset="-122"/>
                <a:cs typeface="Arial" pitchFamily="34" charset="-120"/>
              </a:rPr>
              <a:t>Where does Contract-to-Capacity hand over?</a:t>
            </a:r>
            <a:endParaRPr lang="en-US" sz="1800" dirty="0"/>
          </a:p>
        </p:txBody>
      </p:sp>
      <p:pic>
        <p:nvPicPr>
          <p:cNvPr id="24" name="Image 6" descr="/private/tmp/claude-501/-Users-salehhamed-Outcome-Engine/91861432-41e2-4884-bc97-63c6dff2d021/scratchpad/wk/brand/clear.png">
            <a:hlinkClick r:id="rId12" tooltip="Boundary 3" action="ppaction://hlinksldjump"/>
          </p:cNvPr>
          <p:cNvPicPr>
            <a:picLocks noChangeAspect="1"/>
          </p:cNvPicPr>
          <p:nvPr/>
        </p:nvPicPr>
        <p:blipFill>
          <a:blip r:embed="rId11"/>
          <a:stretch>
            <a:fillRect/>
          </a:stretch>
        </p:blipFill>
        <p:spPr>
          <a:xfrm>
            <a:off x="548640" y="3794760"/>
            <a:ext cx="5440680" cy="2103120"/>
          </a:xfrm>
          <a:prstGeom prst="rect">
            <a:avLst/>
          </a:prstGeom>
        </p:spPr>
      </p:pic>
      <p:sp>
        <p:nvSpPr>
          <p:cNvPr id="25" name="Shape 16"/>
          <p:cNvSpPr/>
          <p:nvPr/>
        </p:nvSpPr>
        <p:spPr>
          <a:xfrm>
            <a:off x="6172200" y="3794760"/>
            <a:ext cx="5440680" cy="2103120"/>
          </a:xfrm>
          <a:prstGeom prst="roundRect">
            <a:avLst>
              <a:gd name="adj" fmla="val 3478"/>
            </a:avLst>
          </a:prstGeom>
          <a:solidFill>
            <a:srgbClr val="FFFFFF"/>
          </a:solidFill>
          <a:ln w="12700">
            <a:solidFill>
              <a:srgbClr val="D9DEE2"/>
            </a:solidFill>
            <a:prstDash val="solid"/>
          </a:ln>
        </p:spPr>
      </p:sp>
      <p:sp>
        <p:nvSpPr>
          <p:cNvPr id="26" name="Shape 17"/>
          <p:cNvSpPr/>
          <p:nvPr/>
        </p:nvSpPr>
        <p:spPr>
          <a:xfrm>
            <a:off x="6355080" y="3977640"/>
            <a:ext cx="457200" cy="457200"/>
          </a:xfrm>
          <a:prstGeom prst="ellipse">
            <a:avLst/>
          </a:prstGeom>
          <a:solidFill>
            <a:srgbClr val="FF462D"/>
          </a:solidFill>
          <a:ln/>
        </p:spPr>
      </p:sp>
      <p:sp>
        <p:nvSpPr>
          <p:cNvPr id="27" name="Text 18"/>
          <p:cNvSpPr txBox="1"/>
          <p:nvPr/>
        </p:nvSpPr>
        <p:spPr>
          <a:xfrm>
            <a:off x="6355080" y="39776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pic>
        <p:nvPicPr>
          <p:cNvPr id="28" name="Image 7" descr="/private/tmp/claude-501/-Users-salehhamed-Outcome-Engine/91861432-41e2-4884-bc97-63c6dff2d021/scratchpad/wk/icons/TbCalendarPause-teal.png">    </p:cNvPr>
          <p:cNvPicPr>
            <a:picLocks noChangeAspect="1"/>
          </p:cNvPicPr>
          <p:nvPr/>
        </p:nvPicPr>
        <p:blipFill>
          <a:blip r:embed="rId13"/>
          <a:stretch>
            <a:fillRect/>
          </a:stretch>
        </p:blipFill>
        <p:spPr>
          <a:xfrm>
            <a:off x="10789920" y="3977640"/>
            <a:ext cx="594360" cy="594360"/>
          </a:xfrm>
          <a:prstGeom prst="rect">
            <a:avLst/>
          </a:prstGeom>
        </p:spPr>
      </p:pic>
      <p:sp>
        <p:nvSpPr>
          <p:cNvPr id="29" name="Text 19"/>
          <p:cNvSpPr txBox="1"/>
          <p:nvPr/>
        </p:nvSpPr>
        <p:spPr>
          <a:xfrm>
            <a:off x="6400800" y="4572000"/>
            <a:ext cx="4983480" cy="1188720"/>
          </a:xfrm>
          <a:prstGeom prst="rect">
            <a:avLst/>
          </a:prstGeom>
          <a:noFill/>
          <a:ln/>
        </p:spPr>
        <p:txBody>
          <a:bodyPr wrap="square" lIns="0" tIns="0" rIns="0" bIns="0" rtlCol="0" anchor="t"/>
          <a:lstStyle/>
          <a:p>
            <a:pPr indent="0" marL="0">
              <a:buNone/>
            </a:pPr>
            <a:r>
              <a:rPr lang="en-US" sz="1800" b="1" dirty="0">
                <a:solidFill>
                  <a:srgbClr val="1F2A33"/>
                </a:solidFill>
                <a:latin typeface="Arial" pitchFamily="34" charset="0"/>
                <a:ea typeface="Arial" pitchFamily="34" charset="-122"/>
                <a:cs typeface="Arial" pitchFamily="34" charset="-120"/>
              </a:rPr>
              <a:t>What may be held before signature, and who approves?</a:t>
            </a:r>
            <a:endParaRPr lang="en-US" sz="1800" dirty="0"/>
          </a:p>
        </p:txBody>
      </p:sp>
      <p:pic>
        <p:nvPicPr>
          <p:cNvPr id="30" name="Image 8" descr="/private/tmp/claude-501/-Users-salehhamed-Outcome-Engine/91861432-41e2-4884-bc97-63c6dff2d021/scratchpad/wk/brand/clear.png">
            <a:hlinkClick r:id="rId15" tooltip="Boundary 4" action="ppaction://hlinksldjump"/>
          </p:cNvPr>
          <p:cNvPicPr>
            <a:picLocks noChangeAspect="1"/>
          </p:cNvPicPr>
          <p:nvPr/>
        </p:nvPicPr>
        <p:blipFill>
          <a:blip r:embed="rId14"/>
          <a:stretch>
            <a:fillRect/>
          </a:stretch>
        </p:blipFill>
        <p:spPr>
          <a:xfrm>
            <a:off x="6172200" y="3794760"/>
            <a:ext cx="5440680" cy="2103120"/>
          </a:xfrm>
          <a:prstGeom prst="rect">
            <a:avLst/>
          </a:prstGeom>
        </p:spPr>
      </p:pic>
      <p:sp>
        <p:nvSpPr>
          <p:cNvPr id="31" name="Text 20"/>
          <p:cNvSpPr txBox="1"/>
          <p:nvPr/>
        </p:nvSpPr>
        <p:spPr>
          <a:xfrm>
            <a:off x="548640" y="6126480"/>
            <a:ext cx="10972800" cy="274320"/>
          </a:xfrm>
          <a:prstGeom prst="rect">
            <a:avLst/>
          </a:prstGeom>
          <a:noFill/>
          <a:ln/>
        </p:spPr>
        <p:txBody>
          <a:bodyPr wrap="square" lIns="0" tIns="0" rIns="0" bIns="0" rtlCol="0" anchor="t"/>
          <a:lstStyle/>
          <a:p>
            <a:pPr indent="0" marL="0">
              <a:buNone/>
            </a:pPr>
            <a:r>
              <a:rPr lang="en-US" sz="1300" i="1" dirty="0">
                <a:solidFill>
                  <a:srgbClr val="5A5A5A"/>
                </a:solidFill>
                <a:latin typeface="Arial" pitchFamily="34" charset="0"/>
                <a:ea typeface="Arial" pitchFamily="34" charset="-122"/>
                <a:cs typeface="Arial" pitchFamily="34" charset="-120"/>
              </a:rPr>
              <a:t>Who approves a release for a move is settled at 11:45, with the markets.</a:t>
            </a:r>
            <a:endParaRPr lang="en-US" sz="13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THREE HAND-OFFS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Where Contract-to-Capacity hands over</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10:45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148</a:t>
            </a:r>
            <a:endParaRPr lang="en-US" sz="1000" dirty="0"/>
          </a:p>
        </p:txBody>
      </p:sp>
      <p:sp>
        <p:nvSpPr>
          <p:cNvPr id="7" name="Shape 4"/>
          <p:cNvSpPr/>
          <p:nvPr/>
        </p:nvSpPr>
        <p:spPr>
          <a:xfrm>
            <a:off x="548640" y="1554480"/>
            <a:ext cx="3017520" cy="3566160"/>
          </a:xfrm>
          <a:prstGeom prst="roundRect">
            <a:avLst>
              <a:gd name="adj" fmla="val 3030"/>
            </a:avLst>
          </a:prstGeom>
          <a:solidFill>
            <a:srgbClr val="287079"/>
          </a:solidFill>
          <a:ln/>
        </p:spPr>
      </p:sp>
      <p:pic>
        <p:nvPicPr>
          <p:cNvPr id="8" name="Image 1" descr="/private/tmp/claude-501/-Users-salehhamed-Outcome-Engine/91861432-41e2-4884-bc97-63c6dff2d021/scratchpad/wk/icons/TbUsersGroup-white.png">    </p:cNvPr>
          <p:cNvPicPr>
            <a:picLocks noChangeAspect="1"/>
          </p:cNvPicPr>
          <p:nvPr/>
        </p:nvPicPr>
        <p:blipFill>
          <a:blip r:embed="rId4"/>
          <a:stretch>
            <a:fillRect/>
          </a:stretch>
        </p:blipFill>
        <p:spPr>
          <a:xfrm>
            <a:off x="822960" y="1828800"/>
            <a:ext cx="640080" cy="640080"/>
          </a:xfrm>
          <a:prstGeom prst="rect">
            <a:avLst/>
          </a:prstGeom>
        </p:spPr>
      </p:pic>
      <p:sp>
        <p:nvSpPr>
          <p:cNvPr id="9" name="Text 5"/>
          <p:cNvSpPr txBox="1"/>
          <p:nvPr/>
        </p:nvSpPr>
        <p:spPr>
          <a:xfrm>
            <a:off x="822960" y="2606040"/>
            <a:ext cx="2560320" cy="8229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Contract-to-Capacity</a:t>
            </a:r>
            <a:endParaRPr lang="en-US" sz="2000" dirty="0"/>
          </a:p>
        </p:txBody>
      </p:sp>
      <p:sp>
        <p:nvSpPr>
          <p:cNvPr id="10" name="Text 6"/>
          <p:cNvSpPr txBox="1"/>
          <p:nvPr/>
        </p:nvSpPr>
        <p:spPr>
          <a:xfrm>
            <a:off x="822960" y="3474720"/>
            <a:ext cx="2560320" cy="640080"/>
          </a:xfrm>
          <a:prstGeom prst="rect">
            <a:avLst/>
          </a:prstGeom>
          <a:noFill/>
          <a:ln/>
        </p:spPr>
        <p:txBody>
          <a:bodyPr wrap="square" lIns="0" tIns="0" rIns="0" bIns="0" rtlCol="0" anchor="t"/>
          <a:lstStyle/>
          <a:p>
            <a:pPr indent="0" marL="0">
              <a:buNone/>
            </a:pPr>
            <a:r>
              <a:rPr lang="en-US" sz="1300" dirty="0">
                <a:solidFill>
                  <a:srgbClr val="D9DEE2"/>
                </a:solidFill>
                <a:latin typeface="Arial" pitchFamily="34" charset="0"/>
                <a:ea typeface="Arial" pitchFamily="34" charset="-122"/>
                <a:cs typeface="Arial" pitchFamily="34" charset="-120"/>
              </a:rPr>
              <a:t>Built at this workshop</a:t>
            </a:r>
            <a:endParaRPr lang="en-US" sz="1300" dirty="0"/>
          </a:p>
        </p:txBody>
      </p:sp>
      <p:sp>
        <p:nvSpPr>
          <p:cNvPr id="11" name="Shape 7"/>
          <p:cNvSpPr/>
          <p:nvPr/>
        </p:nvSpPr>
        <p:spPr>
          <a:xfrm>
            <a:off x="7680960" y="1554480"/>
            <a:ext cx="3959352" cy="822960"/>
          </a:xfrm>
          <a:prstGeom prst="roundRect">
            <a:avLst>
              <a:gd name="adj" fmla="val 8889"/>
            </a:avLst>
          </a:prstGeom>
          <a:solidFill>
            <a:srgbClr val="F2F4F5"/>
          </a:solidFill>
          <a:ln w="12700">
            <a:solidFill>
              <a:srgbClr val="D9DEE2"/>
            </a:solidFill>
            <a:prstDash val="solid"/>
          </a:ln>
        </p:spPr>
      </p:sp>
      <p:sp>
        <p:nvSpPr>
          <p:cNvPr id="12" name="Text 8"/>
          <p:cNvSpPr txBox="1"/>
          <p:nvPr/>
        </p:nvSpPr>
        <p:spPr>
          <a:xfrm>
            <a:off x="7863840" y="1627632"/>
            <a:ext cx="3657600" cy="41148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Whoever approves a release</a:t>
            </a:r>
            <a:endParaRPr lang="en-US" sz="1600" dirty="0"/>
          </a:p>
        </p:txBody>
      </p:sp>
      <p:sp>
        <p:nvSpPr>
          <p:cNvPr id="13" name="Text 9"/>
          <p:cNvSpPr txBox="1"/>
          <p:nvPr/>
        </p:nvSpPr>
        <p:spPr>
          <a:xfrm>
            <a:off x="7863840" y="2011680"/>
            <a:ext cx="3657600" cy="274320"/>
          </a:xfrm>
          <a:prstGeom prst="rect">
            <a:avLst/>
          </a:prstGeom>
          <a:noFill/>
          <a:ln/>
        </p:spPr>
        <p:txBody>
          <a:bodyPr wrap="square" lIns="0" tIns="0" rIns="0" bIns="0" rtlCol="0" anchor="t"/>
          <a:lstStyle/>
          <a:p>
            <a:pPr indent="0" marL="0">
              <a:buNone/>
            </a:pPr>
            <a:r>
              <a:rPr lang="en-US" sz="1150" dirty="0">
                <a:solidFill>
                  <a:srgbClr val="5A5A5A"/>
                </a:solidFill>
                <a:latin typeface="Arial" pitchFamily="34" charset="0"/>
                <a:ea typeface="Arial" pitchFamily="34" charset="-122"/>
                <a:cs typeface="Arial" pitchFamily="34" charset="-120"/>
              </a:rPr>
              <a:t>Who that is: settled at 11:45</a:t>
            </a:r>
            <a:endParaRPr lang="en-US" sz="1150" dirty="0"/>
          </a:p>
        </p:txBody>
      </p:sp>
      <p:sp>
        <p:nvSpPr>
          <p:cNvPr id="14" name="Shape 10"/>
          <p:cNvSpPr/>
          <p:nvPr/>
        </p:nvSpPr>
        <p:spPr>
          <a:xfrm>
            <a:off x="3566160" y="1965960"/>
            <a:ext cx="4096512" cy="914"/>
          </a:xfrm>
          <a:prstGeom prst="line">
            <a:avLst/>
          </a:prstGeom>
          <a:noFill/>
          <a:ln w="31750">
            <a:solidFill>
              <a:srgbClr val="FF462D"/>
            </a:solidFill>
            <a:prstDash val="solid"/>
            <a:tailEnd type="arrow"/>
          </a:ln>
        </p:spPr>
      </p:sp>
      <p:sp>
        <p:nvSpPr>
          <p:cNvPr id="15" name="Text 11"/>
          <p:cNvSpPr txBox="1"/>
          <p:nvPr/>
        </p:nvSpPr>
        <p:spPr>
          <a:xfrm>
            <a:off x="3794760" y="1581912"/>
            <a:ext cx="3931920" cy="329184"/>
          </a:xfrm>
          <a:prstGeom prst="rect">
            <a:avLst/>
          </a:prstGeom>
          <a:noFill/>
          <a:ln/>
        </p:spPr>
        <p:txBody>
          <a:bodyPr wrap="square" lIns="0" tIns="0" rIns="0" bIns="0" rtlCol="0" anchor="t"/>
          <a:lstStyle/>
          <a:p>
            <a:pPr indent="0" marL="0">
              <a:buNone/>
            </a:pPr>
            <a:r>
              <a:rPr lang="en-US" sz="1300" b="1" dirty="0">
                <a:solidFill>
                  <a:srgbClr val="FF462D"/>
                </a:solidFill>
                <a:latin typeface="Arial" pitchFamily="34" charset="0"/>
                <a:ea typeface="Arial" pitchFamily="34" charset="-122"/>
                <a:cs typeface="Arial" pitchFamily="34" charset="-120"/>
              </a:rPr>
              <a:t>1 · Can this busy person be released?</a:t>
            </a:r>
            <a:endParaRPr lang="en-US" sz="1300" dirty="0"/>
          </a:p>
        </p:txBody>
      </p:sp>
      <p:sp>
        <p:nvSpPr>
          <p:cNvPr id="16" name="Shape 12"/>
          <p:cNvSpPr/>
          <p:nvPr/>
        </p:nvSpPr>
        <p:spPr>
          <a:xfrm>
            <a:off x="7680960" y="2926080"/>
            <a:ext cx="3959352" cy="822960"/>
          </a:xfrm>
          <a:prstGeom prst="roundRect">
            <a:avLst>
              <a:gd name="adj" fmla="val 8889"/>
            </a:avLst>
          </a:prstGeom>
          <a:solidFill>
            <a:srgbClr val="FDF3E1"/>
          </a:solidFill>
          <a:ln w="12700">
            <a:solidFill>
              <a:srgbClr val="C98A1A"/>
            </a:solidFill>
            <a:prstDash val="solid"/>
          </a:ln>
        </p:spPr>
      </p:sp>
      <p:sp>
        <p:nvSpPr>
          <p:cNvPr id="17" name="Text 13"/>
          <p:cNvSpPr txBox="1"/>
          <p:nvPr/>
        </p:nvSpPr>
        <p:spPr>
          <a:xfrm>
            <a:off x="7863840" y="2999232"/>
            <a:ext cx="3657600" cy="41148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Moving people up</a:t>
            </a:r>
            <a:endParaRPr lang="en-US" sz="1600" dirty="0"/>
          </a:p>
        </p:txBody>
      </p:sp>
      <p:sp>
        <p:nvSpPr>
          <p:cNvPr id="18" name="Text 14"/>
          <p:cNvSpPr txBox="1"/>
          <p:nvPr/>
        </p:nvSpPr>
        <p:spPr>
          <a:xfrm>
            <a:off x="7863840" y="3383280"/>
            <a:ext cx="3657600" cy="274320"/>
          </a:xfrm>
          <a:prstGeom prst="rect">
            <a:avLst/>
          </a:prstGeom>
          <a:noFill/>
          <a:ln/>
        </p:spPr>
        <p:txBody>
          <a:bodyPr wrap="square" lIns="0" tIns="0" rIns="0" bIns="0" rtlCol="0" anchor="t"/>
          <a:lstStyle/>
          <a:p>
            <a:pPr indent="0" marL="0">
              <a:buNone/>
            </a:pPr>
            <a:r>
              <a:rPr lang="en-US" sz="1150" dirty="0">
                <a:solidFill>
                  <a:srgbClr val="5A5A5A"/>
                </a:solidFill>
                <a:latin typeface="Arial" pitchFamily="34" charset="0"/>
                <a:ea typeface="Arial" pitchFamily="34" charset="-122"/>
                <a:cs typeface="Arial" pitchFamily="34" charset="-120"/>
              </a:rPr>
              <a:t>Rules agreed today at 11:45</a:t>
            </a:r>
            <a:endParaRPr lang="en-US" sz="1150" dirty="0"/>
          </a:p>
        </p:txBody>
      </p:sp>
      <p:sp>
        <p:nvSpPr>
          <p:cNvPr id="19" name="Shape 15"/>
          <p:cNvSpPr/>
          <p:nvPr/>
        </p:nvSpPr>
        <p:spPr>
          <a:xfrm>
            <a:off x="3566160" y="3337560"/>
            <a:ext cx="4096512" cy="914"/>
          </a:xfrm>
          <a:prstGeom prst="line">
            <a:avLst/>
          </a:prstGeom>
          <a:noFill/>
          <a:ln w="31750">
            <a:solidFill>
              <a:srgbClr val="FF462D"/>
            </a:solidFill>
            <a:prstDash val="solid"/>
            <a:tailEnd type="arrow"/>
          </a:ln>
        </p:spPr>
      </p:sp>
      <p:sp>
        <p:nvSpPr>
          <p:cNvPr id="20" name="Text 16"/>
          <p:cNvSpPr txBox="1"/>
          <p:nvPr/>
        </p:nvSpPr>
        <p:spPr>
          <a:xfrm>
            <a:off x="3794760" y="2953512"/>
            <a:ext cx="3931920" cy="329184"/>
          </a:xfrm>
          <a:prstGeom prst="rect">
            <a:avLst/>
          </a:prstGeom>
          <a:noFill/>
          <a:ln/>
        </p:spPr>
        <p:txBody>
          <a:bodyPr wrap="square" lIns="0" tIns="0" rIns="0" bIns="0" rtlCol="0" anchor="t"/>
          <a:lstStyle/>
          <a:p>
            <a:pPr indent="0" marL="0">
              <a:buNone/>
            </a:pPr>
            <a:r>
              <a:rPr lang="en-US" sz="1300" b="1" dirty="0">
                <a:solidFill>
                  <a:srgbClr val="FF462D"/>
                </a:solidFill>
                <a:latin typeface="Arial" pitchFamily="34" charset="0"/>
                <a:ea typeface="Arial" pitchFamily="34" charset="-122"/>
                <a:cs typeface="Arial" pitchFamily="34" charset="-120"/>
              </a:rPr>
              <a:t>2 · Can moving other people free someone?</a:t>
            </a:r>
            <a:endParaRPr lang="en-US" sz="1300" dirty="0"/>
          </a:p>
        </p:txBody>
      </p:sp>
      <p:sp>
        <p:nvSpPr>
          <p:cNvPr id="21" name="Shape 17"/>
          <p:cNvSpPr/>
          <p:nvPr/>
        </p:nvSpPr>
        <p:spPr>
          <a:xfrm>
            <a:off x="7680960" y="4297680"/>
            <a:ext cx="3959352" cy="822960"/>
          </a:xfrm>
          <a:prstGeom prst="roundRect">
            <a:avLst>
              <a:gd name="adj" fmla="val 8889"/>
            </a:avLst>
          </a:prstGeom>
          <a:solidFill>
            <a:srgbClr val="F2F4F5"/>
          </a:solidFill>
          <a:ln w="12700">
            <a:solidFill>
              <a:srgbClr val="D9DEE2"/>
            </a:solidFill>
            <a:prstDash val="solid"/>
          </a:ln>
        </p:spPr>
      </p:sp>
      <p:sp>
        <p:nvSpPr>
          <p:cNvPr id="22" name="Text 18"/>
          <p:cNvSpPr txBox="1"/>
          <p:nvPr/>
        </p:nvSpPr>
        <p:spPr>
          <a:xfrm>
            <a:off x="7863840" y="4370832"/>
            <a:ext cx="3657600" cy="41148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Hiring or growing the skill</a:t>
            </a:r>
            <a:endParaRPr lang="en-US" sz="1600" dirty="0"/>
          </a:p>
        </p:txBody>
      </p:sp>
      <p:sp>
        <p:nvSpPr>
          <p:cNvPr id="23" name="Text 19"/>
          <p:cNvSpPr txBox="1"/>
          <p:nvPr/>
        </p:nvSpPr>
        <p:spPr>
          <a:xfrm>
            <a:off x="7863840" y="4754880"/>
            <a:ext cx="3657600" cy="274320"/>
          </a:xfrm>
          <a:prstGeom prst="rect">
            <a:avLst/>
          </a:prstGeom>
          <a:noFill/>
          <a:ln/>
        </p:spPr>
        <p:txBody>
          <a:bodyPr wrap="square" lIns="0" tIns="0" rIns="0" bIns="0" rtlCol="0" anchor="t"/>
          <a:lstStyle/>
          <a:p>
            <a:pPr indent="0" marL="0">
              <a:buNone/>
            </a:pPr>
            <a:r>
              <a:rPr lang="en-US" sz="1150" dirty="0">
                <a:solidFill>
                  <a:srgbClr val="5A5A5A"/>
                </a:solidFill>
                <a:latin typeface="Arial" pitchFamily="34" charset="0"/>
                <a:ea typeface="Arial" pitchFamily="34" charset="-122"/>
                <a:cs typeface="Arial" pitchFamily="34" charset="-120"/>
              </a:rPr>
              <a:t>Built later</a:t>
            </a:r>
            <a:endParaRPr lang="en-US" sz="1150" dirty="0"/>
          </a:p>
        </p:txBody>
      </p:sp>
      <p:sp>
        <p:nvSpPr>
          <p:cNvPr id="24" name="Shape 20"/>
          <p:cNvSpPr/>
          <p:nvPr/>
        </p:nvSpPr>
        <p:spPr>
          <a:xfrm>
            <a:off x="3566160" y="4709160"/>
            <a:ext cx="4096512" cy="914"/>
          </a:xfrm>
          <a:prstGeom prst="line">
            <a:avLst/>
          </a:prstGeom>
          <a:noFill/>
          <a:ln w="31750">
            <a:solidFill>
              <a:srgbClr val="FF462D"/>
            </a:solidFill>
            <a:prstDash val="solid"/>
            <a:tailEnd type="arrow"/>
          </a:ln>
        </p:spPr>
      </p:sp>
      <p:sp>
        <p:nvSpPr>
          <p:cNvPr id="25" name="Text 21"/>
          <p:cNvSpPr txBox="1"/>
          <p:nvPr/>
        </p:nvSpPr>
        <p:spPr>
          <a:xfrm>
            <a:off x="3794760" y="4325112"/>
            <a:ext cx="3931920" cy="329184"/>
          </a:xfrm>
          <a:prstGeom prst="rect">
            <a:avLst/>
          </a:prstGeom>
          <a:noFill/>
          <a:ln/>
        </p:spPr>
        <p:txBody>
          <a:bodyPr wrap="square" lIns="0" tIns="0" rIns="0" bIns="0" rtlCol="0" anchor="t"/>
          <a:lstStyle/>
          <a:p>
            <a:pPr indent="0" marL="0">
              <a:buNone/>
            </a:pPr>
            <a:r>
              <a:rPr lang="en-US" sz="1300" b="1" dirty="0">
                <a:solidFill>
                  <a:srgbClr val="FF462D"/>
                </a:solidFill>
                <a:latin typeface="Arial" pitchFamily="34" charset="0"/>
                <a:ea typeface="Arial" pitchFamily="34" charset="-122"/>
                <a:cs typeface="Arial" pitchFamily="34" charset="-120"/>
              </a:rPr>
              <a:t>3 · Declared gaps only, with their evidence</a:t>
            </a:r>
            <a:endParaRPr lang="en-US" sz="13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BOUNDARY</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1 · Who confirms that a shortfall is a real gap?</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10:45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149</a:t>
            </a:r>
            <a:endParaRPr lang="en-US" sz="1000" dirty="0"/>
          </a:p>
        </p:txBody>
      </p:sp>
      <p:sp>
        <p:nvSpPr>
          <p:cNvPr id="7" name="Shape 4"/>
          <p:cNvSpPr/>
          <p:nvPr/>
        </p:nvSpPr>
        <p:spPr>
          <a:xfrm>
            <a:off x="548640" y="1463040"/>
            <a:ext cx="11091672" cy="868680"/>
          </a:xfrm>
          <a:prstGeom prst="roundRect">
            <a:avLst>
              <a:gd name="adj" fmla="val 8421"/>
            </a:avLst>
          </a:prstGeom>
          <a:solidFill>
            <a:srgbClr val="FDF3E1"/>
          </a:solidFill>
          <a:ln/>
        </p:spPr>
      </p:sp>
      <p:pic>
        <p:nvPicPr>
          <p:cNvPr id="8" name="Image 1" descr="/private/tmp/claude-501/-Users-salehhamed-Outcome-Engine/91861432-41e2-4884-bc97-63c6dff2d021/scratchpad/wk/icons/TbBuildingSkyscraper-amber.png">    </p:cNvPr>
          <p:cNvPicPr>
            <a:picLocks noChangeAspect="1"/>
          </p:cNvPicPr>
          <p:nvPr/>
        </p:nvPicPr>
        <p:blipFill>
          <a:blip r:embed="rId4"/>
          <a:stretch>
            <a:fillRect/>
          </a:stretch>
        </p:blipFill>
        <p:spPr>
          <a:xfrm>
            <a:off x="777240" y="1627632"/>
            <a:ext cx="530352" cy="530352"/>
          </a:xfrm>
          <a:prstGeom prst="rect">
            <a:avLst/>
          </a:prstGeom>
        </p:spPr>
      </p:pic>
      <p:sp>
        <p:nvSpPr>
          <p:cNvPr id="9" name="Text 5"/>
          <p:cNvSpPr txBox="1"/>
          <p:nvPr/>
        </p:nvSpPr>
        <p:spPr>
          <a:xfrm>
            <a:off x="1463040" y="1463040"/>
            <a:ext cx="10058400" cy="868680"/>
          </a:xfrm>
          <a:prstGeom prst="rect">
            <a:avLst/>
          </a:prstGeom>
          <a:noFill/>
          <a:ln/>
        </p:spPr>
        <p:txBody>
          <a:bodyPr wrap="square" lIns="0" tIns="0" rIns="0" bIns="0" rtlCol="0" anchor="ctr"/>
          <a:lstStyle/>
          <a:p>
            <a:pPr indent="0" marL="0">
              <a:buNone/>
            </a:pPr>
            <a:r>
              <a:rPr lang="en-US" sz="1600" b="1" dirty="0">
                <a:solidFill>
                  <a:srgbClr val="C98A1A"/>
                </a:solidFill>
                <a:latin typeface="Arial" pitchFamily="34" charset="0"/>
                <a:ea typeface="Arial" pitchFamily="34" charset="-122"/>
                <a:cs typeface="Arial" pitchFamily="34" charset="-120"/>
              </a:rPr>
              <a:t>Northgate: </a:t>
            </a:r>
            <a:pPr indent="0" marL="0">
              <a:buNone/>
            </a:pPr>
            <a:r>
              <a:rPr lang="en-US" sz="1600" dirty="0">
                <a:solidFill>
                  <a:srgbClr val="1F2A33"/>
                </a:solidFill>
                <a:latin typeface="Arial" pitchFamily="34" charset="0"/>
                <a:ea typeface="Arial" pitchFamily="34" charset="-122"/>
                <a:cs typeface="Arial" pitchFamily="34" charset="-120"/>
              </a:rPr>
              <a:t>The search for a firewall specialist found nobody, and a hire was requested. Who should have checked first?</a:t>
            </a:r>
            <a:endParaRPr lang="en-US" sz="1600" dirty="0"/>
          </a:p>
        </p:txBody>
      </p:sp>
      <p:sp>
        <p:nvSpPr>
          <p:cNvPr id="10" name="Shape 6"/>
          <p:cNvSpPr/>
          <p:nvPr/>
        </p:nvSpPr>
        <p:spPr>
          <a:xfrm>
            <a:off x="548640" y="2560320"/>
            <a:ext cx="3566160" cy="2743200"/>
          </a:xfrm>
          <a:prstGeom prst="roundRect">
            <a:avLst>
              <a:gd name="adj" fmla="val 2667"/>
            </a:avLst>
          </a:prstGeom>
          <a:solidFill>
            <a:srgbClr val="FFFFFF"/>
          </a:solidFill>
          <a:ln w="12700">
            <a:solidFill>
              <a:srgbClr val="D9DEE2"/>
            </a:solidFill>
            <a:prstDash val="solid"/>
          </a:ln>
        </p:spPr>
      </p:sp>
      <p:sp>
        <p:nvSpPr>
          <p:cNvPr id="11" name="Shape 7"/>
          <p:cNvSpPr/>
          <p:nvPr/>
        </p:nvSpPr>
        <p:spPr>
          <a:xfrm>
            <a:off x="777240" y="2743200"/>
            <a:ext cx="548640" cy="548640"/>
          </a:xfrm>
          <a:prstGeom prst="ellipse">
            <a:avLst/>
          </a:prstGeom>
          <a:solidFill>
            <a:srgbClr val="36454F"/>
          </a:solidFill>
          <a:ln/>
        </p:spPr>
      </p:sp>
      <p:sp>
        <p:nvSpPr>
          <p:cNvPr id="12" name="Text 8"/>
          <p:cNvSpPr txBox="1"/>
          <p:nvPr/>
        </p:nvSpPr>
        <p:spPr>
          <a:xfrm>
            <a:off x="777240" y="2743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3" name="Text 9"/>
          <p:cNvSpPr txBox="1"/>
          <p:nvPr/>
        </p:nvSpPr>
        <p:spPr>
          <a:xfrm>
            <a:off x="777240" y="3429000"/>
            <a:ext cx="3108960" cy="1005840"/>
          </a:xfrm>
          <a:prstGeom prst="rect">
            <a:avLst/>
          </a:prstGeom>
          <a:noFill/>
          <a:ln/>
        </p:spPr>
        <p:txBody>
          <a:bodyPr wrap="square" lIns="0" tIns="0" rIns="0" bIns="0" rtlCol="0" anchor="t"/>
          <a:lstStyle/>
          <a:p>
            <a:pPr indent="0" marL="0">
              <a:buNone/>
            </a:pPr>
            <a:r>
              <a:rPr lang="en-US" sz="1900" b="1" dirty="0">
                <a:solidFill>
                  <a:srgbClr val="1F2A33"/>
                </a:solidFill>
                <a:latin typeface="Arial" pitchFamily="34" charset="0"/>
                <a:ea typeface="Arial" pitchFamily="34" charset="-122"/>
                <a:cs typeface="Arial" pitchFamily="34" charset="-120"/>
              </a:rPr>
              <a:t>The resourcing lead</a:t>
            </a:r>
            <a:endParaRPr lang="en-US" sz="1900" dirty="0"/>
          </a:p>
        </p:txBody>
      </p:sp>
      <p:sp>
        <p:nvSpPr>
          <p:cNvPr id="14" name="Text 10"/>
          <p:cNvSpPr txBox="1"/>
          <p:nvPr/>
        </p:nvSpPr>
        <p:spPr>
          <a:xfrm>
            <a:off x="777240" y="4434840"/>
            <a:ext cx="3108960" cy="77724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Closest to the search.</a:t>
            </a:r>
            <a:endParaRPr lang="en-US" sz="1400" dirty="0"/>
          </a:p>
        </p:txBody>
      </p:sp>
      <p:sp>
        <p:nvSpPr>
          <p:cNvPr id="15" name="Shape 11"/>
          <p:cNvSpPr/>
          <p:nvPr/>
        </p:nvSpPr>
        <p:spPr>
          <a:xfrm>
            <a:off x="4297680" y="2560320"/>
            <a:ext cx="3566160" cy="2743200"/>
          </a:xfrm>
          <a:prstGeom prst="roundRect">
            <a:avLst>
              <a:gd name="adj" fmla="val 2667"/>
            </a:avLst>
          </a:prstGeom>
          <a:solidFill>
            <a:srgbClr val="FFFFFF"/>
          </a:solidFill>
          <a:ln w="12700">
            <a:solidFill>
              <a:srgbClr val="D9DEE2"/>
            </a:solidFill>
            <a:prstDash val="solid"/>
          </a:ln>
        </p:spPr>
      </p:sp>
      <p:sp>
        <p:nvSpPr>
          <p:cNvPr id="16" name="Shape 12"/>
          <p:cNvSpPr/>
          <p:nvPr/>
        </p:nvSpPr>
        <p:spPr>
          <a:xfrm>
            <a:off x="4526280" y="2743200"/>
            <a:ext cx="548640" cy="548640"/>
          </a:xfrm>
          <a:prstGeom prst="ellipse">
            <a:avLst/>
          </a:prstGeom>
          <a:solidFill>
            <a:srgbClr val="36454F"/>
          </a:solidFill>
          <a:ln/>
        </p:spPr>
      </p:sp>
      <p:sp>
        <p:nvSpPr>
          <p:cNvPr id="17" name="Text 13"/>
          <p:cNvSpPr txBox="1"/>
          <p:nvPr/>
        </p:nvSpPr>
        <p:spPr>
          <a:xfrm>
            <a:off x="4526280" y="2743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8" name="Text 14"/>
          <p:cNvSpPr txBox="1"/>
          <p:nvPr/>
        </p:nvSpPr>
        <p:spPr>
          <a:xfrm>
            <a:off x="4526280" y="3429000"/>
            <a:ext cx="3108960" cy="1005840"/>
          </a:xfrm>
          <a:prstGeom prst="rect">
            <a:avLst/>
          </a:prstGeom>
          <a:noFill/>
          <a:ln/>
        </p:spPr>
        <p:txBody>
          <a:bodyPr wrap="square" lIns="0" tIns="0" rIns="0" bIns="0" rtlCol="0" anchor="t"/>
          <a:lstStyle/>
          <a:p>
            <a:pPr indent="0" marL="0">
              <a:buNone/>
            </a:pPr>
            <a:r>
              <a:rPr lang="en-US" sz="1900" b="1" dirty="0">
                <a:solidFill>
                  <a:srgbClr val="1F2A33"/>
                </a:solidFill>
                <a:latin typeface="Arial" pitchFamily="34" charset="0"/>
                <a:ea typeface="Arial" pitchFamily="34" charset="-122"/>
                <a:cs typeface="Arial" pitchFamily="34" charset="-120"/>
              </a:rPr>
              <a:t>The practice lead</a:t>
            </a:r>
            <a:endParaRPr lang="en-US" sz="1900" dirty="0"/>
          </a:p>
        </p:txBody>
      </p:sp>
      <p:sp>
        <p:nvSpPr>
          <p:cNvPr id="19" name="Text 15"/>
          <p:cNvSpPr txBox="1"/>
          <p:nvPr/>
        </p:nvSpPr>
        <p:spPr>
          <a:xfrm>
            <a:off x="4526280" y="4434840"/>
            <a:ext cx="3108960" cy="77724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Owns the skill, and accepts the gap.</a:t>
            </a:r>
            <a:endParaRPr lang="en-US" sz="1400" dirty="0"/>
          </a:p>
        </p:txBody>
      </p:sp>
      <p:sp>
        <p:nvSpPr>
          <p:cNvPr id="20" name="Shape 16"/>
          <p:cNvSpPr/>
          <p:nvPr/>
        </p:nvSpPr>
        <p:spPr>
          <a:xfrm>
            <a:off x="8046720" y="2560320"/>
            <a:ext cx="3566160" cy="2743200"/>
          </a:xfrm>
          <a:prstGeom prst="roundRect">
            <a:avLst>
              <a:gd name="adj" fmla="val 2667"/>
            </a:avLst>
          </a:prstGeom>
          <a:solidFill>
            <a:srgbClr val="FFFFFF"/>
          </a:solidFill>
          <a:ln w="12700">
            <a:solidFill>
              <a:srgbClr val="D9DEE2"/>
            </a:solidFill>
            <a:prstDash val="solid"/>
          </a:ln>
        </p:spPr>
      </p:sp>
      <p:sp>
        <p:nvSpPr>
          <p:cNvPr id="21" name="Shape 17"/>
          <p:cNvSpPr/>
          <p:nvPr/>
        </p:nvSpPr>
        <p:spPr>
          <a:xfrm>
            <a:off x="8275320" y="2743200"/>
            <a:ext cx="548640" cy="548640"/>
          </a:xfrm>
          <a:prstGeom prst="ellipse">
            <a:avLst/>
          </a:prstGeom>
          <a:solidFill>
            <a:srgbClr val="36454F"/>
          </a:solidFill>
          <a:ln/>
        </p:spPr>
      </p:sp>
      <p:sp>
        <p:nvSpPr>
          <p:cNvPr id="22" name="Text 18"/>
          <p:cNvSpPr txBox="1"/>
          <p:nvPr/>
        </p:nvSpPr>
        <p:spPr>
          <a:xfrm>
            <a:off x="8275320" y="2743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23" name="Text 19"/>
          <p:cNvSpPr txBox="1"/>
          <p:nvPr/>
        </p:nvSpPr>
        <p:spPr>
          <a:xfrm>
            <a:off x="8275320" y="3429000"/>
            <a:ext cx="3108960" cy="1005840"/>
          </a:xfrm>
          <a:prstGeom prst="rect">
            <a:avLst/>
          </a:prstGeom>
          <a:noFill/>
          <a:ln/>
        </p:spPr>
        <p:txBody>
          <a:bodyPr wrap="square" lIns="0" tIns="0" rIns="0" bIns="0" rtlCol="0" anchor="t"/>
          <a:lstStyle/>
          <a:p>
            <a:pPr indent="0" marL="0">
              <a:buNone/>
            </a:pPr>
            <a:r>
              <a:rPr lang="en-US" sz="1900" b="1" dirty="0">
                <a:solidFill>
                  <a:srgbClr val="1F2A33"/>
                </a:solidFill>
                <a:latin typeface="Arial" pitchFamily="34" charset="0"/>
                <a:ea typeface="Arial" pitchFamily="34" charset="-122"/>
                <a:cs typeface="Arial" pitchFamily="34" charset="-120"/>
              </a:rPr>
              <a:t>A short gap review</a:t>
            </a:r>
            <a:endParaRPr lang="en-US" sz="1900" dirty="0"/>
          </a:p>
        </p:txBody>
      </p:sp>
      <p:sp>
        <p:nvSpPr>
          <p:cNvPr id="24" name="Text 20"/>
          <p:cNvSpPr txBox="1"/>
          <p:nvPr/>
        </p:nvSpPr>
        <p:spPr>
          <a:xfrm>
            <a:off x="8275320" y="4434840"/>
            <a:ext cx="3108960" cy="77724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Two of them, weekly. Slower, harder to argue with.</a:t>
            </a:r>
            <a:endParaRPr lang="en-US" sz="1400" dirty="0"/>
          </a:p>
        </p:txBody>
      </p:sp>
      <p:sp>
        <p:nvSpPr>
          <p:cNvPr id="25" name="Shape 21"/>
          <p:cNvSpPr/>
          <p:nvPr/>
        </p:nvSpPr>
        <p:spPr>
          <a:xfrm>
            <a:off x="548640" y="5532120"/>
            <a:ext cx="11091672" cy="594360"/>
          </a:xfrm>
          <a:prstGeom prst="roundRect">
            <a:avLst>
              <a:gd name="adj" fmla="val 12308"/>
            </a:avLst>
          </a:prstGeom>
          <a:solidFill>
            <a:srgbClr val="FFF0EC"/>
          </a:solidFill>
          <a:ln/>
        </p:spPr>
      </p:sp>
      <p:sp>
        <p:nvSpPr>
          <p:cNvPr id="26" name="Text 22"/>
          <p:cNvSpPr txBox="1"/>
          <p:nvPr/>
        </p:nvSpPr>
        <p:spPr>
          <a:xfrm>
            <a:off x="822960" y="5532120"/>
            <a:ext cx="10515600" cy="594360"/>
          </a:xfrm>
          <a:prstGeom prst="rect">
            <a:avLst/>
          </a:prstGeom>
          <a:noFill/>
          <a:ln/>
        </p:spPr>
        <p:txBody>
          <a:bodyPr wrap="square" lIns="0" tIns="0" rIns="0" bIns="0" rtlCol="0" anchor="ctr"/>
          <a:lstStyle/>
          <a:p>
            <a:pPr indent="0" marL="0">
              <a:buNone/>
            </a:pPr>
            <a:r>
              <a:rPr lang="en-US" sz="1700" b="1" dirty="0">
                <a:solidFill>
                  <a:srgbClr val="FF462D"/>
                </a:solidFill>
                <a:latin typeface="Arial" pitchFamily="34" charset="0"/>
                <a:ea typeface="Arial" pitchFamily="34" charset="-122"/>
                <a:cs typeface="Arial" pitchFamily="34" charset="-120"/>
              </a:rPr>
              <a:t>Decide today, or name an owner and a date.</a:t>
            </a:r>
            <a:endParaRPr lang="en-US" sz="17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BOUNDARY</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2 · When records disagree about who is free, which one wins?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10:45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150</a:t>
            </a:r>
            <a:endParaRPr lang="en-US" sz="1000" dirty="0"/>
          </a:p>
        </p:txBody>
      </p:sp>
      <p:sp>
        <p:nvSpPr>
          <p:cNvPr id="7" name="Shape 4"/>
          <p:cNvSpPr/>
          <p:nvPr/>
        </p:nvSpPr>
        <p:spPr>
          <a:xfrm>
            <a:off x="548640" y="1463040"/>
            <a:ext cx="11091672" cy="868680"/>
          </a:xfrm>
          <a:prstGeom prst="roundRect">
            <a:avLst>
              <a:gd name="adj" fmla="val 8421"/>
            </a:avLst>
          </a:prstGeom>
          <a:solidFill>
            <a:srgbClr val="FDF3E1"/>
          </a:solidFill>
          <a:ln/>
        </p:spPr>
      </p:sp>
      <p:pic>
        <p:nvPicPr>
          <p:cNvPr id="8" name="Image 1" descr="/private/tmp/claude-501/-Users-salehhamed-Outcome-Engine/91861432-41e2-4884-bc97-63c6dff2d021/scratchpad/wk/icons/TbBuildingSkyscraper-amber.png">    </p:cNvPr>
          <p:cNvPicPr>
            <a:picLocks noChangeAspect="1"/>
          </p:cNvPicPr>
          <p:nvPr/>
        </p:nvPicPr>
        <p:blipFill>
          <a:blip r:embed="rId4"/>
          <a:stretch>
            <a:fillRect/>
          </a:stretch>
        </p:blipFill>
        <p:spPr>
          <a:xfrm>
            <a:off x="777240" y="1627632"/>
            <a:ext cx="530352" cy="530352"/>
          </a:xfrm>
          <a:prstGeom prst="rect">
            <a:avLst/>
          </a:prstGeom>
        </p:spPr>
      </p:pic>
      <p:sp>
        <p:nvSpPr>
          <p:cNvPr id="9" name="Text 5"/>
          <p:cNvSpPr txBox="1"/>
          <p:nvPr/>
        </p:nvSpPr>
        <p:spPr>
          <a:xfrm>
            <a:off x="1463040" y="1463040"/>
            <a:ext cx="10058400" cy="868680"/>
          </a:xfrm>
          <a:prstGeom prst="rect">
            <a:avLst/>
          </a:prstGeom>
          <a:noFill/>
          <a:ln/>
        </p:spPr>
        <p:txBody>
          <a:bodyPr wrap="square" lIns="0" tIns="0" rIns="0" bIns="0" rtlCol="0" anchor="ctr"/>
          <a:lstStyle/>
          <a:p>
            <a:pPr indent="0" marL="0">
              <a:buNone/>
            </a:pPr>
            <a:r>
              <a:rPr lang="en-US" sz="1600" b="1" dirty="0">
                <a:solidFill>
                  <a:srgbClr val="C98A1A"/>
                </a:solidFill>
                <a:latin typeface="Arial" pitchFamily="34" charset="0"/>
                <a:ea typeface="Arial" pitchFamily="34" charset="-122"/>
                <a:cs typeface="Arial" pitchFamily="34" charset="-120"/>
              </a:rPr>
              <a:t>Northgate: </a:t>
            </a:r>
            <a:pPr indent="0" marL="0">
              <a:buNone/>
            </a:pPr>
            <a:r>
              <a:rPr lang="en-US" sz="1600" dirty="0">
                <a:solidFill>
                  <a:srgbClr val="1F2A33"/>
                </a:solidFill>
                <a:latin typeface="Arial" pitchFamily="34" charset="0"/>
                <a:ea typeface="Arial" pitchFamily="34" charset="-122"/>
                <a:cs typeface="Arial" pitchFamily="34" charset="-120"/>
              </a:rPr>
              <a:t>Workday said the engineer was free from 1 November. Their manager knew it was late November.</a:t>
            </a:r>
            <a:endParaRPr lang="en-US" sz="1600" dirty="0"/>
          </a:p>
        </p:txBody>
      </p:sp>
      <p:sp>
        <p:nvSpPr>
          <p:cNvPr id="10" name="Shape 6"/>
          <p:cNvSpPr/>
          <p:nvPr/>
        </p:nvSpPr>
        <p:spPr>
          <a:xfrm>
            <a:off x="548640" y="2560320"/>
            <a:ext cx="3566160" cy="2743200"/>
          </a:xfrm>
          <a:prstGeom prst="roundRect">
            <a:avLst>
              <a:gd name="adj" fmla="val 2667"/>
            </a:avLst>
          </a:prstGeom>
          <a:solidFill>
            <a:srgbClr val="FFFFFF"/>
          </a:solidFill>
          <a:ln w="12700">
            <a:solidFill>
              <a:srgbClr val="D9DEE2"/>
            </a:solidFill>
            <a:prstDash val="solid"/>
          </a:ln>
        </p:spPr>
      </p:sp>
      <p:sp>
        <p:nvSpPr>
          <p:cNvPr id="11" name="Shape 7"/>
          <p:cNvSpPr/>
          <p:nvPr/>
        </p:nvSpPr>
        <p:spPr>
          <a:xfrm>
            <a:off x="777240" y="2743200"/>
            <a:ext cx="548640" cy="548640"/>
          </a:xfrm>
          <a:prstGeom prst="ellipse">
            <a:avLst/>
          </a:prstGeom>
          <a:solidFill>
            <a:srgbClr val="36454F"/>
          </a:solidFill>
          <a:ln/>
        </p:spPr>
      </p:sp>
      <p:sp>
        <p:nvSpPr>
          <p:cNvPr id="12" name="Text 8"/>
          <p:cNvSpPr txBox="1"/>
          <p:nvPr/>
        </p:nvSpPr>
        <p:spPr>
          <a:xfrm>
            <a:off x="777240" y="2743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3" name="Text 9"/>
          <p:cNvSpPr txBox="1"/>
          <p:nvPr/>
        </p:nvSpPr>
        <p:spPr>
          <a:xfrm>
            <a:off x="777240" y="3429000"/>
            <a:ext cx="3108960" cy="1005840"/>
          </a:xfrm>
          <a:prstGeom prst="rect">
            <a:avLst/>
          </a:prstGeom>
          <a:noFill/>
          <a:ln/>
        </p:spPr>
        <p:txBody>
          <a:bodyPr wrap="square" lIns="0" tIns="0" rIns="0" bIns="0" rtlCol="0" anchor="t"/>
          <a:lstStyle/>
          <a:p>
            <a:pPr indent="0" marL="0">
              <a:buNone/>
            </a:pPr>
            <a:r>
              <a:rPr lang="en-US" sz="1900" b="1" dirty="0">
                <a:solidFill>
                  <a:srgbClr val="1F2A33"/>
                </a:solidFill>
                <a:latin typeface="Arial" pitchFamily="34" charset="0"/>
                <a:ea typeface="Arial" pitchFamily="34" charset="-122"/>
                <a:cs typeface="Arial" pitchFamily="34" charset="-120"/>
              </a:rPr>
              <a:t>The manager's confirmation</a:t>
            </a:r>
            <a:endParaRPr lang="en-US" sz="1900" dirty="0"/>
          </a:p>
        </p:txBody>
      </p:sp>
      <p:sp>
        <p:nvSpPr>
          <p:cNvPr id="14" name="Text 10"/>
          <p:cNvSpPr txBox="1"/>
          <p:nvPr/>
        </p:nvSpPr>
        <p:spPr>
          <a:xfrm>
            <a:off x="777240" y="4434840"/>
            <a:ext cx="3108960" cy="77724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Dated, and it ends after a set time.</a:t>
            </a:r>
            <a:endParaRPr lang="en-US" sz="1400" dirty="0"/>
          </a:p>
        </p:txBody>
      </p:sp>
      <p:sp>
        <p:nvSpPr>
          <p:cNvPr id="15" name="Shape 11"/>
          <p:cNvSpPr/>
          <p:nvPr/>
        </p:nvSpPr>
        <p:spPr>
          <a:xfrm>
            <a:off x="4297680" y="2560320"/>
            <a:ext cx="3566160" cy="2743200"/>
          </a:xfrm>
          <a:prstGeom prst="roundRect">
            <a:avLst>
              <a:gd name="adj" fmla="val 2667"/>
            </a:avLst>
          </a:prstGeom>
          <a:solidFill>
            <a:srgbClr val="FFFFFF"/>
          </a:solidFill>
          <a:ln w="12700">
            <a:solidFill>
              <a:srgbClr val="D9DEE2"/>
            </a:solidFill>
            <a:prstDash val="solid"/>
          </a:ln>
        </p:spPr>
      </p:sp>
      <p:sp>
        <p:nvSpPr>
          <p:cNvPr id="16" name="Shape 12"/>
          <p:cNvSpPr/>
          <p:nvPr/>
        </p:nvSpPr>
        <p:spPr>
          <a:xfrm>
            <a:off x="4526280" y="2743200"/>
            <a:ext cx="548640" cy="548640"/>
          </a:xfrm>
          <a:prstGeom prst="ellipse">
            <a:avLst/>
          </a:prstGeom>
          <a:solidFill>
            <a:srgbClr val="36454F"/>
          </a:solidFill>
          <a:ln/>
        </p:spPr>
      </p:sp>
      <p:sp>
        <p:nvSpPr>
          <p:cNvPr id="17" name="Text 13"/>
          <p:cNvSpPr txBox="1"/>
          <p:nvPr/>
        </p:nvSpPr>
        <p:spPr>
          <a:xfrm>
            <a:off x="4526280" y="2743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8" name="Text 14"/>
          <p:cNvSpPr txBox="1"/>
          <p:nvPr/>
        </p:nvSpPr>
        <p:spPr>
          <a:xfrm>
            <a:off x="4526280" y="3429000"/>
            <a:ext cx="3108960" cy="1005840"/>
          </a:xfrm>
          <a:prstGeom prst="rect">
            <a:avLst/>
          </a:prstGeom>
          <a:noFill/>
          <a:ln/>
        </p:spPr>
        <p:txBody>
          <a:bodyPr wrap="square" lIns="0" tIns="0" rIns="0" bIns="0" rtlCol="0" anchor="t"/>
          <a:lstStyle/>
          <a:p>
            <a:pPr indent="0" marL="0">
              <a:buNone/>
            </a:pPr>
            <a:r>
              <a:rPr lang="en-US" sz="1900" b="1" dirty="0">
                <a:solidFill>
                  <a:srgbClr val="1F2A33"/>
                </a:solidFill>
                <a:latin typeface="Arial" pitchFamily="34" charset="0"/>
                <a:ea typeface="Arial" pitchFamily="34" charset="-122"/>
                <a:cs typeface="Arial" pitchFamily="34" charset="-120"/>
              </a:rPr>
              <a:t>Workday, unless the manager overrides</a:t>
            </a:r>
            <a:endParaRPr lang="en-US" sz="1900" dirty="0"/>
          </a:p>
        </p:txBody>
      </p:sp>
      <p:sp>
        <p:nvSpPr>
          <p:cNvPr id="19" name="Text 15"/>
          <p:cNvSpPr txBox="1"/>
          <p:nvPr/>
        </p:nvSpPr>
        <p:spPr>
          <a:xfrm>
            <a:off x="4526280" y="4434840"/>
            <a:ext cx="3108960" cy="77724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With a reason recorded.</a:t>
            </a:r>
            <a:endParaRPr lang="en-US" sz="1400" dirty="0"/>
          </a:p>
        </p:txBody>
      </p:sp>
      <p:sp>
        <p:nvSpPr>
          <p:cNvPr id="20" name="Shape 16"/>
          <p:cNvSpPr/>
          <p:nvPr/>
        </p:nvSpPr>
        <p:spPr>
          <a:xfrm>
            <a:off x="8046720" y="2560320"/>
            <a:ext cx="3566160" cy="2743200"/>
          </a:xfrm>
          <a:prstGeom prst="roundRect">
            <a:avLst>
              <a:gd name="adj" fmla="val 2667"/>
            </a:avLst>
          </a:prstGeom>
          <a:solidFill>
            <a:srgbClr val="FFFFFF"/>
          </a:solidFill>
          <a:ln w="12700">
            <a:solidFill>
              <a:srgbClr val="D9DEE2"/>
            </a:solidFill>
            <a:prstDash val="solid"/>
          </a:ln>
        </p:spPr>
      </p:sp>
      <p:sp>
        <p:nvSpPr>
          <p:cNvPr id="21" name="Shape 17"/>
          <p:cNvSpPr/>
          <p:nvPr/>
        </p:nvSpPr>
        <p:spPr>
          <a:xfrm>
            <a:off x="8275320" y="2743200"/>
            <a:ext cx="548640" cy="548640"/>
          </a:xfrm>
          <a:prstGeom prst="ellipse">
            <a:avLst/>
          </a:prstGeom>
          <a:solidFill>
            <a:srgbClr val="36454F"/>
          </a:solidFill>
          <a:ln/>
        </p:spPr>
      </p:sp>
      <p:sp>
        <p:nvSpPr>
          <p:cNvPr id="22" name="Text 18"/>
          <p:cNvSpPr txBox="1"/>
          <p:nvPr/>
        </p:nvSpPr>
        <p:spPr>
          <a:xfrm>
            <a:off x="8275320" y="2743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23" name="Text 19"/>
          <p:cNvSpPr txBox="1"/>
          <p:nvPr/>
        </p:nvSpPr>
        <p:spPr>
          <a:xfrm>
            <a:off x="8275320" y="3429000"/>
            <a:ext cx="3108960" cy="1005840"/>
          </a:xfrm>
          <a:prstGeom prst="rect">
            <a:avLst/>
          </a:prstGeom>
          <a:noFill/>
          <a:ln/>
        </p:spPr>
        <p:txBody>
          <a:bodyPr wrap="square" lIns="0" tIns="0" rIns="0" bIns="0" rtlCol="0" anchor="t"/>
          <a:lstStyle/>
          <a:p>
            <a:pPr indent="0" marL="0">
              <a:buNone/>
            </a:pPr>
            <a:r>
              <a:rPr lang="en-US" sz="1900" b="1" dirty="0">
                <a:solidFill>
                  <a:srgbClr val="1F2A33"/>
                </a:solidFill>
                <a:latin typeface="Arial" pitchFamily="34" charset="0"/>
                <a:ea typeface="Arial" pitchFamily="34" charset="-122"/>
                <a:cs typeface="Arial" pitchFamily="34" charset="-120"/>
              </a:rPr>
              <a:t>The newer of the two</a:t>
            </a:r>
            <a:endParaRPr lang="en-US" sz="1900" dirty="0"/>
          </a:p>
        </p:txBody>
      </p:sp>
      <p:sp>
        <p:nvSpPr>
          <p:cNvPr id="24" name="Text 20"/>
          <p:cNvSpPr txBox="1"/>
          <p:nvPr/>
        </p:nvSpPr>
        <p:spPr>
          <a:xfrm>
            <a:off x="8275320" y="4434840"/>
            <a:ext cx="3108960" cy="77724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Simple, but can reward old updates.</a:t>
            </a:r>
            <a:endParaRPr lang="en-US" sz="1400" dirty="0"/>
          </a:p>
        </p:txBody>
      </p:sp>
      <p:sp>
        <p:nvSpPr>
          <p:cNvPr id="25" name="Shape 21"/>
          <p:cNvSpPr/>
          <p:nvPr/>
        </p:nvSpPr>
        <p:spPr>
          <a:xfrm>
            <a:off x="548640" y="5532120"/>
            <a:ext cx="11091672" cy="594360"/>
          </a:xfrm>
          <a:prstGeom prst="roundRect">
            <a:avLst>
              <a:gd name="adj" fmla="val 12308"/>
            </a:avLst>
          </a:prstGeom>
          <a:solidFill>
            <a:srgbClr val="FFF0EC"/>
          </a:solidFill>
          <a:ln/>
        </p:spPr>
      </p:sp>
      <p:sp>
        <p:nvSpPr>
          <p:cNvPr id="26" name="Text 22"/>
          <p:cNvSpPr txBox="1"/>
          <p:nvPr/>
        </p:nvSpPr>
        <p:spPr>
          <a:xfrm>
            <a:off x="822960" y="5532120"/>
            <a:ext cx="10515600" cy="594360"/>
          </a:xfrm>
          <a:prstGeom prst="rect">
            <a:avLst/>
          </a:prstGeom>
          <a:noFill/>
          <a:ln/>
        </p:spPr>
        <p:txBody>
          <a:bodyPr wrap="square" lIns="0" tIns="0" rIns="0" bIns="0" rtlCol="0" anchor="ctr"/>
          <a:lstStyle/>
          <a:p>
            <a:pPr indent="0" marL="0">
              <a:buNone/>
            </a:pPr>
            <a:r>
              <a:rPr lang="en-US" sz="1700" b="1" dirty="0">
                <a:solidFill>
                  <a:srgbClr val="FF462D"/>
                </a:solidFill>
                <a:latin typeface="Arial" pitchFamily="34" charset="0"/>
                <a:ea typeface="Arial" pitchFamily="34" charset="-122"/>
                <a:cs typeface="Arial" pitchFamily="34" charset="-120"/>
              </a:rPr>
              <a:t>Decide today, or name an owner and a date.</a:t>
            </a:r>
            <a:endParaRPr lang="en-US" sz="17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BOUNDARY</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3 · Where does Contract-to-Capacity hand over?</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10:45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151</a:t>
            </a:r>
            <a:endParaRPr lang="en-US" sz="1000" dirty="0"/>
          </a:p>
        </p:txBody>
      </p:sp>
      <p:sp>
        <p:nvSpPr>
          <p:cNvPr id="7" name="Shape 4"/>
          <p:cNvSpPr/>
          <p:nvPr/>
        </p:nvSpPr>
        <p:spPr>
          <a:xfrm>
            <a:off x="548640" y="1463040"/>
            <a:ext cx="11091672" cy="868680"/>
          </a:xfrm>
          <a:prstGeom prst="roundRect">
            <a:avLst>
              <a:gd name="adj" fmla="val 8421"/>
            </a:avLst>
          </a:prstGeom>
          <a:solidFill>
            <a:srgbClr val="FDF3E1"/>
          </a:solidFill>
          <a:ln/>
        </p:spPr>
      </p:sp>
      <p:pic>
        <p:nvPicPr>
          <p:cNvPr id="8" name="Image 1" descr="/private/tmp/claude-501/-Users-salehhamed-Outcome-Engine/91861432-41e2-4884-bc97-63c6dff2d021/scratchpad/wk/icons/TbBuildingSkyscraper-amber.png">    </p:cNvPr>
          <p:cNvPicPr>
            <a:picLocks noChangeAspect="1"/>
          </p:cNvPicPr>
          <p:nvPr/>
        </p:nvPicPr>
        <p:blipFill>
          <a:blip r:embed="rId4"/>
          <a:stretch>
            <a:fillRect/>
          </a:stretch>
        </p:blipFill>
        <p:spPr>
          <a:xfrm>
            <a:off x="777240" y="1627632"/>
            <a:ext cx="530352" cy="530352"/>
          </a:xfrm>
          <a:prstGeom prst="rect">
            <a:avLst/>
          </a:prstGeom>
        </p:spPr>
      </p:pic>
      <p:sp>
        <p:nvSpPr>
          <p:cNvPr id="9" name="Text 5"/>
          <p:cNvSpPr txBox="1"/>
          <p:nvPr/>
        </p:nvSpPr>
        <p:spPr>
          <a:xfrm>
            <a:off x="1463040" y="1463040"/>
            <a:ext cx="10058400" cy="868680"/>
          </a:xfrm>
          <a:prstGeom prst="rect">
            <a:avLst/>
          </a:prstGeom>
          <a:noFill/>
          <a:ln/>
        </p:spPr>
        <p:txBody>
          <a:bodyPr wrap="square" lIns="0" tIns="0" rIns="0" bIns="0" rtlCol="0" anchor="ctr"/>
          <a:lstStyle/>
          <a:p>
            <a:pPr indent="0" marL="0">
              <a:buNone/>
            </a:pPr>
            <a:r>
              <a:rPr lang="en-US" sz="1600" b="1" dirty="0">
                <a:solidFill>
                  <a:srgbClr val="C98A1A"/>
                </a:solidFill>
                <a:latin typeface="Arial" pitchFamily="34" charset="0"/>
                <a:ea typeface="Arial" pitchFamily="34" charset="-122"/>
                <a:cs typeface="Arial" pitchFamily="34" charset="-120"/>
              </a:rPr>
              <a:t>Northgate: </a:t>
            </a:r>
            <a:pPr indent="0" marL="0">
              <a:buNone/>
            </a:pPr>
            <a:r>
              <a:rPr lang="en-US" sz="1600" dirty="0">
                <a:solidFill>
                  <a:srgbClr val="1F2A33"/>
                </a:solidFill>
                <a:latin typeface="Arial" pitchFamily="34" charset="0"/>
                <a:ea typeface="Arial" pitchFamily="34" charset="-122"/>
                <a:cs typeface="Arial" pitchFamily="34" charset="-120"/>
              </a:rPr>
              <a:t>One person with the firewall skill worked on another account. Nobody asked whether they could be released.</a:t>
            </a:r>
            <a:endParaRPr lang="en-US" sz="1600" dirty="0"/>
          </a:p>
        </p:txBody>
      </p:sp>
      <p:sp>
        <p:nvSpPr>
          <p:cNvPr id="10" name="Shape 6"/>
          <p:cNvSpPr/>
          <p:nvPr/>
        </p:nvSpPr>
        <p:spPr>
          <a:xfrm>
            <a:off x="548640" y="2560320"/>
            <a:ext cx="3566160" cy="2743200"/>
          </a:xfrm>
          <a:prstGeom prst="roundRect">
            <a:avLst>
              <a:gd name="adj" fmla="val 2667"/>
            </a:avLst>
          </a:prstGeom>
          <a:solidFill>
            <a:srgbClr val="FFFFFF"/>
          </a:solidFill>
          <a:ln w="12700">
            <a:solidFill>
              <a:srgbClr val="D9DEE2"/>
            </a:solidFill>
            <a:prstDash val="solid"/>
          </a:ln>
        </p:spPr>
      </p:sp>
      <p:sp>
        <p:nvSpPr>
          <p:cNvPr id="11" name="Shape 7"/>
          <p:cNvSpPr/>
          <p:nvPr/>
        </p:nvSpPr>
        <p:spPr>
          <a:xfrm>
            <a:off x="777240" y="2743200"/>
            <a:ext cx="548640" cy="548640"/>
          </a:xfrm>
          <a:prstGeom prst="ellipse">
            <a:avLst/>
          </a:prstGeom>
          <a:solidFill>
            <a:srgbClr val="36454F"/>
          </a:solidFill>
          <a:ln/>
        </p:spPr>
      </p:sp>
      <p:sp>
        <p:nvSpPr>
          <p:cNvPr id="12" name="Text 8"/>
          <p:cNvSpPr txBox="1"/>
          <p:nvPr/>
        </p:nvSpPr>
        <p:spPr>
          <a:xfrm>
            <a:off x="777240" y="2743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3" name="Text 9"/>
          <p:cNvSpPr txBox="1"/>
          <p:nvPr/>
        </p:nvSpPr>
        <p:spPr>
          <a:xfrm>
            <a:off x="777240" y="3429000"/>
            <a:ext cx="3108960" cy="1005840"/>
          </a:xfrm>
          <a:prstGeom prst="rect">
            <a:avLst/>
          </a:prstGeom>
          <a:noFill/>
          <a:ln/>
        </p:spPr>
        <p:txBody>
          <a:bodyPr wrap="square" lIns="0" tIns="0" rIns="0" bIns="0" rtlCol="0" anchor="t"/>
          <a:lstStyle/>
          <a:p>
            <a:pPr indent="0" marL="0">
              <a:buNone/>
            </a:pPr>
            <a:r>
              <a:rPr lang="en-US" sz="1900" b="1" dirty="0">
                <a:solidFill>
                  <a:srgbClr val="1F2A33"/>
                </a:solidFill>
                <a:latin typeface="Arial" pitchFamily="34" charset="0"/>
                <a:ea typeface="Arial" pitchFamily="34" charset="-122"/>
                <a:cs typeface="Arial" pitchFamily="34" charset="-120"/>
              </a:rPr>
              <a:t>Release questions go out first</a:t>
            </a:r>
            <a:endParaRPr lang="en-US" sz="1900" dirty="0"/>
          </a:p>
        </p:txBody>
      </p:sp>
      <p:sp>
        <p:nvSpPr>
          <p:cNvPr id="14" name="Text 10"/>
          <p:cNvSpPr txBox="1"/>
          <p:nvPr/>
        </p:nvSpPr>
        <p:spPr>
          <a:xfrm>
            <a:off x="777240" y="4434840"/>
            <a:ext cx="3108960" cy="77724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Asked before any gap is declared.</a:t>
            </a:r>
            <a:endParaRPr lang="en-US" sz="1400" dirty="0"/>
          </a:p>
        </p:txBody>
      </p:sp>
      <p:sp>
        <p:nvSpPr>
          <p:cNvPr id="15" name="Shape 11"/>
          <p:cNvSpPr/>
          <p:nvPr/>
        </p:nvSpPr>
        <p:spPr>
          <a:xfrm>
            <a:off x="4297680" y="2560320"/>
            <a:ext cx="3566160" cy="2743200"/>
          </a:xfrm>
          <a:prstGeom prst="roundRect">
            <a:avLst>
              <a:gd name="adj" fmla="val 2667"/>
            </a:avLst>
          </a:prstGeom>
          <a:solidFill>
            <a:srgbClr val="FFFFFF"/>
          </a:solidFill>
          <a:ln w="12700">
            <a:solidFill>
              <a:srgbClr val="D9DEE2"/>
            </a:solidFill>
            <a:prstDash val="solid"/>
          </a:ln>
        </p:spPr>
      </p:sp>
      <p:sp>
        <p:nvSpPr>
          <p:cNvPr id="16" name="Shape 12"/>
          <p:cNvSpPr/>
          <p:nvPr/>
        </p:nvSpPr>
        <p:spPr>
          <a:xfrm>
            <a:off x="4526280" y="2743200"/>
            <a:ext cx="548640" cy="548640"/>
          </a:xfrm>
          <a:prstGeom prst="ellipse">
            <a:avLst/>
          </a:prstGeom>
          <a:solidFill>
            <a:srgbClr val="36454F"/>
          </a:solidFill>
          <a:ln/>
        </p:spPr>
      </p:sp>
      <p:sp>
        <p:nvSpPr>
          <p:cNvPr id="17" name="Text 13"/>
          <p:cNvSpPr txBox="1"/>
          <p:nvPr/>
        </p:nvSpPr>
        <p:spPr>
          <a:xfrm>
            <a:off x="4526280" y="2743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8" name="Text 14"/>
          <p:cNvSpPr txBox="1"/>
          <p:nvPr/>
        </p:nvSpPr>
        <p:spPr>
          <a:xfrm>
            <a:off x="4526280" y="3429000"/>
            <a:ext cx="3108960" cy="1005840"/>
          </a:xfrm>
          <a:prstGeom prst="rect">
            <a:avLst/>
          </a:prstGeom>
          <a:noFill/>
          <a:ln/>
        </p:spPr>
        <p:txBody>
          <a:bodyPr wrap="square" lIns="0" tIns="0" rIns="0" bIns="0" rtlCol="0" anchor="t"/>
          <a:lstStyle/>
          <a:p>
            <a:pPr indent="0" marL="0">
              <a:buNone/>
            </a:pPr>
            <a:r>
              <a:rPr lang="en-US" sz="1900" b="1" dirty="0">
                <a:solidFill>
                  <a:srgbClr val="1F2A33"/>
                </a:solidFill>
                <a:latin typeface="Arial" pitchFamily="34" charset="0"/>
                <a:ea typeface="Arial" pitchFamily="34" charset="-122"/>
                <a:cs typeface="Arial" pitchFamily="34" charset="-120"/>
              </a:rPr>
              <a:t>Declared gaps go to hiring or growing the skill</a:t>
            </a:r>
            <a:endParaRPr lang="en-US" sz="1900" dirty="0"/>
          </a:p>
        </p:txBody>
      </p:sp>
      <p:sp>
        <p:nvSpPr>
          <p:cNvPr id="19" name="Text 15"/>
          <p:cNvSpPr txBox="1"/>
          <p:nvPr/>
        </p:nvSpPr>
        <p:spPr>
          <a:xfrm>
            <a:off x="4526280" y="4434840"/>
            <a:ext cx="3108960" cy="77724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Only declared gaps, with their evidence and cause.</a:t>
            </a:r>
            <a:endParaRPr lang="en-US" sz="1400" dirty="0"/>
          </a:p>
        </p:txBody>
      </p:sp>
      <p:sp>
        <p:nvSpPr>
          <p:cNvPr id="20" name="Shape 16"/>
          <p:cNvSpPr/>
          <p:nvPr/>
        </p:nvSpPr>
        <p:spPr>
          <a:xfrm>
            <a:off x="8046720" y="2560320"/>
            <a:ext cx="3566160" cy="2743200"/>
          </a:xfrm>
          <a:prstGeom prst="roundRect">
            <a:avLst>
              <a:gd name="adj" fmla="val 2667"/>
            </a:avLst>
          </a:prstGeom>
          <a:solidFill>
            <a:srgbClr val="FFFFFF"/>
          </a:solidFill>
          <a:ln w="12700">
            <a:solidFill>
              <a:srgbClr val="D9DEE2"/>
            </a:solidFill>
            <a:prstDash val="solid"/>
          </a:ln>
        </p:spPr>
      </p:sp>
      <p:sp>
        <p:nvSpPr>
          <p:cNvPr id="21" name="Shape 17"/>
          <p:cNvSpPr/>
          <p:nvPr/>
        </p:nvSpPr>
        <p:spPr>
          <a:xfrm>
            <a:off x="8275320" y="2743200"/>
            <a:ext cx="548640" cy="548640"/>
          </a:xfrm>
          <a:prstGeom prst="ellipse">
            <a:avLst/>
          </a:prstGeom>
          <a:solidFill>
            <a:srgbClr val="36454F"/>
          </a:solidFill>
          <a:ln/>
        </p:spPr>
      </p:sp>
      <p:sp>
        <p:nvSpPr>
          <p:cNvPr id="22" name="Text 18"/>
          <p:cNvSpPr txBox="1"/>
          <p:nvPr/>
        </p:nvSpPr>
        <p:spPr>
          <a:xfrm>
            <a:off x="8275320" y="2743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23" name="Text 19"/>
          <p:cNvSpPr txBox="1"/>
          <p:nvPr/>
        </p:nvSpPr>
        <p:spPr>
          <a:xfrm>
            <a:off x="8275320" y="3429000"/>
            <a:ext cx="3108960" cy="1005840"/>
          </a:xfrm>
          <a:prstGeom prst="rect">
            <a:avLst/>
          </a:prstGeom>
          <a:noFill/>
          <a:ln/>
        </p:spPr>
        <p:txBody>
          <a:bodyPr wrap="square" lIns="0" tIns="0" rIns="0" bIns="0" rtlCol="0" anchor="t"/>
          <a:lstStyle/>
          <a:p>
            <a:pPr indent="0" marL="0">
              <a:buNone/>
            </a:pPr>
            <a:r>
              <a:rPr lang="en-US" sz="1900" b="1" dirty="0">
                <a:solidFill>
                  <a:srgbClr val="1F2A33"/>
                </a:solidFill>
                <a:latin typeface="Arial" pitchFamily="34" charset="0"/>
                <a:ea typeface="Arial" pitchFamily="34" charset="-122"/>
                <a:cs typeface="Arial" pitchFamily="34" charset="-120"/>
              </a:rPr>
              <a:t>Both of these</a:t>
            </a:r>
            <a:endParaRPr lang="en-US" sz="1900" dirty="0"/>
          </a:p>
        </p:txBody>
      </p:sp>
      <p:sp>
        <p:nvSpPr>
          <p:cNvPr id="24" name="Text 20"/>
          <p:cNvSpPr txBox="1"/>
          <p:nvPr/>
        </p:nvSpPr>
        <p:spPr>
          <a:xfrm>
            <a:off x="8275320" y="4434840"/>
            <a:ext cx="3108960" cy="77724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Two hand-offs.</a:t>
            </a:r>
            <a:endParaRPr lang="en-US" sz="1400" dirty="0"/>
          </a:p>
        </p:txBody>
      </p:sp>
      <p:sp>
        <p:nvSpPr>
          <p:cNvPr id="25" name="Shape 21"/>
          <p:cNvSpPr/>
          <p:nvPr/>
        </p:nvSpPr>
        <p:spPr>
          <a:xfrm>
            <a:off x="548640" y="5532120"/>
            <a:ext cx="11091672" cy="594360"/>
          </a:xfrm>
          <a:prstGeom prst="roundRect">
            <a:avLst>
              <a:gd name="adj" fmla="val 12308"/>
            </a:avLst>
          </a:prstGeom>
          <a:solidFill>
            <a:srgbClr val="FFF0EC"/>
          </a:solidFill>
          <a:ln/>
        </p:spPr>
      </p:sp>
      <p:sp>
        <p:nvSpPr>
          <p:cNvPr id="26" name="Text 22"/>
          <p:cNvSpPr txBox="1"/>
          <p:nvPr/>
        </p:nvSpPr>
        <p:spPr>
          <a:xfrm>
            <a:off x="822960" y="5532120"/>
            <a:ext cx="10515600" cy="594360"/>
          </a:xfrm>
          <a:prstGeom prst="rect">
            <a:avLst/>
          </a:prstGeom>
          <a:noFill/>
          <a:ln/>
        </p:spPr>
        <p:txBody>
          <a:bodyPr wrap="square" lIns="0" tIns="0" rIns="0" bIns="0" rtlCol="0" anchor="ctr"/>
          <a:lstStyle/>
          <a:p>
            <a:pPr indent="0" marL="0">
              <a:buNone/>
            </a:pPr>
            <a:r>
              <a:rPr lang="en-US" sz="1700" b="1" dirty="0">
                <a:solidFill>
                  <a:srgbClr val="FF462D"/>
                </a:solidFill>
                <a:latin typeface="Arial" pitchFamily="34" charset="0"/>
                <a:ea typeface="Arial" pitchFamily="34" charset="-122"/>
                <a:cs typeface="Arial" pitchFamily="34" charset="-120"/>
              </a:rPr>
              <a:t>Decide today, or name an owner and a date.</a:t>
            </a:r>
            <a:endParaRPr lang="en-US" sz="17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BOUNDARY</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4 · What may be held before signature, and who approves?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10:45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152</a:t>
            </a:r>
            <a:endParaRPr lang="en-US" sz="1000" dirty="0"/>
          </a:p>
        </p:txBody>
      </p:sp>
      <p:sp>
        <p:nvSpPr>
          <p:cNvPr id="7" name="Shape 4"/>
          <p:cNvSpPr/>
          <p:nvPr/>
        </p:nvSpPr>
        <p:spPr>
          <a:xfrm>
            <a:off x="548640" y="1463040"/>
            <a:ext cx="11091672" cy="868680"/>
          </a:xfrm>
          <a:prstGeom prst="roundRect">
            <a:avLst>
              <a:gd name="adj" fmla="val 8421"/>
            </a:avLst>
          </a:prstGeom>
          <a:solidFill>
            <a:srgbClr val="FDF3E1"/>
          </a:solidFill>
          <a:ln/>
        </p:spPr>
      </p:sp>
      <p:pic>
        <p:nvPicPr>
          <p:cNvPr id="8" name="Image 1" descr="/private/tmp/claude-501/-Users-salehhamed-Outcome-Engine/91861432-41e2-4884-bc97-63c6dff2d021/scratchpad/wk/icons/TbBuildingSkyscraper-amber.png">    </p:cNvPr>
          <p:cNvPicPr>
            <a:picLocks noChangeAspect="1"/>
          </p:cNvPicPr>
          <p:nvPr/>
        </p:nvPicPr>
        <p:blipFill>
          <a:blip r:embed="rId4"/>
          <a:stretch>
            <a:fillRect/>
          </a:stretch>
        </p:blipFill>
        <p:spPr>
          <a:xfrm>
            <a:off x="777240" y="1627632"/>
            <a:ext cx="530352" cy="530352"/>
          </a:xfrm>
          <a:prstGeom prst="rect">
            <a:avLst/>
          </a:prstGeom>
        </p:spPr>
      </p:pic>
      <p:sp>
        <p:nvSpPr>
          <p:cNvPr id="9" name="Text 5"/>
          <p:cNvSpPr txBox="1"/>
          <p:nvPr/>
        </p:nvSpPr>
        <p:spPr>
          <a:xfrm>
            <a:off x="1463040" y="1463040"/>
            <a:ext cx="10058400" cy="868680"/>
          </a:xfrm>
          <a:prstGeom prst="rect">
            <a:avLst/>
          </a:prstGeom>
          <a:noFill/>
          <a:ln/>
        </p:spPr>
        <p:txBody>
          <a:bodyPr wrap="square" lIns="0" tIns="0" rIns="0" bIns="0" rtlCol="0" anchor="ctr"/>
          <a:lstStyle/>
          <a:p>
            <a:pPr indent="0" marL="0">
              <a:buNone/>
            </a:pPr>
            <a:r>
              <a:rPr lang="en-US" sz="1600" b="1" dirty="0">
                <a:solidFill>
                  <a:srgbClr val="C98A1A"/>
                </a:solidFill>
                <a:latin typeface="Arial" pitchFamily="34" charset="0"/>
                <a:ea typeface="Arial" pitchFamily="34" charset="-122"/>
                <a:cs typeface="Arial" pitchFamily="34" charset="-120"/>
              </a:rPr>
              <a:t>Northgate: </a:t>
            </a:r>
            <a:pPr indent="0" marL="0">
              <a:buNone/>
            </a:pPr>
            <a:r>
              <a:rPr lang="en-US" sz="1600" dirty="0">
                <a:solidFill>
                  <a:srgbClr val="1F2A33"/>
                </a:solidFill>
                <a:latin typeface="Arial" pitchFamily="34" charset="0"/>
                <a:ea typeface="Arial" pitchFamily="34" charset="-122"/>
                <a:cs typeface="Arial" pitchFamily="34" charset="-120"/>
              </a:rPr>
              <a:t>Could we have held the cloud network engineer in September, before the deal was signed?</a:t>
            </a:r>
            <a:endParaRPr lang="en-US" sz="1600" dirty="0"/>
          </a:p>
        </p:txBody>
      </p:sp>
      <p:sp>
        <p:nvSpPr>
          <p:cNvPr id="10" name="Shape 6"/>
          <p:cNvSpPr/>
          <p:nvPr/>
        </p:nvSpPr>
        <p:spPr>
          <a:xfrm>
            <a:off x="548640" y="2560320"/>
            <a:ext cx="3566160" cy="2743200"/>
          </a:xfrm>
          <a:prstGeom prst="roundRect">
            <a:avLst>
              <a:gd name="adj" fmla="val 2667"/>
            </a:avLst>
          </a:prstGeom>
          <a:solidFill>
            <a:srgbClr val="FFFFFF"/>
          </a:solidFill>
          <a:ln w="12700">
            <a:solidFill>
              <a:srgbClr val="D9DEE2"/>
            </a:solidFill>
            <a:prstDash val="solid"/>
          </a:ln>
        </p:spPr>
      </p:sp>
      <p:sp>
        <p:nvSpPr>
          <p:cNvPr id="11" name="Shape 7"/>
          <p:cNvSpPr/>
          <p:nvPr/>
        </p:nvSpPr>
        <p:spPr>
          <a:xfrm>
            <a:off x="777240" y="2743200"/>
            <a:ext cx="548640" cy="548640"/>
          </a:xfrm>
          <a:prstGeom prst="ellipse">
            <a:avLst/>
          </a:prstGeom>
          <a:solidFill>
            <a:srgbClr val="36454F"/>
          </a:solidFill>
          <a:ln/>
        </p:spPr>
      </p:sp>
      <p:sp>
        <p:nvSpPr>
          <p:cNvPr id="12" name="Text 8"/>
          <p:cNvSpPr txBox="1"/>
          <p:nvPr/>
        </p:nvSpPr>
        <p:spPr>
          <a:xfrm>
            <a:off x="777240" y="2743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3" name="Text 9"/>
          <p:cNvSpPr txBox="1"/>
          <p:nvPr/>
        </p:nvSpPr>
        <p:spPr>
          <a:xfrm>
            <a:off x="777240" y="3429000"/>
            <a:ext cx="3108960" cy="1005840"/>
          </a:xfrm>
          <a:prstGeom prst="rect">
            <a:avLst/>
          </a:prstGeom>
          <a:noFill/>
          <a:ln/>
        </p:spPr>
        <p:txBody>
          <a:bodyPr wrap="square" lIns="0" tIns="0" rIns="0" bIns="0" rtlCol="0" anchor="t"/>
          <a:lstStyle/>
          <a:p>
            <a:pPr indent="0" marL="0">
              <a:buNone/>
            </a:pPr>
            <a:r>
              <a:rPr lang="en-US" sz="1900" b="1" dirty="0">
                <a:solidFill>
                  <a:srgbClr val="1F2A33"/>
                </a:solidFill>
                <a:latin typeface="Arial" pitchFamily="34" charset="0"/>
                <a:ea typeface="Arial" pitchFamily="34" charset="-122"/>
                <a:cs typeface="Arial" pitchFamily="34" charset="-120"/>
              </a:rPr>
              <a:t>Holds from contract drafting, engagement lead approves</a:t>
            </a:r>
            <a:endParaRPr lang="en-US" sz="1900" dirty="0"/>
          </a:p>
        </p:txBody>
      </p:sp>
      <p:sp>
        <p:nvSpPr>
          <p:cNvPr id="14" name="Text 10"/>
          <p:cNvSpPr txBox="1"/>
          <p:nvPr/>
        </p:nvSpPr>
        <p:spPr>
          <a:xfrm>
            <a:off x="777240" y="4434840"/>
            <a:ext cx="3108960" cy="77724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For a limited time, released if the deal slips.</a:t>
            </a:r>
            <a:endParaRPr lang="en-US" sz="1400" dirty="0"/>
          </a:p>
        </p:txBody>
      </p:sp>
      <p:sp>
        <p:nvSpPr>
          <p:cNvPr id="15" name="Shape 11"/>
          <p:cNvSpPr/>
          <p:nvPr/>
        </p:nvSpPr>
        <p:spPr>
          <a:xfrm>
            <a:off x="4297680" y="2560320"/>
            <a:ext cx="3566160" cy="2743200"/>
          </a:xfrm>
          <a:prstGeom prst="roundRect">
            <a:avLst>
              <a:gd name="adj" fmla="val 2667"/>
            </a:avLst>
          </a:prstGeom>
          <a:solidFill>
            <a:srgbClr val="FFFFFF"/>
          </a:solidFill>
          <a:ln w="12700">
            <a:solidFill>
              <a:srgbClr val="D9DEE2"/>
            </a:solidFill>
            <a:prstDash val="solid"/>
          </a:ln>
        </p:spPr>
      </p:sp>
      <p:sp>
        <p:nvSpPr>
          <p:cNvPr id="16" name="Shape 12"/>
          <p:cNvSpPr/>
          <p:nvPr/>
        </p:nvSpPr>
        <p:spPr>
          <a:xfrm>
            <a:off x="4526280" y="2743200"/>
            <a:ext cx="548640" cy="548640"/>
          </a:xfrm>
          <a:prstGeom prst="ellipse">
            <a:avLst/>
          </a:prstGeom>
          <a:solidFill>
            <a:srgbClr val="36454F"/>
          </a:solidFill>
          <a:ln/>
        </p:spPr>
      </p:sp>
      <p:sp>
        <p:nvSpPr>
          <p:cNvPr id="17" name="Text 13"/>
          <p:cNvSpPr txBox="1"/>
          <p:nvPr/>
        </p:nvSpPr>
        <p:spPr>
          <a:xfrm>
            <a:off x="4526280" y="2743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8" name="Text 14"/>
          <p:cNvSpPr txBox="1"/>
          <p:nvPr/>
        </p:nvSpPr>
        <p:spPr>
          <a:xfrm>
            <a:off x="4526280" y="3429000"/>
            <a:ext cx="3108960" cy="1005840"/>
          </a:xfrm>
          <a:prstGeom prst="rect">
            <a:avLst/>
          </a:prstGeom>
          <a:noFill/>
          <a:ln/>
        </p:spPr>
        <p:txBody>
          <a:bodyPr wrap="square" lIns="0" tIns="0" rIns="0" bIns="0" rtlCol="0" anchor="t"/>
          <a:lstStyle/>
          <a:p>
            <a:pPr indent="0" marL="0">
              <a:buNone/>
            </a:pPr>
            <a:r>
              <a:rPr lang="en-US" sz="1900" b="1" dirty="0">
                <a:solidFill>
                  <a:srgbClr val="1F2A33"/>
                </a:solidFill>
                <a:latin typeface="Arial" pitchFamily="34" charset="0"/>
                <a:ea typeface="Arial" pitchFamily="34" charset="-122"/>
                <a:cs typeface="Arial" pitchFamily="34" charset="-120"/>
              </a:rPr>
              <a:t>No holds before signature</a:t>
            </a:r>
            <a:endParaRPr lang="en-US" sz="1900" dirty="0"/>
          </a:p>
        </p:txBody>
      </p:sp>
      <p:sp>
        <p:nvSpPr>
          <p:cNvPr id="19" name="Text 15"/>
          <p:cNvSpPr txBox="1"/>
          <p:nvPr/>
        </p:nvSpPr>
        <p:spPr>
          <a:xfrm>
            <a:off x="4526280" y="4434840"/>
            <a:ext cx="3108960" cy="77724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Safe for the business, slow for the client.</a:t>
            </a:r>
            <a:endParaRPr lang="en-US" sz="1400" dirty="0"/>
          </a:p>
        </p:txBody>
      </p:sp>
      <p:sp>
        <p:nvSpPr>
          <p:cNvPr id="20" name="Shape 16"/>
          <p:cNvSpPr/>
          <p:nvPr/>
        </p:nvSpPr>
        <p:spPr>
          <a:xfrm>
            <a:off x="8046720" y="2560320"/>
            <a:ext cx="3566160" cy="2743200"/>
          </a:xfrm>
          <a:prstGeom prst="roundRect">
            <a:avLst>
              <a:gd name="adj" fmla="val 2667"/>
            </a:avLst>
          </a:prstGeom>
          <a:solidFill>
            <a:srgbClr val="FFFFFF"/>
          </a:solidFill>
          <a:ln w="12700">
            <a:solidFill>
              <a:srgbClr val="D9DEE2"/>
            </a:solidFill>
            <a:prstDash val="solid"/>
          </a:ln>
        </p:spPr>
      </p:sp>
      <p:sp>
        <p:nvSpPr>
          <p:cNvPr id="21" name="Shape 17"/>
          <p:cNvSpPr/>
          <p:nvPr/>
        </p:nvSpPr>
        <p:spPr>
          <a:xfrm>
            <a:off x="8275320" y="2743200"/>
            <a:ext cx="548640" cy="548640"/>
          </a:xfrm>
          <a:prstGeom prst="ellipse">
            <a:avLst/>
          </a:prstGeom>
          <a:solidFill>
            <a:srgbClr val="36454F"/>
          </a:solidFill>
          <a:ln/>
        </p:spPr>
      </p:sp>
      <p:sp>
        <p:nvSpPr>
          <p:cNvPr id="22" name="Text 18"/>
          <p:cNvSpPr txBox="1"/>
          <p:nvPr/>
        </p:nvSpPr>
        <p:spPr>
          <a:xfrm>
            <a:off x="8275320" y="27432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23" name="Text 19"/>
          <p:cNvSpPr txBox="1"/>
          <p:nvPr/>
        </p:nvSpPr>
        <p:spPr>
          <a:xfrm>
            <a:off x="8275320" y="3429000"/>
            <a:ext cx="3108960" cy="1005840"/>
          </a:xfrm>
          <a:prstGeom prst="rect">
            <a:avLst/>
          </a:prstGeom>
          <a:noFill/>
          <a:ln/>
        </p:spPr>
        <p:txBody>
          <a:bodyPr wrap="square" lIns="0" tIns="0" rIns="0" bIns="0" rtlCol="0" anchor="t"/>
          <a:lstStyle/>
          <a:p>
            <a:pPr indent="0" marL="0">
              <a:buNone/>
            </a:pPr>
            <a:r>
              <a:rPr lang="en-US" sz="1900" b="1" dirty="0">
                <a:solidFill>
                  <a:srgbClr val="1F2A33"/>
                </a:solidFill>
                <a:latin typeface="Arial" pitchFamily="34" charset="0"/>
                <a:ea typeface="Arial" pitchFamily="34" charset="-122"/>
                <a:cs typeface="Arial" pitchFamily="34" charset="-120"/>
              </a:rPr>
              <a:t>Holds plus early work at risk, with a limit</a:t>
            </a:r>
            <a:endParaRPr lang="en-US" sz="1900" dirty="0"/>
          </a:p>
        </p:txBody>
      </p:sp>
      <p:sp>
        <p:nvSpPr>
          <p:cNvPr id="24" name="Text 20"/>
          <p:cNvSpPr txBox="1"/>
          <p:nvPr/>
        </p:nvSpPr>
        <p:spPr>
          <a:xfrm>
            <a:off x="8275320" y="4434840"/>
            <a:ext cx="3108960" cy="777240"/>
          </a:xfrm>
          <a:prstGeom prst="rect">
            <a:avLst/>
          </a:prstGeom>
          <a:noFill/>
          <a:ln/>
        </p:spPr>
        <p:txBody>
          <a:bodyPr wrap="square" lIns="0" tIns="0" rIns="0" bIns="0" rtlCol="0" anchor="t"/>
          <a:lstStyle/>
          <a:p>
            <a:pPr indent="0" marL="0">
              <a:buNone/>
            </a:pPr>
            <a:r>
              <a:rPr lang="en-US" sz="1400" dirty="0">
                <a:solidFill>
                  <a:srgbClr val="5A5A5A"/>
                </a:solidFill>
                <a:latin typeface="Arial" pitchFamily="34" charset="0"/>
                <a:ea typeface="Arial" pitchFamily="34" charset="-122"/>
                <a:cs typeface="Arial" pitchFamily="34" charset="-120"/>
              </a:rPr>
              <a:t>Finance sets the limit.</a:t>
            </a:r>
            <a:endParaRPr lang="en-US" sz="1400" dirty="0"/>
          </a:p>
        </p:txBody>
      </p:sp>
      <p:sp>
        <p:nvSpPr>
          <p:cNvPr id="25" name="Shape 21"/>
          <p:cNvSpPr/>
          <p:nvPr/>
        </p:nvSpPr>
        <p:spPr>
          <a:xfrm>
            <a:off x="548640" y="5532120"/>
            <a:ext cx="11091672" cy="594360"/>
          </a:xfrm>
          <a:prstGeom prst="roundRect">
            <a:avLst>
              <a:gd name="adj" fmla="val 12308"/>
            </a:avLst>
          </a:prstGeom>
          <a:solidFill>
            <a:srgbClr val="FFF0EC"/>
          </a:solidFill>
          <a:ln/>
        </p:spPr>
      </p:sp>
      <p:sp>
        <p:nvSpPr>
          <p:cNvPr id="26" name="Text 22"/>
          <p:cNvSpPr txBox="1"/>
          <p:nvPr/>
        </p:nvSpPr>
        <p:spPr>
          <a:xfrm>
            <a:off x="822960" y="5532120"/>
            <a:ext cx="10515600" cy="594360"/>
          </a:xfrm>
          <a:prstGeom prst="rect">
            <a:avLst/>
          </a:prstGeom>
          <a:noFill/>
          <a:ln/>
        </p:spPr>
        <p:txBody>
          <a:bodyPr wrap="square" lIns="0" tIns="0" rIns="0" bIns="0" rtlCol="0" anchor="ctr"/>
          <a:lstStyle/>
          <a:p>
            <a:pPr indent="0" marL="0">
              <a:buNone/>
            </a:pPr>
            <a:r>
              <a:rPr lang="en-US" sz="1700" b="1" dirty="0">
                <a:solidFill>
                  <a:srgbClr val="FF462D"/>
                </a:solidFill>
                <a:latin typeface="Arial" pitchFamily="34" charset="0"/>
                <a:ea typeface="Arial" pitchFamily="34" charset="-122"/>
                <a:cs typeface="Arial" pitchFamily="34" charset="-120"/>
              </a:rPr>
              <a:t>Decide today, or name an owner and a date.</a:t>
            </a:r>
            <a:endParaRPr lang="en-US" sz="17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0">
  <p:cSld name="Slide 1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RESOLVE KEY BOUNDARIES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Three ways to run this session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10:45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153</a:t>
            </a:r>
            <a:endParaRPr lang="en-US" sz="1000" dirty="0"/>
          </a:p>
        </p:txBody>
      </p:sp>
      <p:sp>
        <p:nvSpPr>
          <p:cNvPr id="7" name="Shape 4"/>
          <p:cNvSpPr/>
          <p:nvPr/>
        </p:nvSpPr>
        <p:spPr>
          <a:xfrm>
            <a:off x="548640" y="1463040"/>
            <a:ext cx="3566160" cy="4663440"/>
          </a:xfrm>
          <a:prstGeom prst="roundRect">
            <a:avLst>
              <a:gd name="adj" fmla="val 2051"/>
            </a:avLst>
          </a:prstGeom>
          <a:solidFill>
            <a:srgbClr val="FFFFFF"/>
          </a:solidFill>
          <a:ln w="12700">
            <a:solidFill>
              <a:srgbClr val="D9DEE2"/>
            </a:solidFill>
            <a:prstDash val="solid"/>
          </a:ln>
        </p:spPr>
      </p:sp>
      <p:sp>
        <p:nvSpPr>
          <p:cNvPr id="8" name="Shape 5"/>
          <p:cNvSpPr/>
          <p:nvPr/>
        </p:nvSpPr>
        <p:spPr>
          <a:xfrm>
            <a:off x="548640" y="1463040"/>
            <a:ext cx="3566160" cy="566928"/>
          </a:xfrm>
          <a:prstGeom prst="roundRect">
            <a:avLst>
              <a:gd name="adj" fmla="val 12903"/>
            </a:avLst>
          </a:prstGeom>
          <a:solidFill>
            <a:srgbClr val="287079"/>
          </a:solidFill>
          <a:ln/>
        </p:spPr>
      </p:sp>
      <p:sp>
        <p:nvSpPr>
          <p:cNvPr id="9" name="Shape 6"/>
          <p:cNvSpPr/>
          <p:nvPr/>
        </p:nvSpPr>
        <p:spPr>
          <a:xfrm>
            <a:off x="548640" y="1828800"/>
            <a:ext cx="3566160" cy="201168"/>
          </a:xfrm>
          <a:prstGeom prst="rect">
            <a:avLst/>
          </a:prstGeom>
          <a:solidFill>
            <a:srgbClr val="287079"/>
          </a:solidFill>
          <a:ln/>
        </p:spPr>
      </p:sp>
      <p:pic>
        <p:nvPicPr>
          <p:cNvPr id="10" name="Image 1" descr="/private/tmp/claude-501/-Users-salehhamed-Outcome-Engine/91861432-41e2-4884-bc97-63c6dff2d021/scratchpad/wk/icons/TbHandClick-white.png">    </p:cNvPr>
          <p:cNvPicPr>
            <a:picLocks noChangeAspect="1"/>
          </p:cNvPicPr>
          <p:nvPr/>
        </p:nvPicPr>
        <p:blipFill>
          <a:blip r:embed="rId4"/>
          <a:stretch>
            <a:fillRect/>
          </a:stretch>
        </p:blipFill>
        <p:spPr>
          <a:xfrm>
            <a:off x="713232" y="1554480"/>
            <a:ext cx="384048" cy="384048"/>
          </a:xfrm>
          <a:prstGeom prst="rect">
            <a:avLst/>
          </a:prstGeom>
        </p:spPr>
      </p:pic>
      <p:sp>
        <p:nvSpPr>
          <p:cNvPr id="11" name="Text 7"/>
          <p:cNvSpPr txBox="1"/>
          <p:nvPr/>
        </p:nvSpPr>
        <p:spPr>
          <a:xfrm>
            <a:off x="120700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A · HANDS-ON</a:t>
            </a:r>
            <a:endParaRPr lang="en-US" sz="1150" dirty="0"/>
          </a:p>
        </p:txBody>
      </p:sp>
      <p:sp>
        <p:nvSpPr>
          <p:cNvPr id="12" name="Text 8"/>
          <p:cNvSpPr txBox="1"/>
          <p:nvPr/>
        </p:nvSpPr>
        <p:spPr>
          <a:xfrm>
            <a:off x="77724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Take a side</a:t>
            </a:r>
            <a:endParaRPr lang="en-US" sz="2100" dirty="0"/>
          </a:p>
        </p:txBody>
      </p:sp>
      <p:sp>
        <p:nvSpPr>
          <p:cNvPr id="13" name="Text 9"/>
          <p:cNvSpPr txBox="1"/>
          <p:nvPr/>
        </p:nvSpPr>
        <p:spPr>
          <a:xfrm>
            <a:off x="77724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For each boundary, stand by the option you back; one voice per option; the sponsor rules.</a:t>
            </a:r>
            <a:endParaRPr lang="en-US" sz="1400" dirty="0"/>
          </a:p>
        </p:txBody>
      </p:sp>
      <p:pic>
        <p:nvPicPr>
          <p:cNvPr id="14" name="Image 2" descr="/private/tmp/claude-501/-Users-salehhamed-Outcome-Engine/91861432-41e2-4884-bc97-63c6dff2d021/scratchpad/wk/icons/TbClock-grey.png">    </p:cNvPr>
          <p:cNvPicPr>
            <a:picLocks noChangeAspect="1"/>
          </p:cNvPicPr>
          <p:nvPr/>
        </p:nvPicPr>
        <p:blipFill>
          <a:blip r:embed="rId5"/>
          <a:stretch>
            <a:fillRect/>
          </a:stretch>
        </p:blipFill>
        <p:spPr>
          <a:xfrm>
            <a:off x="777240" y="4297680"/>
            <a:ext cx="274320" cy="274320"/>
          </a:xfrm>
          <a:prstGeom prst="rect">
            <a:avLst/>
          </a:prstGeom>
        </p:spPr>
      </p:pic>
      <p:sp>
        <p:nvSpPr>
          <p:cNvPr id="15" name="Text 10"/>
          <p:cNvSpPr txBox="1"/>
          <p:nvPr/>
        </p:nvSpPr>
        <p:spPr>
          <a:xfrm>
            <a:off x="114300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60 min</a:t>
            </a:r>
            <a:endParaRPr lang="en-US" sz="1200" dirty="0"/>
          </a:p>
        </p:txBody>
      </p:sp>
      <p:pic>
        <p:nvPicPr>
          <p:cNvPr id="16" name="Image 3" descr="/private/tmp/claude-501/-Users-salehhamed-Outcome-Engine/91861432-41e2-4884-bc97-63c6dff2d021/scratchpad/wk/icons/TbUsers-grey.png">    </p:cNvPr>
          <p:cNvPicPr>
            <a:picLocks noChangeAspect="1"/>
          </p:cNvPicPr>
          <p:nvPr/>
        </p:nvPicPr>
        <p:blipFill>
          <a:blip r:embed="rId6"/>
          <a:stretch>
            <a:fillRect/>
          </a:stretch>
        </p:blipFill>
        <p:spPr>
          <a:xfrm>
            <a:off x="777240" y="4681728"/>
            <a:ext cx="274320" cy="274320"/>
          </a:xfrm>
          <a:prstGeom prst="rect">
            <a:avLst/>
          </a:prstGeom>
        </p:spPr>
      </p:pic>
      <p:sp>
        <p:nvSpPr>
          <p:cNvPr id="17" name="Text 11"/>
          <p:cNvSpPr txBox="1"/>
          <p:nvPr/>
        </p:nvSpPr>
        <p:spPr>
          <a:xfrm>
            <a:off x="114300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Whole room, standing</a:t>
            </a:r>
            <a:endParaRPr lang="en-US" sz="1200" dirty="0"/>
          </a:p>
        </p:txBody>
      </p:sp>
      <p:pic>
        <p:nvPicPr>
          <p:cNvPr id="18" name="Image 4" descr="/private/tmp/claude-501/-Users-salehhamed-Outcome-Engine/91861432-41e2-4884-bc97-63c6dff2d021/scratchpad/wk/icons/TbGauge-grey.png">    </p:cNvPr>
          <p:cNvPicPr>
            <a:picLocks noChangeAspect="1"/>
          </p:cNvPicPr>
          <p:nvPr/>
        </p:nvPicPr>
        <p:blipFill>
          <a:blip r:embed="rId7"/>
          <a:stretch>
            <a:fillRect/>
          </a:stretch>
        </p:blipFill>
        <p:spPr>
          <a:xfrm>
            <a:off x="777240" y="5065776"/>
            <a:ext cx="274320" cy="274320"/>
          </a:xfrm>
          <a:prstGeom prst="rect">
            <a:avLst/>
          </a:prstGeom>
        </p:spPr>
      </p:pic>
      <p:sp>
        <p:nvSpPr>
          <p:cNvPr id="19" name="Text 12"/>
          <p:cNvSpPr txBox="1"/>
          <p:nvPr/>
        </p:nvSpPr>
        <p:spPr>
          <a:xfrm>
            <a:off x="114300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High energy</a:t>
            </a:r>
            <a:endParaRPr lang="en-US" sz="1200" dirty="0"/>
          </a:p>
        </p:txBody>
      </p:sp>
      <p:sp>
        <p:nvSpPr>
          <p:cNvPr id="20" name="Text 13"/>
          <p:cNvSpPr txBox="1"/>
          <p:nvPr/>
        </p:nvSpPr>
        <p:spPr>
          <a:xfrm>
            <a:off x="77724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room has energy and each boundary has clear options.</a:t>
            </a:r>
            <a:endParaRPr lang="en-US" sz="1150" dirty="0"/>
          </a:p>
        </p:txBody>
      </p:sp>
      <p:pic>
        <p:nvPicPr>
          <p:cNvPr id="21" name="Image 5" descr="/private/tmp/claude-501/-Users-salehhamed-Outcome-Engine/91861432-41e2-4884-bc97-63c6dff2d021/scratchpad/wk/brand/clear.png">
            <a:hlinkClick r:id="rId9" tooltip="Option A" action="ppaction://hlinksldjump"/>
          </p:cNvPr>
          <p:cNvPicPr>
            <a:picLocks noChangeAspect="1"/>
          </p:cNvPicPr>
          <p:nvPr/>
        </p:nvPicPr>
        <p:blipFill>
          <a:blip r:embed="rId8"/>
          <a:stretch>
            <a:fillRect/>
          </a:stretch>
        </p:blipFill>
        <p:spPr>
          <a:xfrm>
            <a:off x="548640" y="1463040"/>
            <a:ext cx="3566160" cy="4663440"/>
          </a:xfrm>
          <a:prstGeom prst="rect">
            <a:avLst/>
          </a:prstGeom>
        </p:spPr>
      </p:pic>
      <p:sp>
        <p:nvSpPr>
          <p:cNvPr id="22" name="Shape 14"/>
          <p:cNvSpPr/>
          <p:nvPr/>
        </p:nvSpPr>
        <p:spPr>
          <a:xfrm>
            <a:off x="4297680" y="1463040"/>
            <a:ext cx="3566160" cy="4663440"/>
          </a:xfrm>
          <a:prstGeom prst="roundRect">
            <a:avLst>
              <a:gd name="adj" fmla="val 2051"/>
            </a:avLst>
          </a:prstGeom>
          <a:solidFill>
            <a:srgbClr val="FFFFFF"/>
          </a:solidFill>
          <a:ln w="12700">
            <a:solidFill>
              <a:srgbClr val="D9DEE2"/>
            </a:solidFill>
            <a:prstDash val="solid"/>
          </a:ln>
        </p:spPr>
      </p:sp>
      <p:sp>
        <p:nvSpPr>
          <p:cNvPr id="23" name="Shape 15"/>
          <p:cNvSpPr/>
          <p:nvPr/>
        </p:nvSpPr>
        <p:spPr>
          <a:xfrm>
            <a:off x="4297680" y="1463040"/>
            <a:ext cx="3566160" cy="566928"/>
          </a:xfrm>
          <a:prstGeom prst="roundRect">
            <a:avLst>
              <a:gd name="adj" fmla="val 12903"/>
            </a:avLst>
          </a:prstGeom>
          <a:solidFill>
            <a:srgbClr val="FF462D"/>
          </a:solidFill>
          <a:ln/>
        </p:spPr>
      </p:sp>
      <p:sp>
        <p:nvSpPr>
          <p:cNvPr id="24" name="Shape 16"/>
          <p:cNvSpPr/>
          <p:nvPr/>
        </p:nvSpPr>
        <p:spPr>
          <a:xfrm>
            <a:off x="4297680" y="1828800"/>
            <a:ext cx="3566160" cy="201168"/>
          </a:xfrm>
          <a:prstGeom prst="rect">
            <a:avLst/>
          </a:prstGeom>
          <a:solidFill>
            <a:srgbClr val="FF462D"/>
          </a:solidFill>
          <a:ln/>
        </p:spPr>
      </p:sp>
      <p:pic>
        <p:nvPicPr>
          <p:cNvPr id="25" name="Image 6" descr="/private/tmp/claude-501/-Users-salehhamed-Outcome-Engine/91861432-41e2-4884-bc97-63c6dff2d021/scratchpad/wk/icons/TbDeviceMobile-white.png">    </p:cNvPr>
          <p:cNvPicPr>
            <a:picLocks noChangeAspect="1"/>
          </p:cNvPicPr>
          <p:nvPr/>
        </p:nvPicPr>
        <p:blipFill>
          <a:blip r:embed="rId10"/>
          <a:stretch>
            <a:fillRect/>
          </a:stretch>
        </p:blipFill>
        <p:spPr>
          <a:xfrm>
            <a:off x="4462272" y="1554480"/>
            <a:ext cx="384048" cy="384048"/>
          </a:xfrm>
          <a:prstGeom prst="rect">
            <a:avLst/>
          </a:prstGeom>
        </p:spPr>
      </p:pic>
      <p:sp>
        <p:nvSpPr>
          <p:cNvPr id="26" name="Text 17"/>
          <p:cNvSpPr txBox="1"/>
          <p:nvPr/>
        </p:nvSpPr>
        <p:spPr>
          <a:xfrm>
            <a:off x="495604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B · LIVE VOTING</a:t>
            </a:r>
            <a:endParaRPr lang="en-US" sz="1150" dirty="0"/>
          </a:p>
        </p:txBody>
      </p:sp>
      <p:sp>
        <p:nvSpPr>
          <p:cNvPr id="27" name="Text 18"/>
          <p:cNvSpPr txBox="1"/>
          <p:nvPr/>
        </p:nvSpPr>
        <p:spPr>
          <a:xfrm>
            <a:off x="452628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Options vote</a:t>
            </a:r>
            <a:endParaRPr lang="en-US" sz="2100" dirty="0"/>
          </a:p>
        </p:txBody>
      </p:sp>
      <p:sp>
        <p:nvSpPr>
          <p:cNvPr id="28" name="Text 19"/>
          <p:cNvSpPr txBox="1"/>
          <p:nvPr/>
        </p:nvSpPr>
        <p:spPr>
          <a:xfrm>
            <a:off x="452628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Phones vote on each boundary's options; two voices; vote again; the sponsor confirms.</a:t>
            </a:r>
            <a:endParaRPr lang="en-US" sz="1400" dirty="0"/>
          </a:p>
        </p:txBody>
      </p:sp>
      <p:pic>
        <p:nvPicPr>
          <p:cNvPr id="29" name="Image 7" descr="/private/tmp/claude-501/-Users-salehhamed-Outcome-Engine/91861432-41e2-4884-bc97-63c6dff2d021/scratchpad/wk/icons/TbClock-grey.png">    </p:cNvPr>
          <p:cNvPicPr>
            <a:picLocks noChangeAspect="1"/>
          </p:cNvPicPr>
          <p:nvPr/>
        </p:nvPicPr>
        <p:blipFill>
          <a:blip r:embed="rId11"/>
          <a:stretch>
            <a:fillRect/>
          </a:stretch>
        </p:blipFill>
        <p:spPr>
          <a:xfrm>
            <a:off x="4526280" y="4297680"/>
            <a:ext cx="274320" cy="274320"/>
          </a:xfrm>
          <a:prstGeom prst="rect">
            <a:avLst/>
          </a:prstGeom>
        </p:spPr>
      </p:pic>
      <p:sp>
        <p:nvSpPr>
          <p:cNvPr id="30" name="Text 20"/>
          <p:cNvSpPr txBox="1"/>
          <p:nvPr/>
        </p:nvSpPr>
        <p:spPr>
          <a:xfrm>
            <a:off x="489204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60 min</a:t>
            </a:r>
            <a:endParaRPr lang="en-US" sz="1200" dirty="0"/>
          </a:p>
        </p:txBody>
      </p:sp>
      <p:pic>
        <p:nvPicPr>
          <p:cNvPr id="31" name="Image 8" descr="/private/tmp/claude-501/-Users-salehhamed-Outcome-Engine/91861432-41e2-4884-bc97-63c6dff2d021/scratchpad/wk/icons/TbUsers-grey.png">    </p:cNvPr>
          <p:cNvPicPr>
            <a:picLocks noChangeAspect="1"/>
          </p:cNvPicPr>
          <p:nvPr/>
        </p:nvPicPr>
        <p:blipFill>
          <a:blip r:embed="rId12"/>
          <a:stretch>
            <a:fillRect/>
          </a:stretch>
        </p:blipFill>
        <p:spPr>
          <a:xfrm>
            <a:off x="4526280" y="4681728"/>
            <a:ext cx="274320" cy="274320"/>
          </a:xfrm>
          <a:prstGeom prst="rect">
            <a:avLst/>
          </a:prstGeom>
        </p:spPr>
      </p:pic>
      <p:sp>
        <p:nvSpPr>
          <p:cNvPr id="32" name="Text 21"/>
          <p:cNvSpPr txBox="1"/>
          <p:nvPr/>
        </p:nvSpPr>
        <p:spPr>
          <a:xfrm>
            <a:off x="489204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Each person</a:t>
            </a:r>
            <a:endParaRPr lang="en-US" sz="1200" dirty="0"/>
          </a:p>
        </p:txBody>
      </p:sp>
      <p:pic>
        <p:nvPicPr>
          <p:cNvPr id="33" name="Image 9" descr="/private/tmp/claude-501/-Users-salehhamed-Outcome-Engine/91861432-41e2-4884-bc97-63c6dff2d021/scratchpad/wk/icons/TbGauge-grey.png">    </p:cNvPr>
          <p:cNvPicPr>
            <a:picLocks noChangeAspect="1"/>
          </p:cNvPicPr>
          <p:nvPr/>
        </p:nvPicPr>
        <p:blipFill>
          <a:blip r:embed="rId13"/>
          <a:stretch>
            <a:fillRect/>
          </a:stretch>
        </p:blipFill>
        <p:spPr>
          <a:xfrm>
            <a:off x="4526280" y="5065776"/>
            <a:ext cx="274320" cy="274320"/>
          </a:xfrm>
          <a:prstGeom prst="rect">
            <a:avLst/>
          </a:prstGeom>
        </p:spPr>
      </p:pic>
      <p:sp>
        <p:nvSpPr>
          <p:cNvPr id="34" name="Text 22"/>
          <p:cNvSpPr txBox="1"/>
          <p:nvPr/>
        </p:nvSpPr>
        <p:spPr>
          <a:xfrm>
            <a:off x="489204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35" name="Text 23"/>
          <p:cNvSpPr txBox="1"/>
          <p:nvPr/>
        </p:nvSpPr>
        <p:spPr>
          <a:xfrm>
            <a:off x="452628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You want a clear record of the split.</a:t>
            </a:r>
            <a:endParaRPr lang="en-US" sz="1150" dirty="0"/>
          </a:p>
        </p:txBody>
      </p:sp>
      <p:pic>
        <p:nvPicPr>
          <p:cNvPr id="36" name="Image 10" descr="/private/tmp/claude-501/-Users-salehhamed-Outcome-Engine/91861432-41e2-4884-bc97-63c6dff2d021/scratchpad/wk/brand/clear.png">
            <a:hlinkClick r:id="rId15" tooltip="Option B" action="ppaction://hlinksldjump"/>
          </p:cNvPr>
          <p:cNvPicPr>
            <a:picLocks noChangeAspect="1"/>
          </p:cNvPicPr>
          <p:nvPr/>
        </p:nvPicPr>
        <p:blipFill>
          <a:blip r:embed="rId14"/>
          <a:stretch>
            <a:fillRect/>
          </a:stretch>
        </p:blipFill>
        <p:spPr>
          <a:xfrm>
            <a:off x="4297680" y="1463040"/>
            <a:ext cx="3566160" cy="4663440"/>
          </a:xfrm>
          <a:prstGeom prst="rect">
            <a:avLst/>
          </a:prstGeom>
        </p:spPr>
      </p:pic>
      <p:sp>
        <p:nvSpPr>
          <p:cNvPr id="37" name="Shape 24"/>
          <p:cNvSpPr/>
          <p:nvPr/>
        </p:nvSpPr>
        <p:spPr>
          <a:xfrm>
            <a:off x="8046720" y="1463040"/>
            <a:ext cx="3566160" cy="4663440"/>
          </a:xfrm>
          <a:prstGeom prst="roundRect">
            <a:avLst>
              <a:gd name="adj" fmla="val 2051"/>
            </a:avLst>
          </a:prstGeom>
          <a:solidFill>
            <a:srgbClr val="FFFFFF"/>
          </a:solidFill>
          <a:ln w="12700">
            <a:solidFill>
              <a:srgbClr val="D9DEE2"/>
            </a:solidFill>
            <a:prstDash val="solid"/>
          </a:ln>
        </p:spPr>
      </p:sp>
      <p:sp>
        <p:nvSpPr>
          <p:cNvPr id="38" name="Shape 25"/>
          <p:cNvSpPr/>
          <p:nvPr/>
        </p:nvSpPr>
        <p:spPr>
          <a:xfrm>
            <a:off x="8046720" y="1463040"/>
            <a:ext cx="3566160" cy="566928"/>
          </a:xfrm>
          <a:prstGeom prst="roundRect">
            <a:avLst>
              <a:gd name="adj" fmla="val 12903"/>
            </a:avLst>
          </a:prstGeom>
          <a:solidFill>
            <a:srgbClr val="36454F"/>
          </a:solidFill>
          <a:ln/>
        </p:spPr>
      </p:sp>
      <p:sp>
        <p:nvSpPr>
          <p:cNvPr id="39" name="Shape 26"/>
          <p:cNvSpPr/>
          <p:nvPr/>
        </p:nvSpPr>
        <p:spPr>
          <a:xfrm>
            <a:off x="8046720" y="1828800"/>
            <a:ext cx="3566160" cy="201168"/>
          </a:xfrm>
          <a:prstGeom prst="rect">
            <a:avLst/>
          </a:prstGeom>
          <a:solidFill>
            <a:srgbClr val="36454F"/>
          </a:solidFill>
          <a:ln/>
        </p:spPr>
      </p:sp>
      <p:pic>
        <p:nvPicPr>
          <p:cNvPr id="40" name="Image 11" descr="/private/tmp/claude-501/-Users-salehhamed-Outcome-Engine/91861432-41e2-4884-bc97-63c6dff2d021/scratchpad/wk/icons/TbMasksTheater-white.png">    </p:cNvPr>
          <p:cNvPicPr>
            <a:picLocks noChangeAspect="1"/>
          </p:cNvPicPr>
          <p:nvPr/>
        </p:nvPicPr>
        <p:blipFill>
          <a:blip r:embed="rId16"/>
          <a:stretch>
            <a:fillRect/>
          </a:stretch>
        </p:blipFill>
        <p:spPr>
          <a:xfrm>
            <a:off x="8211312" y="1554480"/>
            <a:ext cx="384048" cy="384048"/>
          </a:xfrm>
          <a:prstGeom prst="rect">
            <a:avLst/>
          </a:prstGeom>
        </p:spPr>
      </p:pic>
      <p:sp>
        <p:nvSpPr>
          <p:cNvPr id="41" name="Text 27"/>
          <p:cNvSpPr txBox="1"/>
          <p:nvPr/>
        </p:nvSpPr>
        <p:spPr>
          <a:xfrm>
            <a:off x="870508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C · CASES AND CONVERSATION</a:t>
            </a:r>
            <a:endParaRPr lang="en-US" sz="1150" dirty="0"/>
          </a:p>
        </p:txBody>
      </p:sp>
      <p:sp>
        <p:nvSpPr>
          <p:cNvPr id="42" name="Text 28"/>
          <p:cNvSpPr txBox="1"/>
          <p:nvPr/>
        </p:nvSpPr>
        <p:spPr>
          <a:xfrm>
            <a:off x="827532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Fishbowl</a:t>
            </a:r>
            <a:endParaRPr lang="en-US" sz="2100" dirty="0"/>
          </a:p>
        </p:txBody>
      </p:sp>
      <p:sp>
        <p:nvSpPr>
          <p:cNvPr id="43" name="Text 29"/>
          <p:cNvSpPr txBox="1"/>
          <p:nvPr/>
        </p:nvSpPr>
        <p:spPr>
          <a:xfrm>
            <a:off x="827532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Four chairs in the middle; anyone can take a chair to argue; the sponsor rules.</a:t>
            </a:r>
            <a:endParaRPr lang="en-US" sz="1400" dirty="0"/>
          </a:p>
        </p:txBody>
      </p:sp>
      <p:pic>
        <p:nvPicPr>
          <p:cNvPr id="44" name="Image 12" descr="/private/tmp/claude-501/-Users-salehhamed-Outcome-Engine/91861432-41e2-4884-bc97-63c6dff2d021/scratchpad/wk/icons/TbClock-grey.png">    </p:cNvPr>
          <p:cNvPicPr>
            <a:picLocks noChangeAspect="1"/>
          </p:cNvPicPr>
          <p:nvPr/>
        </p:nvPicPr>
        <p:blipFill>
          <a:blip r:embed="rId17"/>
          <a:stretch>
            <a:fillRect/>
          </a:stretch>
        </p:blipFill>
        <p:spPr>
          <a:xfrm>
            <a:off x="8275320" y="4297680"/>
            <a:ext cx="274320" cy="274320"/>
          </a:xfrm>
          <a:prstGeom prst="rect">
            <a:avLst/>
          </a:prstGeom>
        </p:spPr>
      </p:pic>
      <p:sp>
        <p:nvSpPr>
          <p:cNvPr id="45" name="Text 30"/>
          <p:cNvSpPr txBox="1"/>
          <p:nvPr/>
        </p:nvSpPr>
        <p:spPr>
          <a:xfrm>
            <a:off x="864108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60 min</a:t>
            </a:r>
            <a:endParaRPr lang="en-US" sz="1200" dirty="0"/>
          </a:p>
        </p:txBody>
      </p:sp>
      <p:pic>
        <p:nvPicPr>
          <p:cNvPr id="46" name="Image 13" descr="/private/tmp/claude-501/-Users-salehhamed-Outcome-Engine/91861432-41e2-4884-bc97-63c6dff2d021/scratchpad/wk/icons/TbUsers-grey.png">    </p:cNvPr>
          <p:cNvPicPr>
            <a:picLocks noChangeAspect="1"/>
          </p:cNvPicPr>
          <p:nvPr/>
        </p:nvPicPr>
        <p:blipFill>
          <a:blip r:embed="rId18"/>
          <a:stretch>
            <a:fillRect/>
          </a:stretch>
        </p:blipFill>
        <p:spPr>
          <a:xfrm>
            <a:off x="8275320" y="4681728"/>
            <a:ext cx="274320" cy="274320"/>
          </a:xfrm>
          <a:prstGeom prst="rect">
            <a:avLst/>
          </a:prstGeom>
        </p:spPr>
      </p:pic>
      <p:sp>
        <p:nvSpPr>
          <p:cNvPr id="47" name="Text 31"/>
          <p:cNvSpPr txBox="1"/>
          <p:nvPr/>
        </p:nvSpPr>
        <p:spPr>
          <a:xfrm>
            <a:off x="864108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Four in the middle, room around</a:t>
            </a:r>
            <a:endParaRPr lang="en-US" sz="1200" dirty="0"/>
          </a:p>
        </p:txBody>
      </p:sp>
      <p:pic>
        <p:nvPicPr>
          <p:cNvPr id="48" name="Image 14" descr="/private/tmp/claude-501/-Users-salehhamed-Outcome-Engine/91861432-41e2-4884-bc97-63c6dff2d021/scratchpad/wk/icons/TbGauge-grey.png">    </p:cNvPr>
          <p:cNvPicPr>
            <a:picLocks noChangeAspect="1"/>
          </p:cNvPicPr>
          <p:nvPr/>
        </p:nvPicPr>
        <p:blipFill>
          <a:blip r:embed="rId19"/>
          <a:stretch>
            <a:fillRect/>
          </a:stretch>
        </p:blipFill>
        <p:spPr>
          <a:xfrm>
            <a:off x="8275320" y="5065776"/>
            <a:ext cx="274320" cy="274320"/>
          </a:xfrm>
          <a:prstGeom prst="rect">
            <a:avLst/>
          </a:prstGeom>
        </p:spPr>
      </p:pic>
      <p:sp>
        <p:nvSpPr>
          <p:cNvPr id="49" name="Text 32"/>
          <p:cNvSpPr txBox="1"/>
          <p:nvPr/>
        </p:nvSpPr>
        <p:spPr>
          <a:xfrm>
            <a:off x="864108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High energy</a:t>
            </a:r>
            <a:endParaRPr lang="en-US" sz="1200" dirty="0"/>
          </a:p>
        </p:txBody>
      </p:sp>
      <p:sp>
        <p:nvSpPr>
          <p:cNvPr id="50" name="Text 33"/>
          <p:cNvSpPr txBox="1"/>
          <p:nvPr/>
        </p:nvSpPr>
        <p:spPr>
          <a:xfrm>
            <a:off x="827532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room has strong, informed views.</a:t>
            </a:r>
            <a:endParaRPr lang="en-US" sz="1150" dirty="0"/>
          </a:p>
        </p:txBody>
      </p:sp>
      <p:pic>
        <p:nvPicPr>
          <p:cNvPr id="51" name="Image 15" descr="/private/tmp/claude-501/-Users-salehhamed-Outcome-Engine/91861432-41e2-4884-bc97-63c6dff2d021/scratchpad/wk/brand/clear.png">
            <a:hlinkClick r:id="rId21" tooltip="Option C" action="ppaction://hlinksldjump"/>
          </p:cNvPr>
          <p:cNvPicPr>
            <a:picLocks noChangeAspect="1"/>
          </p:cNvPicPr>
          <p:nvPr/>
        </p:nvPicPr>
        <p:blipFill>
          <a:blip r:embed="rId20"/>
          <a:stretch>
            <a:fillRect/>
          </a:stretch>
        </p:blipFill>
        <p:spPr>
          <a:xfrm>
            <a:off x="8046720" y="1463040"/>
            <a:ext cx="3566160" cy="4663440"/>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OPTION A · HANDS-ON · BOUNDARIES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Take a side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10:45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154</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For each boundary, stand by the option you back; one voice per option; the sponsor rules.</a:t>
            </a:r>
            <a:endParaRPr lang="en-US" sz="1900" dirty="0"/>
          </a:p>
        </p:txBody>
      </p:sp>
      <p:sp>
        <p:nvSpPr>
          <p:cNvPr id="8" name="Shape 5"/>
          <p:cNvSpPr/>
          <p:nvPr/>
        </p:nvSpPr>
        <p:spPr>
          <a:xfrm>
            <a:off x="548640" y="2240280"/>
            <a:ext cx="887959" cy="1417320"/>
          </a:xfrm>
          <a:prstGeom prst="rect">
            <a:avLst/>
          </a:prstGeom>
          <a:solidFill>
            <a:srgbClr val="287079"/>
          </a:solidFill>
          <a:ln/>
        </p:spPr>
      </p:sp>
      <p:sp>
        <p:nvSpPr>
          <p:cNvPr id="9" name="Text 6"/>
          <p:cNvSpPr txBox="1"/>
          <p:nvPr/>
        </p:nvSpPr>
        <p:spPr>
          <a:xfrm>
            <a:off x="640080" y="2331720"/>
            <a:ext cx="74165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0" name="Text 7"/>
          <p:cNvSpPr txBox="1"/>
          <p:nvPr/>
        </p:nvSpPr>
        <p:spPr>
          <a:xfrm>
            <a:off x="640080" y="2651760"/>
            <a:ext cx="778231"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Four boundaries</a:t>
            </a:r>
            <a:endParaRPr lang="en-US" sz="950" dirty="0"/>
          </a:p>
        </p:txBody>
      </p:sp>
      <p:sp>
        <p:nvSpPr>
          <p:cNvPr id="11" name="Shape 8"/>
          <p:cNvSpPr/>
          <p:nvPr/>
        </p:nvSpPr>
        <p:spPr>
          <a:xfrm>
            <a:off x="1473175" y="2240280"/>
            <a:ext cx="8284235" cy="1417320"/>
          </a:xfrm>
          <a:prstGeom prst="rect">
            <a:avLst/>
          </a:prstGeom>
          <a:solidFill>
            <a:srgbClr val="5C8F95"/>
          </a:solidFill>
          <a:ln/>
        </p:spPr>
      </p:sp>
      <p:sp>
        <p:nvSpPr>
          <p:cNvPr id="12" name="Text 9"/>
          <p:cNvSpPr txBox="1"/>
          <p:nvPr/>
        </p:nvSpPr>
        <p:spPr>
          <a:xfrm>
            <a:off x="1564615" y="2331720"/>
            <a:ext cx="8137931"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45 min</a:t>
            </a:r>
            <a:endParaRPr lang="en-US" sz="1150" dirty="0"/>
          </a:p>
        </p:txBody>
      </p:sp>
      <p:sp>
        <p:nvSpPr>
          <p:cNvPr id="13" name="Text 10"/>
          <p:cNvSpPr txBox="1"/>
          <p:nvPr/>
        </p:nvSpPr>
        <p:spPr>
          <a:xfrm>
            <a:off x="1564615" y="2651760"/>
            <a:ext cx="8174507"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Take a side ×4</a:t>
            </a:r>
            <a:endParaRPr lang="en-US" sz="1500" dirty="0"/>
          </a:p>
        </p:txBody>
      </p:sp>
      <p:sp>
        <p:nvSpPr>
          <p:cNvPr id="14" name="Shape 11"/>
          <p:cNvSpPr/>
          <p:nvPr/>
        </p:nvSpPr>
        <p:spPr>
          <a:xfrm>
            <a:off x="9793986" y="2240280"/>
            <a:ext cx="1812493" cy="1417320"/>
          </a:xfrm>
          <a:prstGeom prst="rect">
            <a:avLst/>
          </a:prstGeom>
          <a:solidFill>
            <a:srgbClr val="287079"/>
          </a:solidFill>
          <a:ln/>
        </p:spPr>
      </p:sp>
      <p:sp>
        <p:nvSpPr>
          <p:cNvPr id="15" name="Text 12"/>
          <p:cNvSpPr txBox="1"/>
          <p:nvPr/>
        </p:nvSpPr>
        <p:spPr>
          <a:xfrm>
            <a:off x="9885426"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6" name="Text 13"/>
          <p:cNvSpPr txBox="1"/>
          <p:nvPr/>
        </p:nvSpPr>
        <p:spPr>
          <a:xfrm>
            <a:off x="9885426"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Read back</a:t>
            </a:r>
            <a:endParaRPr lang="en-US" sz="1500" dirty="0"/>
          </a:p>
        </p:txBody>
      </p:sp>
      <p:sp>
        <p:nvSpPr>
          <p:cNvPr id="17" name="Shape 14"/>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8"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9" name="Text 15"/>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0" name="Text 16"/>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Whole room, standing</a:t>
            </a:r>
            <a:endParaRPr lang="en-US" sz="1300" dirty="0"/>
          </a:p>
        </p:txBody>
      </p:sp>
      <p:sp>
        <p:nvSpPr>
          <p:cNvPr id="21" name="Shape 17"/>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2"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3" name="Text 18"/>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4" name="Text 19"/>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Four boundary decisions, or owners and dates.</a:t>
            </a:r>
            <a:endParaRPr lang="en-US" sz="1300" dirty="0"/>
          </a:p>
        </p:txBody>
      </p:sp>
      <p:sp>
        <p:nvSpPr>
          <p:cNvPr id="25" name="Shape 20"/>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6"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27" name="Text 21"/>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28" name="Text 22"/>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0">
  <p:cSld name="Slide 1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FF462D"/>
                </a:solidFill>
                <a:latin typeface="Arial" pitchFamily="34" charset="0"/>
                <a:ea typeface="Arial" pitchFamily="34" charset="-122"/>
                <a:cs typeface="Arial" pitchFamily="34" charset="-120"/>
              </a:rPr>
              <a:t>OPTION B · LIVE VOTING · BOUNDARIES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Options vote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10:45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155</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Phones vote on each boundary's options; two voices; vote again; the sponsor confirms.</a:t>
            </a:r>
            <a:endParaRPr lang="en-US" sz="1900" dirty="0"/>
          </a:p>
        </p:txBody>
      </p:sp>
      <p:sp>
        <p:nvSpPr>
          <p:cNvPr id="8" name="Shape 5"/>
          <p:cNvSpPr/>
          <p:nvPr/>
        </p:nvSpPr>
        <p:spPr>
          <a:xfrm>
            <a:off x="548640" y="2240280"/>
            <a:ext cx="887959" cy="1417320"/>
          </a:xfrm>
          <a:prstGeom prst="rect">
            <a:avLst/>
          </a:prstGeom>
          <a:solidFill>
            <a:srgbClr val="FF462D"/>
          </a:solidFill>
          <a:ln/>
        </p:spPr>
      </p:sp>
      <p:sp>
        <p:nvSpPr>
          <p:cNvPr id="9" name="Text 6"/>
          <p:cNvSpPr txBox="1"/>
          <p:nvPr/>
        </p:nvSpPr>
        <p:spPr>
          <a:xfrm>
            <a:off x="640080" y="2331720"/>
            <a:ext cx="74165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0" name="Text 7"/>
          <p:cNvSpPr txBox="1"/>
          <p:nvPr/>
        </p:nvSpPr>
        <p:spPr>
          <a:xfrm>
            <a:off x="640080" y="2651760"/>
            <a:ext cx="778231"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Four boundaries</a:t>
            </a:r>
            <a:endParaRPr lang="en-US" sz="950" dirty="0"/>
          </a:p>
        </p:txBody>
      </p:sp>
      <p:sp>
        <p:nvSpPr>
          <p:cNvPr id="11" name="Shape 8"/>
          <p:cNvSpPr/>
          <p:nvPr/>
        </p:nvSpPr>
        <p:spPr>
          <a:xfrm>
            <a:off x="1473175" y="2240280"/>
            <a:ext cx="7359701" cy="1417320"/>
          </a:xfrm>
          <a:prstGeom prst="rect">
            <a:avLst/>
          </a:prstGeom>
          <a:solidFill>
            <a:srgbClr val="FF8A78"/>
          </a:solidFill>
          <a:ln/>
        </p:spPr>
      </p:sp>
      <p:sp>
        <p:nvSpPr>
          <p:cNvPr id="12" name="Text 9"/>
          <p:cNvSpPr txBox="1"/>
          <p:nvPr/>
        </p:nvSpPr>
        <p:spPr>
          <a:xfrm>
            <a:off x="1564615" y="2331720"/>
            <a:ext cx="7213397"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40 min</a:t>
            </a:r>
            <a:endParaRPr lang="en-US" sz="1150" dirty="0"/>
          </a:p>
        </p:txBody>
      </p:sp>
      <p:sp>
        <p:nvSpPr>
          <p:cNvPr id="13" name="Text 10"/>
          <p:cNvSpPr txBox="1"/>
          <p:nvPr/>
        </p:nvSpPr>
        <p:spPr>
          <a:xfrm>
            <a:off x="1564615" y="2651760"/>
            <a:ext cx="7249973"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Vote ×4</a:t>
            </a:r>
            <a:endParaRPr lang="en-US" sz="1500" dirty="0"/>
          </a:p>
        </p:txBody>
      </p:sp>
      <p:sp>
        <p:nvSpPr>
          <p:cNvPr id="14" name="Shape 11"/>
          <p:cNvSpPr/>
          <p:nvPr/>
        </p:nvSpPr>
        <p:spPr>
          <a:xfrm>
            <a:off x="8869451" y="2240280"/>
            <a:ext cx="2737028" cy="1417320"/>
          </a:xfrm>
          <a:prstGeom prst="rect">
            <a:avLst/>
          </a:prstGeom>
          <a:solidFill>
            <a:srgbClr val="FF462D"/>
          </a:solidFill>
          <a:ln/>
        </p:spPr>
      </p:sp>
      <p:sp>
        <p:nvSpPr>
          <p:cNvPr id="15" name="Text 12"/>
          <p:cNvSpPr txBox="1"/>
          <p:nvPr/>
        </p:nvSpPr>
        <p:spPr>
          <a:xfrm>
            <a:off x="8960891" y="2331720"/>
            <a:ext cx="2590724"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6" name="Text 13"/>
          <p:cNvSpPr txBox="1"/>
          <p:nvPr/>
        </p:nvSpPr>
        <p:spPr>
          <a:xfrm>
            <a:off x="8960891" y="2651760"/>
            <a:ext cx="2627300"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Read back</a:t>
            </a:r>
            <a:endParaRPr lang="en-US" sz="1500" dirty="0"/>
          </a:p>
        </p:txBody>
      </p:sp>
      <p:sp>
        <p:nvSpPr>
          <p:cNvPr id="17" name="Shape 14"/>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8"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9" name="Text 15"/>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0" name="Text 16"/>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Each person</a:t>
            </a:r>
            <a:endParaRPr lang="en-US" sz="1300" dirty="0"/>
          </a:p>
        </p:txBody>
      </p:sp>
      <p:sp>
        <p:nvSpPr>
          <p:cNvPr id="21" name="Shape 17"/>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2"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3" name="Text 18"/>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4" name="Text 19"/>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Votes and decisions, saved in the room tool.</a:t>
            </a:r>
            <a:endParaRPr lang="en-US" sz="1300" dirty="0"/>
          </a:p>
        </p:txBody>
      </p:sp>
      <p:sp>
        <p:nvSpPr>
          <p:cNvPr id="25" name="Shape 20"/>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26"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27" name="Text 21"/>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28" name="Text 22"/>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0">
  <p:cSld name="Slide 1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36454F"/>
                </a:solidFill>
                <a:latin typeface="Arial" pitchFamily="34" charset="0"/>
                <a:ea typeface="Arial" pitchFamily="34" charset="-122"/>
                <a:cs typeface="Arial" pitchFamily="34" charset="-120"/>
              </a:rPr>
              <a:t>OPTION C · CASES AND CONVERSATION · BOUNDARIES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Fishbowl</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10:45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156</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Four chairs in the middle; anyone can take a chair to argue; the sponsor rules.</a:t>
            </a:r>
            <a:endParaRPr lang="en-US" sz="1900" dirty="0"/>
          </a:p>
        </p:txBody>
      </p:sp>
      <p:sp>
        <p:nvSpPr>
          <p:cNvPr id="8" name="Shape 5"/>
          <p:cNvSpPr/>
          <p:nvPr/>
        </p:nvSpPr>
        <p:spPr>
          <a:xfrm>
            <a:off x="548640" y="2240280"/>
            <a:ext cx="887959" cy="1417320"/>
          </a:xfrm>
          <a:prstGeom prst="rect">
            <a:avLst/>
          </a:prstGeom>
          <a:solidFill>
            <a:srgbClr val="36454F"/>
          </a:solidFill>
          <a:ln/>
        </p:spPr>
      </p:sp>
      <p:sp>
        <p:nvSpPr>
          <p:cNvPr id="9" name="Text 6"/>
          <p:cNvSpPr txBox="1"/>
          <p:nvPr/>
        </p:nvSpPr>
        <p:spPr>
          <a:xfrm>
            <a:off x="640080" y="2331720"/>
            <a:ext cx="74165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0" name="Text 7"/>
          <p:cNvSpPr txBox="1"/>
          <p:nvPr/>
        </p:nvSpPr>
        <p:spPr>
          <a:xfrm>
            <a:off x="640080" y="2651760"/>
            <a:ext cx="778231"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Four boundaries</a:t>
            </a:r>
            <a:endParaRPr lang="en-US" sz="950" dirty="0"/>
          </a:p>
        </p:txBody>
      </p:sp>
      <p:sp>
        <p:nvSpPr>
          <p:cNvPr id="11" name="Shape 8"/>
          <p:cNvSpPr/>
          <p:nvPr/>
        </p:nvSpPr>
        <p:spPr>
          <a:xfrm>
            <a:off x="1473175" y="2240280"/>
            <a:ext cx="8284235" cy="1417320"/>
          </a:xfrm>
          <a:prstGeom prst="rect">
            <a:avLst/>
          </a:prstGeom>
          <a:solidFill>
            <a:srgbClr val="6B7B86"/>
          </a:solidFill>
          <a:ln/>
        </p:spPr>
      </p:sp>
      <p:sp>
        <p:nvSpPr>
          <p:cNvPr id="12" name="Text 9"/>
          <p:cNvSpPr txBox="1"/>
          <p:nvPr/>
        </p:nvSpPr>
        <p:spPr>
          <a:xfrm>
            <a:off x="1564615" y="2331720"/>
            <a:ext cx="8137931"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45 min</a:t>
            </a:r>
            <a:endParaRPr lang="en-US" sz="1150" dirty="0"/>
          </a:p>
        </p:txBody>
      </p:sp>
      <p:sp>
        <p:nvSpPr>
          <p:cNvPr id="13" name="Text 10"/>
          <p:cNvSpPr txBox="1"/>
          <p:nvPr/>
        </p:nvSpPr>
        <p:spPr>
          <a:xfrm>
            <a:off x="1564615" y="2651760"/>
            <a:ext cx="8174507"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Fishbowl ×4</a:t>
            </a:r>
            <a:endParaRPr lang="en-US" sz="1500" dirty="0"/>
          </a:p>
        </p:txBody>
      </p:sp>
      <p:sp>
        <p:nvSpPr>
          <p:cNvPr id="14" name="Shape 11"/>
          <p:cNvSpPr/>
          <p:nvPr/>
        </p:nvSpPr>
        <p:spPr>
          <a:xfrm>
            <a:off x="9793986" y="2240280"/>
            <a:ext cx="1812493" cy="1417320"/>
          </a:xfrm>
          <a:prstGeom prst="rect">
            <a:avLst/>
          </a:prstGeom>
          <a:solidFill>
            <a:srgbClr val="36454F"/>
          </a:solidFill>
          <a:ln/>
        </p:spPr>
      </p:sp>
      <p:sp>
        <p:nvSpPr>
          <p:cNvPr id="15" name="Text 12"/>
          <p:cNvSpPr txBox="1"/>
          <p:nvPr/>
        </p:nvSpPr>
        <p:spPr>
          <a:xfrm>
            <a:off x="9885426" y="2331720"/>
            <a:ext cx="1666189"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6" name="Text 13"/>
          <p:cNvSpPr txBox="1"/>
          <p:nvPr/>
        </p:nvSpPr>
        <p:spPr>
          <a:xfrm>
            <a:off x="9885426" y="2651760"/>
            <a:ext cx="1702765"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Read back</a:t>
            </a:r>
            <a:endParaRPr lang="en-US" sz="1500" dirty="0"/>
          </a:p>
        </p:txBody>
      </p:sp>
      <p:sp>
        <p:nvSpPr>
          <p:cNvPr id="17" name="Shape 14"/>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18"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19" name="Text 15"/>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0" name="Text 16"/>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Four in the middle, room around</a:t>
            </a:r>
            <a:endParaRPr lang="en-US" sz="1300" dirty="0"/>
          </a:p>
        </p:txBody>
      </p:sp>
      <p:sp>
        <p:nvSpPr>
          <p:cNvPr id="21" name="Shape 17"/>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2"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3" name="Text 18"/>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4" name="Text 19"/>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Four decisions, or owners and dates.</a:t>
            </a:r>
            <a:endParaRPr lang="en-US" sz="1300" dirty="0"/>
          </a:p>
        </p:txBody>
      </p:sp>
      <p:sp>
        <p:nvSpPr>
          <p:cNvPr id="25" name="Shape 20"/>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6"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27" name="Text 21"/>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28" name="Text 22"/>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BOUNDARIES · FILL IN LIVE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Boundary decisions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10:45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157</a:t>
            </a:r>
            <a:endParaRPr lang="en-US" sz="1000" dirty="0"/>
          </a:p>
        </p:txBody>
      </p:sp>
      <p:graphicFrame>
        <p:nvGraphicFramePr>
          <p:cNvPr id="15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4206240"/>
                <a:gridCol w="3657600"/>
                <a:gridCol w="1737360"/>
                <a:gridCol w="1490472"/>
              </a:tblGrid>
              <a:tr h="731520">
                <a:tc>
                  <a:txBody>
                    <a:bodyPr/>
                    <a:lstStyle/>
                    <a:p>
                      <a:pPr indent="0" marL="0">
                        <a:buNone/>
                      </a:pPr>
                      <a:r>
                        <a:rPr lang="en-US" sz="1500" b="1" dirty="0">
                          <a:solidFill>
                            <a:srgbClr val="FFFFFF"/>
                          </a:solidFill>
                          <a:latin typeface="Arial" pitchFamily="34" charset="0"/>
                          <a:ea typeface="Arial" pitchFamily="34" charset="-122"/>
                          <a:cs typeface="Arial" pitchFamily="34" charset="-120"/>
                        </a:rPr>
                        <a:t>Boundary</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Decision</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Owner</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Date, if open</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r>
              <a:tr h="731520">
                <a:tc>
                  <a:txBody>
                    <a:bodyPr/>
                    <a:lstStyle/>
                    <a:p>
                      <a:pPr indent="0" marL="0">
                        <a:buNone/>
                      </a:pPr>
                      <a:r>
                        <a:rPr lang="en-US" sz="1600" b="1" dirty="0">
                          <a:solidFill>
                            <a:srgbClr val="1F2A33"/>
                          </a:solidFill>
                          <a:latin typeface="Arial" pitchFamily="34" charset="0"/>
                          <a:ea typeface="Arial" pitchFamily="34" charset="-122"/>
                          <a:cs typeface="Arial" pitchFamily="34" charset="-120"/>
                        </a:rPr>
                        <a:t>Who confirms that a shortfall is a real gap?</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731520">
                <a:tc>
                  <a:txBody>
                    <a:bodyPr/>
                    <a:lstStyle/>
                    <a:p>
                      <a:pPr indent="0" marL="0">
                        <a:buNone/>
                      </a:pPr>
                      <a:r>
                        <a:rPr lang="en-US" sz="1600" b="1" dirty="0">
                          <a:solidFill>
                            <a:srgbClr val="1F2A33"/>
                          </a:solidFill>
                          <a:latin typeface="Arial" pitchFamily="34" charset="0"/>
                          <a:ea typeface="Arial" pitchFamily="34" charset="-122"/>
                          <a:cs typeface="Arial" pitchFamily="34" charset="-120"/>
                        </a:rPr>
                        <a:t>When records disagree about who is free, which one wins?</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731520">
                <a:tc>
                  <a:txBody>
                    <a:bodyPr/>
                    <a:lstStyle/>
                    <a:p>
                      <a:pPr indent="0" marL="0">
                        <a:buNone/>
                      </a:pPr>
                      <a:r>
                        <a:rPr lang="en-US" sz="1600" b="1" dirty="0">
                          <a:solidFill>
                            <a:srgbClr val="1F2A33"/>
                          </a:solidFill>
                          <a:latin typeface="Arial" pitchFamily="34" charset="0"/>
                          <a:ea typeface="Arial" pitchFamily="34" charset="-122"/>
                          <a:cs typeface="Arial" pitchFamily="34" charset="-120"/>
                        </a:rPr>
                        <a:t>Where does Contract-to-Capacity hand over?</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731520">
                <a:tc>
                  <a:txBody>
                    <a:bodyPr/>
                    <a:lstStyle/>
                    <a:p>
                      <a:pPr indent="0" marL="0">
                        <a:buNone/>
                      </a:pPr>
                      <a:r>
                        <a:rPr lang="en-US" sz="1600" b="1" dirty="0">
                          <a:solidFill>
                            <a:srgbClr val="1F2A33"/>
                          </a:solidFill>
                          <a:latin typeface="Arial" pitchFamily="34" charset="0"/>
                          <a:ea typeface="Arial" pitchFamily="34" charset="-122"/>
                          <a:cs typeface="Arial" pitchFamily="34" charset="-120"/>
                        </a:rPr>
                        <a:t>What may be held before signature, and who approves?</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bl>
          </a:graphicData>
        </a:graphic>
      </p:graphicFrame>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QUICK CHECK · HANDS UP OR PHONES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A boundary is still disputed at the end of the session. What happens?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10:45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158</a:t>
            </a:r>
            <a:endParaRPr lang="en-US" sz="1000" dirty="0"/>
          </a:p>
        </p:txBody>
      </p:sp>
      <p:sp>
        <p:nvSpPr>
          <p:cNvPr id="7" name="Shape 4"/>
          <p:cNvSpPr/>
          <p:nvPr/>
        </p:nvSpPr>
        <p:spPr>
          <a:xfrm>
            <a:off x="548640" y="1828800"/>
            <a:ext cx="11091672" cy="1005840"/>
          </a:xfrm>
          <a:prstGeom prst="roundRect">
            <a:avLst>
              <a:gd name="adj" fmla="val 7273"/>
            </a:avLst>
          </a:prstGeom>
          <a:solidFill>
            <a:srgbClr val="FFFFFF"/>
          </a:solidFill>
          <a:ln w="12700">
            <a:solidFill>
              <a:srgbClr val="D9DEE2"/>
            </a:solidFill>
            <a:prstDash val="solid"/>
          </a:ln>
        </p:spPr>
      </p:sp>
      <p:sp>
        <p:nvSpPr>
          <p:cNvPr id="8" name="Shape 5"/>
          <p:cNvSpPr/>
          <p:nvPr/>
        </p:nvSpPr>
        <p:spPr>
          <a:xfrm>
            <a:off x="777240" y="2057400"/>
            <a:ext cx="548640" cy="548640"/>
          </a:xfrm>
          <a:prstGeom prst="ellipse">
            <a:avLst/>
          </a:prstGeom>
          <a:solidFill>
            <a:srgbClr val="36454F"/>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It waits for the next workshop</a:t>
            </a:r>
            <a:endParaRPr lang="en-US" sz="2000" dirty="0"/>
          </a:p>
        </p:txBody>
      </p:sp>
      <p:sp>
        <p:nvSpPr>
          <p:cNvPr id="11" name="Shape 8"/>
          <p:cNvSpPr/>
          <p:nvPr/>
        </p:nvSpPr>
        <p:spPr>
          <a:xfrm>
            <a:off x="548640" y="3017520"/>
            <a:ext cx="11091672" cy="1005840"/>
          </a:xfrm>
          <a:prstGeom prst="roundRect">
            <a:avLst>
              <a:gd name="adj" fmla="val 7273"/>
            </a:avLst>
          </a:prstGeom>
          <a:solidFill>
            <a:srgbClr val="FFFFFF"/>
          </a:solidFill>
          <a:ln w="12700">
            <a:solidFill>
              <a:srgbClr val="D9DEE2"/>
            </a:solidFill>
            <a:prstDash val="solid"/>
          </a:ln>
        </p:spPr>
      </p:sp>
      <p:sp>
        <p:nvSpPr>
          <p:cNvPr id="12" name="Shape 9"/>
          <p:cNvSpPr/>
          <p:nvPr/>
        </p:nvSpPr>
        <p:spPr>
          <a:xfrm>
            <a:off x="777240" y="3246120"/>
            <a:ext cx="548640" cy="548640"/>
          </a:xfrm>
          <a:prstGeom prst="ellipse">
            <a:avLst/>
          </a:prstGeom>
          <a:solidFill>
            <a:srgbClr val="36454F"/>
          </a:solidFill>
          <a:ln/>
        </p:spPr>
      </p:sp>
      <p:sp>
        <p:nvSpPr>
          <p:cNvPr id="13"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4"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The draft's option is used for now</a:t>
            </a:r>
            <a:endParaRPr lang="en-US" sz="2000" dirty="0"/>
          </a:p>
        </p:txBody>
      </p:sp>
      <p:sp>
        <p:nvSpPr>
          <p:cNvPr id="15" name="Shape 12"/>
          <p:cNvSpPr/>
          <p:nvPr/>
        </p:nvSpPr>
        <p:spPr>
          <a:xfrm>
            <a:off x="548640" y="4206240"/>
            <a:ext cx="11091672" cy="1005840"/>
          </a:xfrm>
          <a:prstGeom prst="roundRect">
            <a:avLst>
              <a:gd name="adj" fmla="val 7273"/>
            </a:avLst>
          </a:prstGeom>
          <a:solidFill>
            <a:srgbClr val="FFFFFF"/>
          </a:solidFill>
          <a:ln w="12700">
            <a:solidFill>
              <a:srgbClr val="D9DEE2"/>
            </a:solidFill>
            <a:prstDash val="solid"/>
          </a:ln>
        </p:spPr>
      </p:sp>
      <p:sp>
        <p:nvSpPr>
          <p:cNvPr id="16" name="Shape 13"/>
          <p:cNvSpPr/>
          <p:nvPr/>
        </p:nvSpPr>
        <p:spPr>
          <a:xfrm>
            <a:off x="777240" y="4434840"/>
            <a:ext cx="548640" cy="548640"/>
          </a:xfrm>
          <a:prstGeom prst="ellipse">
            <a:avLst/>
          </a:prstGeom>
          <a:solidFill>
            <a:srgbClr val="36454F"/>
          </a:solidFill>
          <a:ln/>
        </p:spPr>
      </p:sp>
      <p:sp>
        <p:nvSpPr>
          <p:cNvPr id="17"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8"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It gets a named owner and a date</a:t>
            </a:r>
            <a:endParaRPr lang="en-US" sz="20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CHECK · THE ANSWER</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A boundary is still disputed at the end of the session. What happens?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10:45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159</a:t>
            </a:r>
            <a:endParaRPr lang="en-US" sz="1000" dirty="0"/>
          </a:p>
        </p:txBody>
      </p:sp>
      <p:sp>
        <p:nvSpPr>
          <p:cNvPr id="7" name="Shape 4"/>
          <p:cNvSpPr/>
          <p:nvPr/>
        </p:nvSpPr>
        <p:spPr>
          <a:xfrm>
            <a:off x="548640" y="1828800"/>
            <a:ext cx="11091672" cy="1005840"/>
          </a:xfrm>
          <a:prstGeom prst="roundRect">
            <a:avLst>
              <a:gd name="adj" fmla="val 7273"/>
            </a:avLst>
          </a:prstGeom>
          <a:solidFill>
            <a:srgbClr val="FFFFFF"/>
          </a:solidFill>
          <a:ln w="12700">
            <a:solidFill>
              <a:srgbClr val="D9DEE2"/>
            </a:solidFill>
            <a:prstDash val="solid"/>
          </a:ln>
        </p:spPr>
      </p:sp>
      <p:sp>
        <p:nvSpPr>
          <p:cNvPr id="8" name="Shape 5"/>
          <p:cNvSpPr/>
          <p:nvPr/>
        </p:nvSpPr>
        <p:spPr>
          <a:xfrm>
            <a:off x="777240" y="2057400"/>
            <a:ext cx="548640" cy="548640"/>
          </a:xfrm>
          <a:prstGeom prst="ellipse">
            <a:avLst/>
          </a:prstGeom>
          <a:solidFill>
            <a:srgbClr val="8A94A4"/>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It waits for the next workshop</a:t>
            </a:r>
            <a:endParaRPr lang="en-US" sz="2000" dirty="0"/>
          </a:p>
        </p:txBody>
      </p:sp>
      <p:sp>
        <p:nvSpPr>
          <p:cNvPr id="11" name="Shape 8"/>
          <p:cNvSpPr/>
          <p:nvPr/>
        </p:nvSpPr>
        <p:spPr>
          <a:xfrm>
            <a:off x="548640" y="3017520"/>
            <a:ext cx="11091672" cy="1005840"/>
          </a:xfrm>
          <a:prstGeom prst="roundRect">
            <a:avLst>
              <a:gd name="adj" fmla="val 7273"/>
            </a:avLst>
          </a:prstGeom>
          <a:solidFill>
            <a:srgbClr val="FFFFFF"/>
          </a:solidFill>
          <a:ln w="12700">
            <a:solidFill>
              <a:srgbClr val="D9DEE2"/>
            </a:solidFill>
            <a:prstDash val="solid"/>
          </a:ln>
        </p:spPr>
      </p:sp>
      <p:sp>
        <p:nvSpPr>
          <p:cNvPr id="12" name="Shape 9"/>
          <p:cNvSpPr/>
          <p:nvPr/>
        </p:nvSpPr>
        <p:spPr>
          <a:xfrm>
            <a:off x="777240" y="3246120"/>
            <a:ext cx="548640" cy="548640"/>
          </a:xfrm>
          <a:prstGeom prst="ellipse">
            <a:avLst/>
          </a:prstGeom>
          <a:solidFill>
            <a:srgbClr val="8A94A4"/>
          </a:solidFill>
          <a:ln/>
        </p:spPr>
      </p:sp>
      <p:sp>
        <p:nvSpPr>
          <p:cNvPr id="13"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4"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The draft's option is used for now</a:t>
            </a:r>
            <a:endParaRPr lang="en-US" sz="2000" dirty="0"/>
          </a:p>
        </p:txBody>
      </p:sp>
      <p:sp>
        <p:nvSpPr>
          <p:cNvPr id="15" name="Shape 12"/>
          <p:cNvSpPr/>
          <p:nvPr/>
        </p:nvSpPr>
        <p:spPr>
          <a:xfrm>
            <a:off x="548640" y="4206240"/>
            <a:ext cx="11091672" cy="1005840"/>
          </a:xfrm>
          <a:prstGeom prst="roundRect">
            <a:avLst>
              <a:gd name="adj" fmla="val 7273"/>
            </a:avLst>
          </a:prstGeom>
          <a:solidFill>
            <a:srgbClr val="E3F1E9"/>
          </a:solidFill>
          <a:ln w="12700">
            <a:solidFill>
              <a:srgbClr val="2E8656"/>
            </a:solidFill>
            <a:prstDash val="solid"/>
          </a:ln>
        </p:spPr>
      </p:sp>
      <p:sp>
        <p:nvSpPr>
          <p:cNvPr id="16" name="Shape 13"/>
          <p:cNvSpPr/>
          <p:nvPr/>
        </p:nvSpPr>
        <p:spPr>
          <a:xfrm>
            <a:off x="777240" y="4434840"/>
            <a:ext cx="548640" cy="548640"/>
          </a:xfrm>
          <a:prstGeom prst="ellipse">
            <a:avLst/>
          </a:prstGeom>
          <a:solidFill>
            <a:srgbClr val="2E8656"/>
          </a:solidFill>
          <a:ln/>
        </p:spPr>
      </p:sp>
      <p:sp>
        <p:nvSpPr>
          <p:cNvPr id="17"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8"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It gets a named owner and a date</a:t>
            </a:r>
            <a:endParaRPr lang="en-US" sz="2000" dirty="0"/>
          </a:p>
        </p:txBody>
      </p:sp>
      <p:pic>
        <p:nvPicPr>
          <p:cNvPr id="19" name="Image 1" descr="/private/tmp/claude-501/-Users-salehhamed-Outcome-Engine/91861432-41e2-4884-bc97-63c6dff2d021/scratchpad/wk/icons/TbCircleCheck-green.png">    </p:cNvPr>
          <p:cNvPicPr>
            <a:picLocks noChangeAspect="1"/>
          </p:cNvPicPr>
          <p:nvPr/>
        </p:nvPicPr>
        <p:blipFill>
          <a:blip r:embed="rId4"/>
          <a:stretch>
            <a:fillRect/>
          </a:stretch>
        </p:blipFill>
        <p:spPr>
          <a:xfrm>
            <a:off x="10927080" y="4434840"/>
            <a:ext cx="548640" cy="548640"/>
          </a:xfrm>
          <a:prstGeom prst="rect">
            <a:avLst/>
          </a:prstGeom>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36454F"/>
          </a:solidFill>
          <a:ln/>
        </p:spPr>
      </p:sp>
      <p:sp>
        <p:nvSpPr>
          <p:cNvPr id="3" name="Text 1"/>
          <p:cNvSpPr txBox="1"/>
          <p:nvPr/>
        </p:nvSpPr>
        <p:spPr>
          <a:xfrm>
            <a:off x="548640" y="548640"/>
            <a:ext cx="3474720" cy="274320"/>
          </a:xfrm>
          <a:prstGeom prst="rect">
            <a:avLst/>
          </a:prstGeom>
          <a:noFill/>
          <a:ln/>
        </p:spPr>
        <p:txBody>
          <a:bodyPr wrap="square" lIns="0" tIns="0" rIns="0" bIns="0" rtlCol="0" anchor="t"/>
          <a:lstStyle/>
          <a:p>
            <a:pPr indent="0" marL="0">
              <a:buNone/>
            </a:pPr>
            <a:r>
              <a:rPr lang="en-US" sz="1100" b="1" spc="150" kern="0" dirty="0">
                <a:solidFill>
                  <a:srgbClr val="D9DEE2"/>
                </a:solidFill>
                <a:latin typeface="Arial" pitchFamily="34" charset="0"/>
                <a:ea typeface="Arial" pitchFamily="34" charset="-122"/>
                <a:cs typeface="Arial" pitchFamily="34" charset="-120"/>
              </a:rPr>
              <a:t>DAY 2 · 11:45–13:00 · 75 MIN</a:t>
            </a:r>
            <a:endParaRPr lang="en-US" sz="1100" dirty="0"/>
          </a:p>
        </p:txBody>
      </p:sp>
      <p:sp>
        <p:nvSpPr>
          <p:cNvPr id="4" name="Text 2"/>
          <p:cNvSpPr txBox="1"/>
          <p:nvPr/>
        </p:nvSpPr>
        <p:spPr>
          <a:xfrm>
            <a:off x="548640" y="960120"/>
            <a:ext cx="3383280" cy="2377440"/>
          </a:xfrm>
          <a:prstGeom prst="rect">
            <a:avLst/>
          </a:prstGeom>
          <a:noFill/>
          <a:ln/>
        </p:spPr>
        <p:txBody>
          <a:bodyPr wrap="square" lIns="0" tIns="0" rIns="0" bIns="0" rtlCol="0" anchor="t"/>
          <a:lstStyle/>
          <a:p>
            <a:pPr indent="0" marL="0">
              <a:buNone/>
            </a:pPr>
            <a:r>
              <a:rPr lang="en-US" sz="3000" b="1" dirty="0">
                <a:solidFill>
                  <a:srgbClr val="FFFFFF"/>
                </a:solidFill>
                <a:latin typeface="TWK Everett" pitchFamily="34" charset="0"/>
                <a:ea typeface="TWK Everett" pitchFamily="34" charset="-122"/>
                <a:cs typeface="TWK Everett" pitchFamily="34" charset="-120"/>
              </a:rPr>
              <a:t>Skill rotation rules, with the markets</a:t>
            </a:r>
            <a:endParaRPr lang="en-US" sz="3000" dirty="0"/>
          </a:p>
        </p:txBody>
      </p:sp>
      <p:pic>
        <p:nvPicPr>
          <p:cNvPr id="5" name="Image 0" descr="/private/tmp/claude-501/-Users-salehhamed-Outcome-Engine/91861432-41e2-4884-bc97-63c6dff2d021/scratchpad/wk/icons/TbStairsUp-white.png">    </p:cNvPr>
          <p:cNvPicPr>
            <a:picLocks noChangeAspect="1"/>
          </p:cNvPicPr>
          <p:nvPr/>
        </p:nvPicPr>
        <p:blipFill>
          <a:blip r:embed="rId1"/>
          <a:stretch>
            <a:fillRect/>
          </a:stretch>
        </p:blipFill>
        <p:spPr>
          <a:xfrm>
            <a:off x="548640" y="3200400"/>
            <a:ext cx="685800" cy="685800"/>
          </a:xfrm>
          <a:prstGeom prst="rect">
            <a:avLst/>
          </a:prstGeom>
        </p:spPr>
      </p:pic>
      <p:sp>
        <p:nvSpPr>
          <p:cNvPr id="6" name="Shape 3"/>
          <p:cNvSpPr/>
          <p:nvPr/>
        </p:nvSpPr>
        <p:spPr>
          <a:xfrm>
            <a:off x="548640" y="4169664"/>
            <a:ext cx="237744" cy="237744"/>
          </a:xfrm>
          <a:prstGeom prst="ellipse">
            <a:avLst/>
          </a:prstGeom>
          <a:solidFill>
            <a:srgbClr val="FFFFFF"/>
          </a:solidFill>
          <a:ln/>
        </p:spPr>
      </p:sp>
      <p:sp>
        <p:nvSpPr>
          <p:cNvPr id="7" name="Shape 4"/>
          <p:cNvSpPr/>
          <p:nvPr/>
        </p:nvSpPr>
        <p:spPr>
          <a:xfrm>
            <a:off x="932688" y="4169664"/>
            <a:ext cx="237744" cy="237744"/>
          </a:xfrm>
          <a:prstGeom prst="ellipse">
            <a:avLst/>
          </a:prstGeom>
          <a:solidFill>
            <a:srgbClr val="FFFFFF"/>
          </a:solidFill>
          <a:ln/>
        </p:spPr>
      </p:sp>
      <p:sp>
        <p:nvSpPr>
          <p:cNvPr id="8" name="Shape 5"/>
          <p:cNvSpPr/>
          <p:nvPr/>
        </p:nvSpPr>
        <p:spPr>
          <a:xfrm>
            <a:off x="1316736" y="4169664"/>
            <a:ext cx="237744" cy="237744"/>
          </a:xfrm>
          <a:prstGeom prst="ellipse">
            <a:avLst/>
          </a:prstGeom>
          <a:solidFill>
            <a:srgbClr val="FFFFFF"/>
          </a:solidFill>
          <a:ln/>
        </p:spPr>
      </p:sp>
      <p:sp>
        <p:nvSpPr>
          <p:cNvPr id="9" name="Shape 6"/>
          <p:cNvSpPr/>
          <p:nvPr/>
        </p:nvSpPr>
        <p:spPr>
          <a:xfrm>
            <a:off x="1700784" y="4169664"/>
            <a:ext cx="237744" cy="237744"/>
          </a:xfrm>
          <a:prstGeom prst="ellipse">
            <a:avLst/>
          </a:prstGeom>
          <a:solidFill>
            <a:srgbClr val="FFFFFF"/>
          </a:solidFill>
          <a:ln/>
        </p:spPr>
      </p:sp>
      <p:sp>
        <p:nvSpPr>
          <p:cNvPr id="10" name="Shape 7"/>
          <p:cNvSpPr/>
          <p:nvPr/>
        </p:nvSpPr>
        <p:spPr>
          <a:xfrm>
            <a:off x="2084832" y="4169664"/>
            <a:ext cx="237744" cy="237744"/>
          </a:xfrm>
          <a:prstGeom prst="ellipse">
            <a:avLst/>
          </a:prstGeom>
          <a:solidFill>
            <a:srgbClr val="FFFFFF"/>
          </a:solidFill>
          <a:ln/>
        </p:spPr>
      </p:sp>
      <p:sp>
        <p:nvSpPr>
          <p:cNvPr id="11" name="Shape 8"/>
          <p:cNvSpPr/>
          <p:nvPr/>
        </p:nvSpPr>
        <p:spPr>
          <a:xfrm>
            <a:off x="2468880" y="4169664"/>
            <a:ext cx="237744" cy="237744"/>
          </a:xfrm>
          <a:prstGeom prst="ellipse">
            <a:avLst/>
          </a:prstGeom>
          <a:solidFill>
            <a:srgbClr val="FFFFFF"/>
          </a:solidFill>
          <a:ln/>
        </p:spPr>
      </p:sp>
      <p:sp>
        <p:nvSpPr>
          <p:cNvPr id="12" name="Shape 9"/>
          <p:cNvSpPr/>
          <p:nvPr/>
        </p:nvSpPr>
        <p:spPr>
          <a:xfrm>
            <a:off x="2816352" y="4133088"/>
            <a:ext cx="310896" cy="310896"/>
          </a:xfrm>
          <a:prstGeom prst="ellipse">
            <a:avLst/>
          </a:prstGeom>
          <a:solidFill>
            <a:srgbClr val="FF462D"/>
          </a:solidFill>
          <a:ln w="19050">
            <a:solidFill>
              <a:srgbClr val="FFFFFF"/>
            </a:solidFill>
            <a:prstDash val="solid"/>
          </a:ln>
        </p:spPr>
      </p:sp>
      <p:sp>
        <p:nvSpPr>
          <p:cNvPr id="13" name="Shape 10"/>
          <p:cNvSpPr/>
          <p:nvPr/>
        </p:nvSpPr>
        <p:spPr>
          <a:xfrm>
            <a:off x="3236976" y="4169664"/>
            <a:ext cx="237744" cy="237744"/>
          </a:xfrm>
          <a:prstGeom prst="ellipse">
            <a:avLst/>
          </a:prstGeom>
          <a:ln w="15875">
            <a:solidFill>
              <a:srgbClr val="D9DEE2"/>
            </a:solidFill>
            <a:prstDash val="solid"/>
          </a:ln>
        </p:spPr>
      </p:sp>
      <p:sp>
        <p:nvSpPr>
          <p:cNvPr id="14" name="Text 11"/>
          <p:cNvSpPr txBox="1"/>
          <p:nvPr/>
        </p:nvSpPr>
        <p:spPr>
          <a:xfrm>
            <a:off x="548640" y="4553712"/>
            <a:ext cx="338328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Step 7 of 8: Rules for moves</a:t>
            </a:r>
            <a:endParaRPr lang="en-US" sz="1100" dirty="0"/>
          </a:p>
        </p:txBody>
      </p:sp>
      <p:sp>
        <p:nvSpPr>
          <p:cNvPr id="15" name="Text 12"/>
          <p:cNvSpPr txBox="1"/>
          <p:nvPr/>
        </p:nvSpPr>
        <p:spPr>
          <a:xfrm>
            <a:off x="4709160" y="685800"/>
            <a:ext cx="6400800" cy="320040"/>
          </a:xfrm>
          <a:prstGeom prst="rect">
            <a:avLst/>
          </a:prstGeom>
          <a:noFill/>
          <a:ln/>
        </p:spPr>
        <p:txBody>
          <a:bodyPr wrap="square" lIns="0" tIns="0" rIns="0" bIns="0" rtlCol="0" anchor="t"/>
          <a:lstStyle/>
          <a:p>
            <a:pPr indent="0" marL="0">
              <a:buNone/>
            </a:pPr>
            <a:r>
              <a:rPr lang="en-US" sz="1400" b="1" dirty="0">
                <a:solidFill>
                  <a:srgbClr val="287079"/>
                </a:solidFill>
                <a:latin typeface="Arial" pitchFamily="34" charset="0"/>
                <a:ea typeface="Arial" pitchFamily="34" charset="-122"/>
                <a:cs typeface="Arial" pitchFamily="34" charset="-120"/>
              </a:rPr>
              <a:t>By the end of this session, you can</a:t>
            </a:r>
            <a:endParaRPr lang="en-US" sz="1400" dirty="0"/>
          </a:p>
        </p:txBody>
      </p:sp>
      <p:pic>
        <p:nvPicPr>
          <p:cNvPr id="16" name="Image 1" descr="/private/tmp/claude-501/-Users-salehhamed-Outcome-Engine/91861432-41e2-4884-bc97-63c6dff2d021/scratchpad/wk/icons/TbCircleCheck-teal.png">    </p:cNvPr>
          <p:cNvPicPr>
            <a:picLocks noChangeAspect="1"/>
          </p:cNvPicPr>
          <p:nvPr/>
        </p:nvPicPr>
        <p:blipFill>
          <a:blip r:embed="rId2"/>
          <a:stretch>
            <a:fillRect/>
          </a:stretch>
        </p:blipFill>
        <p:spPr>
          <a:xfrm>
            <a:off x="4709160" y="1225296"/>
            <a:ext cx="411480" cy="411480"/>
          </a:xfrm>
          <a:prstGeom prst="rect">
            <a:avLst/>
          </a:prstGeom>
        </p:spPr>
      </p:pic>
      <p:sp>
        <p:nvSpPr>
          <p:cNvPr id="17" name="Text 13"/>
          <p:cNvSpPr txBox="1"/>
          <p:nvPr/>
        </p:nvSpPr>
        <p:spPr>
          <a:xfrm>
            <a:off x="5303520" y="118872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Say what working at the top of your license means.</a:t>
            </a:r>
            <a:endParaRPr lang="en-US" sz="1700" dirty="0"/>
          </a:p>
        </p:txBody>
      </p:sp>
      <p:pic>
        <p:nvPicPr>
          <p:cNvPr id="18" name="Image 2" descr="/private/tmp/claude-501/-Users-salehhamed-Outcome-Engine/91861432-41e2-4884-bc97-63c6dff2d021/scratchpad/wk/icons/TbCircleCheck-teal.png">    </p:cNvPr>
          <p:cNvPicPr>
            <a:picLocks noChangeAspect="1"/>
          </p:cNvPicPr>
          <p:nvPr/>
        </p:nvPicPr>
        <p:blipFill>
          <a:blip r:embed="rId3"/>
          <a:stretch>
            <a:fillRect/>
          </a:stretch>
        </p:blipFill>
        <p:spPr>
          <a:xfrm>
            <a:off x="4709160" y="2093976"/>
            <a:ext cx="411480" cy="411480"/>
          </a:xfrm>
          <a:prstGeom prst="rect">
            <a:avLst/>
          </a:prstGeom>
        </p:spPr>
      </p:pic>
      <p:sp>
        <p:nvSpPr>
          <p:cNvPr id="19" name="Text 14"/>
          <p:cNvSpPr txBox="1"/>
          <p:nvPr/>
        </p:nvSpPr>
        <p:spPr>
          <a:xfrm>
            <a:off x="5303520" y="205740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Follow a chain of moves, and what each move needs.</a:t>
            </a:r>
            <a:endParaRPr lang="en-US" sz="1700" dirty="0"/>
          </a:p>
        </p:txBody>
      </p:sp>
      <p:pic>
        <p:nvPicPr>
          <p:cNvPr id="20" name="Image 3" descr="/private/tmp/claude-501/-Users-salehhamed-Outcome-Engine/91861432-41e2-4884-bc97-63c6dff2d021/scratchpad/wk/icons/TbCircleCheck-teal.png">    </p:cNvPr>
          <p:cNvPicPr>
            <a:picLocks noChangeAspect="1"/>
          </p:cNvPicPr>
          <p:nvPr/>
        </p:nvPicPr>
        <p:blipFill>
          <a:blip r:embed="rId4"/>
          <a:stretch>
            <a:fillRect/>
          </a:stretch>
        </p:blipFill>
        <p:spPr>
          <a:xfrm>
            <a:off x="4709160" y="2962656"/>
            <a:ext cx="411480" cy="411480"/>
          </a:xfrm>
          <a:prstGeom prst="rect">
            <a:avLst/>
          </a:prstGeom>
        </p:spPr>
      </p:pic>
      <p:sp>
        <p:nvSpPr>
          <p:cNvPr id="21" name="Text 15"/>
          <p:cNvSpPr txBox="1"/>
          <p:nvPr/>
        </p:nvSpPr>
        <p:spPr>
          <a:xfrm>
            <a:off x="5303520" y="292608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Set the five rules for a move, or give each open rule an owner and a date.</a:t>
            </a:r>
            <a:endParaRPr lang="en-US" sz="1700" dirty="0"/>
          </a:p>
        </p:txBody>
      </p:sp>
      <p:pic>
        <p:nvPicPr>
          <p:cNvPr id="22" name="Image 4" descr="/private/tmp/claude-501/-Users-salehhamed-Outcome-Engine/91861432-41e2-4884-bc97-63c6dff2d021/scratchpad/wk/icons/TbCircleCheck-teal.png">    </p:cNvPr>
          <p:cNvPicPr>
            <a:picLocks noChangeAspect="1"/>
          </p:cNvPicPr>
          <p:nvPr/>
        </p:nvPicPr>
        <p:blipFill>
          <a:blip r:embed="rId5"/>
          <a:stretch>
            <a:fillRect/>
          </a:stretch>
        </p:blipFill>
        <p:spPr>
          <a:xfrm>
            <a:off x="4709160" y="3831336"/>
            <a:ext cx="411480" cy="411480"/>
          </a:xfrm>
          <a:prstGeom prst="rect">
            <a:avLst/>
          </a:prstGeom>
        </p:spPr>
      </p:pic>
      <p:sp>
        <p:nvSpPr>
          <p:cNvPr id="23" name="Text 16"/>
          <p:cNvSpPr txBox="1"/>
          <p:nvPr/>
        </p:nvSpPr>
        <p:spPr>
          <a:xfrm>
            <a:off x="5303520" y="379476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Agree what the pilot records from day one.</a:t>
            </a:r>
            <a:endParaRPr lang="en-US" sz="1700" dirty="0"/>
          </a:p>
        </p:txBody>
      </p:sp>
      <p:sp>
        <p:nvSpPr>
          <p:cNvPr id="24" name="Shape 17"/>
          <p:cNvSpPr/>
          <p:nvPr/>
        </p:nvSpPr>
        <p:spPr>
          <a:xfrm>
            <a:off x="4709160" y="4800600"/>
            <a:ext cx="6931152" cy="1234440"/>
          </a:xfrm>
          <a:prstGeom prst="roundRect">
            <a:avLst>
              <a:gd name="adj" fmla="val 5926"/>
            </a:avLst>
          </a:prstGeom>
          <a:solidFill>
            <a:srgbClr val="FFF0EC"/>
          </a:solidFill>
          <a:ln/>
        </p:spPr>
      </p:sp>
      <p:sp>
        <p:nvSpPr>
          <p:cNvPr id="25" name="Text 18"/>
          <p:cNvSpPr txBox="1"/>
          <p:nvPr/>
        </p:nvSpPr>
        <p:spPr>
          <a:xfrm>
            <a:off x="4937760" y="4800600"/>
            <a:ext cx="6492240" cy="1234440"/>
          </a:xfrm>
          <a:prstGeom prst="rect">
            <a:avLst/>
          </a:prstGeom>
          <a:noFill/>
          <a:ln/>
        </p:spPr>
        <p:txBody>
          <a:bodyPr wrap="square" lIns="0" tIns="0" rIns="0" bIns="0" rtlCol="0" anchor="ctr"/>
          <a:lstStyle/>
          <a:p>
            <a:pPr indent="0" marL="0">
              <a:buNone/>
            </a:pPr>
            <a:r>
              <a:rPr lang="en-US" sz="1800" b="1" dirty="0">
                <a:solidFill>
                  <a:srgbClr val="FF462D"/>
                </a:solidFill>
                <a:latin typeface="Arial" pitchFamily="34" charset="0"/>
                <a:ea typeface="Arial" pitchFamily="34" charset="-122"/>
                <a:cs typeface="Arial" pitchFamily="34" charset="-120"/>
              </a:rPr>
              <a:t>A new job nobody free can fill can start a chain of step-ups, if the rules allow it.</a:t>
            </a:r>
            <a:endParaRPr lang="en-US" sz="1800" dirty="0"/>
          </a:p>
        </p:txBody>
      </p:sp>
      <p:sp>
        <p:nvSpPr>
          <p:cNvPr id="26" name="Text 19"/>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6"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7" action="ppaction://hlinksldjump" tooltip="The thre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160</a:t>
            </a:r>
            <a:endParaRPr lang="en-US" sz="10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SKILL ROTATION · WITH THE MARKETS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Working at the top of your license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11:45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161</a:t>
            </a:r>
            <a:endParaRPr lang="en-US" sz="1000" dirty="0"/>
          </a:p>
        </p:txBody>
      </p:sp>
      <p:sp>
        <p:nvSpPr>
          <p:cNvPr id="7" name="Shape 4"/>
          <p:cNvSpPr/>
          <p:nvPr/>
        </p:nvSpPr>
        <p:spPr>
          <a:xfrm>
            <a:off x="1097280" y="1883664"/>
            <a:ext cx="4572000" cy="914"/>
          </a:xfrm>
          <a:prstGeom prst="line">
            <a:avLst/>
          </a:prstGeom>
          <a:noFill/>
          <a:ln w="12700">
            <a:solidFill>
              <a:srgbClr val="D9DEE2"/>
            </a:solidFill>
            <a:prstDash val="solid"/>
          </a:ln>
        </p:spPr>
      </p:sp>
      <p:sp>
        <p:nvSpPr>
          <p:cNvPr id="8" name="Text 5"/>
          <p:cNvSpPr txBox="1"/>
          <p:nvPr/>
        </p:nvSpPr>
        <p:spPr>
          <a:xfrm>
            <a:off x="228600" y="1554480"/>
            <a:ext cx="822960" cy="658368"/>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Level 6</a:t>
            </a:r>
            <a:endParaRPr lang="en-US" sz="1100" dirty="0"/>
          </a:p>
        </p:txBody>
      </p:sp>
      <p:sp>
        <p:nvSpPr>
          <p:cNvPr id="9" name="Shape 6"/>
          <p:cNvSpPr/>
          <p:nvPr/>
        </p:nvSpPr>
        <p:spPr>
          <a:xfrm>
            <a:off x="1097280" y="2542032"/>
            <a:ext cx="4572000" cy="914"/>
          </a:xfrm>
          <a:prstGeom prst="line">
            <a:avLst/>
          </a:prstGeom>
          <a:noFill/>
          <a:ln w="12700">
            <a:solidFill>
              <a:srgbClr val="D9DEE2"/>
            </a:solidFill>
            <a:prstDash val="solid"/>
          </a:ln>
        </p:spPr>
      </p:sp>
      <p:sp>
        <p:nvSpPr>
          <p:cNvPr id="10" name="Text 7"/>
          <p:cNvSpPr txBox="1"/>
          <p:nvPr/>
        </p:nvSpPr>
        <p:spPr>
          <a:xfrm>
            <a:off x="228600" y="2212848"/>
            <a:ext cx="822960" cy="658368"/>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Level 5</a:t>
            </a:r>
            <a:endParaRPr lang="en-US" sz="1100" dirty="0"/>
          </a:p>
        </p:txBody>
      </p:sp>
      <p:sp>
        <p:nvSpPr>
          <p:cNvPr id="11" name="Shape 8"/>
          <p:cNvSpPr/>
          <p:nvPr/>
        </p:nvSpPr>
        <p:spPr>
          <a:xfrm>
            <a:off x="1097280" y="3200400"/>
            <a:ext cx="4572000" cy="914"/>
          </a:xfrm>
          <a:prstGeom prst="line">
            <a:avLst/>
          </a:prstGeom>
          <a:noFill/>
          <a:ln w="12700">
            <a:solidFill>
              <a:srgbClr val="D9DEE2"/>
            </a:solidFill>
            <a:prstDash val="solid"/>
          </a:ln>
        </p:spPr>
      </p:sp>
      <p:sp>
        <p:nvSpPr>
          <p:cNvPr id="12" name="Text 9"/>
          <p:cNvSpPr txBox="1"/>
          <p:nvPr/>
        </p:nvSpPr>
        <p:spPr>
          <a:xfrm>
            <a:off x="228600" y="2871216"/>
            <a:ext cx="822960" cy="658368"/>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Level 4</a:t>
            </a:r>
            <a:endParaRPr lang="en-US" sz="1100" dirty="0"/>
          </a:p>
        </p:txBody>
      </p:sp>
      <p:sp>
        <p:nvSpPr>
          <p:cNvPr id="13" name="Shape 10"/>
          <p:cNvSpPr/>
          <p:nvPr/>
        </p:nvSpPr>
        <p:spPr>
          <a:xfrm>
            <a:off x="1097280" y="3858768"/>
            <a:ext cx="4572000" cy="914"/>
          </a:xfrm>
          <a:prstGeom prst="line">
            <a:avLst/>
          </a:prstGeom>
          <a:noFill/>
          <a:ln w="12700">
            <a:solidFill>
              <a:srgbClr val="D9DEE2"/>
            </a:solidFill>
            <a:prstDash val="solid"/>
          </a:ln>
        </p:spPr>
      </p:sp>
      <p:sp>
        <p:nvSpPr>
          <p:cNvPr id="14" name="Text 11"/>
          <p:cNvSpPr txBox="1"/>
          <p:nvPr/>
        </p:nvSpPr>
        <p:spPr>
          <a:xfrm>
            <a:off x="228600" y="3529584"/>
            <a:ext cx="822960" cy="658368"/>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Level 3</a:t>
            </a:r>
            <a:endParaRPr lang="en-US" sz="1100" dirty="0"/>
          </a:p>
        </p:txBody>
      </p:sp>
      <p:sp>
        <p:nvSpPr>
          <p:cNvPr id="15" name="Shape 12"/>
          <p:cNvSpPr/>
          <p:nvPr/>
        </p:nvSpPr>
        <p:spPr>
          <a:xfrm>
            <a:off x="1097280" y="4517136"/>
            <a:ext cx="4572000" cy="914"/>
          </a:xfrm>
          <a:prstGeom prst="line">
            <a:avLst/>
          </a:prstGeom>
          <a:noFill/>
          <a:ln w="12700">
            <a:solidFill>
              <a:srgbClr val="D9DEE2"/>
            </a:solidFill>
            <a:prstDash val="solid"/>
          </a:ln>
        </p:spPr>
      </p:sp>
      <p:sp>
        <p:nvSpPr>
          <p:cNvPr id="16" name="Text 13"/>
          <p:cNvSpPr txBox="1"/>
          <p:nvPr/>
        </p:nvSpPr>
        <p:spPr>
          <a:xfrm>
            <a:off x="228600" y="4187952"/>
            <a:ext cx="822960" cy="658368"/>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Level 2</a:t>
            </a:r>
            <a:endParaRPr lang="en-US" sz="1100" dirty="0"/>
          </a:p>
        </p:txBody>
      </p:sp>
      <p:sp>
        <p:nvSpPr>
          <p:cNvPr id="17" name="Shape 14"/>
          <p:cNvSpPr/>
          <p:nvPr/>
        </p:nvSpPr>
        <p:spPr>
          <a:xfrm>
            <a:off x="1097280" y="5175504"/>
            <a:ext cx="4572000" cy="914"/>
          </a:xfrm>
          <a:prstGeom prst="line">
            <a:avLst/>
          </a:prstGeom>
          <a:noFill/>
          <a:ln w="12700">
            <a:solidFill>
              <a:srgbClr val="D9DEE2"/>
            </a:solidFill>
            <a:prstDash val="solid"/>
          </a:ln>
        </p:spPr>
      </p:sp>
      <p:sp>
        <p:nvSpPr>
          <p:cNvPr id="18" name="Text 15"/>
          <p:cNvSpPr txBox="1"/>
          <p:nvPr/>
        </p:nvSpPr>
        <p:spPr>
          <a:xfrm>
            <a:off x="228600" y="4846320"/>
            <a:ext cx="822960" cy="658368"/>
          </a:xfrm>
          <a:prstGeom prst="rect">
            <a:avLst/>
          </a:prstGeom>
          <a:noFill/>
          <a:ln/>
        </p:spPr>
        <p:txBody>
          <a:bodyPr wrap="square" lIns="0" tIns="0" rIns="0" bIns="0" rtlCol="0" anchor="ctr"/>
          <a:lstStyle/>
          <a:p>
            <a:pPr indent="0" marL="0">
              <a:buNone/>
            </a:pPr>
            <a:r>
              <a:rPr lang="en-US" sz="1100" dirty="0">
                <a:solidFill>
                  <a:srgbClr val="5A5A5A"/>
                </a:solidFill>
                <a:latin typeface="Arial" pitchFamily="34" charset="0"/>
                <a:ea typeface="Arial" pitchFamily="34" charset="-122"/>
                <a:cs typeface="Arial" pitchFamily="34" charset="-120"/>
              </a:rPr>
              <a:t>Level 1</a:t>
            </a:r>
            <a:endParaRPr lang="en-US" sz="1100" dirty="0"/>
          </a:p>
        </p:txBody>
      </p:sp>
      <p:sp>
        <p:nvSpPr>
          <p:cNvPr id="19" name="Shape 16"/>
          <p:cNvSpPr/>
          <p:nvPr/>
        </p:nvSpPr>
        <p:spPr>
          <a:xfrm>
            <a:off x="2377440" y="1591056"/>
            <a:ext cx="585216" cy="585216"/>
          </a:xfrm>
          <a:prstGeom prst="ellipse">
            <a:avLst/>
          </a:prstGeom>
          <a:ln w="31750">
            <a:solidFill>
              <a:srgbClr val="2E8656"/>
            </a:solidFill>
            <a:prstDash val="solid"/>
          </a:ln>
        </p:spPr>
      </p:sp>
      <p:sp>
        <p:nvSpPr>
          <p:cNvPr id="20" name="Text 17"/>
          <p:cNvSpPr txBox="1"/>
          <p:nvPr/>
        </p:nvSpPr>
        <p:spPr>
          <a:xfrm>
            <a:off x="3108960" y="1609344"/>
            <a:ext cx="2194560" cy="548640"/>
          </a:xfrm>
          <a:prstGeom prst="rect">
            <a:avLst/>
          </a:prstGeom>
          <a:noFill/>
          <a:ln/>
        </p:spPr>
        <p:txBody>
          <a:bodyPr wrap="square" lIns="0" tIns="0" rIns="0" bIns="0" rtlCol="0" anchor="ctr"/>
          <a:lstStyle/>
          <a:p>
            <a:pPr indent="0" marL="0">
              <a:buNone/>
            </a:pPr>
            <a:r>
              <a:rPr lang="en-US" sz="1300" b="1" dirty="0">
                <a:solidFill>
                  <a:srgbClr val="2E8656"/>
                </a:solidFill>
                <a:latin typeface="Arial" pitchFamily="34" charset="0"/>
                <a:ea typeface="Arial" pitchFamily="34" charset="-122"/>
                <a:cs typeface="Arial" pitchFamily="34" charset="-120"/>
              </a:rPr>
              <a:t>Qualified for</a:t>
            </a:r>
            <a:endParaRPr lang="en-US" sz="1300" dirty="0"/>
          </a:p>
        </p:txBody>
      </p:sp>
      <p:sp>
        <p:nvSpPr>
          <p:cNvPr id="21" name="Shape 18"/>
          <p:cNvSpPr/>
          <p:nvPr/>
        </p:nvSpPr>
        <p:spPr>
          <a:xfrm>
            <a:off x="2377440" y="2907792"/>
            <a:ext cx="585216" cy="585216"/>
          </a:xfrm>
          <a:prstGeom prst="ellipse">
            <a:avLst/>
          </a:prstGeom>
          <a:solidFill>
            <a:srgbClr val="C98A1A"/>
          </a:solidFill>
          <a:ln/>
        </p:spPr>
      </p:sp>
      <p:sp>
        <p:nvSpPr>
          <p:cNvPr id="22" name="Text 19"/>
          <p:cNvSpPr txBox="1"/>
          <p:nvPr/>
        </p:nvSpPr>
        <p:spPr>
          <a:xfrm>
            <a:off x="2377440" y="2907792"/>
            <a:ext cx="585216" cy="58521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3" name="Text 20"/>
          <p:cNvSpPr txBox="1"/>
          <p:nvPr/>
        </p:nvSpPr>
        <p:spPr>
          <a:xfrm>
            <a:off x="3108960" y="2926080"/>
            <a:ext cx="2194560" cy="548640"/>
          </a:xfrm>
          <a:prstGeom prst="rect">
            <a:avLst/>
          </a:prstGeom>
          <a:noFill/>
          <a:ln/>
        </p:spPr>
        <p:txBody>
          <a:bodyPr wrap="square" lIns="0" tIns="0" rIns="0" bIns="0" rtlCol="0" anchor="ctr"/>
          <a:lstStyle/>
          <a:p>
            <a:pPr indent="0" marL="0">
              <a:buNone/>
            </a:pPr>
            <a:r>
              <a:rPr lang="en-US" sz="1300" b="1" dirty="0">
                <a:solidFill>
                  <a:srgbClr val="C98A1A"/>
                </a:solidFill>
                <a:latin typeface="Arial" pitchFamily="34" charset="0"/>
                <a:ea typeface="Arial" pitchFamily="34" charset="-122"/>
                <a:cs typeface="Arial" pitchFamily="34" charset="-120"/>
              </a:rPr>
              <a:t>Doing this work</a:t>
            </a:r>
            <a:endParaRPr lang="en-US" sz="1300" dirty="0"/>
          </a:p>
        </p:txBody>
      </p:sp>
      <p:sp>
        <p:nvSpPr>
          <p:cNvPr id="24" name="Shape 21"/>
          <p:cNvSpPr/>
          <p:nvPr/>
        </p:nvSpPr>
        <p:spPr>
          <a:xfrm flipV="1">
            <a:off x="2670048" y="2231136"/>
            <a:ext cx="914" cy="621792"/>
          </a:xfrm>
          <a:prstGeom prst="line">
            <a:avLst/>
          </a:prstGeom>
          <a:noFill/>
          <a:ln w="38100">
            <a:solidFill>
              <a:srgbClr val="2E8656"/>
            </a:solidFill>
            <a:prstDash val="dash"/>
            <a:tailEnd type="arrow"/>
          </a:ln>
        </p:spPr>
      </p:sp>
      <p:sp>
        <p:nvSpPr>
          <p:cNvPr id="25" name="Text 22"/>
          <p:cNvSpPr txBox="1"/>
          <p:nvPr/>
        </p:nvSpPr>
        <p:spPr>
          <a:xfrm>
            <a:off x="548640" y="5623560"/>
            <a:ext cx="5120640" cy="54864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The number in a dot is the highest level that person is qualified for.</a:t>
            </a:r>
            <a:endParaRPr lang="en-US" sz="1150" dirty="0"/>
          </a:p>
        </p:txBody>
      </p:sp>
      <p:sp>
        <p:nvSpPr>
          <p:cNvPr id="26" name="Shape 23"/>
          <p:cNvSpPr/>
          <p:nvPr/>
        </p:nvSpPr>
        <p:spPr>
          <a:xfrm>
            <a:off x="6035040" y="1554480"/>
            <a:ext cx="5605272" cy="1828800"/>
          </a:xfrm>
          <a:prstGeom prst="roundRect">
            <a:avLst>
              <a:gd name="adj" fmla="val 5000"/>
            </a:avLst>
          </a:prstGeom>
          <a:solidFill>
            <a:srgbClr val="EEF6F7"/>
          </a:solidFill>
          <a:ln/>
        </p:spPr>
      </p:sp>
      <p:sp>
        <p:nvSpPr>
          <p:cNvPr id="27" name="Text 24"/>
          <p:cNvSpPr txBox="1"/>
          <p:nvPr/>
        </p:nvSpPr>
        <p:spPr>
          <a:xfrm>
            <a:off x="6309360" y="1554480"/>
            <a:ext cx="5120640" cy="1828800"/>
          </a:xfrm>
          <a:prstGeom prst="rect">
            <a:avLst/>
          </a:prstGeom>
          <a:noFill/>
          <a:ln/>
        </p:spPr>
        <p:txBody>
          <a:bodyPr wrap="square" lIns="0" tIns="0" rIns="0" bIns="0" rtlCol="0" anchor="ctr"/>
          <a:lstStyle/>
          <a:p>
            <a:pPr indent="0" marL="0">
              <a:buNone/>
            </a:pPr>
            <a:r>
              <a:rPr lang="en-US" sz="2100" b="1" dirty="0">
                <a:solidFill>
                  <a:srgbClr val="287079"/>
                </a:solidFill>
                <a:latin typeface="Arial" pitchFamily="34" charset="0"/>
                <a:ea typeface="Arial" pitchFamily="34" charset="-122"/>
                <a:cs typeface="Arial" pitchFamily="34" charset="-120"/>
              </a:rPr>
              <a:t>Top of license: working at the highest level you are qualified for.</a:t>
            </a:r>
            <a:endParaRPr lang="en-US" sz="2100" dirty="0"/>
          </a:p>
        </p:txBody>
      </p:sp>
      <p:sp>
        <p:nvSpPr>
          <p:cNvPr id="28" name="Text 25"/>
          <p:cNvSpPr txBox="1"/>
          <p:nvPr/>
        </p:nvSpPr>
        <p:spPr>
          <a:xfrm>
            <a:off x="6035040" y="3566160"/>
            <a:ext cx="5577840" cy="1097280"/>
          </a:xfrm>
          <a:prstGeom prst="rect">
            <a:avLst/>
          </a:prstGeom>
          <a:noFill/>
          <a:ln/>
        </p:spPr>
        <p:txBody>
          <a:bodyPr wrap="square" lIns="0" tIns="0" rIns="0" bIns="0" rtlCol="0" anchor="t"/>
          <a:lstStyle/>
          <a:p>
            <a:pPr indent="0" marL="0">
              <a:buNone/>
            </a:pPr>
            <a:r>
              <a:rPr lang="en-US" sz="1550" dirty="0">
                <a:solidFill>
                  <a:srgbClr val="1F2A33"/>
                </a:solidFill>
                <a:latin typeface="Arial" pitchFamily="34" charset="0"/>
                <a:ea typeface="Arial" pitchFamily="34" charset="-122"/>
                <a:cs typeface="Arial" pitchFamily="34" charset="-120"/>
              </a:rPr>
              <a:t>The client's priority. Today, nothing compares the level a person is qualified for with the level of the work they do.</a:t>
            </a:r>
            <a:endParaRPr lang="en-US" sz="1550" dirty="0"/>
          </a:p>
        </p:txBody>
      </p:sp>
      <p:sp>
        <p:nvSpPr>
          <p:cNvPr id="29" name="Shape 26"/>
          <p:cNvSpPr/>
          <p:nvPr/>
        </p:nvSpPr>
        <p:spPr>
          <a:xfrm>
            <a:off x="6035040" y="4846320"/>
            <a:ext cx="5605272" cy="1234440"/>
          </a:xfrm>
          <a:prstGeom prst="roundRect">
            <a:avLst>
              <a:gd name="adj" fmla="val 5926"/>
            </a:avLst>
          </a:prstGeom>
          <a:solidFill>
            <a:srgbClr val="FDF3E1"/>
          </a:solidFill>
          <a:ln/>
        </p:spPr>
      </p:sp>
      <p:pic>
        <p:nvPicPr>
          <p:cNvPr id="30" name="Image 1" descr="/private/tmp/claude-501/-Users-salehhamed-Outcome-Engine/91861432-41e2-4884-bc97-63c6dff2d021/scratchpad/wk/icons/TbBuildingSkyscraper-amber.png">    </p:cNvPr>
          <p:cNvPicPr>
            <a:picLocks noChangeAspect="1"/>
          </p:cNvPicPr>
          <p:nvPr/>
        </p:nvPicPr>
        <p:blipFill>
          <a:blip r:embed="rId4"/>
          <a:stretch>
            <a:fillRect/>
          </a:stretch>
        </p:blipFill>
        <p:spPr>
          <a:xfrm>
            <a:off x="6217920" y="5029200"/>
            <a:ext cx="502920" cy="502920"/>
          </a:xfrm>
          <a:prstGeom prst="rect">
            <a:avLst/>
          </a:prstGeom>
        </p:spPr>
      </p:pic>
      <p:sp>
        <p:nvSpPr>
          <p:cNvPr id="31" name="Text 27"/>
          <p:cNvSpPr txBox="1"/>
          <p:nvPr/>
        </p:nvSpPr>
        <p:spPr>
          <a:xfrm>
            <a:off x="6858000" y="4846320"/>
            <a:ext cx="4663440" cy="1234440"/>
          </a:xfrm>
          <a:prstGeom prst="rect">
            <a:avLst/>
          </a:prstGeom>
          <a:noFill/>
          <a:ln/>
        </p:spPr>
        <p:txBody>
          <a:bodyPr wrap="square" lIns="0" tIns="0" rIns="0" bIns="0" rtlCol="0" anchor="ctr"/>
          <a:lstStyle/>
          <a:p>
            <a:pPr indent="0" marL="0">
              <a:buNone/>
            </a:pPr>
            <a:r>
              <a:rPr lang="en-US" sz="1450" b="1" dirty="0">
                <a:solidFill>
                  <a:srgbClr val="1F2A33"/>
                </a:solidFill>
                <a:latin typeface="Arial" pitchFamily="34" charset="0"/>
                <a:ea typeface="Arial" pitchFamily="34" charset="-122"/>
                <a:cs typeface="Arial" pitchFamily="34" charset="-120"/>
              </a:rPr>
              <a:t>Northgate's firewall job became a hire. Moving people up is another way to fill a job that nobody free can do.</a:t>
            </a:r>
            <a:endParaRPr lang="en-US" sz="145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ONE NEW JOB, THREE STEP-UPS, ONE JUNIOR HIRE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A chain of moves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11:45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162</a:t>
            </a:r>
            <a:endParaRPr lang="en-US" sz="1000" dirty="0"/>
          </a:p>
        </p:txBody>
      </p:sp>
      <p:sp>
        <p:nvSpPr>
          <p:cNvPr id="7" name="Shape 4"/>
          <p:cNvSpPr/>
          <p:nvPr/>
        </p:nvSpPr>
        <p:spPr>
          <a:xfrm>
            <a:off x="1234440" y="1874520"/>
            <a:ext cx="5715000" cy="914"/>
          </a:xfrm>
          <a:prstGeom prst="line">
            <a:avLst/>
          </a:prstGeom>
          <a:noFill/>
          <a:ln w="12700">
            <a:solidFill>
              <a:srgbClr val="D9DEE2"/>
            </a:solidFill>
            <a:prstDash val="solid"/>
          </a:ln>
        </p:spPr>
      </p:sp>
      <p:sp>
        <p:nvSpPr>
          <p:cNvPr id="8" name="Text 5"/>
          <p:cNvSpPr txBox="1"/>
          <p:nvPr/>
        </p:nvSpPr>
        <p:spPr>
          <a:xfrm>
            <a:off x="548640" y="1508760"/>
            <a:ext cx="548640" cy="731520"/>
          </a:xfrm>
          <a:prstGeom prst="rect">
            <a:avLst/>
          </a:prstGeom>
          <a:noFill/>
          <a:ln/>
        </p:spPr>
        <p:txBody>
          <a:bodyPr wrap="square" lIns="0" tIns="0" rIns="0" bIns="0" rtlCol="0" anchor="ctr"/>
          <a:lstStyle/>
          <a:p>
            <a:pPr indent="0" marL="0">
              <a:buNone/>
            </a:pPr>
            <a:r>
              <a:rPr lang="en-US" sz="1200" b="1" dirty="0">
                <a:solidFill>
                  <a:srgbClr val="5A5A5A"/>
                </a:solidFill>
                <a:latin typeface="Arial" pitchFamily="34" charset="0"/>
                <a:ea typeface="Arial" pitchFamily="34" charset="-122"/>
                <a:cs typeface="Arial" pitchFamily="34" charset="-120"/>
              </a:rPr>
              <a:t>L6</a:t>
            </a:r>
            <a:endParaRPr lang="en-US" sz="1200" dirty="0"/>
          </a:p>
        </p:txBody>
      </p:sp>
      <p:sp>
        <p:nvSpPr>
          <p:cNvPr id="9" name="Shape 6"/>
          <p:cNvSpPr/>
          <p:nvPr/>
        </p:nvSpPr>
        <p:spPr>
          <a:xfrm>
            <a:off x="1234440" y="2606040"/>
            <a:ext cx="5715000" cy="914"/>
          </a:xfrm>
          <a:prstGeom prst="line">
            <a:avLst/>
          </a:prstGeom>
          <a:noFill/>
          <a:ln w="12700">
            <a:solidFill>
              <a:srgbClr val="D9DEE2"/>
            </a:solidFill>
            <a:prstDash val="solid"/>
          </a:ln>
        </p:spPr>
      </p:sp>
      <p:sp>
        <p:nvSpPr>
          <p:cNvPr id="10" name="Text 7"/>
          <p:cNvSpPr txBox="1"/>
          <p:nvPr/>
        </p:nvSpPr>
        <p:spPr>
          <a:xfrm>
            <a:off x="548640" y="2240280"/>
            <a:ext cx="548640" cy="731520"/>
          </a:xfrm>
          <a:prstGeom prst="rect">
            <a:avLst/>
          </a:prstGeom>
          <a:noFill/>
          <a:ln/>
        </p:spPr>
        <p:txBody>
          <a:bodyPr wrap="square" lIns="0" tIns="0" rIns="0" bIns="0" rtlCol="0" anchor="ctr"/>
          <a:lstStyle/>
          <a:p>
            <a:pPr indent="0" marL="0">
              <a:buNone/>
            </a:pPr>
            <a:r>
              <a:rPr lang="en-US" sz="1200" b="1" dirty="0">
                <a:solidFill>
                  <a:srgbClr val="5A5A5A"/>
                </a:solidFill>
                <a:latin typeface="Arial" pitchFamily="34" charset="0"/>
                <a:ea typeface="Arial" pitchFamily="34" charset="-122"/>
                <a:cs typeface="Arial" pitchFamily="34" charset="-120"/>
              </a:rPr>
              <a:t>L5</a:t>
            </a:r>
            <a:endParaRPr lang="en-US" sz="1200" dirty="0"/>
          </a:p>
        </p:txBody>
      </p:sp>
      <p:sp>
        <p:nvSpPr>
          <p:cNvPr id="11" name="Shape 8"/>
          <p:cNvSpPr/>
          <p:nvPr/>
        </p:nvSpPr>
        <p:spPr>
          <a:xfrm>
            <a:off x="1234440" y="3337560"/>
            <a:ext cx="5715000" cy="914"/>
          </a:xfrm>
          <a:prstGeom prst="line">
            <a:avLst/>
          </a:prstGeom>
          <a:noFill/>
          <a:ln w="12700">
            <a:solidFill>
              <a:srgbClr val="D9DEE2"/>
            </a:solidFill>
            <a:prstDash val="solid"/>
          </a:ln>
        </p:spPr>
      </p:sp>
      <p:sp>
        <p:nvSpPr>
          <p:cNvPr id="12" name="Text 9"/>
          <p:cNvSpPr txBox="1"/>
          <p:nvPr/>
        </p:nvSpPr>
        <p:spPr>
          <a:xfrm>
            <a:off x="548640" y="2971800"/>
            <a:ext cx="548640" cy="731520"/>
          </a:xfrm>
          <a:prstGeom prst="rect">
            <a:avLst/>
          </a:prstGeom>
          <a:noFill/>
          <a:ln/>
        </p:spPr>
        <p:txBody>
          <a:bodyPr wrap="square" lIns="0" tIns="0" rIns="0" bIns="0" rtlCol="0" anchor="ctr"/>
          <a:lstStyle/>
          <a:p>
            <a:pPr indent="0" marL="0">
              <a:buNone/>
            </a:pPr>
            <a:r>
              <a:rPr lang="en-US" sz="1200" b="1" dirty="0">
                <a:solidFill>
                  <a:srgbClr val="5A5A5A"/>
                </a:solidFill>
                <a:latin typeface="Arial" pitchFamily="34" charset="0"/>
                <a:ea typeface="Arial" pitchFamily="34" charset="-122"/>
                <a:cs typeface="Arial" pitchFamily="34" charset="-120"/>
              </a:rPr>
              <a:t>L4</a:t>
            </a:r>
            <a:endParaRPr lang="en-US" sz="1200" dirty="0"/>
          </a:p>
        </p:txBody>
      </p:sp>
      <p:sp>
        <p:nvSpPr>
          <p:cNvPr id="13" name="Shape 10"/>
          <p:cNvSpPr/>
          <p:nvPr/>
        </p:nvSpPr>
        <p:spPr>
          <a:xfrm>
            <a:off x="1234440" y="4069080"/>
            <a:ext cx="5715000" cy="914"/>
          </a:xfrm>
          <a:prstGeom prst="line">
            <a:avLst/>
          </a:prstGeom>
          <a:noFill/>
          <a:ln w="12700">
            <a:solidFill>
              <a:srgbClr val="D9DEE2"/>
            </a:solidFill>
            <a:prstDash val="solid"/>
          </a:ln>
        </p:spPr>
      </p:sp>
      <p:sp>
        <p:nvSpPr>
          <p:cNvPr id="14" name="Text 11"/>
          <p:cNvSpPr txBox="1"/>
          <p:nvPr/>
        </p:nvSpPr>
        <p:spPr>
          <a:xfrm>
            <a:off x="548640" y="3703320"/>
            <a:ext cx="548640" cy="731520"/>
          </a:xfrm>
          <a:prstGeom prst="rect">
            <a:avLst/>
          </a:prstGeom>
          <a:noFill/>
          <a:ln/>
        </p:spPr>
        <p:txBody>
          <a:bodyPr wrap="square" lIns="0" tIns="0" rIns="0" bIns="0" rtlCol="0" anchor="ctr"/>
          <a:lstStyle/>
          <a:p>
            <a:pPr indent="0" marL="0">
              <a:buNone/>
            </a:pPr>
            <a:r>
              <a:rPr lang="en-US" sz="1200" b="1" dirty="0">
                <a:solidFill>
                  <a:srgbClr val="5A5A5A"/>
                </a:solidFill>
                <a:latin typeface="Arial" pitchFamily="34" charset="0"/>
                <a:ea typeface="Arial" pitchFamily="34" charset="-122"/>
                <a:cs typeface="Arial" pitchFamily="34" charset="-120"/>
              </a:rPr>
              <a:t>L3</a:t>
            </a:r>
            <a:endParaRPr lang="en-US" sz="1200" dirty="0"/>
          </a:p>
        </p:txBody>
      </p:sp>
      <p:sp>
        <p:nvSpPr>
          <p:cNvPr id="15" name="Shape 12"/>
          <p:cNvSpPr/>
          <p:nvPr/>
        </p:nvSpPr>
        <p:spPr>
          <a:xfrm>
            <a:off x="1234440" y="4800600"/>
            <a:ext cx="5715000" cy="914"/>
          </a:xfrm>
          <a:prstGeom prst="line">
            <a:avLst/>
          </a:prstGeom>
          <a:noFill/>
          <a:ln w="12700">
            <a:solidFill>
              <a:srgbClr val="D9DEE2"/>
            </a:solidFill>
            <a:prstDash val="solid"/>
          </a:ln>
        </p:spPr>
      </p:sp>
      <p:sp>
        <p:nvSpPr>
          <p:cNvPr id="16" name="Text 13"/>
          <p:cNvSpPr txBox="1"/>
          <p:nvPr/>
        </p:nvSpPr>
        <p:spPr>
          <a:xfrm>
            <a:off x="548640" y="4434840"/>
            <a:ext cx="548640" cy="731520"/>
          </a:xfrm>
          <a:prstGeom prst="rect">
            <a:avLst/>
          </a:prstGeom>
          <a:noFill/>
          <a:ln/>
        </p:spPr>
        <p:txBody>
          <a:bodyPr wrap="square" lIns="0" tIns="0" rIns="0" bIns="0" rtlCol="0" anchor="ctr"/>
          <a:lstStyle/>
          <a:p>
            <a:pPr indent="0" marL="0">
              <a:buNone/>
            </a:pPr>
            <a:r>
              <a:rPr lang="en-US" sz="1200" b="1" dirty="0">
                <a:solidFill>
                  <a:srgbClr val="5A5A5A"/>
                </a:solidFill>
                <a:latin typeface="Arial" pitchFamily="34" charset="0"/>
                <a:ea typeface="Arial" pitchFamily="34" charset="-122"/>
                <a:cs typeface="Arial" pitchFamily="34" charset="-120"/>
              </a:rPr>
              <a:t>L2</a:t>
            </a:r>
            <a:endParaRPr lang="en-US" sz="1200" dirty="0"/>
          </a:p>
        </p:txBody>
      </p:sp>
      <p:sp>
        <p:nvSpPr>
          <p:cNvPr id="17" name="Shape 14"/>
          <p:cNvSpPr/>
          <p:nvPr/>
        </p:nvSpPr>
        <p:spPr>
          <a:xfrm>
            <a:off x="1234440" y="5532120"/>
            <a:ext cx="5715000" cy="914"/>
          </a:xfrm>
          <a:prstGeom prst="line">
            <a:avLst/>
          </a:prstGeom>
          <a:noFill/>
          <a:ln w="12700">
            <a:solidFill>
              <a:srgbClr val="D9DEE2"/>
            </a:solidFill>
            <a:prstDash val="solid"/>
          </a:ln>
        </p:spPr>
      </p:sp>
      <p:sp>
        <p:nvSpPr>
          <p:cNvPr id="18" name="Text 15"/>
          <p:cNvSpPr txBox="1"/>
          <p:nvPr/>
        </p:nvSpPr>
        <p:spPr>
          <a:xfrm>
            <a:off x="548640" y="5166360"/>
            <a:ext cx="548640" cy="731520"/>
          </a:xfrm>
          <a:prstGeom prst="rect">
            <a:avLst/>
          </a:prstGeom>
          <a:noFill/>
          <a:ln/>
        </p:spPr>
        <p:txBody>
          <a:bodyPr wrap="square" lIns="0" tIns="0" rIns="0" bIns="0" rtlCol="0" anchor="ctr"/>
          <a:lstStyle/>
          <a:p>
            <a:pPr indent="0" marL="0">
              <a:buNone/>
            </a:pPr>
            <a:r>
              <a:rPr lang="en-US" sz="1200" b="1" dirty="0">
                <a:solidFill>
                  <a:srgbClr val="5A5A5A"/>
                </a:solidFill>
                <a:latin typeface="Arial" pitchFamily="34" charset="0"/>
                <a:ea typeface="Arial" pitchFamily="34" charset="-122"/>
                <a:cs typeface="Arial" pitchFamily="34" charset="-120"/>
              </a:rPr>
              <a:t>L1</a:t>
            </a:r>
            <a:endParaRPr lang="en-US" sz="1200" dirty="0"/>
          </a:p>
        </p:txBody>
      </p:sp>
      <p:sp>
        <p:nvSpPr>
          <p:cNvPr id="19" name="Shape 16"/>
          <p:cNvSpPr/>
          <p:nvPr/>
        </p:nvSpPr>
        <p:spPr>
          <a:xfrm>
            <a:off x="1417320" y="4562856"/>
            <a:ext cx="1325880" cy="475488"/>
          </a:xfrm>
          <a:prstGeom prst="roundRect">
            <a:avLst>
              <a:gd name="adj" fmla="val 15385"/>
            </a:avLst>
          </a:prstGeom>
          <a:solidFill>
            <a:srgbClr val="FFFFFF"/>
          </a:solidFill>
          <a:ln w="15875">
            <a:solidFill>
              <a:srgbClr val="287079"/>
            </a:solidFill>
            <a:prstDash val="solid"/>
          </a:ln>
        </p:spPr>
      </p:sp>
      <p:sp>
        <p:nvSpPr>
          <p:cNvPr id="20" name="Text 17"/>
          <p:cNvSpPr txBox="1"/>
          <p:nvPr/>
        </p:nvSpPr>
        <p:spPr>
          <a:xfrm>
            <a:off x="1417320" y="4562856"/>
            <a:ext cx="1325880" cy="475488"/>
          </a:xfrm>
          <a:prstGeom prst="rect">
            <a:avLst/>
          </a:prstGeom>
          <a:noFill/>
          <a:ln/>
        </p:spPr>
        <p:txBody>
          <a:bodyPr wrap="square" lIns="0" tIns="0" rIns="0" bIns="0" rtlCol="0" anchor="ctr"/>
          <a:lstStyle/>
          <a:p>
            <a:pPr algn="ctr" indent="0" marL="0">
              <a:buNone/>
            </a:pPr>
            <a:r>
              <a:rPr lang="en-US" sz="1050" b="1" dirty="0">
                <a:solidFill>
                  <a:srgbClr val="1F2A33"/>
                </a:solidFill>
                <a:latin typeface="Arial" pitchFamily="34" charset="0"/>
                <a:ea typeface="Arial" pitchFamily="34" charset="-122"/>
                <a:cs typeface="Arial" pitchFamily="34" charset="-120"/>
              </a:rPr>
              <a:t>P04's job</a:t>
            </a:r>
            <a:endParaRPr lang="en-US" sz="1050" dirty="0"/>
          </a:p>
        </p:txBody>
      </p:sp>
      <p:sp>
        <p:nvSpPr>
          <p:cNvPr id="21" name="Shape 18"/>
          <p:cNvSpPr/>
          <p:nvPr/>
        </p:nvSpPr>
        <p:spPr>
          <a:xfrm>
            <a:off x="2834640" y="3831336"/>
            <a:ext cx="1325880" cy="475488"/>
          </a:xfrm>
          <a:prstGeom prst="roundRect">
            <a:avLst>
              <a:gd name="adj" fmla="val 15385"/>
            </a:avLst>
          </a:prstGeom>
          <a:solidFill>
            <a:srgbClr val="FFFFFF"/>
          </a:solidFill>
          <a:ln w="15875">
            <a:solidFill>
              <a:srgbClr val="287079"/>
            </a:solidFill>
            <a:prstDash val="solid"/>
          </a:ln>
        </p:spPr>
      </p:sp>
      <p:sp>
        <p:nvSpPr>
          <p:cNvPr id="22" name="Text 19"/>
          <p:cNvSpPr txBox="1"/>
          <p:nvPr/>
        </p:nvSpPr>
        <p:spPr>
          <a:xfrm>
            <a:off x="2834640" y="3831336"/>
            <a:ext cx="1325880" cy="475488"/>
          </a:xfrm>
          <a:prstGeom prst="rect">
            <a:avLst/>
          </a:prstGeom>
          <a:noFill/>
          <a:ln/>
        </p:spPr>
        <p:txBody>
          <a:bodyPr wrap="square" lIns="0" tIns="0" rIns="0" bIns="0" rtlCol="0" anchor="ctr"/>
          <a:lstStyle/>
          <a:p>
            <a:pPr algn="ctr" indent="0" marL="0">
              <a:buNone/>
            </a:pPr>
            <a:r>
              <a:rPr lang="en-US" sz="1050" b="1" dirty="0">
                <a:solidFill>
                  <a:srgbClr val="1F2A33"/>
                </a:solidFill>
                <a:latin typeface="Arial" pitchFamily="34" charset="0"/>
                <a:ea typeface="Arial" pitchFamily="34" charset="-122"/>
                <a:cs typeface="Arial" pitchFamily="34" charset="-120"/>
              </a:rPr>
              <a:t>P03's job</a:t>
            </a:r>
            <a:endParaRPr lang="en-US" sz="1050" dirty="0"/>
          </a:p>
        </p:txBody>
      </p:sp>
      <p:sp>
        <p:nvSpPr>
          <p:cNvPr id="23" name="Shape 20"/>
          <p:cNvSpPr/>
          <p:nvPr/>
        </p:nvSpPr>
        <p:spPr>
          <a:xfrm>
            <a:off x="4251960" y="3099816"/>
            <a:ext cx="1325880" cy="475488"/>
          </a:xfrm>
          <a:prstGeom prst="roundRect">
            <a:avLst>
              <a:gd name="adj" fmla="val 15385"/>
            </a:avLst>
          </a:prstGeom>
          <a:solidFill>
            <a:srgbClr val="FFFFFF"/>
          </a:solidFill>
          <a:ln w="15875">
            <a:solidFill>
              <a:srgbClr val="287079"/>
            </a:solidFill>
            <a:prstDash val="solid"/>
          </a:ln>
        </p:spPr>
      </p:sp>
      <p:sp>
        <p:nvSpPr>
          <p:cNvPr id="24" name="Text 21"/>
          <p:cNvSpPr txBox="1"/>
          <p:nvPr/>
        </p:nvSpPr>
        <p:spPr>
          <a:xfrm>
            <a:off x="4251960" y="3099816"/>
            <a:ext cx="1325880" cy="475488"/>
          </a:xfrm>
          <a:prstGeom prst="rect">
            <a:avLst/>
          </a:prstGeom>
          <a:noFill/>
          <a:ln/>
        </p:spPr>
        <p:txBody>
          <a:bodyPr wrap="square" lIns="0" tIns="0" rIns="0" bIns="0" rtlCol="0" anchor="ctr"/>
          <a:lstStyle/>
          <a:p>
            <a:pPr algn="ctr" indent="0" marL="0">
              <a:buNone/>
            </a:pPr>
            <a:r>
              <a:rPr lang="en-US" sz="1050" b="1" dirty="0">
                <a:solidFill>
                  <a:srgbClr val="1F2A33"/>
                </a:solidFill>
                <a:latin typeface="Arial" pitchFamily="34" charset="0"/>
                <a:ea typeface="Arial" pitchFamily="34" charset="-122"/>
                <a:cs typeface="Arial" pitchFamily="34" charset="-120"/>
              </a:rPr>
              <a:t>P01's job</a:t>
            </a:r>
            <a:endParaRPr lang="en-US" sz="1050" dirty="0"/>
          </a:p>
        </p:txBody>
      </p:sp>
      <p:sp>
        <p:nvSpPr>
          <p:cNvPr id="25" name="Shape 22"/>
          <p:cNvSpPr/>
          <p:nvPr/>
        </p:nvSpPr>
        <p:spPr>
          <a:xfrm>
            <a:off x="5669280" y="1636776"/>
            <a:ext cx="1325880" cy="475488"/>
          </a:xfrm>
          <a:prstGeom prst="roundRect">
            <a:avLst>
              <a:gd name="adj" fmla="val 15385"/>
            </a:avLst>
          </a:prstGeom>
          <a:solidFill>
            <a:srgbClr val="FFF0EC"/>
          </a:solidFill>
          <a:ln w="25400">
            <a:solidFill>
              <a:srgbClr val="FF462D"/>
            </a:solidFill>
            <a:prstDash val="solid"/>
          </a:ln>
        </p:spPr>
      </p:sp>
      <p:sp>
        <p:nvSpPr>
          <p:cNvPr id="26" name="Text 23"/>
          <p:cNvSpPr txBox="1"/>
          <p:nvPr/>
        </p:nvSpPr>
        <p:spPr>
          <a:xfrm>
            <a:off x="5669280" y="1636776"/>
            <a:ext cx="1325880" cy="475488"/>
          </a:xfrm>
          <a:prstGeom prst="rect">
            <a:avLst/>
          </a:prstGeom>
          <a:noFill/>
          <a:ln/>
        </p:spPr>
        <p:txBody>
          <a:bodyPr wrap="square" lIns="0" tIns="0" rIns="0" bIns="0" rtlCol="0" anchor="ctr"/>
          <a:lstStyle/>
          <a:p>
            <a:pPr algn="ctr" indent="0" marL="0">
              <a:buNone/>
            </a:pPr>
            <a:r>
              <a:rPr lang="en-US" sz="1050" b="1" dirty="0">
                <a:solidFill>
                  <a:srgbClr val="FF462D"/>
                </a:solidFill>
                <a:latin typeface="Arial" pitchFamily="34" charset="0"/>
                <a:ea typeface="Arial" pitchFamily="34" charset="-122"/>
                <a:cs typeface="Arial" pitchFamily="34" charset="-120"/>
              </a:rPr>
              <a:t>New job · Client F</a:t>
            </a:r>
            <a:endParaRPr lang="en-US" sz="1050" dirty="0"/>
          </a:p>
        </p:txBody>
      </p:sp>
      <p:sp>
        <p:nvSpPr>
          <p:cNvPr id="27" name="Shape 24"/>
          <p:cNvSpPr/>
          <p:nvPr/>
        </p:nvSpPr>
        <p:spPr>
          <a:xfrm flipV="1">
            <a:off x="2743200" y="4160520"/>
            <a:ext cx="91440" cy="530352"/>
          </a:xfrm>
          <a:prstGeom prst="line">
            <a:avLst/>
          </a:prstGeom>
          <a:noFill/>
          <a:ln w="31750">
            <a:solidFill>
              <a:srgbClr val="2E8656"/>
            </a:solidFill>
            <a:prstDash val="solid"/>
            <a:tailEnd type="arrow"/>
          </a:ln>
        </p:spPr>
      </p:sp>
      <p:sp>
        <p:nvSpPr>
          <p:cNvPr id="28" name="Shape 25"/>
          <p:cNvSpPr/>
          <p:nvPr/>
        </p:nvSpPr>
        <p:spPr>
          <a:xfrm>
            <a:off x="2542032" y="4160520"/>
            <a:ext cx="493776" cy="493776"/>
          </a:xfrm>
          <a:prstGeom prst="ellipse">
            <a:avLst/>
          </a:prstGeom>
          <a:solidFill>
            <a:srgbClr val="2E8656"/>
          </a:solidFill>
          <a:ln/>
        </p:spPr>
      </p:sp>
      <p:sp>
        <p:nvSpPr>
          <p:cNvPr id="29" name="Text 26"/>
          <p:cNvSpPr txBox="1"/>
          <p:nvPr/>
        </p:nvSpPr>
        <p:spPr>
          <a:xfrm>
            <a:off x="2423160" y="4160520"/>
            <a:ext cx="731520"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P04</a:t>
            </a:r>
            <a:endParaRPr lang="en-US" sz="1050" dirty="0"/>
          </a:p>
        </p:txBody>
      </p:sp>
      <p:sp>
        <p:nvSpPr>
          <p:cNvPr id="30" name="Shape 27"/>
          <p:cNvSpPr/>
          <p:nvPr/>
        </p:nvSpPr>
        <p:spPr>
          <a:xfrm flipV="1">
            <a:off x="4160520" y="3429000"/>
            <a:ext cx="91440" cy="530352"/>
          </a:xfrm>
          <a:prstGeom prst="line">
            <a:avLst/>
          </a:prstGeom>
          <a:noFill/>
          <a:ln w="31750">
            <a:solidFill>
              <a:srgbClr val="2E8656"/>
            </a:solidFill>
            <a:prstDash val="solid"/>
            <a:tailEnd type="arrow"/>
          </a:ln>
        </p:spPr>
      </p:sp>
      <p:sp>
        <p:nvSpPr>
          <p:cNvPr id="31" name="Shape 28"/>
          <p:cNvSpPr/>
          <p:nvPr/>
        </p:nvSpPr>
        <p:spPr>
          <a:xfrm>
            <a:off x="3959352" y="3429000"/>
            <a:ext cx="493776" cy="493776"/>
          </a:xfrm>
          <a:prstGeom prst="ellipse">
            <a:avLst/>
          </a:prstGeom>
          <a:solidFill>
            <a:srgbClr val="2E8656"/>
          </a:solidFill>
          <a:ln/>
        </p:spPr>
      </p:sp>
      <p:sp>
        <p:nvSpPr>
          <p:cNvPr id="32" name="Text 29"/>
          <p:cNvSpPr txBox="1"/>
          <p:nvPr/>
        </p:nvSpPr>
        <p:spPr>
          <a:xfrm>
            <a:off x="3840480" y="3429000"/>
            <a:ext cx="731520"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P03</a:t>
            </a:r>
            <a:endParaRPr lang="en-US" sz="1050" dirty="0"/>
          </a:p>
        </p:txBody>
      </p:sp>
      <p:sp>
        <p:nvSpPr>
          <p:cNvPr id="33" name="Shape 30"/>
          <p:cNvSpPr/>
          <p:nvPr/>
        </p:nvSpPr>
        <p:spPr>
          <a:xfrm flipV="1">
            <a:off x="5577840" y="1965960"/>
            <a:ext cx="91440" cy="1261872"/>
          </a:xfrm>
          <a:prstGeom prst="line">
            <a:avLst/>
          </a:prstGeom>
          <a:noFill/>
          <a:ln w="31750">
            <a:solidFill>
              <a:srgbClr val="2E8656"/>
            </a:solidFill>
            <a:prstDash val="solid"/>
            <a:tailEnd type="arrow"/>
          </a:ln>
        </p:spPr>
      </p:sp>
      <p:sp>
        <p:nvSpPr>
          <p:cNvPr id="34" name="Shape 31"/>
          <p:cNvSpPr/>
          <p:nvPr/>
        </p:nvSpPr>
        <p:spPr>
          <a:xfrm>
            <a:off x="5376672" y="2331720"/>
            <a:ext cx="493776" cy="493776"/>
          </a:xfrm>
          <a:prstGeom prst="ellipse">
            <a:avLst/>
          </a:prstGeom>
          <a:solidFill>
            <a:srgbClr val="2E8656"/>
          </a:solidFill>
          <a:ln/>
        </p:spPr>
      </p:sp>
      <p:sp>
        <p:nvSpPr>
          <p:cNvPr id="35" name="Text 32"/>
          <p:cNvSpPr txBox="1"/>
          <p:nvPr/>
        </p:nvSpPr>
        <p:spPr>
          <a:xfrm>
            <a:off x="5257800" y="2331720"/>
            <a:ext cx="731520" cy="493776"/>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P01</a:t>
            </a:r>
            <a:endParaRPr lang="en-US" sz="1050" dirty="0"/>
          </a:p>
        </p:txBody>
      </p:sp>
      <p:sp>
        <p:nvSpPr>
          <p:cNvPr id="36" name="Shape 33"/>
          <p:cNvSpPr/>
          <p:nvPr/>
        </p:nvSpPr>
        <p:spPr>
          <a:xfrm>
            <a:off x="1417320" y="5294376"/>
            <a:ext cx="1325880" cy="475488"/>
          </a:xfrm>
          <a:prstGeom prst="roundRect">
            <a:avLst>
              <a:gd name="adj" fmla="val 15385"/>
            </a:avLst>
          </a:prstGeom>
          <a:solidFill>
            <a:srgbClr val="F2F4F5"/>
          </a:solidFill>
          <a:ln w="15875">
            <a:solidFill>
              <a:srgbClr val="8A94A4"/>
            </a:solidFill>
            <a:prstDash val="solid"/>
          </a:ln>
        </p:spPr>
      </p:sp>
      <p:sp>
        <p:nvSpPr>
          <p:cNvPr id="37" name="Text 34"/>
          <p:cNvSpPr txBox="1"/>
          <p:nvPr/>
        </p:nvSpPr>
        <p:spPr>
          <a:xfrm>
            <a:off x="1417320" y="5294376"/>
            <a:ext cx="1325880" cy="475488"/>
          </a:xfrm>
          <a:prstGeom prst="rect">
            <a:avLst/>
          </a:prstGeom>
          <a:noFill/>
          <a:ln/>
        </p:spPr>
        <p:txBody>
          <a:bodyPr wrap="square" lIns="0" tIns="0" rIns="0" bIns="0" rtlCol="0" anchor="ctr"/>
          <a:lstStyle/>
          <a:p>
            <a:pPr algn="ctr" indent="0" marL="0">
              <a:buNone/>
            </a:pPr>
            <a:r>
              <a:rPr lang="en-US" sz="1050" b="1" dirty="0">
                <a:solidFill>
                  <a:srgbClr val="36454F"/>
                </a:solidFill>
                <a:latin typeface="Arial" pitchFamily="34" charset="0"/>
                <a:ea typeface="Arial" pitchFamily="34" charset="-122"/>
                <a:cs typeface="Arial" pitchFamily="34" charset="-120"/>
              </a:rPr>
              <a:t>Junior hire</a:t>
            </a:r>
            <a:endParaRPr lang="en-US" sz="1050" dirty="0"/>
          </a:p>
        </p:txBody>
      </p:sp>
      <p:sp>
        <p:nvSpPr>
          <p:cNvPr id="38" name="Shape 35"/>
          <p:cNvSpPr/>
          <p:nvPr/>
        </p:nvSpPr>
        <p:spPr>
          <a:xfrm flipV="1">
            <a:off x="2080260" y="5056632"/>
            <a:ext cx="914" cy="237744"/>
          </a:xfrm>
          <a:prstGeom prst="line">
            <a:avLst/>
          </a:prstGeom>
          <a:noFill/>
          <a:ln w="31750">
            <a:solidFill>
              <a:srgbClr val="8A94A4"/>
            </a:solidFill>
            <a:prstDash val="solid"/>
            <a:tailEnd type="arrow"/>
          </a:ln>
        </p:spPr>
      </p:sp>
      <p:sp>
        <p:nvSpPr>
          <p:cNvPr id="39" name="Shape 36"/>
          <p:cNvSpPr/>
          <p:nvPr/>
        </p:nvSpPr>
        <p:spPr>
          <a:xfrm>
            <a:off x="7086600" y="1618488"/>
            <a:ext cx="457200" cy="457200"/>
          </a:xfrm>
          <a:prstGeom prst="ellipse">
            <a:avLst/>
          </a:prstGeom>
          <a:solidFill>
            <a:srgbClr val="2E8656"/>
          </a:solidFill>
          <a:ln/>
        </p:spPr>
      </p:sp>
      <p:sp>
        <p:nvSpPr>
          <p:cNvPr id="40" name="Text 37"/>
          <p:cNvSpPr txBox="1"/>
          <p:nvPr/>
        </p:nvSpPr>
        <p:spPr>
          <a:xfrm>
            <a:off x="7086600" y="16184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41" name="Text 38"/>
          <p:cNvSpPr txBox="1"/>
          <p:nvPr/>
        </p:nvSpPr>
        <p:spPr>
          <a:xfrm>
            <a:off x="7680960" y="1508760"/>
            <a:ext cx="3931920" cy="384048"/>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P01</a:t>
            </a:r>
            <a:endParaRPr lang="en-US" sz="1500" dirty="0"/>
          </a:p>
        </p:txBody>
      </p:sp>
      <p:sp>
        <p:nvSpPr>
          <p:cNvPr id="42" name="Text 39"/>
          <p:cNvSpPr txBox="1"/>
          <p:nvPr/>
        </p:nvSpPr>
        <p:spPr>
          <a:xfrm>
            <a:off x="7680960" y="1874520"/>
            <a:ext cx="3959352" cy="640080"/>
          </a:xfrm>
          <a:prstGeom prst="rect">
            <a:avLst/>
          </a:prstGeom>
          <a:noFill/>
          <a:ln/>
        </p:spPr>
        <p:txBody>
          <a:bodyPr wrap="square" lIns="0" tIns="0" rIns="0" bIns="0" rtlCol="0" anchor="t"/>
          <a:lstStyle/>
          <a:p>
            <a:pPr indent="0" marL="0">
              <a:buNone/>
            </a:pPr>
            <a:r>
              <a:rPr lang="en-US" sz="1250" dirty="0">
                <a:solidFill>
                  <a:srgbClr val="5A5A5A"/>
                </a:solidFill>
                <a:latin typeface="Arial" pitchFamily="34" charset="0"/>
                <a:ea typeface="Arial" pitchFamily="34" charset="-122"/>
                <a:cs typeface="Arial" pitchFamily="34" charset="-120"/>
              </a:rPr>
              <a:t>Qualified for level 6, doing level 4 work. Moves up to the new job.</a:t>
            </a:r>
            <a:endParaRPr lang="en-US" sz="1250" dirty="0"/>
          </a:p>
        </p:txBody>
      </p:sp>
      <p:sp>
        <p:nvSpPr>
          <p:cNvPr id="43" name="Shape 40"/>
          <p:cNvSpPr/>
          <p:nvPr/>
        </p:nvSpPr>
        <p:spPr>
          <a:xfrm>
            <a:off x="7086600" y="2642616"/>
            <a:ext cx="457200" cy="457200"/>
          </a:xfrm>
          <a:prstGeom prst="ellipse">
            <a:avLst/>
          </a:prstGeom>
          <a:solidFill>
            <a:srgbClr val="2E8656"/>
          </a:solidFill>
          <a:ln/>
        </p:spPr>
      </p:sp>
      <p:sp>
        <p:nvSpPr>
          <p:cNvPr id="44" name="Text 41"/>
          <p:cNvSpPr txBox="1"/>
          <p:nvPr/>
        </p:nvSpPr>
        <p:spPr>
          <a:xfrm>
            <a:off x="7086600" y="26426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5" name="Text 42"/>
          <p:cNvSpPr txBox="1"/>
          <p:nvPr/>
        </p:nvSpPr>
        <p:spPr>
          <a:xfrm>
            <a:off x="7680960" y="2532888"/>
            <a:ext cx="3931920" cy="384048"/>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P03</a:t>
            </a:r>
            <a:endParaRPr lang="en-US" sz="1500" dirty="0"/>
          </a:p>
        </p:txBody>
      </p:sp>
      <p:sp>
        <p:nvSpPr>
          <p:cNvPr id="46" name="Text 43"/>
          <p:cNvSpPr txBox="1"/>
          <p:nvPr/>
        </p:nvSpPr>
        <p:spPr>
          <a:xfrm>
            <a:off x="7680960" y="2898648"/>
            <a:ext cx="3959352" cy="640080"/>
          </a:xfrm>
          <a:prstGeom prst="rect">
            <a:avLst/>
          </a:prstGeom>
          <a:noFill/>
          <a:ln/>
        </p:spPr>
        <p:txBody>
          <a:bodyPr wrap="square" lIns="0" tIns="0" rIns="0" bIns="0" rtlCol="0" anchor="t"/>
          <a:lstStyle/>
          <a:p>
            <a:pPr indent="0" marL="0">
              <a:buNone/>
            </a:pPr>
            <a:r>
              <a:rPr lang="en-US" sz="1250" dirty="0">
                <a:solidFill>
                  <a:srgbClr val="5A5A5A"/>
                </a:solidFill>
                <a:latin typeface="Arial" pitchFamily="34" charset="0"/>
                <a:ea typeface="Arial" pitchFamily="34" charset="-122"/>
                <a:cs typeface="Arial" pitchFamily="34" charset="-120"/>
              </a:rPr>
              <a:t>Qualified for level 4. Steps into the job P01 left.</a:t>
            </a:r>
            <a:endParaRPr lang="en-US" sz="1250" dirty="0"/>
          </a:p>
        </p:txBody>
      </p:sp>
      <p:sp>
        <p:nvSpPr>
          <p:cNvPr id="47" name="Shape 44"/>
          <p:cNvSpPr/>
          <p:nvPr/>
        </p:nvSpPr>
        <p:spPr>
          <a:xfrm>
            <a:off x="7086600" y="3666744"/>
            <a:ext cx="457200" cy="457200"/>
          </a:xfrm>
          <a:prstGeom prst="ellipse">
            <a:avLst/>
          </a:prstGeom>
          <a:solidFill>
            <a:srgbClr val="2E8656"/>
          </a:solidFill>
          <a:ln/>
        </p:spPr>
      </p:sp>
      <p:sp>
        <p:nvSpPr>
          <p:cNvPr id="48" name="Text 45"/>
          <p:cNvSpPr txBox="1"/>
          <p:nvPr/>
        </p:nvSpPr>
        <p:spPr>
          <a:xfrm>
            <a:off x="7086600" y="36667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9" name="Text 46"/>
          <p:cNvSpPr txBox="1"/>
          <p:nvPr/>
        </p:nvSpPr>
        <p:spPr>
          <a:xfrm>
            <a:off x="7680960" y="3557016"/>
            <a:ext cx="3931920" cy="384048"/>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P04</a:t>
            </a:r>
            <a:endParaRPr lang="en-US" sz="1500" dirty="0"/>
          </a:p>
        </p:txBody>
      </p:sp>
      <p:sp>
        <p:nvSpPr>
          <p:cNvPr id="50" name="Text 47"/>
          <p:cNvSpPr txBox="1"/>
          <p:nvPr/>
        </p:nvSpPr>
        <p:spPr>
          <a:xfrm>
            <a:off x="7680960" y="3922776"/>
            <a:ext cx="3959352" cy="640080"/>
          </a:xfrm>
          <a:prstGeom prst="rect">
            <a:avLst/>
          </a:prstGeom>
          <a:noFill/>
          <a:ln/>
        </p:spPr>
        <p:txBody>
          <a:bodyPr wrap="square" lIns="0" tIns="0" rIns="0" bIns="0" rtlCol="0" anchor="t"/>
          <a:lstStyle/>
          <a:p>
            <a:pPr indent="0" marL="0">
              <a:buNone/>
            </a:pPr>
            <a:r>
              <a:rPr lang="en-US" sz="1250" dirty="0">
                <a:solidFill>
                  <a:srgbClr val="5A5A5A"/>
                </a:solidFill>
                <a:latin typeface="Arial" pitchFamily="34" charset="0"/>
                <a:ea typeface="Arial" pitchFamily="34" charset="-122"/>
                <a:cs typeface="Arial" pitchFamily="34" charset="-120"/>
              </a:rPr>
              <a:t>Qualified for level 3. Steps into the job P03 left.</a:t>
            </a:r>
            <a:endParaRPr lang="en-US" sz="1250" dirty="0"/>
          </a:p>
        </p:txBody>
      </p:sp>
      <p:sp>
        <p:nvSpPr>
          <p:cNvPr id="51" name="Shape 48"/>
          <p:cNvSpPr/>
          <p:nvPr/>
        </p:nvSpPr>
        <p:spPr>
          <a:xfrm>
            <a:off x="7086600" y="4690872"/>
            <a:ext cx="457200" cy="457200"/>
          </a:xfrm>
          <a:prstGeom prst="ellipse">
            <a:avLst/>
          </a:prstGeom>
          <a:solidFill>
            <a:srgbClr val="8A94A4"/>
          </a:solidFill>
          <a:ln/>
        </p:spPr>
      </p:sp>
      <p:sp>
        <p:nvSpPr>
          <p:cNvPr id="52" name="Text 49"/>
          <p:cNvSpPr txBox="1"/>
          <p:nvPr/>
        </p:nvSpPr>
        <p:spPr>
          <a:xfrm>
            <a:off x="7086600" y="46908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53" name="Text 50"/>
          <p:cNvSpPr txBox="1"/>
          <p:nvPr/>
        </p:nvSpPr>
        <p:spPr>
          <a:xfrm>
            <a:off x="7680960" y="4581144"/>
            <a:ext cx="3931920" cy="384048"/>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Junior hire</a:t>
            </a:r>
            <a:endParaRPr lang="en-US" sz="1500" dirty="0"/>
          </a:p>
        </p:txBody>
      </p:sp>
      <p:sp>
        <p:nvSpPr>
          <p:cNvPr id="54" name="Text 51"/>
          <p:cNvSpPr txBox="1"/>
          <p:nvPr/>
        </p:nvSpPr>
        <p:spPr>
          <a:xfrm>
            <a:off x="7680960" y="4946904"/>
            <a:ext cx="3959352" cy="640080"/>
          </a:xfrm>
          <a:prstGeom prst="rect">
            <a:avLst/>
          </a:prstGeom>
          <a:noFill/>
          <a:ln/>
        </p:spPr>
        <p:txBody>
          <a:bodyPr wrap="square" lIns="0" tIns="0" rIns="0" bIns="0" rtlCol="0" anchor="t"/>
          <a:lstStyle/>
          <a:p>
            <a:pPr indent="0" marL="0">
              <a:buNone/>
            </a:pPr>
            <a:r>
              <a:rPr lang="en-US" sz="1250" dirty="0">
                <a:solidFill>
                  <a:srgbClr val="5A5A5A"/>
                </a:solidFill>
                <a:latin typeface="Arial" pitchFamily="34" charset="0"/>
                <a:ea typeface="Arial" pitchFamily="34" charset="-122"/>
                <a:cs typeface="Arial" pitchFamily="34" charset="-120"/>
              </a:rPr>
              <a:t>A junior hire fills the last job, at level 2.</a:t>
            </a:r>
            <a:endParaRPr lang="en-US" sz="1250" dirty="0"/>
          </a:p>
        </p:txBody>
      </p:sp>
      <p:sp>
        <p:nvSpPr>
          <p:cNvPr id="55" name="Shape 52"/>
          <p:cNvSpPr/>
          <p:nvPr/>
        </p:nvSpPr>
        <p:spPr>
          <a:xfrm>
            <a:off x="7086600" y="5623560"/>
            <a:ext cx="4553712" cy="640080"/>
          </a:xfrm>
          <a:prstGeom prst="roundRect">
            <a:avLst>
              <a:gd name="adj" fmla="val 11429"/>
            </a:avLst>
          </a:prstGeom>
          <a:solidFill>
            <a:srgbClr val="E3F1E9"/>
          </a:solidFill>
          <a:ln/>
        </p:spPr>
      </p:sp>
      <p:sp>
        <p:nvSpPr>
          <p:cNvPr id="56" name="Text 53"/>
          <p:cNvSpPr txBox="1"/>
          <p:nvPr/>
        </p:nvSpPr>
        <p:spPr>
          <a:xfrm>
            <a:off x="7269480" y="5623560"/>
            <a:ext cx="4206240" cy="640080"/>
          </a:xfrm>
          <a:prstGeom prst="rect">
            <a:avLst/>
          </a:prstGeom>
          <a:noFill/>
          <a:ln/>
        </p:spPr>
        <p:txBody>
          <a:bodyPr wrap="square" lIns="0" tIns="0" rIns="0" bIns="0" rtlCol="0" anchor="ctr"/>
          <a:lstStyle/>
          <a:p>
            <a:pPr indent="0" marL="0">
              <a:buNone/>
            </a:pPr>
            <a:r>
              <a:rPr lang="en-US" sz="1600" b="1" dirty="0">
                <a:solidFill>
                  <a:srgbClr val="2E8656"/>
                </a:solidFill>
                <a:latin typeface="Arial" pitchFamily="34" charset="0"/>
                <a:ea typeface="Arial" pitchFamily="34" charset="-122"/>
                <a:cs typeface="Arial" pitchFamily="34" charset="-120"/>
              </a:rPr>
              <a:t>Every client keeps full cover.</a:t>
            </a:r>
            <a:endParaRPr lang="en-US" sz="16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THE ROTATION SKETCH · INVENTED DATA · DRAFT RULES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What planning moves can do</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11:45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163</a:t>
            </a:r>
            <a:endParaRPr lang="en-US" sz="1000" dirty="0"/>
          </a:p>
        </p:txBody>
      </p:sp>
      <p:sp>
        <p:nvSpPr>
          <p:cNvPr id="7" name="Shape 4"/>
          <p:cNvSpPr/>
          <p:nvPr/>
        </p:nvSpPr>
        <p:spPr>
          <a:xfrm>
            <a:off x="548640" y="1600200"/>
            <a:ext cx="3566160" cy="3291840"/>
          </a:xfrm>
          <a:prstGeom prst="roundRect">
            <a:avLst>
              <a:gd name="adj" fmla="val 2222"/>
            </a:avLst>
          </a:prstGeom>
          <a:solidFill>
            <a:srgbClr val="FFFFFF"/>
          </a:solidFill>
          <a:ln w="12700">
            <a:solidFill>
              <a:srgbClr val="D9DEE2"/>
            </a:solidFill>
            <a:prstDash val="solid"/>
          </a:ln>
        </p:spPr>
      </p:sp>
      <p:sp>
        <p:nvSpPr>
          <p:cNvPr id="8" name="Text 5"/>
          <p:cNvSpPr txBox="1"/>
          <p:nvPr/>
        </p:nvSpPr>
        <p:spPr>
          <a:xfrm>
            <a:off x="731520" y="1828800"/>
            <a:ext cx="3200400" cy="1188720"/>
          </a:xfrm>
          <a:prstGeom prst="rect">
            <a:avLst/>
          </a:prstGeom>
          <a:noFill/>
          <a:ln/>
        </p:spPr>
        <p:txBody>
          <a:bodyPr wrap="square" lIns="0" tIns="0" rIns="0" bIns="0" rtlCol="0" anchor="ctr"/>
          <a:lstStyle/>
          <a:p>
            <a:pPr algn="ctr" indent="0" marL="0">
              <a:buNone/>
            </a:pPr>
            <a:r>
              <a:rPr lang="en-US" sz="4600" b="1" dirty="0">
                <a:solidFill>
                  <a:srgbClr val="287079"/>
                </a:solidFill>
                <a:latin typeface="Arial" pitchFamily="34" charset="0"/>
                <a:ea typeface="Arial" pitchFamily="34" charset="-122"/>
                <a:cs typeface="Arial" pitchFamily="34" charset="-120"/>
              </a:rPr>
              <a:t>3 of 4</a:t>
            </a:r>
            <a:endParaRPr lang="en-US" sz="4600" dirty="0"/>
          </a:p>
        </p:txBody>
      </p:sp>
      <p:sp>
        <p:nvSpPr>
          <p:cNvPr id="9" name="Text 6"/>
          <p:cNvSpPr txBox="1"/>
          <p:nvPr/>
        </p:nvSpPr>
        <p:spPr>
          <a:xfrm>
            <a:off x="822960" y="3154680"/>
            <a:ext cx="3017520" cy="1463040"/>
          </a:xfrm>
          <a:prstGeom prst="rect">
            <a:avLst/>
          </a:prstGeom>
          <a:noFill/>
          <a:ln/>
        </p:spPr>
        <p:txBody>
          <a:bodyPr wrap="square" lIns="0" tIns="0" rIns="0" bIns="0" rtlCol="0" anchor="t"/>
          <a:lstStyle/>
          <a:p>
            <a:pPr algn="ctr" indent="0" marL="0">
              <a:buNone/>
            </a:pPr>
            <a:r>
              <a:rPr lang="en-US" sz="1600" dirty="0">
                <a:solidFill>
                  <a:srgbClr val="1F2A33"/>
                </a:solidFill>
                <a:latin typeface="Arial" pitchFamily="34" charset="0"/>
                <a:ea typeface="Arial" pitchFamily="34" charset="-122"/>
                <a:cs typeface="Arial" pitchFamily="34" charset="-120"/>
              </a:rPr>
              <a:t>new jobs filled by moving people up: Cloud level 6, Apps level 5, Data level 4. Not the Security level 5 job.</a:t>
            </a:r>
            <a:endParaRPr lang="en-US" sz="1600" dirty="0"/>
          </a:p>
        </p:txBody>
      </p:sp>
      <p:sp>
        <p:nvSpPr>
          <p:cNvPr id="10" name="Shape 7"/>
          <p:cNvSpPr/>
          <p:nvPr/>
        </p:nvSpPr>
        <p:spPr>
          <a:xfrm>
            <a:off x="4297680" y="1600200"/>
            <a:ext cx="3566160" cy="3291840"/>
          </a:xfrm>
          <a:prstGeom prst="roundRect">
            <a:avLst>
              <a:gd name="adj" fmla="val 2222"/>
            </a:avLst>
          </a:prstGeom>
          <a:solidFill>
            <a:srgbClr val="FFFFFF"/>
          </a:solidFill>
          <a:ln w="12700">
            <a:solidFill>
              <a:srgbClr val="D9DEE2"/>
            </a:solidFill>
            <a:prstDash val="solid"/>
          </a:ln>
        </p:spPr>
      </p:sp>
      <p:sp>
        <p:nvSpPr>
          <p:cNvPr id="11" name="Text 8"/>
          <p:cNvSpPr txBox="1"/>
          <p:nvPr/>
        </p:nvSpPr>
        <p:spPr>
          <a:xfrm>
            <a:off x="4480560" y="1828800"/>
            <a:ext cx="3200400" cy="1188720"/>
          </a:xfrm>
          <a:prstGeom prst="rect">
            <a:avLst/>
          </a:prstGeom>
          <a:noFill/>
          <a:ln/>
        </p:spPr>
        <p:txBody>
          <a:bodyPr wrap="square" lIns="0" tIns="0" rIns="0" bIns="0" rtlCol="0" anchor="ctr"/>
          <a:lstStyle/>
          <a:p>
            <a:pPr algn="ctr" indent="0" marL="0">
              <a:buNone/>
            </a:pPr>
            <a:r>
              <a:rPr lang="en-US" sz="4600" b="1" dirty="0">
                <a:solidFill>
                  <a:srgbClr val="2E8656"/>
                </a:solidFill>
                <a:latin typeface="Arial" pitchFamily="34" charset="0"/>
                <a:ea typeface="Arial" pitchFamily="34" charset="-122"/>
                <a:cs typeface="Arial" pitchFamily="34" charset="-120"/>
              </a:rPr>
              <a:t>8 → 16</a:t>
            </a:r>
            <a:endParaRPr lang="en-US" sz="4600" dirty="0"/>
          </a:p>
        </p:txBody>
      </p:sp>
      <p:sp>
        <p:nvSpPr>
          <p:cNvPr id="12" name="Text 9"/>
          <p:cNvSpPr txBox="1"/>
          <p:nvPr/>
        </p:nvSpPr>
        <p:spPr>
          <a:xfrm>
            <a:off x="4572000" y="3154680"/>
            <a:ext cx="3017520" cy="1463040"/>
          </a:xfrm>
          <a:prstGeom prst="rect">
            <a:avLst/>
          </a:prstGeom>
          <a:noFill/>
          <a:ln/>
        </p:spPr>
        <p:txBody>
          <a:bodyPr wrap="square" lIns="0" tIns="0" rIns="0" bIns="0" rtlCol="0" anchor="t"/>
          <a:lstStyle/>
          <a:p>
            <a:pPr algn="ctr" indent="0" marL="0">
              <a:buNone/>
            </a:pPr>
            <a:r>
              <a:rPr lang="en-US" sz="1600" dirty="0">
                <a:solidFill>
                  <a:srgbClr val="1F2A33"/>
                </a:solidFill>
                <a:latin typeface="Arial" pitchFamily="34" charset="0"/>
                <a:ea typeface="Arial" pitchFamily="34" charset="-122"/>
                <a:cs typeface="Arial" pitchFamily="34" charset="-120"/>
              </a:rPr>
              <a:t>people working at the top of their license</a:t>
            </a:r>
            <a:endParaRPr lang="en-US" sz="1600" dirty="0"/>
          </a:p>
        </p:txBody>
      </p:sp>
      <p:sp>
        <p:nvSpPr>
          <p:cNvPr id="13" name="Shape 10"/>
          <p:cNvSpPr/>
          <p:nvPr/>
        </p:nvSpPr>
        <p:spPr>
          <a:xfrm>
            <a:off x="8046720" y="1600200"/>
            <a:ext cx="3566160" cy="3291840"/>
          </a:xfrm>
          <a:prstGeom prst="roundRect">
            <a:avLst>
              <a:gd name="adj" fmla="val 2222"/>
            </a:avLst>
          </a:prstGeom>
          <a:solidFill>
            <a:srgbClr val="FFFFFF"/>
          </a:solidFill>
          <a:ln w="12700">
            <a:solidFill>
              <a:srgbClr val="D9DEE2"/>
            </a:solidFill>
            <a:prstDash val="solid"/>
          </a:ln>
        </p:spPr>
      </p:sp>
      <p:sp>
        <p:nvSpPr>
          <p:cNvPr id="14" name="Text 11"/>
          <p:cNvSpPr txBox="1"/>
          <p:nvPr/>
        </p:nvSpPr>
        <p:spPr>
          <a:xfrm>
            <a:off x="8229600" y="1828800"/>
            <a:ext cx="3200400" cy="1188720"/>
          </a:xfrm>
          <a:prstGeom prst="rect">
            <a:avLst/>
          </a:prstGeom>
          <a:noFill/>
          <a:ln/>
        </p:spPr>
        <p:txBody>
          <a:bodyPr wrap="square" lIns="0" tIns="0" rIns="0" bIns="0" rtlCol="0" anchor="ctr"/>
          <a:lstStyle/>
          <a:p>
            <a:pPr algn="ctr" indent="0" marL="0">
              <a:buNone/>
            </a:pPr>
            <a:r>
              <a:rPr lang="en-US" sz="4600" b="1" dirty="0">
                <a:solidFill>
                  <a:srgbClr val="36454F"/>
                </a:solidFill>
                <a:latin typeface="Arial" pitchFamily="34" charset="0"/>
                <a:ea typeface="Arial" pitchFamily="34" charset="-122"/>
                <a:cs typeface="Arial" pitchFamily="34" charset="-120"/>
              </a:rPr>
              <a:t>3 vs 2</a:t>
            </a:r>
            <a:endParaRPr lang="en-US" sz="4600" dirty="0"/>
          </a:p>
        </p:txBody>
      </p:sp>
      <p:sp>
        <p:nvSpPr>
          <p:cNvPr id="15" name="Text 12"/>
          <p:cNvSpPr txBox="1"/>
          <p:nvPr/>
        </p:nvSpPr>
        <p:spPr>
          <a:xfrm>
            <a:off x="8321040" y="3154680"/>
            <a:ext cx="3017520" cy="1463040"/>
          </a:xfrm>
          <a:prstGeom prst="rect">
            <a:avLst/>
          </a:prstGeom>
          <a:noFill/>
          <a:ln/>
        </p:spPr>
        <p:txBody>
          <a:bodyPr wrap="square" lIns="0" tIns="0" rIns="0" bIns="0" rtlCol="0" anchor="t"/>
          <a:lstStyle/>
          <a:p>
            <a:pPr algn="ctr" indent="0" marL="0">
              <a:buNone/>
            </a:pPr>
            <a:r>
              <a:rPr lang="en-US" sz="1600" dirty="0">
                <a:solidFill>
                  <a:srgbClr val="1F2A33"/>
                </a:solidFill>
                <a:latin typeface="Arial" pitchFamily="34" charset="0"/>
                <a:ea typeface="Arial" pitchFamily="34" charset="-122"/>
                <a:cs typeface="Arial" pitchFamily="34" charset="-120"/>
              </a:rPr>
              <a:t>jobs filled when moves are planned together, against one at a time</a:t>
            </a:r>
            <a:endParaRPr lang="en-US" sz="1600" dirty="0"/>
          </a:p>
        </p:txBody>
      </p:sp>
      <p:sp>
        <p:nvSpPr>
          <p:cNvPr id="16" name="Shape 13"/>
          <p:cNvSpPr/>
          <p:nvPr/>
        </p:nvSpPr>
        <p:spPr>
          <a:xfrm>
            <a:off x="548640" y="5166360"/>
            <a:ext cx="11091672" cy="868680"/>
          </a:xfrm>
          <a:prstGeom prst="roundRect">
            <a:avLst>
              <a:gd name="adj" fmla="val 8421"/>
            </a:avLst>
          </a:prstGeom>
          <a:solidFill>
            <a:srgbClr val="FDF3E1"/>
          </a:solidFill>
          <a:ln/>
        </p:spPr>
      </p:sp>
      <p:pic>
        <p:nvPicPr>
          <p:cNvPr id="17" name="Image 1" descr="/private/tmp/claude-501/-Users-salehhamed-Outcome-Engine/91861432-41e2-4884-bc97-63c6dff2d021/scratchpad/wk/icons/TbAlertTriangle-amber.png">    </p:cNvPr>
          <p:cNvPicPr>
            <a:picLocks noChangeAspect="1"/>
          </p:cNvPicPr>
          <p:nvPr/>
        </p:nvPicPr>
        <p:blipFill>
          <a:blip r:embed="rId4"/>
          <a:stretch>
            <a:fillRect/>
          </a:stretch>
        </p:blipFill>
        <p:spPr>
          <a:xfrm>
            <a:off x="822960" y="5303520"/>
            <a:ext cx="548640" cy="548640"/>
          </a:xfrm>
          <a:prstGeom prst="rect">
            <a:avLst/>
          </a:prstGeom>
        </p:spPr>
      </p:pic>
      <p:sp>
        <p:nvSpPr>
          <p:cNvPr id="18" name="Text 14"/>
          <p:cNvSpPr txBox="1"/>
          <p:nvPr/>
        </p:nvSpPr>
        <p:spPr>
          <a:xfrm>
            <a:off x="1600200" y="5166360"/>
            <a:ext cx="9875520" cy="868680"/>
          </a:xfrm>
          <a:prstGeom prst="rect">
            <a:avLst/>
          </a:prstGeom>
          <a:noFill/>
          <a:ln/>
        </p:spPr>
        <p:txBody>
          <a:bodyPr wrap="square" lIns="0" tIns="0" rIns="0" bIns="0" rtlCol="0" anchor="ctr"/>
          <a:lstStyle/>
          <a:p>
            <a:pPr indent="0" marL="0">
              <a:buNone/>
            </a:pPr>
            <a:r>
              <a:rPr lang="en-US" sz="1700" b="1" dirty="0">
                <a:solidFill>
                  <a:srgbClr val="1F2A33"/>
                </a:solidFill>
                <a:latin typeface="Arial" pitchFamily="34" charset="0"/>
                <a:ea typeface="Arial" pitchFamily="34" charset="-122"/>
                <a:cs typeface="Arial" pitchFamily="34" charset="-120"/>
              </a:rPr>
              <a:t>The fourth job stays stuck. Each person who could do it is held back by a rule.</a:t>
            </a:r>
            <a:endParaRPr lang="en-US" sz="17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TO AGREE WITH THE MARKETS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Five rules for a move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11:45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164</a:t>
            </a:r>
            <a:endParaRPr lang="en-US" sz="1000" dirty="0"/>
          </a:p>
        </p:txBody>
      </p:sp>
      <p:sp>
        <p:nvSpPr>
          <p:cNvPr id="7" name="Shape 4"/>
          <p:cNvSpPr/>
          <p:nvPr/>
        </p:nvSpPr>
        <p:spPr>
          <a:xfrm>
            <a:off x="548640" y="1554480"/>
            <a:ext cx="2103120" cy="4297680"/>
          </a:xfrm>
          <a:prstGeom prst="roundRect">
            <a:avLst>
              <a:gd name="adj" fmla="val 3478"/>
            </a:avLst>
          </a:prstGeom>
          <a:solidFill>
            <a:srgbClr val="FFFFFF"/>
          </a:solidFill>
          <a:ln w="12700">
            <a:solidFill>
              <a:srgbClr val="D9DEE2"/>
            </a:solidFill>
            <a:prstDash val="solid"/>
          </a:ln>
        </p:spPr>
      </p:sp>
      <p:sp>
        <p:nvSpPr>
          <p:cNvPr id="8" name="Shape 5"/>
          <p:cNvSpPr/>
          <p:nvPr/>
        </p:nvSpPr>
        <p:spPr>
          <a:xfrm>
            <a:off x="1143000" y="1737360"/>
            <a:ext cx="914400" cy="914400"/>
          </a:xfrm>
          <a:prstGeom prst="ellipse">
            <a:avLst/>
          </a:prstGeom>
          <a:solidFill>
            <a:srgbClr val="287079"/>
          </a:solidFill>
          <a:ln/>
        </p:spPr>
      </p:sp>
      <p:pic>
        <p:nvPicPr>
          <p:cNvPr id="9" name="Image 1" descr="/private/tmp/claude-501/-Users-salehhamed-Outcome-Engine/91861432-41e2-4884-bc97-63c6dff2d021/scratchpad/wk/icons/TbHourglass-white.png">    </p:cNvPr>
          <p:cNvPicPr>
            <a:picLocks noChangeAspect="1"/>
          </p:cNvPicPr>
          <p:nvPr/>
        </p:nvPicPr>
        <p:blipFill>
          <a:blip r:embed="rId4"/>
          <a:stretch>
            <a:fillRect/>
          </a:stretch>
        </p:blipFill>
        <p:spPr>
          <a:xfrm>
            <a:off x="1325880" y="1920240"/>
            <a:ext cx="548640" cy="548640"/>
          </a:xfrm>
          <a:prstGeom prst="rect">
            <a:avLst/>
          </a:prstGeom>
        </p:spPr>
      </p:pic>
      <p:sp>
        <p:nvSpPr>
          <p:cNvPr id="10" name="Text 6"/>
          <p:cNvSpPr txBox="1"/>
          <p:nvPr/>
        </p:nvSpPr>
        <p:spPr>
          <a:xfrm>
            <a:off x="658368" y="2788920"/>
            <a:ext cx="1883664" cy="731520"/>
          </a:xfrm>
          <a:prstGeom prst="rect">
            <a:avLst/>
          </a:prstGeom>
          <a:noFill/>
          <a:ln/>
        </p:spPr>
        <p:txBody>
          <a:bodyPr wrap="square" lIns="0" tIns="0" rIns="0" bIns="0" rtlCol="0" anchor="t"/>
          <a:lstStyle/>
          <a:p>
            <a:pPr algn="ctr" indent="0" marL="0">
              <a:buNone/>
            </a:pPr>
            <a:r>
              <a:rPr lang="en-US" sz="1600" b="1" dirty="0">
                <a:solidFill>
                  <a:srgbClr val="1F2A33"/>
                </a:solidFill>
                <a:latin typeface="Arial" pitchFamily="34" charset="0"/>
                <a:ea typeface="Arial" pitchFamily="34" charset="-122"/>
                <a:cs typeface="Arial" pitchFamily="34" charset="-120"/>
              </a:rPr>
              <a:t>Time in role</a:t>
            </a:r>
            <a:endParaRPr lang="en-US" sz="1600" dirty="0"/>
          </a:p>
        </p:txBody>
      </p:sp>
      <p:sp>
        <p:nvSpPr>
          <p:cNvPr id="11" name="Text 7"/>
          <p:cNvSpPr txBox="1"/>
          <p:nvPr/>
        </p:nvSpPr>
        <p:spPr>
          <a:xfrm>
            <a:off x="658368" y="3520440"/>
            <a:ext cx="1883664" cy="1005840"/>
          </a:xfrm>
          <a:prstGeom prst="rect">
            <a:avLst/>
          </a:prstGeom>
          <a:noFill/>
          <a:ln/>
        </p:spPr>
        <p:txBody>
          <a:bodyPr wrap="square" lIns="0" tIns="0" rIns="0" bIns="0" rtlCol="0" anchor="t"/>
          <a:lstStyle/>
          <a:p>
            <a:pPr algn="ctr" indent="0" marL="0">
              <a:buNone/>
            </a:pPr>
            <a:r>
              <a:rPr lang="en-US" sz="1250" dirty="0">
                <a:solidFill>
                  <a:srgbClr val="5A5A5A"/>
                </a:solidFill>
                <a:latin typeface="Arial" pitchFamily="34" charset="0"/>
                <a:ea typeface="Arial" pitchFamily="34" charset="-122"/>
                <a:cs typeface="Arial" pitchFamily="34" charset="-120"/>
              </a:rPr>
              <a:t>Months on an account before a move, by grade.</a:t>
            </a:r>
            <a:endParaRPr lang="en-US" sz="1250" dirty="0"/>
          </a:p>
        </p:txBody>
      </p:sp>
      <p:sp>
        <p:nvSpPr>
          <p:cNvPr id="12" name="Shape 8"/>
          <p:cNvSpPr/>
          <p:nvPr/>
        </p:nvSpPr>
        <p:spPr>
          <a:xfrm>
            <a:off x="658368" y="4617720"/>
            <a:ext cx="1883664" cy="1097280"/>
          </a:xfrm>
          <a:prstGeom prst="roundRect">
            <a:avLst>
              <a:gd name="adj" fmla="val 6667"/>
            </a:avLst>
          </a:prstGeom>
          <a:solidFill>
            <a:srgbClr val="FDF3E1"/>
          </a:solidFill>
          <a:ln/>
        </p:spPr>
      </p:sp>
      <p:sp>
        <p:nvSpPr>
          <p:cNvPr id="13" name="Text 9"/>
          <p:cNvSpPr txBox="1"/>
          <p:nvPr/>
        </p:nvSpPr>
        <p:spPr>
          <a:xfrm>
            <a:off x="731520" y="4617720"/>
            <a:ext cx="1737360" cy="1097280"/>
          </a:xfrm>
          <a:prstGeom prst="rect">
            <a:avLst/>
          </a:prstGeom>
          <a:noFill/>
          <a:ln/>
        </p:spPr>
        <p:txBody>
          <a:bodyPr wrap="square" lIns="0" tIns="0" rIns="0" bIns="0" rtlCol="0" anchor="ctr"/>
          <a:lstStyle/>
          <a:p>
            <a:pPr algn="ctr" indent="0" marL="0">
              <a:buNone/>
            </a:pPr>
            <a:r>
              <a:rPr lang="en-US" sz="1150" b="1" dirty="0">
                <a:solidFill>
                  <a:srgbClr val="C98A1A"/>
                </a:solidFill>
                <a:latin typeface="Arial" pitchFamily="34" charset="0"/>
                <a:ea typeface="Arial" pitchFamily="34" charset="-122"/>
                <a:cs typeface="Arial" pitchFamily="34" charset="-120"/>
              </a:rPr>
              <a:t>About 12 junior, 18 middle, 24 senior. To confirm.</a:t>
            </a:r>
            <a:endParaRPr lang="en-US" sz="1150" dirty="0"/>
          </a:p>
        </p:txBody>
      </p:sp>
      <p:sp>
        <p:nvSpPr>
          <p:cNvPr id="14" name="Shape 10"/>
          <p:cNvSpPr/>
          <p:nvPr/>
        </p:nvSpPr>
        <p:spPr>
          <a:xfrm>
            <a:off x="2788920" y="1554480"/>
            <a:ext cx="2103120" cy="4297680"/>
          </a:xfrm>
          <a:prstGeom prst="roundRect">
            <a:avLst>
              <a:gd name="adj" fmla="val 3478"/>
            </a:avLst>
          </a:prstGeom>
          <a:solidFill>
            <a:srgbClr val="FFFFFF"/>
          </a:solidFill>
          <a:ln w="12700">
            <a:solidFill>
              <a:srgbClr val="D9DEE2"/>
            </a:solidFill>
            <a:prstDash val="solid"/>
          </a:ln>
        </p:spPr>
      </p:sp>
      <p:sp>
        <p:nvSpPr>
          <p:cNvPr id="15" name="Shape 11"/>
          <p:cNvSpPr/>
          <p:nvPr/>
        </p:nvSpPr>
        <p:spPr>
          <a:xfrm>
            <a:off x="3383280" y="1737360"/>
            <a:ext cx="914400" cy="914400"/>
          </a:xfrm>
          <a:prstGeom prst="ellipse">
            <a:avLst/>
          </a:prstGeom>
          <a:solidFill>
            <a:srgbClr val="287079"/>
          </a:solidFill>
          <a:ln/>
        </p:spPr>
      </p:sp>
      <p:pic>
        <p:nvPicPr>
          <p:cNvPr id="16" name="Image 2" descr="/private/tmp/claude-501/-Users-salehhamed-Outcome-Engine/91861432-41e2-4884-bc97-63c6dff2d021/scratchpad/wk/icons/TbDoorExit-white.png">    </p:cNvPr>
          <p:cNvPicPr>
            <a:picLocks noChangeAspect="1"/>
          </p:cNvPicPr>
          <p:nvPr/>
        </p:nvPicPr>
        <p:blipFill>
          <a:blip r:embed="rId5"/>
          <a:stretch>
            <a:fillRect/>
          </a:stretch>
        </p:blipFill>
        <p:spPr>
          <a:xfrm>
            <a:off x="3566160" y="1920240"/>
            <a:ext cx="548640" cy="548640"/>
          </a:xfrm>
          <a:prstGeom prst="rect">
            <a:avLst/>
          </a:prstGeom>
        </p:spPr>
      </p:pic>
      <p:sp>
        <p:nvSpPr>
          <p:cNvPr id="17" name="Text 12"/>
          <p:cNvSpPr txBox="1"/>
          <p:nvPr/>
        </p:nvSpPr>
        <p:spPr>
          <a:xfrm>
            <a:off x="2898648" y="2788920"/>
            <a:ext cx="1883664" cy="731520"/>
          </a:xfrm>
          <a:prstGeom prst="rect">
            <a:avLst/>
          </a:prstGeom>
          <a:noFill/>
          <a:ln/>
        </p:spPr>
        <p:txBody>
          <a:bodyPr wrap="square" lIns="0" tIns="0" rIns="0" bIns="0" rtlCol="0" anchor="t"/>
          <a:lstStyle/>
          <a:p>
            <a:pPr algn="ctr" indent="0" marL="0">
              <a:buNone/>
            </a:pPr>
            <a:r>
              <a:rPr lang="en-US" sz="1600" b="1" dirty="0">
                <a:solidFill>
                  <a:srgbClr val="1F2A33"/>
                </a:solidFill>
                <a:latin typeface="Arial" pitchFamily="34" charset="0"/>
                <a:ea typeface="Arial" pitchFamily="34" charset="-122"/>
                <a:cs typeface="Arial" pitchFamily="34" charset="-120"/>
              </a:rPr>
              <a:t>Who approves a release</a:t>
            </a:r>
            <a:endParaRPr lang="en-US" sz="1600" dirty="0"/>
          </a:p>
        </p:txBody>
      </p:sp>
      <p:sp>
        <p:nvSpPr>
          <p:cNvPr id="18" name="Text 13"/>
          <p:cNvSpPr txBox="1"/>
          <p:nvPr/>
        </p:nvSpPr>
        <p:spPr>
          <a:xfrm>
            <a:off x="2898648" y="3520440"/>
            <a:ext cx="1883664" cy="1005840"/>
          </a:xfrm>
          <a:prstGeom prst="rect">
            <a:avLst/>
          </a:prstGeom>
          <a:noFill/>
          <a:ln/>
        </p:spPr>
        <p:txBody>
          <a:bodyPr wrap="square" lIns="0" tIns="0" rIns="0" bIns="0" rtlCol="0" anchor="t"/>
          <a:lstStyle/>
          <a:p>
            <a:pPr algn="ctr" indent="0" marL="0">
              <a:buNone/>
            </a:pPr>
            <a:r>
              <a:rPr lang="en-US" sz="1250" dirty="0">
                <a:solidFill>
                  <a:srgbClr val="5A5A5A"/>
                </a:solidFill>
                <a:latin typeface="Arial" pitchFamily="34" charset="0"/>
                <a:ea typeface="Arial" pitchFamily="34" charset="-122"/>
                <a:cs typeface="Arial" pitchFamily="34" charset="-120"/>
              </a:rPr>
              <a:t>The current manager, a country practice lead, or both?</a:t>
            </a:r>
            <a:endParaRPr lang="en-US" sz="1250" dirty="0"/>
          </a:p>
        </p:txBody>
      </p:sp>
      <p:sp>
        <p:nvSpPr>
          <p:cNvPr id="19" name="Shape 14"/>
          <p:cNvSpPr/>
          <p:nvPr/>
        </p:nvSpPr>
        <p:spPr>
          <a:xfrm>
            <a:off x="2898648" y="4617720"/>
            <a:ext cx="1883664" cy="1097280"/>
          </a:xfrm>
          <a:prstGeom prst="roundRect">
            <a:avLst>
              <a:gd name="adj" fmla="val 6667"/>
            </a:avLst>
          </a:prstGeom>
          <a:solidFill>
            <a:srgbClr val="FDF3E1"/>
          </a:solidFill>
          <a:ln/>
        </p:spPr>
      </p:sp>
      <p:sp>
        <p:nvSpPr>
          <p:cNvPr id="20" name="Text 15"/>
          <p:cNvSpPr txBox="1"/>
          <p:nvPr/>
        </p:nvSpPr>
        <p:spPr>
          <a:xfrm>
            <a:off x="2971800" y="4617720"/>
            <a:ext cx="1737360" cy="1097280"/>
          </a:xfrm>
          <a:prstGeom prst="rect">
            <a:avLst/>
          </a:prstGeom>
          <a:noFill/>
          <a:ln/>
        </p:spPr>
        <p:txBody>
          <a:bodyPr wrap="square" lIns="0" tIns="0" rIns="0" bIns="0" rtlCol="0" anchor="ctr"/>
          <a:lstStyle/>
          <a:p>
            <a:pPr algn="ctr" indent="0" marL="0">
              <a:buNone/>
            </a:pPr>
            <a:r>
              <a:rPr lang="en-US" sz="1150" b="1" dirty="0">
                <a:solidFill>
                  <a:srgbClr val="C98A1A"/>
                </a:solidFill>
                <a:latin typeface="Arial" pitchFamily="34" charset="0"/>
                <a:ea typeface="Arial" pitchFamily="34" charset="-122"/>
                <a:cs typeface="Arial" pitchFamily="34" charset="-120"/>
              </a:rPr>
              <a:t>Open.</a:t>
            </a:r>
            <a:endParaRPr lang="en-US" sz="1150" dirty="0"/>
          </a:p>
        </p:txBody>
      </p:sp>
      <p:sp>
        <p:nvSpPr>
          <p:cNvPr id="21" name="Shape 16"/>
          <p:cNvSpPr/>
          <p:nvPr/>
        </p:nvSpPr>
        <p:spPr>
          <a:xfrm>
            <a:off x="5029200" y="1554480"/>
            <a:ext cx="2103120" cy="4297680"/>
          </a:xfrm>
          <a:prstGeom prst="roundRect">
            <a:avLst>
              <a:gd name="adj" fmla="val 3478"/>
            </a:avLst>
          </a:prstGeom>
          <a:solidFill>
            <a:srgbClr val="FFFFFF"/>
          </a:solidFill>
          <a:ln w="12700">
            <a:solidFill>
              <a:srgbClr val="D9DEE2"/>
            </a:solidFill>
            <a:prstDash val="solid"/>
          </a:ln>
        </p:spPr>
      </p:sp>
      <p:sp>
        <p:nvSpPr>
          <p:cNvPr id="22" name="Shape 17"/>
          <p:cNvSpPr/>
          <p:nvPr/>
        </p:nvSpPr>
        <p:spPr>
          <a:xfrm>
            <a:off x="5623560" y="1737360"/>
            <a:ext cx="914400" cy="914400"/>
          </a:xfrm>
          <a:prstGeom prst="ellipse">
            <a:avLst/>
          </a:prstGeom>
          <a:solidFill>
            <a:srgbClr val="287079"/>
          </a:solidFill>
          <a:ln/>
        </p:spPr>
      </p:sp>
      <p:pic>
        <p:nvPicPr>
          <p:cNvPr id="23" name="Image 3" descr="/private/tmp/claude-501/-Users-salehhamed-Outcome-Engine/91861432-41e2-4884-bc97-63c6dff2d021/scratchpad/wk/icons/TbKey-white.png">    </p:cNvPr>
          <p:cNvPicPr>
            <a:picLocks noChangeAspect="1"/>
          </p:cNvPicPr>
          <p:nvPr/>
        </p:nvPicPr>
        <p:blipFill>
          <a:blip r:embed="rId6"/>
          <a:stretch>
            <a:fillRect/>
          </a:stretch>
        </p:blipFill>
        <p:spPr>
          <a:xfrm>
            <a:off x="5806440" y="1920240"/>
            <a:ext cx="548640" cy="548640"/>
          </a:xfrm>
          <a:prstGeom prst="rect">
            <a:avLst/>
          </a:prstGeom>
        </p:spPr>
      </p:pic>
      <p:sp>
        <p:nvSpPr>
          <p:cNvPr id="24" name="Text 18"/>
          <p:cNvSpPr txBox="1"/>
          <p:nvPr/>
        </p:nvSpPr>
        <p:spPr>
          <a:xfrm>
            <a:off x="5138928" y="2788920"/>
            <a:ext cx="1883664" cy="731520"/>
          </a:xfrm>
          <a:prstGeom prst="rect">
            <a:avLst/>
          </a:prstGeom>
          <a:noFill/>
          <a:ln/>
        </p:spPr>
        <p:txBody>
          <a:bodyPr wrap="square" lIns="0" tIns="0" rIns="0" bIns="0" rtlCol="0" anchor="t"/>
          <a:lstStyle/>
          <a:p>
            <a:pPr algn="ctr" indent="0" marL="0">
              <a:buNone/>
            </a:pPr>
            <a:r>
              <a:rPr lang="en-US" sz="1600" b="1" dirty="0">
                <a:solidFill>
                  <a:srgbClr val="1F2A33"/>
                </a:solidFill>
                <a:latin typeface="Arial" pitchFamily="34" charset="0"/>
                <a:ea typeface="Arial" pitchFamily="34" charset="-122"/>
                <a:cs typeface="Arial" pitchFamily="34" charset="-120"/>
              </a:rPr>
              <a:t>Protecting key people</a:t>
            </a:r>
            <a:endParaRPr lang="en-US" sz="1600" dirty="0"/>
          </a:p>
        </p:txBody>
      </p:sp>
      <p:sp>
        <p:nvSpPr>
          <p:cNvPr id="25" name="Text 19"/>
          <p:cNvSpPr txBox="1"/>
          <p:nvPr/>
        </p:nvSpPr>
        <p:spPr>
          <a:xfrm>
            <a:off x="5138928" y="3520440"/>
            <a:ext cx="1883664" cy="1005840"/>
          </a:xfrm>
          <a:prstGeom prst="rect">
            <a:avLst/>
          </a:prstGeom>
          <a:noFill/>
          <a:ln/>
        </p:spPr>
        <p:txBody>
          <a:bodyPr wrap="square" lIns="0" tIns="0" rIns="0" bIns="0" rtlCol="0" anchor="t"/>
          <a:lstStyle/>
          <a:p>
            <a:pPr algn="ctr" indent="0" marL="0">
              <a:buNone/>
            </a:pPr>
            <a:r>
              <a:rPr lang="en-US" sz="1250" dirty="0">
                <a:solidFill>
                  <a:srgbClr val="5A5A5A"/>
                </a:solidFill>
                <a:latin typeface="Arial" pitchFamily="34" charset="0"/>
                <a:ea typeface="Arial" pitchFamily="34" charset="-122"/>
                <a:cs typeface="Arial" pitchFamily="34" charset="-120"/>
              </a:rPr>
              <a:t>The only person on an account with a skill.</a:t>
            </a:r>
            <a:endParaRPr lang="en-US" sz="1250" dirty="0"/>
          </a:p>
        </p:txBody>
      </p:sp>
      <p:sp>
        <p:nvSpPr>
          <p:cNvPr id="26" name="Shape 20"/>
          <p:cNvSpPr/>
          <p:nvPr/>
        </p:nvSpPr>
        <p:spPr>
          <a:xfrm>
            <a:off x="5138928" y="4617720"/>
            <a:ext cx="1883664" cy="1097280"/>
          </a:xfrm>
          <a:prstGeom prst="roundRect">
            <a:avLst>
              <a:gd name="adj" fmla="val 6667"/>
            </a:avLst>
          </a:prstGeom>
          <a:solidFill>
            <a:srgbClr val="FDF3E1"/>
          </a:solidFill>
          <a:ln/>
        </p:spPr>
      </p:sp>
      <p:sp>
        <p:nvSpPr>
          <p:cNvPr id="27" name="Text 21"/>
          <p:cNvSpPr txBox="1"/>
          <p:nvPr/>
        </p:nvSpPr>
        <p:spPr>
          <a:xfrm>
            <a:off x="5212080" y="4617720"/>
            <a:ext cx="1737360" cy="1097280"/>
          </a:xfrm>
          <a:prstGeom prst="rect">
            <a:avLst/>
          </a:prstGeom>
          <a:noFill/>
          <a:ln/>
        </p:spPr>
        <p:txBody>
          <a:bodyPr wrap="square" lIns="0" tIns="0" rIns="0" bIns="0" rtlCol="0" anchor="ctr"/>
          <a:lstStyle/>
          <a:p>
            <a:pPr algn="ctr" indent="0" marL="0">
              <a:buNone/>
            </a:pPr>
            <a:r>
              <a:rPr lang="en-US" sz="1150" b="1" dirty="0">
                <a:solidFill>
                  <a:srgbClr val="C98A1A"/>
                </a:solidFill>
                <a:latin typeface="Arial" pitchFamily="34" charset="0"/>
                <a:ea typeface="Arial" pitchFamily="34" charset="-122"/>
                <a:cs typeface="Arial" pitchFamily="34" charset="-120"/>
              </a:rPr>
              <a:t>Markets flag them; the backfill has the same skill.</a:t>
            </a:r>
            <a:endParaRPr lang="en-US" sz="1150" dirty="0"/>
          </a:p>
        </p:txBody>
      </p:sp>
      <p:sp>
        <p:nvSpPr>
          <p:cNvPr id="28" name="Shape 22"/>
          <p:cNvSpPr/>
          <p:nvPr/>
        </p:nvSpPr>
        <p:spPr>
          <a:xfrm>
            <a:off x="7269480" y="1554480"/>
            <a:ext cx="2103120" cy="4297680"/>
          </a:xfrm>
          <a:prstGeom prst="roundRect">
            <a:avLst>
              <a:gd name="adj" fmla="val 3478"/>
            </a:avLst>
          </a:prstGeom>
          <a:solidFill>
            <a:srgbClr val="FFFFFF"/>
          </a:solidFill>
          <a:ln w="12700">
            <a:solidFill>
              <a:srgbClr val="D9DEE2"/>
            </a:solidFill>
            <a:prstDash val="solid"/>
          </a:ln>
        </p:spPr>
      </p:sp>
      <p:sp>
        <p:nvSpPr>
          <p:cNvPr id="29" name="Shape 23"/>
          <p:cNvSpPr/>
          <p:nvPr/>
        </p:nvSpPr>
        <p:spPr>
          <a:xfrm>
            <a:off x="7863840" y="1737360"/>
            <a:ext cx="914400" cy="914400"/>
          </a:xfrm>
          <a:prstGeom prst="ellipse">
            <a:avLst/>
          </a:prstGeom>
          <a:solidFill>
            <a:srgbClr val="287079"/>
          </a:solidFill>
          <a:ln/>
        </p:spPr>
      </p:sp>
      <p:pic>
        <p:nvPicPr>
          <p:cNvPr id="30" name="Image 4" descr="/private/tmp/claude-501/-Users-salehhamed-Outcome-Engine/91861432-41e2-4884-bc97-63c6dff2d021/scratchpad/wk/icons/TbWorld-white.png">    </p:cNvPr>
          <p:cNvPicPr>
            <a:picLocks noChangeAspect="1"/>
          </p:cNvPicPr>
          <p:nvPr/>
        </p:nvPicPr>
        <p:blipFill>
          <a:blip r:embed="rId7"/>
          <a:stretch>
            <a:fillRect/>
          </a:stretch>
        </p:blipFill>
        <p:spPr>
          <a:xfrm>
            <a:off x="8046720" y="1920240"/>
            <a:ext cx="548640" cy="548640"/>
          </a:xfrm>
          <a:prstGeom prst="rect">
            <a:avLst/>
          </a:prstGeom>
        </p:spPr>
      </p:pic>
      <p:sp>
        <p:nvSpPr>
          <p:cNvPr id="31" name="Text 24"/>
          <p:cNvSpPr txBox="1"/>
          <p:nvPr/>
        </p:nvSpPr>
        <p:spPr>
          <a:xfrm>
            <a:off x="7379208" y="2788920"/>
            <a:ext cx="1883664" cy="731520"/>
          </a:xfrm>
          <a:prstGeom prst="rect">
            <a:avLst/>
          </a:prstGeom>
          <a:noFill/>
          <a:ln/>
        </p:spPr>
        <p:txBody>
          <a:bodyPr wrap="square" lIns="0" tIns="0" rIns="0" bIns="0" rtlCol="0" anchor="t"/>
          <a:lstStyle/>
          <a:p>
            <a:pPr algn="ctr" indent="0" marL="0">
              <a:buNone/>
            </a:pPr>
            <a:r>
              <a:rPr lang="en-US" sz="1600" b="1" dirty="0">
                <a:solidFill>
                  <a:srgbClr val="1F2A33"/>
                </a:solidFill>
                <a:latin typeface="Arial" pitchFamily="34" charset="0"/>
                <a:ea typeface="Arial" pitchFamily="34" charset="-122"/>
                <a:cs typeface="Arial" pitchFamily="34" charset="-120"/>
              </a:rPr>
              <a:t>Costs between countries</a:t>
            </a:r>
            <a:endParaRPr lang="en-US" sz="1600" dirty="0"/>
          </a:p>
        </p:txBody>
      </p:sp>
      <p:sp>
        <p:nvSpPr>
          <p:cNvPr id="32" name="Text 25"/>
          <p:cNvSpPr txBox="1"/>
          <p:nvPr/>
        </p:nvSpPr>
        <p:spPr>
          <a:xfrm>
            <a:off x="7379208" y="3520440"/>
            <a:ext cx="1883664" cy="1005840"/>
          </a:xfrm>
          <a:prstGeom prst="rect">
            <a:avLst/>
          </a:prstGeom>
          <a:noFill/>
          <a:ln/>
        </p:spPr>
        <p:txBody>
          <a:bodyPr wrap="square" lIns="0" tIns="0" rIns="0" bIns="0" rtlCol="0" anchor="t"/>
          <a:lstStyle/>
          <a:p>
            <a:pPr algn="ctr" indent="0" marL="0">
              <a:buNone/>
            </a:pPr>
            <a:r>
              <a:rPr lang="en-US" sz="1250" dirty="0">
                <a:solidFill>
                  <a:srgbClr val="5A5A5A"/>
                </a:solidFill>
                <a:latin typeface="Arial" pitchFamily="34" charset="0"/>
                <a:ea typeface="Arial" pitchFamily="34" charset="-122"/>
                <a:cs typeface="Arial" pitchFamily="34" charset="-120"/>
              </a:rPr>
              <a:t>Who approves, and who pays.</a:t>
            </a:r>
            <a:endParaRPr lang="en-US" sz="1250" dirty="0"/>
          </a:p>
        </p:txBody>
      </p:sp>
      <p:sp>
        <p:nvSpPr>
          <p:cNvPr id="33" name="Shape 26"/>
          <p:cNvSpPr/>
          <p:nvPr/>
        </p:nvSpPr>
        <p:spPr>
          <a:xfrm>
            <a:off x="7379208" y="4617720"/>
            <a:ext cx="1883664" cy="1097280"/>
          </a:xfrm>
          <a:prstGeom prst="roundRect">
            <a:avLst>
              <a:gd name="adj" fmla="val 6667"/>
            </a:avLst>
          </a:prstGeom>
          <a:solidFill>
            <a:srgbClr val="FDF3E1"/>
          </a:solidFill>
          <a:ln/>
        </p:spPr>
      </p:sp>
      <p:sp>
        <p:nvSpPr>
          <p:cNvPr id="34" name="Text 27"/>
          <p:cNvSpPr txBox="1"/>
          <p:nvPr/>
        </p:nvSpPr>
        <p:spPr>
          <a:xfrm>
            <a:off x="7452360" y="4617720"/>
            <a:ext cx="1737360" cy="1097280"/>
          </a:xfrm>
          <a:prstGeom prst="rect">
            <a:avLst/>
          </a:prstGeom>
          <a:noFill/>
          <a:ln/>
        </p:spPr>
        <p:txBody>
          <a:bodyPr wrap="square" lIns="0" tIns="0" rIns="0" bIns="0" rtlCol="0" anchor="ctr"/>
          <a:lstStyle/>
          <a:p>
            <a:pPr algn="ctr" indent="0" marL="0">
              <a:buNone/>
            </a:pPr>
            <a:r>
              <a:rPr lang="en-US" sz="1150" b="1" dirty="0">
                <a:solidFill>
                  <a:srgbClr val="C98A1A"/>
                </a:solidFill>
                <a:latin typeface="Arial" pitchFamily="34" charset="0"/>
                <a:ea typeface="Arial" pitchFamily="34" charset="-122"/>
                <a:cs typeface="Arial" pitchFamily="34" charset="-120"/>
              </a:rPr>
              <a:t>The cost moves to the receiving country. Approval open.</a:t>
            </a:r>
            <a:endParaRPr lang="en-US" sz="1150" dirty="0"/>
          </a:p>
        </p:txBody>
      </p:sp>
      <p:sp>
        <p:nvSpPr>
          <p:cNvPr id="35" name="Shape 28"/>
          <p:cNvSpPr/>
          <p:nvPr/>
        </p:nvSpPr>
        <p:spPr>
          <a:xfrm>
            <a:off x="9509760" y="1554480"/>
            <a:ext cx="2103120" cy="4297680"/>
          </a:xfrm>
          <a:prstGeom prst="roundRect">
            <a:avLst>
              <a:gd name="adj" fmla="val 3478"/>
            </a:avLst>
          </a:prstGeom>
          <a:solidFill>
            <a:srgbClr val="FFFFFF"/>
          </a:solidFill>
          <a:ln w="12700">
            <a:solidFill>
              <a:srgbClr val="D9DEE2"/>
            </a:solidFill>
            <a:prstDash val="solid"/>
          </a:ln>
        </p:spPr>
      </p:sp>
      <p:sp>
        <p:nvSpPr>
          <p:cNvPr id="36" name="Shape 29"/>
          <p:cNvSpPr/>
          <p:nvPr/>
        </p:nvSpPr>
        <p:spPr>
          <a:xfrm>
            <a:off x="10104120" y="1737360"/>
            <a:ext cx="914400" cy="914400"/>
          </a:xfrm>
          <a:prstGeom prst="ellipse">
            <a:avLst/>
          </a:prstGeom>
          <a:solidFill>
            <a:srgbClr val="287079"/>
          </a:solidFill>
          <a:ln/>
        </p:spPr>
      </p:sp>
      <p:pic>
        <p:nvPicPr>
          <p:cNvPr id="37" name="Image 5" descr="/private/tmp/claude-501/-Users-salehhamed-Outcome-Engine/91861432-41e2-4884-bc97-63c6dff2d021/scratchpad/wk/icons/TbThumbUp-white.png">    </p:cNvPr>
          <p:cNvPicPr>
            <a:picLocks noChangeAspect="1"/>
          </p:cNvPicPr>
          <p:nvPr/>
        </p:nvPicPr>
        <p:blipFill>
          <a:blip r:embed="rId8"/>
          <a:stretch>
            <a:fillRect/>
          </a:stretch>
        </p:blipFill>
        <p:spPr>
          <a:xfrm>
            <a:off x="10287000" y="1920240"/>
            <a:ext cx="548640" cy="548640"/>
          </a:xfrm>
          <a:prstGeom prst="rect">
            <a:avLst/>
          </a:prstGeom>
        </p:spPr>
      </p:pic>
      <p:sp>
        <p:nvSpPr>
          <p:cNvPr id="38" name="Text 30"/>
          <p:cNvSpPr txBox="1"/>
          <p:nvPr/>
        </p:nvSpPr>
        <p:spPr>
          <a:xfrm>
            <a:off x="9619488" y="2788920"/>
            <a:ext cx="1883664" cy="731520"/>
          </a:xfrm>
          <a:prstGeom prst="rect">
            <a:avLst/>
          </a:prstGeom>
          <a:noFill/>
          <a:ln/>
        </p:spPr>
        <p:txBody>
          <a:bodyPr wrap="square" lIns="0" tIns="0" rIns="0" bIns="0" rtlCol="0" anchor="t"/>
          <a:lstStyle/>
          <a:p>
            <a:pPr algn="ctr" indent="0" marL="0">
              <a:buNone/>
            </a:pPr>
            <a:r>
              <a:rPr lang="en-US" sz="1600" b="1" dirty="0">
                <a:solidFill>
                  <a:srgbClr val="1F2A33"/>
                </a:solidFill>
                <a:latin typeface="Arial" pitchFamily="34" charset="0"/>
                <a:ea typeface="Arial" pitchFamily="34" charset="-122"/>
                <a:cs typeface="Arial" pitchFamily="34" charset="-120"/>
              </a:rPr>
              <a:t>The person agrees</a:t>
            </a:r>
            <a:endParaRPr lang="en-US" sz="1600" dirty="0"/>
          </a:p>
        </p:txBody>
      </p:sp>
      <p:sp>
        <p:nvSpPr>
          <p:cNvPr id="39" name="Text 31"/>
          <p:cNvSpPr txBox="1"/>
          <p:nvPr/>
        </p:nvSpPr>
        <p:spPr>
          <a:xfrm>
            <a:off x="9619488" y="3520440"/>
            <a:ext cx="1883664" cy="1005840"/>
          </a:xfrm>
          <a:prstGeom prst="rect">
            <a:avLst/>
          </a:prstGeom>
          <a:noFill/>
          <a:ln/>
        </p:spPr>
        <p:txBody>
          <a:bodyPr wrap="square" lIns="0" tIns="0" rIns="0" bIns="0" rtlCol="0" anchor="t"/>
          <a:lstStyle/>
          <a:p>
            <a:pPr algn="ctr" indent="0" marL="0">
              <a:buNone/>
            </a:pPr>
            <a:r>
              <a:rPr lang="en-US" sz="1250" dirty="0">
                <a:solidFill>
                  <a:srgbClr val="5A5A5A"/>
                </a:solidFill>
                <a:latin typeface="Arial" pitchFamily="34" charset="0"/>
                <a:ea typeface="Arial" pitchFamily="34" charset="-122"/>
                <a:cs typeface="Arial" pitchFamily="34" charset="-120"/>
              </a:rPr>
              <a:t>Nobody is moved without saying yes.</a:t>
            </a:r>
            <a:endParaRPr lang="en-US" sz="1250" dirty="0"/>
          </a:p>
        </p:txBody>
      </p:sp>
      <p:sp>
        <p:nvSpPr>
          <p:cNvPr id="40" name="Shape 32"/>
          <p:cNvSpPr/>
          <p:nvPr/>
        </p:nvSpPr>
        <p:spPr>
          <a:xfrm>
            <a:off x="9619488" y="4617720"/>
            <a:ext cx="1883664" cy="1097280"/>
          </a:xfrm>
          <a:prstGeom prst="roundRect">
            <a:avLst>
              <a:gd name="adj" fmla="val 6667"/>
            </a:avLst>
          </a:prstGeom>
          <a:solidFill>
            <a:srgbClr val="FDF3E1"/>
          </a:solidFill>
          <a:ln/>
        </p:spPr>
      </p:sp>
      <p:sp>
        <p:nvSpPr>
          <p:cNvPr id="41" name="Text 33"/>
          <p:cNvSpPr txBox="1"/>
          <p:nvPr/>
        </p:nvSpPr>
        <p:spPr>
          <a:xfrm>
            <a:off x="9692640" y="4617720"/>
            <a:ext cx="1737360" cy="1097280"/>
          </a:xfrm>
          <a:prstGeom prst="rect">
            <a:avLst/>
          </a:prstGeom>
          <a:noFill/>
          <a:ln/>
        </p:spPr>
        <p:txBody>
          <a:bodyPr wrap="square" lIns="0" tIns="0" rIns="0" bIns="0" rtlCol="0" anchor="ctr"/>
          <a:lstStyle/>
          <a:p>
            <a:pPr algn="ctr" indent="0" marL="0">
              <a:buNone/>
            </a:pPr>
            <a:r>
              <a:rPr lang="en-US" sz="1150" b="1" dirty="0">
                <a:solidFill>
                  <a:srgbClr val="C98A1A"/>
                </a:solidFill>
                <a:latin typeface="Arial" pitchFamily="34" charset="0"/>
                <a:ea typeface="Arial" pitchFamily="34" charset="-122"/>
                <a:cs typeface="Arial" pitchFamily="34" charset="-120"/>
              </a:rPr>
              <a:t>Opt in.</a:t>
            </a:r>
            <a:endParaRPr lang="en-US" sz="115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SECURITY LEAD, LEVEL 5 · THE ROTATION SKETCH</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The stuck job: which rule would you bend?</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11:45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165</a:t>
            </a:r>
            <a:endParaRPr lang="en-US" sz="1000" dirty="0"/>
          </a:p>
        </p:txBody>
      </p:sp>
      <p:sp>
        <p:nvSpPr>
          <p:cNvPr id="7" name="Shape 4"/>
          <p:cNvSpPr/>
          <p:nvPr/>
        </p:nvSpPr>
        <p:spPr>
          <a:xfrm>
            <a:off x="2286000" y="1554480"/>
            <a:ext cx="3017520" cy="822960"/>
          </a:xfrm>
          <a:prstGeom prst="roundRect">
            <a:avLst>
              <a:gd name="adj" fmla="val 11111"/>
            </a:avLst>
          </a:prstGeom>
          <a:solidFill>
            <a:srgbClr val="FFF0EC"/>
          </a:solidFill>
          <a:ln w="25400">
            <a:solidFill>
              <a:srgbClr val="FF462D"/>
            </a:solidFill>
            <a:prstDash val="solid"/>
          </a:ln>
        </p:spPr>
      </p:sp>
      <p:sp>
        <p:nvSpPr>
          <p:cNvPr id="8" name="Text 5"/>
          <p:cNvSpPr txBox="1"/>
          <p:nvPr/>
        </p:nvSpPr>
        <p:spPr>
          <a:xfrm>
            <a:off x="2286000" y="1554480"/>
            <a:ext cx="3017520" cy="502920"/>
          </a:xfrm>
          <a:prstGeom prst="rect">
            <a:avLst/>
          </a:prstGeom>
          <a:noFill/>
          <a:ln/>
        </p:spPr>
        <p:txBody>
          <a:bodyPr wrap="square" lIns="0" tIns="0" rIns="0" bIns="0" rtlCol="0" anchor="ctr"/>
          <a:lstStyle/>
          <a:p>
            <a:pPr algn="ctr" indent="0" marL="0">
              <a:buNone/>
            </a:pPr>
            <a:r>
              <a:rPr lang="en-US" sz="1400" b="1" dirty="0">
                <a:solidFill>
                  <a:srgbClr val="FF462D"/>
                </a:solidFill>
                <a:latin typeface="Arial" pitchFamily="34" charset="0"/>
                <a:ea typeface="Arial" pitchFamily="34" charset="-122"/>
                <a:cs typeface="Arial" pitchFamily="34" charset="-120"/>
              </a:rPr>
              <a:t>Security lead · level 5</a:t>
            </a:r>
            <a:endParaRPr lang="en-US" sz="1400" dirty="0"/>
          </a:p>
        </p:txBody>
      </p:sp>
      <p:sp>
        <p:nvSpPr>
          <p:cNvPr id="9" name="Text 6"/>
          <p:cNvSpPr txBox="1"/>
          <p:nvPr/>
        </p:nvSpPr>
        <p:spPr>
          <a:xfrm>
            <a:off x="2286000" y="1993392"/>
            <a:ext cx="3017520" cy="320040"/>
          </a:xfrm>
          <a:prstGeom prst="rect">
            <a:avLst/>
          </a:prstGeom>
          <a:noFill/>
          <a:ln/>
        </p:spPr>
        <p:txBody>
          <a:bodyPr wrap="square" lIns="0" tIns="0" rIns="0" bIns="0" rtlCol="0" anchor="t"/>
          <a:lstStyle/>
          <a:p>
            <a:pPr algn="ctr" indent="0" marL="0">
              <a:buNone/>
            </a:pPr>
            <a:r>
              <a:rPr lang="en-US" sz="1050" dirty="0">
                <a:solidFill>
                  <a:srgbClr val="5A5A5A"/>
                </a:solidFill>
                <a:latin typeface="Arial" pitchFamily="34" charset="0"/>
                <a:ea typeface="Arial" pitchFamily="34" charset="-122"/>
                <a:cs typeface="Arial" pitchFamily="34" charset="-120"/>
              </a:rPr>
              <a:t>Client G · new security centre</a:t>
            </a:r>
            <a:endParaRPr lang="en-US" sz="1050" dirty="0"/>
          </a:p>
        </p:txBody>
      </p:sp>
      <p:sp>
        <p:nvSpPr>
          <p:cNvPr id="10" name="Shape 7"/>
          <p:cNvSpPr/>
          <p:nvPr/>
        </p:nvSpPr>
        <p:spPr>
          <a:xfrm flipV="1">
            <a:off x="1252728" y="2395728"/>
            <a:ext cx="1490472" cy="1856232"/>
          </a:xfrm>
          <a:prstGeom prst="line">
            <a:avLst/>
          </a:prstGeom>
          <a:noFill/>
          <a:ln w="25400">
            <a:solidFill>
              <a:srgbClr val="FF462D"/>
            </a:solidFill>
            <a:prstDash val="dash"/>
            <a:tailEnd type="arrow"/>
          </a:ln>
        </p:spPr>
      </p:sp>
      <p:sp>
        <p:nvSpPr>
          <p:cNvPr id="11" name="Shape 8"/>
          <p:cNvSpPr/>
          <p:nvPr/>
        </p:nvSpPr>
        <p:spPr>
          <a:xfrm>
            <a:off x="978408" y="3108960"/>
            <a:ext cx="548640" cy="548640"/>
          </a:xfrm>
          <a:prstGeom prst="ellipse">
            <a:avLst/>
          </a:prstGeom>
          <a:solidFill>
            <a:srgbClr val="FF462D"/>
          </a:solidFill>
          <a:ln/>
        </p:spPr>
      </p:sp>
      <p:pic>
        <p:nvPicPr>
          <p:cNvPr id="12" name="Image 1" descr="/private/tmp/claude-501/-Users-salehhamed-Outcome-Engine/91861432-41e2-4884-bc97-63c6dff2d021/scratchpad/wk/icons/TbHourglass-white.png">    </p:cNvPr>
          <p:cNvPicPr>
            <a:picLocks noChangeAspect="1"/>
          </p:cNvPicPr>
          <p:nvPr/>
        </p:nvPicPr>
        <p:blipFill>
          <a:blip r:embed="rId4"/>
          <a:stretch>
            <a:fillRect/>
          </a:stretch>
        </p:blipFill>
        <p:spPr>
          <a:xfrm>
            <a:off x="1088136" y="3218688"/>
            <a:ext cx="329184" cy="329184"/>
          </a:xfrm>
          <a:prstGeom prst="rect">
            <a:avLst/>
          </a:prstGeom>
        </p:spPr>
      </p:pic>
      <p:sp>
        <p:nvSpPr>
          <p:cNvPr id="13" name="Shape 9"/>
          <p:cNvSpPr/>
          <p:nvPr/>
        </p:nvSpPr>
        <p:spPr>
          <a:xfrm>
            <a:off x="868680" y="4297680"/>
            <a:ext cx="768096" cy="768096"/>
          </a:xfrm>
          <a:prstGeom prst="ellipse">
            <a:avLst/>
          </a:prstGeom>
          <a:solidFill>
            <a:srgbClr val="C98A1A"/>
          </a:solidFill>
          <a:ln/>
        </p:spPr>
      </p:sp>
      <p:sp>
        <p:nvSpPr>
          <p:cNvPr id="14" name="Text 10"/>
          <p:cNvSpPr txBox="1"/>
          <p:nvPr/>
        </p:nvSpPr>
        <p:spPr>
          <a:xfrm>
            <a:off x="868680" y="4297680"/>
            <a:ext cx="768096" cy="7680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P07</a:t>
            </a:r>
            <a:endParaRPr lang="en-US" sz="1300" dirty="0"/>
          </a:p>
        </p:txBody>
      </p:sp>
      <p:sp>
        <p:nvSpPr>
          <p:cNvPr id="15" name="Text 11"/>
          <p:cNvSpPr txBox="1"/>
          <p:nvPr/>
        </p:nvSpPr>
        <p:spPr>
          <a:xfrm>
            <a:off x="548640" y="5120640"/>
            <a:ext cx="1417320" cy="548640"/>
          </a:xfrm>
          <a:prstGeom prst="rect">
            <a:avLst/>
          </a:prstGeom>
          <a:noFill/>
          <a:ln/>
        </p:spPr>
        <p:txBody>
          <a:bodyPr wrap="square" lIns="0" tIns="0" rIns="0" bIns="0" rtlCol="0" anchor="t"/>
          <a:lstStyle/>
          <a:p>
            <a:pPr algn="ctr" indent="0" marL="0">
              <a:buNone/>
            </a:pPr>
            <a:r>
              <a:rPr lang="en-US" sz="1100" b="1" dirty="0">
                <a:solidFill>
                  <a:srgbClr val="1F2A33"/>
                </a:solidFill>
                <a:latin typeface="Arial" pitchFamily="34" charset="0"/>
                <a:ea typeface="Arial" pitchFamily="34" charset="-122"/>
                <a:cs typeface="Arial" pitchFamily="34" charset="-120"/>
              </a:rPr>
              <a:t>Not yet eligible</a:t>
            </a:r>
            <a:endParaRPr lang="en-US" sz="1100" dirty="0"/>
          </a:p>
        </p:txBody>
      </p:sp>
      <p:sp>
        <p:nvSpPr>
          <p:cNvPr id="16" name="Shape 12"/>
          <p:cNvSpPr/>
          <p:nvPr/>
        </p:nvSpPr>
        <p:spPr>
          <a:xfrm flipV="1">
            <a:off x="2807208" y="2395728"/>
            <a:ext cx="621792" cy="1856232"/>
          </a:xfrm>
          <a:prstGeom prst="line">
            <a:avLst/>
          </a:prstGeom>
          <a:noFill/>
          <a:ln w="25400">
            <a:solidFill>
              <a:srgbClr val="FF462D"/>
            </a:solidFill>
            <a:prstDash val="dash"/>
            <a:tailEnd type="arrow"/>
          </a:ln>
        </p:spPr>
      </p:sp>
      <p:sp>
        <p:nvSpPr>
          <p:cNvPr id="17" name="Shape 13"/>
          <p:cNvSpPr/>
          <p:nvPr/>
        </p:nvSpPr>
        <p:spPr>
          <a:xfrm>
            <a:off x="2532888" y="3108960"/>
            <a:ext cx="548640" cy="548640"/>
          </a:xfrm>
          <a:prstGeom prst="ellipse">
            <a:avLst/>
          </a:prstGeom>
          <a:solidFill>
            <a:srgbClr val="FF462D"/>
          </a:solidFill>
          <a:ln/>
        </p:spPr>
      </p:sp>
      <p:pic>
        <p:nvPicPr>
          <p:cNvPr id="18" name="Image 2" descr="/private/tmp/claude-501/-Users-salehhamed-Outcome-Engine/91861432-41e2-4884-bc97-63c6dff2d021/scratchpad/wk/icons/TbThumbDown-white.png">    </p:cNvPr>
          <p:cNvPicPr>
            <a:picLocks noChangeAspect="1"/>
          </p:cNvPicPr>
          <p:nvPr/>
        </p:nvPicPr>
        <p:blipFill>
          <a:blip r:embed="rId5"/>
          <a:stretch>
            <a:fillRect/>
          </a:stretch>
        </p:blipFill>
        <p:spPr>
          <a:xfrm>
            <a:off x="2642616" y="3218688"/>
            <a:ext cx="329184" cy="329184"/>
          </a:xfrm>
          <a:prstGeom prst="rect">
            <a:avLst/>
          </a:prstGeom>
        </p:spPr>
      </p:pic>
      <p:sp>
        <p:nvSpPr>
          <p:cNvPr id="19" name="Shape 14"/>
          <p:cNvSpPr/>
          <p:nvPr/>
        </p:nvSpPr>
        <p:spPr>
          <a:xfrm>
            <a:off x="2423160" y="4297680"/>
            <a:ext cx="768096" cy="768096"/>
          </a:xfrm>
          <a:prstGeom prst="ellipse">
            <a:avLst/>
          </a:prstGeom>
          <a:solidFill>
            <a:srgbClr val="C98A1A"/>
          </a:solidFill>
          <a:ln/>
        </p:spPr>
      </p:sp>
      <p:sp>
        <p:nvSpPr>
          <p:cNvPr id="20" name="Text 15"/>
          <p:cNvSpPr txBox="1"/>
          <p:nvPr/>
        </p:nvSpPr>
        <p:spPr>
          <a:xfrm>
            <a:off x="2423160" y="4297680"/>
            <a:ext cx="768096" cy="7680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P08</a:t>
            </a:r>
            <a:endParaRPr lang="en-US" sz="1300" dirty="0"/>
          </a:p>
        </p:txBody>
      </p:sp>
      <p:sp>
        <p:nvSpPr>
          <p:cNvPr id="21" name="Text 16"/>
          <p:cNvSpPr txBox="1"/>
          <p:nvPr/>
        </p:nvSpPr>
        <p:spPr>
          <a:xfrm>
            <a:off x="2103120" y="5120640"/>
            <a:ext cx="1417320" cy="548640"/>
          </a:xfrm>
          <a:prstGeom prst="rect">
            <a:avLst/>
          </a:prstGeom>
          <a:noFill/>
          <a:ln/>
        </p:spPr>
        <p:txBody>
          <a:bodyPr wrap="square" lIns="0" tIns="0" rIns="0" bIns="0" rtlCol="0" anchor="t"/>
          <a:lstStyle/>
          <a:p>
            <a:pPr algn="ctr" indent="0" marL="0">
              <a:buNone/>
            </a:pPr>
            <a:r>
              <a:rPr lang="en-US" sz="1100" b="1" dirty="0">
                <a:solidFill>
                  <a:srgbClr val="1F2A33"/>
                </a:solidFill>
                <a:latin typeface="Arial" pitchFamily="34" charset="0"/>
                <a:ea typeface="Arial" pitchFamily="34" charset="-122"/>
                <a:cs typeface="Arial" pitchFamily="34" charset="-120"/>
              </a:rPr>
              <a:t>Has not opted in</a:t>
            </a:r>
            <a:endParaRPr lang="en-US" sz="1100" dirty="0"/>
          </a:p>
        </p:txBody>
      </p:sp>
      <p:sp>
        <p:nvSpPr>
          <p:cNvPr id="22" name="Shape 17"/>
          <p:cNvSpPr/>
          <p:nvPr/>
        </p:nvSpPr>
        <p:spPr>
          <a:xfrm flipH="1" flipV="1">
            <a:off x="4114800" y="2395728"/>
            <a:ext cx="246888" cy="1856232"/>
          </a:xfrm>
          <a:prstGeom prst="line">
            <a:avLst/>
          </a:prstGeom>
          <a:noFill/>
          <a:ln w="25400">
            <a:solidFill>
              <a:srgbClr val="FF462D"/>
            </a:solidFill>
            <a:prstDash val="dash"/>
            <a:tailEnd type="arrow"/>
          </a:ln>
        </p:spPr>
      </p:sp>
      <p:sp>
        <p:nvSpPr>
          <p:cNvPr id="23" name="Shape 18"/>
          <p:cNvSpPr/>
          <p:nvPr/>
        </p:nvSpPr>
        <p:spPr>
          <a:xfrm>
            <a:off x="4087368" y="3108960"/>
            <a:ext cx="548640" cy="548640"/>
          </a:xfrm>
          <a:prstGeom prst="ellipse">
            <a:avLst/>
          </a:prstGeom>
          <a:solidFill>
            <a:srgbClr val="FF462D"/>
          </a:solidFill>
          <a:ln/>
        </p:spPr>
      </p:sp>
      <p:pic>
        <p:nvPicPr>
          <p:cNvPr id="24" name="Image 3" descr="/private/tmp/claude-501/-Users-salehhamed-Outcome-Engine/91861432-41e2-4884-bc97-63c6dff2d021/scratchpad/wk/icons/TbWorld-white.png">    </p:cNvPr>
          <p:cNvPicPr>
            <a:picLocks noChangeAspect="1"/>
          </p:cNvPicPr>
          <p:nvPr/>
        </p:nvPicPr>
        <p:blipFill>
          <a:blip r:embed="rId6"/>
          <a:stretch>
            <a:fillRect/>
          </a:stretch>
        </p:blipFill>
        <p:spPr>
          <a:xfrm>
            <a:off x="4197096" y="3218688"/>
            <a:ext cx="329184" cy="329184"/>
          </a:xfrm>
          <a:prstGeom prst="rect">
            <a:avLst/>
          </a:prstGeom>
        </p:spPr>
      </p:pic>
      <p:sp>
        <p:nvSpPr>
          <p:cNvPr id="25" name="Shape 19"/>
          <p:cNvSpPr/>
          <p:nvPr/>
        </p:nvSpPr>
        <p:spPr>
          <a:xfrm>
            <a:off x="3977640" y="4297680"/>
            <a:ext cx="768096" cy="768096"/>
          </a:xfrm>
          <a:prstGeom prst="ellipse">
            <a:avLst/>
          </a:prstGeom>
          <a:solidFill>
            <a:srgbClr val="C98A1A"/>
          </a:solidFill>
          <a:ln/>
        </p:spPr>
      </p:sp>
      <p:sp>
        <p:nvSpPr>
          <p:cNvPr id="26" name="Text 20"/>
          <p:cNvSpPr txBox="1"/>
          <p:nvPr/>
        </p:nvSpPr>
        <p:spPr>
          <a:xfrm>
            <a:off x="3977640" y="4297680"/>
            <a:ext cx="768096" cy="7680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P31</a:t>
            </a:r>
            <a:endParaRPr lang="en-US" sz="1300" dirty="0"/>
          </a:p>
        </p:txBody>
      </p:sp>
      <p:sp>
        <p:nvSpPr>
          <p:cNvPr id="27" name="Text 21"/>
          <p:cNvSpPr txBox="1"/>
          <p:nvPr/>
        </p:nvSpPr>
        <p:spPr>
          <a:xfrm>
            <a:off x="3657600" y="5120640"/>
            <a:ext cx="1417320" cy="548640"/>
          </a:xfrm>
          <a:prstGeom prst="rect">
            <a:avLst/>
          </a:prstGeom>
          <a:noFill/>
          <a:ln/>
        </p:spPr>
        <p:txBody>
          <a:bodyPr wrap="square" lIns="0" tIns="0" rIns="0" bIns="0" rtlCol="0" anchor="t"/>
          <a:lstStyle/>
          <a:p>
            <a:pPr algn="ctr" indent="0" marL="0">
              <a:buNone/>
            </a:pPr>
            <a:r>
              <a:rPr lang="en-US" sz="1100" b="1" dirty="0">
                <a:solidFill>
                  <a:srgbClr val="1F2A33"/>
                </a:solidFill>
                <a:latin typeface="Arial" pitchFamily="34" charset="0"/>
                <a:ea typeface="Arial" pitchFamily="34" charset="-122"/>
                <a:cs typeface="Arial" pitchFamily="34" charset="-120"/>
              </a:rPr>
              <a:t>Another country</a:t>
            </a:r>
            <a:endParaRPr lang="en-US" sz="1100" dirty="0"/>
          </a:p>
        </p:txBody>
      </p:sp>
      <p:sp>
        <p:nvSpPr>
          <p:cNvPr id="28" name="Shape 22"/>
          <p:cNvSpPr/>
          <p:nvPr/>
        </p:nvSpPr>
        <p:spPr>
          <a:xfrm flipH="1" flipV="1">
            <a:off x="4800600" y="2395728"/>
            <a:ext cx="1115568" cy="1856232"/>
          </a:xfrm>
          <a:prstGeom prst="line">
            <a:avLst/>
          </a:prstGeom>
          <a:noFill/>
          <a:ln w="25400">
            <a:solidFill>
              <a:srgbClr val="FF462D"/>
            </a:solidFill>
            <a:prstDash val="dash"/>
            <a:tailEnd type="arrow"/>
          </a:ln>
        </p:spPr>
      </p:sp>
      <p:sp>
        <p:nvSpPr>
          <p:cNvPr id="29" name="Shape 23"/>
          <p:cNvSpPr/>
          <p:nvPr/>
        </p:nvSpPr>
        <p:spPr>
          <a:xfrm>
            <a:off x="5641848" y="3108960"/>
            <a:ext cx="548640" cy="548640"/>
          </a:xfrm>
          <a:prstGeom prst="ellipse">
            <a:avLst/>
          </a:prstGeom>
          <a:solidFill>
            <a:srgbClr val="FF462D"/>
          </a:solidFill>
          <a:ln/>
        </p:spPr>
      </p:sp>
      <p:pic>
        <p:nvPicPr>
          <p:cNvPr id="30" name="Image 4" descr="/private/tmp/claude-501/-Users-salehhamed-Outcome-Engine/91861432-41e2-4884-bc97-63c6dff2d021/scratchpad/wk/icons/TbLock-white.png">    </p:cNvPr>
          <p:cNvPicPr>
            <a:picLocks noChangeAspect="1"/>
          </p:cNvPicPr>
          <p:nvPr/>
        </p:nvPicPr>
        <p:blipFill>
          <a:blip r:embed="rId7"/>
          <a:stretch>
            <a:fillRect/>
          </a:stretch>
        </p:blipFill>
        <p:spPr>
          <a:xfrm>
            <a:off x="5751576" y="3218688"/>
            <a:ext cx="329184" cy="329184"/>
          </a:xfrm>
          <a:prstGeom prst="rect">
            <a:avLst/>
          </a:prstGeom>
        </p:spPr>
      </p:pic>
      <p:sp>
        <p:nvSpPr>
          <p:cNvPr id="31" name="Shape 24"/>
          <p:cNvSpPr/>
          <p:nvPr/>
        </p:nvSpPr>
        <p:spPr>
          <a:xfrm>
            <a:off x="5532120" y="4297680"/>
            <a:ext cx="768096" cy="768096"/>
          </a:xfrm>
          <a:prstGeom prst="ellipse">
            <a:avLst/>
          </a:prstGeom>
          <a:solidFill>
            <a:srgbClr val="C98A1A"/>
          </a:solidFill>
          <a:ln/>
        </p:spPr>
      </p:sp>
      <p:sp>
        <p:nvSpPr>
          <p:cNvPr id="32" name="Text 25"/>
          <p:cNvSpPr txBox="1"/>
          <p:nvPr/>
        </p:nvSpPr>
        <p:spPr>
          <a:xfrm>
            <a:off x="5532120" y="4297680"/>
            <a:ext cx="768096" cy="7680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P32</a:t>
            </a:r>
            <a:endParaRPr lang="en-US" sz="1300" dirty="0"/>
          </a:p>
        </p:txBody>
      </p:sp>
      <p:sp>
        <p:nvSpPr>
          <p:cNvPr id="33" name="Text 26"/>
          <p:cNvSpPr txBox="1"/>
          <p:nvPr/>
        </p:nvSpPr>
        <p:spPr>
          <a:xfrm>
            <a:off x="5212080" y="5120640"/>
            <a:ext cx="1417320" cy="548640"/>
          </a:xfrm>
          <a:prstGeom prst="rect">
            <a:avLst/>
          </a:prstGeom>
          <a:noFill/>
          <a:ln/>
        </p:spPr>
        <p:txBody>
          <a:bodyPr wrap="square" lIns="0" tIns="0" rIns="0" bIns="0" rtlCol="0" anchor="t"/>
          <a:lstStyle/>
          <a:p>
            <a:pPr algn="ctr" indent="0" marL="0">
              <a:buNone/>
            </a:pPr>
            <a:r>
              <a:rPr lang="en-US" sz="1100" b="1" dirty="0">
                <a:solidFill>
                  <a:srgbClr val="1F2A33"/>
                </a:solidFill>
                <a:latin typeface="Arial" pitchFamily="34" charset="0"/>
                <a:ea typeface="Arial" pitchFamily="34" charset="-122"/>
                <a:cs typeface="Arial" pitchFamily="34" charset="-120"/>
              </a:rPr>
              <a:t>Client lock</a:t>
            </a:r>
            <a:endParaRPr lang="en-US" sz="1100" dirty="0"/>
          </a:p>
        </p:txBody>
      </p:sp>
      <p:sp>
        <p:nvSpPr>
          <p:cNvPr id="34" name="Shape 27"/>
          <p:cNvSpPr/>
          <p:nvPr/>
        </p:nvSpPr>
        <p:spPr>
          <a:xfrm>
            <a:off x="7178040" y="1508760"/>
            <a:ext cx="4462272" cy="960120"/>
          </a:xfrm>
          <a:prstGeom prst="roundRect">
            <a:avLst>
              <a:gd name="adj" fmla="val 7619"/>
            </a:avLst>
          </a:prstGeom>
          <a:solidFill>
            <a:srgbClr val="FFFFFF"/>
          </a:solidFill>
          <a:ln w="12700">
            <a:solidFill>
              <a:srgbClr val="D9DEE2"/>
            </a:solidFill>
            <a:prstDash val="solid"/>
          </a:ln>
        </p:spPr>
      </p:sp>
      <p:pic>
        <p:nvPicPr>
          <p:cNvPr id="35" name="Image 5" descr="/private/tmp/claude-501/-Users-salehhamed-Outcome-Engine/91861432-41e2-4884-bc97-63c6dff2d021/scratchpad/wk/icons/TbHourglass-red.png">    </p:cNvPr>
          <p:cNvPicPr>
            <a:picLocks noChangeAspect="1"/>
          </p:cNvPicPr>
          <p:nvPr/>
        </p:nvPicPr>
        <p:blipFill>
          <a:blip r:embed="rId8"/>
          <a:stretch>
            <a:fillRect/>
          </a:stretch>
        </p:blipFill>
        <p:spPr>
          <a:xfrm>
            <a:off x="7315200" y="1737360"/>
            <a:ext cx="502920" cy="502920"/>
          </a:xfrm>
          <a:prstGeom prst="rect">
            <a:avLst/>
          </a:prstGeom>
        </p:spPr>
      </p:pic>
      <p:sp>
        <p:nvSpPr>
          <p:cNvPr id="36" name="Text 28"/>
          <p:cNvSpPr txBox="1"/>
          <p:nvPr/>
        </p:nvSpPr>
        <p:spPr>
          <a:xfrm>
            <a:off x="7955280" y="1554480"/>
            <a:ext cx="3611880" cy="41148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P07 · Not yet eligible</a:t>
            </a:r>
            <a:endParaRPr lang="en-US" sz="1500" dirty="0"/>
          </a:p>
        </p:txBody>
      </p:sp>
      <p:sp>
        <p:nvSpPr>
          <p:cNvPr id="37" name="Text 29"/>
          <p:cNvSpPr txBox="1"/>
          <p:nvPr/>
        </p:nvSpPr>
        <p:spPr>
          <a:xfrm>
            <a:off x="7955280" y="1965960"/>
            <a:ext cx="3611880" cy="457200"/>
          </a:xfrm>
          <a:prstGeom prst="rect">
            <a:avLst/>
          </a:prstGeom>
          <a:noFill/>
          <a:ln/>
        </p:spPr>
        <p:txBody>
          <a:bodyPr wrap="square" lIns="0" tIns="0" rIns="0" bIns="0" rtlCol="0" anchor="t"/>
          <a:lstStyle/>
          <a:p>
            <a:pPr indent="0" marL="0">
              <a:buNone/>
            </a:pPr>
            <a:r>
              <a:rPr lang="en-US" sz="1200" dirty="0">
                <a:solidFill>
                  <a:srgbClr val="5A5A5A"/>
                </a:solidFill>
                <a:latin typeface="Arial" pitchFamily="34" charset="0"/>
                <a:ea typeface="Arial" pitchFamily="34" charset="-122"/>
                <a:cs typeface="Arial" pitchFamily="34" charset="-120"/>
              </a:rPr>
              <a:t>14 months on the account; senior band needs 24.</a:t>
            </a:r>
            <a:endParaRPr lang="en-US" sz="1200" dirty="0"/>
          </a:p>
        </p:txBody>
      </p:sp>
      <p:sp>
        <p:nvSpPr>
          <p:cNvPr id="38" name="Shape 30"/>
          <p:cNvSpPr/>
          <p:nvPr/>
        </p:nvSpPr>
        <p:spPr>
          <a:xfrm>
            <a:off x="7178040" y="2587752"/>
            <a:ext cx="4462272" cy="960120"/>
          </a:xfrm>
          <a:prstGeom prst="roundRect">
            <a:avLst>
              <a:gd name="adj" fmla="val 7619"/>
            </a:avLst>
          </a:prstGeom>
          <a:solidFill>
            <a:srgbClr val="FFFFFF"/>
          </a:solidFill>
          <a:ln w="12700">
            <a:solidFill>
              <a:srgbClr val="D9DEE2"/>
            </a:solidFill>
            <a:prstDash val="solid"/>
          </a:ln>
        </p:spPr>
      </p:sp>
      <p:pic>
        <p:nvPicPr>
          <p:cNvPr id="39" name="Image 6" descr="/private/tmp/claude-501/-Users-salehhamed-Outcome-Engine/91861432-41e2-4884-bc97-63c6dff2d021/scratchpad/wk/icons/TbThumbDown-red.png">    </p:cNvPr>
          <p:cNvPicPr>
            <a:picLocks noChangeAspect="1"/>
          </p:cNvPicPr>
          <p:nvPr/>
        </p:nvPicPr>
        <p:blipFill>
          <a:blip r:embed="rId9"/>
          <a:stretch>
            <a:fillRect/>
          </a:stretch>
        </p:blipFill>
        <p:spPr>
          <a:xfrm>
            <a:off x="7315200" y="2816352"/>
            <a:ext cx="502920" cy="502920"/>
          </a:xfrm>
          <a:prstGeom prst="rect">
            <a:avLst/>
          </a:prstGeom>
        </p:spPr>
      </p:pic>
      <p:sp>
        <p:nvSpPr>
          <p:cNvPr id="40" name="Text 31"/>
          <p:cNvSpPr txBox="1"/>
          <p:nvPr/>
        </p:nvSpPr>
        <p:spPr>
          <a:xfrm>
            <a:off x="7955280" y="2633472"/>
            <a:ext cx="3611880" cy="41148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P08 · Has not opted in</a:t>
            </a:r>
            <a:endParaRPr lang="en-US" sz="1500" dirty="0"/>
          </a:p>
        </p:txBody>
      </p:sp>
      <p:sp>
        <p:nvSpPr>
          <p:cNvPr id="41" name="Text 32"/>
          <p:cNvSpPr txBox="1"/>
          <p:nvPr/>
        </p:nvSpPr>
        <p:spPr>
          <a:xfrm>
            <a:off x="7955280" y="3044952"/>
            <a:ext cx="3611880" cy="457200"/>
          </a:xfrm>
          <a:prstGeom prst="rect">
            <a:avLst/>
          </a:prstGeom>
          <a:noFill/>
          <a:ln/>
        </p:spPr>
        <p:txBody>
          <a:bodyPr wrap="square" lIns="0" tIns="0" rIns="0" bIns="0" rtlCol="0" anchor="t"/>
          <a:lstStyle/>
          <a:p>
            <a:pPr indent="0" marL="0">
              <a:buNone/>
            </a:pPr>
            <a:r>
              <a:rPr lang="en-US" sz="1200" dirty="0">
                <a:solidFill>
                  <a:srgbClr val="5A5A5A"/>
                </a:solidFill>
                <a:latin typeface="Arial" pitchFamily="34" charset="0"/>
                <a:ea typeface="Arial" pitchFamily="34" charset="-122"/>
                <a:cs typeface="Arial" pitchFamily="34" charset="-120"/>
              </a:rPr>
              <a:t>Has not agreed to move.</a:t>
            </a:r>
            <a:endParaRPr lang="en-US" sz="1200" dirty="0"/>
          </a:p>
        </p:txBody>
      </p:sp>
      <p:sp>
        <p:nvSpPr>
          <p:cNvPr id="42" name="Shape 33"/>
          <p:cNvSpPr/>
          <p:nvPr/>
        </p:nvSpPr>
        <p:spPr>
          <a:xfrm>
            <a:off x="7178040" y="3666744"/>
            <a:ext cx="4462272" cy="960120"/>
          </a:xfrm>
          <a:prstGeom prst="roundRect">
            <a:avLst>
              <a:gd name="adj" fmla="val 7619"/>
            </a:avLst>
          </a:prstGeom>
          <a:solidFill>
            <a:srgbClr val="FFFFFF"/>
          </a:solidFill>
          <a:ln w="12700">
            <a:solidFill>
              <a:srgbClr val="D9DEE2"/>
            </a:solidFill>
            <a:prstDash val="solid"/>
          </a:ln>
        </p:spPr>
      </p:sp>
      <p:pic>
        <p:nvPicPr>
          <p:cNvPr id="43" name="Image 7" descr="/private/tmp/claude-501/-Users-salehhamed-Outcome-Engine/91861432-41e2-4884-bc97-63c6dff2d021/scratchpad/wk/icons/TbWorld-red.png">    </p:cNvPr>
          <p:cNvPicPr>
            <a:picLocks noChangeAspect="1"/>
          </p:cNvPicPr>
          <p:nvPr/>
        </p:nvPicPr>
        <p:blipFill>
          <a:blip r:embed="rId10"/>
          <a:stretch>
            <a:fillRect/>
          </a:stretch>
        </p:blipFill>
        <p:spPr>
          <a:xfrm>
            <a:off x="7315200" y="3895344"/>
            <a:ext cx="502920" cy="502920"/>
          </a:xfrm>
          <a:prstGeom prst="rect">
            <a:avLst/>
          </a:prstGeom>
        </p:spPr>
      </p:pic>
      <p:sp>
        <p:nvSpPr>
          <p:cNvPr id="44" name="Text 34"/>
          <p:cNvSpPr txBox="1"/>
          <p:nvPr/>
        </p:nvSpPr>
        <p:spPr>
          <a:xfrm>
            <a:off x="7955280" y="3712464"/>
            <a:ext cx="3611880" cy="41148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P31 · Another country</a:t>
            </a:r>
            <a:endParaRPr lang="en-US" sz="1500" dirty="0"/>
          </a:p>
        </p:txBody>
      </p:sp>
      <p:sp>
        <p:nvSpPr>
          <p:cNvPr id="45" name="Text 35"/>
          <p:cNvSpPr txBox="1"/>
          <p:nvPr/>
        </p:nvSpPr>
        <p:spPr>
          <a:xfrm>
            <a:off x="7955280" y="4123944"/>
            <a:ext cx="3611880" cy="457200"/>
          </a:xfrm>
          <a:prstGeom prst="rect">
            <a:avLst/>
          </a:prstGeom>
          <a:noFill/>
          <a:ln/>
        </p:spPr>
        <p:txBody>
          <a:bodyPr wrap="square" lIns="0" tIns="0" rIns="0" bIns="0" rtlCol="0" anchor="t"/>
          <a:lstStyle/>
          <a:p>
            <a:pPr indent="0" marL="0">
              <a:buNone/>
            </a:pPr>
            <a:r>
              <a:rPr lang="en-US" sz="1200" dirty="0">
                <a:solidFill>
                  <a:srgbClr val="5A5A5A"/>
                </a:solidFill>
                <a:latin typeface="Arial" pitchFamily="34" charset="0"/>
                <a:ea typeface="Arial" pitchFamily="34" charset="-122"/>
                <a:cs typeface="Arial" pitchFamily="34" charset="-120"/>
              </a:rPr>
              <a:t>In London on the UK cost base; the work is in Riyadh.</a:t>
            </a:r>
            <a:endParaRPr lang="en-US" sz="1200" dirty="0"/>
          </a:p>
        </p:txBody>
      </p:sp>
      <p:sp>
        <p:nvSpPr>
          <p:cNvPr id="46" name="Shape 36"/>
          <p:cNvSpPr/>
          <p:nvPr/>
        </p:nvSpPr>
        <p:spPr>
          <a:xfrm>
            <a:off x="7178040" y="4745736"/>
            <a:ext cx="4462272" cy="960120"/>
          </a:xfrm>
          <a:prstGeom prst="roundRect">
            <a:avLst>
              <a:gd name="adj" fmla="val 7619"/>
            </a:avLst>
          </a:prstGeom>
          <a:solidFill>
            <a:srgbClr val="FFFFFF"/>
          </a:solidFill>
          <a:ln w="12700">
            <a:solidFill>
              <a:srgbClr val="D9DEE2"/>
            </a:solidFill>
            <a:prstDash val="solid"/>
          </a:ln>
        </p:spPr>
      </p:sp>
      <p:pic>
        <p:nvPicPr>
          <p:cNvPr id="47" name="Image 8" descr="/private/tmp/claude-501/-Users-salehhamed-Outcome-Engine/91861432-41e2-4884-bc97-63c6dff2d021/scratchpad/wk/icons/TbLock-red.png">    </p:cNvPr>
          <p:cNvPicPr>
            <a:picLocks noChangeAspect="1"/>
          </p:cNvPicPr>
          <p:nvPr/>
        </p:nvPicPr>
        <p:blipFill>
          <a:blip r:embed="rId11"/>
          <a:stretch>
            <a:fillRect/>
          </a:stretch>
        </p:blipFill>
        <p:spPr>
          <a:xfrm>
            <a:off x="7315200" y="4974336"/>
            <a:ext cx="502920" cy="502920"/>
          </a:xfrm>
          <a:prstGeom prst="rect">
            <a:avLst/>
          </a:prstGeom>
        </p:spPr>
      </p:pic>
      <p:sp>
        <p:nvSpPr>
          <p:cNvPr id="48" name="Text 37"/>
          <p:cNvSpPr txBox="1"/>
          <p:nvPr/>
        </p:nvSpPr>
        <p:spPr>
          <a:xfrm>
            <a:off x="7955280" y="4791456"/>
            <a:ext cx="3611880" cy="411480"/>
          </a:xfrm>
          <a:prstGeom prst="rect">
            <a:avLst/>
          </a:prstGeom>
          <a:noFill/>
          <a:ln/>
        </p:spPr>
        <p:txBody>
          <a:bodyPr wrap="square" lIns="0" tIns="0" rIns="0" bIns="0" rtlCol="0" anchor="t"/>
          <a:lstStyle/>
          <a:p>
            <a:pPr indent="0" marL="0">
              <a:buNone/>
            </a:pPr>
            <a:r>
              <a:rPr lang="en-US" sz="1500" b="1" dirty="0">
                <a:solidFill>
                  <a:srgbClr val="1F2A33"/>
                </a:solidFill>
                <a:latin typeface="Arial" pitchFamily="34" charset="0"/>
                <a:ea typeface="Arial" pitchFamily="34" charset="-122"/>
                <a:cs typeface="Arial" pitchFamily="34" charset="-120"/>
              </a:rPr>
              <a:t>P32 · Client lock</a:t>
            </a:r>
            <a:endParaRPr lang="en-US" sz="1500" dirty="0"/>
          </a:p>
        </p:txBody>
      </p:sp>
      <p:sp>
        <p:nvSpPr>
          <p:cNvPr id="49" name="Text 38"/>
          <p:cNvSpPr txBox="1"/>
          <p:nvPr/>
        </p:nvSpPr>
        <p:spPr>
          <a:xfrm>
            <a:off x="7955280" y="5202936"/>
            <a:ext cx="3611880" cy="457200"/>
          </a:xfrm>
          <a:prstGeom prst="rect">
            <a:avLst/>
          </a:prstGeom>
          <a:noFill/>
          <a:ln/>
        </p:spPr>
        <p:txBody>
          <a:bodyPr wrap="square" lIns="0" tIns="0" rIns="0" bIns="0" rtlCol="0" anchor="t"/>
          <a:lstStyle/>
          <a:p>
            <a:pPr indent="0" marL="0">
              <a:buNone/>
            </a:pPr>
            <a:r>
              <a:rPr lang="en-US" sz="1200" dirty="0">
                <a:solidFill>
                  <a:srgbClr val="5A5A5A"/>
                </a:solidFill>
                <a:latin typeface="Arial" pitchFamily="34" charset="0"/>
                <a:ea typeface="Arial" pitchFamily="34" charset="-122"/>
                <a:cs typeface="Arial" pitchFamily="34" charset="-120"/>
              </a:rPr>
              <a:t>Their client has asked to keep them.</a:t>
            </a:r>
            <a:endParaRPr lang="en-US" sz="1200" dirty="0"/>
          </a:p>
        </p:txBody>
      </p:sp>
      <p:sp>
        <p:nvSpPr>
          <p:cNvPr id="50" name="Text 39"/>
          <p:cNvSpPr txBox="1"/>
          <p:nvPr/>
        </p:nvSpPr>
        <p:spPr>
          <a:xfrm>
            <a:off x="7178040" y="5852160"/>
            <a:ext cx="4480560" cy="548640"/>
          </a:xfrm>
          <a:prstGeom prst="rect">
            <a:avLst/>
          </a:prstGeom>
          <a:noFill/>
          <a:ln/>
        </p:spPr>
        <p:txBody>
          <a:bodyPr wrap="square" lIns="0" tIns="0" rIns="0" bIns="0" rtlCol="0" anchor="t"/>
          <a:lstStyle/>
          <a:p>
            <a:pPr indent="0" marL="0">
              <a:buNone/>
            </a:pPr>
            <a:r>
              <a:rPr lang="en-US" sz="1350" b="1" dirty="0">
                <a:solidFill>
                  <a:srgbClr val="FF462D"/>
                </a:solidFill>
                <a:latin typeface="Arial" pitchFamily="34" charset="0"/>
                <a:ea typeface="Arial" pitchFamily="34" charset="-122"/>
                <a:cs typeface="Arial" pitchFamily="34" charset="-120"/>
              </a:rPr>
              <a:t>Bend one rule, and the job is filled. Which one, if any, is worth it?</a:t>
            </a:r>
            <a:endParaRPr lang="en-US" sz="135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SO ROTATION IS BUILT ON REAL DATA</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What the pilot records from day one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11:45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166</a:t>
            </a:r>
            <a:endParaRPr lang="en-US" sz="1000" dirty="0"/>
          </a:p>
        </p:txBody>
      </p:sp>
      <p:sp>
        <p:nvSpPr>
          <p:cNvPr id="7" name="Shape 4"/>
          <p:cNvSpPr/>
          <p:nvPr/>
        </p:nvSpPr>
        <p:spPr>
          <a:xfrm>
            <a:off x="548640" y="1554480"/>
            <a:ext cx="3566160" cy="2011680"/>
          </a:xfrm>
          <a:prstGeom prst="roundRect">
            <a:avLst>
              <a:gd name="adj" fmla="val 3636"/>
            </a:avLst>
          </a:prstGeom>
          <a:solidFill>
            <a:srgbClr val="FFFFFF"/>
          </a:solidFill>
          <a:ln w="12700">
            <a:solidFill>
              <a:srgbClr val="D9DEE2"/>
            </a:solidFill>
            <a:prstDash val="solid"/>
          </a:ln>
        </p:spPr>
      </p:sp>
      <p:pic>
        <p:nvPicPr>
          <p:cNvPr id="8" name="Image 1" descr="/private/tmp/claude-501/-Users-salehhamed-Outcome-Engine/91861432-41e2-4884-bc97-63c6dff2d021/scratchpad/wk/icons/TbCertificate-teal.png">    </p:cNvPr>
          <p:cNvPicPr>
            <a:picLocks noChangeAspect="1"/>
          </p:cNvPicPr>
          <p:nvPr/>
        </p:nvPicPr>
        <p:blipFill>
          <a:blip r:embed="rId4"/>
          <a:stretch>
            <a:fillRect/>
          </a:stretch>
        </p:blipFill>
        <p:spPr>
          <a:xfrm>
            <a:off x="777240" y="1828800"/>
            <a:ext cx="685800" cy="685800"/>
          </a:xfrm>
          <a:prstGeom prst="rect">
            <a:avLst/>
          </a:prstGeom>
        </p:spPr>
      </p:pic>
      <p:pic>
        <p:nvPicPr>
          <p:cNvPr id="9" name="Image 2" descr="/private/tmp/claude-501/-Users-salehhamed-Outcome-Engine/91861432-41e2-4884-bc97-63c6dff2d021/scratchpad/wk/icons/TbCircleCheck-green.png">    </p:cNvPr>
          <p:cNvPicPr>
            <a:picLocks noChangeAspect="1"/>
          </p:cNvPicPr>
          <p:nvPr/>
        </p:nvPicPr>
        <p:blipFill>
          <a:blip r:embed="rId5"/>
          <a:stretch>
            <a:fillRect/>
          </a:stretch>
        </p:blipFill>
        <p:spPr>
          <a:xfrm>
            <a:off x="3566160" y="1783080"/>
            <a:ext cx="384048" cy="384048"/>
          </a:xfrm>
          <a:prstGeom prst="rect">
            <a:avLst/>
          </a:prstGeom>
        </p:spPr>
      </p:pic>
      <p:sp>
        <p:nvSpPr>
          <p:cNvPr id="10" name="Text 5"/>
          <p:cNvSpPr txBox="1"/>
          <p:nvPr/>
        </p:nvSpPr>
        <p:spPr>
          <a:xfrm>
            <a:off x="777240" y="2606040"/>
            <a:ext cx="3108960"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Each person's qualified level</a:t>
            </a:r>
            <a:endParaRPr lang="en-US" sz="1700" dirty="0"/>
          </a:p>
        </p:txBody>
      </p:sp>
      <p:sp>
        <p:nvSpPr>
          <p:cNvPr id="11" name="Text 6"/>
          <p:cNvSpPr txBox="1"/>
          <p:nvPr/>
        </p:nvSpPr>
        <p:spPr>
          <a:xfrm>
            <a:off x="777240" y="3017520"/>
            <a:ext cx="3108960" cy="457200"/>
          </a:xfrm>
          <a:prstGeom prst="rect">
            <a:avLst/>
          </a:prstGeom>
          <a:noFill/>
          <a:ln/>
        </p:spPr>
        <p:txBody>
          <a:bodyPr wrap="square" lIns="0" tIns="0" rIns="0" bIns="0" rtlCol="0" anchor="t"/>
          <a:lstStyle/>
          <a:p>
            <a:pPr indent="0" marL="0">
              <a:buNone/>
            </a:pPr>
            <a:r>
              <a:rPr lang="en-US" sz="1300" dirty="0">
                <a:solidFill>
                  <a:srgbClr val="5A5A5A"/>
                </a:solidFill>
                <a:latin typeface="Arial" pitchFamily="34" charset="0"/>
                <a:ea typeface="Arial" pitchFamily="34" charset="-122"/>
                <a:cs typeface="Arial" pitchFamily="34" charset="-120"/>
              </a:rPr>
              <a:t>the highest level of work they are qualified for</a:t>
            </a:r>
            <a:endParaRPr lang="en-US" sz="1300" dirty="0"/>
          </a:p>
        </p:txBody>
      </p:sp>
      <p:sp>
        <p:nvSpPr>
          <p:cNvPr id="12" name="Shape 7"/>
          <p:cNvSpPr/>
          <p:nvPr/>
        </p:nvSpPr>
        <p:spPr>
          <a:xfrm>
            <a:off x="4297680" y="1554480"/>
            <a:ext cx="3566160" cy="2011680"/>
          </a:xfrm>
          <a:prstGeom prst="roundRect">
            <a:avLst>
              <a:gd name="adj" fmla="val 3636"/>
            </a:avLst>
          </a:prstGeom>
          <a:solidFill>
            <a:srgbClr val="FFFFFF"/>
          </a:solidFill>
          <a:ln w="12700">
            <a:solidFill>
              <a:srgbClr val="D9DEE2"/>
            </a:solidFill>
            <a:prstDash val="solid"/>
          </a:ln>
        </p:spPr>
      </p:sp>
      <p:pic>
        <p:nvPicPr>
          <p:cNvPr id="13" name="Image 3" descr="/private/tmp/claude-501/-Users-salehhamed-Outcome-Engine/91861432-41e2-4884-bc97-63c6dff2d021/scratchpad/wk/icons/TbStairs-teal.png">    </p:cNvPr>
          <p:cNvPicPr>
            <a:picLocks noChangeAspect="1"/>
          </p:cNvPicPr>
          <p:nvPr/>
        </p:nvPicPr>
        <p:blipFill>
          <a:blip r:embed="rId6"/>
          <a:stretch>
            <a:fillRect/>
          </a:stretch>
        </p:blipFill>
        <p:spPr>
          <a:xfrm>
            <a:off x="4526280" y="1828800"/>
            <a:ext cx="685800" cy="685800"/>
          </a:xfrm>
          <a:prstGeom prst="rect">
            <a:avLst/>
          </a:prstGeom>
        </p:spPr>
      </p:pic>
      <p:pic>
        <p:nvPicPr>
          <p:cNvPr id="14" name="Image 4" descr="/private/tmp/claude-501/-Users-salehhamed-Outcome-Engine/91861432-41e2-4884-bc97-63c6dff2d021/scratchpad/wk/icons/TbCircleCheck-green.png">    </p:cNvPr>
          <p:cNvPicPr>
            <a:picLocks noChangeAspect="1"/>
          </p:cNvPicPr>
          <p:nvPr/>
        </p:nvPicPr>
        <p:blipFill>
          <a:blip r:embed="rId7"/>
          <a:stretch>
            <a:fillRect/>
          </a:stretch>
        </p:blipFill>
        <p:spPr>
          <a:xfrm>
            <a:off x="7315200" y="1783080"/>
            <a:ext cx="384048" cy="384048"/>
          </a:xfrm>
          <a:prstGeom prst="rect">
            <a:avLst/>
          </a:prstGeom>
        </p:spPr>
      </p:pic>
      <p:sp>
        <p:nvSpPr>
          <p:cNvPr id="15" name="Text 8"/>
          <p:cNvSpPr txBox="1"/>
          <p:nvPr/>
        </p:nvSpPr>
        <p:spPr>
          <a:xfrm>
            <a:off x="4526280" y="2606040"/>
            <a:ext cx="3108960"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The level of their work</a:t>
            </a:r>
            <a:endParaRPr lang="en-US" sz="1700" dirty="0"/>
          </a:p>
        </p:txBody>
      </p:sp>
      <p:sp>
        <p:nvSpPr>
          <p:cNvPr id="16" name="Text 9"/>
          <p:cNvSpPr txBox="1"/>
          <p:nvPr/>
        </p:nvSpPr>
        <p:spPr>
          <a:xfrm>
            <a:off x="4526280" y="3017520"/>
            <a:ext cx="3108960" cy="457200"/>
          </a:xfrm>
          <a:prstGeom prst="rect">
            <a:avLst/>
          </a:prstGeom>
          <a:noFill/>
          <a:ln/>
        </p:spPr>
        <p:txBody>
          <a:bodyPr wrap="square" lIns="0" tIns="0" rIns="0" bIns="0" rtlCol="0" anchor="t"/>
          <a:lstStyle/>
          <a:p>
            <a:pPr indent="0" marL="0">
              <a:buNone/>
            </a:pPr>
            <a:r>
              <a:rPr lang="en-US" sz="1300" dirty="0">
                <a:solidFill>
                  <a:srgbClr val="5A5A5A"/>
                </a:solidFill>
                <a:latin typeface="Arial" pitchFamily="34" charset="0"/>
                <a:ea typeface="Arial" pitchFamily="34" charset="-122"/>
                <a:cs typeface="Arial" pitchFamily="34" charset="-120"/>
              </a:rPr>
              <a:t>what their current job really asks of them</a:t>
            </a:r>
            <a:endParaRPr lang="en-US" sz="1300" dirty="0"/>
          </a:p>
        </p:txBody>
      </p:sp>
      <p:sp>
        <p:nvSpPr>
          <p:cNvPr id="17" name="Shape 10"/>
          <p:cNvSpPr/>
          <p:nvPr/>
        </p:nvSpPr>
        <p:spPr>
          <a:xfrm>
            <a:off x="8046720" y="1554480"/>
            <a:ext cx="3566160" cy="2011680"/>
          </a:xfrm>
          <a:prstGeom prst="roundRect">
            <a:avLst>
              <a:gd name="adj" fmla="val 3636"/>
            </a:avLst>
          </a:prstGeom>
          <a:solidFill>
            <a:srgbClr val="FFFFFF"/>
          </a:solidFill>
          <a:ln w="12700">
            <a:solidFill>
              <a:srgbClr val="D9DEE2"/>
            </a:solidFill>
            <a:prstDash val="solid"/>
          </a:ln>
        </p:spPr>
      </p:sp>
      <p:pic>
        <p:nvPicPr>
          <p:cNvPr id="18" name="Image 5" descr="/private/tmp/claude-501/-Users-salehhamed-Outcome-Engine/91861432-41e2-4884-bc97-63c6dff2d021/scratchpad/wk/icons/TbHourglass-teal.png">    </p:cNvPr>
          <p:cNvPicPr>
            <a:picLocks noChangeAspect="1"/>
          </p:cNvPicPr>
          <p:nvPr/>
        </p:nvPicPr>
        <p:blipFill>
          <a:blip r:embed="rId8"/>
          <a:stretch>
            <a:fillRect/>
          </a:stretch>
        </p:blipFill>
        <p:spPr>
          <a:xfrm>
            <a:off x="8275320" y="1828800"/>
            <a:ext cx="685800" cy="685800"/>
          </a:xfrm>
          <a:prstGeom prst="rect">
            <a:avLst/>
          </a:prstGeom>
        </p:spPr>
      </p:pic>
      <p:pic>
        <p:nvPicPr>
          <p:cNvPr id="19" name="Image 6" descr="/private/tmp/claude-501/-Users-salehhamed-Outcome-Engine/91861432-41e2-4884-bc97-63c6dff2d021/scratchpad/wk/icons/TbCircleCheck-green.png">    </p:cNvPr>
          <p:cNvPicPr>
            <a:picLocks noChangeAspect="1"/>
          </p:cNvPicPr>
          <p:nvPr/>
        </p:nvPicPr>
        <p:blipFill>
          <a:blip r:embed="rId9"/>
          <a:stretch>
            <a:fillRect/>
          </a:stretch>
        </p:blipFill>
        <p:spPr>
          <a:xfrm>
            <a:off x="11064240" y="1783080"/>
            <a:ext cx="384048" cy="384048"/>
          </a:xfrm>
          <a:prstGeom prst="rect">
            <a:avLst/>
          </a:prstGeom>
        </p:spPr>
      </p:pic>
      <p:sp>
        <p:nvSpPr>
          <p:cNvPr id="20" name="Text 11"/>
          <p:cNvSpPr txBox="1"/>
          <p:nvPr/>
        </p:nvSpPr>
        <p:spPr>
          <a:xfrm>
            <a:off x="8275320" y="2606040"/>
            <a:ext cx="3108960"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Time on the account</a:t>
            </a:r>
            <a:endParaRPr lang="en-US" sz="1700" dirty="0"/>
          </a:p>
        </p:txBody>
      </p:sp>
      <p:sp>
        <p:nvSpPr>
          <p:cNvPr id="21" name="Text 12"/>
          <p:cNvSpPr txBox="1"/>
          <p:nvPr/>
        </p:nvSpPr>
        <p:spPr>
          <a:xfrm>
            <a:off x="8275320" y="3017520"/>
            <a:ext cx="3108960" cy="457200"/>
          </a:xfrm>
          <a:prstGeom prst="rect">
            <a:avLst/>
          </a:prstGeom>
          <a:noFill/>
          <a:ln/>
        </p:spPr>
        <p:txBody>
          <a:bodyPr wrap="square" lIns="0" tIns="0" rIns="0" bIns="0" rtlCol="0" anchor="t"/>
          <a:lstStyle/>
          <a:p>
            <a:pPr indent="0" marL="0">
              <a:buNone/>
            </a:pPr>
            <a:r>
              <a:rPr lang="en-US" sz="1300" dirty="0">
                <a:solidFill>
                  <a:srgbClr val="5A5A5A"/>
                </a:solidFill>
                <a:latin typeface="Arial" pitchFamily="34" charset="0"/>
                <a:ea typeface="Arial" pitchFamily="34" charset="-122"/>
                <a:cs typeface="Arial" pitchFamily="34" charset="-120"/>
              </a:rPr>
              <a:t>months, by grade</a:t>
            </a:r>
            <a:endParaRPr lang="en-US" sz="1300" dirty="0"/>
          </a:p>
        </p:txBody>
      </p:sp>
      <p:sp>
        <p:nvSpPr>
          <p:cNvPr id="22" name="Shape 13"/>
          <p:cNvSpPr/>
          <p:nvPr/>
        </p:nvSpPr>
        <p:spPr>
          <a:xfrm>
            <a:off x="548640" y="3794760"/>
            <a:ext cx="3566160" cy="2011680"/>
          </a:xfrm>
          <a:prstGeom prst="roundRect">
            <a:avLst>
              <a:gd name="adj" fmla="val 3636"/>
            </a:avLst>
          </a:prstGeom>
          <a:solidFill>
            <a:srgbClr val="FFFFFF"/>
          </a:solidFill>
          <a:ln w="12700">
            <a:solidFill>
              <a:srgbClr val="D9DEE2"/>
            </a:solidFill>
            <a:prstDash val="solid"/>
          </a:ln>
        </p:spPr>
      </p:sp>
      <p:pic>
        <p:nvPicPr>
          <p:cNvPr id="23" name="Image 7" descr="/private/tmp/claude-501/-Users-salehhamed-Outcome-Engine/91861432-41e2-4884-bc97-63c6dff2d021/scratchpad/wk/icons/TbKey-teal.png">    </p:cNvPr>
          <p:cNvPicPr>
            <a:picLocks noChangeAspect="1"/>
          </p:cNvPicPr>
          <p:nvPr/>
        </p:nvPicPr>
        <p:blipFill>
          <a:blip r:embed="rId10"/>
          <a:stretch>
            <a:fillRect/>
          </a:stretch>
        </p:blipFill>
        <p:spPr>
          <a:xfrm>
            <a:off x="777240" y="4069080"/>
            <a:ext cx="685800" cy="685800"/>
          </a:xfrm>
          <a:prstGeom prst="rect">
            <a:avLst/>
          </a:prstGeom>
        </p:spPr>
      </p:pic>
      <p:pic>
        <p:nvPicPr>
          <p:cNvPr id="24" name="Image 8" descr="/private/tmp/claude-501/-Users-salehhamed-Outcome-Engine/91861432-41e2-4884-bc97-63c6dff2d021/scratchpad/wk/icons/TbCircleCheck-green.png">    </p:cNvPr>
          <p:cNvPicPr>
            <a:picLocks noChangeAspect="1"/>
          </p:cNvPicPr>
          <p:nvPr/>
        </p:nvPicPr>
        <p:blipFill>
          <a:blip r:embed="rId11"/>
          <a:stretch>
            <a:fillRect/>
          </a:stretch>
        </p:blipFill>
        <p:spPr>
          <a:xfrm>
            <a:off x="3566160" y="4023360"/>
            <a:ext cx="384048" cy="384048"/>
          </a:xfrm>
          <a:prstGeom prst="rect">
            <a:avLst/>
          </a:prstGeom>
        </p:spPr>
      </p:pic>
      <p:sp>
        <p:nvSpPr>
          <p:cNvPr id="25" name="Text 14"/>
          <p:cNvSpPr txBox="1"/>
          <p:nvPr/>
        </p:nvSpPr>
        <p:spPr>
          <a:xfrm>
            <a:off x="777240" y="4846320"/>
            <a:ext cx="3108960"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Key-person flags</a:t>
            </a:r>
            <a:endParaRPr lang="en-US" sz="1700" dirty="0"/>
          </a:p>
        </p:txBody>
      </p:sp>
      <p:sp>
        <p:nvSpPr>
          <p:cNvPr id="26" name="Text 15"/>
          <p:cNvSpPr txBox="1"/>
          <p:nvPr/>
        </p:nvSpPr>
        <p:spPr>
          <a:xfrm>
            <a:off x="777240" y="5257800"/>
            <a:ext cx="3108960" cy="457200"/>
          </a:xfrm>
          <a:prstGeom prst="rect">
            <a:avLst/>
          </a:prstGeom>
          <a:noFill/>
          <a:ln/>
        </p:spPr>
        <p:txBody>
          <a:bodyPr wrap="square" lIns="0" tIns="0" rIns="0" bIns="0" rtlCol="0" anchor="t"/>
          <a:lstStyle/>
          <a:p>
            <a:pPr indent="0" marL="0">
              <a:buNone/>
            </a:pPr>
            <a:r>
              <a:rPr lang="en-US" sz="1300" dirty="0">
                <a:solidFill>
                  <a:srgbClr val="5A5A5A"/>
                </a:solidFill>
                <a:latin typeface="Arial" pitchFamily="34" charset="0"/>
                <a:ea typeface="Arial" pitchFamily="34" charset="-122"/>
                <a:cs typeface="Arial" pitchFamily="34" charset="-120"/>
              </a:rPr>
              <a:t>set by the markets</a:t>
            </a:r>
            <a:endParaRPr lang="en-US" sz="1300" dirty="0"/>
          </a:p>
        </p:txBody>
      </p:sp>
      <p:sp>
        <p:nvSpPr>
          <p:cNvPr id="27" name="Shape 16"/>
          <p:cNvSpPr/>
          <p:nvPr/>
        </p:nvSpPr>
        <p:spPr>
          <a:xfrm>
            <a:off x="4297680" y="3794760"/>
            <a:ext cx="3566160" cy="2011680"/>
          </a:xfrm>
          <a:prstGeom prst="roundRect">
            <a:avLst>
              <a:gd name="adj" fmla="val 3636"/>
            </a:avLst>
          </a:prstGeom>
          <a:solidFill>
            <a:srgbClr val="FFFFFF"/>
          </a:solidFill>
          <a:ln w="12700">
            <a:solidFill>
              <a:srgbClr val="D9DEE2"/>
            </a:solidFill>
            <a:prstDash val="solid"/>
          </a:ln>
        </p:spPr>
      </p:sp>
      <p:pic>
        <p:nvPicPr>
          <p:cNvPr id="28" name="Image 9" descr="/private/tmp/claude-501/-Users-salehhamed-Outcome-Engine/91861432-41e2-4884-bc97-63c6dff2d021/scratchpad/wk/icons/TbDoorExit-teal.png">    </p:cNvPr>
          <p:cNvPicPr>
            <a:picLocks noChangeAspect="1"/>
          </p:cNvPicPr>
          <p:nvPr/>
        </p:nvPicPr>
        <p:blipFill>
          <a:blip r:embed="rId12"/>
          <a:stretch>
            <a:fillRect/>
          </a:stretch>
        </p:blipFill>
        <p:spPr>
          <a:xfrm>
            <a:off x="4526280" y="4069080"/>
            <a:ext cx="685800" cy="685800"/>
          </a:xfrm>
          <a:prstGeom prst="rect">
            <a:avLst/>
          </a:prstGeom>
        </p:spPr>
      </p:pic>
      <p:pic>
        <p:nvPicPr>
          <p:cNvPr id="29" name="Image 10" descr="/private/tmp/claude-501/-Users-salehhamed-Outcome-Engine/91861432-41e2-4884-bc97-63c6dff2d021/scratchpad/wk/icons/TbCircleCheck-green.png">    </p:cNvPr>
          <p:cNvPicPr>
            <a:picLocks noChangeAspect="1"/>
          </p:cNvPicPr>
          <p:nvPr/>
        </p:nvPicPr>
        <p:blipFill>
          <a:blip r:embed="rId13"/>
          <a:stretch>
            <a:fillRect/>
          </a:stretch>
        </p:blipFill>
        <p:spPr>
          <a:xfrm>
            <a:off x="7315200" y="4023360"/>
            <a:ext cx="384048" cy="384048"/>
          </a:xfrm>
          <a:prstGeom prst="rect">
            <a:avLst/>
          </a:prstGeom>
        </p:spPr>
      </p:pic>
      <p:sp>
        <p:nvSpPr>
          <p:cNvPr id="30" name="Text 17"/>
          <p:cNvSpPr txBox="1"/>
          <p:nvPr/>
        </p:nvSpPr>
        <p:spPr>
          <a:xfrm>
            <a:off x="4526280" y="4846320"/>
            <a:ext cx="3108960"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Every release decision</a:t>
            </a:r>
            <a:endParaRPr lang="en-US" sz="1700" dirty="0"/>
          </a:p>
        </p:txBody>
      </p:sp>
      <p:sp>
        <p:nvSpPr>
          <p:cNvPr id="31" name="Text 18"/>
          <p:cNvSpPr txBox="1"/>
          <p:nvPr/>
        </p:nvSpPr>
        <p:spPr>
          <a:xfrm>
            <a:off x="4526280" y="5257800"/>
            <a:ext cx="3108960" cy="457200"/>
          </a:xfrm>
          <a:prstGeom prst="rect">
            <a:avLst/>
          </a:prstGeom>
          <a:noFill/>
          <a:ln/>
        </p:spPr>
        <p:txBody>
          <a:bodyPr wrap="square" lIns="0" tIns="0" rIns="0" bIns="0" rtlCol="0" anchor="t"/>
          <a:lstStyle/>
          <a:p>
            <a:pPr indent="0" marL="0">
              <a:buNone/>
            </a:pPr>
            <a:r>
              <a:rPr lang="en-US" sz="1300" dirty="0">
                <a:solidFill>
                  <a:srgbClr val="5A5A5A"/>
                </a:solidFill>
                <a:latin typeface="Arial" pitchFamily="34" charset="0"/>
                <a:ea typeface="Arial" pitchFamily="34" charset="-122"/>
                <a:cs typeface="Arial" pitchFamily="34" charset="-120"/>
              </a:rPr>
              <a:t>yes or no, with the reason</a:t>
            </a:r>
            <a:endParaRPr lang="en-US" sz="1300" dirty="0"/>
          </a:p>
        </p:txBody>
      </p:sp>
      <p:sp>
        <p:nvSpPr>
          <p:cNvPr id="32" name="Shape 19"/>
          <p:cNvSpPr/>
          <p:nvPr/>
        </p:nvSpPr>
        <p:spPr>
          <a:xfrm>
            <a:off x="8046720" y="3794760"/>
            <a:ext cx="3566160" cy="2011680"/>
          </a:xfrm>
          <a:prstGeom prst="roundRect">
            <a:avLst>
              <a:gd name="adj" fmla="val 3636"/>
            </a:avLst>
          </a:prstGeom>
          <a:solidFill>
            <a:srgbClr val="FFFFFF"/>
          </a:solidFill>
          <a:ln w="12700">
            <a:solidFill>
              <a:srgbClr val="D9DEE2"/>
            </a:solidFill>
            <a:prstDash val="solid"/>
          </a:ln>
        </p:spPr>
      </p:sp>
      <p:pic>
        <p:nvPicPr>
          <p:cNvPr id="33" name="Image 11" descr="/private/tmp/claude-501/-Users-salehhamed-Outcome-Engine/91861432-41e2-4884-bc97-63c6dff2d021/scratchpad/wk/icons/TbArrowsExchange-teal.png">    </p:cNvPr>
          <p:cNvPicPr>
            <a:picLocks noChangeAspect="1"/>
          </p:cNvPicPr>
          <p:nvPr/>
        </p:nvPicPr>
        <p:blipFill>
          <a:blip r:embed="rId14"/>
          <a:stretch>
            <a:fillRect/>
          </a:stretch>
        </p:blipFill>
        <p:spPr>
          <a:xfrm>
            <a:off x="8275320" y="4069080"/>
            <a:ext cx="685800" cy="685800"/>
          </a:xfrm>
          <a:prstGeom prst="rect">
            <a:avLst/>
          </a:prstGeom>
        </p:spPr>
      </p:pic>
      <p:pic>
        <p:nvPicPr>
          <p:cNvPr id="34" name="Image 12" descr="/private/tmp/claude-501/-Users-salehhamed-Outcome-Engine/91861432-41e2-4884-bc97-63c6dff2d021/scratchpad/wk/icons/TbCircleCheck-green.png">    </p:cNvPr>
          <p:cNvPicPr>
            <a:picLocks noChangeAspect="1"/>
          </p:cNvPicPr>
          <p:nvPr/>
        </p:nvPicPr>
        <p:blipFill>
          <a:blip r:embed="rId15"/>
          <a:stretch>
            <a:fillRect/>
          </a:stretch>
        </p:blipFill>
        <p:spPr>
          <a:xfrm>
            <a:off x="11064240" y="4023360"/>
            <a:ext cx="384048" cy="384048"/>
          </a:xfrm>
          <a:prstGeom prst="rect">
            <a:avLst/>
          </a:prstGeom>
        </p:spPr>
      </p:pic>
      <p:sp>
        <p:nvSpPr>
          <p:cNvPr id="35" name="Text 20"/>
          <p:cNvSpPr txBox="1"/>
          <p:nvPr/>
        </p:nvSpPr>
        <p:spPr>
          <a:xfrm>
            <a:off x="8275320" y="4846320"/>
            <a:ext cx="3108960"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Every move offered</a:t>
            </a:r>
            <a:endParaRPr lang="en-US" sz="1700" dirty="0"/>
          </a:p>
        </p:txBody>
      </p:sp>
      <p:sp>
        <p:nvSpPr>
          <p:cNvPr id="36" name="Text 21"/>
          <p:cNvSpPr txBox="1"/>
          <p:nvPr/>
        </p:nvSpPr>
        <p:spPr>
          <a:xfrm>
            <a:off x="8275320" y="5257800"/>
            <a:ext cx="3108960" cy="457200"/>
          </a:xfrm>
          <a:prstGeom prst="rect">
            <a:avLst/>
          </a:prstGeom>
          <a:noFill/>
          <a:ln/>
        </p:spPr>
        <p:txBody>
          <a:bodyPr wrap="square" lIns="0" tIns="0" rIns="0" bIns="0" rtlCol="0" anchor="t"/>
          <a:lstStyle/>
          <a:p>
            <a:pPr indent="0" marL="0">
              <a:buNone/>
            </a:pPr>
            <a:r>
              <a:rPr lang="en-US" sz="1300" dirty="0">
                <a:solidFill>
                  <a:srgbClr val="5A5A5A"/>
                </a:solidFill>
                <a:latin typeface="Arial" pitchFamily="34" charset="0"/>
                <a:ea typeface="Arial" pitchFamily="34" charset="-122"/>
                <a:cs typeface="Arial" pitchFamily="34" charset="-120"/>
              </a:rPr>
              <a:t>taken or turned down, and why</a:t>
            </a:r>
            <a:endParaRPr lang="en-US" sz="13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show="0">
  <p:cSld name="Slide 1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SKILL ROTATION RULES, WITH THE MARKETS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Three ways to run this session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11:45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167</a:t>
            </a:r>
            <a:endParaRPr lang="en-US" sz="1000" dirty="0"/>
          </a:p>
        </p:txBody>
      </p:sp>
      <p:sp>
        <p:nvSpPr>
          <p:cNvPr id="7" name="Shape 4"/>
          <p:cNvSpPr/>
          <p:nvPr/>
        </p:nvSpPr>
        <p:spPr>
          <a:xfrm>
            <a:off x="548640" y="1463040"/>
            <a:ext cx="3566160" cy="4663440"/>
          </a:xfrm>
          <a:prstGeom prst="roundRect">
            <a:avLst>
              <a:gd name="adj" fmla="val 2051"/>
            </a:avLst>
          </a:prstGeom>
          <a:solidFill>
            <a:srgbClr val="FFFFFF"/>
          </a:solidFill>
          <a:ln w="12700">
            <a:solidFill>
              <a:srgbClr val="D9DEE2"/>
            </a:solidFill>
            <a:prstDash val="solid"/>
          </a:ln>
        </p:spPr>
      </p:sp>
      <p:sp>
        <p:nvSpPr>
          <p:cNvPr id="8" name="Shape 5"/>
          <p:cNvSpPr/>
          <p:nvPr/>
        </p:nvSpPr>
        <p:spPr>
          <a:xfrm>
            <a:off x="548640" y="1463040"/>
            <a:ext cx="3566160" cy="566928"/>
          </a:xfrm>
          <a:prstGeom prst="roundRect">
            <a:avLst>
              <a:gd name="adj" fmla="val 12903"/>
            </a:avLst>
          </a:prstGeom>
          <a:solidFill>
            <a:srgbClr val="287079"/>
          </a:solidFill>
          <a:ln/>
        </p:spPr>
      </p:sp>
      <p:sp>
        <p:nvSpPr>
          <p:cNvPr id="9" name="Shape 6"/>
          <p:cNvSpPr/>
          <p:nvPr/>
        </p:nvSpPr>
        <p:spPr>
          <a:xfrm>
            <a:off x="548640" y="1828800"/>
            <a:ext cx="3566160" cy="201168"/>
          </a:xfrm>
          <a:prstGeom prst="rect">
            <a:avLst/>
          </a:prstGeom>
          <a:solidFill>
            <a:srgbClr val="287079"/>
          </a:solidFill>
          <a:ln/>
        </p:spPr>
      </p:sp>
      <p:pic>
        <p:nvPicPr>
          <p:cNvPr id="10" name="Image 1" descr="/private/tmp/claude-501/-Users-salehhamed-Outcome-Engine/91861432-41e2-4884-bc97-63c6dff2d021/scratchpad/wk/icons/TbHandClick-white.png">    </p:cNvPr>
          <p:cNvPicPr>
            <a:picLocks noChangeAspect="1"/>
          </p:cNvPicPr>
          <p:nvPr/>
        </p:nvPicPr>
        <p:blipFill>
          <a:blip r:embed="rId4"/>
          <a:stretch>
            <a:fillRect/>
          </a:stretch>
        </p:blipFill>
        <p:spPr>
          <a:xfrm>
            <a:off x="713232" y="1554480"/>
            <a:ext cx="384048" cy="384048"/>
          </a:xfrm>
          <a:prstGeom prst="rect">
            <a:avLst/>
          </a:prstGeom>
        </p:spPr>
      </p:pic>
      <p:sp>
        <p:nvSpPr>
          <p:cNvPr id="11" name="Text 7"/>
          <p:cNvSpPr txBox="1"/>
          <p:nvPr/>
        </p:nvSpPr>
        <p:spPr>
          <a:xfrm>
            <a:off x="120700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A · HANDS-ON</a:t>
            </a:r>
            <a:endParaRPr lang="en-US" sz="1150" dirty="0"/>
          </a:p>
        </p:txBody>
      </p:sp>
      <p:sp>
        <p:nvSpPr>
          <p:cNvPr id="12" name="Text 8"/>
          <p:cNvSpPr txBox="1"/>
          <p:nvPr/>
        </p:nvSpPr>
        <p:spPr>
          <a:xfrm>
            <a:off x="77724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The human chain</a:t>
            </a:r>
            <a:endParaRPr lang="en-US" sz="2100" dirty="0"/>
          </a:p>
        </p:txBody>
      </p:sp>
      <p:sp>
        <p:nvSpPr>
          <p:cNvPr id="13" name="Text 9"/>
          <p:cNvSpPr txBox="1"/>
          <p:nvPr/>
        </p:nvSpPr>
        <p:spPr>
          <a:xfrm>
            <a:off x="77724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Volunteers act out a chain on a floor ladder; then everyone sets the rules on dial posters.</a:t>
            </a:r>
            <a:endParaRPr lang="en-US" sz="1400" dirty="0"/>
          </a:p>
        </p:txBody>
      </p:sp>
      <p:pic>
        <p:nvPicPr>
          <p:cNvPr id="14" name="Image 2" descr="/private/tmp/claude-501/-Users-salehhamed-Outcome-Engine/91861432-41e2-4884-bc97-63c6dff2d021/scratchpad/wk/icons/TbClock-grey.png">    </p:cNvPr>
          <p:cNvPicPr>
            <a:picLocks noChangeAspect="1"/>
          </p:cNvPicPr>
          <p:nvPr/>
        </p:nvPicPr>
        <p:blipFill>
          <a:blip r:embed="rId5"/>
          <a:stretch>
            <a:fillRect/>
          </a:stretch>
        </p:blipFill>
        <p:spPr>
          <a:xfrm>
            <a:off x="777240" y="4297680"/>
            <a:ext cx="274320" cy="274320"/>
          </a:xfrm>
          <a:prstGeom prst="rect">
            <a:avLst/>
          </a:prstGeom>
        </p:spPr>
      </p:pic>
      <p:sp>
        <p:nvSpPr>
          <p:cNvPr id="15" name="Text 10"/>
          <p:cNvSpPr txBox="1"/>
          <p:nvPr/>
        </p:nvSpPr>
        <p:spPr>
          <a:xfrm>
            <a:off x="114300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75 min</a:t>
            </a:r>
            <a:endParaRPr lang="en-US" sz="1200" dirty="0"/>
          </a:p>
        </p:txBody>
      </p:sp>
      <p:pic>
        <p:nvPicPr>
          <p:cNvPr id="16" name="Image 3" descr="/private/tmp/claude-501/-Users-salehhamed-Outcome-Engine/91861432-41e2-4884-bc97-63c6dff2d021/scratchpad/wk/icons/TbUsers-grey.png">    </p:cNvPr>
          <p:cNvPicPr>
            <a:picLocks noChangeAspect="1"/>
          </p:cNvPicPr>
          <p:nvPr/>
        </p:nvPicPr>
        <p:blipFill>
          <a:blip r:embed="rId6"/>
          <a:stretch>
            <a:fillRect/>
          </a:stretch>
        </p:blipFill>
        <p:spPr>
          <a:xfrm>
            <a:off x="777240" y="4681728"/>
            <a:ext cx="274320" cy="274320"/>
          </a:xfrm>
          <a:prstGeom prst="rect">
            <a:avLst/>
          </a:prstGeom>
        </p:spPr>
      </p:pic>
      <p:sp>
        <p:nvSpPr>
          <p:cNvPr id="17" name="Text 11"/>
          <p:cNvSpPr txBox="1"/>
          <p:nvPr/>
        </p:nvSpPr>
        <p:spPr>
          <a:xfrm>
            <a:off x="114300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Volunteers, then whole room</a:t>
            </a:r>
            <a:endParaRPr lang="en-US" sz="1200" dirty="0"/>
          </a:p>
        </p:txBody>
      </p:sp>
      <p:pic>
        <p:nvPicPr>
          <p:cNvPr id="18" name="Image 4" descr="/private/tmp/claude-501/-Users-salehhamed-Outcome-Engine/91861432-41e2-4884-bc97-63c6dff2d021/scratchpad/wk/icons/TbGauge-grey.png">    </p:cNvPr>
          <p:cNvPicPr>
            <a:picLocks noChangeAspect="1"/>
          </p:cNvPicPr>
          <p:nvPr/>
        </p:nvPicPr>
        <p:blipFill>
          <a:blip r:embed="rId7"/>
          <a:stretch>
            <a:fillRect/>
          </a:stretch>
        </p:blipFill>
        <p:spPr>
          <a:xfrm>
            <a:off x="777240" y="5065776"/>
            <a:ext cx="274320" cy="274320"/>
          </a:xfrm>
          <a:prstGeom prst="rect">
            <a:avLst/>
          </a:prstGeom>
        </p:spPr>
      </p:pic>
      <p:sp>
        <p:nvSpPr>
          <p:cNvPr id="19" name="Text 12"/>
          <p:cNvSpPr txBox="1"/>
          <p:nvPr/>
        </p:nvSpPr>
        <p:spPr>
          <a:xfrm>
            <a:off x="114300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High energy</a:t>
            </a:r>
            <a:endParaRPr lang="en-US" sz="1200" dirty="0"/>
          </a:p>
        </p:txBody>
      </p:sp>
      <p:sp>
        <p:nvSpPr>
          <p:cNvPr id="20" name="Text 13"/>
          <p:cNvSpPr txBox="1"/>
          <p:nvPr/>
        </p:nvSpPr>
        <p:spPr>
          <a:xfrm>
            <a:off x="77724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markets are in the room and the room needs energy before lunch.</a:t>
            </a:r>
            <a:endParaRPr lang="en-US" sz="1150" dirty="0"/>
          </a:p>
        </p:txBody>
      </p:sp>
      <p:pic>
        <p:nvPicPr>
          <p:cNvPr id="21" name="Image 5" descr="/private/tmp/claude-501/-Users-salehhamed-Outcome-Engine/91861432-41e2-4884-bc97-63c6dff2d021/scratchpad/wk/brand/clear.png">
            <a:hlinkClick r:id="rId9" tooltip="Option A" action="ppaction://hlinksldjump"/>
          </p:cNvPr>
          <p:cNvPicPr>
            <a:picLocks noChangeAspect="1"/>
          </p:cNvPicPr>
          <p:nvPr/>
        </p:nvPicPr>
        <p:blipFill>
          <a:blip r:embed="rId8"/>
          <a:stretch>
            <a:fillRect/>
          </a:stretch>
        </p:blipFill>
        <p:spPr>
          <a:xfrm>
            <a:off x="548640" y="1463040"/>
            <a:ext cx="3566160" cy="4663440"/>
          </a:xfrm>
          <a:prstGeom prst="rect">
            <a:avLst/>
          </a:prstGeom>
        </p:spPr>
      </p:pic>
      <p:sp>
        <p:nvSpPr>
          <p:cNvPr id="22" name="Shape 14"/>
          <p:cNvSpPr/>
          <p:nvPr/>
        </p:nvSpPr>
        <p:spPr>
          <a:xfrm>
            <a:off x="4297680" y="1463040"/>
            <a:ext cx="3566160" cy="4663440"/>
          </a:xfrm>
          <a:prstGeom prst="roundRect">
            <a:avLst>
              <a:gd name="adj" fmla="val 2051"/>
            </a:avLst>
          </a:prstGeom>
          <a:solidFill>
            <a:srgbClr val="FFFFFF"/>
          </a:solidFill>
          <a:ln w="12700">
            <a:solidFill>
              <a:srgbClr val="D9DEE2"/>
            </a:solidFill>
            <a:prstDash val="solid"/>
          </a:ln>
        </p:spPr>
      </p:sp>
      <p:sp>
        <p:nvSpPr>
          <p:cNvPr id="23" name="Shape 15"/>
          <p:cNvSpPr/>
          <p:nvPr/>
        </p:nvSpPr>
        <p:spPr>
          <a:xfrm>
            <a:off x="4297680" y="1463040"/>
            <a:ext cx="3566160" cy="566928"/>
          </a:xfrm>
          <a:prstGeom prst="roundRect">
            <a:avLst>
              <a:gd name="adj" fmla="val 12903"/>
            </a:avLst>
          </a:prstGeom>
          <a:solidFill>
            <a:srgbClr val="FF462D"/>
          </a:solidFill>
          <a:ln/>
        </p:spPr>
      </p:sp>
      <p:sp>
        <p:nvSpPr>
          <p:cNvPr id="24" name="Shape 16"/>
          <p:cNvSpPr/>
          <p:nvPr/>
        </p:nvSpPr>
        <p:spPr>
          <a:xfrm>
            <a:off x="4297680" y="1828800"/>
            <a:ext cx="3566160" cy="201168"/>
          </a:xfrm>
          <a:prstGeom prst="rect">
            <a:avLst/>
          </a:prstGeom>
          <a:solidFill>
            <a:srgbClr val="FF462D"/>
          </a:solidFill>
          <a:ln/>
        </p:spPr>
      </p:sp>
      <p:pic>
        <p:nvPicPr>
          <p:cNvPr id="25" name="Image 6" descr="/private/tmp/claude-501/-Users-salehhamed-Outcome-Engine/91861432-41e2-4884-bc97-63c6dff2d021/scratchpad/wk/icons/TbDeviceMobile-white.png">    </p:cNvPr>
          <p:cNvPicPr>
            <a:picLocks noChangeAspect="1"/>
          </p:cNvPicPr>
          <p:nvPr/>
        </p:nvPicPr>
        <p:blipFill>
          <a:blip r:embed="rId10"/>
          <a:stretch>
            <a:fillRect/>
          </a:stretch>
        </p:blipFill>
        <p:spPr>
          <a:xfrm>
            <a:off x="4462272" y="1554480"/>
            <a:ext cx="384048" cy="384048"/>
          </a:xfrm>
          <a:prstGeom prst="rect">
            <a:avLst/>
          </a:prstGeom>
        </p:spPr>
      </p:pic>
      <p:sp>
        <p:nvSpPr>
          <p:cNvPr id="26" name="Text 17"/>
          <p:cNvSpPr txBox="1"/>
          <p:nvPr/>
        </p:nvSpPr>
        <p:spPr>
          <a:xfrm>
            <a:off x="495604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B · LIVE VOTING</a:t>
            </a:r>
            <a:endParaRPr lang="en-US" sz="1150" dirty="0"/>
          </a:p>
        </p:txBody>
      </p:sp>
      <p:sp>
        <p:nvSpPr>
          <p:cNvPr id="27" name="Text 18"/>
          <p:cNvSpPr txBox="1"/>
          <p:nvPr/>
        </p:nvSpPr>
        <p:spPr>
          <a:xfrm>
            <a:off x="452628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Rule dials</a:t>
            </a:r>
            <a:endParaRPr lang="en-US" sz="2100" dirty="0"/>
          </a:p>
        </p:txBody>
      </p:sp>
      <p:sp>
        <p:nvSpPr>
          <p:cNvPr id="28" name="Text 19"/>
          <p:cNvSpPr txBox="1"/>
          <p:nvPr/>
        </p:nvSpPr>
        <p:spPr>
          <a:xfrm>
            <a:off x="452628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Everyone sets the five rules on their phone; the screen shows the spread; the room converges.</a:t>
            </a:r>
            <a:endParaRPr lang="en-US" sz="1400" dirty="0"/>
          </a:p>
        </p:txBody>
      </p:sp>
      <p:pic>
        <p:nvPicPr>
          <p:cNvPr id="29" name="Image 7" descr="/private/tmp/claude-501/-Users-salehhamed-Outcome-Engine/91861432-41e2-4884-bc97-63c6dff2d021/scratchpad/wk/icons/TbClock-grey.png">    </p:cNvPr>
          <p:cNvPicPr>
            <a:picLocks noChangeAspect="1"/>
          </p:cNvPicPr>
          <p:nvPr/>
        </p:nvPicPr>
        <p:blipFill>
          <a:blip r:embed="rId11"/>
          <a:stretch>
            <a:fillRect/>
          </a:stretch>
        </p:blipFill>
        <p:spPr>
          <a:xfrm>
            <a:off x="4526280" y="4297680"/>
            <a:ext cx="274320" cy="274320"/>
          </a:xfrm>
          <a:prstGeom prst="rect">
            <a:avLst/>
          </a:prstGeom>
        </p:spPr>
      </p:pic>
      <p:sp>
        <p:nvSpPr>
          <p:cNvPr id="30" name="Text 20"/>
          <p:cNvSpPr txBox="1"/>
          <p:nvPr/>
        </p:nvSpPr>
        <p:spPr>
          <a:xfrm>
            <a:off x="489204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75 min</a:t>
            </a:r>
            <a:endParaRPr lang="en-US" sz="1200" dirty="0"/>
          </a:p>
        </p:txBody>
      </p:sp>
      <p:pic>
        <p:nvPicPr>
          <p:cNvPr id="31" name="Image 8" descr="/private/tmp/claude-501/-Users-salehhamed-Outcome-Engine/91861432-41e2-4884-bc97-63c6dff2d021/scratchpad/wk/icons/TbUsers-grey.png">    </p:cNvPr>
          <p:cNvPicPr>
            <a:picLocks noChangeAspect="1"/>
          </p:cNvPicPr>
          <p:nvPr/>
        </p:nvPicPr>
        <p:blipFill>
          <a:blip r:embed="rId12"/>
          <a:stretch>
            <a:fillRect/>
          </a:stretch>
        </p:blipFill>
        <p:spPr>
          <a:xfrm>
            <a:off x="4526280" y="4681728"/>
            <a:ext cx="274320" cy="274320"/>
          </a:xfrm>
          <a:prstGeom prst="rect">
            <a:avLst/>
          </a:prstGeom>
        </p:spPr>
      </p:pic>
      <p:sp>
        <p:nvSpPr>
          <p:cNvPr id="32" name="Text 21"/>
          <p:cNvSpPr txBox="1"/>
          <p:nvPr/>
        </p:nvSpPr>
        <p:spPr>
          <a:xfrm>
            <a:off x="489204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Each person, markets first</a:t>
            </a:r>
            <a:endParaRPr lang="en-US" sz="1200" dirty="0"/>
          </a:p>
        </p:txBody>
      </p:sp>
      <p:pic>
        <p:nvPicPr>
          <p:cNvPr id="33" name="Image 9" descr="/private/tmp/claude-501/-Users-salehhamed-Outcome-Engine/91861432-41e2-4884-bc97-63c6dff2d021/scratchpad/wk/icons/TbGauge-grey.png">    </p:cNvPr>
          <p:cNvPicPr>
            <a:picLocks noChangeAspect="1"/>
          </p:cNvPicPr>
          <p:nvPr/>
        </p:nvPicPr>
        <p:blipFill>
          <a:blip r:embed="rId13"/>
          <a:stretch>
            <a:fillRect/>
          </a:stretch>
        </p:blipFill>
        <p:spPr>
          <a:xfrm>
            <a:off x="4526280" y="5065776"/>
            <a:ext cx="274320" cy="274320"/>
          </a:xfrm>
          <a:prstGeom prst="rect">
            <a:avLst/>
          </a:prstGeom>
        </p:spPr>
      </p:pic>
      <p:sp>
        <p:nvSpPr>
          <p:cNvPr id="34" name="Text 22"/>
          <p:cNvSpPr txBox="1"/>
          <p:nvPr/>
        </p:nvSpPr>
        <p:spPr>
          <a:xfrm>
            <a:off x="489204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35" name="Text 23"/>
          <p:cNvSpPr txBox="1"/>
          <p:nvPr/>
        </p:nvSpPr>
        <p:spPr>
          <a:xfrm>
            <a:off x="452628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Several markets join remotely.</a:t>
            </a:r>
            <a:endParaRPr lang="en-US" sz="1150" dirty="0"/>
          </a:p>
        </p:txBody>
      </p:sp>
      <p:pic>
        <p:nvPicPr>
          <p:cNvPr id="36" name="Image 10" descr="/private/tmp/claude-501/-Users-salehhamed-Outcome-Engine/91861432-41e2-4884-bc97-63c6dff2d021/scratchpad/wk/brand/clear.png">
            <a:hlinkClick r:id="rId15" tooltip="Option B" action="ppaction://hlinksldjump"/>
          </p:cNvPr>
          <p:cNvPicPr>
            <a:picLocks noChangeAspect="1"/>
          </p:cNvPicPr>
          <p:nvPr/>
        </p:nvPicPr>
        <p:blipFill>
          <a:blip r:embed="rId14"/>
          <a:stretch>
            <a:fillRect/>
          </a:stretch>
        </p:blipFill>
        <p:spPr>
          <a:xfrm>
            <a:off x="4297680" y="1463040"/>
            <a:ext cx="3566160" cy="4663440"/>
          </a:xfrm>
          <a:prstGeom prst="rect">
            <a:avLst/>
          </a:prstGeom>
        </p:spPr>
      </p:pic>
      <p:sp>
        <p:nvSpPr>
          <p:cNvPr id="37" name="Shape 24"/>
          <p:cNvSpPr/>
          <p:nvPr/>
        </p:nvSpPr>
        <p:spPr>
          <a:xfrm>
            <a:off x="8046720" y="1463040"/>
            <a:ext cx="3566160" cy="4663440"/>
          </a:xfrm>
          <a:prstGeom prst="roundRect">
            <a:avLst>
              <a:gd name="adj" fmla="val 2051"/>
            </a:avLst>
          </a:prstGeom>
          <a:solidFill>
            <a:srgbClr val="FFFFFF"/>
          </a:solidFill>
          <a:ln w="12700">
            <a:solidFill>
              <a:srgbClr val="D9DEE2"/>
            </a:solidFill>
            <a:prstDash val="solid"/>
          </a:ln>
        </p:spPr>
      </p:sp>
      <p:sp>
        <p:nvSpPr>
          <p:cNvPr id="38" name="Shape 25"/>
          <p:cNvSpPr/>
          <p:nvPr/>
        </p:nvSpPr>
        <p:spPr>
          <a:xfrm>
            <a:off x="8046720" y="1463040"/>
            <a:ext cx="3566160" cy="566928"/>
          </a:xfrm>
          <a:prstGeom prst="roundRect">
            <a:avLst>
              <a:gd name="adj" fmla="val 12903"/>
            </a:avLst>
          </a:prstGeom>
          <a:solidFill>
            <a:srgbClr val="36454F"/>
          </a:solidFill>
          <a:ln/>
        </p:spPr>
      </p:sp>
      <p:sp>
        <p:nvSpPr>
          <p:cNvPr id="39" name="Shape 26"/>
          <p:cNvSpPr/>
          <p:nvPr/>
        </p:nvSpPr>
        <p:spPr>
          <a:xfrm>
            <a:off x="8046720" y="1828800"/>
            <a:ext cx="3566160" cy="201168"/>
          </a:xfrm>
          <a:prstGeom prst="rect">
            <a:avLst/>
          </a:prstGeom>
          <a:solidFill>
            <a:srgbClr val="36454F"/>
          </a:solidFill>
          <a:ln/>
        </p:spPr>
      </p:sp>
      <p:pic>
        <p:nvPicPr>
          <p:cNvPr id="40" name="Image 11" descr="/private/tmp/claude-501/-Users-salehhamed-Outcome-Engine/91861432-41e2-4884-bc97-63c6dff2d021/scratchpad/wk/icons/TbMasksTheater-white.png">    </p:cNvPr>
          <p:cNvPicPr>
            <a:picLocks noChangeAspect="1"/>
          </p:cNvPicPr>
          <p:nvPr/>
        </p:nvPicPr>
        <p:blipFill>
          <a:blip r:embed="rId16"/>
          <a:stretch>
            <a:fillRect/>
          </a:stretch>
        </p:blipFill>
        <p:spPr>
          <a:xfrm>
            <a:off x="8211312" y="1554480"/>
            <a:ext cx="384048" cy="384048"/>
          </a:xfrm>
          <a:prstGeom prst="rect">
            <a:avLst/>
          </a:prstGeom>
        </p:spPr>
      </p:pic>
      <p:sp>
        <p:nvSpPr>
          <p:cNvPr id="41" name="Text 27"/>
          <p:cNvSpPr txBox="1"/>
          <p:nvPr/>
        </p:nvSpPr>
        <p:spPr>
          <a:xfrm>
            <a:off x="870508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C · CASES AND CONVERSATION</a:t>
            </a:r>
            <a:endParaRPr lang="en-US" sz="1150" dirty="0"/>
          </a:p>
        </p:txBody>
      </p:sp>
      <p:sp>
        <p:nvSpPr>
          <p:cNvPr id="42" name="Text 28"/>
          <p:cNvSpPr txBox="1"/>
          <p:nvPr/>
        </p:nvSpPr>
        <p:spPr>
          <a:xfrm>
            <a:off x="827532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What if?</a:t>
            </a:r>
            <a:endParaRPr lang="en-US" sz="2100" dirty="0"/>
          </a:p>
        </p:txBody>
      </p:sp>
      <p:sp>
        <p:nvSpPr>
          <p:cNvPr id="43" name="Text 29"/>
          <p:cNvSpPr txBox="1"/>
          <p:nvPr/>
        </p:nvSpPr>
        <p:spPr>
          <a:xfrm>
            <a:off x="827532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Tables use the rotation sketch on laptops to try changing one rule, and report the trade-off.</a:t>
            </a:r>
            <a:endParaRPr lang="en-US" sz="1400" dirty="0"/>
          </a:p>
        </p:txBody>
      </p:sp>
      <p:pic>
        <p:nvPicPr>
          <p:cNvPr id="44" name="Image 12" descr="/private/tmp/claude-501/-Users-salehhamed-Outcome-Engine/91861432-41e2-4884-bc97-63c6dff2d021/scratchpad/wk/icons/TbClock-grey.png">    </p:cNvPr>
          <p:cNvPicPr>
            <a:picLocks noChangeAspect="1"/>
          </p:cNvPicPr>
          <p:nvPr/>
        </p:nvPicPr>
        <p:blipFill>
          <a:blip r:embed="rId17"/>
          <a:stretch>
            <a:fillRect/>
          </a:stretch>
        </p:blipFill>
        <p:spPr>
          <a:xfrm>
            <a:off x="8275320" y="4297680"/>
            <a:ext cx="274320" cy="274320"/>
          </a:xfrm>
          <a:prstGeom prst="rect">
            <a:avLst/>
          </a:prstGeom>
        </p:spPr>
      </p:pic>
      <p:sp>
        <p:nvSpPr>
          <p:cNvPr id="45" name="Text 30"/>
          <p:cNvSpPr txBox="1"/>
          <p:nvPr/>
        </p:nvSpPr>
        <p:spPr>
          <a:xfrm>
            <a:off x="864108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75 min</a:t>
            </a:r>
            <a:endParaRPr lang="en-US" sz="1200" dirty="0"/>
          </a:p>
        </p:txBody>
      </p:sp>
      <p:pic>
        <p:nvPicPr>
          <p:cNvPr id="46" name="Image 13" descr="/private/tmp/claude-501/-Users-salehhamed-Outcome-Engine/91861432-41e2-4884-bc97-63c6dff2d021/scratchpad/wk/icons/TbUsers-grey.png">    </p:cNvPr>
          <p:cNvPicPr>
            <a:picLocks noChangeAspect="1"/>
          </p:cNvPicPr>
          <p:nvPr/>
        </p:nvPicPr>
        <p:blipFill>
          <a:blip r:embed="rId18"/>
          <a:stretch>
            <a:fillRect/>
          </a:stretch>
        </p:blipFill>
        <p:spPr>
          <a:xfrm>
            <a:off x="8275320" y="4681728"/>
            <a:ext cx="274320" cy="274320"/>
          </a:xfrm>
          <a:prstGeom prst="rect">
            <a:avLst/>
          </a:prstGeom>
        </p:spPr>
      </p:pic>
      <p:sp>
        <p:nvSpPr>
          <p:cNvPr id="47" name="Text 31"/>
          <p:cNvSpPr txBox="1"/>
          <p:nvPr/>
        </p:nvSpPr>
        <p:spPr>
          <a:xfrm>
            <a:off x="864108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Tables with a laptop</a:t>
            </a:r>
            <a:endParaRPr lang="en-US" sz="1200" dirty="0"/>
          </a:p>
        </p:txBody>
      </p:sp>
      <p:pic>
        <p:nvPicPr>
          <p:cNvPr id="48" name="Image 14" descr="/private/tmp/claude-501/-Users-salehhamed-Outcome-Engine/91861432-41e2-4884-bc97-63c6dff2d021/scratchpad/wk/icons/TbGauge-grey.png">    </p:cNvPr>
          <p:cNvPicPr>
            <a:picLocks noChangeAspect="1"/>
          </p:cNvPicPr>
          <p:nvPr/>
        </p:nvPicPr>
        <p:blipFill>
          <a:blip r:embed="rId19"/>
          <a:stretch>
            <a:fillRect/>
          </a:stretch>
        </p:blipFill>
        <p:spPr>
          <a:xfrm>
            <a:off x="8275320" y="5065776"/>
            <a:ext cx="274320" cy="274320"/>
          </a:xfrm>
          <a:prstGeom prst="rect">
            <a:avLst/>
          </a:prstGeom>
        </p:spPr>
      </p:pic>
      <p:sp>
        <p:nvSpPr>
          <p:cNvPr id="49" name="Text 32"/>
          <p:cNvSpPr txBox="1"/>
          <p:nvPr/>
        </p:nvSpPr>
        <p:spPr>
          <a:xfrm>
            <a:off x="864108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50" name="Text 33"/>
          <p:cNvSpPr txBox="1"/>
          <p:nvPr/>
        </p:nvSpPr>
        <p:spPr>
          <a:xfrm>
            <a:off x="827532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room likes to try things, and laptops are available.</a:t>
            </a:r>
            <a:endParaRPr lang="en-US" sz="1150" dirty="0"/>
          </a:p>
        </p:txBody>
      </p:sp>
      <p:pic>
        <p:nvPicPr>
          <p:cNvPr id="51" name="Image 15" descr="/private/tmp/claude-501/-Users-salehhamed-Outcome-Engine/91861432-41e2-4884-bc97-63c6dff2d021/scratchpad/wk/brand/clear.png">
            <a:hlinkClick r:id="rId21" tooltip="Option C" action="ppaction://hlinksldjump"/>
          </p:cNvPr>
          <p:cNvPicPr>
            <a:picLocks noChangeAspect="1"/>
          </p:cNvPicPr>
          <p:nvPr/>
        </p:nvPicPr>
        <p:blipFill>
          <a:blip r:embed="rId20"/>
          <a:stretch>
            <a:fillRect/>
          </a:stretch>
        </p:blipFill>
        <p:spPr>
          <a:xfrm>
            <a:off x="8046720" y="1463040"/>
            <a:ext cx="3566160" cy="4663440"/>
          </a:xfrm>
          <a:prstGeom prst="rect">
            <a:avLst/>
          </a:prstGeom>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show="0">
  <p:cSld name="Slide 1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OPTION A · HANDS-ON · ROTATION RULES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The human chain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11:45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168</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Volunteers act out a chain on a floor ladder; then everyone sets the rules on dial posters.</a:t>
            </a:r>
            <a:endParaRPr lang="en-US" sz="1900" dirty="0"/>
          </a:p>
        </p:txBody>
      </p:sp>
      <p:sp>
        <p:nvSpPr>
          <p:cNvPr id="8" name="Shape 5"/>
          <p:cNvSpPr/>
          <p:nvPr/>
        </p:nvSpPr>
        <p:spPr>
          <a:xfrm>
            <a:off x="548640" y="2240280"/>
            <a:ext cx="1442679" cy="1417320"/>
          </a:xfrm>
          <a:prstGeom prst="rect">
            <a:avLst/>
          </a:prstGeom>
          <a:solidFill>
            <a:srgbClr val="287079"/>
          </a:solidFill>
          <a:ln/>
        </p:spPr>
      </p:sp>
      <p:sp>
        <p:nvSpPr>
          <p:cNvPr id="9" name="Text 6"/>
          <p:cNvSpPr txBox="1"/>
          <p:nvPr/>
        </p:nvSpPr>
        <p:spPr>
          <a:xfrm>
            <a:off x="64008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0" name="Text 7"/>
          <p:cNvSpPr txBox="1"/>
          <p:nvPr/>
        </p:nvSpPr>
        <p:spPr>
          <a:xfrm>
            <a:off x="64008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The idea</a:t>
            </a:r>
            <a:endParaRPr lang="en-US" sz="1500" dirty="0"/>
          </a:p>
        </p:txBody>
      </p:sp>
      <p:sp>
        <p:nvSpPr>
          <p:cNvPr id="11" name="Shape 8"/>
          <p:cNvSpPr/>
          <p:nvPr/>
        </p:nvSpPr>
        <p:spPr>
          <a:xfrm>
            <a:off x="2027895" y="2240280"/>
            <a:ext cx="2182307" cy="1417320"/>
          </a:xfrm>
          <a:prstGeom prst="rect">
            <a:avLst/>
          </a:prstGeom>
          <a:solidFill>
            <a:srgbClr val="5C8F95"/>
          </a:solidFill>
          <a:ln/>
        </p:spPr>
      </p:sp>
      <p:sp>
        <p:nvSpPr>
          <p:cNvPr id="12" name="Text 9"/>
          <p:cNvSpPr txBox="1"/>
          <p:nvPr/>
        </p:nvSpPr>
        <p:spPr>
          <a:xfrm>
            <a:off x="2119335" y="2331720"/>
            <a:ext cx="203600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3" name="Text 10"/>
          <p:cNvSpPr txBox="1"/>
          <p:nvPr/>
        </p:nvSpPr>
        <p:spPr>
          <a:xfrm>
            <a:off x="2119335" y="2651760"/>
            <a:ext cx="2072579"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Human chain</a:t>
            </a:r>
            <a:endParaRPr lang="en-US" sz="1500" dirty="0"/>
          </a:p>
        </p:txBody>
      </p:sp>
      <p:sp>
        <p:nvSpPr>
          <p:cNvPr id="14" name="Shape 11"/>
          <p:cNvSpPr/>
          <p:nvPr/>
        </p:nvSpPr>
        <p:spPr>
          <a:xfrm>
            <a:off x="4246778" y="2240280"/>
            <a:ext cx="5140818" cy="1417320"/>
          </a:xfrm>
          <a:prstGeom prst="rect">
            <a:avLst/>
          </a:prstGeom>
          <a:solidFill>
            <a:srgbClr val="287079"/>
          </a:solidFill>
          <a:ln/>
        </p:spPr>
      </p:sp>
      <p:sp>
        <p:nvSpPr>
          <p:cNvPr id="15" name="Text 12"/>
          <p:cNvSpPr txBox="1"/>
          <p:nvPr/>
        </p:nvSpPr>
        <p:spPr>
          <a:xfrm>
            <a:off x="4338218" y="2331720"/>
            <a:ext cx="4994514"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35 min</a:t>
            </a:r>
            <a:endParaRPr lang="en-US" sz="1150" dirty="0"/>
          </a:p>
        </p:txBody>
      </p:sp>
      <p:sp>
        <p:nvSpPr>
          <p:cNvPr id="16" name="Text 13"/>
          <p:cNvSpPr txBox="1"/>
          <p:nvPr/>
        </p:nvSpPr>
        <p:spPr>
          <a:xfrm>
            <a:off x="4338218" y="2651760"/>
            <a:ext cx="5031090"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Rule dials</a:t>
            </a:r>
            <a:endParaRPr lang="en-US" sz="1500" dirty="0"/>
          </a:p>
        </p:txBody>
      </p:sp>
      <p:sp>
        <p:nvSpPr>
          <p:cNvPr id="17" name="Shape 14"/>
          <p:cNvSpPr/>
          <p:nvPr/>
        </p:nvSpPr>
        <p:spPr>
          <a:xfrm>
            <a:off x="9424172" y="2240280"/>
            <a:ext cx="1442679" cy="1417320"/>
          </a:xfrm>
          <a:prstGeom prst="rect">
            <a:avLst/>
          </a:prstGeom>
          <a:solidFill>
            <a:srgbClr val="5C8F95"/>
          </a:solidFill>
          <a:ln/>
        </p:spPr>
      </p:sp>
      <p:sp>
        <p:nvSpPr>
          <p:cNvPr id="18" name="Text 15"/>
          <p:cNvSpPr txBox="1"/>
          <p:nvPr/>
        </p:nvSpPr>
        <p:spPr>
          <a:xfrm>
            <a:off x="9515612"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9" name="Text 16"/>
          <p:cNvSpPr txBox="1"/>
          <p:nvPr/>
        </p:nvSpPr>
        <p:spPr>
          <a:xfrm>
            <a:off x="9515612"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Pilot records</a:t>
            </a:r>
            <a:endParaRPr lang="en-US" sz="1500" dirty="0"/>
          </a:p>
        </p:txBody>
      </p:sp>
      <p:sp>
        <p:nvSpPr>
          <p:cNvPr id="20" name="Shape 17"/>
          <p:cNvSpPr/>
          <p:nvPr/>
        </p:nvSpPr>
        <p:spPr>
          <a:xfrm>
            <a:off x="10903428" y="2240280"/>
            <a:ext cx="703052" cy="1417320"/>
          </a:xfrm>
          <a:prstGeom prst="rect">
            <a:avLst/>
          </a:prstGeom>
          <a:solidFill>
            <a:srgbClr val="287079"/>
          </a:solidFill>
          <a:ln/>
        </p:spPr>
      </p:sp>
      <p:sp>
        <p:nvSpPr>
          <p:cNvPr id="21" name="Text 18"/>
          <p:cNvSpPr txBox="1"/>
          <p:nvPr/>
        </p:nvSpPr>
        <p:spPr>
          <a:xfrm>
            <a:off x="10994868" y="2331720"/>
            <a:ext cx="55674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22" name="Text 19"/>
          <p:cNvSpPr txBox="1"/>
          <p:nvPr/>
        </p:nvSpPr>
        <p:spPr>
          <a:xfrm>
            <a:off x="10994868" y="2651760"/>
            <a:ext cx="593324"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Check</a:t>
            </a:r>
            <a:endParaRPr lang="en-US" sz="950" dirty="0"/>
          </a:p>
        </p:txBody>
      </p:sp>
      <p:sp>
        <p:nvSpPr>
          <p:cNvPr id="23" name="Shape 20"/>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4"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5" name="Text 21"/>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6" name="Text 22"/>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Volunteers, then whole room</a:t>
            </a:r>
            <a:endParaRPr lang="en-US" sz="1300" dirty="0"/>
          </a:p>
        </p:txBody>
      </p:sp>
      <p:sp>
        <p:nvSpPr>
          <p:cNvPr id="27" name="Shape 23"/>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8"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9" name="Text 24"/>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30" name="Text 25"/>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The five rules with values or owners; the pilot records list.</a:t>
            </a:r>
            <a:endParaRPr lang="en-US" sz="1300" dirty="0"/>
          </a:p>
        </p:txBody>
      </p:sp>
      <p:sp>
        <p:nvSpPr>
          <p:cNvPr id="31" name="Shape 26"/>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32"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33" name="Text 27"/>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34" name="Text 28"/>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FF462D"/>
                </a:solidFill>
                <a:latin typeface="Arial" pitchFamily="34" charset="0"/>
                <a:ea typeface="Arial" pitchFamily="34" charset="-122"/>
                <a:cs typeface="Arial" pitchFamily="34" charset="-120"/>
              </a:rPr>
              <a:t>OPTION B · LIVE VOTING · ROTATION RULES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Rule dials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11:45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169</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Everyone sets the five rules on their phone; the screen shows the spread; the room converges.</a:t>
            </a:r>
            <a:endParaRPr lang="en-US" sz="1900" dirty="0"/>
          </a:p>
        </p:txBody>
      </p:sp>
      <p:sp>
        <p:nvSpPr>
          <p:cNvPr id="8" name="Shape 5"/>
          <p:cNvSpPr/>
          <p:nvPr/>
        </p:nvSpPr>
        <p:spPr>
          <a:xfrm>
            <a:off x="548640" y="2240280"/>
            <a:ext cx="1442679" cy="1417320"/>
          </a:xfrm>
          <a:prstGeom prst="rect">
            <a:avLst/>
          </a:prstGeom>
          <a:solidFill>
            <a:srgbClr val="FF462D"/>
          </a:solidFill>
          <a:ln/>
        </p:spPr>
      </p:sp>
      <p:sp>
        <p:nvSpPr>
          <p:cNvPr id="9" name="Text 6"/>
          <p:cNvSpPr txBox="1"/>
          <p:nvPr/>
        </p:nvSpPr>
        <p:spPr>
          <a:xfrm>
            <a:off x="64008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0" name="Text 7"/>
          <p:cNvSpPr txBox="1"/>
          <p:nvPr/>
        </p:nvSpPr>
        <p:spPr>
          <a:xfrm>
            <a:off x="64008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The idea</a:t>
            </a:r>
            <a:endParaRPr lang="en-US" sz="1500" dirty="0"/>
          </a:p>
        </p:txBody>
      </p:sp>
      <p:sp>
        <p:nvSpPr>
          <p:cNvPr id="11" name="Shape 8"/>
          <p:cNvSpPr/>
          <p:nvPr/>
        </p:nvSpPr>
        <p:spPr>
          <a:xfrm>
            <a:off x="2027895" y="2240280"/>
            <a:ext cx="1442679" cy="1417320"/>
          </a:xfrm>
          <a:prstGeom prst="rect">
            <a:avLst/>
          </a:prstGeom>
          <a:solidFill>
            <a:srgbClr val="FF8A78"/>
          </a:solidFill>
          <a:ln/>
        </p:spPr>
      </p:sp>
      <p:sp>
        <p:nvSpPr>
          <p:cNvPr id="12" name="Text 9"/>
          <p:cNvSpPr txBox="1"/>
          <p:nvPr/>
        </p:nvSpPr>
        <p:spPr>
          <a:xfrm>
            <a:off x="2119335"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3" name="Text 10"/>
          <p:cNvSpPr txBox="1"/>
          <p:nvPr/>
        </p:nvSpPr>
        <p:spPr>
          <a:xfrm>
            <a:off x="2119335"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Chain on screen</a:t>
            </a:r>
            <a:endParaRPr lang="en-US" sz="1500" dirty="0"/>
          </a:p>
        </p:txBody>
      </p:sp>
      <p:sp>
        <p:nvSpPr>
          <p:cNvPr id="14" name="Shape 11"/>
          <p:cNvSpPr/>
          <p:nvPr/>
        </p:nvSpPr>
        <p:spPr>
          <a:xfrm>
            <a:off x="3507151" y="2240280"/>
            <a:ext cx="5140818" cy="1417320"/>
          </a:xfrm>
          <a:prstGeom prst="rect">
            <a:avLst/>
          </a:prstGeom>
          <a:solidFill>
            <a:srgbClr val="FF462D"/>
          </a:solidFill>
          <a:ln/>
        </p:spPr>
      </p:sp>
      <p:sp>
        <p:nvSpPr>
          <p:cNvPr id="15" name="Text 12"/>
          <p:cNvSpPr txBox="1"/>
          <p:nvPr/>
        </p:nvSpPr>
        <p:spPr>
          <a:xfrm>
            <a:off x="3598591" y="2331720"/>
            <a:ext cx="4994514"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35 min</a:t>
            </a:r>
            <a:endParaRPr lang="en-US" sz="1150" dirty="0"/>
          </a:p>
        </p:txBody>
      </p:sp>
      <p:sp>
        <p:nvSpPr>
          <p:cNvPr id="16" name="Text 13"/>
          <p:cNvSpPr txBox="1"/>
          <p:nvPr/>
        </p:nvSpPr>
        <p:spPr>
          <a:xfrm>
            <a:off x="3598591" y="2651760"/>
            <a:ext cx="5031090"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Set the rules</a:t>
            </a:r>
            <a:endParaRPr lang="en-US" sz="1500" dirty="0"/>
          </a:p>
        </p:txBody>
      </p:sp>
      <p:sp>
        <p:nvSpPr>
          <p:cNvPr id="17" name="Shape 14"/>
          <p:cNvSpPr/>
          <p:nvPr/>
        </p:nvSpPr>
        <p:spPr>
          <a:xfrm>
            <a:off x="8684544" y="2240280"/>
            <a:ext cx="1442679" cy="1417320"/>
          </a:xfrm>
          <a:prstGeom prst="rect">
            <a:avLst/>
          </a:prstGeom>
          <a:solidFill>
            <a:srgbClr val="FF8A78"/>
          </a:solidFill>
          <a:ln/>
        </p:spPr>
      </p:sp>
      <p:sp>
        <p:nvSpPr>
          <p:cNvPr id="18" name="Text 15"/>
          <p:cNvSpPr txBox="1"/>
          <p:nvPr/>
        </p:nvSpPr>
        <p:spPr>
          <a:xfrm>
            <a:off x="8775984"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9" name="Text 16"/>
          <p:cNvSpPr txBox="1"/>
          <p:nvPr/>
        </p:nvSpPr>
        <p:spPr>
          <a:xfrm>
            <a:off x="8775984"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The stuck job</a:t>
            </a:r>
            <a:endParaRPr lang="en-US" sz="1500" dirty="0"/>
          </a:p>
        </p:txBody>
      </p:sp>
      <p:sp>
        <p:nvSpPr>
          <p:cNvPr id="20" name="Shape 17"/>
          <p:cNvSpPr/>
          <p:nvPr/>
        </p:nvSpPr>
        <p:spPr>
          <a:xfrm>
            <a:off x="10163800" y="2240280"/>
            <a:ext cx="1442679" cy="1417320"/>
          </a:xfrm>
          <a:prstGeom prst="rect">
            <a:avLst/>
          </a:prstGeom>
          <a:solidFill>
            <a:srgbClr val="FF462D"/>
          </a:solidFill>
          <a:ln/>
        </p:spPr>
      </p:sp>
      <p:sp>
        <p:nvSpPr>
          <p:cNvPr id="21" name="Text 18"/>
          <p:cNvSpPr txBox="1"/>
          <p:nvPr/>
        </p:nvSpPr>
        <p:spPr>
          <a:xfrm>
            <a:off x="1025524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22" name="Text 19"/>
          <p:cNvSpPr txBox="1"/>
          <p:nvPr/>
        </p:nvSpPr>
        <p:spPr>
          <a:xfrm>
            <a:off x="1025524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Records and check</a:t>
            </a:r>
            <a:endParaRPr lang="en-US" sz="1500" dirty="0"/>
          </a:p>
        </p:txBody>
      </p:sp>
      <p:sp>
        <p:nvSpPr>
          <p:cNvPr id="23" name="Shape 20"/>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4"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5" name="Text 21"/>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6" name="Text 22"/>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Each person, markets first</a:t>
            </a:r>
            <a:endParaRPr lang="en-US" sz="1300" dirty="0"/>
          </a:p>
        </p:txBody>
      </p:sp>
      <p:sp>
        <p:nvSpPr>
          <p:cNvPr id="27" name="Shape 23"/>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8"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9" name="Text 24"/>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30" name="Text 25"/>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Rule values and votes, saved in the room tool.</a:t>
            </a:r>
            <a:endParaRPr lang="en-US" sz="1300" dirty="0"/>
          </a:p>
        </p:txBody>
      </p:sp>
      <p:sp>
        <p:nvSpPr>
          <p:cNvPr id="31" name="Shape 26"/>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32"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33" name="Text 27"/>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34" name="Text 28"/>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show="0">
  <p:cSld name="Slide 17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36454F"/>
                </a:solidFill>
                <a:latin typeface="Arial" pitchFamily="34" charset="0"/>
                <a:ea typeface="Arial" pitchFamily="34" charset="-122"/>
                <a:cs typeface="Arial" pitchFamily="34" charset="-120"/>
              </a:rPr>
              <a:t>OPTION C · CASES AND CONVERSATION · ROTATION RULES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What if?</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11:45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170</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Tables use the rotation sketch on laptops to try changing one rule, and report the trade-off.</a:t>
            </a:r>
            <a:endParaRPr lang="en-US" sz="1900" dirty="0"/>
          </a:p>
        </p:txBody>
      </p:sp>
      <p:sp>
        <p:nvSpPr>
          <p:cNvPr id="8" name="Shape 5"/>
          <p:cNvSpPr/>
          <p:nvPr/>
        </p:nvSpPr>
        <p:spPr>
          <a:xfrm>
            <a:off x="548640" y="2240280"/>
            <a:ext cx="1442679" cy="1417320"/>
          </a:xfrm>
          <a:prstGeom prst="rect">
            <a:avLst/>
          </a:prstGeom>
          <a:solidFill>
            <a:srgbClr val="36454F"/>
          </a:solidFill>
          <a:ln/>
        </p:spPr>
      </p:sp>
      <p:sp>
        <p:nvSpPr>
          <p:cNvPr id="9" name="Text 6"/>
          <p:cNvSpPr txBox="1"/>
          <p:nvPr/>
        </p:nvSpPr>
        <p:spPr>
          <a:xfrm>
            <a:off x="64008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0" name="Text 7"/>
          <p:cNvSpPr txBox="1"/>
          <p:nvPr/>
        </p:nvSpPr>
        <p:spPr>
          <a:xfrm>
            <a:off x="64008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The idea</a:t>
            </a:r>
            <a:endParaRPr lang="en-US" sz="1500" dirty="0"/>
          </a:p>
        </p:txBody>
      </p:sp>
      <p:sp>
        <p:nvSpPr>
          <p:cNvPr id="11" name="Shape 8"/>
          <p:cNvSpPr/>
          <p:nvPr/>
        </p:nvSpPr>
        <p:spPr>
          <a:xfrm>
            <a:off x="2027895" y="2240280"/>
            <a:ext cx="2182307" cy="1417320"/>
          </a:xfrm>
          <a:prstGeom prst="rect">
            <a:avLst/>
          </a:prstGeom>
          <a:solidFill>
            <a:srgbClr val="6B7B86"/>
          </a:solidFill>
          <a:ln/>
        </p:spPr>
      </p:sp>
      <p:sp>
        <p:nvSpPr>
          <p:cNvPr id="12" name="Text 9"/>
          <p:cNvSpPr txBox="1"/>
          <p:nvPr/>
        </p:nvSpPr>
        <p:spPr>
          <a:xfrm>
            <a:off x="2119335" y="2331720"/>
            <a:ext cx="203600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3" name="Text 10"/>
          <p:cNvSpPr txBox="1"/>
          <p:nvPr/>
        </p:nvSpPr>
        <p:spPr>
          <a:xfrm>
            <a:off x="2119335" y="2651760"/>
            <a:ext cx="2072579"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Try one rule</a:t>
            </a:r>
            <a:endParaRPr lang="en-US" sz="1500" dirty="0"/>
          </a:p>
        </p:txBody>
      </p:sp>
      <p:sp>
        <p:nvSpPr>
          <p:cNvPr id="14" name="Shape 11"/>
          <p:cNvSpPr/>
          <p:nvPr/>
        </p:nvSpPr>
        <p:spPr>
          <a:xfrm>
            <a:off x="4246778" y="2240280"/>
            <a:ext cx="2182307" cy="1417320"/>
          </a:xfrm>
          <a:prstGeom prst="rect">
            <a:avLst/>
          </a:prstGeom>
          <a:solidFill>
            <a:srgbClr val="36454F"/>
          </a:solidFill>
          <a:ln/>
        </p:spPr>
      </p:sp>
      <p:sp>
        <p:nvSpPr>
          <p:cNvPr id="15" name="Text 12"/>
          <p:cNvSpPr txBox="1"/>
          <p:nvPr/>
        </p:nvSpPr>
        <p:spPr>
          <a:xfrm>
            <a:off x="4338218" y="2331720"/>
            <a:ext cx="203600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6" name="Text 13"/>
          <p:cNvSpPr txBox="1"/>
          <p:nvPr/>
        </p:nvSpPr>
        <p:spPr>
          <a:xfrm>
            <a:off x="4338218" y="2651760"/>
            <a:ext cx="2072579"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Trade-offs</a:t>
            </a:r>
            <a:endParaRPr lang="en-US" sz="1500" dirty="0"/>
          </a:p>
        </p:txBody>
      </p:sp>
      <p:sp>
        <p:nvSpPr>
          <p:cNvPr id="17" name="Shape 14"/>
          <p:cNvSpPr/>
          <p:nvPr/>
        </p:nvSpPr>
        <p:spPr>
          <a:xfrm>
            <a:off x="6465661" y="2240280"/>
            <a:ext cx="3661562" cy="1417320"/>
          </a:xfrm>
          <a:prstGeom prst="rect">
            <a:avLst/>
          </a:prstGeom>
          <a:solidFill>
            <a:srgbClr val="6B7B86"/>
          </a:solidFill>
          <a:ln/>
        </p:spPr>
      </p:sp>
      <p:sp>
        <p:nvSpPr>
          <p:cNvPr id="18" name="Text 15"/>
          <p:cNvSpPr txBox="1"/>
          <p:nvPr/>
        </p:nvSpPr>
        <p:spPr>
          <a:xfrm>
            <a:off x="6557101"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25 min</a:t>
            </a:r>
            <a:endParaRPr lang="en-US" sz="1150" dirty="0"/>
          </a:p>
        </p:txBody>
      </p:sp>
      <p:sp>
        <p:nvSpPr>
          <p:cNvPr id="19" name="Text 16"/>
          <p:cNvSpPr txBox="1"/>
          <p:nvPr/>
        </p:nvSpPr>
        <p:spPr>
          <a:xfrm>
            <a:off x="6557101"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Agree the rules</a:t>
            </a:r>
            <a:endParaRPr lang="en-US" sz="1500" dirty="0"/>
          </a:p>
        </p:txBody>
      </p:sp>
      <p:sp>
        <p:nvSpPr>
          <p:cNvPr id="20" name="Shape 17"/>
          <p:cNvSpPr/>
          <p:nvPr/>
        </p:nvSpPr>
        <p:spPr>
          <a:xfrm>
            <a:off x="10163800" y="2240280"/>
            <a:ext cx="1442679" cy="1417320"/>
          </a:xfrm>
          <a:prstGeom prst="rect">
            <a:avLst/>
          </a:prstGeom>
          <a:solidFill>
            <a:srgbClr val="36454F"/>
          </a:solidFill>
          <a:ln/>
        </p:spPr>
      </p:sp>
      <p:sp>
        <p:nvSpPr>
          <p:cNvPr id="21" name="Text 18"/>
          <p:cNvSpPr txBox="1"/>
          <p:nvPr/>
        </p:nvSpPr>
        <p:spPr>
          <a:xfrm>
            <a:off x="1025524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22" name="Text 19"/>
          <p:cNvSpPr txBox="1"/>
          <p:nvPr/>
        </p:nvSpPr>
        <p:spPr>
          <a:xfrm>
            <a:off x="1025524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Records and check</a:t>
            </a:r>
            <a:endParaRPr lang="en-US" sz="1500" dirty="0"/>
          </a:p>
        </p:txBody>
      </p:sp>
      <p:sp>
        <p:nvSpPr>
          <p:cNvPr id="23" name="Shape 20"/>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4"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5" name="Text 21"/>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6" name="Text 22"/>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Tables with a laptop</a:t>
            </a:r>
            <a:endParaRPr lang="en-US" sz="1300" dirty="0"/>
          </a:p>
        </p:txBody>
      </p:sp>
      <p:sp>
        <p:nvSpPr>
          <p:cNvPr id="27" name="Shape 23"/>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8"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9" name="Text 24"/>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30" name="Text 25"/>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Trade-offs per table, the five rules, the pilot records list.</a:t>
            </a:r>
            <a:endParaRPr lang="en-US" sz="1300" dirty="0"/>
          </a:p>
        </p:txBody>
      </p:sp>
      <p:sp>
        <p:nvSpPr>
          <p:cNvPr id="31" name="Shape 26"/>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32"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33" name="Text 27"/>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34" name="Text 28"/>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ROTATION RULES · FILL IN LIVE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Rotation rules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11:45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171</a:t>
            </a:r>
            <a:endParaRPr lang="en-US" sz="1000" dirty="0"/>
          </a:p>
        </p:txBody>
      </p:sp>
      <p:graphicFrame>
        <p:nvGraphicFramePr>
          <p:cNvPr id="17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926080"/>
                <a:gridCol w="4937760"/>
                <a:gridCol w="3227832"/>
              </a:tblGrid>
              <a:tr h="666206">
                <a:tc>
                  <a:txBody>
                    <a:bodyPr/>
                    <a:lstStyle/>
                    <a:p>
                      <a:pPr indent="0" marL="0">
                        <a:buNone/>
                      </a:pPr>
                      <a:r>
                        <a:rPr lang="en-US" sz="1500" b="1" dirty="0">
                          <a:solidFill>
                            <a:srgbClr val="FFFFFF"/>
                          </a:solidFill>
                          <a:latin typeface="Arial" pitchFamily="34" charset="0"/>
                          <a:ea typeface="Arial" pitchFamily="34" charset="-122"/>
                          <a:cs typeface="Arial" pitchFamily="34" charset="-120"/>
                        </a:rPr>
                        <a:t>Rule</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Agreed</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Owner and date, if open</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r>
              <a:tr h="666206">
                <a:tc>
                  <a:txBody>
                    <a:bodyPr/>
                    <a:lstStyle/>
                    <a:p>
                      <a:pPr indent="0" marL="0">
                        <a:buNone/>
                      </a:pPr>
                      <a:r>
                        <a:rPr lang="en-US" sz="1600" b="1" dirty="0">
                          <a:solidFill>
                            <a:srgbClr val="1F2A33"/>
                          </a:solidFill>
                          <a:latin typeface="Arial" pitchFamily="34" charset="0"/>
                          <a:ea typeface="Arial" pitchFamily="34" charset="-122"/>
                          <a:cs typeface="Arial" pitchFamily="34" charset="-120"/>
                        </a:rPr>
                        <a:t>Time in role</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666206">
                <a:tc>
                  <a:txBody>
                    <a:bodyPr/>
                    <a:lstStyle/>
                    <a:p>
                      <a:pPr indent="0" marL="0">
                        <a:buNone/>
                      </a:pPr>
                      <a:r>
                        <a:rPr lang="en-US" sz="1600" b="1" dirty="0">
                          <a:solidFill>
                            <a:srgbClr val="1F2A33"/>
                          </a:solidFill>
                          <a:latin typeface="Arial" pitchFamily="34" charset="0"/>
                          <a:ea typeface="Arial" pitchFamily="34" charset="-122"/>
                          <a:cs typeface="Arial" pitchFamily="34" charset="-120"/>
                        </a:rPr>
                        <a:t>Who approves a release</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666206">
                <a:tc>
                  <a:txBody>
                    <a:bodyPr/>
                    <a:lstStyle/>
                    <a:p>
                      <a:pPr indent="0" marL="0">
                        <a:buNone/>
                      </a:pPr>
                      <a:r>
                        <a:rPr lang="en-US" sz="1600" b="1" dirty="0">
                          <a:solidFill>
                            <a:srgbClr val="1F2A33"/>
                          </a:solidFill>
                          <a:latin typeface="Arial" pitchFamily="34" charset="0"/>
                          <a:ea typeface="Arial" pitchFamily="34" charset="-122"/>
                          <a:cs typeface="Arial" pitchFamily="34" charset="-120"/>
                        </a:rPr>
                        <a:t>Protecting key people</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666206">
                <a:tc>
                  <a:txBody>
                    <a:bodyPr/>
                    <a:lstStyle/>
                    <a:p>
                      <a:pPr indent="0" marL="0">
                        <a:buNone/>
                      </a:pPr>
                      <a:r>
                        <a:rPr lang="en-US" sz="1600" b="1" dirty="0">
                          <a:solidFill>
                            <a:srgbClr val="1F2A33"/>
                          </a:solidFill>
                          <a:latin typeface="Arial" pitchFamily="34" charset="0"/>
                          <a:ea typeface="Arial" pitchFamily="34" charset="-122"/>
                          <a:cs typeface="Arial" pitchFamily="34" charset="-120"/>
                        </a:rPr>
                        <a:t>Costs between countries</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666206">
                <a:tc>
                  <a:txBody>
                    <a:bodyPr/>
                    <a:lstStyle/>
                    <a:p>
                      <a:pPr indent="0" marL="0">
                        <a:buNone/>
                      </a:pPr>
                      <a:r>
                        <a:rPr lang="en-US" sz="1600" b="1" dirty="0">
                          <a:solidFill>
                            <a:srgbClr val="1F2A33"/>
                          </a:solidFill>
                          <a:latin typeface="Arial" pitchFamily="34" charset="0"/>
                          <a:ea typeface="Arial" pitchFamily="34" charset="-122"/>
                          <a:cs typeface="Arial" pitchFamily="34" charset="-120"/>
                        </a:rPr>
                        <a:t>The person agrees</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666206">
                <a:tc>
                  <a:txBody>
                    <a:bodyPr/>
                    <a:lstStyle/>
                    <a:p>
                      <a:pPr indent="0" marL="0">
                        <a:buNone/>
                      </a:pPr>
                      <a:r>
                        <a:rPr lang="en-US" sz="1600" b="1" dirty="0">
                          <a:solidFill>
                            <a:srgbClr val="1F2A33"/>
                          </a:solidFill>
                          <a:latin typeface="Arial" pitchFamily="34" charset="0"/>
                          <a:ea typeface="Arial" pitchFamily="34" charset="-122"/>
                          <a:cs typeface="Arial" pitchFamily="34" charset="-120"/>
                        </a:rPr>
                        <a:t>What the pilot records</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bl>
          </a:graphicData>
        </a:graphic>
      </p:graphicFrame>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QUICK CHECK · HANDS UP OR PHONES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400" b="1" dirty="0">
                <a:solidFill>
                  <a:srgbClr val="1F2A33"/>
                </a:solidFill>
                <a:latin typeface="TWK Everett" pitchFamily="34" charset="0"/>
                <a:ea typeface="TWK Everett" pitchFamily="34" charset="-122"/>
                <a:cs typeface="TWK Everett" pitchFamily="34" charset="-120"/>
              </a:rPr>
              <a:t>Seniors need 24 months on an account before a move. A senior has 14, and a new job needs them. What happens?</a:t>
            </a:r>
            <a:endParaRPr lang="en-US" sz="24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11:45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172</a:t>
            </a:r>
            <a:endParaRPr lang="en-US" sz="1000" dirty="0"/>
          </a:p>
        </p:txBody>
      </p:sp>
      <p:sp>
        <p:nvSpPr>
          <p:cNvPr id="7" name="Shape 4"/>
          <p:cNvSpPr/>
          <p:nvPr/>
        </p:nvSpPr>
        <p:spPr>
          <a:xfrm>
            <a:off x="548640" y="1828800"/>
            <a:ext cx="11091672" cy="1005840"/>
          </a:xfrm>
          <a:prstGeom prst="roundRect">
            <a:avLst>
              <a:gd name="adj" fmla="val 7273"/>
            </a:avLst>
          </a:prstGeom>
          <a:solidFill>
            <a:srgbClr val="FFFFFF"/>
          </a:solidFill>
          <a:ln w="12700">
            <a:solidFill>
              <a:srgbClr val="D9DEE2"/>
            </a:solidFill>
            <a:prstDash val="solid"/>
          </a:ln>
        </p:spPr>
      </p:sp>
      <p:sp>
        <p:nvSpPr>
          <p:cNvPr id="8" name="Shape 5"/>
          <p:cNvSpPr/>
          <p:nvPr/>
        </p:nvSpPr>
        <p:spPr>
          <a:xfrm>
            <a:off x="777240" y="2057400"/>
            <a:ext cx="548640" cy="548640"/>
          </a:xfrm>
          <a:prstGeom prst="ellipse">
            <a:avLst/>
          </a:prstGeom>
          <a:solidFill>
            <a:srgbClr val="36454F"/>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They move now, as long as they say yes to the move</a:t>
            </a:r>
            <a:endParaRPr lang="en-US" sz="2000" dirty="0"/>
          </a:p>
        </p:txBody>
      </p:sp>
      <p:sp>
        <p:nvSpPr>
          <p:cNvPr id="11" name="Shape 8"/>
          <p:cNvSpPr/>
          <p:nvPr/>
        </p:nvSpPr>
        <p:spPr>
          <a:xfrm>
            <a:off x="548640" y="3017520"/>
            <a:ext cx="11091672" cy="1005840"/>
          </a:xfrm>
          <a:prstGeom prst="roundRect">
            <a:avLst>
              <a:gd name="adj" fmla="val 7273"/>
            </a:avLst>
          </a:prstGeom>
          <a:solidFill>
            <a:srgbClr val="FFFFFF"/>
          </a:solidFill>
          <a:ln w="12700">
            <a:solidFill>
              <a:srgbClr val="D9DEE2"/>
            </a:solidFill>
            <a:prstDash val="solid"/>
          </a:ln>
        </p:spPr>
      </p:sp>
      <p:sp>
        <p:nvSpPr>
          <p:cNvPr id="12" name="Shape 9"/>
          <p:cNvSpPr/>
          <p:nvPr/>
        </p:nvSpPr>
        <p:spPr>
          <a:xfrm>
            <a:off x="777240" y="3246120"/>
            <a:ext cx="548640" cy="548640"/>
          </a:xfrm>
          <a:prstGeom prst="ellipse">
            <a:avLst/>
          </a:prstGeom>
          <a:solidFill>
            <a:srgbClr val="36454F"/>
          </a:solidFill>
          <a:ln/>
        </p:spPr>
      </p:sp>
      <p:sp>
        <p:nvSpPr>
          <p:cNvPr id="13"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4"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They stay, unless a named person makes an exception</a:t>
            </a:r>
            <a:endParaRPr lang="en-US" sz="2000" dirty="0"/>
          </a:p>
        </p:txBody>
      </p:sp>
      <p:sp>
        <p:nvSpPr>
          <p:cNvPr id="15" name="Shape 12"/>
          <p:cNvSpPr/>
          <p:nvPr/>
        </p:nvSpPr>
        <p:spPr>
          <a:xfrm>
            <a:off x="548640" y="4206240"/>
            <a:ext cx="11091672" cy="1005840"/>
          </a:xfrm>
          <a:prstGeom prst="roundRect">
            <a:avLst>
              <a:gd name="adj" fmla="val 7273"/>
            </a:avLst>
          </a:prstGeom>
          <a:solidFill>
            <a:srgbClr val="FFFFFF"/>
          </a:solidFill>
          <a:ln w="12700">
            <a:solidFill>
              <a:srgbClr val="D9DEE2"/>
            </a:solidFill>
            <a:prstDash val="solid"/>
          </a:ln>
        </p:spPr>
      </p:sp>
      <p:sp>
        <p:nvSpPr>
          <p:cNvPr id="16" name="Shape 13"/>
          <p:cNvSpPr/>
          <p:nvPr/>
        </p:nvSpPr>
        <p:spPr>
          <a:xfrm>
            <a:off x="777240" y="4434840"/>
            <a:ext cx="548640" cy="548640"/>
          </a:xfrm>
          <a:prstGeom prst="ellipse">
            <a:avLst/>
          </a:prstGeom>
          <a:solidFill>
            <a:srgbClr val="36454F"/>
          </a:solidFill>
          <a:ln/>
        </p:spPr>
      </p:sp>
      <p:sp>
        <p:nvSpPr>
          <p:cNvPr id="17"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8"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They move, and the rule is changed for everyone after</a:t>
            </a:r>
            <a:endParaRPr lang="en-US" sz="20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CHECK · THE ANSWER</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400" b="1" dirty="0">
                <a:solidFill>
                  <a:srgbClr val="1F2A33"/>
                </a:solidFill>
                <a:latin typeface="TWK Everett" pitchFamily="34" charset="0"/>
                <a:ea typeface="TWK Everett" pitchFamily="34" charset="-122"/>
                <a:cs typeface="TWK Everett" pitchFamily="34" charset="-120"/>
              </a:rPr>
              <a:t>Seniors need 24 months on an account before a move. A senior has 14, and a new job needs them. What happens?</a:t>
            </a:r>
            <a:endParaRPr lang="en-US" sz="24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11:45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173</a:t>
            </a:r>
            <a:endParaRPr lang="en-US" sz="1000" dirty="0"/>
          </a:p>
        </p:txBody>
      </p:sp>
      <p:sp>
        <p:nvSpPr>
          <p:cNvPr id="7" name="Shape 4"/>
          <p:cNvSpPr/>
          <p:nvPr/>
        </p:nvSpPr>
        <p:spPr>
          <a:xfrm>
            <a:off x="548640" y="1828800"/>
            <a:ext cx="11091672" cy="1005840"/>
          </a:xfrm>
          <a:prstGeom prst="roundRect">
            <a:avLst>
              <a:gd name="adj" fmla="val 7273"/>
            </a:avLst>
          </a:prstGeom>
          <a:solidFill>
            <a:srgbClr val="FFFFFF"/>
          </a:solidFill>
          <a:ln w="12700">
            <a:solidFill>
              <a:srgbClr val="D9DEE2"/>
            </a:solidFill>
            <a:prstDash val="solid"/>
          </a:ln>
        </p:spPr>
      </p:sp>
      <p:sp>
        <p:nvSpPr>
          <p:cNvPr id="8" name="Shape 5"/>
          <p:cNvSpPr/>
          <p:nvPr/>
        </p:nvSpPr>
        <p:spPr>
          <a:xfrm>
            <a:off x="777240" y="2057400"/>
            <a:ext cx="548640" cy="548640"/>
          </a:xfrm>
          <a:prstGeom prst="ellipse">
            <a:avLst/>
          </a:prstGeom>
          <a:solidFill>
            <a:srgbClr val="8A94A4"/>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They move now, as long as they say yes to the move</a:t>
            </a:r>
            <a:endParaRPr lang="en-US" sz="2000" dirty="0"/>
          </a:p>
        </p:txBody>
      </p:sp>
      <p:sp>
        <p:nvSpPr>
          <p:cNvPr id="11" name="Shape 8"/>
          <p:cNvSpPr/>
          <p:nvPr/>
        </p:nvSpPr>
        <p:spPr>
          <a:xfrm>
            <a:off x="548640" y="3017520"/>
            <a:ext cx="11091672" cy="1005840"/>
          </a:xfrm>
          <a:prstGeom prst="roundRect">
            <a:avLst>
              <a:gd name="adj" fmla="val 7273"/>
            </a:avLst>
          </a:prstGeom>
          <a:solidFill>
            <a:srgbClr val="E3F1E9"/>
          </a:solidFill>
          <a:ln w="12700">
            <a:solidFill>
              <a:srgbClr val="2E8656"/>
            </a:solidFill>
            <a:prstDash val="solid"/>
          </a:ln>
        </p:spPr>
      </p:sp>
      <p:sp>
        <p:nvSpPr>
          <p:cNvPr id="12" name="Shape 9"/>
          <p:cNvSpPr/>
          <p:nvPr/>
        </p:nvSpPr>
        <p:spPr>
          <a:xfrm>
            <a:off x="777240" y="3246120"/>
            <a:ext cx="548640" cy="548640"/>
          </a:xfrm>
          <a:prstGeom prst="ellipse">
            <a:avLst/>
          </a:prstGeom>
          <a:solidFill>
            <a:srgbClr val="2E8656"/>
          </a:solidFill>
          <a:ln/>
        </p:spPr>
      </p:sp>
      <p:sp>
        <p:nvSpPr>
          <p:cNvPr id="13"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4"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They stay, unless a named person makes an exception</a:t>
            </a:r>
            <a:endParaRPr lang="en-US" sz="2000" dirty="0"/>
          </a:p>
        </p:txBody>
      </p:sp>
      <p:pic>
        <p:nvPicPr>
          <p:cNvPr id="15" name="Image 1" descr="/private/tmp/claude-501/-Users-salehhamed-Outcome-Engine/91861432-41e2-4884-bc97-63c6dff2d021/scratchpad/wk/icons/TbCircleCheck-green.png">    </p:cNvPr>
          <p:cNvPicPr>
            <a:picLocks noChangeAspect="1"/>
          </p:cNvPicPr>
          <p:nvPr/>
        </p:nvPicPr>
        <p:blipFill>
          <a:blip r:embed="rId4"/>
          <a:stretch>
            <a:fillRect/>
          </a:stretch>
        </p:blipFill>
        <p:spPr>
          <a:xfrm>
            <a:off x="10927080" y="3246120"/>
            <a:ext cx="548640" cy="548640"/>
          </a:xfrm>
          <a:prstGeom prst="rect">
            <a:avLst/>
          </a:prstGeom>
        </p:spPr>
      </p:pic>
      <p:sp>
        <p:nvSpPr>
          <p:cNvPr id="16" name="Shape 12"/>
          <p:cNvSpPr/>
          <p:nvPr/>
        </p:nvSpPr>
        <p:spPr>
          <a:xfrm>
            <a:off x="548640" y="4206240"/>
            <a:ext cx="11091672" cy="1005840"/>
          </a:xfrm>
          <a:prstGeom prst="roundRect">
            <a:avLst>
              <a:gd name="adj" fmla="val 7273"/>
            </a:avLst>
          </a:prstGeom>
          <a:solidFill>
            <a:srgbClr val="FFFFFF"/>
          </a:solidFill>
          <a:ln w="12700">
            <a:solidFill>
              <a:srgbClr val="D9DEE2"/>
            </a:solidFill>
            <a:prstDash val="solid"/>
          </a:ln>
        </p:spPr>
      </p:sp>
      <p:sp>
        <p:nvSpPr>
          <p:cNvPr id="17" name="Shape 13"/>
          <p:cNvSpPr/>
          <p:nvPr/>
        </p:nvSpPr>
        <p:spPr>
          <a:xfrm>
            <a:off x="777240" y="4434840"/>
            <a:ext cx="548640" cy="548640"/>
          </a:xfrm>
          <a:prstGeom prst="ellipse">
            <a:avLst/>
          </a:prstGeom>
          <a:solidFill>
            <a:srgbClr val="8A94A4"/>
          </a:solidFill>
          <a:ln/>
        </p:spPr>
      </p:sp>
      <p:sp>
        <p:nvSpPr>
          <p:cNvPr id="18"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9"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They move, and the rule is changed for everyone after</a:t>
            </a:r>
            <a:endParaRPr lang="en-US" sz="20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BACK AT 13:45</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Lunch · the build team applies the fixes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13:00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8A94A4"/>
                </a:solidFill>
                <a:latin typeface="Arial" pitchFamily="34" charset="0"/>
                <a:ea typeface="Arial" pitchFamily="34" charset="-122"/>
                <a:cs typeface="Arial" pitchFamily="34" charset="-120"/>
              </a:rPr>
              <a:t>   174</a:t>
            </a:r>
            <a:endParaRPr lang="en-US" sz="1000" dirty="0"/>
          </a:p>
        </p:txBody>
      </p:sp>
      <p:sp>
        <p:nvSpPr>
          <p:cNvPr id="7" name="Shape 4"/>
          <p:cNvSpPr/>
          <p:nvPr/>
        </p:nvSpPr>
        <p:spPr>
          <a:xfrm>
            <a:off x="548640" y="1645920"/>
            <a:ext cx="1188720" cy="1188720"/>
          </a:xfrm>
          <a:prstGeom prst="ellipse">
            <a:avLst/>
          </a:prstGeom>
          <a:solidFill>
            <a:srgbClr val="287079"/>
          </a:solidFill>
          <a:ln/>
        </p:spPr>
      </p:sp>
      <p:pic>
        <p:nvPicPr>
          <p:cNvPr id="8" name="Image 1" descr="/private/tmp/claude-501/-Users-salehhamed-Outcome-Engine/91861432-41e2-4884-bc97-63c6dff2d021/scratchpad/wk/icons/TbToolsKitchen2-white.png">    </p:cNvPr>
          <p:cNvPicPr>
            <a:picLocks noChangeAspect="1"/>
          </p:cNvPicPr>
          <p:nvPr/>
        </p:nvPicPr>
        <p:blipFill>
          <a:blip r:embed="rId3"/>
          <a:stretch>
            <a:fillRect/>
          </a:stretch>
        </p:blipFill>
        <p:spPr>
          <a:xfrm>
            <a:off x="786384" y="1883664"/>
            <a:ext cx="713232" cy="713232"/>
          </a:xfrm>
          <a:prstGeom prst="rect">
            <a:avLst/>
          </a:prstGeom>
        </p:spPr>
      </p:pic>
      <p:sp>
        <p:nvSpPr>
          <p:cNvPr id="9" name="Text 5"/>
          <p:cNvSpPr txBox="1"/>
          <p:nvPr/>
        </p:nvSpPr>
        <p:spPr>
          <a:xfrm>
            <a:off x="2103120" y="1645920"/>
            <a:ext cx="5486400" cy="457200"/>
          </a:xfrm>
          <a:prstGeom prst="rect">
            <a:avLst/>
          </a:prstGeom>
          <a:noFill/>
          <a:ln/>
        </p:spPr>
        <p:txBody>
          <a:bodyPr wrap="square" lIns="0" tIns="0" rIns="0" bIns="0" rtlCol="0" anchor="t"/>
          <a:lstStyle/>
          <a:p>
            <a:pPr indent="0" marL="0">
              <a:buNone/>
            </a:pPr>
            <a:r>
              <a:rPr lang="en-US" sz="1800" b="1" dirty="0">
                <a:solidFill>
                  <a:srgbClr val="2E8656"/>
                </a:solidFill>
                <a:latin typeface="Arial" pitchFamily="34" charset="0"/>
                <a:ea typeface="Arial" pitchFamily="34" charset="-122"/>
                <a:cs typeface="Arial" pitchFamily="34" charset="-120"/>
              </a:rPr>
              <a:t>Fix tracker</a:t>
            </a:r>
            <a:endParaRPr lang="en-US" sz="1800" dirty="0"/>
          </a:p>
        </p:txBody>
      </p:sp>
      <p:sp>
        <p:nvSpPr>
          <p:cNvPr id="10" name="Shape 6"/>
          <p:cNvSpPr/>
          <p:nvPr/>
        </p:nvSpPr>
        <p:spPr>
          <a:xfrm>
            <a:off x="2103120" y="2240280"/>
            <a:ext cx="3017520" cy="3566160"/>
          </a:xfrm>
          <a:prstGeom prst="roundRect">
            <a:avLst>
              <a:gd name="adj" fmla="val 2424"/>
            </a:avLst>
          </a:prstGeom>
          <a:solidFill>
            <a:srgbClr val="F2F4F5"/>
          </a:solidFill>
          <a:ln/>
        </p:spPr>
      </p:sp>
      <p:sp>
        <p:nvSpPr>
          <p:cNvPr id="11" name="Text 7"/>
          <p:cNvSpPr txBox="1"/>
          <p:nvPr/>
        </p:nvSpPr>
        <p:spPr>
          <a:xfrm>
            <a:off x="2286000" y="2331720"/>
            <a:ext cx="2651760" cy="411480"/>
          </a:xfrm>
          <a:prstGeom prst="rect">
            <a:avLst/>
          </a:prstGeom>
          <a:noFill/>
          <a:ln/>
        </p:spPr>
        <p:txBody>
          <a:bodyPr wrap="square" lIns="0" tIns="0" rIns="0" bIns="0" rtlCol="0" anchor="t"/>
          <a:lstStyle/>
          <a:p>
            <a:pPr indent="0" marL="0">
              <a:buNone/>
            </a:pPr>
            <a:r>
              <a:rPr lang="en-US" sz="1500" b="1" dirty="0">
                <a:solidFill>
                  <a:srgbClr val="2E8656"/>
                </a:solidFill>
                <a:latin typeface="Arial" pitchFamily="34" charset="0"/>
                <a:ea typeface="Arial" pitchFamily="34" charset="-122"/>
                <a:cs typeface="Arial" pitchFamily="34" charset="-120"/>
              </a:rPr>
              <a:t>Fixed</a:t>
            </a:r>
            <a:endParaRPr lang="en-US" sz="1500" dirty="0"/>
          </a:p>
        </p:txBody>
      </p:sp>
      <p:sp>
        <p:nvSpPr>
          <p:cNvPr id="12" name="Shape 8"/>
          <p:cNvSpPr/>
          <p:nvPr/>
        </p:nvSpPr>
        <p:spPr>
          <a:xfrm>
            <a:off x="5303520" y="2240280"/>
            <a:ext cx="3017520" cy="3566160"/>
          </a:xfrm>
          <a:prstGeom prst="roundRect">
            <a:avLst>
              <a:gd name="adj" fmla="val 2424"/>
            </a:avLst>
          </a:prstGeom>
          <a:solidFill>
            <a:srgbClr val="F2F4F5"/>
          </a:solidFill>
          <a:ln/>
        </p:spPr>
      </p:sp>
      <p:sp>
        <p:nvSpPr>
          <p:cNvPr id="13" name="Text 9"/>
          <p:cNvSpPr txBox="1"/>
          <p:nvPr/>
        </p:nvSpPr>
        <p:spPr>
          <a:xfrm>
            <a:off x="5486400" y="2331720"/>
            <a:ext cx="2651760" cy="411480"/>
          </a:xfrm>
          <a:prstGeom prst="rect">
            <a:avLst/>
          </a:prstGeom>
          <a:noFill/>
          <a:ln/>
        </p:spPr>
        <p:txBody>
          <a:bodyPr wrap="square" lIns="0" tIns="0" rIns="0" bIns="0" rtlCol="0" anchor="t"/>
          <a:lstStyle/>
          <a:p>
            <a:pPr indent="0" marL="0">
              <a:buNone/>
            </a:pPr>
            <a:r>
              <a:rPr lang="en-US" sz="1500" b="1" dirty="0">
                <a:solidFill>
                  <a:srgbClr val="C98A1A"/>
                </a:solidFill>
                <a:latin typeface="Arial" pitchFamily="34" charset="0"/>
                <a:ea typeface="Arial" pitchFamily="34" charset="-122"/>
                <a:cs typeface="Arial" pitchFamily="34" charset="-120"/>
              </a:rPr>
              <a:t>In progress</a:t>
            </a:r>
            <a:endParaRPr lang="en-US" sz="1500" dirty="0"/>
          </a:p>
        </p:txBody>
      </p:sp>
      <p:sp>
        <p:nvSpPr>
          <p:cNvPr id="14" name="Shape 10"/>
          <p:cNvSpPr/>
          <p:nvPr/>
        </p:nvSpPr>
        <p:spPr>
          <a:xfrm>
            <a:off x="8503920" y="2240280"/>
            <a:ext cx="3017520" cy="3566160"/>
          </a:xfrm>
          <a:prstGeom prst="roundRect">
            <a:avLst>
              <a:gd name="adj" fmla="val 2424"/>
            </a:avLst>
          </a:prstGeom>
          <a:solidFill>
            <a:srgbClr val="F2F4F5"/>
          </a:solidFill>
          <a:ln/>
        </p:spPr>
      </p:sp>
      <p:sp>
        <p:nvSpPr>
          <p:cNvPr id="15" name="Text 11"/>
          <p:cNvSpPr txBox="1"/>
          <p:nvPr/>
        </p:nvSpPr>
        <p:spPr>
          <a:xfrm>
            <a:off x="8686800" y="2331720"/>
            <a:ext cx="2651760" cy="411480"/>
          </a:xfrm>
          <a:prstGeom prst="rect">
            <a:avLst/>
          </a:prstGeom>
          <a:noFill/>
          <a:ln/>
        </p:spPr>
        <p:txBody>
          <a:bodyPr wrap="square" lIns="0" tIns="0" rIns="0" bIns="0" rtlCol="0" anchor="t"/>
          <a:lstStyle/>
          <a:p>
            <a:pPr indent="0" marL="0">
              <a:buNone/>
            </a:pPr>
            <a:r>
              <a:rPr lang="en-US" sz="1500" b="1" dirty="0">
                <a:solidFill>
                  <a:srgbClr val="8A94A4"/>
                </a:solidFill>
                <a:latin typeface="Arial" pitchFamily="34" charset="0"/>
                <a:ea typeface="Arial" pitchFamily="34" charset="-122"/>
                <a:cs typeface="Arial" pitchFamily="34" charset="-120"/>
              </a:rPr>
              <a:t>After the workshop</a:t>
            </a:r>
            <a:endParaRPr lang="en-US" sz="15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36454F"/>
          </a:solidFill>
          <a:ln/>
        </p:spPr>
      </p:sp>
      <p:sp>
        <p:nvSpPr>
          <p:cNvPr id="3" name="Text 1"/>
          <p:cNvSpPr txBox="1"/>
          <p:nvPr/>
        </p:nvSpPr>
        <p:spPr>
          <a:xfrm>
            <a:off x="548640" y="548640"/>
            <a:ext cx="3474720" cy="274320"/>
          </a:xfrm>
          <a:prstGeom prst="rect">
            <a:avLst/>
          </a:prstGeom>
          <a:noFill/>
          <a:ln/>
        </p:spPr>
        <p:txBody>
          <a:bodyPr wrap="square" lIns="0" tIns="0" rIns="0" bIns="0" rtlCol="0" anchor="t"/>
          <a:lstStyle/>
          <a:p>
            <a:pPr indent="0" marL="0">
              <a:buNone/>
            </a:pPr>
            <a:r>
              <a:rPr lang="en-US" sz="1100" b="1" spc="150" kern="0" dirty="0">
                <a:solidFill>
                  <a:srgbClr val="D9DEE2"/>
                </a:solidFill>
                <a:latin typeface="Arial" pitchFamily="34" charset="0"/>
                <a:ea typeface="Arial" pitchFamily="34" charset="-122"/>
                <a:cs typeface="Arial" pitchFamily="34" charset="-120"/>
              </a:rPr>
              <a:t>DAY 2 · 13:45–15:00 · 75 MIN</a:t>
            </a:r>
            <a:endParaRPr lang="en-US" sz="1100" dirty="0"/>
          </a:p>
        </p:txBody>
      </p:sp>
      <p:sp>
        <p:nvSpPr>
          <p:cNvPr id="4" name="Text 2"/>
          <p:cNvSpPr txBox="1"/>
          <p:nvPr/>
        </p:nvSpPr>
        <p:spPr>
          <a:xfrm>
            <a:off x="548640" y="960120"/>
            <a:ext cx="3383280" cy="2377440"/>
          </a:xfrm>
          <a:prstGeom prst="rect">
            <a:avLst/>
          </a:prstGeom>
          <a:noFill/>
          <a:ln/>
        </p:spPr>
        <p:txBody>
          <a:bodyPr wrap="square" lIns="0" tIns="0" rIns="0" bIns="0" rtlCol="0" anchor="t"/>
          <a:lstStyle/>
          <a:p>
            <a:pPr indent="0" marL="0">
              <a:buNone/>
            </a:pPr>
            <a:r>
              <a:rPr lang="en-US" sz="3000" b="1" dirty="0">
                <a:solidFill>
                  <a:srgbClr val="FFFFFF"/>
                </a:solidFill>
                <a:latin typeface="TWK Everett" pitchFamily="34" charset="0"/>
                <a:ea typeface="TWK Everett" pitchFamily="34" charset="-122"/>
                <a:cs typeface="TWK Everett" pitchFamily="34" charset="-120"/>
              </a:rPr>
              <a:t>Shape what happens next</a:t>
            </a:r>
            <a:endParaRPr lang="en-US" sz="3000" dirty="0"/>
          </a:p>
        </p:txBody>
      </p:sp>
      <p:pic>
        <p:nvPicPr>
          <p:cNvPr id="5" name="Image 0" descr="/private/tmp/claude-501/-Users-salehhamed-Outcome-Engine/91861432-41e2-4884-bc97-63c6dff2d021/scratchpad/wk/icons/TbRoute-white.png">    </p:cNvPr>
          <p:cNvPicPr>
            <a:picLocks noChangeAspect="1"/>
          </p:cNvPicPr>
          <p:nvPr/>
        </p:nvPicPr>
        <p:blipFill>
          <a:blip r:embed="rId1"/>
          <a:stretch>
            <a:fillRect/>
          </a:stretch>
        </p:blipFill>
        <p:spPr>
          <a:xfrm>
            <a:off x="548640" y="3200400"/>
            <a:ext cx="685800" cy="685800"/>
          </a:xfrm>
          <a:prstGeom prst="rect">
            <a:avLst/>
          </a:prstGeom>
        </p:spPr>
      </p:pic>
      <p:sp>
        <p:nvSpPr>
          <p:cNvPr id="6" name="Shape 3"/>
          <p:cNvSpPr/>
          <p:nvPr/>
        </p:nvSpPr>
        <p:spPr>
          <a:xfrm>
            <a:off x="548640" y="4169664"/>
            <a:ext cx="237744" cy="237744"/>
          </a:xfrm>
          <a:prstGeom prst="ellipse">
            <a:avLst/>
          </a:prstGeom>
          <a:solidFill>
            <a:srgbClr val="FFFFFF"/>
          </a:solidFill>
          <a:ln/>
        </p:spPr>
      </p:sp>
      <p:sp>
        <p:nvSpPr>
          <p:cNvPr id="7" name="Shape 4"/>
          <p:cNvSpPr/>
          <p:nvPr/>
        </p:nvSpPr>
        <p:spPr>
          <a:xfrm>
            <a:off x="932688" y="4169664"/>
            <a:ext cx="237744" cy="237744"/>
          </a:xfrm>
          <a:prstGeom prst="ellipse">
            <a:avLst/>
          </a:prstGeom>
          <a:solidFill>
            <a:srgbClr val="FFFFFF"/>
          </a:solidFill>
          <a:ln/>
        </p:spPr>
      </p:sp>
      <p:sp>
        <p:nvSpPr>
          <p:cNvPr id="8" name="Shape 5"/>
          <p:cNvSpPr/>
          <p:nvPr/>
        </p:nvSpPr>
        <p:spPr>
          <a:xfrm>
            <a:off x="1316736" y="4169664"/>
            <a:ext cx="237744" cy="237744"/>
          </a:xfrm>
          <a:prstGeom prst="ellipse">
            <a:avLst/>
          </a:prstGeom>
          <a:solidFill>
            <a:srgbClr val="FFFFFF"/>
          </a:solidFill>
          <a:ln/>
        </p:spPr>
      </p:sp>
      <p:sp>
        <p:nvSpPr>
          <p:cNvPr id="9" name="Shape 6"/>
          <p:cNvSpPr/>
          <p:nvPr/>
        </p:nvSpPr>
        <p:spPr>
          <a:xfrm>
            <a:off x="1700784" y="4169664"/>
            <a:ext cx="237744" cy="237744"/>
          </a:xfrm>
          <a:prstGeom prst="ellipse">
            <a:avLst/>
          </a:prstGeom>
          <a:solidFill>
            <a:srgbClr val="FFFFFF"/>
          </a:solidFill>
          <a:ln/>
        </p:spPr>
      </p:sp>
      <p:sp>
        <p:nvSpPr>
          <p:cNvPr id="10" name="Shape 7"/>
          <p:cNvSpPr/>
          <p:nvPr/>
        </p:nvSpPr>
        <p:spPr>
          <a:xfrm>
            <a:off x="2084832" y="4169664"/>
            <a:ext cx="237744" cy="237744"/>
          </a:xfrm>
          <a:prstGeom prst="ellipse">
            <a:avLst/>
          </a:prstGeom>
          <a:solidFill>
            <a:srgbClr val="FFFFFF"/>
          </a:solidFill>
          <a:ln/>
        </p:spPr>
      </p:sp>
      <p:sp>
        <p:nvSpPr>
          <p:cNvPr id="11" name="Shape 8"/>
          <p:cNvSpPr/>
          <p:nvPr/>
        </p:nvSpPr>
        <p:spPr>
          <a:xfrm>
            <a:off x="2468880" y="4169664"/>
            <a:ext cx="237744" cy="237744"/>
          </a:xfrm>
          <a:prstGeom prst="ellipse">
            <a:avLst/>
          </a:prstGeom>
          <a:solidFill>
            <a:srgbClr val="FFFFFF"/>
          </a:solidFill>
          <a:ln/>
        </p:spPr>
      </p:sp>
      <p:sp>
        <p:nvSpPr>
          <p:cNvPr id="12" name="Shape 9"/>
          <p:cNvSpPr/>
          <p:nvPr/>
        </p:nvSpPr>
        <p:spPr>
          <a:xfrm>
            <a:off x="2816352" y="4133088"/>
            <a:ext cx="310896" cy="310896"/>
          </a:xfrm>
          <a:prstGeom prst="ellipse">
            <a:avLst/>
          </a:prstGeom>
          <a:solidFill>
            <a:srgbClr val="FF462D"/>
          </a:solidFill>
          <a:ln w="19050">
            <a:solidFill>
              <a:srgbClr val="FFFFFF"/>
            </a:solidFill>
            <a:prstDash val="solid"/>
          </a:ln>
        </p:spPr>
      </p:sp>
      <p:sp>
        <p:nvSpPr>
          <p:cNvPr id="13" name="Shape 10"/>
          <p:cNvSpPr/>
          <p:nvPr/>
        </p:nvSpPr>
        <p:spPr>
          <a:xfrm>
            <a:off x="3236976" y="4169664"/>
            <a:ext cx="237744" cy="237744"/>
          </a:xfrm>
          <a:prstGeom prst="ellipse">
            <a:avLst/>
          </a:prstGeom>
          <a:ln w="15875">
            <a:solidFill>
              <a:srgbClr val="D9DEE2"/>
            </a:solidFill>
            <a:prstDash val="solid"/>
          </a:ln>
        </p:spPr>
      </p:sp>
      <p:sp>
        <p:nvSpPr>
          <p:cNvPr id="14" name="Text 11"/>
          <p:cNvSpPr txBox="1"/>
          <p:nvPr/>
        </p:nvSpPr>
        <p:spPr>
          <a:xfrm>
            <a:off x="548640" y="4553712"/>
            <a:ext cx="338328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Still at step 7 of 8</a:t>
            </a:r>
            <a:endParaRPr lang="en-US" sz="1100" dirty="0"/>
          </a:p>
        </p:txBody>
      </p:sp>
      <p:sp>
        <p:nvSpPr>
          <p:cNvPr id="15" name="Text 12"/>
          <p:cNvSpPr txBox="1"/>
          <p:nvPr/>
        </p:nvSpPr>
        <p:spPr>
          <a:xfrm>
            <a:off x="4709160" y="685800"/>
            <a:ext cx="6400800" cy="320040"/>
          </a:xfrm>
          <a:prstGeom prst="rect">
            <a:avLst/>
          </a:prstGeom>
          <a:noFill/>
          <a:ln/>
        </p:spPr>
        <p:txBody>
          <a:bodyPr wrap="square" lIns="0" tIns="0" rIns="0" bIns="0" rtlCol="0" anchor="t"/>
          <a:lstStyle/>
          <a:p>
            <a:pPr indent="0" marL="0">
              <a:buNone/>
            </a:pPr>
            <a:r>
              <a:rPr lang="en-US" sz="1400" b="1" dirty="0">
                <a:solidFill>
                  <a:srgbClr val="287079"/>
                </a:solidFill>
                <a:latin typeface="Arial" pitchFamily="34" charset="0"/>
                <a:ea typeface="Arial" pitchFamily="34" charset="-122"/>
                <a:cs typeface="Arial" pitchFamily="34" charset="-120"/>
              </a:rPr>
              <a:t>By the end of this session, you can</a:t>
            </a:r>
            <a:endParaRPr lang="en-US" sz="1400" dirty="0"/>
          </a:p>
        </p:txBody>
      </p:sp>
      <p:pic>
        <p:nvPicPr>
          <p:cNvPr id="16" name="Image 1" descr="/private/tmp/claude-501/-Users-salehhamed-Outcome-Engine/91861432-41e2-4884-bc97-63c6dff2d021/scratchpad/wk/icons/TbCircleCheck-teal.png">    </p:cNvPr>
          <p:cNvPicPr>
            <a:picLocks noChangeAspect="1"/>
          </p:cNvPicPr>
          <p:nvPr/>
        </p:nvPicPr>
        <p:blipFill>
          <a:blip r:embed="rId2"/>
          <a:stretch>
            <a:fillRect/>
          </a:stretch>
        </p:blipFill>
        <p:spPr>
          <a:xfrm>
            <a:off x="4709160" y="1225296"/>
            <a:ext cx="411480" cy="411480"/>
          </a:xfrm>
          <a:prstGeom prst="rect">
            <a:avLst/>
          </a:prstGeom>
        </p:spPr>
      </p:pic>
      <p:sp>
        <p:nvSpPr>
          <p:cNvPr id="17" name="Text 13"/>
          <p:cNvSpPr txBox="1"/>
          <p:nvPr/>
        </p:nvSpPr>
        <p:spPr>
          <a:xfrm>
            <a:off x="5303520" y="118872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Choose a first slice small enough to start safely.</a:t>
            </a:r>
            <a:endParaRPr lang="en-US" sz="1700" dirty="0"/>
          </a:p>
        </p:txBody>
      </p:sp>
      <p:pic>
        <p:nvPicPr>
          <p:cNvPr id="18" name="Image 2" descr="/private/tmp/claude-501/-Users-salehhamed-Outcome-Engine/91861432-41e2-4884-bc97-63c6dff2d021/scratchpad/wk/icons/TbCircleCheck-teal.png">    </p:cNvPr>
          <p:cNvPicPr>
            <a:picLocks noChangeAspect="1"/>
          </p:cNvPicPr>
          <p:nvPr/>
        </p:nvPicPr>
        <p:blipFill>
          <a:blip r:embed="rId3"/>
          <a:stretch>
            <a:fillRect/>
          </a:stretch>
        </p:blipFill>
        <p:spPr>
          <a:xfrm>
            <a:off x="4709160" y="2093976"/>
            <a:ext cx="411480" cy="411480"/>
          </a:xfrm>
          <a:prstGeom prst="rect">
            <a:avLst/>
          </a:prstGeom>
        </p:spPr>
      </p:pic>
      <p:sp>
        <p:nvSpPr>
          <p:cNvPr id="19" name="Text 14"/>
          <p:cNvSpPr txBox="1"/>
          <p:nvPr/>
        </p:nvSpPr>
        <p:spPr>
          <a:xfrm>
            <a:off x="5303520" y="205740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Pick the measures with finance, and how we get a baseline.</a:t>
            </a:r>
            <a:endParaRPr lang="en-US" sz="1700" dirty="0"/>
          </a:p>
        </p:txBody>
      </p:sp>
      <p:pic>
        <p:nvPicPr>
          <p:cNvPr id="20" name="Image 3" descr="/private/tmp/claude-501/-Users-salehhamed-Outcome-Engine/91861432-41e2-4884-bc97-63c6dff2d021/scratchpad/wk/icons/TbCircleCheck-teal.png">    </p:cNvPr>
          <p:cNvPicPr>
            <a:picLocks noChangeAspect="1"/>
          </p:cNvPicPr>
          <p:nvPr/>
        </p:nvPicPr>
        <p:blipFill>
          <a:blip r:embed="rId4"/>
          <a:stretch>
            <a:fillRect/>
          </a:stretch>
        </p:blipFill>
        <p:spPr>
          <a:xfrm>
            <a:off x="4709160" y="2962656"/>
            <a:ext cx="411480" cy="411480"/>
          </a:xfrm>
          <a:prstGeom prst="rect">
            <a:avLst/>
          </a:prstGeom>
        </p:spPr>
      </p:pic>
      <p:sp>
        <p:nvSpPr>
          <p:cNvPr id="21" name="Text 15"/>
          <p:cNvSpPr txBox="1"/>
          <p:nvPr/>
        </p:nvSpPr>
        <p:spPr>
          <a:xfrm>
            <a:off x="5303520" y="292608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List what the slice depends on.</a:t>
            </a:r>
            <a:endParaRPr lang="en-US" sz="1700" dirty="0"/>
          </a:p>
        </p:txBody>
      </p:sp>
      <p:pic>
        <p:nvPicPr>
          <p:cNvPr id="22" name="Image 4" descr="/private/tmp/claude-501/-Users-salehhamed-Outcome-Engine/91861432-41e2-4884-bc97-63c6dff2d021/scratchpad/wk/icons/TbCircleCheck-teal.png">    </p:cNvPr>
          <p:cNvPicPr>
            <a:picLocks noChangeAspect="1"/>
          </p:cNvPicPr>
          <p:nvPr/>
        </p:nvPicPr>
        <p:blipFill>
          <a:blip r:embed="rId5"/>
          <a:stretch>
            <a:fillRect/>
          </a:stretch>
        </p:blipFill>
        <p:spPr>
          <a:xfrm>
            <a:off x="4709160" y="3831336"/>
            <a:ext cx="411480" cy="411480"/>
          </a:xfrm>
          <a:prstGeom prst="rect">
            <a:avLst/>
          </a:prstGeom>
        </p:spPr>
      </p:pic>
      <p:sp>
        <p:nvSpPr>
          <p:cNvPr id="23" name="Text 16"/>
          <p:cNvSpPr txBox="1"/>
          <p:nvPr/>
        </p:nvSpPr>
        <p:spPr>
          <a:xfrm>
            <a:off x="5303520" y="379476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Give every follow-up an owner and a date.</a:t>
            </a:r>
            <a:endParaRPr lang="en-US" sz="1700" dirty="0"/>
          </a:p>
        </p:txBody>
      </p:sp>
      <p:sp>
        <p:nvSpPr>
          <p:cNvPr id="24" name="Shape 17"/>
          <p:cNvSpPr/>
          <p:nvPr/>
        </p:nvSpPr>
        <p:spPr>
          <a:xfrm>
            <a:off x="4709160" y="4800600"/>
            <a:ext cx="6931152" cy="1234440"/>
          </a:xfrm>
          <a:prstGeom prst="roundRect">
            <a:avLst>
              <a:gd name="adj" fmla="val 5926"/>
            </a:avLst>
          </a:prstGeom>
          <a:solidFill>
            <a:srgbClr val="FFF0EC"/>
          </a:solidFill>
          <a:ln/>
        </p:spPr>
      </p:sp>
      <p:sp>
        <p:nvSpPr>
          <p:cNvPr id="25" name="Text 18"/>
          <p:cNvSpPr txBox="1"/>
          <p:nvPr/>
        </p:nvSpPr>
        <p:spPr>
          <a:xfrm>
            <a:off x="4937760" y="4800600"/>
            <a:ext cx="6492240" cy="1234440"/>
          </a:xfrm>
          <a:prstGeom prst="rect">
            <a:avLst/>
          </a:prstGeom>
          <a:noFill/>
          <a:ln/>
        </p:spPr>
        <p:txBody>
          <a:bodyPr wrap="square" lIns="0" tIns="0" rIns="0" bIns="0" rtlCol="0" anchor="ctr"/>
          <a:lstStyle/>
          <a:p>
            <a:pPr indent="0" marL="0">
              <a:buNone/>
            </a:pPr>
            <a:r>
              <a:rPr lang="en-US" sz="1800" b="1" dirty="0">
                <a:solidFill>
                  <a:srgbClr val="FF462D"/>
                </a:solidFill>
                <a:latin typeface="Arial" pitchFamily="34" charset="0"/>
                <a:ea typeface="Arial" pitchFamily="34" charset="-122"/>
                <a:cs typeface="Arial" pitchFamily="34" charset="-120"/>
              </a:rPr>
              <a:t>Start small, measure from day one, and name an owner for everything.</a:t>
            </a:r>
            <a:endParaRPr lang="en-US" sz="1800" dirty="0"/>
          </a:p>
        </p:txBody>
      </p:sp>
      <p:sp>
        <p:nvSpPr>
          <p:cNvPr id="26" name="Text 19"/>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6"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7" action="ppaction://hlinksldjump" tooltip="The thre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175</a:t>
            </a:r>
            <a:endParaRPr lang="en-US" sz="10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IF WE GO AHEAD</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The ninety days after the workshop</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13:45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176</a:t>
            </a:r>
            <a:endParaRPr lang="en-US" sz="1000" dirty="0"/>
          </a:p>
        </p:txBody>
      </p:sp>
      <p:sp>
        <p:nvSpPr>
          <p:cNvPr id="7" name="Shape 4"/>
          <p:cNvSpPr/>
          <p:nvPr/>
        </p:nvSpPr>
        <p:spPr>
          <a:xfrm>
            <a:off x="548640" y="1645920"/>
            <a:ext cx="2880360" cy="1143000"/>
          </a:xfrm>
          <a:prstGeom prst="chevron">
            <a:avLst/>
          </a:prstGeom>
          <a:solidFill>
            <a:srgbClr val="36454F"/>
          </a:solidFill>
          <a:ln/>
        </p:spPr>
      </p:sp>
      <p:sp>
        <p:nvSpPr>
          <p:cNvPr id="8" name="Text 5"/>
          <p:cNvSpPr txBox="1"/>
          <p:nvPr/>
        </p:nvSpPr>
        <p:spPr>
          <a:xfrm>
            <a:off x="960120" y="1645920"/>
            <a:ext cx="2103120" cy="502920"/>
          </a:xfrm>
          <a:prstGeom prst="rect">
            <a:avLst/>
          </a:prstGeom>
          <a:noFill/>
          <a:ln/>
        </p:spPr>
        <p:txBody>
          <a:bodyPr wrap="square" lIns="0" tIns="0" rIns="0" bIns="0" rtlCol="0" anchor="b"/>
          <a:lstStyle/>
          <a:p>
            <a:pPr indent="0" marL="0">
              <a:buNone/>
            </a:pPr>
            <a:r>
              <a:rPr lang="en-US" sz="1300" b="1" dirty="0">
                <a:solidFill>
                  <a:srgbClr val="D9DEE2"/>
                </a:solidFill>
                <a:latin typeface="Arial" pitchFamily="34" charset="0"/>
                <a:ea typeface="Arial" pitchFamily="34" charset="-122"/>
                <a:cs typeface="Arial" pitchFamily="34" charset="-120"/>
              </a:rPr>
              <a:t>7 October</a:t>
            </a:r>
            <a:endParaRPr lang="en-US" sz="1300" dirty="0"/>
          </a:p>
        </p:txBody>
      </p:sp>
      <p:sp>
        <p:nvSpPr>
          <p:cNvPr id="9" name="Text 6"/>
          <p:cNvSpPr txBox="1"/>
          <p:nvPr/>
        </p:nvSpPr>
        <p:spPr>
          <a:xfrm>
            <a:off x="960120" y="2148840"/>
            <a:ext cx="2194560" cy="54864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Decision</a:t>
            </a:r>
            <a:endParaRPr lang="en-US" sz="1700" dirty="0"/>
          </a:p>
        </p:txBody>
      </p:sp>
      <p:sp>
        <p:nvSpPr>
          <p:cNvPr id="10" name="Text 7"/>
          <p:cNvSpPr txBox="1"/>
          <p:nvPr/>
        </p:nvSpPr>
        <p:spPr>
          <a:xfrm>
            <a:off x="640080" y="3017520"/>
            <a:ext cx="2560320" cy="146304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Proceed, Narrow or Stop, with the reason.</a:t>
            </a:r>
            <a:endParaRPr lang="en-US" sz="1400" dirty="0"/>
          </a:p>
        </p:txBody>
      </p:sp>
      <p:sp>
        <p:nvSpPr>
          <p:cNvPr id="11" name="Shape 8"/>
          <p:cNvSpPr/>
          <p:nvPr/>
        </p:nvSpPr>
        <p:spPr>
          <a:xfrm>
            <a:off x="3337560" y="1645920"/>
            <a:ext cx="2880360" cy="1143000"/>
          </a:xfrm>
          <a:prstGeom prst="chevron">
            <a:avLst/>
          </a:prstGeom>
          <a:solidFill>
            <a:srgbClr val="287079"/>
          </a:solidFill>
          <a:ln/>
        </p:spPr>
      </p:sp>
      <p:sp>
        <p:nvSpPr>
          <p:cNvPr id="12" name="Text 9"/>
          <p:cNvSpPr txBox="1"/>
          <p:nvPr/>
        </p:nvSpPr>
        <p:spPr>
          <a:xfrm>
            <a:off x="3749040" y="1645920"/>
            <a:ext cx="2103120" cy="502920"/>
          </a:xfrm>
          <a:prstGeom prst="rect">
            <a:avLst/>
          </a:prstGeom>
          <a:noFill/>
          <a:ln/>
        </p:spPr>
        <p:txBody>
          <a:bodyPr wrap="square" lIns="0" tIns="0" rIns="0" bIns="0" rtlCol="0" anchor="b"/>
          <a:lstStyle/>
          <a:p>
            <a:pPr indent="0" marL="0">
              <a:buNone/>
            </a:pPr>
            <a:r>
              <a:rPr lang="en-US" sz="1300" b="1" dirty="0">
                <a:solidFill>
                  <a:srgbClr val="D9DEE2"/>
                </a:solidFill>
                <a:latin typeface="Arial" pitchFamily="34" charset="0"/>
                <a:ea typeface="Arial" pitchFamily="34" charset="-122"/>
                <a:cs typeface="Arial" pitchFamily="34" charset="-120"/>
              </a:rPr>
              <a:t>Days 1–30</a:t>
            </a:r>
            <a:endParaRPr lang="en-US" sz="1300" dirty="0"/>
          </a:p>
        </p:txBody>
      </p:sp>
      <p:sp>
        <p:nvSpPr>
          <p:cNvPr id="13" name="Text 10"/>
          <p:cNvSpPr txBox="1"/>
          <p:nvPr/>
        </p:nvSpPr>
        <p:spPr>
          <a:xfrm>
            <a:off x="3749040" y="2148840"/>
            <a:ext cx="2194560" cy="54864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Side by side</a:t>
            </a:r>
            <a:endParaRPr lang="en-US" sz="1700" dirty="0"/>
          </a:p>
        </p:txBody>
      </p:sp>
      <p:sp>
        <p:nvSpPr>
          <p:cNvPr id="14" name="Text 11"/>
          <p:cNvSpPr txBox="1"/>
          <p:nvPr/>
        </p:nvSpPr>
        <p:spPr>
          <a:xfrm>
            <a:off x="3429000" y="3017520"/>
            <a:ext cx="2560320" cy="146304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The system answers next to each person's decision, and changes nothing.</a:t>
            </a:r>
            <a:endParaRPr lang="en-US" sz="1400" dirty="0"/>
          </a:p>
        </p:txBody>
      </p:sp>
      <p:sp>
        <p:nvSpPr>
          <p:cNvPr id="15" name="Shape 12"/>
          <p:cNvSpPr/>
          <p:nvPr/>
        </p:nvSpPr>
        <p:spPr>
          <a:xfrm>
            <a:off x="6126480" y="1645920"/>
            <a:ext cx="2880360" cy="1143000"/>
          </a:xfrm>
          <a:prstGeom prst="chevron">
            <a:avLst/>
          </a:prstGeom>
          <a:solidFill>
            <a:srgbClr val="287079"/>
          </a:solidFill>
          <a:ln/>
        </p:spPr>
      </p:sp>
      <p:sp>
        <p:nvSpPr>
          <p:cNvPr id="16" name="Text 13"/>
          <p:cNvSpPr txBox="1"/>
          <p:nvPr/>
        </p:nvSpPr>
        <p:spPr>
          <a:xfrm>
            <a:off x="6537960" y="1645920"/>
            <a:ext cx="2103120" cy="502920"/>
          </a:xfrm>
          <a:prstGeom prst="rect">
            <a:avLst/>
          </a:prstGeom>
          <a:noFill/>
          <a:ln/>
        </p:spPr>
        <p:txBody>
          <a:bodyPr wrap="square" lIns="0" tIns="0" rIns="0" bIns="0" rtlCol="0" anchor="b"/>
          <a:lstStyle/>
          <a:p>
            <a:pPr indent="0" marL="0">
              <a:buNone/>
            </a:pPr>
            <a:r>
              <a:rPr lang="en-US" sz="1300" b="1" dirty="0">
                <a:solidFill>
                  <a:srgbClr val="D9DEE2"/>
                </a:solidFill>
                <a:latin typeface="Arial" pitchFamily="34" charset="0"/>
                <a:ea typeface="Arial" pitchFamily="34" charset="-122"/>
                <a:cs typeface="Arial" pitchFamily="34" charset="-120"/>
              </a:rPr>
              <a:t>Days 31–60</a:t>
            </a:r>
            <a:endParaRPr lang="en-US" sz="1300" dirty="0"/>
          </a:p>
        </p:txBody>
      </p:sp>
      <p:sp>
        <p:nvSpPr>
          <p:cNvPr id="17" name="Text 14"/>
          <p:cNvSpPr txBox="1"/>
          <p:nvPr/>
        </p:nvSpPr>
        <p:spPr>
          <a:xfrm>
            <a:off x="6537960" y="2148840"/>
            <a:ext cx="2194560" cy="54864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Helps people decide</a:t>
            </a:r>
            <a:endParaRPr lang="en-US" sz="1700" dirty="0"/>
          </a:p>
        </p:txBody>
      </p:sp>
      <p:sp>
        <p:nvSpPr>
          <p:cNvPr id="18" name="Text 15"/>
          <p:cNvSpPr txBox="1"/>
          <p:nvPr/>
        </p:nvSpPr>
        <p:spPr>
          <a:xfrm>
            <a:off x="6217920" y="3017520"/>
            <a:ext cx="2560320" cy="146304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Decisions go to their owners with the facts prepared. People decide.</a:t>
            </a:r>
            <a:endParaRPr lang="en-US" sz="1400" dirty="0"/>
          </a:p>
        </p:txBody>
      </p:sp>
      <p:sp>
        <p:nvSpPr>
          <p:cNvPr id="19" name="Shape 16"/>
          <p:cNvSpPr/>
          <p:nvPr/>
        </p:nvSpPr>
        <p:spPr>
          <a:xfrm>
            <a:off x="8915400" y="1645920"/>
            <a:ext cx="2880360" cy="1143000"/>
          </a:xfrm>
          <a:prstGeom prst="chevron">
            <a:avLst/>
          </a:prstGeom>
          <a:solidFill>
            <a:srgbClr val="287079"/>
          </a:solidFill>
          <a:ln/>
        </p:spPr>
      </p:sp>
      <p:sp>
        <p:nvSpPr>
          <p:cNvPr id="20" name="Text 17"/>
          <p:cNvSpPr txBox="1"/>
          <p:nvPr/>
        </p:nvSpPr>
        <p:spPr>
          <a:xfrm>
            <a:off x="9326880" y="1645920"/>
            <a:ext cx="2103120" cy="502920"/>
          </a:xfrm>
          <a:prstGeom prst="rect">
            <a:avLst/>
          </a:prstGeom>
          <a:noFill/>
          <a:ln/>
        </p:spPr>
        <p:txBody>
          <a:bodyPr wrap="square" lIns="0" tIns="0" rIns="0" bIns="0" rtlCol="0" anchor="b"/>
          <a:lstStyle/>
          <a:p>
            <a:pPr indent="0" marL="0">
              <a:buNone/>
            </a:pPr>
            <a:r>
              <a:rPr lang="en-US" sz="1300" b="1" dirty="0">
                <a:solidFill>
                  <a:srgbClr val="D9DEE2"/>
                </a:solidFill>
                <a:latin typeface="Arial" pitchFamily="34" charset="0"/>
                <a:ea typeface="Arial" pitchFamily="34" charset="-122"/>
                <a:cs typeface="Arial" pitchFamily="34" charset="-120"/>
              </a:rPr>
              <a:t>Days 61–90</a:t>
            </a:r>
            <a:endParaRPr lang="en-US" sz="1300" dirty="0"/>
          </a:p>
        </p:txBody>
      </p:sp>
      <p:sp>
        <p:nvSpPr>
          <p:cNvPr id="21" name="Text 18"/>
          <p:cNvSpPr txBox="1"/>
          <p:nvPr/>
        </p:nvSpPr>
        <p:spPr>
          <a:xfrm>
            <a:off x="9326880" y="2148840"/>
            <a:ext cx="2194560" cy="54864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Acts within limits</a:t>
            </a:r>
            <a:endParaRPr lang="en-US" sz="1700" dirty="0"/>
          </a:p>
        </p:txBody>
      </p:sp>
      <p:sp>
        <p:nvSpPr>
          <p:cNvPr id="22" name="Text 19"/>
          <p:cNvSpPr txBox="1"/>
          <p:nvPr/>
        </p:nvSpPr>
        <p:spPr>
          <a:xfrm>
            <a:off x="9006840" y="3017520"/>
            <a:ext cx="2560320" cy="146304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If approved, it acts alone within agreed limits, on a small pilot.</a:t>
            </a:r>
            <a:endParaRPr lang="en-US" sz="1400" dirty="0"/>
          </a:p>
        </p:txBody>
      </p:sp>
      <p:sp>
        <p:nvSpPr>
          <p:cNvPr id="23" name="Shape 20"/>
          <p:cNvSpPr/>
          <p:nvPr/>
        </p:nvSpPr>
        <p:spPr>
          <a:xfrm>
            <a:off x="548640" y="4754880"/>
            <a:ext cx="11091672" cy="1234440"/>
          </a:xfrm>
          <a:prstGeom prst="roundRect">
            <a:avLst>
              <a:gd name="adj" fmla="val 7407"/>
            </a:avLst>
          </a:prstGeom>
          <a:solidFill>
            <a:srgbClr val="EEF6F7"/>
          </a:solidFill>
          <a:ln/>
        </p:spPr>
      </p:sp>
      <p:pic>
        <p:nvPicPr>
          <p:cNvPr id="24" name="Image 1" descr="/private/tmp/claude-501/-Users-salehhamed-Outcome-Engine/91861432-41e2-4884-bc97-63c6dff2d021/scratchpad/wk/icons/TbStairsUp-teal.png">    </p:cNvPr>
          <p:cNvPicPr>
            <a:picLocks noChangeAspect="1"/>
          </p:cNvPicPr>
          <p:nvPr/>
        </p:nvPicPr>
        <p:blipFill>
          <a:blip r:embed="rId4"/>
          <a:stretch>
            <a:fillRect/>
          </a:stretch>
        </p:blipFill>
        <p:spPr>
          <a:xfrm>
            <a:off x="822960" y="4983480"/>
            <a:ext cx="777240" cy="777240"/>
          </a:xfrm>
          <a:prstGeom prst="rect">
            <a:avLst/>
          </a:prstGeom>
        </p:spPr>
      </p:pic>
      <p:sp>
        <p:nvSpPr>
          <p:cNvPr id="25" name="Text 21"/>
          <p:cNvSpPr txBox="1"/>
          <p:nvPr/>
        </p:nvSpPr>
        <p:spPr>
          <a:xfrm>
            <a:off x="1783080" y="4754880"/>
            <a:ext cx="9692640" cy="1234440"/>
          </a:xfrm>
          <a:prstGeom prst="rect">
            <a:avLst/>
          </a:prstGeom>
          <a:noFill/>
          <a:ln/>
        </p:spPr>
        <p:txBody>
          <a:bodyPr wrap="square" lIns="0" tIns="0" rIns="0" bIns="0" rtlCol="0" anchor="ctr"/>
          <a:lstStyle/>
          <a:p>
            <a:pPr indent="0" marL="0">
              <a:buNone/>
            </a:pPr>
            <a:r>
              <a:rPr lang="en-US" sz="1700" b="1" dirty="0">
                <a:solidFill>
                  <a:srgbClr val="1F2A33"/>
                </a:solidFill>
                <a:latin typeface="Arial" pitchFamily="34" charset="0"/>
                <a:ea typeface="Arial" pitchFamily="34" charset="-122"/>
                <a:cs typeface="Arial" pitchFamily="34" charset="-120"/>
              </a:rPr>
              <a:t>The system earns more freedom one kind of decision at a time, from its own track record. Nothing widens without a decision.</a:t>
            </a:r>
            <a:endParaRPr lang="en-US" sz="17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SMALL ENOUGH TO START SAFELY</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Choose a first slice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13:45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177</a:t>
            </a:r>
            <a:endParaRPr lang="en-US" sz="1000" dirty="0"/>
          </a:p>
        </p:txBody>
      </p:sp>
      <p:sp>
        <p:nvSpPr>
          <p:cNvPr id="7" name="Shape 4"/>
          <p:cNvSpPr/>
          <p:nvPr/>
        </p:nvSpPr>
        <p:spPr>
          <a:xfrm>
            <a:off x="548640" y="1554480"/>
            <a:ext cx="2651760" cy="3429000"/>
          </a:xfrm>
          <a:prstGeom prst="roundRect">
            <a:avLst>
              <a:gd name="adj" fmla="val 2759"/>
            </a:avLst>
          </a:prstGeom>
          <a:solidFill>
            <a:srgbClr val="FFFFFF"/>
          </a:solidFill>
          <a:ln w="12700">
            <a:solidFill>
              <a:srgbClr val="D9DEE2"/>
            </a:solidFill>
            <a:prstDash val="solid"/>
          </a:ln>
        </p:spPr>
      </p:sp>
      <p:pic>
        <p:nvPicPr>
          <p:cNvPr id="8" name="Image 1" descr="/private/tmp/claude-501/-Users-salehhamed-Outcome-Engine/91861432-41e2-4884-bc97-63c6dff2d021/scratchpad/wk/icons/TbUsersGroup-teal.png">    </p:cNvPr>
          <p:cNvPicPr>
            <a:picLocks noChangeAspect="1"/>
          </p:cNvPicPr>
          <p:nvPr/>
        </p:nvPicPr>
        <p:blipFill>
          <a:blip r:embed="rId4"/>
          <a:stretch>
            <a:fillRect/>
          </a:stretch>
        </p:blipFill>
        <p:spPr>
          <a:xfrm>
            <a:off x="731520" y="1737360"/>
            <a:ext cx="640080" cy="640080"/>
          </a:xfrm>
          <a:prstGeom prst="rect">
            <a:avLst/>
          </a:prstGeom>
        </p:spPr>
      </p:pic>
      <p:sp>
        <p:nvSpPr>
          <p:cNvPr id="9" name="Text 5"/>
          <p:cNvSpPr txBox="1"/>
          <p:nvPr/>
        </p:nvSpPr>
        <p:spPr>
          <a:xfrm>
            <a:off x="731520" y="2514600"/>
            <a:ext cx="2286000"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Which practice</a:t>
            </a:r>
            <a:endParaRPr lang="en-US" sz="1700" dirty="0"/>
          </a:p>
        </p:txBody>
      </p:sp>
      <p:sp>
        <p:nvSpPr>
          <p:cNvPr id="10" name="Shape 6"/>
          <p:cNvSpPr/>
          <p:nvPr/>
        </p:nvSpPr>
        <p:spPr>
          <a:xfrm>
            <a:off x="731520" y="3154680"/>
            <a:ext cx="2286000" cy="475488"/>
          </a:xfrm>
          <a:prstGeom prst="roundRect">
            <a:avLst>
              <a:gd name="adj" fmla="val 50000"/>
            </a:avLst>
          </a:prstGeom>
          <a:solidFill>
            <a:srgbClr val="EEF6F7"/>
          </a:solidFill>
          <a:ln w="12700">
            <a:solidFill>
              <a:srgbClr val="287079"/>
            </a:solidFill>
            <a:prstDash val="solid"/>
          </a:ln>
        </p:spPr>
      </p:sp>
      <p:sp>
        <p:nvSpPr>
          <p:cNvPr id="11" name="Text 7"/>
          <p:cNvSpPr txBox="1"/>
          <p:nvPr/>
        </p:nvSpPr>
        <p:spPr>
          <a:xfrm>
            <a:off x="731520" y="3154680"/>
            <a:ext cx="2286000" cy="475488"/>
          </a:xfrm>
          <a:prstGeom prst="rect">
            <a:avLst/>
          </a:prstGeom>
          <a:noFill/>
          <a:ln/>
        </p:spPr>
        <p:txBody>
          <a:bodyPr wrap="square" lIns="0" tIns="0" rIns="0" bIns="0" rtlCol="0" anchor="ctr"/>
          <a:lstStyle/>
          <a:p>
            <a:pPr algn="ctr" indent="0" marL="0">
              <a:buNone/>
            </a:pPr>
            <a:r>
              <a:rPr lang="en-US" sz="1250" b="1" dirty="0">
                <a:solidFill>
                  <a:srgbClr val="287079"/>
                </a:solidFill>
                <a:latin typeface="Arial" pitchFamily="34" charset="0"/>
                <a:ea typeface="Arial" pitchFamily="34" charset="-122"/>
                <a:cs typeface="Arial" pitchFamily="34" charset="-120"/>
              </a:rPr>
              <a:t>One practice</a:t>
            </a:r>
            <a:endParaRPr lang="en-US" sz="1250" dirty="0"/>
          </a:p>
        </p:txBody>
      </p:sp>
      <p:sp>
        <p:nvSpPr>
          <p:cNvPr id="12" name="Shape 8"/>
          <p:cNvSpPr/>
          <p:nvPr/>
        </p:nvSpPr>
        <p:spPr>
          <a:xfrm>
            <a:off x="731520" y="3813048"/>
            <a:ext cx="2286000" cy="475488"/>
          </a:xfrm>
          <a:prstGeom prst="roundRect">
            <a:avLst>
              <a:gd name="adj" fmla="val 50000"/>
            </a:avLst>
          </a:prstGeom>
          <a:solidFill>
            <a:srgbClr val="FFFFFF"/>
          </a:solidFill>
          <a:ln w="12700">
            <a:solidFill>
              <a:srgbClr val="287079"/>
            </a:solidFill>
            <a:prstDash val="solid"/>
          </a:ln>
        </p:spPr>
      </p:sp>
      <p:sp>
        <p:nvSpPr>
          <p:cNvPr id="13" name="Text 9"/>
          <p:cNvSpPr txBox="1"/>
          <p:nvPr/>
        </p:nvSpPr>
        <p:spPr>
          <a:xfrm>
            <a:off x="731520" y="3813048"/>
            <a:ext cx="2286000" cy="475488"/>
          </a:xfrm>
          <a:prstGeom prst="rect">
            <a:avLst/>
          </a:prstGeom>
          <a:noFill/>
          <a:ln/>
        </p:spPr>
        <p:txBody>
          <a:bodyPr wrap="square" lIns="0" tIns="0" rIns="0" bIns="0" rtlCol="0" anchor="ctr"/>
          <a:lstStyle/>
          <a:p>
            <a:pPr algn="ctr" indent="0" marL="0">
              <a:buNone/>
            </a:pPr>
            <a:r>
              <a:rPr lang="en-US" sz="1250" b="1" dirty="0">
                <a:solidFill>
                  <a:srgbClr val="287079"/>
                </a:solidFill>
                <a:latin typeface="Arial" pitchFamily="34" charset="0"/>
                <a:ea typeface="Arial" pitchFamily="34" charset="-122"/>
                <a:cs typeface="Arial" pitchFamily="34" charset="-120"/>
              </a:rPr>
              <a:t>Two practices</a:t>
            </a:r>
            <a:endParaRPr lang="en-US" sz="1250" dirty="0"/>
          </a:p>
        </p:txBody>
      </p:sp>
      <p:sp>
        <p:nvSpPr>
          <p:cNvPr id="14" name="Shape 10"/>
          <p:cNvSpPr/>
          <p:nvPr/>
        </p:nvSpPr>
        <p:spPr>
          <a:xfrm>
            <a:off x="3364992" y="1554480"/>
            <a:ext cx="2651760" cy="3429000"/>
          </a:xfrm>
          <a:prstGeom prst="roundRect">
            <a:avLst>
              <a:gd name="adj" fmla="val 2759"/>
            </a:avLst>
          </a:prstGeom>
          <a:solidFill>
            <a:srgbClr val="FFFFFF"/>
          </a:solidFill>
          <a:ln w="12700">
            <a:solidFill>
              <a:srgbClr val="D9DEE2"/>
            </a:solidFill>
            <a:prstDash val="solid"/>
          </a:ln>
        </p:spPr>
      </p:sp>
      <p:pic>
        <p:nvPicPr>
          <p:cNvPr id="15" name="Image 2" descr="/private/tmp/claude-501/-Users-salehhamed-Outcome-Engine/91861432-41e2-4884-bc97-63c6dff2d021/scratchpad/wk/icons/TbWorld-teal.png">    </p:cNvPr>
          <p:cNvPicPr>
            <a:picLocks noChangeAspect="1"/>
          </p:cNvPicPr>
          <p:nvPr/>
        </p:nvPicPr>
        <p:blipFill>
          <a:blip r:embed="rId5"/>
          <a:stretch>
            <a:fillRect/>
          </a:stretch>
        </p:blipFill>
        <p:spPr>
          <a:xfrm>
            <a:off x="3547872" y="1737360"/>
            <a:ext cx="640080" cy="640080"/>
          </a:xfrm>
          <a:prstGeom prst="rect">
            <a:avLst/>
          </a:prstGeom>
        </p:spPr>
      </p:pic>
      <p:sp>
        <p:nvSpPr>
          <p:cNvPr id="16" name="Text 11"/>
          <p:cNvSpPr txBox="1"/>
          <p:nvPr/>
        </p:nvSpPr>
        <p:spPr>
          <a:xfrm>
            <a:off x="3547872" y="2514600"/>
            <a:ext cx="2286000"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Which country</a:t>
            </a:r>
            <a:endParaRPr lang="en-US" sz="1700" dirty="0"/>
          </a:p>
        </p:txBody>
      </p:sp>
      <p:sp>
        <p:nvSpPr>
          <p:cNvPr id="17" name="Shape 12"/>
          <p:cNvSpPr/>
          <p:nvPr/>
        </p:nvSpPr>
        <p:spPr>
          <a:xfrm>
            <a:off x="3547872" y="3154680"/>
            <a:ext cx="2286000" cy="475488"/>
          </a:xfrm>
          <a:prstGeom prst="roundRect">
            <a:avLst>
              <a:gd name="adj" fmla="val 50000"/>
            </a:avLst>
          </a:prstGeom>
          <a:solidFill>
            <a:srgbClr val="EEF6F7"/>
          </a:solidFill>
          <a:ln w="12700">
            <a:solidFill>
              <a:srgbClr val="287079"/>
            </a:solidFill>
            <a:prstDash val="solid"/>
          </a:ln>
        </p:spPr>
      </p:sp>
      <p:sp>
        <p:nvSpPr>
          <p:cNvPr id="18" name="Text 13"/>
          <p:cNvSpPr txBox="1"/>
          <p:nvPr/>
        </p:nvSpPr>
        <p:spPr>
          <a:xfrm>
            <a:off x="3547872" y="3154680"/>
            <a:ext cx="2286000" cy="475488"/>
          </a:xfrm>
          <a:prstGeom prst="rect">
            <a:avLst/>
          </a:prstGeom>
          <a:noFill/>
          <a:ln/>
        </p:spPr>
        <p:txBody>
          <a:bodyPr wrap="square" lIns="0" tIns="0" rIns="0" bIns="0" rtlCol="0" anchor="ctr"/>
          <a:lstStyle/>
          <a:p>
            <a:pPr algn="ctr" indent="0" marL="0">
              <a:buNone/>
            </a:pPr>
            <a:r>
              <a:rPr lang="en-US" sz="1250" b="1" dirty="0">
                <a:solidFill>
                  <a:srgbClr val="287079"/>
                </a:solidFill>
                <a:latin typeface="Arial" pitchFamily="34" charset="0"/>
                <a:ea typeface="Arial" pitchFamily="34" charset="-122"/>
                <a:cs typeface="Arial" pitchFamily="34" charset="-120"/>
              </a:rPr>
              <a:t>One country</a:t>
            </a:r>
            <a:endParaRPr lang="en-US" sz="1250" dirty="0"/>
          </a:p>
        </p:txBody>
      </p:sp>
      <p:sp>
        <p:nvSpPr>
          <p:cNvPr id="19" name="Shape 14"/>
          <p:cNvSpPr/>
          <p:nvPr/>
        </p:nvSpPr>
        <p:spPr>
          <a:xfrm>
            <a:off x="3547872" y="3813048"/>
            <a:ext cx="2286000" cy="475488"/>
          </a:xfrm>
          <a:prstGeom prst="roundRect">
            <a:avLst>
              <a:gd name="adj" fmla="val 50000"/>
            </a:avLst>
          </a:prstGeom>
          <a:solidFill>
            <a:srgbClr val="FFFFFF"/>
          </a:solidFill>
          <a:ln w="12700">
            <a:solidFill>
              <a:srgbClr val="287079"/>
            </a:solidFill>
            <a:prstDash val="solid"/>
          </a:ln>
        </p:spPr>
      </p:sp>
      <p:sp>
        <p:nvSpPr>
          <p:cNvPr id="20" name="Text 15"/>
          <p:cNvSpPr txBox="1"/>
          <p:nvPr/>
        </p:nvSpPr>
        <p:spPr>
          <a:xfrm>
            <a:off x="3547872" y="3813048"/>
            <a:ext cx="2286000" cy="475488"/>
          </a:xfrm>
          <a:prstGeom prst="rect">
            <a:avLst/>
          </a:prstGeom>
          <a:noFill/>
          <a:ln/>
        </p:spPr>
        <p:txBody>
          <a:bodyPr wrap="square" lIns="0" tIns="0" rIns="0" bIns="0" rtlCol="0" anchor="ctr"/>
          <a:lstStyle/>
          <a:p>
            <a:pPr algn="ctr" indent="0" marL="0">
              <a:buNone/>
            </a:pPr>
            <a:r>
              <a:rPr lang="en-US" sz="1250" b="1" dirty="0">
                <a:solidFill>
                  <a:srgbClr val="287079"/>
                </a:solidFill>
                <a:latin typeface="Arial" pitchFamily="34" charset="0"/>
                <a:ea typeface="Arial" pitchFamily="34" charset="-122"/>
                <a:cs typeface="Arial" pitchFamily="34" charset="-120"/>
              </a:rPr>
              <a:t>All countries</a:t>
            </a:r>
            <a:endParaRPr lang="en-US" sz="1250" dirty="0"/>
          </a:p>
        </p:txBody>
      </p:sp>
      <p:sp>
        <p:nvSpPr>
          <p:cNvPr id="21" name="Shape 16"/>
          <p:cNvSpPr/>
          <p:nvPr/>
        </p:nvSpPr>
        <p:spPr>
          <a:xfrm>
            <a:off x="6181344" y="1554480"/>
            <a:ext cx="2651760" cy="3429000"/>
          </a:xfrm>
          <a:prstGeom prst="roundRect">
            <a:avLst>
              <a:gd name="adj" fmla="val 2759"/>
            </a:avLst>
          </a:prstGeom>
          <a:solidFill>
            <a:srgbClr val="FFFFFF"/>
          </a:solidFill>
          <a:ln w="12700">
            <a:solidFill>
              <a:srgbClr val="D9DEE2"/>
            </a:solidFill>
            <a:prstDash val="solid"/>
          </a:ln>
        </p:spPr>
      </p:sp>
      <p:pic>
        <p:nvPicPr>
          <p:cNvPr id="22" name="Image 3" descr="/private/tmp/claude-501/-Users-salehhamed-Outcome-Engine/91861432-41e2-4884-bc97-63c6dff2d021/scratchpad/wk/icons/TbCurrencyPound-teal.png">    </p:cNvPr>
          <p:cNvPicPr>
            <a:picLocks noChangeAspect="1"/>
          </p:cNvPicPr>
          <p:nvPr/>
        </p:nvPicPr>
        <p:blipFill>
          <a:blip r:embed="rId6"/>
          <a:stretch>
            <a:fillRect/>
          </a:stretch>
        </p:blipFill>
        <p:spPr>
          <a:xfrm>
            <a:off x="6364224" y="1737360"/>
            <a:ext cx="640080" cy="640080"/>
          </a:xfrm>
          <a:prstGeom prst="rect">
            <a:avLst/>
          </a:prstGeom>
        </p:spPr>
      </p:pic>
      <p:sp>
        <p:nvSpPr>
          <p:cNvPr id="23" name="Text 17"/>
          <p:cNvSpPr txBox="1"/>
          <p:nvPr/>
        </p:nvSpPr>
        <p:spPr>
          <a:xfrm>
            <a:off x="6364224" y="2514600"/>
            <a:ext cx="2286000"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Which deals</a:t>
            </a:r>
            <a:endParaRPr lang="en-US" sz="1700" dirty="0"/>
          </a:p>
        </p:txBody>
      </p:sp>
      <p:sp>
        <p:nvSpPr>
          <p:cNvPr id="24" name="Shape 18"/>
          <p:cNvSpPr/>
          <p:nvPr/>
        </p:nvSpPr>
        <p:spPr>
          <a:xfrm>
            <a:off x="6364224" y="3154680"/>
            <a:ext cx="2286000" cy="475488"/>
          </a:xfrm>
          <a:prstGeom prst="roundRect">
            <a:avLst>
              <a:gd name="adj" fmla="val 50000"/>
            </a:avLst>
          </a:prstGeom>
          <a:solidFill>
            <a:srgbClr val="EEF6F7"/>
          </a:solidFill>
          <a:ln w="12700">
            <a:solidFill>
              <a:srgbClr val="287079"/>
            </a:solidFill>
            <a:prstDash val="solid"/>
          </a:ln>
        </p:spPr>
      </p:sp>
      <p:sp>
        <p:nvSpPr>
          <p:cNvPr id="25" name="Text 19"/>
          <p:cNvSpPr txBox="1"/>
          <p:nvPr/>
        </p:nvSpPr>
        <p:spPr>
          <a:xfrm>
            <a:off x="6364224" y="3154680"/>
            <a:ext cx="2286000" cy="475488"/>
          </a:xfrm>
          <a:prstGeom prst="rect">
            <a:avLst/>
          </a:prstGeom>
          <a:noFill/>
          <a:ln/>
        </p:spPr>
        <p:txBody>
          <a:bodyPr wrap="square" lIns="0" tIns="0" rIns="0" bIns="0" rtlCol="0" anchor="ctr"/>
          <a:lstStyle/>
          <a:p>
            <a:pPr algn="ctr" indent="0" marL="0">
              <a:buNone/>
            </a:pPr>
            <a:r>
              <a:rPr lang="en-US" sz="1250" b="1" dirty="0">
                <a:solidFill>
                  <a:srgbClr val="287079"/>
                </a:solidFill>
                <a:latin typeface="Arial" pitchFamily="34" charset="0"/>
                <a:ea typeface="Arial" pitchFamily="34" charset="-122"/>
                <a:cs typeface="Arial" pitchFamily="34" charset="-120"/>
              </a:rPr>
              <a:t>Over £1m</a:t>
            </a:r>
            <a:endParaRPr lang="en-US" sz="1250" dirty="0"/>
          </a:p>
        </p:txBody>
      </p:sp>
      <p:sp>
        <p:nvSpPr>
          <p:cNvPr id="26" name="Shape 20"/>
          <p:cNvSpPr/>
          <p:nvPr/>
        </p:nvSpPr>
        <p:spPr>
          <a:xfrm>
            <a:off x="6364224" y="3813048"/>
            <a:ext cx="2286000" cy="475488"/>
          </a:xfrm>
          <a:prstGeom prst="roundRect">
            <a:avLst>
              <a:gd name="adj" fmla="val 50000"/>
            </a:avLst>
          </a:prstGeom>
          <a:solidFill>
            <a:srgbClr val="FFFFFF"/>
          </a:solidFill>
          <a:ln w="12700">
            <a:solidFill>
              <a:srgbClr val="287079"/>
            </a:solidFill>
            <a:prstDash val="solid"/>
          </a:ln>
        </p:spPr>
      </p:sp>
      <p:sp>
        <p:nvSpPr>
          <p:cNvPr id="27" name="Text 21"/>
          <p:cNvSpPr txBox="1"/>
          <p:nvPr/>
        </p:nvSpPr>
        <p:spPr>
          <a:xfrm>
            <a:off x="6364224" y="3813048"/>
            <a:ext cx="2286000" cy="475488"/>
          </a:xfrm>
          <a:prstGeom prst="rect">
            <a:avLst/>
          </a:prstGeom>
          <a:noFill/>
          <a:ln/>
        </p:spPr>
        <p:txBody>
          <a:bodyPr wrap="square" lIns="0" tIns="0" rIns="0" bIns="0" rtlCol="0" anchor="ctr"/>
          <a:lstStyle/>
          <a:p>
            <a:pPr algn="ctr" indent="0" marL="0">
              <a:buNone/>
            </a:pPr>
            <a:r>
              <a:rPr lang="en-US" sz="1250" b="1" dirty="0">
                <a:solidFill>
                  <a:srgbClr val="287079"/>
                </a:solidFill>
                <a:latin typeface="Arial" pitchFamily="34" charset="0"/>
                <a:ea typeface="Arial" pitchFamily="34" charset="-122"/>
                <a:cs typeface="Arial" pitchFamily="34" charset="-120"/>
              </a:rPr>
              <a:t>All sizes</a:t>
            </a:r>
            <a:endParaRPr lang="en-US" sz="1250" dirty="0"/>
          </a:p>
        </p:txBody>
      </p:sp>
      <p:sp>
        <p:nvSpPr>
          <p:cNvPr id="28" name="Shape 22"/>
          <p:cNvSpPr/>
          <p:nvPr/>
        </p:nvSpPr>
        <p:spPr>
          <a:xfrm>
            <a:off x="8997696" y="1554480"/>
            <a:ext cx="2651760" cy="3429000"/>
          </a:xfrm>
          <a:prstGeom prst="roundRect">
            <a:avLst>
              <a:gd name="adj" fmla="val 2759"/>
            </a:avLst>
          </a:prstGeom>
          <a:solidFill>
            <a:srgbClr val="FFFFFF"/>
          </a:solidFill>
          <a:ln w="12700">
            <a:solidFill>
              <a:srgbClr val="D9DEE2"/>
            </a:solidFill>
            <a:prstDash val="solid"/>
          </a:ln>
        </p:spPr>
      </p:sp>
      <p:pic>
        <p:nvPicPr>
          <p:cNvPr id="29" name="Image 4" descr="/private/tmp/claude-501/-Users-salehhamed-Outcome-Engine/91861432-41e2-4884-bc97-63c6dff2d021/scratchpad/wk/icons/TbUserCheck-teal.png">    </p:cNvPr>
          <p:cNvPicPr>
            <a:picLocks noChangeAspect="1"/>
          </p:cNvPicPr>
          <p:nvPr/>
        </p:nvPicPr>
        <p:blipFill>
          <a:blip r:embed="rId7"/>
          <a:stretch>
            <a:fillRect/>
          </a:stretch>
        </p:blipFill>
        <p:spPr>
          <a:xfrm>
            <a:off x="9180576" y="1737360"/>
            <a:ext cx="640080" cy="640080"/>
          </a:xfrm>
          <a:prstGeom prst="rect">
            <a:avLst/>
          </a:prstGeom>
        </p:spPr>
      </p:pic>
      <p:sp>
        <p:nvSpPr>
          <p:cNvPr id="30" name="Text 23"/>
          <p:cNvSpPr txBox="1"/>
          <p:nvPr/>
        </p:nvSpPr>
        <p:spPr>
          <a:xfrm>
            <a:off x="9180576" y="2514600"/>
            <a:ext cx="2286000"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Which decisions</a:t>
            </a:r>
            <a:endParaRPr lang="en-US" sz="1700" dirty="0"/>
          </a:p>
        </p:txBody>
      </p:sp>
      <p:sp>
        <p:nvSpPr>
          <p:cNvPr id="31" name="Shape 24"/>
          <p:cNvSpPr/>
          <p:nvPr/>
        </p:nvSpPr>
        <p:spPr>
          <a:xfrm>
            <a:off x="9180576" y="3154680"/>
            <a:ext cx="2286000" cy="475488"/>
          </a:xfrm>
          <a:prstGeom prst="roundRect">
            <a:avLst>
              <a:gd name="adj" fmla="val 50000"/>
            </a:avLst>
          </a:prstGeom>
          <a:solidFill>
            <a:srgbClr val="EEF6F7"/>
          </a:solidFill>
          <a:ln w="12700">
            <a:solidFill>
              <a:srgbClr val="287079"/>
            </a:solidFill>
            <a:prstDash val="solid"/>
          </a:ln>
        </p:spPr>
      </p:sp>
      <p:sp>
        <p:nvSpPr>
          <p:cNvPr id="32" name="Text 25"/>
          <p:cNvSpPr txBox="1"/>
          <p:nvPr/>
        </p:nvSpPr>
        <p:spPr>
          <a:xfrm>
            <a:off x="9180576" y="3154680"/>
            <a:ext cx="2286000" cy="475488"/>
          </a:xfrm>
          <a:prstGeom prst="rect">
            <a:avLst/>
          </a:prstGeom>
          <a:noFill/>
          <a:ln/>
        </p:spPr>
        <p:txBody>
          <a:bodyPr wrap="square" lIns="0" tIns="0" rIns="0" bIns="0" rtlCol="0" anchor="ctr"/>
          <a:lstStyle/>
          <a:p>
            <a:pPr algn="ctr" indent="0" marL="0">
              <a:buNone/>
            </a:pPr>
            <a:r>
              <a:rPr lang="en-US" sz="1250" b="1" dirty="0">
                <a:solidFill>
                  <a:srgbClr val="287079"/>
                </a:solidFill>
                <a:latin typeface="Arial" pitchFamily="34" charset="0"/>
                <a:ea typeface="Arial" pitchFamily="34" charset="-122"/>
                <a:cs typeface="Arial" pitchFamily="34" charset="-120"/>
              </a:rPr>
              <a:t>Free, release, real gap</a:t>
            </a:r>
            <a:endParaRPr lang="en-US" sz="1250" dirty="0"/>
          </a:p>
        </p:txBody>
      </p:sp>
      <p:sp>
        <p:nvSpPr>
          <p:cNvPr id="33" name="Shape 26"/>
          <p:cNvSpPr/>
          <p:nvPr/>
        </p:nvSpPr>
        <p:spPr>
          <a:xfrm>
            <a:off x="9180576" y="3813048"/>
            <a:ext cx="2286000" cy="475488"/>
          </a:xfrm>
          <a:prstGeom prst="roundRect">
            <a:avLst>
              <a:gd name="adj" fmla="val 50000"/>
            </a:avLst>
          </a:prstGeom>
          <a:solidFill>
            <a:srgbClr val="FFFFFF"/>
          </a:solidFill>
          <a:ln w="12700">
            <a:solidFill>
              <a:srgbClr val="287079"/>
            </a:solidFill>
            <a:prstDash val="solid"/>
          </a:ln>
        </p:spPr>
      </p:sp>
      <p:sp>
        <p:nvSpPr>
          <p:cNvPr id="34" name="Text 27"/>
          <p:cNvSpPr txBox="1"/>
          <p:nvPr/>
        </p:nvSpPr>
        <p:spPr>
          <a:xfrm>
            <a:off x="9180576" y="3813048"/>
            <a:ext cx="2286000" cy="475488"/>
          </a:xfrm>
          <a:prstGeom prst="rect">
            <a:avLst/>
          </a:prstGeom>
          <a:noFill/>
          <a:ln/>
        </p:spPr>
        <p:txBody>
          <a:bodyPr wrap="square" lIns="0" tIns="0" rIns="0" bIns="0" rtlCol="0" anchor="ctr"/>
          <a:lstStyle/>
          <a:p>
            <a:pPr algn="ctr" indent="0" marL="0">
              <a:buNone/>
            </a:pPr>
            <a:r>
              <a:rPr lang="en-US" sz="1250" b="1" dirty="0">
                <a:solidFill>
                  <a:srgbClr val="287079"/>
                </a:solidFill>
                <a:latin typeface="Arial" pitchFamily="34" charset="0"/>
                <a:ea typeface="Arial" pitchFamily="34" charset="-122"/>
                <a:cs typeface="Arial" pitchFamily="34" charset="-120"/>
              </a:rPr>
              <a:t>All six</a:t>
            </a:r>
            <a:endParaRPr lang="en-US" sz="1250" dirty="0"/>
          </a:p>
        </p:txBody>
      </p:sp>
      <p:sp>
        <p:nvSpPr>
          <p:cNvPr id="35" name="Shape 28"/>
          <p:cNvSpPr/>
          <p:nvPr/>
        </p:nvSpPr>
        <p:spPr>
          <a:xfrm>
            <a:off x="548640" y="5257800"/>
            <a:ext cx="11091672" cy="777240"/>
          </a:xfrm>
          <a:prstGeom prst="roundRect">
            <a:avLst>
              <a:gd name="adj" fmla="val 9412"/>
            </a:avLst>
          </a:prstGeom>
          <a:solidFill>
            <a:srgbClr val="FFF0EC"/>
          </a:solidFill>
          <a:ln/>
        </p:spPr>
      </p:sp>
      <p:sp>
        <p:nvSpPr>
          <p:cNvPr id="36" name="Text 29"/>
          <p:cNvSpPr txBox="1"/>
          <p:nvPr/>
        </p:nvSpPr>
        <p:spPr>
          <a:xfrm>
            <a:off x="868680" y="5257800"/>
            <a:ext cx="10515600" cy="777240"/>
          </a:xfrm>
          <a:prstGeom prst="rect">
            <a:avLst/>
          </a:prstGeom>
          <a:noFill/>
          <a:ln/>
        </p:spPr>
        <p:txBody>
          <a:bodyPr wrap="square" lIns="0" tIns="0" rIns="0" bIns="0" rtlCol="0" anchor="ctr"/>
          <a:lstStyle/>
          <a:p>
            <a:pPr indent="0" marL="0">
              <a:buNone/>
            </a:pPr>
            <a:r>
              <a:rPr lang="en-US" sz="1800" b="1" dirty="0">
                <a:solidFill>
                  <a:srgbClr val="FF462D"/>
                </a:solidFill>
                <a:latin typeface="Arial" pitchFamily="34" charset="0"/>
                <a:ea typeface="Arial" pitchFamily="34" charset="-122"/>
                <a:cs typeface="Arial" pitchFamily="34" charset="-120"/>
              </a:rPr>
              <a:t>Test: could ten people run it by hand for a month?</a:t>
            </a:r>
            <a:endParaRPr lang="en-US" sz="18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AGREED WITH FINANCE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Measures that matter</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13:45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178</a:t>
            </a:r>
            <a:endParaRPr lang="en-US" sz="1000" dirty="0"/>
          </a:p>
        </p:txBody>
      </p:sp>
      <p:sp>
        <p:nvSpPr>
          <p:cNvPr id="7" name="Shape 4"/>
          <p:cNvSpPr/>
          <p:nvPr/>
        </p:nvSpPr>
        <p:spPr>
          <a:xfrm>
            <a:off x="548640" y="1508760"/>
            <a:ext cx="3566160" cy="1828800"/>
          </a:xfrm>
          <a:prstGeom prst="roundRect">
            <a:avLst>
              <a:gd name="adj" fmla="val 4000"/>
            </a:avLst>
          </a:prstGeom>
          <a:solidFill>
            <a:srgbClr val="FFFFFF"/>
          </a:solidFill>
          <a:ln w="12700">
            <a:solidFill>
              <a:srgbClr val="D9DEE2"/>
            </a:solidFill>
            <a:prstDash val="solid"/>
          </a:ln>
        </p:spPr>
      </p:sp>
      <p:pic>
        <p:nvPicPr>
          <p:cNvPr id="8" name="Image 1" descr="/private/tmp/claude-501/-Users-salehhamed-Outcome-Engine/91861432-41e2-4884-bc97-63c6dff2d021/scratchpad/wk/icons/TbClock-teal.png">    </p:cNvPr>
          <p:cNvPicPr>
            <a:picLocks noChangeAspect="1"/>
          </p:cNvPicPr>
          <p:nvPr/>
        </p:nvPicPr>
        <p:blipFill>
          <a:blip r:embed="rId4"/>
          <a:stretch>
            <a:fillRect/>
          </a:stretch>
        </p:blipFill>
        <p:spPr>
          <a:xfrm>
            <a:off x="731520" y="1691640"/>
            <a:ext cx="566928" cy="566928"/>
          </a:xfrm>
          <a:prstGeom prst="rect">
            <a:avLst/>
          </a:prstGeom>
        </p:spPr>
      </p:pic>
      <p:sp>
        <p:nvSpPr>
          <p:cNvPr id="9" name="Text 5"/>
          <p:cNvSpPr txBox="1"/>
          <p:nvPr/>
        </p:nvSpPr>
        <p:spPr>
          <a:xfrm>
            <a:off x="1417320" y="1645920"/>
            <a:ext cx="2560320" cy="6858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Days from deal to staffed plan</a:t>
            </a:r>
            <a:endParaRPr lang="en-US" sz="1500" dirty="0"/>
          </a:p>
        </p:txBody>
      </p:sp>
      <p:sp>
        <p:nvSpPr>
          <p:cNvPr id="10" name="Text 6"/>
          <p:cNvSpPr txBox="1"/>
          <p:nvPr/>
        </p:nvSpPr>
        <p:spPr>
          <a:xfrm>
            <a:off x="731520" y="2423160"/>
            <a:ext cx="3200400" cy="822960"/>
          </a:xfrm>
          <a:prstGeom prst="rect">
            <a:avLst/>
          </a:prstGeom>
          <a:noFill/>
          <a:ln/>
        </p:spPr>
        <p:txBody>
          <a:bodyPr wrap="square" lIns="0" tIns="0" rIns="0" bIns="0" rtlCol="0" anchor="t"/>
          <a:lstStyle/>
          <a:p>
            <a:pPr indent="0" marL="0">
              <a:buNone/>
            </a:pPr>
            <a:r>
              <a:rPr lang="en-US" sz="1250" dirty="0">
                <a:solidFill>
                  <a:srgbClr val="5A5A5A"/>
                </a:solidFill>
                <a:latin typeface="Arial" pitchFamily="34" charset="0"/>
                <a:ea typeface="Arial" pitchFamily="34" charset="-122"/>
                <a:cs typeface="Arial" pitchFamily="34" charset="-120"/>
              </a:rPr>
              <a:t>How long until every role is held or a declared gap.</a:t>
            </a:r>
            <a:endParaRPr lang="en-US" sz="1250" dirty="0"/>
          </a:p>
        </p:txBody>
      </p:sp>
      <p:sp>
        <p:nvSpPr>
          <p:cNvPr id="11" name="Shape 7"/>
          <p:cNvSpPr/>
          <p:nvPr/>
        </p:nvSpPr>
        <p:spPr>
          <a:xfrm>
            <a:off x="4297680" y="1508760"/>
            <a:ext cx="3566160" cy="1828800"/>
          </a:xfrm>
          <a:prstGeom prst="roundRect">
            <a:avLst>
              <a:gd name="adj" fmla="val 4000"/>
            </a:avLst>
          </a:prstGeom>
          <a:solidFill>
            <a:srgbClr val="FFFFFF"/>
          </a:solidFill>
          <a:ln w="12700">
            <a:solidFill>
              <a:srgbClr val="D9DEE2"/>
            </a:solidFill>
            <a:prstDash val="solid"/>
          </a:ln>
        </p:spPr>
      </p:sp>
      <p:pic>
        <p:nvPicPr>
          <p:cNvPr id="12" name="Image 2" descr="/private/tmp/claude-501/-Users-salehhamed-Outcome-Engine/91861432-41e2-4884-bc97-63c6dff2d021/scratchpad/wk/icons/TbSignature-teal.png">    </p:cNvPr>
          <p:cNvPicPr>
            <a:picLocks noChangeAspect="1"/>
          </p:cNvPicPr>
          <p:nvPr/>
        </p:nvPicPr>
        <p:blipFill>
          <a:blip r:embed="rId5"/>
          <a:stretch>
            <a:fillRect/>
          </a:stretch>
        </p:blipFill>
        <p:spPr>
          <a:xfrm>
            <a:off x="4480560" y="1691640"/>
            <a:ext cx="566928" cy="566928"/>
          </a:xfrm>
          <a:prstGeom prst="rect">
            <a:avLst/>
          </a:prstGeom>
        </p:spPr>
      </p:pic>
      <p:sp>
        <p:nvSpPr>
          <p:cNvPr id="13" name="Text 8"/>
          <p:cNvSpPr txBox="1"/>
          <p:nvPr/>
        </p:nvSpPr>
        <p:spPr>
          <a:xfrm>
            <a:off x="5166360" y="1645920"/>
            <a:ext cx="2560320" cy="6858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Deals signed with an approved plan</a:t>
            </a:r>
            <a:endParaRPr lang="en-US" sz="1500" dirty="0"/>
          </a:p>
        </p:txBody>
      </p:sp>
      <p:sp>
        <p:nvSpPr>
          <p:cNvPr id="14" name="Text 9"/>
          <p:cNvSpPr txBox="1"/>
          <p:nvPr/>
        </p:nvSpPr>
        <p:spPr>
          <a:xfrm>
            <a:off x="4480560" y="2423160"/>
            <a:ext cx="3200400" cy="822960"/>
          </a:xfrm>
          <a:prstGeom prst="rect">
            <a:avLst/>
          </a:prstGeom>
          <a:noFill/>
          <a:ln/>
        </p:spPr>
        <p:txBody>
          <a:bodyPr wrap="square" lIns="0" tIns="0" rIns="0" bIns="0" rtlCol="0" anchor="t"/>
          <a:lstStyle/>
          <a:p>
            <a:pPr indent="0" marL="0">
              <a:buNone/>
            </a:pPr>
            <a:r>
              <a:rPr lang="en-US" sz="1250" dirty="0">
                <a:solidFill>
                  <a:srgbClr val="5A5A5A"/>
                </a:solidFill>
                <a:latin typeface="Arial" pitchFamily="34" charset="0"/>
                <a:ea typeface="Arial" pitchFamily="34" charset="-122"/>
                <a:cs typeface="Arial" pitchFamily="34" charset="-120"/>
              </a:rPr>
              <a:t>Share of signatures with the plan approved first.</a:t>
            </a:r>
            <a:endParaRPr lang="en-US" sz="1250" dirty="0"/>
          </a:p>
        </p:txBody>
      </p:sp>
      <p:sp>
        <p:nvSpPr>
          <p:cNvPr id="15" name="Shape 10"/>
          <p:cNvSpPr/>
          <p:nvPr/>
        </p:nvSpPr>
        <p:spPr>
          <a:xfrm>
            <a:off x="8046720" y="1508760"/>
            <a:ext cx="3566160" cy="1828800"/>
          </a:xfrm>
          <a:prstGeom prst="roundRect">
            <a:avLst>
              <a:gd name="adj" fmla="val 4000"/>
            </a:avLst>
          </a:prstGeom>
          <a:solidFill>
            <a:srgbClr val="FFFFFF"/>
          </a:solidFill>
          <a:ln w="12700">
            <a:solidFill>
              <a:srgbClr val="D9DEE2"/>
            </a:solidFill>
            <a:prstDash val="solid"/>
          </a:ln>
        </p:spPr>
      </p:sp>
      <p:pic>
        <p:nvPicPr>
          <p:cNvPr id="16" name="Image 3" descr="/private/tmp/claude-501/-Users-salehhamed-Outcome-Engine/91861432-41e2-4884-bc97-63c6dff2d021/scratchpad/wk/icons/TbUserCheck-teal.png">    </p:cNvPr>
          <p:cNvPicPr>
            <a:picLocks noChangeAspect="1"/>
          </p:cNvPicPr>
          <p:nvPr/>
        </p:nvPicPr>
        <p:blipFill>
          <a:blip r:embed="rId6"/>
          <a:stretch>
            <a:fillRect/>
          </a:stretch>
        </p:blipFill>
        <p:spPr>
          <a:xfrm>
            <a:off x="8229600" y="1691640"/>
            <a:ext cx="566928" cy="566928"/>
          </a:xfrm>
          <a:prstGeom prst="rect">
            <a:avLst/>
          </a:prstGeom>
        </p:spPr>
      </p:pic>
      <p:sp>
        <p:nvSpPr>
          <p:cNvPr id="17" name="Text 11"/>
          <p:cNvSpPr txBox="1"/>
          <p:nvPr/>
        </p:nvSpPr>
        <p:spPr>
          <a:xfrm>
            <a:off x="8915400" y="1645920"/>
            <a:ext cx="2560320" cy="6858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Hiring requests later filled inside</a:t>
            </a:r>
            <a:endParaRPr lang="en-US" sz="1500" dirty="0"/>
          </a:p>
        </p:txBody>
      </p:sp>
      <p:sp>
        <p:nvSpPr>
          <p:cNvPr id="18" name="Text 12"/>
          <p:cNvSpPr txBox="1"/>
          <p:nvPr/>
        </p:nvSpPr>
        <p:spPr>
          <a:xfrm>
            <a:off x="8229600" y="2423160"/>
            <a:ext cx="3200400" cy="822960"/>
          </a:xfrm>
          <a:prstGeom prst="rect">
            <a:avLst/>
          </a:prstGeom>
          <a:noFill/>
          <a:ln/>
        </p:spPr>
        <p:txBody>
          <a:bodyPr wrap="square" lIns="0" tIns="0" rIns="0" bIns="0" rtlCol="0" anchor="t"/>
          <a:lstStyle/>
          <a:p>
            <a:pPr indent="0" marL="0">
              <a:buNone/>
            </a:pPr>
            <a:r>
              <a:rPr lang="en-US" sz="1250" dirty="0">
                <a:solidFill>
                  <a:srgbClr val="5A5A5A"/>
                </a:solidFill>
                <a:latin typeface="Arial" pitchFamily="34" charset="0"/>
                <a:ea typeface="Arial" pitchFamily="34" charset="-122"/>
                <a:cs typeface="Arial" pitchFamily="34" charset="-120"/>
              </a:rPr>
              <a:t>False gaps: hires requested, then filled internally.</a:t>
            </a:r>
            <a:endParaRPr lang="en-US" sz="1250" dirty="0"/>
          </a:p>
        </p:txBody>
      </p:sp>
      <p:sp>
        <p:nvSpPr>
          <p:cNvPr id="19" name="Shape 13"/>
          <p:cNvSpPr/>
          <p:nvPr/>
        </p:nvSpPr>
        <p:spPr>
          <a:xfrm>
            <a:off x="548640" y="3520440"/>
            <a:ext cx="3566160" cy="1828800"/>
          </a:xfrm>
          <a:prstGeom prst="roundRect">
            <a:avLst>
              <a:gd name="adj" fmla="val 4000"/>
            </a:avLst>
          </a:prstGeom>
          <a:solidFill>
            <a:srgbClr val="FFFFFF"/>
          </a:solidFill>
          <a:ln w="12700">
            <a:solidFill>
              <a:srgbClr val="D9DEE2"/>
            </a:solidFill>
            <a:prstDash val="solid"/>
          </a:ln>
        </p:spPr>
      </p:sp>
      <p:pic>
        <p:nvPicPr>
          <p:cNvPr id="20" name="Image 4" descr="/private/tmp/claude-501/-Users-salehhamed-Outcome-Engine/91861432-41e2-4884-bc97-63c6dff2d021/scratchpad/wk/icons/TbUserQuestion-teal.png">    </p:cNvPr>
          <p:cNvPicPr>
            <a:picLocks noChangeAspect="1"/>
          </p:cNvPicPr>
          <p:nvPr/>
        </p:nvPicPr>
        <p:blipFill>
          <a:blip r:embed="rId7"/>
          <a:stretch>
            <a:fillRect/>
          </a:stretch>
        </p:blipFill>
        <p:spPr>
          <a:xfrm>
            <a:off x="731520" y="3703320"/>
            <a:ext cx="566928" cy="566928"/>
          </a:xfrm>
          <a:prstGeom prst="rect">
            <a:avLst/>
          </a:prstGeom>
        </p:spPr>
      </p:pic>
      <p:sp>
        <p:nvSpPr>
          <p:cNvPr id="21" name="Text 14"/>
          <p:cNvSpPr txBox="1"/>
          <p:nvPr/>
        </p:nvSpPr>
        <p:spPr>
          <a:xfrm>
            <a:off x="1417320" y="3657600"/>
            <a:ext cx="2560320" cy="6858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Gaps with an owner within days</a:t>
            </a:r>
            <a:endParaRPr lang="en-US" sz="1500" dirty="0"/>
          </a:p>
        </p:txBody>
      </p:sp>
      <p:sp>
        <p:nvSpPr>
          <p:cNvPr id="22" name="Text 15"/>
          <p:cNvSpPr txBox="1"/>
          <p:nvPr/>
        </p:nvSpPr>
        <p:spPr>
          <a:xfrm>
            <a:off x="731520" y="4434840"/>
            <a:ext cx="3200400" cy="822960"/>
          </a:xfrm>
          <a:prstGeom prst="rect">
            <a:avLst/>
          </a:prstGeom>
          <a:noFill/>
          <a:ln/>
        </p:spPr>
        <p:txBody>
          <a:bodyPr wrap="square" lIns="0" tIns="0" rIns="0" bIns="0" rtlCol="0" anchor="t"/>
          <a:lstStyle/>
          <a:p>
            <a:pPr indent="0" marL="0">
              <a:buNone/>
            </a:pPr>
            <a:r>
              <a:rPr lang="en-US" sz="1250" dirty="0">
                <a:solidFill>
                  <a:srgbClr val="5A5A5A"/>
                </a:solidFill>
                <a:latin typeface="Arial" pitchFamily="34" charset="0"/>
                <a:ea typeface="Arial" pitchFamily="34" charset="-122"/>
                <a:cs typeface="Arial" pitchFamily="34" charset="-120"/>
              </a:rPr>
              <a:t>How fast a confirmed gap gets an owner and a path.</a:t>
            </a:r>
            <a:endParaRPr lang="en-US" sz="1250" dirty="0"/>
          </a:p>
        </p:txBody>
      </p:sp>
      <p:sp>
        <p:nvSpPr>
          <p:cNvPr id="23" name="Shape 16"/>
          <p:cNvSpPr/>
          <p:nvPr/>
        </p:nvSpPr>
        <p:spPr>
          <a:xfrm>
            <a:off x="4297680" y="3520440"/>
            <a:ext cx="3566160" cy="1828800"/>
          </a:xfrm>
          <a:prstGeom prst="roundRect">
            <a:avLst>
              <a:gd name="adj" fmla="val 4000"/>
            </a:avLst>
          </a:prstGeom>
          <a:solidFill>
            <a:srgbClr val="FFFFFF"/>
          </a:solidFill>
          <a:ln w="12700">
            <a:solidFill>
              <a:srgbClr val="D9DEE2"/>
            </a:solidFill>
            <a:prstDash val="solid"/>
          </a:ln>
        </p:spPr>
      </p:sp>
      <p:pic>
        <p:nvPicPr>
          <p:cNvPr id="24" name="Image 5" descr="/private/tmp/claude-501/-Users-salehhamed-Outcome-Engine/91861432-41e2-4884-bc97-63c6dff2d021/scratchpad/wk/icons/TbHourglass-teal.png">    </p:cNvPr>
          <p:cNvPicPr>
            <a:picLocks noChangeAspect="1"/>
          </p:cNvPicPr>
          <p:nvPr/>
        </p:nvPicPr>
        <p:blipFill>
          <a:blip r:embed="rId8"/>
          <a:stretch>
            <a:fillRect/>
          </a:stretch>
        </p:blipFill>
        <p:spPr>
          <a:xfrm>
            <a:off x="4480560" y="3703320"/>
            <a:ext cx="566928" cy="566928"/>
          </a:xfrm>
          <a:prstGeom prst="rect">
            <a:avLst/>
          </a:prstGeom>
        </p:spPr>
      </p:pic>
      <p:sp>
        <p:nvSpPr>
          <p:cNvPr id="25" name="Text 17"/>
          <p:cNvSpPr txBox="1"/>
          <p:nvPr/>
        </p:nvSpPr>
        <p:spPr>
          <a:xfrm>
            <a:off x="5166360" y="3657600"/>
            <a:ext cx="2560320" cy="6858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Decisions answered on time</a:t>
            </a:r>
            <a:endParaRPr lang="en-US" sz="1500" dirty="0"/>
          </a:p>
        </p:txBody>
      </p:sp>
      <p:sp>
        <p:nvSpPr>
          <p:cNvPr id="26" name="Text 18"/>
          <p:cNvSpPr txBox="1"/>
          <p:nvPr/>
        </p:nvSpPr>
        <p:spPr>
          <a:xfrm>
            <a:off x="4480560" y="4434840"/>
            <a:ext cx="3200400" cy="822960"/>
          </a:xfrm>
          <a:prstGeom prst="rect">
            <a:avLst/>
          </a:prstGeom>
          <a:noFill/>
          <a:ln/>
        </p:spPr>
        <p:txBody>
          <a:bodyPr wrap="square" lIns="0" tIns="0" rIns="0" bIns="0" rtlCol="0" anchor="t"/>
          <a:lstStyle/>
          <a:p>
            <a:pPr indent="0" marL="0">
              <a:buNone/>
            </a:pPr>
            <a:r>
              <a:rPr lang="en-US" sz="1250" dirty="0">
                <a:solidFill>
                  <a:srgbClr val="5A5A5A"/>
                </a:solidFill>
                <a:latin typeface="Arial" pitchFamily="34" charset="0"/>
                <a:ea typeface="Arial" pitchFamily="34" charset="-122"/>
                <a:cs typeface="Arial" pitchFamily="34" charset="-120"/>
              </a:rPr>
              <a:t>Share of decisions made before their deadline.</a:t>
            </a:r>
            <a:endParaRPr lang="en-US" sz="1250" dirty="0"/>
          </a:p>
        </p:txBody>
      </p:sp>
      <p:sp>
        <p:nvSpPr>
          <p:cNvPr id="27" name="Shape 19"/>
          <p:cNvSpPr/>
          <p:nvPr/>
        </p:nvSpPr>
        <p:spPr>
          <a:xfrm>
            <a:off x="8046720" y="3520440"/>
            <a:ext cx="3566160" cy="1828800"/>
          </a:xfrm>
          <a:prstGeom prst="roundRect">
            <a:avLst>
              <a:gd name="adj" fmla="val 4000"/>
            </a:avLst>
          </a:prstGeom>
          <a:solidFill>
            <a:srgbClr val="FFFFFF"/>
          </a:solidFill>
          <a:ln w="12700">
            <a:solidFill>
              <a:srgbClr val="D9DEE2"/>
            </a:solidFill>
            <a:prstDash val="solid"/>
          </a:ln>
        </p:spPr>
      </p:sp>
      <p:pic>
        <p:nvPicPr>
          <p:cNvPr id="28" name="Image 6" descr="/private/tmp/claude-501/-Users-salehhamed-Outcome-Engine/91861432-41e2-4884-bc97-63c6dff2d021/scratchpad/wk/icons/TbStairsUp-teal.png">    </p:cNvPr>
          <p:cNvPicPr>
            <a:picLocks noChangeAspect="1"/>
          </p:cNvPicPr>
          <p:nvPr/>
        </p:nvPicPr>
        <p:blipFill>
          <a:blip r:embed="rId9"/>
          <a:stretch>
            <a:fillRect/>
          </a:stretch>
        </p:blipFill>
        <p:spPr>
          <a:xfrm>
            <a:off x="8229600" y="3703320"/>
            <a:ext cx="566928" cy="566928"/>
          </a:xfrm>
          <a:prstGeom prst="rect">
            <a:avLst/>
          </a:prstGeom>
        </p:spPr>
      </p:pic>
      <p:sp>
        <p:nvSpPr>
          <p:cNvPr id="29" name="Text 20"/>
          <p:cNvSpPr txBox="1"/>
          <p:nvPr/>
        </p:nvSpPr>
        <p:spPr>
          <a:xfrm>
            <a:off x="8915400" y="3657600"/>
            <a:ext cx="2560320" cy="6858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People at the top of their license</a:t>
            </a:r>
            <a:endParaRPr lang="en-US" sz="1500" dirty="0"/>
          </a:p>
        </p:txBody>
      </p:sp>
      <p:sp>
        <p:nvSpPr>
          <p:cNvPr id="30" name="Text 21"/>
          <p:cNvSpPr txBox="1"/>
          <p:nvPr/>
        </p:nvSpPr>
        <p:spPr>
          <a:xfrm>
            <a:off x="8229600" y="4434840"/>
            <a:ext cx="3200400" cy="822960"/>
          </a:xfrm>
          <a:prstGeom prst="rect">
            <a:avLst/>
          </a:prstGeom>
          <a:noFill/>
          <a:ln/>
        </p:spPr>
        <p:txBody>
          <a:bodyPr wrap="square" lIns="0" tIns="0" rIns="0" bIns="0" rtlCol="0" anchor="t"/>
          <a:lstStyle/>
          <a:p>
            <a:pPr indent="0" marL="0">
              <a:buNone/>
            </a:pPr>
            <a:r>
              <a:rPr lang="en-US" sz="1250" dirty="0">
                <a:solidFill>
                  <a:srgbClr val="5A5A5A"/>
                </a:solidFill>
                <a:latin typeface="Arial" pitchFamily="34" charset="0"/>
                <a:ea typeface="Arial" pitchFamily="34" charset="-122"/>
                <a:cs typeface="Arial" pitchFamily="34" charset="-120"/>
              </a:rPr>
              <a:t>Share working at the level they are qualified for.</a:t>
            </a:r>
            <a:endParaRPr lang="en-US" sz="1250" dirty="0"/>
          </a:p>
        </p:txBody>
      </p:sp>
      <p:sp>
        <p:nvSpPr>
          <p:cNvPr id="31" name="Shape 22"/>
          <p:cNvSpPr/>
          <p:nvPr/>
        </p:nvSpPr>
        <p:spPr>
          <a:xfrm>
            <a:off x="548640" y="5532120"/>
            <a:ext cx="11091672" cy="594360"/>
          </a:xfrm>
          <a:prstGeom prst="roundRect">
            <a:avLst>
              <a:gd name="adj" fmla="val 12308"/>
            </a:avLst>
          </a:prstGeom>
          <a:solidFill>
            <a:srgbClr val="FDF3E1"/>
          </a:solidFill>
          <a:ln/>
        </p:spPr>
      </p:sp>
      <p:sp>
        <p:nvSpPr>
          <p:cNvPr id="32" name="Text 23"/>
          <p:cNvSpPr txBox="1"/>
          <p:nvPr/>
        </p:nvSpPr>
        <p:spPr>
          <a:xfrm>
            <a:off x="822960" y="5532120"/>
            <a:ext cx="10515600" cy="594360"/>
          </a:xfrm>
          <a:prstGeom prst="rect">
            <a:avLst/>
          </a:prstGeom>
          <a:noFill/>
          <a:ln/>
        </p:spPr>
        <p:txBody>
          <a:bodyPr wrap="square" lIns="0" tIns="0" rIns="0" bIns="0" rtlCol="0" anchor="ctr"/>
          <a:lstStyle/>
          <a:p>
            <a:pPr indent="0" marL="0">
              <a:buNone/>
            </a:pPr>
            <a:r>
              <a:rPr lang="en-US" sz="1550" b="1" dirty="0">
                <a:solidFill>
                  <a:srgbClr val="C98A1A"/>
                </a:solidFill>
                <a:latin typeface="Arial" pitchFamily="34" charset="0"/>
                <a:ea typeface="Arial" pitchFamily="34" charset="-122"/>
                <a:cs typeface="Arial" pitchFamily="34" charset="-120"/>
              </a:rPr>
              <a:t>None of these is measured today. The first weeks measure the baseline.</a:t>
            </a:r>
            <a:endParaRPr lang="en-US" sz="155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SHAPE WHAT HAPPENS NEXT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What the first slice depends 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13:45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179</a:t>
            </a:r>
            <a:endParaRPr lang="en-US" sz="1000" dirty="0"/>
          </a:p>
        </p:txBody>
      </p:sp>
      <p:sp>
        <p:nvSpPr>
          <p:cNvPr id="7" name="Shape 4"/>
          <p:cNvSpPr/>
          <p:nvPr/>
        </p:nvSpPr>
        <p:spPr>
          <a:xfrm>
            <a:off x="548640" y="1600200"/>
            <a:ext cx="2651760" cy="3931920"/>
          </a:xfrm>
          <a:prstGeom prst="roundRect">
            <a:avLst>
              <a:gd name="adj" fmla="val 2759"/>
            </a:avLst>
          </a:prstGeom>
          <a:solidFill>
            <a:srgbClr val="FFFFFF"/>
          </a:solidFill>
          <a:ln w="12700">
            <a:solidFill>
              <a:srgbClr val="D9DEE2"/>
            </a:solidFill>
            <a:prstDash val="solid"/>
          </a:ln>
        </p:spPr>
      </p:sp>
      <p:sp>
        <p:nvSpPr>
          <p:cNvPr id="8" name="Shape 5"/>
          <p:cNvSpPr/>
          <p:nvPr/>
        </p:nvSpPr>
        <p:spPr>
          <a:xfrm>
            <a:off x="1417320" y="1828800"/>
            <a:ext cx="914400" cy="914400"/>
          </a:xfrm>
          <a:prstGeom prst="ellipse">
            <a:avLst/>
          </a:prstGeom>
          <a:solidFill>
            <a:srgbClr val="287079"/>
          </a:solidFill>
          <a:ln/>
        </p:spPr>
      </p:sp>
      <p:pic>
        <p:nvPicPr>
          <p:cNvPr id="9" name="Image 1" descr="/private/tmp/claude-501/-Users-salehhamed-Outcome-Engine/91861432-41e2-4884-bc97-63c6dff2d021/scratchpad/wk/icons/TbKey-white.png">    </p:cNvPr>
          <p:cNvPicPr>
            <a:picLocks noChangeAspect="1"/>
          </p:cNvPicPr>
          <p:nvPr/>
        </p:nvPicPr>
        <p:blipFill>
          <a:blip r:embed="rId4"/>
          <a:stretch>
            <a:fillRect/>
          </a:stretch>
        </p:blipFill>
        <p:spPr>
          <a:xfrm>
            <a:off x="1600200" y="2011680"/>
            <a:ext cx="548640" cy="548640"/>
          </a:xfrm>
          <a:prstGeom prst="rect">
            <a:avLst/>
          </a:prstGeom>
        </p:spPr>
      </p:pic>
      <p:sp>
        <p:nvSpPr>
          <p:cNvPr id="10" name="Text 6"/>
          <p:cNvSpPr txBox="1"/>
          <p:nvPr/>
        </p:nvSpPr>
        <p:spPr>
          <a:xfrm>
            <a:off x="685800" y="2926080"/>
            <a:ext cx="2377440" cy="548640"/>
          </a:xfrm>
          <a:prstGeom prst="rect">
            <a:avLst/>
          </a:prstGeom>
          <a:noFill/>
          <a:ln/>
        </p:spPr>
        <p:txBody>
          <a:bodyPr wrap="square" lIns="0" tIns="0" rIns="0" bIns="0" rtlCol="0" anchor="t"/>
          <a:lstStyle/>
          <a:p>
            <a:pPr algn="ctr" indent="0" marL="0">
              <a:buNone/>
            </a:pPr>
            <a:r>
              <a:rPr lang="en-US" sz="1800" b="1" dirty="0">
                <a:solidFill>
                  <a:srgbClr val="1F2A33"/>
                </a:solidFill>
                <a:latin typeface="Arial" pitchFamily="34" charset="0"/>
                <a:ea typeface="Arial" pitchFamily="34" charset="-122"/>
                <a:cs typeface="Arial" pitchFamily="34" charset="-120"/>
              </a:rPr>
              <a:t>Read access</a:t>
            </a:r>
            <a:endParaRPr lang="en-US" sz="1800" dirty="0"/>
          </a:p>
        </p:txBody>
      </p:sp>
      <p:sp>
        <p:nvSpPr>
          <p:cNvPr id="11" name="Text 7"/>
          <p:cNvSpPr txBox="1"/>
          <p:nvPr/>
        </p:nvSpPr>
        <p:spPr>
          <a:xfrm>
            <a:off x="731520" y="3520440"/>
            <a:ext cx="2286000" cy="1828800"/>
          </a:xfrm>
          <a:prstGeom prst="rect">
            <a:avLst/>
          </a:prstGeom>
          <a:noFill/>
          <a:ln/>
        </p:spPr>
        <p:txBody>
          <a:bodyPr wrap="square" lIns="0" tIns="0" rIns="0" bIns="0" rtlCol="0" anchor="t"/>
          <a:lstStyle/>
          <a:p>
            <a:pPr algn="ctr" indent="0" marL="0">
              <a:buNone/>
            </a:pPr>
            <a:r>
              <a:rPr lang="en-US" sz="1400" dirty="0">
                <a:solidFill>
                  <a:srgbClr val="5A5A5A"/>
                </a:solidFill>
                <a:latin typeface="Arial" pitchFamily="34" charset="0"/>
                <a:ea typeface="Arial" pitchFamily="34" charset="-122"/>
                <a:cs typeface="Arial" pitchFamily="34" charset="-120"/>
              </a:rPr>
              <a:t>A route to the systems the first slice reads. Test copies or reports are fine to start.</a:t>
            </a:r>
            <a:endParaRPr lang="en-US" sz="1400" dirty="0"/>
          </a:p>
        </p:txBody>
      </p:sp>
      <p:sp>
        <p:nvSpPr>
          <p:cNvPr id="12" name="Text 8"/>
          <p:cNvSpPr txBox="1"/>
          <p:nvPr/>
        </p:nvSpPr>
        <p:spPr>
          <a:xfrm>
            <a:off x="731520" y="5074920"/>
            <a:ext cx="2286000" cy="320040"/>
          </a:xfrm>
          <a:prstGeom prst="rect">
            <a:avLst/>
          </a:prstGeom>
          <a:noFill/>
          <a:ln/>
        </p:spPr>
        <p:txBody>
          <a:bodyPr wrap="square" lIns="0" tIns="0" rIns="0" bIns="0" rtlCol="0" anchor="t"/>
          <a:lstStyle/>
          <a:p>
            <a:pPr algn="ctr" indent="0" marL="0">
              <a:buNone/>
            </a:pPr>
            <a:r>
              <a:rPr lang="en-US" sz="1150" dirty="0">
                <a:solidFill>
                  <a:srgbClr val="8A94A4"/>
                </a:solidFill>
                <a:latin typeface="Arial" pitchFamily="34" charset="0"/>
                <a:ea typeface="Arial" pitchFamily="34" charset="-122"/>
                <a:cs typeface="Arial" pitchFamily="34" charset="-120"/>
              </a:rPr>
              <a:t>Owner: ______</a:t>
            </a:r>
            <a:endParaRPr lang="en-US" sz="1150" dirty="0"/>
          </a:p>
        </p:txBody>
      </p:sp>
      <p:sp>
        <p:nvSpPr>
          <p:cNvPr id="13" name="Shape 9"/>
          <p:cNvSpPr/>
          <p:nvPr/>
        </p:nvSpPr>
        <p:spPr>
          <a:xfrm>
            <a:off x="3364992" y="1600200"/>
            <a:ext cx="2651760" cy="3931920"/>
          </a:xfrm>
          <a:prstGeom prst="roundRect">
            <a:avLst>
              <a:gd name="adj" fmla="val 2759"/>
            </a:avLst>
          </a:prstGeom>
          <a:solidFill>
            <a:srgbClr val="FFFFFF"/>
          </a:solidFill>
          <a:ln w="12700">
            <a:solidFill>
              <a:srgbClr val="D9DEE2"/>
            </a:solidFill>
            <a:prstDash val="solid"/>
          </a:ln>
        </p:spPr>
      </p:sp>
      <p:sp>
        <p:nvSpPr>
          <p:cNvPr id="14" name="Shape 10"/>
          <p:cNvSpPr/>
          <p:nvPr/>
        </p:nvSpPr>
        <p:spPr>
          <a:xfrm>
            <a:off x="4233672" y="1828800"/>
            <a:ext cx="914400" cy="914400"/>
          </a:xfrm>
          <a:prstGeom prst="ellipse">
            <a:avLst/>
          </a:prstGeom>
          <a:solidFill>
            <a:srgbClr val="287079"/>
          </a:solidFill>
          <a:ln/>
        </p:spPr>
      </p:sp>
      <p:pic>
        <p:nvPicPr>
          <p:cNvPr id="15" name="Image 2" descr="/private/tmp/claude-501/-Users-salehhamed-Outcome-Engine/91861432-41e2-4884-bc97-63c6dff2d021/scratchpad/wk/icons/TbDatabase-white.png">    </p:cNvPr>
          <p:cNvPicPr>
            <a:picLocks noChangeAspect="1"/>
          </p:cNvPicPr>
          <p:nvPr/>
        </p:nvPicPr>
        <p:blipFill>
          <a:blip r:embed="rId5"/>
          <a:stretch>
            <a:fillRect/>
          </a:stretch>
        </p:blipFill>
        <p:spPr>
          <a:xfrm>
            <a:off x="4416552" y="2011680"/>
            <a:ext cx="548640" cy="548640"/>
          </a:xfrm>
          <a:prstGeom prst="rect">
            <a:avLst/>
          </a:prstGeom>
        </p:spPr>
      </p:pic>
      <p:sp>
        <p:nvSpPr>
          <p:cNvPr id="16" name="Text 11"/>
          <p:cNvSpPr txBox="1"/>
          <p:nvPr/>
        </p:nvSpPr>
        <p:spPr>
          <a:xfrm>
            <a:off x="3502152" y="2926080"/>
            <a:ext cx="2377440" cy="548640"/>
          </a:xfrm>
          <a:prstGeom prst="rect">
            <a:avLst/>
          </a:prstGeom>
          <a:noFill/>
          <a:ln/>
        </p:spPr>
        <p:txBody>
          <a:bodyPr wrap="square" lIns="0" tIns="0" rIns="0" bIns="0" rtlCol="0" anchor="t"/>
          <a:lstStyle/>
          <a:p>
            <a:pPr algn="ctr" indent="0" marL="0">
              <a:buNone/>
            </a:pPr>
            <a:r>
              <a:rPr lang="en-US" sz="1800" b="1" dirty="0">
                <a:solidFill>
                  <a:srgbClr val="1F2A33"/>
                </a:solidFill>
                <a:latin typeface="Arial" pitchFamily="34" charset="0"/>
                <a:ea typeface="Arial" pitchFamily="34" charset="-122"/>
                <a:cs typeface="Arial" pitchFamily="34" charset="-120"/>
              </a:rPr>
              <a:t>Data owners</a:t>
            </a:r>
            <a:endParaRPr lang="en-US" sz="1800" dirty="0"/>
          </a:p>
        </p:txBody>
      </p:sp>
      <p:sp>
        <p:nvSpPr>
          <p:cNvPr id="17" name="Text 12"/>
          <p:cNvSpPr txBox="1"/>
          <p:nvPr/>
        </p:nvSpPr>
        <p:spPr>
          <a:xfrm>
            <a:off x="3547872" y="3520440"/>
            <a:ext cx="2286000" cy="1828800"/>
          </a:xfrm>
          <a:prstGeom prst="rect">
            <a:avLst/>
          </a:prstGeom>
          <a:noFill/>
          <a:ln/>
        </p:spPr>
        <p:txBody>
          <a:bodyPr wrap="square" lIns="0" tIns="0" rIns="0" bIns="0" rtlCol="0" anchor="t"/>
          <a:lstStyle/>
          <a:p>
            <a:pPr algn="ctr" indent="0" marL="0">
              <a:buNone/>
            </a:pPr>
            <a:r>
              <a:rPr lang="en-US" sz="1400" dirty="0">
                <a:solidFill>
                  <a:srgbClr val="5A5A5A"/>
                </a:solidFill>
                <a:latin typeface="Arial" pitchFamily="34" charset="0"/>
                <a:ea typeface="Arial" pitchFamily="34" charset="-122"/>
                <a:cs typeface="Arial" pitchFamily="34" charset="-120"/>
              </a:rPr>
              <a:t>A named owner for each system and its fields.</a:t>
            </a:r>
            <a:endParaRPr lang="en-US" sz="1400" dirty="0"/>
          </a:p>
        </p:txBody>
      </p:sp>
      <p:sp>
        <p:nvSpPr>
          <p:cNvPr id="18" name="Text 13"/>
          <p:cNvSpPr txBox="1"/>
          <p:nvPr/>
        </p:nvSpPr>
        <p:spPr>
          <a:xfrm>
            <a:off x="3547872" y="5074920"/>
            <a:ext cx="2286000" cy="320040"/>
          </a:xfrm>
          <a:prstGeom prst="rect">
            <a:avLst/>
          </a:prstGeom>
          <a:noFill/>
          <a:ln/>
        </p:spPr>
        <p:txBody>
          <a:bodyPr wrap="square" lIns="0" tIns="0" rIns="0" bIns="0" rtlCol="0" anchor="t"/>
          <a:lstStyle/>
          <a:p>
            <a:pPr algn="ctr" indent="0" marL="0">
              <a:buNone/>
            </a:pPr>
            <a:r>
              <a:rPr lang="en-US" sz="1150" dirty="0">
                <a:solidFill>
                  <a:srgbClr val="8A94A4"/>
                </a:solidFill>
                <a:latin typeface="Arial" pitchFamily="34" charset="0"/>
                <a:ea typeface="Arial" pitchFamily="34" charset="-122"/>
                <a:cs typeface="Arial" pitchFamily="34" charset="-120"/>
              </a:rPr>
              <a:t>Owner: ______</a:t>
            </a:r>
            <a:endParaRPr lang="en-US" sz="1150" dirty="0"/>
          </a:p>
        </p:txBody>
      </p:sp>
      <p:sp>
        <p:nvSpPr>
          <p:cNvPr id="19" name="Shape 14"/>
          <p:cNvSpPr/>
          <p:nvPr/>
        </p:nvSpPr>
        <p:spPr>
          <a:xfrm>
            <a:off x="6181344" y="1600200"/>
            <a:ext cx="2651760" cy="3931920"/>
          </a:xfrm>
          <a:prstGeom prst="roundRect">
            <a:avLst>
              <a:gd name="adj" fmla="val 2759"/>
            </a:avLst>
          </a:prstGeom>
          <a:solidFill>
            <a:srgbClr val="FFFFFF"/>
          </a:solidFill>
          <a:ln w="12700">
            <a:solidFill>
              <a:srgbClr val="D9DEE2"/>
            </a:solidFill>
            <a:prstDash val="solid"/>
          </a:ln>
        </p:spPr>
      </p:sp>
      <p:sp>
        <p:nvSpPr>
          <p:cNvPr id="20" name="Shape 15"/>
          <p:cNvSpPr/>
          <p:nvPr/>
        </p:nvSpPr>
        <p:spPr>
          <a:xfrm>
            <a:off x="7050024" y="1828800"/>
            <a:ext cx="914400" cy="914400"/>
          </a:xfrm>
          <a:prstGeom prst="ellipse">
            <a:avLst/>
          </a:prstGeom>
          <a:solidFill>
            <a:srgbClr val="287079"/>
          </a:solidFill>
          <a:ln/>
        </p:spPr>
      </p:sp>
      <p:pic>
        <p:nvPicPr>
          <p:cNvPr id="21" name="Image 3" descr="/private/tmp/claude-501/-Users-salehhamed-Outcome-Engine/91861432-41e2-4884-bc97-63c6dff2d021/scratchpad/wk/icons/TbUsers-white.png">    </p:cNvPr>
          <p:cNvPicPr>
            <a:picLocks noChangeAspect="1"/>
          </p:cNvPicPr>
          <p:nvPr/>
        </p:nvPicPr>
        <p:blipFill>
          <a:blip r:embed="rId6"/>
          <a:stretch>
            <a:fillRect/>
          </a:stretch>
        </p:blipFill>
        <p:spPr>
          <a:xfrm>
            <a:off x="7232904" y="2011680"/>
            <a:ext cx="548640" cy="548640"/>
          </a:xfrm>
          <a:prstGeom prst="rect">
            <a:avLst/>
          </a:prstGeom>
        </p:spPr>
      </p:pic>
      <p:sp>
        <p:nvSpPr>
          <p:cNvPr id="22" name="Text 16"/>
          <p:cNvSpPr txBox="1"/>
          <p:nvPr/>
        </p:nvSpPr>
        <p:spPr>
          <a:xfrm>
            <a:off x="6318504" y="2926080"/>
            <a:ext cx="2377440" cy="548640"/>
          </a:xfrm>
          <a:prstGeom prst="rect">
            <a:avLst/>
          </a:prstGeom>
          <a:noFill/>
          <a:ln/>
        </p:spPr>
        <p:txBody>
          <a:bodyPr wrap="square" lIns="0" tIns="0" rIns="0" bIns="0" rtlCol="0" anchor="t"/>
          <a:lstStyle/>
          <a:p>
            <a:pPr algn="ctr" indent="0" marL="0">
              <a:buNone/>
            </a:pPr>
            <a:r>
              <a:rPr lang="en-US" sz="1800" b="1" dirty="0">
                <a:solidFill>
                  <a:srgbClr val="1F2A33"/>
                </a:solidFill>
                <a:latin typeface="Arial" pitchFamily="34" charset="0"/>
                <a:ea typeface="Arial" pitchFamily="34" charset="-122"/>
                <a:cs typeface="Arial" pitchFamily="34" charset="-120"/>
              </a:rPr>
              <a:t>People in each seat</a:t>
            </a:r>
            <a:endParaRPr lang="en-US" sz="1800" dirty="0"/>
          </a:p>
        </p:txBody>
      </p:sp>
      <p:sp>
        <p:nvSpPr>
          <p:cNvPr id="23" name="Text 17"/>
          <p:cNvSpPr txBox="1"/>
          <p:nvPr/>
        </p:nvSpPr>
        <p:spPr>
          <a:xfrm>
            <a:off x="6364224" y="3520440"/>
            <a:ext cx="2286000" cy="1828800"/>
          </a:xfrm>
          <a:prstGeom prst="rect">
            <a:avLst/>
          </a:prstGeom>
          <a:noFill/>
          <a:ln/>
        </p:spPr>
        <p:txBody>
          <a:bodyPr wrap="square" lIns="0" tIns="0" rIns="0" bIns="0" rtlCol="0" anchor="t"/>
          <a:lstStyle/>
          <a:p>
            <a:pPr algn="ctr" indent="0" marL="0">
              <a:buNone/>
            </a:pPr>
            <a:r>
              <a:rPr lang="en-US" sz="1400" dirty="0">
                <a:solidFill>
                  <a:srgbClr val="5A5A5A"/>
                </a:solidFill>
                <a:latin typeface="Arial" pitchFamily="34" charset="0"/>
                <a:ea typeface="Arial" pitchFamily="34" charset="-122"/>
                <a:cs typeface="Arial" pitchFamily="34" charset="-120"/>
              </a:rPr>
              <a:t>A named person and a backup for every decision.</a:t>
            </a:r>
            <a:endParaRPr lang="en-US" sz="1400" dirty="0"/>
          </a:p>
        </p:txBody>
      </p:sp>
      <p:sp>
        <p:nvSpPr>
          <p:cNvPr id="24" name="Text 18"/>
          <p:cNvSpPr txBox="1"/>
          <p:nvPr/>
        </p:nvSpPr>
        <p:spPr>
          <a:xfrm>
            <a:off x="6364224" y="5074920"/>
            <a:ext cx="2286000" cy="320040"/>
          </a:xfrm>
          <a:prstGeom prst="rect">
            <a:avLst/>
          </a:prstGeom>
          <a:noFill/>
          <a:ln/>
        </p:spPr>
        <p:txBody>
          <a:bodyPr wrap="square" lIns="0" tIns="0" rIns="0" bIns="0" rtlCol="0" anchor="t"/>
          <a:lstStyle/>
          <a:p>
            <a:pPr algn="ctr" indent="0" marL="0">
              <a:buNone/>
            </a:pPr>
            <a:r>
              <a:rPr lang="en-US" sz="1150" dirty="0">
                <a:solidFill>
                  <a:srgbClr val="8A94A4"/>
                </a:solidFill>
                <a:latin typeface="Arial" pitchFamily="34" charset="0"/>
                <a:ea typeface="Arial" pitchFamily="34" charset="-122"/>
                <a:cs typeface="Arial" pitchFamily="34" charset="-120"/>
              </a:rPr>
              <a:t>Owner: ______</a:t>
            </a:r>
            <a:endParaRPr lang="en-US" sz="1150" dirty="0"/>
          </a:p>
        </p:txBody>
      </p:sp>
      <p:sp>
        <p:nvSpPr>
          <p:cNvPr id="25" name="Shape 19"/>
          <p:cNvSpPr/>
          <p:nvPr/>
        </p:nvSpPr>
        <p:spPr>
          <a:xfrm>
            <a:off x="8997696" y="1600200"/>
            <a:ext cx="2651760" cy="3931920"/>
          </a:xfrm>
          <a:prstGeom prst="roundRect">
            <a:avLst>
              <a:gd name="adj" fmla="val 2759"/>
            </a:avLst>
          </a:prstGeom>
          <a:solidFill>
            <a:srgbClr val="FFFFFF"/>
          </a:solidFill>
          <a:ln w="12700">
            <a:solidFill>
              <a:srgbClr val="D9DEE2"/>
            </a:solidFill>
            <a:prstDash val="solid"/>
          </a:ln>
        </p:spPr>
      </p:sp>
      <p:sp>
        <p:nvSpPr>
          <p:cNvPr id="26" name="Shape 20"/>
          <p:cNvSpPr/>
          <p:nvPr/>
        </p:nvSpPr>
        <p:spPr>
          <a:xfrm>
            <a:off x="9866376" y="1828800"/>
            <a:ext cx="914400" cy="914400"/>
          </a:xfrm>
          <a:prstGeom prst="ellipse">
            <a:avLst/>
          </a:prstGeom>
          <a:solidFill>
            <a:srgbClr val="287079"/>
          </a:solidFill>
          <a:ln/>
        </p:spPr>
      </p:sp>
      <p:pic>
        <p:nvPicPr>
          <p:cNvPr id="27" name="Image 4" descr="/private/tmp/claude-501/-Users-salehhamed-Outcome-Engine/91861432-41e2-4884-bc97-63c6dff2d021/scratchpad/wk/icons/TbChartBar-white.png">    </p:cNvPr>
          <p:cNvPicPr>
            <a:picLocks noChangeAspect="1"/>
          </p:cNvPicPr>
          <p:nvPr/>
        </p:nvPicPr>
        <p:blipFill>
          <a:blip r:embed="rId7"/>
          <a:stretch>
            <a:fillRect/>
          </a:stretch>
        </p:blipFill>
        <p:spPr>
          <a:xfrm>
            <a:off x="10049256" y="2011680"/>
            <a:ext cx="548640" cy="548640"/>
          </a:xfrm>
          <a:prstGeom prst="rect">
            <a:avLst/>
          </a:prstGeom>
        </p:spPr>
      </p:pic>
      <p:sp>
        <p:nvSpPr>
          <p:cNvPr id="28" name="Text 21"/>
          <p:cNvSpPr txBox="1"/>
          <p:nvPr/>
        </p:nvSpPr>
        <p:spPr>
          <a:xfrm>
            <a:off x="9134856" y="2926080"/>
            <a:ext cx="2377440" cy="548640"/>
          </a:xfrm>
          <a:prstGeom prst="rect">
            <a:avLst/>
          </a:prstGeom>
          <a:noFill/>
          <a:ln/>
        </p:spPr>
        <p:txBody>
          <a:bodyPr wrap="square" lIns="0" tIns="0" rIns="0" bIns="0" rtlCol="0" anchor="t"/>
          <a:lstStyle/>
          <a:p>
            <a:pPr algn="ctr" indent="0" marL="0">
              <a:buNone/>
            </a:pPr>
            <a:r>
              <a:rPr lang="en-US" sz="1800" b="1" dirty="0">
                <a:solidFill>
                  <a:srgbClr val="1F2A33"/>
                </a:solidFill>
                <a:latin typeface="Arial" pitchFamily="34" charset="0"/>
                <a:ea typeface="Arial" pitchFamily="34" charset="-122"/>
                <a:cs typeface="Arial" pitchFamily="34" charset="-120"/>
              </a:rPr>
              <a:t>A baseline</a:t>
            </a:r>
            <a:endParaRPr lang="en-US" sz="1800" dirty="0"/>
          </a:p>
        </p:txBody>
      </p:sp>
      <p:sp>
        <p:nvSpPr>
          <p:cNvPr id="29" name="Text 22"/>
          <p:cNvSpPr txBox="1"/>
          <p:nvPr/>
        </p:nvSpPr>
        <p:spPr>
          <a:xfrm>
            <a:off x="9180576" y="3520440"/>
            <a:ext cx="2286000" cy="1828800"/>
          </a:xfrm>
          <a:prstGeom prst="rect">
            <a:avLst/>
          </a:prstGeom>
          <a:noFill/>
          <a:ln/>
        </p:spPr>
        <p:txBody>
          <a:bodyPr wrap="square" lIns="0" tIns="0" rIns="0" bIns="0" rtlCol="0" anchor="t"/>
          <a:lstStyle/>
          <a:p>
            <a:pPr algn="ctr" indent="0" marL="0">
              <a:buNone/>
            </a:pPr>
            <a:r>
              <a:rPr lang="en-US" sz="1400" dirty="0">
                <a:solidFill>
                  <a:srgbClr val="5A5A5A"/>
                </a:solidFill>
                <a:latin typeface="Arial" pitchFamily="34" charset="0"/>
                <a:ea typeface="Arial" pitchFamily="34" charset="-122"/>
                <a:cs typeface="Arial" pitchFamily="34" charset="-120"/>
              </a:rPr>
              <a:t>How the work performs today, measured.</a:t>
            </a:r>
            <a:endParaRPr lang="en-US" sz="1400" dirty="0"/>
          </a:p>
        </p:txBody>
      </p:sp>
      <p:sp>
        <p:nvSpPr>
          <p:cNvPr id="30" name="Text 23"/>
          <p:cNvSpPr txBox="1"/>
          <p:nvPr/>
        </p:nvSpPr>
        <p:spPr>
          <a:xfrm>
            <a:off x="9180576" y="5074920"/>
            <a:ext cx="2286000" cy="320040"/>
          </a:xfrm>
          <a:prstGeom prst="rect">
            <a:avLst/>
          </a:prstGeom>
          <a:noFill/>
          <a:ln/>
        </p:spPr>
        <p:txBody>
          <a:bodyPr wrap="square" lIns="0" tIns="0" rIns="0" bIns="0" rtlCol="0" anchor="t"/>
          <a:lstStyle/>
          <a:p>
            <a:pPr algn="ctr" indent="0" marL="0">
              <a:buNone/>
            </a:pPr>
            <a:r>
              <a:rPr lang="en-US" sz="1150" dirty="0">
                <a:solidFill>
                  <a:srgbClr val="8A94A4"/>
                </a:solidFill>
                <a:latin typeface="Arial" pitchFamily="34" charset="0"/>
                <a:ea typeface="Arial" pitchFamily="34" charset="-122"/>
                <a:cs typeface="Arial" pitchFamily="34" charset="-120"/>
              </a:rPr>
              <a:t>Owner: ______</a:t>
            </a:r>
            <a:endParaRPr lang="en-US" sz="115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EACH CARD: WHAT, OWNER, DATE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Everything that must happen next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13:45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180</a:t>
            </a:r>
            <a:endParaRPr lang="en-US" sz="1000" dirty="0"/>
          </a:p>
        </p:txBody>
      </p:sp>
      <p:sp>
        <p:nvSpPr>
          <p:cNvPr id="7" name="Shape 4"/>
          <p:cNvSpPr/>
          <p:nvPr/>
        </p:nvSpPr>
        <p:spPr>
          <a:xfrm>
            <a:off x="548640" y="1508760"/>
            <a:ext cx="3566160" cy="4572000"/>
          </a:xfrm>
          <a:prstGeom prst="roundRect">
            <a:avLst>
              <a:gd name="adj" fmla="val 2051"/>
            </a:avLst>
          </a:prstGeom>
          <a:solidFill>
            <a:srgbClr val="F2F4F5"/>
          </a:solidFill>
          <a:ln/>
        </p:spPr>
      </p:sp>
      <p:sp>
        <p:nvSpPr>
          <p:cNvPr id="8" name="Text 5"/>
          <p:cNvSpPr txBox="1"/>
          <p:nvPr/>
        </p:nvSpPr>
        <p:spPr>
          <a:xfrm>
            <a:off x="777240" y="1600200"/>
            <a:ext cx="3108960" cy="457200"/>
          </a:xfrm>
          <a:prstGeom prst="rect">
            <a:avLst/>
          </a:prstGeom>
          <a:noFill/>
          <a:ln/>
        </p:spPr>
        <p:txBody>
          <a:bodyPr wrap="square" lIns="0" tIns="0" rIns="0" bIns="0" rtlCol="0" anchor="t"/>
          <a:lstStyle/>
          <a:p>
            <a:pPr indent="0" marL="0">
              <a:buNone/>
            </a:pPr>
            <a:r>
              <a:rPr lang="en-US" sz="1800" b="1" dirty="0">
                <a:solidFill>
                  <a:srgbClr val="FF462D"/>
                </a:solidFill>
                <a:latin typeface="Arial" pitchFamily="34" charset="0"/>
                <a:ea typeface="Arial" pitchFamily="34" charset="-122"/>
                <a:cs typeface="Arial" pitchFamily="34" charset="-120"/>
              </a:rPr>
              <a:t>Now</a:t>
            </a:r>
            <a:endParaRPr lang="en-US" sz="1800" dirty="0"/>
          </a:p>
        </p:txBody>
      </p:sp>
      <p:sp>
        <p:nvSpPr>
          <p:cNvPr id="9" name="Shape 6"/>
          <p:cNvSpPr/>
          <p:nvPr/>
        </p:nvSpPr>
        <p:spPr>
          <a:xfrm>
            <a:off x="777240" y="2194560"/>
            <a:ext cx="3108960" cy="1051560"/>
          </a:xfrm>
          <a:prstGeom prst="roundRect">
            <a:avLst>
              <a:gd name="adj" fmla="val 5217"/>
            </a:avLst>
          </a:prstGeom>
          <a:solidFill>
            <a:srgbClr val="FFFFFF"/>
          </a:solidFill>
          <a:ln w="12700">
            <a:solidFill>
              <a:srgbClr val="D9DEE2"/>
            </a:solidFill>
            <a:prstDash val="solid"/>
          </a:ln>
        </p:spPr>
      </p:sp>
      <p:sp>
        <p:nvSpPr>
          <p:cNvPr id="10" name="Shape 7"/>
          <p:cNvSpPr/>
          <p:nvPr/>
        </p:nvSpPr>
        <p:spPr>
          <a:xfrm>
            <a:off x="777240" y="3429000"/>
            <a:ext cx="3108960" cy="1051560"/>
          </a:xfrm>
          <a:prstGeom prst="roundRect">
            <a:avLst>
              <a:gd name="adj" fmla="val 5217"/>
            </a:avLst>
          </a:prstGeom>
          <a:solidFill>
            <a:srgbClr val="FFFFFF"/>
          </a:solidFill>
          <a:ln w="12700">
            <a:solidFill>
              <a:srgbClr val="D9DEE2"/>
            </a:solidFill>
            <a:prstDash val="solid"/>
          </a:ln>
        </p:spPr>
      </p:sp>
      <p:sp>
        <p:nvSpPr>
          <p:cNvPr id="11" name="Shape 8"/>
          <p:cNvSpPr/>
          <p:nvPr/>
        </p:nvSpPr>
        <p:spPr>
          <a:xfrm>
            <a:off x="777240" y="4663440"/>
            <a:ext cx="3108960" cy="1051560"/>
          </a:xfrm>
          <a:prstGeom prst="roundRect">
            <a:avLst>
              <a:gd name="adj" fmla="val 5217"/>
            </a:avLst>
          </a:prstGeom>
          <a:solidFill>
            <a:srgbClr val="FFFFFF"/>
          </a:solidFill>
          <a:ln w="12700">
            <a:solidFill>
              <a:srgbClr val="D9DEE2"/>
            </a:solidFill>
            <a:prstDash val="solid"/>
          </a:ln>
        </p:spPr>
      </p:sp>
      <p:sp>
        <p:nvSpPr>
          <p:cNvPr id="12" name="Shape 9"/>
          <p:cNvSpPr/>
          <p:nvPr/>
        </p:nvSpPr>
        <p:spPr>
          <a:xfrm>
            <a:off x="4297680" y="1508760"/>
            <a:ext cx="3566160" cy="4572000"/>
          </a:xfrm>
          <a:prstGeom prst="roundRect">
            <a:avLst>
              <a:gd name="adj" fmla="val 2051"/>
            </a:avLst>
          </a:prstGeom>
          <a:solidFill>
            <a:srgbClr val="F2F4F5"/>
          </a:solidFill>
          <a:ln/>
        </p:spPr>
      </p:sp>
      <p:sp>
        <p:nvSpPr>
          <p:cNvPr id="13" name="Text 10"/>
          <p:cNvSpPr txBox="1"/>
          <p:nvPr/>
        </p:nvSpPr>
        <p:spPr>
          <a:xfrm>
            <a:off x="4526280" y="1600200"/>
            <a:ext cx="3108960" cy="457200"/>
          </a:xfrm>
          <a:prstGeom prst="rect">
            <a:avLst/>
          </a:prstGeom>
          <a:noFill/>
          <a:ln/>
        </p:spPr>
        <p:txBody>
          <a:bodyPr wrap="square" lIns="0" tIns="0" rIns="0" bIns="0" rtlCol="0" anchor="t"/>
          <a:lstStyle/>
          <a:p>
            <a:pPr indent="0" marL="0">
              <a:buNone/>
            </a:pPr>
            <a:r>
              <a:rPr lang="en-US" sz="1800" b="1" dirty="0">
                <a:solidFill>
                  <a:srgbClr val="287079"/>
                </a:solidFill>
                <a:latin typeface="Arial" pitchFamily="34" charset="0"/>
                <a:ea typeface="Arial" pitchFamily="34" charset="-122"/>
                <a:cs typeface="Arial" pitchFamily="34" charset="-120"/>
              </a:rPr>
              <a:t>Next</a:t>
            </a:r>
            <a:endParaRPr lang="en-US" sz="1800" dirty="0"/>
          </a:p>
        </p:txBody>
      </p:sp>
      <p:sp>
        <p:nvSpPr>
          <p:cNvPr id="14" name="Shape 11"/>
          <p:cNvSpPr/>
          <p:nvPr/>
        </p:nvSpPr>
        <p:spPr>
          <a:xfrm>
            <a:off x="4526280" y="2194560"/>
            <a:ext cx="3108960" cy="1051560"/>
          </a:xfrm>
          <a:prstGeom prst="roundRect">
            <a:avLst>
              <a:gd name="adj" fmla="val 5217"/>
            </a:avLst>
          </a:prstGeom>
          <a:solidFill>
            <a:srgbClr val="FFFFFF"/>
          </a:solidFill>
          <a:ln w="12700">
            <a:solidFill>
              <a:srgbClr val="D9DEE2"/>
            </a:solidFill>
            <a:prstDash val="solid"/>
          </a:ln>
        </p:spPr>
      </p:sp>
      <p:sp>
        <p:nvSpPr>
          <p:cNvPr id="15" name="Shape 12"/>
          <p:cNvSpPr/>
          <p:nvPr/>
        </p:nvSpPr>
        <p:spPr>
          <a:xfrm>
            <a:off x="4526280" y="3429000"/>
            <a:ext cx="3108960" cy="1051560"/>
          </a:xfrm>
          <a:prstGeom prst="roundRect">
            <a:avLst>
              <a:gd name="adj" fmla="val 5217"/>
            </a:avLst>
          </a:prstGeom>
          <a:solidFill>
            <a:srgbClr val="FFFFFF"/>
          </a:solidFill>
          <a:ln w="12700">
            <a:solidFill>
              <a:srgbClr val="D9DEE2"/>
            </a:solidFill>
            <a:prstDash val="solid"/>
          </a:ln>
        </p:spPr>
      </p:sp>
      <p:sp>
        <p:nvSpPr>
          <p:cNvPr id="16" name="Shape 13"/>
          <p:cNvSpPr/>
          <p:nvPr/>
        </p:nvSpPr>
        <p:spPr>
          <a:xfrm>
            <a:off x="4526280" y="4663440"/>
            <a:ext cx="3108960" cy="1051560"/>
          </a:xfrm>
          <a:prstGeom prst="roundRect">
            <a:avLst>
              <a:gd name="adj" fmla="val 5217"/>
            </a:avLst>
          </a:prstGeom>
          <a:solidFill>
            <a:srgbClr val="FFFFFF"/>
          </a:solidFill>
          <a:ln w="12700">
            <a:solidFill>
              <a:srgbClr val="D9DEE2"/>
            </a:solidFill>
            <a:prstDash val="solid"/>
          </a:ln>
        </p:spPr>
      </p:sp>
      <p:sp>
        <p:nvSpPr>
          <p:cNvPr id="17" name="Shape 14"/>
          <p:cNvSpPr/>
          <p:nvPr/>
        </p:nvSpPr>
        <p:spPr>
          <a:xfrm>
            <a:off x="8046720" y="1508760"/>
            <a:ext cx="3566160" cy="4572000"/>
          </a:xfrm>
          <a:prstGeom prst="roundRect">
            <a:avLst>
              <a:gd name="adj" fmla="val 2051"/>
            </a:avLst>
          </a:prstGeom>
          <a:solidFill>
            <a:srgbClr val="F2F4F5"/>
          </a:solidFill>
          <a:ln/>
        </p:spPr>
      </p:sp>
      <p:sp>
        <p:nvSpPr>
          <p:cNvPr id="18" name="Text 15"/>
          <p:cNvSpPr txBox="1"/>
          <p:nvPr/>
        </p:nvSpPr>
        <p:spPr>
          <a:xfrm>
            <a:off x="8275320" y="1600200"/>
            <a:ext cx="3108960" cy="457200"/>
          </a:xfrm>
          <a:prstGeom prst="rect">
            <a:avLst/>
          </a:prstGeom>
          <a:noFill/>
          <a:ln/>
        </p:spPr>
        <p:txBody>
          <a:bodyPr wrap="square" lIns="0" tIns="0" rIns="0" bIns="0" rtlCol="0" anchor="t"/>
          <a:lstStyle/>
          <a:p>
            <a:pPr indent="0" marL="0">
              <a:buNone/>
            </a:pPr>
            <a:r>
              <a:rPr lang="en-US" sz="1800" b="1" dirty="0">
                <a:solidFill>
                  <a:srgbClr val="36454F"/>
                </a:solidFill>
                <a:latin typeface="Arial" pitchFamily="34" charset="0"/>
                <a:ea typeface="Arial" pitchFamily="34" charset="-122"/>
                <a:cs typeface="Arial" pitchFamily="34" charset="-120"/>
              </a:rPr>
              <a:t>Later</a:t>
            </a:r>
            <a:endParaRPr lang="en-US" sz="1800" dirty="0"/>
          </a:p>
        </p:txBody>
      </p:sp>
      <p:sp>
        <p:nvSpPr>
          <p:cNvPr id="19" name="Shape 16"/>
          <p:cNvSpPr/>
          <p:nvPr/>
        </p:nvSpPr>
        <p:spPr>
          <a:xfrm>
            <a:off x="8275320" y="2194560"/>
            <a:ext cx="3108960" cy="1051560"/>
          </a:xfrm>
          <a:prstGeom prst="roundRect">
            <a:avLst>
              <a:gd name="adj" fmla="val 5217"/>
            </a:avLst>
          </a:prstGeom>
          <a:solidFill>
            <a:srgbClr val="FFFFFF"/>
          </a:solidFill>
          <a:ln w="12700">
            <a:solidFill>
              <a:srgbClr val="D9DEE2"/>
            </a:solidFill>
            <a:prstDash val="solid"/>
          </a:ln>
        </p:spPr>
      </p:sp>
      <p:sp>
        <p:nvSpPr>
          <p:cNvPr id="20" name="Shape 17"/>
          <p:cNvSpPr/>
          <p:nvPr/>
        </p:nvSpPr>
        <p:spPr>
          <a:xfrm>
            <a:off x="8275320" y="3429000"/>
            <a:ext cx="3108960" cy="1051560"/>
          </a:xfrm>
          <a:prstGeom prst="roundRect">
            <a:avLst>
              <a:gd name="adj" fmla="val 5217"/>
            </a:avLst>
          </a:prstGeom>
          <a:solidFill>
            <a:srgbClr val="FFFFFF"/>
          </a:solidFill>
          <a:ln w="12700">
            <a:solidFill>
              <a:srgbClr val="D9DEE2"/>
            </a:solidFill>
            <a:prstDash val="solid"/>
          </a:ln>
        </p:spPr>
      </p:sp>
      <p:sp>
        <p:nvSpPr>
          <p:cNvPr id="21" name="Shape 18"/>
          <p:cNvSpPr/>
          <p:nvPr/>
        </p:nvSpPr>
        <p:spPr>
          <a:xfrm>
            <a:off x="8275320" y="4663440"/>
            <a:ext cx="3108960" cy="1051560"/>
          </a:xfrm>
          <a:prstGeom prst="roundRect">
            <a:avLst>
              <a:gd name="adj" fmla="val 5217"/>
            </a:avLst>
          </a:prstGeom>
          <a:solidFill>
            <a:srgbClr val="FFFFFF"/>
          </a:solidFill>
          <a:ln w="12700">
            <a:solidFill>
              <a:srgbClr val="D9DEE2"/>
            </a:solidFill>
            <a:prstDash val="solid"/>
          </a:ln>
        </p:spPr>
      </p:sp>
      <p:sp>
        <p:nvSpPr>
          <p:cNvPr id="22" name="Text 19"/>
          <p:cNvSpPr txBox="1"/>
          <p:nvPr/>
        </p:nvSpPr>
        <p:spPr>
          <a:xfrm>
            <a:off x="548640" y="6144768"/>
            <a:ext cx="10972800" cy="274320"/>
          </a:xfrm>
          <a:prstGeom prst="rect">
            <a:avLst/>
          </a:prstGeom>
          <a:noFill/>
          <a:ln/>
        </p:spPr>
        <p:txBody>
          <a:bodyPr wrap="square" lIns="0" tIns="0" rIns="0" bIns="0" rtlCol="0" anchor="t"/>
          <a:lstStyle/>
          <a:p>
            <a:pPr indent="0" marL="0">
              <a:buNone/>
            </a:pPr>
            <a:r>
              <a:rPr lang="en-US" sz="1250" i="1" dirty="0">
                <a:solidFill>
                  <a:srgbClr val="5A5A5A"/>
                </a:solidFill>
                <a:latin typeface="Arial" pitchFamily="34" charset="0"/>
                <a:ea typeface="Arial" pitchFamily="34" charset="-122"/>
                <a:cs typeface="Arial" pitchFamily="34" charset="-120"/>
              </a:rPr>
              <a:t>Must include: turning the rotation rules into the rotation design.</a:t>
            </a:r>
            <a:endParaRPr lang="en-US" sz="125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show="0">
  <p:cSld name="Slide 18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SHAPE WHAT HAPPENS NEXT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Three ways to run this session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13:45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181</a:t>
            </a:r>
            <a:endParaRPr lang="en-US" sz="1000" dirty="0"/>
          </a:p>
        </p:txBody>
      </p:sp>
      <p:sp>
        <p:nvSpPr>
          <p:cNvPr id="7" name="Shape 4"/>
          <p:cNvSpPr/>
          <p:nvPr/>
        </p:nvSpPr>
        <p:spPr>
          <a:xfrm>
            <a:off x="548640" y="1463040"/>
            <a:ext cx="3566160" cy="4663440"/>
          </a:xfrm>
          <a:prstGeom prst="roundRect">
            <a:avLst>
              <a:gd name="adj" fmla="val 2051"/>
            </a:avLst>
          </a:prstGeom>
          <a:solidFill>
            <a:srgbClr val="FFFFFF"/>
          </a:solidFill>
          <a:ln w="12700">
            <a:solidFill>
              <a:srgbClr val="D9DEE2"/>
            </a:solidFill>
            <a:prstDash val="solid"/>
          </a:ln>
        </p:spPr>
      </p:sp>
      <p:sp>
        <p:nvSpPr>
          <p:cNvPr id="8" name="Shape 5"/>
          <p:cNvSpPr/>
          <p:nvPr/>
        </p:nvSpPr>
        <p:spPr>
          <a:xfrm>
            <a:off x="548640" y="1463040"/>
            <a:ext cx="3566160" cy="566928"/>
          </a:xfrm>
          <a:prstGeom prst="roundRect">
            <a:avLst>
              <a:gd name="adj" fmla="val 12903"/>
            </a:avLst>
          </a:prstGeom>
          <a:solidFill>
            <a:srgbClr val="287079"/>
          </a:solidFill>
          <a:ln/>
        </p:spPr>
      </p:sp>
      <p:sp>
        <p:nvSpPr>
          <p:cNvPr id="9" name="Shape 6"/>
          <p:cNvSpPr/>
          <p:nvPr/>
        </p:nvSpPr>
        <p:spPr>
          <a:xfrm>
            <a:off x="548640" y="1828800"/>
            <a:ext cx="3566160" cy="201168"/>
          </a:xfrm>
          <a:prstGeom prst="rect">
            <a:avLst/>
          </a:prstGeom>
          <a:solidFill>
            <a:srgbClr val="287079"/>
          </a:solidFill>
          <a:ln/>
        </p:spPr>
      </p:sp>
      <p:pic>
        <p:nvPicPr>
          <p:cNvPr id="10" name="Image 1" descr="/private/tmp/claude-501/-Users-salehhamed-Outcome-Engine/91861432-41e2-4884-bc97-63c6dff2d021/scratchpad/wk/icons/TbHandClick-white.png">    </p:cNvPr>
          <p:cNvPicPr>
            <a:picLocks noChangeAspect="1"/>
          </p:cNvPicPr>
          <p:nvPr/>
        </p:nvPicPr>
        <p:blipFill>
          <a:blip r:embed="rId4"/>
          <a:stretch>
            <a:fillRect/>
          </a:stretch>
        </p:blipFill>
        <p:spPr>
          <a:xfrm>
            <a:off x="713232" y="1554480"/>
            <a:ext cx="384048" cy="384048"/>
          </a:xfrm>
          <a:prstGeom prst="rect">
            <a:avLst/>
          </a:prstGeom>
        </p:spPr>
      </p:pic>
      <p:sp>
        <p:nvSpPr>
          <p:cNvPr id="11" name="Text 7"/>
          <p:cNvSpPr txBox="1"/>
          <p:nvPr/>
        </p:nvSpPr>
        <p:spPr>
          <a:xfrm>
            <a:off x="120700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A · HANDS-ON</a:t>
            </a:r>
            <a:endParaRPr lang="en-US" sz="1150" dirty="0"/>
          </a:p>
        </p:txBody>
      </p:sp>
      <p:sp>
        <p:nvSpPr>
          <p:cNvPr id="12" name="Text 8"/>
          <p:cNvSpPr txBox="1"/>
          <p:nvPr/>
        </p:nvSpPr>
        <p:spPr>
          <a:xfrm>
            <a:off x="77724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Slice and stick</a:t>
            </a:r>
            <a:endParaRPr lang="en-US" sz="2100" dirty="0"/>
          </a:p>
        </p:txBody>
      </p:sp>
      <p:sp>
        <p:nvSpPr>
          <p:cNvPr id="13" name="Text 9"/>
          <p:cNvSpPr txBox="1"/>
          <p:nvPr/>
        </p:nvSpPr>
        <p:spPr>
          <a:xfrm>
            <a:off x="77724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Tables build a slice from cards; dots pick the measures; a to-do wall gets owners.</a:t>
            </a:r>
            <a:endParaRPr lang="en-US" sz="1400" dirty="0"/>
          </a:p>
        </p:txBody>
      </p:sp>
      <p:pic>
        <p:nvPicPr>
          <p:cNvPr id="14" name="Image 2" descr="/private/tmp/claude-501/-Users-salehhamed-Outcome-Engine/91861432-41e2-4884-bc97-63c6dff2d021/scratchpad/wk/icons/TbClock-grey.png">    </p:cNvPr>
          <p:cNvPicPr>
            <a:picLocks noChangeAspect="1"/>
          </p:cNvPicPr>
          <p:nvPr/>
        </p:nvPicPr>
        <p:blipFill>
          <a:blip r:embed="rId5"/>
          <a:stretch>
            <a:fillRect/>
          </a:stretch>
        </p:blipFill>
        <p:spPr>
          <a:xfrm>
            <a:off x="777240" y="4297680"/>
            <a:ext cx="274320" cy="274320"/>
          </a:xfrm>
          <a:prstGeom prst="rect">
            <a:avLst/>
          </a:prstGeom>
        </p:spPr>
      </p:pic>
      <p:sp>
        <p:nvSpPr>
          <p:cNvPr id="15" name="Text 10"/>
          <p:cNvSpPr txBox="1"/>
          <p:nvPr/>
        </p:nvSpPr>
        <p:spPr>
          <a:xfrm>
            <a:off x="114300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75 min</a:t>
            </a:r>
            <a:endParaRPr lang="en-US" sz="1200" dirty="0"/>
          </a:p>
        </p:txBody>
      </p:sp>
      <p:pic>
        <p:nvPicPr>
          <p:cNvPr id="16" name="Image 3" descr="/private/tmp/claude-501/-Users-salehhamed-Outcome-Engine/91861432-41e2-4884-bc97-63c6dff2d021/scratchpad/wk/icons/TbUsers-grey.png">    </p:cNvPr>
          <p:cNvPicPr>
            <a:picLocks noChangeAspect="1"/>
          </p:cNvPicPr>
          <p:nvPr/>
        </p:nvPicPr>
        <p:blipFill>
          <a:blip r:embed="rId6"/>
          <a:stretch>
            <a:fillRect/>
          </a:stretch>
        </p:blipFill>
        <p:spPr>
          <a:xfrm>
            <a:off x="777240" y="4681728"/>
            <a:ext cx="274320" cy="274320"/>
          </a:xfrm>
          <a:prstGeom prst="rect">
            <a:avLst/>
          </a:prstGeom>
        </p:spPr>
      </p:pic>
      <p:sp>
        <p:nvSpPr>
          <p:cNvPr id="17" name="Text 11"/>
          <p:cNvSpPr txBox="1"/>
          <p:nvPr/>
        </p:nvSpPr>
        <p:spPr>
          <a:xfrm>
            <a:off x="114300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Tables, then whole room</a:t>
            </a:r>
            <a:endParaRPr lang="en-US" sz="1200" dirty="0"/>
          </a:p>
        </p:txBody>
      </p:sp>
      <p:pic>
        <p:nvPicPr>
          <p:cNvPr id="18" name="Image 4" descr="/private/tmp/claude-501/-Users-salehhamed-Outcome-Engine/91861432-41e2-4884-bc97-63c6dff2d021/scratchpad/wk/icons/TbGauge-grey.png">    </p:cNvPr>
          <p:cNvPicPr>
            <a:picLocks noChangeAspect="1"/>
          </p:cNvPicPr>
          <p:nvPr/>
        </p:nvPicPr>
        <p:blipFill>
          <a:blip r:embed="rId7"/>
          <a:stretch>
            <a:fillRect/>
          </a:stretch>
        </p:blipFill>
        <p:spPr>
          <a:xfrm>
            <a:off x="777240" y="5065776"/>
            <a:ext cx="274320" cy="274320"/>
          </a:xfrm>
          <a:prstGeom prst="rect">
            <a:avLst/>
          </a:prstGeom>
        </p:spPr>
      </p:pic>
      <p:sp>
        <p:nvSpPr>
          <p:cNvPr id="19" name="Text 12"/>
          <p:cNvSpPr txBox="1"/>
          <p:nvPr/>
        </p:nvSpPr>
        <p:spPr>
          <a:xfrm>
            <a:off x="114300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High energy</a:t>
            </a:r>
            <a:endParaRPr lang="en-US" sz="1200" dirty="0"/>
          </a:p>
        </p:txBody>
      </p:sp>
      <p:sp>
        <p:nvSpPr>
          <p:cNvPr id="20" name="Text 13"/>
          <p:cNvSpPr txBox="1"/>
          <p:nvPr/>
        </p:nvSpPr>
        <p:spPr>
          <a:xfrm>
            <a:off x="77724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You want everyone on their feet after lunch.</a:t>
            </a:r>
            <a:endParaRPr lang="en-US" sz="1150" dirty="0"/>
          </a:p>
        </p:txBody>
      </p:sp>
      <p:pic>
        <p:nvPicPr>
          <p:cNvPr id="21" name="Image 5" descr="/private/tmp/claude-501/-Users-salehhamed-Outcome-Engine/91861432-41e2-4884-bc97-63c6dff2d021/scratchpad/wk/brand/clear.png">
            <a:hlinkClick r:id="rId9" tooltip="Option A" action="ppaction://hlinksldjump"/>
          </p:cNvPr>
          <p:cNvPicPr>
            <a:picLocks noChangeAspect="1"/>
          </p:cNvPicPr>
          <p:nvPr/>
        </p:nvPicPr>
        <p:blipFill>
          <a:blip r:embed="rId8"/>
          <a:stretch>
            <a:fillRect/>
          </a:stretch>
        </p:blipFill>
        <p:spPr>
          <a:xfrm>
            <a:off x="548640" y="1463040"/>
            <a:ext cx="3566160" cy="4663440"/>
          </a:xfrm>
          <a:prstGeom prst="rect">
            <a:avLst/>
          </a:prstGeom>
        </p:spPr>
      </p:pic>
      <p:sp>
        <p:nvSpPr>
          <p:cNvPr id="22" name="Shape 14"/>
          <p:cNvSpPr/>
          <p:nvPr/>
        </p:nvSpPr>
        <p:spPr>
          <a:xfrm>
            <a:off x="4297680" y="1463040"/>
            <a:ext cx="3566160" cy="4663440"/>
          </a:xfrm>
          <a:prstGeom prst="roundRect">
            <a:avLst>
              <a:gd name="adj" fmla="val 2051"/>
            </a:avLst>
          </a:prstGeom>
          <a:solidFill>
            <a:srgbClr val="FFFFFF"/>
          </a:solidFill>
          <a:ln w="12700">
            <a:solidFill>
              <a:srgbClr val="D9DEE2"/>
            </a:solidFill>
            <a:prstDash val="solid"/>
          </a:ln>
        </p:spPr>
      </p:sp>
      <p:sp>
        <p:nvSpPr>
          <p:cNvPr id="23" name="Shape 15"/>
          <p:cNvSpPr/>
          <p:nvPr/>
        </p:nvSpPr>
        <p:spPr>
          <a:xfrm>
            <a:off x="4297680" y="1463040"/>
            <a:ext cx="3566160" cy="566928"/>
          </a:xfrm>
          <a:prstGeom prst="roundRect">
            <a:avLst>
              <a:gd name="adj" fmla="val 12903"/>
            </a:avLst>
          </a:prstGeom>
          <a:solidFill>
            <a:srgbClr val="FF462D"/>
          </a:solidFill>
          <a:ln/>
        </p:spPr>
      </p:sp>
      <p:sp>
        <p:nvSpPr>
          <p:cNvPr id="24" name="Shape 16"/>
          <p:cNvSpPr/>
          <p:nvPr/>
        </p:nvSpPr>
        <p:spPr>
          <a:xfrm>
            <a:off x="4297680" y="1828800"/>
            <a:ext cx="3566160" cy="201168"/>
          </a:xfrm>
          <a:prstGeom prst="rect">
            <a:avLst/>
          </a:prstGeom>
          <a:solidFill>
            <a:srgbClr val="FF462D"/>
          </a:solidFill>
          <a:ln/>
        </p:spPr>
      </p:sp>
      <p:pic>
        <p:nvPicPr>
          <p:cNvPr id="25" name="Image 6" descr="/private/tmp/claude-501/-Users-salehhamed-Outcome-Engine/91861432-41e2-4884-bc97-63c6dff2d021/scratchpad/wk/icons/TbDeviceMobile-white.png">    </p:cNvPr>
          <p:cNvPicPr>
            <a:picLocks noChangeAspect="1"/>
          </p:cNvPicPr>
          <p:nvPr/>
        </p:nvPicPr>
        <p:blipFill>
          <a:blip r:embed="rId10"/>
          <a:stretch>
            <a:fillRect/>
          </a:stretch>
        </p:blipFill>
        <p:spPr>
          <a:xfrm>
            <a:off x="4462272" y="1554480"/>
            <a:ext cx="384048" cy="384048"/>
          </a:xfrm>
          <a:prstGeom prst="rect">
            <a:avLst/>
          </a:prstGeom>
        </p:spPr>
      </p:pic>
      <p:sp>
        <p:nvSpPr>
          <p:cNvPr id="26" name="Text 17"/>
          <p:cNvSpPr txBox="1"/>
          <p:nvPr/>
        </p:nvSpPr>
        <p:spPr>
          <a:xfrm>
            <a:off x="495604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B · LIVE VOTING</a:t>
            </a:r>
            <a:endParaRPr lang="en-US" sz="1150" dirty="0"/>
          </a:p>
        </p:txBody>
      </p:sp>
      <p:sp>
        <p:nvSpPr>
          <p:cNvPr id="27" name="Text 18"/>
          <p:cNvSpPr txBox="1"/>
          <p:nvPr/>
        </p:nvSpPr>
        <p:spPr>
          <a:xfrm>
            <a:off x="452628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100 points</a:t>
            </a:r>
            <a:endParaRPr lang="en-US" sz="2100" dirty="0"/>
          </a:p>
        </p:txBody>
      </p:sp>
      <p:sp>
        <p:nvSpPr>
          <p:cNvPr id="28" name="Text 19"/>
          <p:cNvSpPr txBox="1"/>
          <p:nvPr/>
        </p:nvSpPr>
        <p:spPr>
          <a:xfrm>
            <a:off x="452628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Phones vote the slice, spread 100 points over the measures, and add to-do items.</a:t>
            </a:r>
            <a:endParaRPr lang="en-US" sz="1400" dirty="0"/>
          </a:p>
        </p:txBody>
      </p:sp>
      <p:pic>
        <p:nvPicPr>
          <p:cNvPr id="29" name="Image 7" descr="/private/tmp/claude-501/-Users-salehhamed-Outcome-Engine/91861432-41e2-4884-bc97-63c6dff2d021/scratchpad/wk/icons/TbClock-grey.png">    </p:cNvPr>
          <p:cNvPicPr>
            <a:picLocks noChangeAspect="1"/>
          </p:cNvPicPr>
          <p:nvPr/>
        </p:nvPicPr>
        <p:blipFill>
          <a:blip r:embed="rId11"/>
          <a:stretch>
            <a:fillRect/>
          </a:stretch>
        </p:blipFill>
        <p:spPr>
          <a:xfrm>
            <a:off x="4526280" y="4297680"/>
            <a:ext cx="274320" cy="274320"/>
          </a:xfrm>
          <a:prstGeom prst="rect">
            <a:avLst/>
          </a:prstGeom>
        </p:spPr>
      </p:pic>
      <p:sp>
        <p:nvSpPr>
          <p:cNvPr id="30" name="Text 20"/>
          <p:cNvSpPr txBox="1"/>
          <p:nvPr/>
        </p:nvSpPr>
        <p:spPr>
          <a:xfrm>
            <a:off x="489204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75 min</a:t>
            </a:r>
            <a:endParaRPr lang="en-US" sz="1200" dirty="0"/>
          </a:p>
        </p:txBody>
      </p:sp>
      <p:pic>
        <p:nvPicPr>
          <p:cNvPr id="31" name="Image 8" descr="/private/tmp/claude-501/-Users-salehhamed-Outcome-Engine/91861432-41e2-4884-bc97-63c6dff2d021/scratchpad/wk/icons/TbUsers-grey.png">    </p:cNvPr>
          <p:cNvPicPr>
            <a:picLocks noChangeAspect="1"/>
          </p:cNvPicPr>
          <p:nvPr/>
        </p:nvPicPr>
        <p:blipFill>
          <a:blip r:embed="rId12"/>
          <a:stretch>
            <a:fillRect/>
          </a:stretch>
        </p:blipFill>
        <p:spPr>
          <a:xfrm>
            <a:off x="4526280" y="4681728"/>
            <a:ext cx="274320" cy="274320"/>
          </a:xfrm>
          <a:prstGeom prst="rect">
            <a:avLst/>
          </a:prstGeom>
        </p:spPr>
      </p:pic>
      <p:sp>
        <p:nvSpPr>
          <p:cNvPr id="32" name="Text 21"/>
          <p:cNvSpPr txBox="1"/>
          <p:nvPr/>
        </p:nvSpPr>
        <p:spPr>
          <a:xfrm>
            <a:off x="489204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Each person</a:t>
            </a:r>
            <a:endParaRPr lang="en-US" sz="1200" dirty="0"/>
          </a:p>
        </p:txBody>
      </p:sp>
      <p:pic>
        <p:nvPicPr>
          <p:cNvPr id="33" name="Image 9" descr="/private/tmp/claude-501/-Users-salehhamed-Outcome-Engine/91861432-41e2-4884-bc97-63c6dff2d021/scratchpad/wk/icons/TbGauge-grey.png">    </p:cNvPr>
          <p:cNvPicPr>
            <a:picLocks noChangeAspect="1"/>
          </p:cNvPicPr>
          <p:nvPr/>
        </p:nvPicPr>
        <p:blipFill>
          <a:blip r:embed="rId13"/>
          <a:stretch>
            <a:fillRect/>
          </a:stretch>
        </p:blipFill>
        <p:spPr>
          <a:xfrm>
            <a:off x="4526280" y="5065776"/>
            <a:ext cx="274320" cy="274320"/>
          </a:xfrm>
          <a:prstGeom prst="rect">
            <a:avLst/>
          </a:prstGeom>
        </p:spPr>
      </p:pic>
      <p:sp>
        <p:nvSpPr>
          <p:cNvPr id="34" name="Text 22"/>
          <p:cNvSpPr txBox="1"/>
          <p:nvPr/>
        </p:nvSpPr>
        <p:spPr>
          <a:xfrm>
            <a:off x="489204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35" name="Text 23"/>
          <p:cNvSpPr txBox="1"/>
          <p:nvPr/>
        </p:nvSpPr>
        <p:spPr>
          <a:xfrm>
            <a:off x="452628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You want finance and delivery weighed equally.</a:t>
            </a:r>
            <a:endParaRPr lang="en-US" sz="1150" dirty="0"/>
          </a:p>
        </p:txBody>
      </p:sp>
      <p:pic>
        <p:nvPicPr>
          <p:cNvPr id="36" name="Image 10" descr="/private/tmp/claude-501/-Users-salehhamed-Outcome-Engine/91861432-41e2-4884-bc97-63c6dff2d021/scratchpad/wk/brand/clear.png">
            <a:hlinkClick r:id="rId15" tooltip="Option B" action="ppaction://hlinksldjump"/>
          </p:cNvPr>
          <p:cNvPicPr>
            <a:picLocks noChangeAspect="1"/>
          </p:cNvPicPr>
          <p:nvPr/>
        </p:nvPicPr>
        <p:blipFill>
          <a:blip r:embed="rId14"/>
          <a:stretch>
            <a:fillRect/>
          </a:stretch>
        </p:blipFill>
        <p:spPr>
          <a:xfrm>
            <a:off x="4297680" y="1463040"/>
            <a:ext cx="3566160" cy="4663440"/>
          </a:xfrm>
          <a:prstGeom prst="rect">
            <a:avLst/>
          </a:prstGeom>
        </p:spPr>
      </p:pic>
      <p:sp>
        <p:nvSpPr>
          <p:cNvPr id="37" name="Shape 24"/>
          <p:cNvSpPr/>
          <p:nvPr/>
        </p:nvSpPr>
        <p:spPr>
          <a:xfrm>
            <a:off x="8046720" y="1463040"/>
            <a:ext cx="3566160" cy="4663440"/>
          </a:xfrm>
          <a:prstGeom prst="roundRect">
            <a:avLst>
              <a:gd name="adj" fmla="val 2051"/>
            </a:avLst>
          </a:prstGeom>
          <a:solidFill>
            <a:srgbClr val="FFFFFF"/>
          </a:solidFill>
          <a:ln w="12700">
            <a:solidFill>
              <a:srgbClr val="D9DEE2"/>
            </a:solidFill>
            <a:prstDash val="solid"/>
          </a:ln>
        </p:spPr>
      </p:sp>
      <p:sp>
        <p:nvSpPr>
          <p:cNvPr id="38" name="Shape 25"/>
          <p:cNvSpPr/>
          <p:nvPr/>
        </p:nvSpPr>
        <p:spPr>
          <a:xfrm>
            <a:off x="8046720" y="1463040"/>
            <a:ext cx="3566160" cy="566928"/>
          </a:xfrm>
          <a:prstGeom prst="roundRect">
            <a:avLst>
              <a:gd name="adj" fmla="val 12903"/>
            </a:avLst>
          </a:prstGeom>
          <a:solidFill>
            <a:srgbClr val="36454F"/>
          </a:solidFill>
          <a:ln/>
        </p:spPr>
      </p:sp>
      <p:sp>
        <p:nvSpPr>
          <p:cNvPr id="39" name="Shape 26"/>
          <p:cNvSpPr/>
          <p:nvPr/>
        </p:nvSpPr>
        <p:spPr>
          <a:xfrm>
            <a:off x="8046720" y="1828800"/>
            <a:ext cx="3566160" cy="201168"/>
          </a:xfrm>
          <a:prstGeom prst="rect">
            <a:avLst/>
          </a:prstGeom>
          <a:solidFill>
            <a:srgbClr val="36454F"/>
          </a:solidFill>
          <a:ln/>
        </p:spPr>
      </p:sp>
      <p:pic>
        <p:nvPicPr>
          <p:cNvPr id="40" name="Image 11" descr="/private/tmp/claude-501/-Users-salehhamed-Outcome-Engine/91861432-41e2-4884-bc97-63c6dff2d021/scratchpad/wk/icons/TbMasksTheater-white.png">    </p:cNvPr>
          <p:cNvPicPr>
            <a:picLocks noChangeAspect="1"/>
          </p:cNvPicPr>
          <p:nvPr/>
        </p:nvPicPr>
        <p:blipFill>
          <a:blip r:embed="rId16"/>
          <a:stretch>
            <a:fillRect/>
          </a:stretch>
        </p:blipFill>
        <p:spPr>
          <a:xfrm>
            <a:off x="8211312" y="1554480"/>
            <a:ext cx="384048" cy="384048"/>
          </a:xfrm>
          <a:prstGeom prst="rect">
            <a:avLst/>
          </a:prstGeom>
        </p:spPr>
      </p:pic>
      <p:sp>
        <p:nvSpPr>
          <p:cNvPr id="41" name="Text 27"/>
          <p:cNvSpPr txBox="1"/>
          <p:nvPr/>
        </p:nvSpPr>
        <p:spPr>
          <a:xfrm>
            <a:off x="870508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C · CASES AND CONVERSATION</a:t>
            </a:r>
            <a:endParaRPr lang="en-US" sz="1150" dirty="0"/>
          </a:p>
        </p:txBody>
      </p:sp>
      <p:sp>
        <p:nvSpPr>
          <p:cNvPr id="42" name="Text 28"/>
          <p:cNvSpPr txBox="1"/>
          <p:nvPr/>
        </p:nvSpPr>
        <p:spPr>
          <a:xfrm>
            <a:off x="827532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January: imagine it failed</a:t>
            </a:r>
            <a:endParaRPr lang="en-US" sz="2100" dirty="0"/>
          </a:p>
        </p:txBody>
      </p:sp>
      <p:sp>
        <p:nvSpPr>
          <p:cNvPr id="43" name="Text 29"/>
          <p:cNvSpPr txBox="1"/>
          <p:nvPr/>
        </p:nvSpPr>
        <p:spPr>
          <a:xfrm>
            <a:off x="827532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Imagine the pilot failed by January; turn each reason into a dependency or a to-do item.</a:t>
            </a:r>
            <a:endParaRPr lang="en-US" sz="1400" dirty="0"/>
          </a:p>
        </p:txBody>
      </p:sp>
      <p:pic>
        <p:nvPicPr>
          <p:cNvPr id="44" name="Image 12" descr="/private/tmp/claude-501/-Users-salehhamed-Outcome-Engine/91861432-41e2-4884-bc97-63c6dff2d021/scratchpad/wk/icons/TbClock-grey.png">    </p:cNvPr>
          <p:cNvPicPr>
            <a:picLocks noChangeAspect="1"/>
          </p:cNvPicPr>
          <p:nvPr/>
        </p:nvPicPr>
        <p:blipFill>
          <a:blip r:embed="rId17"/>
          <a:stretch>
            <a:fillRect/>
          </a:stretch>
        </p:blipFill>
        <p:spPr>
          <a:xfrm>
            <a:off x="8275320" y="4297680"/>
            <a:ext cx="274320" cy="274320"/>
          </a:xfrm>
          <a:prstGeom prst="rect">
            <a:avLst/>
          </a:prstGeom>
        </p:spPr>
      </p:pic>
      <p:sp>
        <p:nvSpPr>
          <p:cNvPr id="45" name="Text 30"/>
          <p:cNvSpPr txBox="1"/>
          <p:nvPr/>
        </p:nvSpPr>
        <p:spPr>
          <a:xfrm>
            <a:off x="864108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75 min</a:t>
            </a:r>
            <a:endParaRPr lang="en-US" sz="1200" dirty="0"/>
          </a:p>
        </p:txBody>
      </p:sp>
      <p:pic>
        <p:nvPicPr>
          <p:cNvPr id="46" name="Image 13" descr="/private/tmp/claude-501/-Users-salehhamed-Outcome-Engine/91861432-41e2-4884-bc97-63c6dff2d021/scratchpad/wk/icons/TbUsers-grey.png">    </p:cNvPr>
          <p:cNvPicPr>
            <a:picLocks noChangeAspect="1"/>
          </p:cNvPicPr>
          <p:nvPr/>
        </p:nvPicPr>
        <p:blipFill>
          <a:blip r:embed="rId18"/>
          <a:stretch>
            <a:fillRect/>
          </a:stretch>
        </p:blipFill>
        <p:spPr>
          <a:xfrm>
            <a:off x="8275320" y="4681728"/>
            <a:ext cx="274320" cy="274320"/>
          </a:xfrm>
          <a:prstGeom prst="rect">
            <a:avLst/>
          </a:prstGeom>
        </p:spPr>
      </p:pic>
      <p:sp>
        <p:nvSpPr>
          <p:cNvPr id="47" name="Text 31"/>
          <p:cNvSpPr txBox="1"/>
          <p:nvPr/>
        </p:nvSpPr>
        <p:spPr>
          <a:xfrm>
            <a:off x="864108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Tables</a:t>
            </a:r>
            <a:endParaRPr lang="en-US" sz="1200" dirty="0"/>
          </a:p>
        </p:txBody>
      </p:sp>
      <p:pic>
        <p:nvPicPr>
          <p:cNvPr id="48" name="Image 14" descr="/private/tmp/claude-501/-Users-salehhamed-Outcome-Engine/91861432-41e2-4884-bc97-63c6dff2d021/scratchpad/wk/icons/TbGauge-grey.png">    </p:cNvPr>
          <p:cNvPicPr>
            <a:picLocks noChangeAspect="1"/>
          </p:cNvPicPr>
          <p:nvPr/>
        </p:nvPicPr>
        <p:blipFill>
          <a:blip r:embed="rId19"/>
          <a:stretch>
            <a:fillRect/>
          </a:stretch>
        </p:blipFill>
        <p:spPr>
          <a:xfrm>
            <a:off x="8275320" y="5065776"/>
            <a:ext cx="274320" cy="274320"/>
          </a:xfrm>
          <a:prstGeom prst="rect">
            <a:avLst/>
          </a:prstGeom>
        </p:spPr>
      </p:pic>
      <p:sp>
        <p:nvSpPr>
          <p:cNvPr id="49" name="Text 32"/>
          <p:cNvSpPr txBox="1"/>
          <p:nvPr/>
        </p:nvSpPr>
        <p:spPr>
          <a:xfrm>
            <a:off x="864108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50" name="Text 33"/>
          <p:cNvSpPr txBox="1"/>
          <p:nvPr/>
        </p:nvSpPr>
        <p:spPr>
          <a:xfrm>
            <a:off x="827532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room is optimistic and needs grounding.</a:t>
            </a:r>
            <a:endParaRPr lang="en-US" sz="1150" dirty="0"/>
          </a:p>
        </p:txBody>
      </p:sp>
      <p:pic>
        <p:nvPicPr>
          <p:cNvPr id="51" name="Image 15" descr="/private/tmp/claude-501/-Users-salehhamed-Outcome-Engine/91861432-41e2-4884-bc97-63c6dff2d021/scratchpad/wk/brand/clear.png">
            <a:hlinkClick r:id="rId21" tooltip="Option C" action="ppaction://hlinksldjump"/>
          </p:cNvPr>
          <p:cNvPicPr>
            <a:picLocks noChangeAspect="1"/>
          </p:cNvPicPr>
          <p:nvPr/>
        </p:nvPicPr>
        <p:blipFill>
          <a:blip r:embed="rId20"/>
          <a:stretch>
            <a:fillRect/>
          </a:stretch>
        </p:blipFill>
        <p:spPr>
          <a:xfrm>
            <a:off x="8046720" y="1463040"/>
            <a:ext cx="3566160" cy="4663440"/>
          </a:xfrm>
          <a:prstGeom prst="rect">
            <a:avLst/>
          </a:prstGeom>
        </p:spPr>
      </p:pic>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OPTION A · HANDS-ON · WHAT HAPPENS NEXT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Slice and stick</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13:45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182</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Tables build a slice from cards; dots pick the measures; a to-do wall gets owners.</a:t>
            </a:r>
            <a:endParaRPr lang="en-US" sz="1900" dirty="0"/>
          </a:p>
        </p:txBody>
      </p:sp>
      <p:sp>
        <p:nvSpPr>
          <p:cNvPr id="8" name="Shape 5"/>
          <p:cNvSpPr/>
          <p:nvPr/>
        </p:nvSpPr>
        <p:spPr>
          <a:xfrm>
            <a:off x="548640" y="2240280"/>
            <a:ext cx="1442679" cy="1417320"/>
          </a:xfrm>
          <a:prstGeom prst="rect">
            <a:avLst/>
          </a:prstGeom>
          <a:solidFill>
            <a:srgbClr val="287079"/>
          </a:solidFill>
          <a:ln/>
        </p:spPr>
      </p:sp>
      <p:sp>
        <p:nvSpPr>
          <p:cNvPr id="9" name="Text 6"/>
          <p:cNvSpPr txBox="1"/>
          <p:nvPr/>
        </p:nvSpPr>
        <p:spPr>
          <a:xfrm>
            <a:off x="64008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0" name="Text 7"/>
          <p:cNvSpPr txBox="1"/>
          <p:nvPr/>
        </p:nvSpPr>
        <p:spPr>
          <a:xfrm>
            <a:off x="64008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Ninety days</a:t>
            </a:r>
            <a:endParaRPr lang="en-US" sz="1500" dirty="0"/>
          </a:p>
        </p:txBody>
      </p:sp>
      <p:sp>
        <p:nvSpPr>
          <p:cNvPr id="11" name="Shape 8"/>
          <p:cNvSpPr/>
          <p:nvPr/>
        </p:nvSpPr>
        <p:spPr>
          <a:xfrm>
            <a:off x="2027895" y="2240280"/>
            <a:ext cx="2921935" cy="1417320"/>
          </a:xfrm>
          <a:prstGeom prst="rect">
            <a:avLst/>
          </a:prstGeom>
          <a:solidFill>
            <a:srgbClr val="5C8F95"/>
          </a:solidFill>
          <a:ln/>
        </p:spPr>
      </p:sp>
      <p:sp>
        <p:nvSpPr>
          <p:cNvPr id="12" name="Text 9"/>
          <p:cNvSpPr txBox="1"/>
          <p:nvPr/>
        </p:nvSpPr>
        <p:spPr>
          <a:xfrm>
            <a:off x="2119335" y="2331720"/>
            <a:ext cx="2775631"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20 min</a:t>
            </a:r>
            <a:endParaRPr lang="en-US" sz="1150" dirty="0"/>
          </a:p>
        </p:txBody>
      </p:sp>
      <p:sp>
        <p:nvSpPr>
          <p:cNvPr id="13" name="Text 10"/>
          <p:cNvSpPr txBox="1"/>
          <p:nvPr/>
        </p:nvSpPr>
        <p:spPr>
          <a:xfrm>
            <a:off x="2119335" y="2651760"/>
            <a:ext cx="2812207"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Build a slice</a:t>
            </a:r>
            <a:endParaRPr lang="en-US" sz="1500" dirty="0"/>
          </a:p>
        </p:txBody>
      </p:sp>
      <p:sp>
        <p:nvSpPr>
          <p:cNvPr id="14" name="Shape 11"/>
          <p:cNvSpPr/>
          <p:nvPr/>
        </p:nvSpPr>
        <p:spPr>
          <a:xfrm>
            <a:off x="4986406" y="2240280"/>
            <a:ext cx="2921935" cy="1417320"/>
          </a:xfrm>
          <a:prstGeom prst="rect">
            <a:avLst/>
          </a:prstGeom>
          <a:solidFill>
            <a:srgbClr val="287079"/>
          </a:solidFill>
          <a:ln/>
        </p:spPr>
      </p:sp>
      <p:sp>
        <p:nvSpPr>
          <p:cNvPr id="15" name="Text 12"/>
          <p:cNvSpPr txBox="1"/>
          <p:nvPr/>
        </p:nvSpPr>
        <p:spPr>
          <a:xfrm>
            <a:off x="5077846" y="2331720"/>
            <a:ext cx="2775631"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20 min</a:t>
            </a:r>
            <a:endParaRPr lang="en-US" sz="1150" dirty="0"/>
          </a:p>
        </p:txBody>
      </p:sp>
      <p:sp>
        <p:nvSpPr>
          <p:cNvPr id="16" name="Text 13"/>
          <p:cNvSpPr txBox="1"/>
          <p:nvPr/>
        </p:nvSpPr>
        <p:spPr>
          <a:xfrm>
            <a:off x="5077846" y="2651760"/>
            <a:ext cx="2812207"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Pick measures</a:t>
            </a:r>
            <a:endParaRPr lang="en-US" sz="1500" dirty="0"/>
          </a:p>
        </p:txBody>
      </p:sp>
      <p:sp>
        <p:nvSpPr>
          <p:cNvPr id="17" name="Shape 14"/>
          <p:cNvSpPr/>
          <p:nvPr/>
        </p:nvSpPr>
        <p:spPr>
          <a:xfrm>
            <a:off x="7944917" y="2240280"/>
            <a:ext cx="2921935" cy="1417320"/>
          </a:xfrm>
          <a:prstGeom prst="rect">
            <a:avLst/>
          </a:prstGeom>
          <a:solidFill>
            <a:srgbClr val="5C8F95"/>
          </a:solidFill>
          <a:ln/>
        </p:spPr>
      </p:sp>
      <p:sp>
        <p:nvSpPr>
          <p:cNvPr id="18" name="Text 15"/>
          <p:cNvSpPr txBox="1"/>
          <p:nvPr/>
        </p:nvSpPr>
        <p:spPr>
          <a:xfrm>
            <a:off x="8036357" y="2331720"/>
            <a:ext cx="2775631"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20 min</a:t>
            </a:r>
            <a:endParaRPr lang="en-US" sz="1150" dirty="0"/>
          </a:p>
        </p:txBody>
      </p:sp>
      <p:sp>
        <p:nvSpPr>
          <p:cNvPr id="19" name="Text 16"/>
          <p:cNvSpPr txBox="1"/>
          <p:nvPr/>
        </p:nvSpPr>
        <p:spPr>
          <a:xfrm>
            <a:off x="8036357" y="2651760"/>
            <a:ext cx="2812207"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To-do wall</a:t>
            </a:r>
            <a:endParaRPr lang="en-US" sz="1500" dirty="0"/>
          </a:p>
        </p:txBody>
      </p:sp>
      <p:sp>
        <p:nvSpPr>
          <p:cNvPr id="20" name="Shape 17"/>
          <p:cNvSpPr/>
          <p:nvPr/>
        </p:nvSpPr>
        <p:spPr>
          <a:xfrm>
            <a:off x="10903428" y="2240280"/>
            <a:ext cx="703052" cy="1417320"/>
          </a:xfrm>
          <a:prstGeom prst="rect">
            <a:avLst/>
          </a:prstGeom>
          <a:solidFill>
            <a:srgbClr val="287079"/>
          </a:solidFill>
          <a:ln/>
        </p:spPr>
      </p:sp>
      <p:sp>
        <p:nvSpPr>
          <p:cNvPr id="21" name="Text 18"/>
          <p:cNvSpPr txBox="1"/>
          <p:nvPr/>
        </p:nvSpPr>
        <p:spPr>
          <a:xfrm>
            <a:off x="10994868" y="2331720"/>
            <a:ext cx="55674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22" name="Text 19"/>
          <p:cNvSpPr txBox="1"/>
          <p:nvPr/>
        </p:nvSpPr>
        <p:spPr>
          <a:xfrm>
            <a:off x="10994868" y="2651760"/>
            <a:ext cx="593324"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Check</a:t>
            </a:r>
            <a:endParaRPr lang="en-US" sz="950" dirty="0"/>
          </a:p>
        </p:txBody>
      </p:sp>
      <p:sp>
        <p:nvSpPr>
          <p:cNvPr id="23" name="Shape 20"/>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4"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5" name="Text 21"/>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6" name="Text 22"/>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Tables, then whole room</a:t>
            </a:r>
            <a:endParaRPr lang="en-US" sz="1300" dirty="0"/>
          </a:p>
        </p:txBody>
      </p:sp>
      <p:sp>
        <p:nvSpPr>
          <p:cNvPr id="27" name="Shape 23"/>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8"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9" name="Text 24"/>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30" name="Text 25"/>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The slice, three measures and how to get their baselines, dependencies, the to-do list with owners.</a:t>
            </a:r>
            <a:endParaRPr lang="en-US" sz="1300" dirty="0"/>
          </a:p>
        </p:txBody>
      </p:sp>
      <p:sp>
        <p:nvSpPr>
          <p:cNvPr id="31" name="Shape 26"/>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32"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33" name="Text 27"/>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34" name="Text 28"/>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show="0">
  <p:cSld name="Slide 18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FF462D"/>
                </a:solidFill>
                <a:latin typeface="Arial" pitchFamily="34" charset="0"/>
                <a:ea typeface="Arial" pitchFamily="34" charset="-122"/>
                <a:cs typeface="Arial" pitchFamily="34" charset="-120"/>
              </a:rPr>
              <a:t>OPTION B · LIVE VOTING · WHAT HAPPENS NEXT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100 points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13:45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183</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Phones vote the slice, spread 100 points over the measures, and add to-do items.</a:t>
            </a:r>
            <a:endParaRPr lang="en-US" sz="1900" dirty="0"/>
          </a:p>
        </p:txBody>
      </p:sp>
      <p:sp>
        <p:nvSpPr>
          <p:cNvPr id="8" name="Shape 5"/>
          <p:cNvSpPr/>
          <p:nvPr/>
        </p:nvSpPr>
        <p:spPr>
          <a:xfrm>
            <a:off x="548640" y="2240280"/>
            <a:ext cx="1442679" cy="1417320"/>
          </a:xfrm>
          <a:prstGeom prst="rect">
            <a:avLst/>
          </a:prstGeom>
          <a:solidFill>
            <a:srgbClr val="FF462D"/>
          </a:solidFill>
          <a:ln/>
        </p:spPr>
      </p:sp>
      <p:sp>
        <p:nvSpPr>
          <p:cNvPr id="9" name="Text 6"/>
          <p:cNvSpPr txBox="1"/>
          <p:nvPr/>
        </p:nvSpPr>
        <p:spPr>
          <a:xfrm>
            <a:off x="64008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0" name="Text 7"/>
          <p:cNvSpPr txBox="1"/>
          <p:nvPr/>
        </p:nvSpPr>
        <p:spPr>
          <a:xfrm>
            <a:off x="64008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Ninety days</a:t>
            </a:r>
            <a:endParaRPr lang="en-US" sz="1500" dirty="0"/>
          </a:p>
        </p:txBody>
      </p:sp>
      <p:sp>
        <p:nvSpPr>
          <p:cNvPr id="11" name="Shape 8"/>
          <p:cNvSpPr/>
          <p:nvPr/>
        </p:nvSpPr>
        <p:spPr>
          <a:xfrm>
            <a:off x="2027895" y="2240280"/>
            <a:ext cx="2921935" cy="1417320"/>
          </a:xfrm>
          <a:prstGeom prst="rect">
            <a:avLst/>
          </a:prstGeom>
          <a:solidFill>
            <a:srgbClr val="FF8A78"/>
          </a:solidFill>
          <a:ln/>
        </p:spPr>
      </p:sp>
      <p:sp>
        <p:nvSpPr>
          <p:cNvPr id="12" name="Text 9"/>
          <p:cNvSpPr txBox="1"/>
          <p:nvPr/>
        </p:nvSpPr>
        <p:spPr>
          <a:xfrm>
            <a:off x="2119335" y="2331720"/>
            <a:ext cx="2775631"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20 min</a:t>
            </a:r>
            <a:endParaRPr lang="en-US" sz="1150" dirty="0"/>
          </a:p>
        </p:txBody>
      </p:sp>
      <p:sp>
        <p:nvSpPr>
          <p:cNvPr id="13" name="Text 10"/>
          <p:cNvSpPr txBox="1"/>
          <p:nvPr/>
        </p:nvSpPr>
        <p:spPr>
          <a:xfrm>
            <a:off x="2119335" y="2651760"/>
            <a:ext cx="2812207"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Vote the slice</a:t>
            </a:r>
            <a:endParaRPr lang="en-US" sz="1500" dirty="0"/>
          </a:p>
        </p:txBody>
      </p:sp>
      <p:sp>
        <p:nvSpPr>
          <p:cNvPr id="14" name="Shape 11"/>
          <p:cNvSpPr/>
          <p:nvPr/>
        </p:nvSpPr>
        <p:spPr>
          <a:xfrm>
            <a:off x="4986406" y="2240280"/>
            <a:ext cx="2921935" cy="1417320"/>
          </a:xfrm>
          <a:prstGeom prst="rect">
            <a:avLst/>
          </a:prstGeom>
          <a:solidFill>
            <a:srgbClr val="FF462D"/>
          </a:solidFill>
          <a:ln/>
        </p:spPr>
      </p:sp>
      <p:sp>
        <p:nvSpPr>
          <p:cNvPr id="15" name="Text 12"/>
          <p:cNvSpPr txBox="1"/>
          <p:nvPr/>
        </p:nvSpPr>
        <p:spPr>
          <a:xfrm>
            <a:off x="5077846" y="2331720"/>
            <a:ext cx="2775631"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20 min</a:t>
            </a:r>
            <a:endParaRPr lang="en-US" sz="1150" dirty="0"/>
          </a:p>
        </p:txBody>
      </p:sp>
      <p:sp>
        <p:nvSpPr>
          <p:cNvPr id="16" name="Text 13"/>
          <p:cNvSpPr txBox="1"/>
          <p:nvPr/>
        </p:nvSpPr>
        <p:spPr>
          <a:xfrm>
            <a:off x="5077846" y="2651760"/>
            <a:ext cx="2812207"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100 points</a:t>
            </a:r>
            <a:endParaRPr lang="en-US" sz="1500" dirty="0"/>
          </a:p>
        </p:txBody>
      </p:sp>
      <p:sp>
        <p:nvSpPr>
          <p:cNvPr id="17" name="Shape 14"/>
          <p:cNvSpPr/>
          <p:nvPr/>
        </p:nvSpPr>
        <p:spPr>
          <a:xfrm>
            <a:off x="7944917" y="2240280"/>
            <a:ext cx="2921935" cy="1417320"/>
          </a:xfrm>
          <a:prstGeom prst="rect">
            <a:avLst/>
          </a:prstGeom>
          <a:solidFill>
            <a:srgbClr val="FF8A78"/>
          </a:solidFill>
          <a:ln/>
        </p:spPr>
      </p:sp>
      <p:sp>
        <p:nvSpPr>
          <p:cNvPr id="18" name="Text 15"/>
          <p:cNvSpPr txBox="1"/>
          <p:nvPr/>
        </p:nvSpPr>
        <p:spPr>
          <a:xfrm>
            <a:off x="8036357" y="2331720"/>
            <a:ext cx="2775631"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20 min</a:t>
            </a:r>
            <a:endParaRPr lang="en-US" sz="1150" dirty="0"/>
          </a:p>
        </p:txBody>
      </p:sp>
      <p:sp>
        <p:nvSpPr>
          <p:cNvPr id="19" name="Text 16"/>
          <p:cNvSpPr txBox="1"/>
          <p:nvPr/>
        </p:nvSpPr>
        <p:spPr>
          <a:xfrm>
            <a:off x="8036357" y="2651760"/>
            <a:ext cx="2812207"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To-do list</a:t>
            </a:r>
            <a:endParaRPr lang="en-US" sz="1500" dirty="0"/>
          </a:p>
        </p:txBody>
      </p:sp>
      <p:sp>
        <p:nvSpPr>
          <p:cNvPr id="20" name="Shape 17"/>
          <p:cNvSpPr/>
          <p:nvPr/>
        </p:nvSpPr>
        <p:spPr>
          <a:xfrm>
            <a:off x="10903428" y="2240280"/>
            <a:ext cx="703052" cy="1417320"/>
          </a:xfrm>
          <a:prstGeom prst="rect">
            <a:avLst/>
          </a:prstGeom>
          <a:solidFill>
            <a:srgbClr val="FF462D"/>
          </a:solidFill>
          <a:ln/>
        </p:spPr>
      </p:sp>
      <p:sp>
        <p:nvSpPr>
          <p:cNvPr id="21" name="Text 18"/>
          <p:cNvSpPr txBox="1"/>
          <p:nvPr/>
        </p:nvSpPr>
        <p:spPr>
          <a:xfrm>
            <a:off x="10994868" y="2331720"/>
            <a:ext cx="55674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22" name="Text 19"/>
          <p:cNvSpPr txBox="1"/>
          <p:nvPr/>
        </p:nvSpPr>
        <p:spPr>
          <a:xfrm>
            <a:off x="10994868" y="2651760"/>
            <a:ext cx="593324"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Check</a:t>
            </a:r>
            <a:endParaRPr lang="en-US" sz="950" dirty="0"/>
          </a:p>
        </p:txBody>
      </p:sp>
      <p:sp>
        <p:nvSpPr>
          <p:cNvPr id="23" name="Shape 20"/>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4"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5" name="Text 21"/>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6" name="Text 22"/>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Each person</a:t>
            </a:r>
            <a:endParaRPr lang="en-US" sz="1300" dirty="0"/>
          </a:p>
        </p:txBody>
      </p:sp>
      <p:sp>
        <p:nvSpPr>
          <p:cNvPr id="27" name="Shape 23"/>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8"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9" name="Text 24"/>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30" name="Text 25"/>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Votes, points and the to-do list, saved and exported.</a:t>
            </a:r>
            <a:endParaRPr lang="en-US" sz="1300" dirty="0"/>
          </a:p>
        </p:txBody>
      </p:sp>
      <p:sp>
        <p:nvSpPr>
          <p:cNvPr id="31" name="Shape 26"/>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32"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33" name="Text 27"/>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34" name="Text 28"/>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show="0">
  <p:cSld name="Slide 18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36454F"/>
                </a:solidFill>
                <a:latin typeface="Arial" pitchFamily="34" charset="0"/>
                <a:ea typeface="Arial" pitchFamily="34" charset="-122"/>
                <a:cs typeface="Arial" pitchFamily="34" charset="-120"/>
              </a:rPr>
              <a:t>OPTION C · CASES AND CONVERSATION · WHAT HAPPENS NEXT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January: imagine it failed</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13:45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184</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Imagine the pilot failed by January; turn each reason into a dependency or a to-do item.</a:t>
            </a:r>
            <a:endParaRPr lang="en-US" sz="1900" dirty="0"/>
          </a:p>
        </p:txBody>
      </p:sp>
      <p:sp>
        <p:nvSpPr>
          <p:cNvPr id="8" name="Shape 5"/>
          <p:cNvSpPr/>
          <p:nvPr/>
        </p:nvSpPr>
        <p:spPr>
          <a:xfrm>
            <a:off x="548640" y="2240280"/>
            <a:ext cx="1442679" cy="1417320"/>
          </a:xfrm>
          <a:prstGeom prst="rect">
            <a:avLst/>
          </a:prstGeom>
          <a:solidFill>
            <a:srgbClr val="36454F"/>
          </a:solidFill>
          <a:ln/>
        </p:spPr>
      </p:sp>
      <p:sp>
        <p:nvSpPr>
          <p:cNvPr id="9" name="Text 6"/>
          <p:cNvSpPr txBox="1"/>
          <p:nvPr/>
        </p:nvSpPr>
        <p:spPr>
          <a:xfrm>
            <a:off x="640080" y="2331720"/>
            <a:ext cx="129637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0" name="Text 7"/>
          <p:cNvSpPr txBox="1"/>
          <p:nvPr/>
        </p:nvSpPr>
        <p:spPr>
          <a:xfrm>
            <a:off x="640080" y="2651760"/>
            <a:ext cx="1332951"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Ninety days</a:t>
            </a:r>
            <a:endParaRPr lang="en-US" sz="1500" dirty="0"/>
          </a:p>
        </p:txBody>
      </p:sp>
      <p:sp>
        <p:nvSpPr>
          <p:cNvPr id="11" name="Shape 8"/>
          <p:cNvSpPr/>
          <p:nvPr/>
        </p:nvSpPr>
        <p:spPr>
          <a:xfrm>
            <a:off x="2027895" y="2240280"/>
            <a:ext cx="3661562" cy="1417320"/>
          </a:xfrm>
          <a:prstGeom prst="rect">
            <a:avLst/>
          </a:prstGeom>
          <a:solidFill>
            <a:srgbClr val="6B7B86"/>
          </a:solidFill>
          <a:ln/>
        </p:spPr>
      </p:sp>
      <p:sp>
        <p:nvSpPr>
          <p:cNvPr id="12" name="Text 9"/>
          <p:cNvSpPr txBox="1"/>
          <p:nvPr/>
        </p:nvSpPr>
        <p:spPr>
          <a:xfrm>
            <a:off x="2119335" y="2331720"/>
            <a:ext cx="351525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25 min</a:t>
            </a:r>
            <a:endParaRPr lang="en-US" sz="1150" dirty="0"/>
          </a:p>
        </p:txBody>
      </p:sp>
      <p:sp>
        <p:nvSpPr>
          <p:cNvPr id="13" name="Text 10"/>
          <p:cNvSpPr txBox="1"/>
          <p:nvPr/>
        </p:nvSpPr>
        <p:spPr>
          <a:xfrm>
            <a:off x="2119335" y="2651760"/>
            <a:ext cx="3551834"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Why it failed</a:t>
            </a:r>
            <a:endParaRPr lang="en-US" sz="1500" dirty="0"/>
          </a:p>
        </p:txBody>
      </p:sp>
      <p:sp>
        <p:nvSpPr>
          <p:cNvPr id="14" name="Shape 11"/>
          <p:cNvSpPr/>
          <p:nvPr/>
        </p:nvSpPr>
        <p:spPr>
          <a:xfrm>
            <a:off x="5726034" y="2240280"/>
            <a:ext cx="2921935" cy="1417320"/>
          </a:xfrm>
          <a:prstGeom prst="rect">
            <a:avLst/>
          </a:prstGeom>
          <a:solidFill>
            <a:srgbClr val="36454F"/>
          </a:solidFill>
          <a:ln/>
        </p:spPr>
      </p:sp>
      <p:sp>
        <p:nvSpPr>
          <p:cNvPr id="15" name="Text 12"/>
          <p:cNvSpPr txBox="1"/>
          <p:nvPr/>
        </p:nvSpPr>
        <p:spPr>
          <a:xfrm>
            <a:off x="5817474" y="2331720"/>
            <a:ext cx="2775631"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20 min</a:t>
            </a:r>
            <a:endParaRPr lang="en-US" sz="1150" dirty="0"/>
          </a:p>
        </p:txBody>
      </p:sp>
      <p:sp>
        <p:nvSpPr>
          <p:cNvPr id="16" name="Text 13"/>
          <p:cNvSpPr txBox="1"/>
          <p:nvPr/>
        </p:nvSpPr>
        <p:spPr>
          <a:xfrm>
            <a:off x="5817474" y="2651760"/>
            <a:ext cx="2812207"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Slice and measures</a:t>
            </a:r>
            <a:endParaRPr lang="en-US" sz="1500" dirty="0"/>
          </a:p>
        </p:txBody>
      </p:sp>
      <p:sp>
        <p:nvSpPr>
          <p:cNvPr id="17" name="Shape 14"/>
          <p:cNvSpPr/>
          <p:nvPr/>
        </p:nvSpPr>
        <p:spPr>
          <a:xfrm>
            <a:off x="8684544" y="2240280"/>
            <a:ext cx="2182307" cy="1417320"/>
          </a:xfrm>
          <a:prstGeom prst="rect">
            <a:avLst/>
          </a:prstGeom>
          <a:solidFill>
            <a:srgbClr val="6B7B86"/>
          </a:solidFill>
          <a:ln/>
        </p:spPr>
      </p:sp>
      <p:sp>
        <p:nvSpPr>
          <p:cNvPr id="18" name="Text 15"/>
          <p:cNvSpPr txBox="1"/>
          <p:nvPr/>
        </p:nvSpPr>
        <p:spPr>
          <a:xfrm>
            <a:off x="8775984" y="2331720"/>
            <a:ext cx="203600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9" name="Text 16"/>
          <p:cNvSpPr txBox="1"/>
          <p:nvPr/>
        </p:nvSpPr>
        <p:spPr>
          <a:xfrm>
            <a:off x="8775984" y="2651760"/>
            <a:ext cx="2072579"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Owners</a:t>
            </a:r>
            <a:endParaRPr lang="en-US" sz="1500" dirty="0"/>
          </a:p>
        </p:txBody>
      </p:sp>
      <p:sp>
        <p:nvSpPr>
          <p:cNvPr id="20" name="Shape 17"/>
          <p:cNvSpPr/>
          <p:nvPr/>
        </p:nvSpPr>
        <p:spPr>
          <a:xfrm>
            <a:off x="10903428" y="2240280"/>
            <a:ext cx="703052" cy="1417320"/>
          </a:xfrm>
          <a:prstGeom prst="rect">
            <a:avLst/>
          </a:prstGeom>
          <a:solidFill>
            <a:srgbClr val="36454F"/>
          </a:solidFill>
          <a:ln/>
        </p:spPr>
      </p:sp>
      <p:sp>
        <p:nvSpPr>
          <p:cNvPr id="21" name="Text 18"/>
          <p:cNvSpPr txBox="1"/>
          <p:nvPr/>
        </p:nvSpPr>
        <p:spPr>
          <a:xfrm>
            <a:off x="10994868" y="2331720"/>
            <a:ext cx="556748"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22" name="Text 19"/>
          <p:cNvSpPr txBox="1"/>
          <p:nvPr/>
        </p:nvSpPr>
        <p:spPr>
          <a:xfrm>
            <a:off x="10994868" y="2651760"/>
            <a:ext cx="593324"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Check</a:t>
            </a:r>
            <a:endParaRPr lang="en-US" sz="950" dirty="0"/>
          </a:p>
        </p:txBody>
      </p:sp>
      <p:sp>
        <p:nvSpPr>
          <p:cNvPr id="23" name="Shape 20"/>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4"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5" name="Text 21"/>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6" name="Text 22"/>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Tables</a:t>
            </a:r>
            <a:endParaRPr lang="en-US" sz="1300" dirty="0"/>
          </a:p>
        </p:txBody>
      </p:sp>
      <p:sp>
        <p:nvSpPr>
          <p:cNvPr id="27" name="Shape 23"/>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8"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9" name="Text 24"/>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30" name="Text 25"/>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Failure reasons, the slice and measures, the to-do list with owners.</a:t>
            </a:r>
            <a:endParaRPr lang="en-US" sz="1300" dirty="0"/>
          </a:p>
        </p:txBody>
      </p:sp>
      <p:sp>
        <p:nvSpPr>
          <p:cNvPr id="31" name="Shape 26"/>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32"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33" name="Text 27"/>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34" name="Text 28"/>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WHAT HAPPENS NEXT · FILL IN LIVE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What happens next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13:45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185</a:t>
            </a:r>
            <a:endParaRPr lang="en-US" sz="1000" dirty="0"/>
          </a:p>
        </p:txBody>
      </p:sp>
      <p:sp>
        <p:nvSpPr>
          <p:cNvPr id="7" name="Shape 4"/>
          <p:cNvSpPr/>
          <p:nvPr/>
        </p:nvSpPr>
        <p:spPr>
          <a:xfrm>
            <a:off x="548640" y="1463040"/>
            <a:ext cx="5440680" cy="2194560"/>
          </a:xfrm>
          <a:prstGeom prst="roundRect">
            <a:avLst>
              <a:gd name="adj" fmla="val 3333"/>
            </a:avLst>
          </a:prstGeom>
          <a:solidFill>
            <a:srgbClr val="FFFFFF"/>
          </a:solidFill>
          <a:ln w="12700">
            <a:solidFill>
              <a:srgbClr val="D9DEE2"/>
            </a:solidFill>
            <a:prstDash val="solid"/>
          </a:ln>
        </p:spPr>
      </p:sp>
      <p:sp>
        <p:nvSpPr>
          <p:cNvPr id="8" name="Shape 5"/>
          <p:cNvSpPr/>
          <p:nvPr/>
        </p:nvSpPr>
        <p:spPr>
          <a:xfrm>
            <a:off x="731520" y="1645920"/>
            <a:ext cx="548640" cy="548640"/>
          </a:xfrm>
          <a:prstGeom prst="ellipse">
            <a:avLst/>
          </a:prstGeom>
          <a:solidFill>
            <a:srgbClr val="287079"/>
          </a:solidFill>
          <a:ln/>
        </p:spPr>
      </p:sp>
      <p:pic>
        <p:nvPicPr>
          <p:cNvPr id="9" name="Image 1" descr="/private/tmp/claude-501/-Users-salehhamed-Outcome-Engine/91861432-41e2-4884-bc97-63c6dff2d021/scratchpad/wk/icons/TbLayoutGrid-white.png">    </p:cNvPr>
          <p:cNvPicPr>
            <a:picLocks noChangeAspect="1"/>
          </p:cNvPicPr>
          <p:nvPr/>
        </p:nvPicPr>
        <p:blipFill>
          <a:blip r:embed="rId4"/>
          <a:stretch>
            <a:fillRect/>
          </a:stretch>
        </p:blipFill>
        <p:spPr>
          <a:xfrm>
            <a:off x="841248" y="1755648"/>
            <a:ext cx="329184" cy="329184"/>
          </a:xfrm>
          <a:prstGeom prst="rect">
            <a:avLst/>
          </a:prstGeom>
        </p:spPr>
      </p:pic>
      <p:sp>
        <p:nvSpPr>
          <p:cNvPr id="10" name="Text 6"/>
          <p:cNvSpPr txBox="1"/>
          <p:nvPr/>
        </p:nvSpPr>
        <p:spPr>
          <a:xfrm>
            <a:off x="1463040" y="1645920"/>
            <a:ext cx="4297680" cy="5486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The first slice</a:t>
            </a:r>
            <a:endParaRPr lang="en-US" sz="1600" dirty="0"/>
          </a:p>
        </p:txBody>
      </p:sp>
      <p:sp>
        <p:nvSpPr>
          <p:cNvPr id="11" name="Shape 7"/>
          <p:cNvSpPr/>
          <p:nvPr/>
        </p:nvSpPr>
        <p:spPr>
          <a:xfrm>
            <a:off x="6172200" y="1463040"/>
            <a:ext cx="5440680" cy="2194560"/>
          </a:xfrm>
          <a:prstGeom prst="roundRect">
            <a:avLst>
              <a:gd name="adj" fmla="val 3333"/>
            </a:avLst>
          </a:prstGeom>
          <a:solidFill>
            <a:srgbClr val="FFFFFF"/>
          </a:solidFill>
          <a:ln w="12700">
            <a:solidFill>
              <a:srgbClr val="D9DEE2"/>
            </a:solidFill>
            <a:prstDash val="solid"/>
          </a:ln>
        </p:spPr>
      </p:sp>
      <p:sp>
        <p:nvSpPr>
          <p:cNvPr id="12" name="Shape 8"/>
          <p:cNvSpPr/>
          <p:nvPr/>
        </p:nvSpPr>
        <p:spPr>
          <a:xfrm>
            <a:off x="6355080" y="1645920"/>
            <a:ext cx="548640" cy="548640"/>
          </a:xfrm>
          <a:prstGeom prst="ellipse">
            <a:avLst/>
          </a:prstGeom>
          <a:solidFill>
            <a:srgbClr val="287079"/>
          </a:solidFill>
          <a:ln/>
        </p:spPr>
      </p:sp>
      <p:pic>
        <p:nvPicPr>
          <p:cNvPr id="13" name="Image 2" descr="/private/tmp/claude-501/-Users-salehhamed-Outcome-Engine/91861432-41e2-4884-bc97-63c6dff2d021/scratchpad/wk/icons/TbChartBar-white.png">    </p:cNvPr>
          <p:cNvPicPr>
            <a:picLocks noChangeAspect="1"/>
          </p:cNvPicPr>
          <p:nvPr/>
        </p:nvPicPr>
        <p:blipFill>
          <a:blip r:embed="rId5"/>
          <a:stretch>
            <a:fillRect/>
          </a:stretch>
        </p:blipFill>
        <p:spPr>
          <a:xfrm>
            <a:off x="6464808" y="1755648"/>
            <a:ext cx="329184" cy="329184"/>
          </a:xfrm>
          <a:prstGeom prst="rect">
            <a:avLst/>
          </a:prstGeom>
        </p:spPr>
      </p:pic>
      <p:sp>
        <p:nvSpPr>
          <p:cNvPr id="14" name="Text 9"/>
          <p:cNvSpPr txBox="1"/>
          <p:nvPr/>
        </p:nvSpPr>
        <p:spPr>
          <a:xfrm>
            <a:off x="7086600" y="1645920"/>
            <a:ext cx="4297680" cy="5486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Three measures, and how we get each baseline</a:t>
            </a:r>
            <a:endParaRPr lang="en-US" sz="1600" dirty="0"/>
          </a:p>
        </p:txBody>
      </p:sp>
      <p:sp>
        <p:nvSpPr>
          <p:cNvPr id="15" name="Shape 10"/>
          <p:cNvSpPr/>
          <p:nvPr/>
        </p:nvSpPr>
        <p:spPr>
          <a:xfrm>
            <a:off x="548640" y="3840480"/>
            <a:ext cx="5440680" cy="2194560"/>
          </a:xfrm>
          <a:prstGeom prst="roundRect">
            <a:avLst>
              <a:gd name="adj" fmla="val 3333"/>
            </a:avLst>
          </a:prstGeom>
          <a:solidFill>
            <a:srgbClr val="FFFFFF"/>
          </a:solidFill>
          <a:ln w="12700">
            <a:solidFill>
              <a:srgbClr val="D9DEE2"/>
            </a:solidFill>
            <a:prstDash val="solid"/>
          </a:ln>
        </p:spPr>
      </p:sp>
      <p:sp>
        <p:nvSpPr>
          <p:cNvPr id="16" name="Shape 11"/>
          <p:cNvSpPr/>
          <p:nvPr/>
        </p:nvSpPr>
        <p:spPr>
          <a:xfrm>
            <a:off x="731520" y="4023360"/>
            <a:ext cx="548640" cy="548640"/>
          </a:xfrm>
          <a:prstGeom prst="ellipse">
            <a:avLst/>
          </a:prstGeom>
          <a:solidFill>
            <a:srgbClr val="287079"/>
          </a:solidFill>
          <a:ln/>
        </p:spPr>
      </p:sp>
      <p:pic>
        <p:nvPicPr>
          <p:cNvPr id="17" name="Image 3" descr="/private/tmp/claude-501/-Users-salehhamed-Outcome-Engine/91861432-41e2-4884-bc97-63c6dff2d021/scratchpad/wk/icons/TbKey-white.png">    </p:cNvPr>
          <p:cNvPicPr>
            <a:picLocks noChangeAspect="1"/>
          </p:cNvPicPr>
          <p:nvPr/>
        </p:nvPicPr>
        <p:blipFill>
          <a:blip r:embed="rId6"/>
          <a:stretch>
            <a:fillRect/>
          </a:stretch>
        </p:blipFill>
        <p:spPr>
          <a:xfrm>
            <a:off x="841248" y="4133088"/>
            <a:ext cx="329184" cy="329184"/>
          </a:xfrm>
          <a:prstGeom prst="rect">
            <a:avLst/>
          </a:prstGeom>
        </p:spPr>
      </p:pic>
      <p:sp>
        <p:nvSpPr>
          <p:cNvPr id="18" name="Text 12"/>
          <p:cNvSpPr txBox="1"/>
          <p:nvPr/>
        </p:nvSpPr>
        <p:spPr>
          <a:xfrm>
            <a:off x="1463040" y="4023360"/>
            <a:ext cx="4297680" cy="5486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Dependencies, each with an owner</a:t>
            </a:r>
            <a:endParaRPr lang="en-US" sz="1600" dirty="0"/>
          </a:p>
        </p:txBody>
      </p:sp>
      <p:sp>
        <p:nvSpPr>
          <p:cNvPr id="19" name="Shape 13"/>
          <p:cNvSpPr/>
          <p:nvPr/>
        </p:nvSpPr>
        <p:spPr>
          <a:xfrm>
            <a:off x="6172200" y="3840480"/>
            <a:ext cx="5440680" cy="2194560"/>
          </a:xfrm>
          <a:prstGeom prst="roundRect">
            <a:avLst>
              <a:gd name="adj" fmla="val 3333"/>
            </a:avLst>
          </a:prstGeom>
          <a:solidFill>
            <a:srgbClr val="FFFFFF"/>
          </a:solidFill>
          <a:ln w="12700">
            <a:solidFill>
              <a:srgbClr val="D9DEE2"/>
            </a:solidFill>
            <a:prstDash val="solid"/>
          </a:ln>
        </p:spPr>
      </p:sp>
      <p:sp>
        <p:nvSpPr>
          <p:cNvPr id="20" name="Shape 14"/>
          <p:cNvSpPr/>
          <p:nvPr/>
        </p:nvSpPr>
        <p:spPr>
          <a:xfrm>
            <a:off x="6355080" y="4023360"/>
            <a:ext cx="548640" cy="548640"/>
          </a:xfrm>
          <a:prstGeom prst="ellipse">
            <a:avLst/>
          </a:prstGeom>
          <a:solidFill>
            <a:srgbClr val="287079"/>
          </a:solidFill>
          <a:ln/>
        </p:spPr>
      </p:sp>
      <p:pic>
        <p:nvPicPr>
          <p:cNvPr id="21" name="Image 4" descr="/private/tmp/claude-501/-Users-salehhamed-Outcome-Engine/91861432-41e2-4884-bc97-63c6dff2d021/scratchpad/wk/icons/TbListDetails-white.png">    </p:cNvPr>
          <p:cNvPicPr>
            <a:picLocks noChangeAspect="1"/>
          </p:cNvPicPr>
          <p:nvPr/>
        </p:nvPicPr>
        <p:blipFill>
          <a:blip r:embed="rId7"/>
          <a:stretch>
            <a:fillRect/>
          </a:stretch>
        </p:blipFill>
        <p:spPr>
          <a:xfrm>
            <a:off x="6464808" y="4133088"/>
            <a:ext cx="329184" cy="329184"/>
          </a:xfrm>
          <a:prstGeom prst="rect">
            <a:avLst/>
          </a:prstGeom>
        </p:spPr>
      </p:pic>
      <p:sp>
        <p:nvSpPr>
          <p:cNvPr id="22" name="Text 15"/>
          <p:cNvSpPr txBox="1"/>
          <p:nvPr/>
        </p:nvSpPr>
        <p:spPr>
          <a:xfrm>
            <a:off x="7086600" y="4023360"/>
            <a:ext cx="4297680" cy="54864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To-do list: see the board</a:t>
            </a:r>
            <a:endParaRPr lang="en-US" sz="16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QUICK CHECK · HANDS UP OR PHONES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Why do we need a baseline before the pilot starts?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13:45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186</a:t>
            </a:r>
            <a:endParaRPr lang="en-US" sz="1000" dirty="0"/>
          </a:p>
        </p:txBody>
      </p:sp>
      <p:sp>
        <p:nvSpPr>
          <p:cNvPr id="7" name="Shape 4"/>
          <p:cNvSpPr/>
          <p:nvPr/>
        </p:nvSpPr>
        <p:spPr>
          <a:xfrm>
            <a:off x="548640" y="1828800"/>
            <a:ext cx="11091672" cy="1005840"/>
          </a:xfrm>
          <a:prstGeom prst="roundRect">
            <a:avLst>
              <a:gd name="adj" fmla="val 7273"/>
            </a:avLst>
          </a:prstGeom>
          <a:solidFill>
            <a:srgbClr val="FFFFFF"/>
          </a:solidFill>
          <a:ln w="12700">
            <a:solidFill>
              <a:srgbClr val="D9DEE2"/>
            </a:solidFill>
            <a:prstDash val="solid"/>
          </a:ln>
        </p:spPr>
      </p:sp>
      <p:sp>
        <p:nvSpPr>
          <p:cNvPr id="8" name="Shape 5"/>
          <p:cNvSpPr/>
          <p:nvPr/>
        </p:nvSpPr>
        <p:spPr>
          <a:xfrm>
            <a:off x="777240" y="2057400"/>
            <a:ext cx="548640" cy="548640"/>
          </a:xfrm>
          <a:prstGeom prst="ellipse">
            <a:avLst/>
          </a:prstGeom>
          <a:solidFill>
            <a:srgbClr val="36454F"/>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Today the work is not measured, so no gain could be shown</a:t>
            </a:r>
            <a:endParaRPr lang="en-US" sz="2000" dirty="0"/>
          </a:p>
        </p:txBody>
      </p:sp>
      <p:sp>
        <p:nvSpPr>
          <p:cNvPr id="11" name="Shape 8"/>
          <p:cNvSpPr/>
          <p:nvPr/>
        </p:nvSpPr>
        <p:spPr>
          <a:xfrm>
            <a:off x="548640" y="3017520"/>
            <a:ext cx="11091672" cy="1005840"/>
          </a:xfrm>
          <a:prstGeom prst="roundRect">
            <a:avLst>
              <a:gd name="adj" fmla="val 7273"/>
            </a:avLst>
          </a:prstGeom>
          <a:solidFill>
            <a:srgbClr val="FFFFFF"/>
          </a:solidFill>
          <a:ln w="12700">
            <a:solidFill>
              <a:srgbClr val="D9DEE2"/>
            </a:solidFill>
            <a:prstDash val="solid"/>
          </a:ln>
        </p:spPr>
      </p:sp>
      <p:sp>
        <p:nvSpPr>
          <p:cNvPr id="12" name="Shape 9"/>
          <p:cNvSpPr/>
          <p:nvPr/>
        </p:nvSpPr>
        <p:spPr>
          <a:xfrm>
            <a:off x="777240" y="3246120"/>
            <a:ext cx="548640" cy="548640"/>
          </a:xfrm>
          <a:prstGeom prst="ellipse">
            <a:avLst/>
          </a:prstGeom>
          <a:solidFill>
            <a:srgbClr val="36454F"/>
          </a:solidFill>
          <a:ln/>
        </p:spPr>
      </p:sp>
      <p:sp>
        <p:nvSpPr>
          <p:cNvPr id="13"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4"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Because finance asks for one before any pilot can start</a:t>
            </a:r>
            <a:endParaRPr lang="en-US" sz="2000" dirty="0"/>
          </a:p>
        </p:txBody>
      </p:sp>
      <p:sp>
        <p:nvSpPr>
          <p:cNvPr id="15" name="Shape 12"/>
          <p:cNvSpPr/>
          <p:nvPr/>
        </p:nvSpPr>
        <p:spPr>
          <a:xfrm>
            <a:off x="548640" y="4206240"/>
            <a:ext cx="11091672" cy="1005840"/>
          </a:xfrm>
          <a:prstGeom prst="roundRect">
            <a:avLst>
              <a:gd name="adj" fmla="val 7273"/>
            </a:avLst>
          </a:prstGeom>
          <a:solidFill>
            <a:srgbClr val="FFFFFF"/>
          </a:solidFill>
          <a:ln w="12700">
            <a:solidFill>
              <a:srgbClr val="D9DEE2"/>
            </a:solidFill>
            <a:prstDash val="solid"/>
          </a:ln>
        </p:spPr>
      </p:sp>
      <p:sp>
        <p:nvSpPr>
          <p:cNvPr id="16" name="Shape 13"/>
          <p:cNvSpPr/>
          <p:nvPr/>
        </p:nvSpPr>
        <p:spPr>
          <a:xfrm>
            <a:off x="777240" y="4434840"/>
            <a:ext cx="548640" cy="548640"/>
          </a:xfrm>
          <a:prstGeom prst="ellipse">
            <a:avLst/>
          </a:prstGeom>
          <a:solidFill>
            <a:srgbClr val="36454F"/>
          </a:solidFill>
          <a:ln/>
        </p:spPr>
      </p:sp>
      <p:sp>
        <p:nvSpPr>
          <p:cNvPr id="17"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8"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So that we can compare our numbers with other firms</a:t>
            </a:r>
            <a:endParaRPr lang="en-US" sz="20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CHECK · THE ANSWER</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Why do we need a baseline before the pilot starts?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13:45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187</a:t>
            </a:r>
            <a:endParaRPr lang="en-US" sz="1000" dirty="0"/>
          </a:p>
        </p:txBody>
      </p:sp>
      <p:sp>
        <p:nvSpPr>
          <p:cNvPr id="7" name="Shape 4"/>
          <p:cNvSpPr/>
          <p:nvPr/>
        </p:nvSpPr>
        <p:spPr>
          <a:xfrm>
            <a:off x="548640" y="1828800"/>
            <a:ext cx="11091672" cy="1005840"/>
          </a:xfrm>
          <a:prstGeom prst="roundRect">
            <a:avLst>
              <a:gd name="adj" fmla="val 7273"/>
            </a:avLst>
          </a:prstGeom>
          <a:solidFill>
            <a:srgbClr val="E3F1E9"/>
          </a:solidFill>
          <a:ln w="12700">
            <a:solidFill>
              <a:srgbClr val="2E8656"/>
            </a:solidFill>
            <a:prstDash val="solid"/>
          </a:ln>
        </p:spPr>
      </p:sp>
      <p:sp>
        <p:nvSpPr>
          <p:cNvPr id="8" name="Shape 5"/>
          <p:cNvSpPr/>
          <p:nvPr/>
        </p:nvSpPr>
        <p:spPr>
          <a:xfrm>
            <a:off x="777240" y="2057400"/>
            <a:ext cx="548640" cy="548640"/>
          </a:xfrm>
          <a:prstGeom prst="ellipse">
            <a:avLst/>
          </a:prstGeom>
          <a:solidFill>
            <a:srgbClr val="2E8656"/>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Today the work is not measured, so no gain could be shown</a:t>
            </a:r>
            <a:endParaRPr lang="en-US" sz="2000" dirty="0"/>
          </a:p>
        </p:txBody>
      </p:sp>
      <p:pic>
        <p:nvPicPr>
          <p:cNvPr id="11" name="Image 1" descr="/private/tmp/claude-501/-Users-salehhamed-Outcome-Engine/91861432-41e2-4884-bc97-63c6dff2d021/scratchpad/wk/icons/TbCircleCheck-green.png">    </p:cNvPr>
          <p:cNvPicPr>
            <a:picLocks noChangeAspect="1"/>
          </p:cNvPicPr>
          <p:nvPr/>
        </p:nvPicPr>
        <p:blipFill>
          <a:blip r:embed="rId4"/>
          <a:stretch>
            <a:fillRect/>
          </a:stretch>
        </p:blipFill>
        <p:spPr>
          <a:xfrm>
            <a:off x="10927080" y="2057400"/>
            <a:ext cx="548640" cy="548640"/>
          </a:xfrm>
          <a:prstGeom prst="rect">
            <a:avLst/>
          </a:prstGeom>
        </p:spPr>
      </p:pic>
      <p:sp>
        <p:nvSpPr>
          <p:cNvPr id="12" name="Shape 8"/>
          <p:cNvSpPr/>
          <p:nvPr/>
        </p:nvSpPr>
        <p:spPr>
          <a:xfrm>
            <a:off x="548640" y="3017520"/>
            <a:ext cx="11091672" cy="1005840"/>
          </a:xfrm>
          <a:prstGeom prst="roundRect">
            <a:avLst>
              <a:gd name="adj" fmla="val 7273"/>
            </a:avLst>
          </a:prstGeom>
          <a:solidFill>
            <a:srgbClr val="FFFFFF"/>
          </a:solidFill>
          <a:ln w="12700">
            <a:solidFill>
              <a:srgbClr val="D9DEE2"/>
            </a:solidFill>
            <a:prstDash val="solid"/>
          </a:ln>
        </p:spPr>
      </p:sp>
      <p:sp>
        <p:nvSpPr>
          <p:cNvPr id="13" name="Shape 9"/>
          <p:cNvSpPr/>
          <p:nvPr/>
        </p:nvSpPr>
        <p:spPr>
          <a:xfrm>
            <a:off x="777240" y="3246120"/>
            <a:ext cx="548640" cy="548640"/>
          </a:xfrm>
          <a:prstGeom prst="ellipse">
            <a:avLst/>
          </a:prstGeom>
          <a:solidFill>
            <a:srgbClr val="8A94A4"/>
          </a:solidFill>
          <a:ln/>
        </p:spPr>
      </p:sp>
      <p:sp>
        <p:nvSpPr>
          <p:cNvPr id="14"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5"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Because finance asks for one before any pilot can start</a:t>
            </a:r>
            <a:endParaRPr lang="en-US" sz="2000" dirty="0"/>
          </a:p>
        </p:txBody>
      </p:sp>
      <p:sp>
        <p:nvSpPr>
          <p:cNvPr id="16" name="Shape 12"/>
          <p:cNvSpPr/>
          <p:nvPr/>
        </p:nvSpPr>
        <p:spPr>
          <a:xfrm>
            <a:off x="548640" y="4206240"/>
            <a:ext cx="11091672" cy="1005840"/>
          </a:xfrm>
          <a:prstGeom prst="roundRect">
            <a:avLst>
              <a:gd name="adj" fmla="val 7273"/>
            </a:avLst>
          </a:prstGeom>
          <a:solidFill>
            <a:srgbClr val="FFFFFF"/>
          </a:solidFill>
          <a:ln w="12700">
            <a:solidFill>
              <a:srgbClr val="D9DEE2"/>
            </a:solidFill>
            <a:prstDash val="solid"/>
          </a:ln>
        </p:spPr>
      </p:sp>
      <p:sp>
        <p:nvSpPr>
          <p:cNvPr id="17" name="Shape 13"/>
          <p:cNvSpPr/>
          <p:nvPr/>
        </p:nvSpPr>
        <p:spPr>
          <a:xfrm>
            <a:off x="777240" y="4434840"/>
            <a:ext cx="548640" cy="548640"/>
          </a:xfrm>
          <a:prstGeom prst="ellipse">
            <a:avLst/>
          </a:prstGeom>
          <a:solidFill>
            <a:srgbClr val="8A94A4"/>
          </a:solidFill>
          <a:ln/>
        </p:spPr>
      </p:sp>
      <p:sp>
        <p:nvSpPr>
          <p:cNvPr id="18"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9"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So that we can compare our numbers with other firms</a:t>
            </a:r>
            <a:endParaRPr lang="en-US" sz="20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BREAK · BUILD FREEZE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Break · build freeze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15:00</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8A94A4"/>
                </a:solidFill>
                <a:latin typeface="Arial" pitchFamily="34" charset="0"/>
                <a:ea typeface="Arial" pitchFamily="34" charset="-122"/>
                <a:cs typeface="Arial" pitchFamily="34" charset="-120"/>
              </a:rPr>
              <a:t>   188</a:t>
            </a:r>
            <a:endParaRPr lang="en-US" sz="1000" dirty="0"/>
          </a:p>
        </p:txBody>
      </p:sp>
      <p:sp>
        <p:nvSpPr>
          <p:cNvPr id="7" name="Shape 4"/>
          <p:cNvSpPr/>
          <p:nvPr/>
        </p:nvSpPr>
        <p:spPr>
          <a:xfrm>
            <a:off x="548640" y="1737360"/>
            <a:ext cx="1280160" cy="1280160"/>
          </a:xfrm>
          <a:prstGeom prst="ellipse">
            <a:avLst/>
          </a:prstGeom>
          <a:solidFill>
            <a:srgbClr val="287079"/>
          </a:solidFill>
          <a:ln/>
        </p:spPr>
      </p:sp>
      <p:pic>
        <p:nvPicPr>
          <p:cNvPr id="8" name="Image 1" descr="/private/tmp/claude-501/-Users-salehhamed-Outcome-Engine/91861432-41e2-4884-bc97-63c6dff2d021/scratchpad/wk/icons/TbCoffee-white.png">    </p:cNvPr>
          <p:cNvPicPr>
            <a:picLocks noChangeAspect="1"/>
          </p:cNvPicPr>
          <p:nvPr/>
        </p:nvPicPr>
        <p:blipFill>
          <a:blip r:embed="rId3"/>
          <a:stretch>
            <a:fillRect/>
          </a:stretch>
        </p:blipFill>
        <p:spPr>
          <a:xfrm>
            <a:off x="804672" y="1993392"/>
            <a:ext cx="768096" cy="768096"/>
          </a:xfrm>
          <a:prstGeom prst="rect">
            <a:avLst/>
          </a:prstGeom>
        </p:spPr>
      </p:pic>
      <p:sp>
        <p:nvSpPr>
          <p:cNvPr id="9" name="Text 5"/>
          <p:cNvSpPr txBox="1"/>
          <p:nvPr/>
        </p:nvSpPr>
        <p:spPr>
          <a:xfrm>
            <a:off x="2194560" y="1737360"/>
            <a:ext cx="8229600" cy="1280160"/>
          </a:xfrm>
          <a:prstGeom prst="rect">
            <a:avLst/>
          </a:prstGeom>
          <a:noFill/>
          <a:ln/>
        </p:spPr>
        <p:txBody>
          <a:bodyPr wrap="square" lIns="0" tIns="0" rIns="0" bIns="0" rtlCol="0" anchor="ctr"/>
          <a:lstStyle/>
          <a:p>
            <a:pPr indent="0" marL="0">
              <a:buNone/>
            </a:pPr>
            <a:r>
              <a:rPr lang="en-US" sz="4000" b="1" dirty="0">
                <a:solidFill>
                  <a:srgbClr val="1F2A33"/>
                </a:solidFill>
                <a:latin typeface="TWK Everett" pitchFamily="34" charset="0"/>
                <a:ea typeface="TWK Everett" pitchFamily="34" charset="-122"/>
                <a:cs typeface="TWK Everett" pitchFamily="34" charset="-120"/>
              </a:rPr>
              <a:t>Back at 15:15</a:t>
            </a:r>
            <a:endParaRPr lang="en-US" sz="4000" dirty="0"/>
          </a:p>
        </p:txBody>
      </p:sp>
      <p:pic>
        <p:nvPicPr>
          <p:cNvPr id="10" name="Image 2" descr="/private/tmp/claude-501/-Users-salehhamed-Outcome-Engine/91861432-41e2-4884-bc97-63c6dff2d021/scratchpad/wk/icons/TbHammer-green.png">    </p:cNvPr>
          <p:cNvPicPr>
            <a:picLocks noChangeAspect="1"/>
          </p:cNvPicPr>
          <p:nvPr/>
        </p:nvPicPr>
        <p:blipFill>
          <a:blip r:embed="rId4"/>
          <a:stretch>
            <a:fillRect/>
          </a:stretch>
        </p:blipFill>
        <p:spPr>
          <a:xfrm>
            <a:off x="548640" y="3657600"/>
            <a:ext cx="548640" cy="548640"/>
          </a:xfrm>
          <a:prstGeom prst="rect">
            <a:avLst/>
          </a:prstGeom>
        </p:spPr>
      </p:pic>
      <p:sp>
        <p:nvSpPr>
          <p:cNvPr id="11" name="Text 6"/>
          <p:cNvSpPr txBox="1"/>
          <p:nvPr/>
        </p:nvSpPr>
        <p:spPr>
          <a:xfrm>
            <a:off x="1280160" y="3611880"/>
            <a:ext cx="10058400" cy="731520"/>
          </a:xfrm>
          <a:prstGeom prst="rect">
            <a:avLst/>
          </a:prstGeom>
          <a:noFill/>
          <a:ln/>
        </p:spPr>
        <p:txBody>
          <a:bodyPr wrap="square" lIns="0" tIns="0" rIns="0" bIns="0" rtlCol="0" anchor="ctr"/>
          <a:lstStyle/>
          <a:p>
            <a:pPr indent="0" marL="0">
              <a:buNone/>
            </a:pPr>
            <a:r>
              <a:rPr lang="en-US" sz="1800" b="1" dirty="0">
                <a:solidFill>
                  <a:srgbClr val="2E8656"/>
                </a:solidFill>
                <a:latin typeface="Arial" pitchFamily="34" charset="0"/>
                <a:ea typeface="Arial" pitchFamily="34" charset="-122"/>
                <a:cs typeface="Arial" pitchFamily="34" charset="-120"/>
              </a:rPr>
              <a:t>The build is frozen for the live review.</a:t>
            </a:r>
            <a:endParaRPr lang="en-US" sz="1800" dirty="0"/>
          </a:p>
        </p:txBody>
      </p:sp>
      <p:sp>
        <p:nvSpPr>
          <p:cNvPr id="12" name="Text 7"/>
          <p:cNvSpPr txBox="1"/>
          <p:nvPr/>
        </p:nvSpPr>
        <p:spPr>
          <a:xfrm>
            <a:off x="548640" y="5120640"/>
            <a:ext cx="10058400" cy="457200"/>
          </a:xfrm>
          <a:prstGeom prst="rect">
            <a:avLst/>
          </a:prstGeom>
          <a:noFill/>
          <a:ln/>
        </p:spPr>
        <p:txBody>
          <a:bodyPr wrap="square" lIns="0" tIns="0" rIns="0" bIns="0" rtlCol="0" anchor="t"/>
          <a:lstStyle/>
          <a:p>
            <a:pPr indent="0" marL="0">
              <a:buNone/>
            </a:pPr>
            <a:r>
              <a:rPr lang="en-US" sz="1500" dirty="0">
                <a:solidFill>
                  <a:srgbClr val="5A5A5A"/>
                </a:solidFill>
                <a:latin typeface="Arial" pitchFamily="34" charset="0"/>
                <a:ea typeface="Arial" pitchFamily="34" charset="-122"/>
                <a:cs typeface="Arial" pitchFamily="34" charset="-120"/>
              </a:rPr>
              <a:t>Questions? Put them on the parking wall or in the room tool.</a:t>
            </a:r>
            <a:endParaRPr lang="en-US" sz="15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36454F"/>
          </a:solidFill>
          <a:ln/>
        </p:spPr>
      </p:sp>
      <p:sp>
        <p:nvSpPr>
          <p:cNvPr id="3" name="Text 1"/>
          <p:cNvSpPr txBox="1"/>
          <p:nvPr/>
        </p:nvSpPr>
        <p:spPr>
          <a:xfrm>
            <a:off x="548640" y="548640"/>
            <a:ext cx="3474720" cy="274320"/>
          </a:xfrm>
          <a:prstGeom prst="rect">
            <a:avLst/>
          </a:prstGeom>
          <a:noFill/>
          <a:ln/>
        </p:spPr>
        <p:txBody>
          <a:bodyPr wrap="square" lIns="0" tIns="0" rIns="0" bIns="0" rtlCol="0" anchor="t"/>
          <a:lstStyle/>
          <a:p>
            <a:pPr indent="0" marL="0">
              <a:buNone/>
            </a:pPr>
            <a:r>
              <a:rPr lang="en-US" sz="1100" b="1" spc="150" kern="0" dirty="0">
                <a:solidFill>
                  <a:srgbClr val="D9DEE2"/>
                </a:solidFill>
                <a:latin typeface="Arial" pitchFamily="34" charset="0"/>
                <a:ea typeface="Arial" pitchFamily="34" charset="-122"/>
                <a:cs typeface="Arial" pitchFamily="34" charset="-120"/>
              </a:rPr>
              <a:t>DAY 2 · 15:15–16:15 · 60 MIN</a:t>
            </a:r>
            <a:endParaRPr lang="en-US" sz="1100" dirty="0"/>
          </a:p>
        </p:txBody>
      </p:sp>
      <p:sp>
        <p:nvSpPr>
          <p:cNvPr id="4" name="Text 2"/>
          <p:cNvSpPr txBox="1"/>
          <p:nvPr/>
        </p:nvSpPr>
        <p:spPr>
          <a:xfrm>
            <a:off x="548640" y="960120"/>
            <a:ext cx="3383280" cy="2377440"/>
          </a:xfrm>
          <a:prstGeom prst="rect">
            <a:avLst/>
          </a:prstGeom>
          <a:noFill/>
          <a:ln/>
        </p:spPr>
        <p:txBody>
          <a:bodyPr wrap="square" lIns="0" tIns="0" rIns="0" bIns="0" rtlCol="0" anchor="t"/>
          <a:lstStyle/>
          <a:p>
            <a:pPr indent="0" marL="0">
              <a:buNone/>
            </a:pPr>
            <a:r>
              <a:rPr lang="en-US" sz="3000" b="1" dirty="0">
                <a:solidFill>
                  <a:srgbClr val="FFFFFF"/>
                </a:solidFill>
                <a:latin typeface="TWK Everett" pitchFamily="34" charset="0"/>
                <a:ea typeface="TWK Everett" pitchFamily="34" charset="-122"/>
                <a:cs typeface="TWK Everett" pitchFamily="34" charset="-120"/>
              </a:rPr>
              <a:t>Review the live Proof of Concept</a:t>
            </a:r>
            <a:endParaRPr lang="en-US" sz="3000" dirty="0"/>
          </a:p>
        </p:txBody>
      </p:sp>
      <p:pic>
        <p:nvPicPr>
          <p:cNvPr id="5" name="Image 0" descr="/private/tmp/claude-501/-Users-salehhamed-Outcome-Engine/91861432-41e2-4884-bc97-63c6dff2d021/scratchpad/wk/icons/TbPlayerPlay-white.png">    </p:cNvPr>
          <p:cNvPicPr>
            <a:picLocks noChangeAspect="1"/>
          </p:cNvPicPr>
          <p:nvPr/>
        </p:nvPicPr>
        <p:blipFill>
          <a:blip r:embed="rId1"/>
          <a:stretch>
            <a:fillRect/>
          </a:stretch>
        </p:blipFill>
        <p:spPr>
          <a:xfrm>
            <a:off x="548640" y="3200400"/>
            <a:ext cx="685800" cy="685800"/>
          </a:xfrm>
          <a:prstGeom prst="rect">
            <a:avLst/>
          </a:prstGeom>
        </p:spPr>
      </p:pic>
      <p:sp>
        <p:nvSpPr>
          <p:cNvPr id="6" name="Shape 3"/>
          <p:cNvSpPr/>
          <p:nvPr/>
        </p:nvSpPr>
        <p:spPr>
          <a:xfrm>
            <a:off x="548640" y="4169664"/>
            <a:ext cx="237744" cy="237744"/>
          </a:xfrm>
          <a:prstGeom prst="ellipse">
            <a:avLst/>
          </a:prstGeom>
          <a:solidFill>
            <a:srgbClr val="FFFFFF"/>
          </a:solidFill>
          <a:ln/>
        </p:spPr>
      </p:sp>
      <p:sp>
        <p:nvSpPr>
          <p:cNvPr id="7" name="Shape 4"/>
          <p:cNvSpPr/>
          <p:nvPr/>
        </p:nvSpPr>
        <p:spPr>
          <a:xfrm>
            <a:off x="932688" y="4169664"/>
            <a:ext cx="237744" cy="237744"/>
          </a:xfrm>
          <a:prstGeom prst="ellipse">
            <a:avLst/>
          </a:prstGeom>
          <a:solidFill>
            <a:srgbClr val="FFFFFF"/>
          </a:solidFill>
          <a:ln/>
        </p:spPr>
      </p:sp>
      <p:sp>
        <p:nvSpPr>
          <p:cNvPr id="8" name="Shape 5"/>
          <p:cNvSpPr/>
          <p:nvPr/>
        </p:nvSpPr>
        <p:spPr>
          <a:xfrm>
            <a:off x="1316736" y="4169664"/>
            <a:ext cx="237744" cy="237744"/>
          </a:xfrm>
          <a:prstGeom prst="ellipse">
            <a:avLst/>
          </a:prstGeom>
          <a:solidFill>
            <a:srgbClr val="FFFFFF"/>
          </a:solidFill>
          <a:ln/>
        </p:spPr>
      </p:sp>
      <p:sp>
        <p:nvSpPr>
          <p:cNvPr id="9" name="Shape 6"/>
          <p:cNvSpPr/>
          <p:nvPr/>
        </p:nvSpPr>
        <p:spPr>
          <a:xfrm>
            <a:off x="1700784" y="4169664"/>
            <a:ext cx="237744" cy="237744"/>
          </a:xfrm>
          <a:prstGeom prst="ellipse">
            <a:avLst/>
          </a:prstGeom>
          <a:solidFill>
            <a:srgbClr val="FFFFFF"/>
          </a:solidFill>
          <a:ln/>
        </p:spPr>
      </p:sp>
      <p:sp>
        <p:nvSpPr>
          <p:cNvPr id="10" name="Shape 7"/>
          <p:cNvSpPr/>
          <p:nvPr/>
        </p:nvSpPr>
        <p:spPr>
          <a:xfrm>
            <a:off x="2084832" y="4169664"/>
            <a:ext cx="237744" cy="237744"/>
          </a:xfrm>
          <a:prstGeom prst="ellipse">
            <a:avLst/>
          </a:prstGeom>
          <a:solidFill>
            <a:srgbClr val="FFFFFF"/>
          </a:solidFill>
          <a:ln/>
        </p:spPr>
      </p:sp>
      <p:sp>
        <p:nvSpPr>
          <p:cNvPr id="11" name="Shape 8"/>
          <p:cNvSpPr/>
          <p:nvPr/>
        </p:nvSpPr>
        <p:spPr>
          <a:xfrm>
            <a:off x="2468880" y="4169664"/>
            <a:ext cx="237744" cy="237744"/>
          </a:xfrm>
          <a:prstGeom prst="ellipse">
            <a:avLst/>
          </a:prstGeom>
          <a:solidFill>
            <a:srgbClr val="FFFFFF"/>
          </a:solidFill>
          <a:ln/>
        </p:spPr>
      </p:sp>
      <p:sp>
        <p:nvSpPr>
          <p:cNvPr id="12" name="Shape 9"/>
          <p:cNvSpPr/>
          <p:nvPr/>
        </p:nvSpPr>
        <p:spPr>
          <a:xfrm>
            <a:off x="2816352" y="4133088"/>
            <a:ext cx="310896" cy="310896"/>
          </a:xfrm>
          <a:prstGeom prst="ellipse">
            <a:avLst/>
          </a:prstGeom>
          <a:solidFill>
            <a:srgbClr val="FF462D"/>
          </a:solidFill>
          <a:ln w="19050">
            <a:solidFill>
              <a:srgbClr val="FFFFFF"/>
            </a:solidFill>
            <a:prstDash val="solid"/>
          </a:ln>
        </p:spPr>
      </p:sp>
      <p:sp>
        <p:nvSpPr>
          <p:cNvPr id="13" name="Shape 10"/>
          <p:cNvSpPr/>
          <p:nvPr/>
        </p:nvSpPr>
        <p:spPr>
          <a:xfrm>
            <a:off x="3236976" y="4169664"/>
            <a:ext cx="237744" cy="237744"/>
          </a:xfrm>
          <a:prstGeom prst="ellipse">
            <a:avLst/>
          </a:prstGeom>
          <a:ln w="15875">
            <a:solidFill>
              <a:srgbClr val="D9DEE2"/>
            </a:solidFill>
            <a:prstDash val="solid"/>
          </a:ln>
        </p:spPr>
      </p:sp>
      <p:sp>
        <p:nvSpPr>
          <p:cNvPr id="14" name="Text 11"/>
          <p:cNvSpPr txBox="1"/>
          <p:nvPr/>
        </p:nvSpPr>
        <p:spPr>
          <a:xfrm>
            <a:off x="548640" y="4553712"/>
            <a:ext cx="338328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Still at step 7 of 8</a:t>
            </a:r>
            <a:endParaRPr lang="en-US" sz="1100" dirty="0"/>
          </a:p>
        </p:txBody>
      </p:sp>
      <p:sp>
        <p:nvSpPr>
          <p:cNvPr id="15" name="Text 12"/>
          <p:cNvSpPr txBox="1"/>
          <p:nvPr/>
        </p:nvSpPr>
        <p:spPr>
          <a:xfrm>
            <a:off x="4709160" y="685800"/>
            <a:ext cx="6400800" cy="320040"/>
          </a:xfrm>
          <a:prstGeom prst="rect">
            <a:avLst/>
          </a:prstGeom>
          <a:noFill/>
          <a:ln/>
        </p:spPr>
        <p:txBody>
          <a:bodyPr wrap="square" lIns="0" tIns="0" rIns="0" bIns="0" rtlCol="0" anchor="t"/>
          <a:lstStyle/>
          <a:p>
            <a:pPr indent="0" marL="0">
              <a:buNone/>
            </a:pPr>
            <a:r>
              <a:rPr lang="en-US" sz="1400" b="1" dirty="0">
                <a:solidFill>
                  <a:srgbClr val="287079"/>
                </a:solidFill>
                <a:latin typeface="Arial" pitchFamily="34" charset="0"/>
                <a:ea typeface="Arial" pitchFamily="34" charset="-122"/>
                <a:cs typeface="Arial" pitchFamily="34" charset="-120"/>
              </a:rPr>
              <a:t>By the end of this session, you can</a:t>
            </a:r>
            <a:endParaRPr lang="en-US" sz="1400" dirty="0"/>
          </a:p>
        </p:txBody>
      </p:sp>
      <p:pic>
        <p:nvPicPr>
          <p:cNvPr id="16" name="Image 1" descr="/private/tmp/claude-501/-Users-salehhamed-Outcome-Engine/91861432-41e2-4884-bc97-63c6dff2d021/scratchpad/wk/icons/TbCircleCheck-teal.png">    </p:cNvPr>
          <p:cNvPicPr>
            <a:picLocks noChangeAspect="1"/>
          </p:cNvPicPr>
          <p:nvPr/>
        </p:nvPicPr>
        <p:blipFill>
          <a:blip r:embed="rId2"/>
          <a:stretch>
            <a:fillRect/>
          </a:stretch>
        </p:blipFill>
        <p:spPr>
          <a:xfrm>
            <a:off x="4709160" y="1225296"/>
            <a:ext cx="411480" cy="411480"/>
          </a:xfrm>
          <a:prstGeom prst="rect">
            <a:avLst/>
          </a:prstGeom>
        </p:spPr>
      </p:pic>
      <p:sp>
        <p:nvSpPr>
          <p:cNvPr id="17" name="Text 13"/>
          <p:cNvSpPr txBox="1"/>
          <p:nvPr/>
        </p:nvSpPr>
        <p:spPr>
          <a:xfrm>
            <a:off x="5303520" y="118872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Watch one case run from start to finish.</a:t>
            </a:r>
            <a:endParaRPr lang="en-US" sz="1700" dirty="0"/>
          </a:p>
        </p:txBody>
      </p:sp>
      <p:pic>
        <p:nvPicPr>
          <p:cNvPr id="18" name="Image 2" descr="/private/tmp/claude-501/-Users-salehhamed-Outcome-Engine/91861432-41e2-4884-bc97-63c6dff2d021/scratchpad/wk/icons/TbCircleCheck-teal.png">    </p:cNvPr>
          <p:cNvPicPr>
            <a:picLocks noChangeAspect="1"/>
          </p:cNvPicPr>
          <p:nvPr/>
        </p:nvPicPr>
        <p:blipFill>
          <a:blip r:embed="rId3"/>
          <a:stretch>
            <a:fillRect/>
          </a:stretch>
        </p:blipFill>
        <p:spPr>
          <a:xfrm>
            <a:off x="4709160" y="2093976"/>
            <a:ext cx="411480" cy="411480"/>
          </a:xfrm>
          <a:prstGeom prst="rect">
            <a:avLst/>
          </a:prstGeom>
        </p:spPr>
      </p:pic>
      <p:sp>
        <p:nvSpPr>
          <p:cNvPr id="19" name="Text 14"/>
          <p:cNvSpPr txBox="1"/>
          <p:nvPr/>
        </p:nvSpPr>
        <p:spPr>
          <a:xfrm>
            <a:off x="5303520" y="205740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Judge it against the record, not the demo.</a:t>
            </a:r>
            <a:endParaRPr lang="en-US" sz="1700" dirty="0"/>
          </a:p>
        </p:txBody>
      </p:sp>
      <p:pic>
        <p:nvPicPr>
          <p:cNvPr id="20" name="Image 3" descr="/private/tmp/claude-501/-Users-salehhamed-Outcome-Engine/91861432-41e2-4884-bc97-63c6dff2d021/scratchpad/wk/icons/TbCircleCheck-teal.png">    </p:cNvPr>
          <p:cNvPicPr>
            <a:picLocks noChangeAspect="1"/>
          </p:cNvPicPr>
          <p:nvPr/>
        </p:nvPicPr>
        <p:blipFill>
          <a:blip r:embed="rId4"/>
          <a:stretch>
            <a:fillRect/>
          </a:stretch>
        </p:blipFill>
        <p:spPr>
          <a:xfrm>
            <a:off x="4709160" y="2962656"/>
            <a:ext cx="411480" cy="411480"/>
          </a:xfrm>
          <a:prstGeom prst="rect">
            <a:avLst/>
          </a:prstGeom>
        </p:spPr>
      </p:pic>
      <p:sp>
        <p:nvSpPr>
          <p:cNvPr id="21" name="Text 15"/>
          <p:cNvSpPr txBox="1"/>
          <p:nvPr/>
        </p:nvSpPr>
        <p:spPr>
          <a:xfrm>
            <a:off x="5303520" y="292608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Say plainly what is built, what is a stand-in, and what is not built yet.</a:t>
            </a:r>
            <a:endParaRPr lang="en-US" sz="1700" dirty="0"/>
          </a:p>
        </p:txBody>
      </p:sp>
      <p:sp>
        <p:nvSpPr>
          <p:cNvPr id="22" name="Shape 16"/>
          <p:cNvSpPr/>
          <p:nvPr/>
        </p:nvSpPr>
        <p:spPr>
          <a:xfrm>
            <a:off x="4709160" y="4800600"/>
            <a:ext cx="6931152" cy="1234440"/>
          </a:xfrm>
          <a:prstGeom prst="roundRect">
            <a:avLst>
              <a:gd name="adj" fmla="val 5926"/>
            </a:avLst>
          </a:prstGeom>
          <a:solidFill>
            <a:srgbClr val="FFF0EC"/>
          </a:solidFill>
          <a:ln/>
        </p:spPr>
      </p:sp>
      <p:sp>
        <p:nvSpPr>
          <p:cNvPr id="23" name="Text 17"/>
          <p:cNvSpPr txBox="1"/>
          <p:nvPr/>
        </p:nvSpPr>
        <p:spPr>
          <a:xfrm>
            <a:off x="4937760" y="4800600"/>
            <a:ext cx="6492240" cy="1234440"/>
          </a:xfrm>
          <a:prstGeom prst="rect">
            <a:avLst/>
          </a:prstGeom>
          <a:noFill/>
          <a:ln/>
        </p:spPr>
        <p:txBody>
          <a:bodyPr wrap="square" lIns="0" tIns="0" rIns="0" bIns="0" rtlCol="0" anchor="ctr"/>
          <a:lstStyle/>
          <a:p>
            <a:pPr indent="0" marL="0">
              <a:buNone/>
            </a:pPr>
            <a:r>
              <a:rPr lang="en-US" sz="1800" b="1" dirty="0">
                <a:solidFill>
                  <a:srgbClr val="FF462D"/>
                </a:solidFill>
                <a:latin typeface="Arial" pitchFamily="34" charset="0"/>
                <a:ea typeface="Arial" pitchFamily="34" charset="-122"/>
                <a:cs typeface="Arial" pitchFamily="34" charset="-120"/>
              </a:rPr>
              <a:t>Judge it on the record, not on the demo.</a:t>
            </a:r>
            <a:endParaRPr lang="en-US" sz="1800" dirty="0"/>
          </a:p>
        </p:txBody>
      </p:sp>
      <p:sp>
        <p:nvSpPr>
          <p:cNvPr id="24" name="Text 18"/>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5"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6" action="ppaction://hlinksldjump" tooltip="The thre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189</a:t>
            </a:r>
            <a:endParaRPr lang="en-US" sz="10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HOW TO JUDGE THE LIVE RUN · ON THE RECORD, NOT THE DEMO</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Northgate, start to finish</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15:15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190</a:t>
            </a:r>
            <a:endParaRPr lang="en-US" sz="1000" dirty="0"/>
          </a:p>
        </p:txBody>
      </p:sp>
      <p:sp>
        <p:nvSpPr>
          <p:cNvPr id="7" name="Text 4"/>
          <p:cNvSpPr txBox="1"/>
          <p:nvPr/>
        </p:nvSpPr>
        <p:spPr>
          <a:xfrm>
            <a:off x="7543800" y="1463040"/>
            <a:ext cx="1325880" cy="457200"/>
          </a:xfrm>
          <a:prstGeom prst="rect">
            <a:avLst/>
          </a:prstGeom>
          <a:noFill/>
          <a:ln/>
        </p:spPr>
        <p:txBody>
          <a:bodyPr wrap="square" lIns="0" tIns="0" rIns="0" bIns="0" rtlCol="0" anchor="ctr"/>
          <a:lstStyle/>
          <a:p>
            <a:pPr algn="ctr" indent="0" marL="0">
              <a:buNone/>
            </a:pPr>
            <a:r>
              <a:rPr lang="en-US" sz="1200" b="1" dirty="0">
                <a:solidFill>
                  <a:srgbClr val="2E8656"/>
                </a:solidFill>
                <a:latin typeface="Arial" pitchFamily="34" charset="0"/>
                <a:ea typeface="Arial" pitchFamily="34" charset="-122"/>
                <a:cs typeface="Arial" pitchFamily="34" charset="-120"/>
              </a:rPr>
              <a:t>Seen, works</a:t>
            </a:r>
            <a:endParaRPr lang="en-US" sz="1200" dirty="0"/>
          </a:p>
        </p:txBody>
      </p:sp>
      <p:sp>
        <p:nvSpPr>
          <p:cNvPr id="8" name="Text 5"/>
          <p:cNvSpPr txBox="1"/>
          <p:nvPr/>
        </p:nvSpPr>
        <p:spPr>
          <a:xfrm>
            <a:off x="8915400" y="1463040"/>
            <a:ext cx="1325880" cy="457200"/>
          </a:xfrm>
          <a:prstGeom prst="rect">
            <a:avLst/>
          </a:prstGeom>
          <a:noFill/>
          <a:ln/>
        </p:spPr>
        <p:txBody>
          <a:bodyPr wrap="square" lIns="0" tIns="0" rIns="0" bIns="0" rtlCol="0" anchor="ctr"/>
          <a:lstStyle/>
          <a:p>
            <a:pPr algn="ctr" indent="0" marL="0">
              <a:buNone/>
            </a:pPr>
            <a:r>
              <a:rPr lang="en-US" sz="1200" b="1" dirty="0">
                <a:solidFill>
                  <a:srgbClr val="C98A1A"/>
                </a:solidFill>
                <a:latin typeface="Arial" pitchFamily="34" charset="0"/>
                <a:ea typeface="Arial" pitchFamily="34" charset="-122"/>
                <a:cs typeface="Arial" pitchFamily="34" charset="-120"/>
              </a:rPr>
              <a:t>Seen, with problems</a:t>
            </a:r>
            <a:endParaRPr lang="en-US" sz="1200" dirty="0"/>
          </a:p>
        </p:txBody>
      </p:sp>
      <p:sp>
        <p:nvSpPr>
          <p:cNvPr id="9" name="Text 6"/>
          <p:cNvSpPr txBox="1"/>
          <p:nvPr/>
        </p:nvSpPr>
        <p:spPr>
          <a:xfrm>
            <a:off x="10287000" y="1463040"/>
            <a:ext cx="1325880" cy="457200"/>
          </a:xfrm>
          <a:prstGeom prst="rect">
            <a:avLst/>
          </a:prstGeom>
          <a:noFill/>
          <a:ln/>
        </p:spPr>
        <p:txBody>
          <a:bodyPr wrap="square" lIns="0" tIns="0" rIns="0" bIns="0" rtlCol="0" anchor="ctr"/>
          <a:lstStyle/>
          <a:p>
            <a:pPr algn="ctr" indent="0" marL="0">
              <a:buNone/>
            </a:pPr>
            <a:r>
              <a:rPr lang="en-US" sz="1200" b="1" dirty="0">
                <a:solidFill>
                  <a:srgbClr val="8A94A4"/>
                </a:solidFill>
                <a:latin typeface="Arial" pitchFamily="34" charset="0"/>
                <a:ea typeface="Arial" pitchFamily="34" charset="-122"/>
                <a:cs typeface="Arial" pitchFamily="34" charset="-120"/>
              </a:rPr>
              <a:t>Not seen</a:t>
            </a:r>
            <a:endParaRPr lang="en-US" sz="1200" dirty="0"/>
          </a:p>
        </p:txBody>
      </p:sp>
      <p:sp>
        <p:nvSpPr>
          <p:cNvPr id="10" name="Shape 7"/>
          <p:cNvSpPr/>
          <p:nvPr/>
        </p:nvSpPr>
        <p:spPr>
          <a:xfrm>
            <a:off x="548640" y="1965960"/>
            <a:ext cx="11091672" cy="594360"/>
          </a:xfrm>
          <a:prstGeom prst="roundRect">
            <a:avLst>
              <a:gd name="adj" fmla="val 12308"/>
            </a:avLst>
          </a:prstGeom>
          <a:solidFill>
            <a:srgbClr val="FFFFFF"/>
          </a:solidFill>
          <a:ln w="12700">
            <a:solidFill>
              <a:srgbClr val="D9DEE2"/>
            </a:solidFill>
            <a:prstDash val="solid"/>
          </a:ln>
        </p:spPr>
      </p:sp>
      <p:pic>
        <p:nvPicPr>
          <p:cNvPr id="11" name="Image 1" descr="/private/tmp/claude-501/-Users-salehhamed-Outcome-Engine/91861432-41e2-4884-bc97-63c6dff2d021/scratchpad/wk/icons/TbRoute-teal.png">    </p:cNvPr>
          <p:cNvPicPr>
            <a:picLocks noChangeAspect="1"/>
          </p:cNvPicPr>
          <p:nvPr/>
        </p:nvPicPr>
        <p:blipFill>
          <a:blip r:embed="rId4"/>
          <a:stretch>
            <a:fillRect/>
          </a:stretch>
        </p:blipFill>
        <p:spPr>
          <a:xfrm>
            <a:off x="685800" y="2075688"/>
            <a:ext cx="384048" cy="384048"/>
          </a:xfrm>
          <a:prstGeom prst="rect">
            <a:avLst/>
          </a:prstGeom>
        </p:spPr>
      </p:pic>
      <p:sp>
        <p:nvSpPr>
          <p:cNvPr id="12" name="Text 8"/>
          <p:cNvSpPr txBox="1"/>
          <p:nvPr/>
        </p:nvSpPr>
        <p:spPr>
          <a:xfrm>
            <a:off x="1234440" y="1965960"/>
            <a:ext cx="6309360" cy="594360"/>
          </a:xfrm>
          <a:prstGeom prst="rect">
            <a:avLst/>
          </a:prstGeom>
          <a:noFill/>
          <a:ln/>
        </p:spPr>
        <p:txBody>
          <a:bodyPr wrap="square" lIns="0" tIns="0" rIns="0" bIns="0" rtlCol="0" anchor="ctr"/>
          <a:lstStyle/>
          <a:p>
            <a:pPr indent="0" marL="0">
              <a:buNone/>
            </a:pPr>
            <a:r>
              <a:rPr lang="en-US" sz="1550" b="1" dirty="0">
                <a:solidFill>
                  <a:srgbClr val="1F2A33"/>
                </a:solidFill>
                <a:latin typeface="Arial" pitchFamily="34" charset="0"/>
                <a:ea typeface="Arial" pitchFamily="34" charset="-122"/>
                <a:cs typeface="Arial" pitchFamily="34" charset="-120"/>
              </a:rPr>
              <a:t>The case ran from start to finish</a:t>
            </a:r>
            <a:endParaRPr lang="en-US" sz="1550" dirty="0"/>
          </a:p>
        </p:txBody>
      </p:sp>
      <p:sp>
        <p:nvSpPr>
          <p:cNvPr id="13" name="Shape 9"/>
          <p:cNvSpPr/>
          <p:nvPr/>
        </p:nvSpPr>
        <p:spPr>
          <a:xfrm>
            <a:off x="8046720" y="2103120"/>
            <a:ext cx="329184" cy="329184"/>
          </a:xfrm>
          <a:prstGeom prst="ellipse">
            <a:avLst/>
          </a:prstGeom>
          <a:ln w="25400">
            <a:solidFill>
              <a:srgbClr val="2E8656"/>
            </a:solidFill>
            <a:prstDash val="solid"/>
          </a:ln>
        </p:spPr>
      </p:sp>
      <p:sp>
        <p:nvSpPr>
          <p:cNvPr id="14" name="Shape 10"/>
          <p:cNvSpPr/>
          <p:nvPr/>
        </p:nvSpPr>
        <p:spPr>
          <a:xfrm>
            <a:off x="9418320" y="2103120"/>
            <a:ext cx="329184" cy="329184"/>
          </a:xfrm>
          <a:prstGeom prst="ellipse">
            <a:avLst/>
          </a:prstGeom>
          <a:ln w="25400">
            <a:solidFill>
              <a:srgbClr val="C98A1A"/>
            </a:solidFill>
            <a:prstDash val="solid"/>
          </a:ln>
        </p:spPr>
      </p:sp>
      <p:sp>
        <p:nvSpPr>
          <p:cNvPr id="15" name="Shape 11"/>
          <p:cNvSpPr/>
          <p:nvPr/>
        </p:nvSpPr>
        <p:spPr>
          <a:xfrm>
            <a:off x="10789920" y="2103120"/>
            <a:ext cx="329184" cy="329184"/>
          </a:xfrm>
          <a:prstGeom prst="ellipse">
            <a:avLst/>
          </a:prstGeom>
          <a:ln w="25400">
            <a:solidFill>
              <a:srgbClr val="8A94A4"/>
            </a:solidFill>
            <a:prstDash val="solid"/>
          </a:ln>
        </p:spPr>
      </p:sp>
      <p:sp>
        <p:nvSpPr>
          <p:cNvPr id="16" name="Shape 12"/>
          <p:cNvSpPr/>
          <p:nvPr/>
        </p:nvSpPr>
        <p:spPr>
          <a:xfrm>
            <a:off x="548640" y="2651760"/>
            <a:ext cx="11091672" cy="594360"/>
          </a:xfrm>
          <a:prstGeom prst="roundRect">
            <a:avLst>
              <a:gd name="adj" fmla="val 12308"/>
            </a:avLst>
          </a:prstGeom>
          <a:solidFill>
            <a:srgbClr val="FFFFFF"/>
          </a:solidFill>
          <a:ln w="12700">
            <a:solidFill>
              <a:srgbClr val="D9DEE2"/>
            </a:solidFill>
            <a:prstDash val="solid"/>
          </a:ln>
        </p:spPr>
      </p:sp>
      <p:pic>
        <p:nvPicPr>
          <p:cNvPr id="17" name="Image 2" descr="/private/tmp/claude-501/-Users-salehhamed-Outcome-Engine/91861432-41e2-4884-bc97-63c6dff2d021/scratchpad/wk/icons/TbUserCheck-teal.png">    </p:cNvPr>
          <p:cNvPicPr>
            <a:picLocks noChangeAspect="1"/>
          </p:cNvPicPr>
          <p:nvPr/>
        </p:nvPicPr>
        <p:blipFill>
          <a:blip r:embed="rId5"/>
          <a:stretch>
            <a:fillRect/>
          </a:stretch>
        </p:blipFill>
        <p:spPr>
          <a:xfrm>
            <a:off x="685800" y="2761488"/>
            <a:ext cx="384048" cy="384048"/>
          </a:xfrm>
          <a:prstGeom prst="rect">
            <a:avLst/>
          </a:prstGeom>
        </p:spPr>
      </p:pic>
      <p:sp>
        <p:nvSpPr>
          <p:cNvPr id="18" name="Text 13"/>
          <p:cNvSpPr txBox="1"/>
          <p:nvPr/>
        </p:nvSpPr>
        <p:spPr>
          <a:xfrm>
            <a:off x="1234440" y="2651760"/>
            <a:ext cx="6309360" cy="594360"/>
          </a:xfrm>
          <a:prstGeom prst="rect">
            <a:avLst/>
          </a:prstGeom>
          <a:noFill/>
          <a:ln/>
        </p:spPr>
        <p:txBody>
          <a:bodyPr wrap="square" lIns="0" tIns="0" rIns="0" bIns="0" rtlCol="0" anchor="ctr"/>
          <a:lstStyle/>
          <a:p>
            <a:pPr indent="0" marL="0">
              <a:buNone/>
            </a:pPr>
            <a:r>
              <a:rPr lang="en-US" sz="1550" b="1" dirty="0">
                <a:solidFill>
                  <a:srgbClr val="1F2A33"/>
                </a:solidFill>
                <a:latin typeface="Arial" pitchFamily="34" charset="0"/>
                <a:ea typeface="Arial" pitchFamily="34" charset="-122"/>
                <a:cs typeface="Arial" pitchFamily="34" charset="-120"/>
              </a:rPr>
              <a:t>Each decision went to its named owner</a:t>
            </a:r>
            <a:endParaRPr lang="en-US" sz="1550" dirty="0"/>
          </a:p>
        </p:txBody>
      </p:sp>
      <p:sp>
        <p:nvSpPr>
          <p:cNvPr id="19" name="Shape 14"/>
          <p:cNvSpPr/>
          <p:nvPr/>
        </p:nvSpPr>
        <p:spPr>
          <a:xfrm>
            <a:off x="8046720" y="2788920"/>
            <a:ext cx="329184" cy="329184"/>
          </a:xfrm>
          <a:prstGeom prst="ellipse">
            <a:avLst/>
          </a:prstGeom>
          <a:ln w="25400">
            <a:solidFill>
              <a:srgbClr val="2E8656"/>
            </a:solidFill>
            <a:prstDash val="solid"/>
          </a:ln>
        </p:spPr>
      </p:sp>
      <p:sp>
        <p:nvSpPr>
          <p:cNvPr id="20" name="Shape 15"/>
          <p:cNvSpPr/>
          <p:nvPr/>
        </p:nvSpPr>
        <p:spPr>
          <a:xfrm>
            <a:off x="9418320" y="2788920"/>
            <a:ext cx="329184" cy="329184"/>
          </a:xfrm>
          <a:prstGeom prst="ellipse">
            <a:avLst/>
          </a:prstGeom>
          <a:ln w="25400">
            <a:solidFill>
              <a:srgbClr val="C98A1A"/>
            </a:solidFill>
            <a:prstDash val="solid"/>
          </a:ln>
        </p:spPr>
      </p:sp>
      <p:sp>
        <p:nvSpPr>
          <p:cNvPr id="21" name="Shape 16"/>
          <p:cNvSpPr/>
          <p:nvPr/>
        </p:nvSpPr>
        <p:spPr>
          <a:xfrm>
            <a:off x="10789920" y="2788920"/>
            <a:ext cx="329184" cy="329184"/>
          </a:xfrm>
          <a:prstGeom prst="ellipse">
            <a:avLst/>
          </a:prstGeom>
          <a:ln w="25400">
            <a:solidFill>
              <a:srgbClr val="8A94A4"/>
            </a:solidFill>
            <a:prstDash val="solid"/>
          </a:ln>
        </p:spPr>
      </p:sp>
      <p:sp>
        <p:nvSpPr>
          <p:cNvPr id="22" name="Shape 17"/>
          <p:cNvSpPr/>
          <p:nvPr/>
        </p:nvSpPr>
        <p:spPr>
          <a:xfrm>
            <a:off x="548640" y="3337560"/>
            <a:ext cx="11091672" cy="594360"/>
          </a:xfrm>
          <a:prstGeom prst="roundRect">
            <a:avLst>
              <a:gd name="adj" fmla="val 12308"/>
            </a:avLst>
          </a:prstGeom>
          <a:solidFill>
            <a:srgbClr val="FFFFFF"/>
          </a:solidFill>
          <a:ln w="12700">
            <a:solidFill>
              <a:srgbClr val="D9DEE2"/>
            </a:solidFill>
            <a:prstDash val="solid"/>
          </a:ln>
        </p:spPr>
      </p:sp>
      <p:pic>
        <p:nvPicPr>
          <p:cNvPr id="23" name="Image 3" descr="/private/tmp/claude-501/-Users-salehhamed-Outcome-Engine/91861432-41e2-4884-bc97-63c6dff2d021/scratchpad/wk/icons/TbHandStop-teal.png">    </p:cNvPr>
          <p:cNvPicPr>
            <a:picLocks noChangeAspect="1"/>
          </p:cNvPicPr>
          <p:nvPr/>
        </p:nvPicPr>
        <p:blipFill>
          <a:blip r:embed="rId6"/>
          <a:stretch>
            <a:fillRect/>
          </a:stretch>
        </p:blipFill>
        <p:spPr>
          <a:xfrm>
            <a:off x="685800" y="3447288"/>
            <a:ext cx="384048" cy="384048"/>
          </a:xfrm>
          <a:prstGeom prst="rect">
            <a:avLst/>
          </a:prstGeom>
        </p:spPr>
      </p:pic>
      <p:sp>
        <p:nvSpPr>
          <p:cNvPr id="24" name="Text 18"/>
          <p:cNvSpPr txBox="1"/>
          <p:nvPr/>
        </p:nvSpPr>
        <p:spPr>
          <a:xfrm>
            <a:off x="1234440" y="3337560"/>
            <a:ext cx="6309360" cy="594360"/>
          </a:xfrm>
          <a:prstGeom prst="rect">
            <a:avLst/>
          </a:prstGeom>
          <a:noFill/>
          <a:ln/>
        </p:spPr>
        <p:txBody>
          <a:bodyPr wrap="square" lIns="0" tIns="0" rIns="0" bIns="0" rtlCol="0" anchor="ctr"/>
          <a:lstStyle/>
          <a:p>
            <a:pPr indent="0" marL="0">
              <a:buNone/>
            </a:pPr>
            <a:r>
              <a:rPr lang="en-US" sz="1550" b="1" dirty="0">
                <a:solidFill>
                  <a:srgbClr val="1F2A33"/>
                </a:solidFill>
                <a:latin typeface="Arial" pitchFamily="34" charset="0"/>
                <a:ea typeface="Arial" pitchFamily="34" charset="-122"/>
                <a:cs typeface="Arial" pitchFamily="34" charset="-120"/>
              </a:rPr>
              <a:t>A broken rule was refused, with the rule shown</a:t>
            </a:r>
            <a:endParaRPr lang="en-US" sz="1550" dirty="0"/>
          </a:p>
        </p:txBody>
      </p:sp>
      <p:sp>
        <p:nvSpPr>
          <p:cNvPr id="25" name="Shape 19"/>
          <p:cNvSpPr/>
          <p:nvPr/>
        </p:nvSpPr>
        <p:spPr>
          <a:xfrm>
            <a:off x="8046720" y="3474720"/>
            <a:ext cx="329184" cy="329184"/>
          </a:xfrm>
          <a:prstGeom prst="ellipse">
            <a:avLst/>
          </a:prstGeom>
          <a:ln w="25400">
            <a:solidFill>
              <a:srgbClr val="2E8656"/>
            </a:solidFill>
            <a:prstDash val="solid"/>
          </a:ln>
        </p:spPr>
      </p:sp>
      <p:sp>
        <p:nvSpPr>
          <p:cNvPr id="26" name="Shape 20"/>
          <p:cNvSpPr/>
          <p:nvPr/>
        </p:nvSpPr>
        <p:spPr>
          <a:xfrm>
            <a:off x="9418320" y="3474720"/>
            <a:ext cx="329184" cy="329184"/>
          </a:xfrm>
          <a:prstGeom prst="ellipse">
            <a:avLst/>
          </a:prstGeom>
          <a:ln w="25400">
            <a:solidFill>
              <a:srgbClr val="C98A1A"/>
            </a:solidFill>
            <a:prstDash val="solid"/>
          </a:ln>
        </p:spPr>
      </p:sp>
      <p:sp>
        <p:nvSpPr>
          <p:cNvPr id="27" name="Shape 21"/>
          <p:cNvSpPr/>
          <p:nvPr/>
        </p:nvSpPr>
        <p:spPr>
          <a:xfrm>
            <a:off x="10789920" y="3474720"/>
            <a:ext cx="329184" cy="329184"/>
          </a:xfrm>
          <a:prstGeom prst="ellipse">
            <a:avLst/>
          </a:prstGeom>
          <a:ln w="25400">
            <a:solidFill>
              <a:srgbClr val="8A94A4"/>
            </a:solidFill>
            <a:prstDash val="solid"/>
          </a:ln>
        </p:spPr>
      </p:sp>
      <p:sp>
        <p:nvSpPr>
          <p:cNvPr id="28" name="Shape 22"/>
          <p:cNvSpPr/>
          <p:nvPr/>
        </p:nvSpPr>
        <p:spPr>
          <a:xfrm>
            <a:off x="548640" y="4023360"/>
            <a:ext cx="11091672" cy="594360"/>
          </a:xfrm>
          <a:prstGeom prst="roundRect">
            <a:avLst>
              <a:gd name="adj" fmla="val 12308"/>
            </a:avLst>
          </a:prstGeom>
          <a:solidFill>
            <a:srgbClr val="FFFFFF"/>
          </a:solidFill>
          <a:ln w="12700">
            <a:solidFill>
              <a:srgbClr val="D9DEE2"/>
            </a:solidFill>
            <a:prstDash val="solid"/>
          </a:ln>
        </p:spPr>
      </p:sp>
      <p:pic>
        <p:nvPicPr>
          <p:cNvPr id="29" name="Image 4" descr="/private/tmp/claude-501/-Users-salehhamed-Outcome-Engine/91861432-41e2-4884-bc97-63c6dff2d021/scratchpad/wk/icons/TbArchive-teal.png">    </p:cNvPr>
          <p:cNvPicPr>
            <a:picLocks noChangeAspect="1"/>
          </p:cNvPicPr>
          <p:nvPr/>
        </p:nvPicPr>
        <p:blipFill>
          <a:blip r:embed="rId7"/>
          <a:stretch>
            <a:fillRect/>
          </a:stretch>
        </p:blipFill>
        <p:spPr>
          <a:xfrm>
            <a:off x="685800" y="4133088"/>
            <a:ext cx="384048" cy="384048"/>
          </a:xfrm>
          <a:prstGeom prst="rect">
            <a:avLst/>
          </a:prstGeom>
        </p:spPr>
      </p:pic>
      <p:sp>
        <p:nvSpPr>
          <p:cNvPr id="30" name="Text 23"/>
          <p:cNvSpPr txBox="1"/>
          <p:nvPr/>
        </p:nvSpPr>
        <p:spPr>
          <a:xfrm>
            <a:off x="1234440" y="4023360"/>
            <a:ext cx="6309360" cy="594360"/>
          </a:xfrm>
          <a:prstGeom prst="rect">
            <a:avLst/>
          </a:prstGeom>
          <a:noFill/>
          <a:ln/>
        </p:spPr>
        <p:txBody>
          <a:bodyPr wrap="square" lIns="0" tIns="0" rIns="0" bIns="0" rtlCol="0" anchor="ctr"/>
          <a:lstStyle/>
          <a:p>
            <a:pPr indent="0" marL="0">
              <a:buNone/>
            </a:pPr>
            <a:r>
              <a:rPr lang="en-US" sz="1550" b="1" dirty="0">
                <a:solidFill>
                  <a:srgbClr val="1F2A33"/>
                </a:solidFill>
                <a:latin typeface="Arial" pitchFamily="34" charset="0"/>
                <a:ea typeface="Arial" pitchFamily="34" charset="-122"/>
                <a:cs typeface="Arial" pitchFamily="34" charset="-120"/>
              </a:rPr>
              <a:t>Every step is on the record</a:t>
            </a:r>
            <a:endParaRPr lang="en-US" sz="1550" dirty="0"/>
          </a:p>
        </p:txBody>
      </p:sp>
      <p:sp>
        <p:nvSpPr>
          <p:cNvPr id="31" name="Shape 24"/>
          <p:cNvSpPr/>
          <p:nvPr/>
        </p:nvSpPr>
        <p:spPr>
          <a:xfrm>
            <a:off x="8046720" y="4160520"/>
            <a:ext cx="329184" cy="329184"/>
          </a:xfrm>
          <a:prstGeom prst="ellipse">
            <a:avLst/>
          </a:prstGeom>
          <a:ln w="25400">
            <a:solidFill>
              <a:srgbClr val="2E8656"/>
            </a:solidFill>
            <a:prstDash val="solid"/>
          </a:ln>
        </p:spPr>
      </p:sp>
      <p:sp>
        <p:nvSpPr>
          <p:cNvPr id="32" name="Shape 25"/>
          <p:cNvSpPr/>
          <p:nvPr/>
        </p:nvSpPr>
        <p:spPr>
          <a:xfrm>
            <a:off x="9418320" y="4160520"/>
            <a:ext cx="329184" cy="329184"/>
          </a:xfrm>
          <a:prstGeom prst="ellipse">
            <a:avLst/>
          </a:prstGeom>
          <a:ln w="25400">
            <a:solidFill>
              <a:srgbClr val="C98A1A"/>
            </a:solidFill>
            <a:prstDash val="solid"/>
          </a:ln>
        </p:spPr>
      </p:sp>
      <p:sp>
        <p:nvSpPr>
          <p:cNvPr id="33" name="Shape 26"/>
          <p:cNvSpPr/>
          <p:nvPr/>
        </p:nvSpPr>
        <p:spPr>
          <a:xfrm>
            <a:off x="10789920" y="4160520"/>
            <a:ext cx="329184" cy="329184"/>
          </a:xfrm>
          <a:prstGeom prst="ellipse">
            <a:avLst/>
          </a:prstGeom>
          <a:ln w="25400">
            <a:solidFill>
              <a:srgbClr val="8A94A4"/>
            </a:solidFill>
            <a:prstDash val="solid"/>
          </a:ln>
        </p:spPr>
      </p:sp>
      <p:sp>
        <p:nvSpPr>
          <p:cNvPr id="34" name="Shape 27"/>
          <p:cNvSpPr/>
          <p:nvPr/>
        </p:nvSpPr>
        <p:spPr>
          <a:xfrm>
            <a:off x="548640" y="4709160"/>
            <a:ext cx="11091672" cy="594360"/>
          </a:xfrm>
          <a:prstGeom prst="roundRect">
            <a:avLst>
              <a:gd name="adj" fmla="val 12308"/>
            </a:avLst>
          </a:prstGeom>
          <a:solidFill>
            <a:srgbClr val="FFFFFF"/>
          </a:solidFill>
          <a:ln w="12700">
            <a:solidFill>
              <a:srgbClr val="D9DEE2"/>
            </a:solidFill>
            <a:prstDash val="solid"/>
          </a:ln>
        </p:spPr>
      </p:sp>
      <p:pic>
        <p:nvPicPr>
          <p:cNvPr id="35" name="Image 5" descr="/private/tmp/claude-501/-Users-salehhamed-Outcome-Engine/91861432-41e2-4884-bc97-63c6dff2d021/scratchpad/wk/icons/TbListCheck-teal.png">    </p:cNvPr>
          <p:cNvPicPr>
            <a:picLocks noChangeAspect="1"/>
          </p:cNvPicPr>
          <p:nvPr/>
        </p:nvPicPr>
        <p:blipFill>
          <a:blip r:embed="rId8"/>
          <a:stretch>
            <a:fillRect/>
          </a:stretch>
        </p:blipFill>
        <p:spPr>
          <a:xfrm>
            <a:off x="685800" y="4818888"/>
            <a:ext cx="384048" cy="384048"/>
          </a:xfrm>
          <a:prstGeom prst="rect">
            <a:avLst/>
          </a:prstGeom>
        </p:spPr>
      </p:pic>
      <p:sp>
        <p:nvSpPr>
          <p:cNvPr id="36" name="Text 28"/>
          <p:cNvSpPr txBox="1"/>
          <p:nvPr/>
        </p:nvSpPr>
        <p:spPr>
          <a:xfrm>
            <a:off x="1234440" y="4709160"/>
            <a:ext cx="6309360" cy="594360"/>
          </a:xfrm>
          <a:prstGeom prst="rect">
            <a:avLst/>
          </a:prstGeom>
          <a:noFill/>
          <a:ln/>
        </p:spPr>
        <p:txBody>
          <a:bodyPr wrap="square" lIns="0" tIns="0" rIns="0" bIns="0" rtlCol="0" anchor="ctr"/>
          <a:lstStyle/>
          <a:p>
            <a:pPr indent="0" marL="0">
              <a:buNone/>
            </a:pPr>
            <a:r>
              <a:rPr lang="en-US" sz="1550" b="1" dirty="0">
                <a:solidFill>
                  <a:srgbClr val="1F2A33"/>
                </a:solidFill>
                <a:latin typeface="Arial" pitchFamily="34" charset="0"/>
                <a:ea typeface="Arial" pitchFamily="34" charset="-122"/>
                <a:cs typeface="Arial" pitchFamily="34" charset="-120"/>
              </a:rPr>
              <a:t>The done checks were checked against the record</a:t>
            </a:r>
            <a:endParaRPr lang="en-US" sz="1550" dirty="0"/>
          </a:p>
        </p:txBody>
      </p:sp>
      <p:sp>
        <p:nvSpPr>
          <p:cNvPr id="37" name="Shape 29"/>
          <p:cNvSpPr/>
          <p:nvPr/>
        </p:nvSpPr>
        <p:spPr>
          <a:xfrm>
            <a:off x="8046720" y="4846320"/>
            <a:ext cx="329184" cy="329184"/>
          </a:xfrm>
          <a:prstGeom prst="ellipse">
            <a:avLst/>
          </a:prstGeom>
          <a:ln w="25400">
            <a:solidFill>
              <a:srgbClr val="2E8656"/>
            </a:solidFill>
            <a:prstDash val="solid"/>
          </a:ln>
        </p:spPr>
      </p:sp>
      <p:sp>
        <p:nvSpPr>
          <p:cNvPr id="38" name="Shape 30"/>
          <p:cNvSpPr/>
          <p:nvPr/>
        </p:nvSpPr>
        <p:spPr>
          <a:xfrm>
            <a:off x="9418320" y="4846320"/>
            <a:ext cx="329184" cy="329184"/>
          </a:xfrm>
          <a:prstGeom prst="ellipse">
            <a:avLst/>
          </a:prstGeom>
          <a:ln w="25400">
            <a:solidFill>
              <a:srgbClr val="C98A1A"/>
            </a:solidFill>
            <a:prstDash val="solid"/>
          </a:ln>
        </p:spPr>
      </p:sp>
      <p:sp>
        <p:nvSpPr>
          <p:cNvPr id="39" name="Shape 31"/>
          <p:cNvSpPr/>
          <p:nvPr/>
        </p:nvSpPr>
        <p:spPr>
          <a:xfrm>
            <a:off x="10789920" y="4846320"/>
            <a:ext cx="329184" cy="329184"/>
          </a:xfrm>
          <a:prstGeom prst="ellipse">
            <a:avLst/>
          </a:prstGeom>
          <a:ln w="25400">
            <a:solidFill>
              <a:srgbClr val="8A94A4"/>
            </a:solidFill>
            <a:prstDash val="solid"/>
          </a:ln>
        </p:spPr>
      </p:sp>
      <p:sp>
        <p:nvSpPr>
          <p:cNvPr id="40" name="Shape 32"/>
          <p:cNvSpPr/>
          <p:nvPr/>
        </p:nvSpPr>
        <p:spPr>
          <a:xfrm>
            <a:off x="548640" y="5394960"/>
            <a:ext cx="11091672" cy="594360"/>
          </a:xfrm>
          <a:prstGeom prst="roundRect">
            <a:avLst>
              <a:gd name="adj" fmla="val 12308"/>
            </a:avLst>
          </a:prstGeom>
          <a:solidFill>
            <a:srgbClr val="FFFFFF"/>
          </a:solidFill>
          <a:ln w="12700">
            <a:solidFill>
              <a:srgbClr val="D9DEE2"/>
            </a:solidFill>
            <a:prstDash val="solid"/>
          </a:ln>
        </p:spPr>
      </p:sp>
      <p:pic>
        <p:nvPicPr>
          <p:cNvPr id="41" name="Image 6" descr="/private/tmp/claude-501/-Users-salehhamed-Outcome-Engine/91861432-41e2-4884-bc97-63c6dff2d021/scratchpad/wk/icons/TbTools-teal.png">    </p:cNvPr>
          <p:cNvPicPr>
            <a:picLocks noChangeAspect="1"/>
          </p:cNvPicPr>
          <p:nvPr/>
        </p:nvPicPr>
        <p:blipFill>
          <a:blip r:embed="rId9"/>
          <a:stretch>
            <a:fillRect/>
          </a:stretch>
        </p:blipFill>
        <p:spPr>
          <a:xfrm>
            <a:off x="685800" y="5504688"/>
            <a:ext cx="384048" cy="384048"/>
          </a:xfrm>
          <a:prstGeom prst="rect">
            <a:avLst/>
          </a:prstGeom>
        </p:spPr>
      </p:pic>
      <p:sp>
        <p:nvSpPr>
          <p:cNvPr id="42" name="Text 33"/>
          <p:cNvSpPr txBox="1"/>
          <p:nvPr/>
        </p:nvSpPr>
        <p:spPr>
          <a:xfrm>
            <a:off x="1234440" y="5394960"/>
            <a:ext cx="6309360" cy="594360"/>
          </a:xfrm>
          <a:prstGeom prst="rect">
            <a:avLst/>
          </a:prstGeom>
          <a:noFill/>
          <a:ln/>
        </p:spPr>
        <p:txBody>
          <a:bodyPr wrap="square" lIns="0" tIns="0" rIns="0" bIns="0" rtlCol="0" anchor="ctr"/>
          <a:lstStyle/>
          <a:p>
            <a:pPr indent="0" marL="0">
              <a:buNone/>
            </a:pPr>
            <a:r>
              <a:rPr lang="en-US" sz="1550" b="1" dirty="0">
                <a:solidFill>
                  <a:srgbClr val="1F2A33"/>
                </a:solidFill>
                <a:latin typeface="Arial" pitchFamily="34" charset="0"/>
                <a:ea typeface="Arial" pitchFamily="34" charset="-122"/>
                <a:cs typeface="Arial" pitchFamily="34" charset="-120"/>
              </a:rPr>
              <a:t>We know what is built, a stand-in, or not built</a:t>
            </a:r>
            <a:endParaRPr lang="en-US" sz="1550" dirty="0"/>
          </a:p>
        </p:txBody>
      </p:sp>
      <p:sp>
        <p:nvSpPr>
          <p:cNvPr id="43" name="Shape 34"/>
          <p:cNvSpPr/>
          <p:nvPr/>
        </p:nvSpPr>
        <p:spPr>
          <a:xfrm>
            <a:off x="8046720" y="5532120"/>
            <a:ext cx="329184" cy="329184"/>
          </a:xfrm>
          <a:prstGeom prst="ellipse">
            <a:avLst/>
          </a:prstGeom>
          <a:ln w="25400">
            <a:solidFill>
              <a:srgbClr val="2E8656"/>
            </a:solidFill>
            <a:prstDash val="solid"/>
          </a:ln>
        </p:spPr>
      </p:sp>
      <p:sp>
        <p:nvSpPr>
          <p:cNvPr id="44" name="Shape 35"/>
          <p:cNvSpPr/>
          <p:nvPr/>
        </p:nvSpPr>
        <p:spPr>
          <a:xfrm>
            <a:off x="9418320" y="5532120"/>
            <a:ext cx="329184" cy="329184"/>
          </a:xfrm>
          <a:prstGeom prst="ellipse">
            <a:avLst/>
          </a:prstGeom>
          <a:ln w="25400">
            <a:solidFill>
              <a:srgbClr val="C98A1A"/>
            </a:solidFill>
            <a:prstDash val="solid"/>
          </a:ln>
        </p:spPr>
      </p:sp>
      <p:sp>
        <p:nvSpPr>
          <p:cNvPr id="45" name="Shape 36"/>
          <p:cNvSpPr/>
          <p:nvPr/>
        </p:nvSpPr>
        <p:spPr>
          <a:xfrm>
            <a:off x="10789920" y="5532120"/>
            <a:ext cx="329184" cy="329184"/>
          </a:xfrm>
          <a:prstGeom prst="ellipse">
            <a:avLst/>
          </a:prstGeom>
          <a:ln w="25400">
            <a:solidFill>
              <a:srgbClr val="8A94A4"/>
            </a:solidFill>
            <a:prstDash val="solid"/>
          </a:ln>
        </p:spPr>
      </p:sp>
      <p:sp>
        <p:nvSpPr>
          <p:cNvPr id="46" name="Text 37"/>
          <p:cNvSpPr txBox="1"/>
          <p:nvPr/>
        </p:nvSpPr>
        <p:spPr>
          <a:xfrm>
            <a:off x="548640" y="6126480"/>
            <a:ext cx="10972800" cy="274320"/>
          </a:xfrm>
          <a:prstGeom prst="rect">
            <a:avLst/>
          </a:prstGeom>
          <a:noFill/>
          <a:ln/>
        </p:spPr>
        <p:txBody>
          <a:bodyPr wrap="square" lIns="0" tIns="0" rIns="0" bIns="0" rtlCol="0" anchor="t"/>
          <a:lstStyle/>
          <a:p>
            <a:pPr indent="0" marL="0">
              <a:buNone/>
            </a:pPr>
            <a:r>
              <a:rPr lang="en-US" sz="1300" i="1" dirty="0">
                <a:solidFill>
                  <a:srgbClr val="5A5A5A"/>
                </a:solidFill>
                <a:latin typeface="Arial" pitchFamily="34" charset="0"/>
                <a:ea typeface="Arial" pitchFamily="34" charset="-122"/>
                <a:cs typeface="Arial" pitchFamily="34" charset="-120"/>
              </a:rPr>
              <a:t>Tick only what you saw, not what you were told.</a:t>
            </a:r>
            <a:endParaRPr lang="en-US" sz="130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SAID PLAINLY</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Built, stand-in, or not built yet</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15:15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191</a:t>
            </a:r>
            <a:endParaRPr lang="en-US" sz="1000" dirty="0"/>
          </a:p>
        </p:txBody>
      </p:sp>
      <p:sp>
        <p:nvSpPr>
          <p:cNvPr id="7" name="Shape 4"/>
          <p:cNvSpPr/>
          <p:nvPr/>
        </p:nvSpPr>
        <p:spPr>
          <a:xfrm>
            <a:off x="548640" y="1600200"/>
            <a:ext cx="3566160" cy="3291840"/>
          </a:xfrm>
          <a:prstGeom prst="roundRect">
            <a:avLst>
              <a:gd name="adj" fmla="val 2778"/>
            </a:avLst>
          </a:prstGeom>
          <a:solidFill>
            <a:srgbClr val="2E8656"/>
          </a:solidFill>
          <a:ln/>
        </p:spPr>
      </p:sp>
      <p:pic>
        <p:nvPicPr>
          <p:cNvPr id="8" name="Image 1" descr="/private/tmp/claude-501/-Users-salehhamed-Outcome-Engine/91861432-41e2-4884-bc97-63c6dff2d021/scratchpad/wk/icons/TbCircleCheck-white.png">    </p:cNvPr>
          <p:cNvPicPr>
            <a:picLocks noChangeAspect="1"/>
          </p:cNvPicPr>
          <p:nvPr/>
        </p:nvPicPr>
        <p:blipFill>
          <a:blip r:embed="rId4"/>
          <a:stretch>
            <a:fillRect/>
          </a:stretch>
        </p:blipFill>
        <p:spPr>
          <a:xfrm>
            <a:off x="1874520" y="1828800"/>
            <a:ext cx="914400" cy="914400"/>
          </a:xfrm>
          <a:prstGeom prst="rect">
            <a:avLst/>
          </a:prstGeom>
        </p:spPr>
      </p:pic>
      <p:sp>
        <p:nvSpPr>
          <p:cNvPr id="9" name="Text 5"/>
          <p:cNvSpPr txBox="1"/>
          <p:nvPr/>
        </p:nvSpPr>
        <p:spPr>
          <a:xfrm>
            <a:off x="731520" y="2834640"/>
            <a:ext cx="3200400" cy="548640"/>
          </a:xfrm>
          <a:prstGeom prst="rect">
            <a:avLst/>
          </a:prstGeom>
          <a:noFill/>
          <a:ln/>
        </p:spPr>
        <p:txBody>
          <a:bodyPr wrap="square" lIns="0" tIns="0" rIns="0" bIns="0" rtlCol="0" anchor="t"/>
          <a:lstStyle/>
          <a:p>
            <a:pPr algn="ctr" indent="0" marL="0">
              <a:buNone/>
            </a:pPr>
            <a:r>
              <a:rPr lang="en-US" sz="2200" b="1" dirty="0">
                <a:solidFill>
                  <a:srgbClr val="FFFFFF"/>
                </a:solidFill>
                <a:latin typeface="Arial" pitchFamily="34" charset="0"/>
                <a:ea typeface="Arial" pitchFamily="34" charset="-122"/>
                <a:cs typeface="Arial" pitchFamily="34" charset="-120"/>
              </a:rPr>
              <a:t>Built</a:t>
            </a:r>
            <a:endParaRPr lang="en-US" sz="2200" dirty="0"/>
          </a:p>
        </p:txBody>
      </p:sp>
      <p:sp>
        <p:nvSpPr>
          <p:cNvPr id="10" name="Text 6"/>
          <p:cNvSpPr txBox="1"/>
          <p:nvPr/>
        </p:nvSpPr>
        <p:spPr>
          <a:xfrm>
            <a:off x="822960" y="3429000"/>
            <a:ext cx="3017520" cy="1280160"/>
          </a:xfrm>
          <a:prstGeom prst="rect">
            <a:avLst/>
          </a:prstGeom>
          <a:noFill/>
          <a:ln/>
        </p:spPr>
        <p:txBody>
          <a:bodyPr wrap="square" lIns="0" tIns="0" rIns="0" bIns="0" rtlCol="0" anchor="t"/>
          <a:lstStyle/>
          <a:p>
            <a:pPr algn="ctr" indent="0" marL="0">
              <a:buNone/>
            </a:pPr>
            <a:r>
              <a:rPr lang="en-US" sz="1400" dirty="0">
                <a:solidFill>
                  <a:srgbClr val="FFFFFF"/>
                </a:solidFill>
                <a:latin typeface="Arial" pitchFamily="34" charset="0"/>
                <a:ea typeface="Arial" pitchFamily="34" charset="-122"/>
                <a:cs typeface="Arial" pitchFamily="34" charset="-120"/>
              </a:rPr>
              <a:t>Working, on the agreed rules.</a:t>
            </a:r>
            <a:endParaRPr lang="en-US" sz="1400" dirty="0"/>
          </a:p>
        </p:txBody>
      </p:sp>
      <p:sp>
        <p:nvSpPr>
          <p:cNvPr id="11" name="Shape 7"/>
          <p:cNvSpPr/>
          <p:nvPr/>
        </p:nvSpPr>
        <p:spPr>
          <a:xfrm>
            <a:off x="4297680" y="1600200"/>
            <a:ext cx="3566160" cy="3291840"/>
          </a:xfrm>
          <a:prstGeom prst="roundRect">
            <a:avLst>
              <a:gd name="adj" fmla="val 2778"/>
            </a:avLst>
          </a:prstGeom>
          <a:solidFill>
            <a:srgbClr val="C98A1A"/>
          </a:solidFill>
          <a:ln/>
        </p:spPr>
      </p:sp>
      <p:pic>
        <p:nvPicPr>
          <p:cNvPr id="12" name="Image 2" descr="/private/tmp/claude-501/-Users-salehhamed-Outcome-Engine/91861432-41e2-4884-bc97-63c6dff2d021/scratchpad/wk/icons/TbTools-white.png">    </p:cNvPr>
          <p:cNvPicPr>
            <a:picLocks noChangeAspect="1"/>
          </p:cNvPicPr>
          <p:nvPr/>
        </p:nvPicPr>
        <p:blipFill>
          <a:blip r:embed="rId5"/>
          <a:stretch>
            <a:fillRect/>
          </a:stretch>
        </p:blipFill>
        <p:spPr>
          <a:xfrm>
            <a:off x="5623560" y="1828800"/>
            <a:ext cx="914400" cy="914400"/>
          </a:xfrm>
          <a:prstGeom prst="rect">
            <a:avLst/>
          </a:prstGeom>
        </p:spPr>
      </p:pic>
      <p:sp>
        <p:nvSpPr>
          <p:cNvPr id="13" name="Text 8"/>
          <p:cNvSpPr txBox="1"/>
          <p:nvPr/>
        </p:nvSpPr>
        <p:spPr>
          <a:xfrm>
            <a:off x="4480560" y="2834640"/>
            <a:ext cx="3200400" cy="548640"/>
          </a:xfrm>
          <a:prstGeom prst="rect">
            <a:avLst/>
          </a:prstGeom>
          <a:noFill/>
          <a:ln/>
        </p:spPr>
        <p:txBody>
          <a:bodyPr wrap="square" lIns="0" tIns="0" rIns="0" bIns="0" rtlCol="0" anchor="t"/>
          <a:lstStyle/>
          <a:p>
            <a:pPr algn="ctr" indent="0" marL="0">
              <a:buNone/>
            </a:pPr>
            <a:r>
              <a:rPr lang="en-US" sz="2200" b="1" dirty="0">
                <a:solidFill>
                  <a:srgbClr val="FFFFFF"/>
                </a:solidFill>
                <a:latin typeface="Arial" pitchFamily="34" charset="0"/>
                <a:ea typeface="Arial" pitchFamily="34" charset="-122"/>
                <a:cs typeface="Arial" pitchFamily="34" charset="-120"/>
              </a:rPr>
              <a:t>Stand-in</a:t>
            </a:r>
            <a:endParaRPr lang="en-US" sz="2200" dirty="0"/>
          </a:p>
        </p:txBody>
      </p:sp>
      <p:sp>
        <p:nvSpPr>
          <p:cNvPr id="14" name="Text 9"/>
          <p:cNvSpPr txBox="1"/>
          <p:nvPr/>
        </p:nvSpPr>
        <p:spPr>
          <a:xfrm>
            <a:off x="4572000" y="3429000"/>
            <a:ext cx="3017520" cy="1280160"/>
          </a:xfrm>
          <a:prstGeom prst="rect">
            <a:avLst/>
          </a:prstGeom>
          <a:noFill/>
          <a:ln/>
        </p:spPr>
        <p:txBody>
          <a:bodyPr wrap="square" lIns="0" tIns="0" rIns="0" bIns="0" rtlCol="0" anchor="t"/>
          <a:lstStyle/>
          <a:p>
            <a:pPr algn="ctr" indent="0" marL="0">
              <a:buNone/>
            </a:pPr>
            <a:r>
              <a:rPr lang="en-US" sz="1400" dirty="0">
                <a:solidFill>
                  <a:srgbClr val="FFFFFF"/>
                </a:solidFill>
                <a:latin typeface="Arial" pitchFamily="34" charset="0"/>
                <a:ea typeface="Arial" pitchFamily="34" charset="-122"/>
                <a:cs typeface="Arial" pitchFamily="34" charset="-120"/>
              </a:rPr>
              <a:t>A simple copy of a real system, with test data that looks like Kyndryl's records. Labelled on screen.</a:t>
            </a:r>
            <a:endParaRPr lang="en-US" sz="1400" dirty="0"/>
          </a:p>
        </p:txBody>
      </p:sp>
      <p:sp>
        <p:nvSpPr>
          <p:cNvPr id="15" name="Shape 10"/>
          <p:cNvSpPr/>
          <p:nvPr/>
        </p:nvSpPr>
        <p:spPr>
          <a:xfrm>
            <a:off x="8046720" y="1600200"/>
            <a:ext cx="3566160" cy="3291840"/>
          </a:xfrm>
          <a:prstGeom prst="roundRect">
            <a:avLst>
              <a:gd name="adj" fmla="val 2778"/>
            </a:avLst>
          </a:prstGeom>
          <a:solidFill>
            <a:srgbClr val="8A94A4"/>
          </a:solidFill>
          <a:ln/>
        </p:spPr>
      </p:sp>
      <p:pic>
        <p:nvPicPr>
          <p:cNvPr id="16" name="Image 3" descr="/private/tmp/claude-501/-Users-salehhamed-Outcome-Engine/91861432-41e2-4884-bc97-63c6dff2d021/scratchpad/wk/icons/TbCircleDot-white.png">    </p:cNvPr>
          <p:cNvPicPr>
            <a:picLocks noChangeAspect="1"/>
          </p:cNvPicPr>
          <p:nvPr/>
        </p:nvPicPr>
        <p:blipFill>
          <a:blip r:embed="rId6"/>
          <a:stretch>
            <a:fillRect/>
          </a:stretch>
        </p:blipFill>
        <p:spPr>
          <a:xfrm>
            <a:off x="9372600" y="1828800"/>
            <a:ext cx="914400" cy="914400"/>
          </a:xfrm>
          <a:prstGeom prst="rect">
            <a:avLst/>
          </a:prstGeom>
        </p:spPr>
      </p:pic>
      <p:sp>
        <p:nvSpPr>
          <p:cNvPr id="17" name="Text 11"/>
          <p:cNvSpPr txBox="1"/>
          <p:nvPr/>
        </p:nvSpPr>
        <p:spPr>
          <a:xfrm>
            <a:off x="8229600" y="2834640"/>
            <a:ext cx="3200400" cy="548640"/>
          </a:xfrm>
          <a:prstGeom prst="rect">
            <a:avLst/>
          </a:prstGeom>
          <a:noFill/>
          <a:ln/>
        </p:spPr>
        <p:txBody>
          <a:bodyPr wrap="square" lIns="0" tIns="0" rIns="0" bIns="0" rtlCol="0" anchor="t"/>
          <a:lstStyle/>
          <a:p>
            <a:pPr algn="ctr" indent="0" marL="0">
              <a:buNone/>
            </a:pPr>
            <a:r>
              <a:rPr lang="en-US" sz="2200" b="1" dirty="0">
                <a:solidFill>
                  <a:srgbClr val="FFFFFF"/>
                </a:solidFill>
                <a:latin typeface="Arial" pitchFamily="34" charset="0"/>
                <a:ea typeface="Arial" pitchFamily="34" charset="-122"/>
                <a:cs typeface="Arial" pitchFamily="34" charset="-120"/>
              </a:rPr>
              <a:t>Not built yet</a:t>
            </a:r>
            <a:endParaRPr lang="en-US" sz="2200" dirty="0"/>
          </a:p>
        </p:txBody>
      </p:sp>
      <p:sp>
        <p:nvSpPr>
          <p:cNvPr id="18" name="Text 12"/>
          <p:cNvSpPr txBox="1"/>
          <p:nvPr/>
        </p:nvSpPr>
        <p:spPr>
          <a:xfrm>
            <a:off x="8321040" y="3429000"/>
            <a:ext cx="3017520" cy="1280160"/>
          </a:xfrm>
          <a:prstGeom prst="rect">
            <a:avLst/>
          </a:prstGeom>
          <a:noFill/>
          <a:ln/>
        </p:spPr>
        <p:txBody>
          <a:bodyPr wrap="square" lIns="0" tIns="0" rIns="0" bIns="0" rtlCol="0" anchor="t"/>
          <a:lstStyle/>
          <a:p>
            <a:pPr algn="ctr" indent="0" marL="0">
              <a:buNone/>
            </a:pPr>
            <a:r>
              <a:rPr lang="en-US" sz="1400" dirty="0">
                <a:solidFill>
                  <a:srgbClr val="FFFFFF"/>
                </a:solidFill>
                <a:latin typeface="Arial" pitchFamily="34" charset="0"/>
                <a:ea typeface="Arial" pitchFamily="34" charset="-122"/>
                <a:cs typeface="Arial" pitchFamily="34" charset="-120"/>
              </a:rPr>
              <a:t>Named, with when it could come.</a:t>
            </a:r>
            <a:endParaRPr lang="en-US" sz="1400" dirty="0"/>
          </a:p>
        </p:txBody>
      </p:sp>
      <p:sp>
        <p:nvSpPr>
          <p:cNvPr id="19" name="Text 13"/>
          <p:cNvSpPr txBox="1"/>
          <p:nvPr/>
        </p:nvSpPr>
        <p:spPr>
          <a:xfrm>
            <a:off x="548640" y="5257800"/>
            <a:ext cx="10972800" cy="4572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The engineering team says which is which, for every step.</a:t>
            </a:r>
            <a:endParaRPr lang="en-US" sz="17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show="0">
  <p:cSld name="Slide 19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REVIEW THE LIVE PROOF OF CONCEPT</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Three ways to run this session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15:15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192</a:t>
            </a:r>
            <a:endParaRPr lang="en-US" sz="1000" dirty="0"/>
          </a:p>
        </p:txBody>
      </p:sp>
      <p:sp>
        <p:nvSpPr>
          <p:cNvPr id="7" name="Shape 4"/>
          <p:cNvSpPr/>
          <p:nvPr/>
        </p:nvSpPr>
        <p:spPr>
          <a:xfrm>
            <a:off x="548640" y="1463040"/>
            <a:ext cx="3566160" cy="4663440"/>
          </a:xfrm>
          <a:prstGeom prst="roundRect">
            <a:avLst>
              <a:gd name="adj" fmla="val 2051"/>
            </a:avLst>
          </a:prstGeom>
          <a:solidFill>
            <a:srgbClr val="FFFFFF"/>
          </a:solidFill>
          <a:ln w="12700">
            <a:solidFill>
              <a:srgbClr val="D9DEE2"/>
            </a:solidFill>
            <a:prstDash val="solid"/>
          </a:ln>
        </p:spPr>
      </p:sp>
      <p:sp>
        <p:nvSpPr>
          <p:cNvPr id="8" name="Shape 5"/>
          <p:cNvSpPr/>
          <p:nvPr/>
        </p:nvSpPr>
        <p:spPr>
          <a:xfrm>
            <a:off x="548640" y="1463040"/>
            <a:ext cx="3566160" cy="566928"/>
          </a:xfrm>
          <a:prstGeom prst="roundRect">
            <a:avLst>
              <a:gd name="adj" fmla="val 12903"/>
            </a:avLst>
          </a:prstGeom>
          <a:solidFill>
            <a:srgbClr val="287079"/>
          </a:solidFill>
          <a:ln/>
        </p:spPr>
      </p:sp>
      <p:sp>
        <p:nvSpPr>
          <p:cNvPr id="9" name="Shape 6"/>
          <p:cNvSpPr/>
          <p:nvPr/>
        </p:nvSpPr>
        <p:spPr>
          <a:xfrm>
            <a:off x="548640" y="1828800"/>
            <a:ext cx="3566160" cy="201168"/>
          </a:xfrm>
          <a:prstGeom prst="rect">
            <a:avLst/>
          </a:prstGeom>
          <a:solidFill>
            <a:srgbClr val="287079"/>
          </a:solidFill>
          <a:ln/>
        </p:spPr>
      </p:sp>
      <p:pic>
        <p:nvPicPr>
          <p:cNvPr id="10" name="Image 1" descr="/private/tmp/claude-501/-Users-salehhamed-Outcome-Engine/91861432-41e2-4884-bc97-63c6dff2d021/scratchpad/wk/icons/TbHandClick-white.png">    </p:cNvPr>
          <p:cNvPicPr>
            <a:picLocks noChangeAspect="1"/>
          </p:cNvPicPr>
          <p:nvPr/>
        </p:nvPicPr>
        <p:blipFill>
          <a:blip r:embed="rId4"/>
          <a:stretch>
            <a:fillRect/>
          </a:stretch>
        </p:blipFill>
        <p:spPr>
          <a:xfrm>
            <a:off x="713232" y="1554480"/>
            <a:ext cx="384048" cy="384048"/>
          </a:xfrm>
          <a:prstGeom prst="rect">
            <a:avLst/>
          </a:prstGeom>
        </p:spPr>
      </p:pic>
      <p:sp>
        <p:nvSpPr>
          <p:cNvPr id="11" name="Text 7"/>
          <p:cNvSpPr txBox="1"/>
          <p:nvPr/>
        </p:nvSpPr>
        <p:spPr>
          <a:xfrm>
            <a:off x="120700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A · HANDS-ON</a:t>
            </a:r>
            <a:endParaRPr lang="en-US" sz="1150" dirty="0"/>
          </a:p>
        </p:txBody>
      </p:sp>
      <p:sp>
        <p:nvSpPr>
          <p:cNvPr id="12" name="Text 8"/>
          <p:cNvSpPr txBox="1"/>
          <p:nvPr/>
        </p:nvSpPr>
        <p:spPr>
          <a:xfrm>
            <a:off x="77724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Judges' scorecards</a:t>
            </a:r>
            <a:endParaRPr lang="en-US" sz="2100" dirty="0"/>
          </a:p>
        </p:txBody>
      </p:sp>
      <p:sp>
        <p:nvSpPr>
          <p:cNvPr id="13" name="Text 9"/>
          <p:cNvSpPr txBox="1"/>
          <p:nvPr/>
        </p:nvSpPr>
        <p:spPr>
          <a:xfrm>
            <a:off x="77724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Everyone scores the live run on a paper scorecard.</a:t>
            </a:r>
            <a:endParaRPr lang="en-US" sz="1400" dirty="0"/>
          </a:p>
        </p:txBody>
      </p:sp>
      <p:pic>
        <p:nvPicPr>
          <p:cNvPr id="14" name="Image 2" descr="/private/tmp/claude-501/-Users-salehhamed-Outcome-Engine/91861432-41e2-4884-bc97-63c6dff2d021/scratchpad/wk/icons/TbClock-grey.png">    </p:cNvPr>
          <p:cNvPicPr>
            <a:picLocks noChangeAspect="1"/>
          </p:cNvPicPr>
          <p:nvPr/>
        </p:nvPicPr>
        <p:blipFill>
          <a:blip r:embed="rId5"/>
          <a:stretch>
            <a:fillRect/>
          </a:stretch>
        </p:blipFill>
        <p:spPr>
          <a:xfrm>
            <a:off x="777240" y="4297680"/>
            <a:ext cx="274320" cy="274320"/>
          </a:xfrm>
          <a:prstGeom prst="rect">
            <a:avLst/>
          </a:prstGeom>
        </p:spPr>
      </p:pic>
      <p:sp>
        <p:nvSpPr>
          <p:cNvPr id="15" name="Text 10"/>
          <p:cNvSpPr txBox="1"/>
          <p:nvPr/>
        </p:nvSpPr>
        <p:spPr>
          <a:xfrm>
            <a:off x="114300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60 min</a:t>
            </a:r>
            <a:endParaRPr lang="en-US" sz="1200" dirty="0"/>
          </a:p>
        </p:txBody>
      </p:sp>
      <p:pic>
        <p:nvPicPr>
          <p:cNvPr id="16" name="Image 3" descr="/private/tmp/claude-501/-Users-salehhamed-Outcome-Engine/91861432-41e2-4884-bc97-63c6dff2d021/scratchpad/wk/icons/TbUsers-grey.png">    </p:cNvPr>
          <p:cNvPicPr>
            <a:picLocks noChangeAspect="1"/>
          </p:cNvPicPr>
          <p:nvPr/>
        </p:nvPicPr>
        <p:blipFill>
          <a:blip r:embed="rId6"/>
          <a:stretch>
            <a:fillRect/>
          </a:stretch>
        </p:blipFill>
        <p:spPr>
          <a:xfrm>
            <a:off x="777240" y="4681728"/>
            <a:ext cx="274320" cy="274320"/>
          </a:xfrm>
          <a:prstGeom prst="rect">
            <a:avLst/>
          </a:prstGeom>
        </p:spPr>
      </p:pic>
      <p:sp>
        <p:nvSpPr>
          <p:cNvPr id="17" name="Text 11"/>
          <p:cNvSpPr txBox="1"/>
          <p:nvPr/>
        </p:nvSpPr>
        <p:spPr>
          <a:xfrm>
            <a:off x="114300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Each person</a:t>
            </a:r>
            <a:endParaRPr lang="en-US" sz="1200" dirty="0"/>
          </a:p>
        </p:txBody>
      </p:sp>
      <p:pic>
        <p:nvPicPr>
          <p:cNvPr id="18" name="Image 4" descr="/private/tmp/claude-501/-Users-salehhamed-Outcome-Engine/91861432-41e2-4884-bc97-63c6dff2d021/scratchpad/wk/icons/TbGauge-grey.png">    </p:cNvPr>
          <p:cNvPicPr>
            <a:picLocks noChangeAspect="1"/>
          </p:cNvPicPr>
          <p:nvPr/>
        </p:nvPicPr>
        <p:blipFill>
          <a:blip r:embed="rId7"/>
          <a:stretch>
            <a:fillRect/>
          </a:stretch>
        </p:blipFill>
        <p:spPr>
          <a:xfrm>
            <a:off x="777240" y="5065776"/>
            <a:ext cx="274320" cy="274320"/>
          </a:xfrm>
          <a:prstGeom prst="rect">
            <a:avLst/>
          </a:prstGeom>
        </p:spPr>
      </p:pic>
      <p:sp>
        <p:nvSpPr>
          <p:cNvPr id="19" name="Text 12"/>
          <p:cNvSpPr txBox="1"/>
          <p:nvPr/>
        </p:nvSpPr>
        <p:spPr>
          <a:xfrm>
            <a:off x="114300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20" name="Text 13"/>
          <p:cNvSpPr txBox="1"/>
          <p:nvPr/>
        </p:nvSpPr>
        <p:spPr>
          <a:xfrm>
            <a:off x="77724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You want a calm, careful review on paper.</a:t>
            </a:r>
            <a:endParaRPr lang="en-US" sz="1150" dirty="0"/>
          </a:p>
        </p:txBody>
      </p:sp>
      <p:pic>
        <p:nvPicPr>
          <p:cNvPr id="21" name="Image 5" descr="/private/tmp/claude-501/-Users-salehhamed-Outcome-Engine/91861432-41e2-4884-bc97-63c6dff2d021/scratchpad/wk/brand/clear.png">
            <a:hlinkClick r:id="rId9" tooltip="Option A" action="ppaction://hlinksldjump"/>
          </p:cNvPr>
          <p:cNvPicPr>
            <a:picLocks noChangeAspect="1"/>
          </p:cNvPicPr>
          <p:nvPr/>
        </p:nvPicPr>
        <p:blipFill>
          <a:blip r:embed="rId8"/>
          <a:stretch>
            <a:fillRect/>
          </a:stretch>
        </p:blipFill>
        <p:spPr>
          <a:xfrm>
            <a:off x="548640" y="1463040"/>
            <a:ext cx="3566160" cy="4663440"/>
          </a:xfrm>
          <a:prstGeom prst="rect">
            <a:avLst/>
          </a:prstGeom>
        </p:spPr>
      </p:pic>
      <p:sp>
        <p:nvSpPr>
          <p:cNvPr id="22" name="Shape 14"/>
          <p:cNvSpPr/>
          <p:nvPr/>
        </p:nvSpPr>
        <p:spPr>
          <a:xfrm>
            <a:off x="4297680" y="1463040"/>
            <a:ext cx="3566160" cy="4663440"/>
          </a:xfrm>
          <a:prstGeom prst="roundRect">
            <a:avLst>
              <a:gd name="adj" fmla="val 2051"/>
            </a:avLst>
          </a:prstGeom>
          <a:solidFill>
            <a:srgbClr val="FFFFFF"/>
          </a:solidFill>
          <a:ln w="12700">
            <a:solidFill>
              <a:srgbClr val="D9DEE2"/>
            </a:solidFill>
            <a:prstDash val="solid"/>
          </a:ln>
        </p:spPr>
      </p:sp>
      <p:sp>
        <p:nvSpPr>
          <p:cNvPr id="23" name="Shape 15"/>
          <p:cNvSpPr/>
          <p:nvPr/>
        </p:nvSpPr>
        <p:spPr>
          <a:xfrm>
            <a:off x="4297680" y="1463040"/>
            <a:ext cx="3566160" cy="566928"/>
          </a:xfrm>
          <a:prstGeom prst="roundRect">
            <a:avLst>
              <a:gd name="adj" fmla="val 12903"/>
            </a:avLst>
          </a:prstGeom>
          <a:solidFill>
            <a:srgbClr val="FF462D"/>
          </a:solidFill>
          <a:ln/>
        </p:spPr>
      </p:sp>
      <p:sp>
        <p:nvSpPr>
          <p:cNvPr id="24" name="Shape 16"/>
          <p:cNvSpPr/>
          <p:nvPr/>
        </p:nvSpPr>
        <p:spPr>
          <a:xfrm>
            <a:off x="4297680" y="1828800"/>
            <a:ext cx="3566160" cy="201168"/>
          </a:xfrm>
          <a:prstGeom prst="rect">
            <a:avLst/>
          </a:prstGeom>
          <a:solidFill>
            <a:srgbClr val="FF462D"/>
          </a:solidFill>
          <a:ln/>
        </p:spPr>
      </p:sp>
      <p:pic>
        <p:nvPicPr>
          <p:cNvPr id="25" name="Image 6" descr="/private/tmp/claude-501/-Users-salehhamed-Outcome-Engine/91861432-41e2-4884-bc97-63c6dff2d021/scratchpad/wk/icons/TbDeviceMobile-white.png">    </p:cNvPr>
          <p:cNvPicPr>
            <a:picLocks noChangeAspect="1"/>
          </p:cNvPicPr>
          <p:nvPr/>
        </p:nvPicPr>
        <p:blipFill>
          <a:blip r:embed="rId10"/>
          <a:stretch>
            <a:fillRect/>
          </a:stretch>
        </p:blipFill>
        <p:spPr>
          <a:xfrm>
            <a:off x="4462272" y="1554480"/>
            <a:ext cx="384048" cy="384048"/>
          </a:xfrm>
          <a:prstGeom prst="rect">
            <a:avLst/>
          </a:prstGeom>
        </p:spPr>
      </p:pic>
      <p:sp>
        <p:nvSpPr>
          <p:cNvPr id="26" name="Text 17"/>
          <p:cNvSpPr txBox="1"/>
          <p:nvPr/>
        </p:nvSpPr>
        <p:spPr>
          <a:xfrm>
            <a:off x="495604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B · LIVE VOTING</a:t>
            </a:r>
            <a:endParaRPr lang="en-US" sz="1150" dirty="0"/>
          </a:p>
        </p:txBody>
      </p:sp>
      <p:sp>
        <p:nvSpPr>
          <p:cNvPr id="27" name="Text 18"/>
          <p:cNvSpPr txBox="1"/>
          <p:nvPr/>
        </p:nvSpPr>
        <p:spPr>
          <a:xfrm>
            <a:off x="452628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Live scorecard</a:t>
            </a:r>
            <a:endParaRPr lang="en-US" sz="2100" dirty="0"/>
          </a:p>
        </p:txBody>
      </p:sp>
      <p:sp>
        <p:nvSpPr>
          <p:cNvPr id="28" name="Text 19"/>
          <p:cNvSpPr txBox="1"/>
          <p:nvPr/>
        </p:nvSpPr>
        <p:spPr>
          <a:xfrm>
            <a:off x="452628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Phones score each line as the run happens; the screen shows the room's view.</a:t>
            </a:r>
            <a:endParaRPr lang="en-US" sz="1400" dirty="0"/>
          </a:p>
        </p:txBody>
      </p:sp>
      <p:pic>
        <p:nvPicPr>
          <p:cNvPr id="29" name="Image 7" descr="/private/tmp/claude-501/-Users-salehhamed-Outcome-Engine/91861432-41e2-4884-bc97-63c6dff2d021/scratchpad/wk/icons/TbClock-grey.png">    </p:cNvPr>
          <p:cNvPicPr>
            <a:picLocks noChangeAspect="1"/>
          </p:cNvPicPr>
          <p:nvPr/>
        </p:nvPicPr>
        <p:blipFill>
          <a:blip r:embed="rId11"/>
          <a:stretch>
            <a:fillRect/>
          </a:stretch>
        </p:blipFill>
        <p:spPr>
          <a:xfrm>
            <a:off x="4526280" y="4297680"/>
            <a:ext cx="274320" cy="274320"/>
          </a:xfrm>
          <a:prstGeom prst="rect">
            <a:avLst/>
          </a:prstGeom>
        </p:spPr>
      </p:pic>
      <p:sp>
        <p:nvSpPr>
          <p:cNvPr id="30" name="Text 20"/>
          <p:cNvSpPr txBox="1"/>
          <p:nvPr/>
        </p:nvSpPr>
        <p:spPr>
          <a:xfrm>
            <a:off x="489204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60 min</a:t>
            </a:r>
            <a:endParaRPr lang="en-US" sz="1200" dirty="0"/>
          </a:p>
        </p:txBody>
      </p:sp>
      <p:pic>
        <p:nvPicPr>
          <p:cNvPr id="31" name="Image 8" descr="/private/tmp/claude-501/-Users-salehhamed-Outcome-Engine/91861432-41e2-4884-bc97-63c6dff2d021/scratchpad/wk/icons/TbUsers-grey.png">    </p:cNvPr>
          <p:cNvPicPr>
            <a:picLocks noChangeAspect="1"/>
          </p:cNvPicPr>
          <p:nvPr/>
        </p:nvPicPr>
        <p:blipFill>
          <a:blip r:embed="rId12"/>
          <a:stretch>
            <a:fillRect/>
          </a:stretch>
        </p:blipFill>
        <p:spPr>
          <a:xfrm>
            <a:off x="4526280" y="4681728"/>
            <a:ext cx="274320" cy="274320"/>
          </a:xfrm>
          <a:prstGeom prst="rect">
            <a:avLst/>
          </a:prstGeom>
        </p:spPr>
      </p:pic>
      <p:sp>
        <p:nvSpPr>
          <p:cNvPr id="32" name="Text 21"/>
          <p:cNvSpPr txBox="1"/>
          <p:nvPr/>
        </p:nvSpPr>
        <p:spPr>
          <a:xfrm>
            <a:off x="489204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Each person</a:t>
            </a:r>
            <a:endParaRPr lang="en-US" sz="1200" dirty="0"/>
          </a:p>
        </p:txBody>
      </p:sp>
      <p:pic>
        <p:nvPicPr>
          <p:cNvPr id="33" name="Image 9" descr="/private/tmp/claude-501/-Users-salehhamed-Outcome-Engine/91861432-41e2-4884-bc97-63c6dff2d021/scratchpad/wk/icons/TbGauge-grey.png">    </p:cNvPr>
          <p:cNvPicPr>
            <a:picLocks noChangeAspect="1"/>
          </p:cNvPicPr>
          <p:nvPr/>
        </p:nvPicPr>
        <p:blipFill>
          <a:blip r:embed="rId13"/>
          <a:stretch>
            <a:fillRect/>
          </a:stretch>
        </p:blipFill>
        <p:spPr>
          <a:xfrm>
            <a:off x="4526280" y="5065776"/>
            <a:ext cx="274320" cy="274320"/>
          </a:xfrm>
          <a:prstGeom prst="rect">
            <a:avLst/>
          </a:prstGeom>
        </p:spPr>
      </p:pic>
      <p:sp>
        <p:nvSpPr>
          <p:cNvPr id="34" name="Text 22"/>
          <p:cNvSpPr txBox="1"/>
          <p:nvPr/>
        </p:nvSpPr>
        <p:spPr>
          <a:xfrm>
            <a:off x="489204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35" name="Text 23"/>
          <p:cNvSpPr txBox="1"/>
          <p:nvPr/>
        </p:nvSpPr>
        <p:spPr>
          <a:xfrm>
            <a:off x="452628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room tool is in use.</a:t>
            </a:r>
            <a:endParaRPr lang="en-US" sz="1150" dirty="0"/>
          </a:p>
        </p:txBody>
      </p:sp>
      <p:pic>
        <p:nvPicPr>
          <p:cNvPr id="36" name="Image 10" descr="/private/tmp/claude-501/-Users-salehhamed-Outcome-Engine/91861432-41e2-4884-bc97-63c6dff2d021/scratchpad/wk/brand/clear.png">
            <a:hlinkClick r:id="rId15" tooltip="Option B" action="ppaction://hlinksldjump"/>
          </p:cNvPr>
          <p:cNvPicPr>
            <a:picLocks noChangeAspect="1"/>
          </p:cNvPicPr>
          <p:nvPr/>
        </p:nvPicPr>
        <p:blipFill>
          <a:blip r:embed="rId14"/>
          <a:stretch>
            <a:fillRect/>
          </a:stretch>
        </p:blipFill>
        <p:spPr>
          <a:xfrm>
            <a:off x="4297680" y="1463040"/>
            <a:ext cx="3566160" cy="4663440"/>
          </a:xfrm>
          <a:prstGeom prst="rect">
            <a:avLst/>
          </a:prstGeom>
        </p:spPr>
      </p:pic>
      <p:sp>
        <p:nvSpPr>
          <p:cNvPr id="37" name="Shape 24"/>
          <p:cNvSpPr/>
          <p:nvPr/>
        </p:nvSpPr>
        <p:spPr>
          <a:xfrm>
            <a:off x="8046720" y="1463040"/>
            <a:ext cx="3566160" cy="4663440"/>
          </a:xfrm>
          <a:prstGeom prst="roundRect">
            <a:avLst>
              <a:gd name="adj" fmla="val 2051"/>
            </a:avLst>
          </a:prstGeom>
          <a:solidFill>
            <a:srgbClr val="FFFFFF"/>
          </a:solidFill>
          <a:ln w="12700">
            <a:solidFill>
              <a:srgbClr val="D9DEE2"/>
            </a:solidFill>
            <a:prstDash val="solid"/>
          </a:ln>
        </p:spPr>
      </p:sp>
      <p:sp>
        <p:nvSpPr>
          <p:cNvPr id="38" name="Shape 25"/>
          <p:cNvSpPr/>
          <p:nvPr/>
        </p:nvSpPr>
        <p:spPr>
          <a:xfrm>
            <a:off x="8046720" y="1463040"/>
            <a:ext cx="3566160" cy="566928"/>
          </a:xfrm>
          <a:prstGeom prst="roundRect">
            <a:avLst>
              <a:gd name="adj" fmla="val 12903"/>
            </a:avLst>
          </a:prstGeom>
          <a:solidFill>
            <a:srgbClr val="36454F"/>
          </a:solidFill>
          <a:ln/>
        </p:spPr>
      </p:sp>
      <p:sp>
        <p:nvSpPr>
          <p:cNvPr id="39" name="Shape 26"/>
          <p:cNvSpPr/>
          <p:nvPr/>
        </p:nvSpPr>
        <p:spPr>
          <a:xfrm>
            <a:off x="8046720" y="1828800"/>
            <a:ext cx="3566160" cy="201168"/>
          </a:xfrm>
          <a:prstGeom prst="rect">
            <a:avLst/>
          </a:prstGeom>
          <a:solidFill>
            <a:srgbClr val="36454F"/>
          </a:solidFill>
          <a:ln/>
        </p:spPr>
      </p:sp>
      <p:pic>
        <p:nvPicPr>
          <p:cNvPr id="40" name="Image 11" descr="/private/tmp/claude-501/-Users-salehhamed-Outcome-Engine/91861432-41e2-4884-bc97-63c6dff2d021/scratchpad/wk/icons/TbMasksTheater-white.png">    </p:cNvPr>
          <p:cNvPicPr>
            <a:picLocks noChangeAspect="1"/>
          </p:cNvPicPr>
          <p:nvPr/>
        </p:nvPicPr>
        <p:blipFill>
          <a:blip r:embed="rId16"/>
          <a:stretch>
            <a:fillRect/>
          </a:stretch>
        </p:blipFill>
        <p:spPr>
          <a:xfrm>
            <a:off x="8211312" y="1554480"/>
            <a:ext cx="384048" cy="384048"/>
          </a:xfrm>
          <a:prstGeom prst="rect">
            <a:avLst/>
          </a:prstGeom>
        </p:spPr>
      </p:pic>
      <p:sp>
        <p:nvSpPr>
          <p:cNvPr id="41" name="Text 27"/>
          <p:cNvSpPr txBox="1"/>
          <p:nvPr/>
        </p:nvSpPr>
        <p:spPr>
          <a:xfrm>
            <a:off x="870508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C · CASES AND CONVERSATION</a:t>
            </a:r>
            <a:endParaRPr lang="en-US" sz="1150" dirty="0"/>
          </a:p>
        </p:txBody>
      </p:sp>
      <p:sp>
        <p:nvSpPr>
          <p:cNvPr id="42" name="Text 28"/>
          <p:cNvSpPr txBox="1"/>
          <p:nvPr/>
        </p:nvSpPr>
        <p:spPr>
          <a:xfrm>
            <a:off x="827532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Predict, then watch</a:t>
            </a:r>
            <a:endParaRPr lang="en-US" sz="2100" dirty="0"/>
          </a:p>
        </p:txBody>
      </p:sp>
      <p:sp>
        <p:nvSpPr>
          <p:cNvPr id="43" name="Text 29"/>
          <p:cNvSpPr txBox="1"/>
          <p:nvPr/>
        </p:nvSpPr>
        <p:spPr>
          <a:xfrm>
            <a:off x="827532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Before each step, the room predicts what the system will do; then watches.</a:t>
            </a:r>
            <a:endParaRPr lang="en-US" sz="1400" dirty="0"/>
          </a:p>
        </p:txBody>
      </p:sp>
      <p:pic>
        <p:nvPicPr>
          <p:cNvPr id="44" name="Image 12" descr="/private/tmp/claude-501/-Users-salehhamed-Outcome-Engine/91861432-41e2-4884-bc97-63c6dff2d021/scratchpad/wk/icons/TbClock-grey.png">    </p:cNvPr>
          <p:cNvPicPr>
            <a:picLocks noChangeAspect="1"/>
          </p:cNvPicPr>
          <p:nvPr/>
        </p:nvPicPr>
        <p:blipFill>
          <a:blip r:embed="rId17"/>
          <a:stretch>
            <a:fillRect/>
          </a:stretch>
        </p:blipFill>
        <p:spPr>
          <a:xfrm>
            <a:off x="8275320" y="4297680"/>
            <a:ext cx="274320" cy="274320"/>
          </a:xfrm>
          <a:prstGeom prst="rect">
            <a:avLst/>
          </a:prstGeom>
        </p:spPr>
      </p:pic>
      <p:sp>
        <p:nvSpPr>
          <p:cNvPr id="45" name="Text 30"/>
          <p:cNvSpPr txBox="1"/>
          <p:nvPr/>
        </p:nvSpPr>
        <p:spPr>
          <a:xfrm>
            <a:off x="864108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60 min</a:t>
            </a:r>
            <a:endParaRPr lang="en-US" sz="1200" dirty="0"/>
          </a:p>
        </p:txBody>
      </p:sp>
      <p:pic>
        <p:nvPicPr>
          <p:cNvPr id="46" name="Image 13" descr="/private/tmp/claude-501/-Users-salehhamed-Outcome-Engine/91861432-41e2-4884-bc97-63c6dff2d021/scratchpad/wk/icons/TbUsers-grey.png">    </p:cNvPr>
          <p:cNvPicPr>
            <a:picLocks noChangeAspect="1"/>
          </p:cNvPicPr>
          <p:nvPr/>
        </p:nvPicPr>
        <p:blipFill>
          <a:blip r:embed="rId18"/>
          <a:stretch>
            <a:fillRect/>
          </a:stretch>
        </p:blipFill>
        <p:spPr>
          <a:xfrm>
            <a:off x="8275320" y="4681728"/>
            <a:ext cx="274320" cy="274320"/>
          </a:xfrm>
          <a:prstGeom prst="rect">
            <a:avLst/>
          </a:prstGeom>
        </p:spPr>
      </p:pic>
      <p:sp>
        <p:nvSpPr>
          <p:cNvPr id="47" name="Text 31"/>
          <p:cNvSpPr txBox="1"/>
          <p:nvPr/>
        </p:nvSpPr>
        <p:spPr>
          <a:xfrm>
            <a:off x="864108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Whole room</a:t>
            </a:r>
            <a:endParaRPr lang="en-US" sz="1200" dirty="0"/>
          </a:p>
        </p:txBody>
      </p:sp>
      <p:pic>
        <p:nvPicPr>
          <p:cNvPr id="48" name="Image 14" descr="/private/tmp/claude-501/-Users-salehhamed-Outcome-Engine/91861432-41e2-4884-bc97-63c6dff2d021/scratchpad/wk/icons/TbGauge-grey.png">    </p:cNvPr>
          <p:cNvPicPr>
            <a:picLocks noChangeAspect="1"/>
          </p:cNvPicPr>
          <p:nvPr/>
        </p:nvPicPr>
        <p:blipFill>
          <a:blip r:embed="rId19"/>
          <a:stretch>
            <a:fillRect/>
          </a:stretch>
        </p:blipFill>
        <p:spPr>
          <a:xfrm>
            <a:off x="8275320" y="5065776"/>
            <a:ext cx="274320" cy="274320"/>
          </a:xfrm>
          <a:prstGeom prst="rect">
            <a:avLst/>
          </a:prstGeom>
        </p:spPr>
      </p:pic>
      <p:sp>
        <p:nvSpPr>
          <p:cNvPr id="49" name="Text 32"/>
          <p:cNvSpPr txBox="1"/>
          <p:nvPr/>
        </p:nvSpPr>
        <p:spPr>
          <a:xfrm>
            <a:off x="864108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High energy</a:t>
            </a:r>
            <a:endParaRPr lang="en-US" sz="1200" dirty="0"/>
          </a:p>
        </p:txBody>
      </p:sp>
      <p:sp>
        <p:nvSpPr>
          <p:cNvPr id="50" name="Text 33"/>
          <p:cNvSpPr txBox="1"/>
          <p:nvPr/>
        </p:nvSpPr>
        <p:spPr>
          <a:xfrm>
            <a:off x="827532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You want full attention on each step.</a:t>
            </a:r>
            <a:endParaRPr lang="en-US" sz="1150" dirty="0"/>
          </a:p>
        </p:txBody>
      </p:sp>
      <p:pic>
        <p:nvPicPr>
          <p:cNvPr id="51" name="Image 15" descr="/private/tmp/claude-501/-Users-salehhamed-Outcome-Engine/91861432-41e2-4884-bc97-63c6dff2d021/scratchpad/wk/brand/clear.png">
            <a:hlinkClick r:id="rId21" tooltip="Option C" action="ppaction://hlinksldjump"/>
          </p:cNvPr>
          <p:cNvPicPr>
            <a:picLocks noChangeAspect="1"/>
          </p:cNvPicPr>
          <p:nvPr/>
        </p:nvPicPr>
        <p:blipFill>
          <a:blip r:embed="rId20"/>
          <a:stretch>
            <a:fillRect/>
          </a:stretch>
        </p:blipFill>
        <p:spPr>
          <a:xfrm>
            <a:off x="8046720" y="1463040"/>
            <a:ext cx="3566160" cy="4663440"/>
          </a:xfrm>
          <a:prstGeom prst="rect">
            <a:avLst/>
          </a:prstGeom>
        </p:spPr>
      </p:pic>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show="0">
  <p:cSld name="Slide 19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OPTION A · HANDS-ON · LIVE REVIEW</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Judges' scorecards</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15:15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193</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Everyone scores the live run on a paper scorecard.</a:t>
            </a:r>
            <a:endParaRPr lang="en-US" sz="1900" dirty="0"/>
          </a:p>
        </p:txBody>
      </p:sp>
      <p:sp>
        <p:nvSpPr>
          <p:cNvPr id="8" name="Shape 5"/>
          <p:cNvSpPr/>
          <p:nvPr/>
        </p:nvSpPr>
        <p:spPr>
          <a:xfrm>
            <a:off x="548640" y="2240280"/>
            <a:ext cx="887959" cy="1417320"/>
          </a:xfrm>
          <a:prstGeom prst="rect">
            <a:avLst/>
          </a:prstGeom>
          <a:solidFill>
            <a:srgbClr val="287079"/>
          </a:solidFill>
          <a:ln/>
        </p:spPr>
      </p:sp>
      <p:sp>
        <p:nvSpPr>
          <p:cNvPr id="9" name="Text 6"/>
          <p:cNvSpPr txBox="1"/>
          <p:nvPr/>
        </p:nvSpPr>
        <p:spPr>
          <a:xfrm>
            <a:off x="640080" y="2331720"/>
            <a:ext cx="74165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0" name="Text 7"/>
          <p:cNvSpPr txBox="1"/>
          <p:nvPr/>
        </p:nvSpPr>
        <p:spPr>
          <a:xfrm>
            <a:off x="640080" y="2651760"/>
            <a:ext cx="778231"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How to judge</a:t>
            </a:r>
            <a:endParaRPr lang="en-US" sz="950" dirty="0"/>
          </a:p>
        </p:txBody>
      </p:sp>
      <p:sp>
        <p:nvSpPr>
          <p:cNvPr id="11" name="Shape 8"/>
          <p:cNvSpPr/>
          <p:nvPr/>
        </p:nvSpPr>
        <p:spPr>
          <a:xfrm>
            <a:off x="1473175" y="2240280"/>
            <a:ext cx="6435166" cy="1417320"/>
          </a:xfrm>
          <a:prstGeom prst="rect">
            <a:avLst/>
          </a:prstGeom>
          <a:solidFill>
            <a:srgbClr val="5C8F95"/>
          </a:solidFill>
          <a:ln/>
        </p:spPr>
      </p:sp>
      <p:sp>
        <p:nvSpPr>
          <p:cNvPr id="12" name="Text 9"/>
          <p:cNvSpPr txBox="1"/>
          <p:nvPr/>
        </p:nvSpPr>
        <p:spPr>
          <a:xfrm>
            <a:off x="1564615" y="2331720"/>
            <a:ext cx="6288862"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35 min</a:t>
            </a:r>
            <a:endParaRPr lang="en-US" sz="1150" dirty="0"/>
          </a:p>
        </p:txBody>
      </p:sp>
      <p:sp>
        <p:nvSpPr>
          <p:cNvPr id="13" name="Text 10"/>
          <p:cNvSpPr txBox="1"/>
          <p:nvPr/>
        </p:nvSpPr>
        <p:spPr>
          <a:xfrm>
            <a:off x="1564615" y="2651760"/>
            <a:ext cx="6325438"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Live run</a:t>
            </a:r>
            <a:endParaRPr lang="en-US" sz="1500" dirty="0"/>
          </a:p>
        </p:txBody>
      </p:sp>
      <p:sp>
        <p:nvSpPr>
          <p:cNvPr id="14" name="Shape 11"/>
          <p:cNvSpPr/>
          <p:nvPr/>
        </p:nvSpPr>
        <p:spPr>
          <a:xfrm>
            <a:off x="7944917" y="2240280"/>
            <a:ext cx="2737028" cy="1417320"/>
          </a:xfrm>
          <a:prstGeom prst="rect">
            <a:avLst/>
          </a:prstGeom>
          <a:solidFill>
            <a:srgbClr val="287079"/>
          </a:solidFill>
          <a:ln/>
        </p:spPr>
      </p:sp>
      <p:sp>
        <p:nvSpPr>
          <p:cNvPr id="15" name="Text 12"/>
          <p:cNvSpPr txBox="1"/>
          <p:nvPr/>
        </p:nvSpPr>
        <p:spPr>
          <a:xfrm>
            <a:off x="8036357" y="2331720"/>
            <a:ext cx="2590724"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6" name="Text 13"/>
          <p:cNvSpPr txBox="1"/>
          <p:nvPr/>
        </p:nvSpPr>
        <p:spPr>
          <a:xfrm>
            <a:off x="8036357" y="2651760"/>
            <a:ext cx="2627300"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Your case</a:t>
            </a:r>
            <a:endParaRPr lang="en-US" sz="1500" dirty="0"/>
          </a:p>
        </p:txBody>
      </p:sp>
      <p:sp>
        <p:nvSpPr>
          <p:cNvPr id="17" name="Shape 14"/>
          <p:cNvSpPr/>
          <p:nvPr/>
        </p:nvSpPr>
        <p:spPr>
          <a:xfrm>
            <a:off x="10718521" y="2240280"/>
            <a:ext cx="887959" cy="1417320"/>
          </a:xfrm>
          <a:prstGeom prst="rect">
            <a:avLst/>
          </a:prstGeom>
          <a:solidFill>
            <a:srgbClr val="5C8F95"/>
          </a:solidFill>
          <a:ln/>
        </p:spPr>
      </p:sp>
      <p:sp>
        <p:nvSpPr>
          <p:cNvPr id="18" name="Text 15"/>
          <p:cNvSpPr txBox="1"/>
          <p:nvPr/>
        </p:nvSpPr>
        <p:spPr>
          <a:xfrm>
            <a:off x="10809961" y="2331720"/>
            <a:ext cx="74165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9" name="Text 16"/>
          <p:cNvSpPr txBox="1"/>
          <p:nvPr/>
        </p:nvSpPr>
        <p:spPr>
          <a:xfrm>
            <a:off x="10809961" y="2651760"/>
            <a:ext cx="778231"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Count</a:t>
            </a:r>
            <a:endParaRPr lang="en-US" sz="950" dirty="0"/>
          </a:p>
        </p:txBody>
      </p:sp>
      <p:sp>
        <p:nvSpPr>
          <p:cNvPr id="20" name="Shape 17"/>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1"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2" name="Text 18"/>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3" name="Text 19"/>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Each person</a:t>
            </a:r>
            <a:endParaRPr lang="en-US" sz="1300" dirty="0"/>
          </a:p>
        </p:txBody>
      </p:sp>
      <p:sp>
        <p:nvSpPr>
          <p:cNvPr id="24" name="Shape 20"/>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5"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6" name="Text 21"/>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7" name="Text 22"/>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Scorecard totals and the known gaps.</a:t>
            </a:r>
            <a:endParaRPr lang="en-US" sz="1300" dirty="0"/>
          </a:p>
        </p:txBody>
      </p:sp>
      <p:sp>
        <p:nvSpPr>
          <p:cNvPr id="28" name="Shape 23"/>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9"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30" name="Text 24"/>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31" name="Text 25"/>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show="0">
  <p:cSld name="Slide 19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FF462D"/>
                </a:solidFill>
                <a:latin typeface="Arial" pitchFamily="34" charset="0"/>
                <a:ea typeface="Arial" pitchFamily="34" charset="-122"/>
                <a:cs typeface="Arial" pitchFamily="34" charset="-120"/>
              </a:rPr>
              <a:t>OPTION B · LIVE VOTING · LIVE REVIEW</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Live scorecard</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15:15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194</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Phones score each line as the run happens; the screen shows the room's view.</a:t>
            </a:r>
            <a:endParaRPr lang="en-US" sz="1900" dirty="0"/>
          </a:p>
        </p:txBody>
      </p:sp>
      <p:sp>
        <p:nvSpPr>
          <p:cNvPr id="8" name="Shape 5"/>
          <p:cNvSpPr/>
          <p:nvPr/>
        </p:nvSpPr>
        <p:spPr>
          <a:xfrm>
            <a:off x="548640" y="2240280"/>
            <a:ext cx="887959" cy="1417320"/>
          </a:xfrm>
          <a:prstGeom prst="rect">
            <a:avLst/>
          </a:prstGeom>
          <a:solidFill>
            <a:srgbClr val="FF462D"/>
          </a:solidFill>
          <a:ln/>
        </p:spPr>
      </p:sp>
      <p:sp>
        <p:nvSpPr>
          <p:cNvPr id="9" name="Text 6"/>
          <p:cNvSpPr txBox="1"/>
          <p:nvPr/>
        </p:nvSpPr>
        <p:spPr>
          <a:xfrm>
            <a:off x="640080" y="2331720"/>
            <a:ext cx="74165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0" name="Text 7"/>
          <p:cNvSpPr txBox="1"/>
          <p:nvPr/>
        </p:nvSpPr>
        <p:spPr>
          <a:xfrm>
            <a:off x="640080" y="2651760"/>
            <a:ext cx="778231"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How to judge</a:t>
            </a:r>
            <a:endParaRPr lang="en-US" sz="950" dirty="0"/>
          </a:p>
        </p:txBody>
      </p:sp>
      <p:sp>
        <p:nvSpPr>
          <p:cNvPr id="11" name="Shape 8"/>
          <p:cNvSpPr/>
          <p:nvPr/>
        </p:nvSpPr>
        <p:spPr>
          <a:xfrm>
            <a:off x="1473175" y="2240280"/>
            <a:ext cx="6435166" cy="1417320"/>
          </a:xfrm>
          <a:prstGeom prst="rect">
            <a:avLst/>
          </a:prstGeom>
          <a:solidFill>
            <a:srgbClr val="FF8A78"/>
          </a:solidFill>
          <a:ln/>
        </p:spPr>
      </p:sp>
      <p:sp>
        <p:nvSpPr>
          <p:cNvPr id="12" name="Text 9"/>
          <p:cNvSpPr txBox="1"/>
          <p:nvPr/>
        </p:nvSpPr>
        <p:spPr>
          <a:xfrm>
            <a:off x="1564615" y="2331720"/>
            <a:ext cx="6288862"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35 min</a:t>
            </a:r>
            <a:endParaRPr lang="en-US" sz="1150" dirty="0"/>
          </a:p>
        </p:txBody>
      </p:sp>
      <p:sp>
        <p:nvSpPr>
          <p:cNvPr id="13" name="Text 10"/>
          <p:cNvSpPr txBox="1"/>
          <p:nvPr/>
        </p:nvSpPr>
        <p:spPr>
          <a:xfrm>
            <a:off x="1564615" y="2651760"/>
            <a:ext cx="6325438"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Live run</a:t>
            </a:r>
            <a:endParaRPr lang="en-US" sz="1500" dirty="0"/>
          </a:p>
        </p:txBody>
      </p:sp>
      <p:sp>
        <p:nvSpPr>
          <p:cNvPr id="14" name="Shape 11"/>
          <p:cNvSpPr/>
          <p:nvPr/>
        </p:nvSpPr>
        <p:spPr>
          <a:xfrm>
            <a:off x="7944917" y="2240280"/>
            <a:ext cx="2737028" cy="1417320"/>
          </a:xfrm>
          <a:prstGeom prst="rect">
            <a:avLst/>
          </a:prstGeom>
          <a:solidFill>
            <a:srgbClr val="FF462D"/>
          </a:solidFill>
          <a:ln/>
        </p:spPr>
      </p:sp>
      <p:sp>
        <p:nvSpPr>
          <p:cNvPr id="15" name="Text 12"/>
          <p:cNvSpPr txBox="1"/>
          <p:nvPr/>
        </p:nvSpPr>
        <p:spPr>
          <a:xfrm>
            <a:off x="8036357" y="2331720"/>
            <a:ext cx="2590724"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6" name="Text 13"/>
          <p:cNvSpPr txBox="1"/>
          <p:nvPr/>
        </p:nvSpPr>
        <p:spPr>
          <a:xfrm>
            <a:off x="8036357" y="2651760"/>
            <a:ext cx="2627300"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Your case</a:t>
            </a:r>
            <a:endParaRPr lang="en-US" sz="1500" dirty="0"/>
          </a:p>
        </p:txBody>
      </p:sp>
      <p:sp>
        <p:nvSpPr>
          <p:cNvPr id="17" name="Shape 14"/>
          <p:cNvSpPr/>
          <p:nvPr/>
        </p:nvSpPr>
        <p:spPr>
          <a:xfrm>
            <a:off x="10718521" y="2240280"/>
            <a:ext cx="887959" cy="1417320"/>
          </a:xfrm>
          <a:prstGeom prst="rect">
            <a:avLst/>
          </a:prstGeom>
          <a:solidFill>
            <a:srgbClr val="FF8A78"/>
          </a:solidFill>
          <a:ln/>
        </p:spPr>
      </p:sp>
      <p:sp>
        <p:nvSpPr>
          <p:cNvPr id="18" name="Text 15"/>
          <p:cNvSpPr txBox="1"/>
          <p:nvPr/>
        </p:nvSpPr>
        <p:spPr>
          <a:xfrm>
            <a:off x="10809961" y="2331720"/>
            <a:ext cx="74165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9" name="Text 16"/>
          <p:cNvSpPr txBox="1"/>
          <p:nvPr/>
        </p:nvSpPr>
        <p:spPr>
          <a:xfrm>
            <a:off x="10809961" y="2651760"/>
            <a:ext cx="778231"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Combined score</a:t>
            </a:r>
            <a:endParaRPr lang="en-US" sz="950" dirty="0"/>
          </a:p>
        </p:txBody>
      </p:sp>
      <p:sp>
        <p:nvSpPr>
          <p:cNvPr id="20" name="Shape 17"/>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1"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2" name="Text 18"/>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3" name="Text 19"/>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Each person</a:t>
            </a:r>
            <a:endParaRPr lang="en-US" sz="1300" dirty="0"/>
          </a:p>
        </p:txBody>
      </p:sp>
      <p:sp>
        <p:nvSpPr>
          <p:cNvPr id="24" name="Shape 20"/>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5"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6" name="Text 21"/>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7" name="Text 22"/>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Saved in the room tool.</a:t>
            </a:r>
            <a:endParaRPr lang="en-US" sz="1300" dirty="0"/>
          </a:p>
        </p:txBody>
      </p:sp>
      <p:sp>
        <p:nvSpPr>
          <p:cNvPr id="28" name="Shape 23"/>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29"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30" name="Text 24"/>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31" name="Text 25"/>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36454F"/>
                </a:solidFill>
                <a:latin typeface="Arial" pitchFamily="34" charset="0"/>
                <a:ea typeface="Arial" pitchFamily="34" charset="-122"/>
                <a:cs typeface="Arial" pitchFamily="34" charset="-120"/>
              </a:rPr>
              <a:t>OPTION C · CASES AND CONVERSATION · LIVE REVIEW</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Predict, then watch</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15:15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195</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Before each step, the room predicts what the system will do; then watches.</a:t>
            </a:r>
            <a:endParaRPr lang="en-US" sz="1900" dirty="0"/>
          </a:p>
        </p:txBody>
      </p:sp>
      <p:sp>
        <p:nvSpPr>
          <p:cNvPr id="8" name="Shape 5"/>
          <p:cNvSpPr/>
          <p:nvPr/>
        </p:nvSpPr>
        <p:spPr>
          <a:xfrm>
            <a:off x="548640" y="2240280"/>
            <a:ext cx="887959" cy="1417320"/>
          </a:xfrm>
          <a:prstGeom prst="rect">
            <a:avLst/>
          </a:prstGeom>
          <a:solidFill>
            <a:srgbClr val="36454F"/>
          </a:solidFill>
          <a:ln/>
        </p:spPr>
      </p:sp>
      <p:sp>
        <p:nvSpPr>
          <p:cNvPr id="9" name="Text 6"/>
          <p:cNvSpPr txBox="1"/>
          <p:nvPr/>
        </p:nvSpPr>
        <p:spPr>
          <a:xfrm>
            <a:off x="640080" y="2331720"/>
            <a:ext cx="74165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0" name="Text 7"/>
          <p:cNvSpPr txBox="1"/>
          <p:nvPr/>
        </p:nvSpPr>
        <p:spPr>
          <a:xfrm>
            <a:off x="640080" y="2651760"/>
            <a:ext cx="778231"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Three answers</a:t>
            </a:r>
            <a:endParaRPr lang="en-US" sz="950" dirty="0"/>
          </a:p>
        </p:txBody>
      </p:sp>
      <p:sp>
        <p:nvSpPr>
          <p:cNvPr id="11" name="Shape 8"/>
          <p:cNvSpPr/>
          <p:nvPr/>
        </p:nvSpPr>
        <p:spPr>
          <a:xfrm>
            <a:off x="1473175" y="2240280"/>
            <a:ext cx="6435166" cy="1417320"/>
          </a:xfrm>
          <a:prstGeom prst="rect">
            <a:avLst/>
          </a:prstGeom>
          <a:solidFill>
            <a:srgbClr val="6B7B86"/>
          </a:solidFill>
          <a:ln/>
        </p:spPr>
      </p:sp>
      <p:sp>
        <p:nvSpPr>
          <p:cNvPr id="12" name="Text 9"/>
          <p:cNvSpPr txBox="1"/>
          <p:nvPr/>
        </p:nvSpPr>
        <p:spPr>
          <a:xfrm>
            <a:off x="1564615" y="2331720"/>
            <a:ext cx="6288862"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35 min</a:t>
            </a:r>
            <a:endParaRPr lang="en-US" sz="1150" dirty="0"/>
          </a:p>
        </p:txBody>
      </p:sp>
      <p:sp>
        <p:nvSpPr>
          <p:cNvPr id="13" name="Text 10"/>
          <p:cNvSpPr txBox="1"/>
          <p:nvPr/>
        </p:nvSpPr>
        <p:spPr>
          <a:xfrm>
            <a:off x="1564615" y="2651760"/>
            <a:ext cx="6325438"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Predict, then watch</a:t>
            </a:r>
            <a:endParaRPr lang="en-US" sz="1500" dirty="0"/>
          </a:p>
        </p:txBody>
      </p:sp>
      <p:sp>
        <p:nvSpPr>
          <p:cNvPr id="14" name="Shape 11"/>
          <p:cNvSpPr/>
          <p:nvPr/>
        </p:nvSpPr>
        <p:spPr>
          <a:xfrm>
            <a:off x="7944917" y="2240280"/>
            <a:ext cx="2737028" cy="1417320"/>
          </a:xfrm>
          <a:prstGeom prst="rect">
            <a:avLst/>
          </a:prstGeom>
          <a:solidFill>
            <a:srgbClr val="36454F"/>
          </a:solidFill>
          <a:ln/>
        </p:spPr>
      </p:sp>
      <p:sp>
        <p:nvSpPr>
          <p:cNvPr id="15" name="Text 12"/>
          <p:cNvSpPr txBox="1"/>
          <p:nvPr/>
        </p:nvSpPr>
        <p:spPr>
          <a:xfrm>
            <a:off x="8036357" y="2331720"/>
            <a:ext cx="2590724"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15 min</a:t>
            </a:r>
            <a:endParaRPr lang="en-US" sz="1150" dirty="0"/>
          </a:p>
        </p:txBody>
      </p:sp>
      <p:sp>
        <p:nvSpPr>
          <p:cNvPr id="16" name="Text 13"/>
          <p:cNvSpPr txBox="1"/>
          <p:nvPr/>
        </p:nvSpPr>
        <p:spPr>
          <a:xfrm>
            <a:off x="8036357" y="2651760"/>
            <a:ext cx="2627300"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Your case</a:t>
            </a:r>
            <a:endParaRPr lang="en-US" sz="1500" dirty="0"/>
          </a:p>
        </p:txBody>
      </p:sp>
      <p:sp>
        <p:nvSpPr>
          <p:cNvPr id="17" name="Shape 14"/>
          <p:cNvSpPr/>
          <p:nvPr/>
        </p:nvSpPr>
        <p:spPr>
          <a:xfrm>
            <a:off x="10718521" y="2240280"/>
            <a:ext cx="887959" cy="1417320"/>
          </a:xfrm>
          <a:prstGeom prst="rect">
            <a:avLst/>
          </a:prstGeom>
          <a:solidFill>
            <a:srgbClr val="6B7B86"/>
          </a:solidFill>
          <a:ln/>
        </p:spPr>
      </p:sp>
      <p:sp>
        <p:nvSpPr>
          <p:cNvPr id="18" name="Text 15"/>
          <p:cNvSpPr txBox="1"/>
          <p:nvPr/>
        </p:nvSpPr>
        <p:spPr>
          <a:xfrm>
            <a:off x="10809961" y="2331720"/>
            <a:ext cx="741655"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9" name="Text 16"/>
          <p:cNvSpPr txBox="1"/>
          <p:nvPr/>
        </p:nvSpPr>
        <p:spPr>
          <a:xfrm>
            <a:off x="10809961" y="2651760"/>
            <a:ext cx="778231" cy="91440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Surprises</a:t>
            </a:r>
            <a:endParaRPr lang="en-US" sz="950" dirty="0"/>
          </a:p>
        </p:txBody>
      </p:sp>
      <p:sp>
        <p:nvSpPr>
          <p:cNvPr id="20" name="Shape 17"/>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1"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2" name="Text 18"/>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3" name="Text 19"/>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Whole room</a:t>
            </a:r>
            <a:endParaRPr lang="en-US" sz="1300" dirty="0"/>
          </a:p>
        </p:txBody>
      </p:sp>
      <p:sp>
        <p:nvSpPr>
          <p:cNvPr id="24" name="Shape 20"/>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5"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6" name="Text 21"/>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7" name="Text 22"/>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The surprises list.</a:t>
            </a:r>
            <a:endParaRPr lang="en-US" sz="1300" dirty="0"/>
          </a:p>
        </p:txBody>
      </p:sp>
      <p:sp>
        <p:nvSpPr>
          <p:cNvPr id="28" name="Shape 23"/>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29"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30" name="Text 24"/>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31" name="Text 25"/>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LIVE REVIEW · FILL IN LIVE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Live evidence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15:15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196</a:t>
            </a:r>
            <a:endParaRPr lang="en-US" sz="1000" dirty="0"/>
          </a:p>
        </p:txBody>
      </p:sp>
      <p:graphicFrame>
        <p:nvGraphicFramePr>
          <p:cNvPr id="19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6035040"/>
                <a:gridCol w="1691640"/>
                <a:gridCol w="1691640"/>
                <a:gridCol w="1673352"/>
              </a:tblGrid>
              <a:tr h="582930">
                <a:tc>
                  <a:txBody>
                    <a:bodyPr/>
                    <a:lstStyle/>
                    <a:p>
                      <a:pPr indent="0" marL="0">
                        <a:buNone/>
                      </a:pPr>
                      <a:r>
                        <a:rPr lang="en-US" sz="1500" b="1" dirty="0">
                          <a:solidFill>
                            <a:srgbClr val="FFFFFF"/>
                          </a:solidFill>
                          <a:latin typeface="Arial" pitchFamily="34" charset="0"/>
                          <a:ea typeface="Arial" pitchFamily="34" charset="-122"/>
                          <a:cs typeface="Arial" pitchFamily="34" charset="-120"/>
                        </a:rPr>
                        <a:t>What we looked for</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Seen, works</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Seen, with problems</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Not seen</a:t>
                      </a:r>
                      <a:endParaRPr lang="en-US" sz="15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solidFill>
                      <a:srgbClr val="287079"/>
                    </a:solidFill>
                  </a:tcPr>
                </a:tc>
              </a:tr>
              <a:tr h="582930">
                <a:tc>
                  <a:txBody>
                    <a:bodyPr/>
                    <a:lstStyle/>
                    <a:p>
                      <a:pPr indent="0" marL="0">
                        <a:buNone/>
                      </a:pPr>
                      <a:r>
                        <a:rPr lang="en-US" sz="1600" b="1" dirty="0">
                          <a:solidFill>
                            <a:srgbClr val="1F2A33"/>
                          </a:solidFill>
                          <a:latin typeface="Arial" pitchFamily="34" charset="0"/>
                          <a:ea typeface="Arial" pitchFamily="34" charset="-122"/>
                          <a:cs typeface="Arial" pitchFamily="34" charset="-120"/>
                        </a:rPr>
                        <a:t>The case ran from start to finish</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582930">
                <a:tc>
                  <a:txBody>
                    <a:bodyPr/>
                    <a:lstStyle/>
                    <a:p>
                      <a:pPr indent="0" marL="0">
                        <a:buNone/>
                      </a:pPr>
                      <a:r>
                        <a:rPr lang="en-US" sz="1600" b="1" dirty="0">
                          <a:solidFill>
                            <a:srgbClr val="1F2A33"/>
                          </a:solidFill>
                          <a:latin typeface="Arial" pitchFamily="34" charset="0"/>
                          <a:ea typeface="Arial" pitchFamily="34" charset="-122"/>
                          <a:cs typeface="Arial" pitchFamily="34" charset="-120"/>
                        </a:rPr>
                        <a:t>Each decision went to its named owner</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582930">
                <a:tc>
                  <a:txBody>
                    <a:bodyPr/>
                    <a:lstStyle/>
                    <a:p>
                      <a:pPr indent="0" marL="0">
                        <a:buNone/>
                      </a:pPr>
                      <a:r>
                        <a:rPr lang="en-US" sz="1600" b="1" dirty="0">
                          <a:solidFill>
                            <a:srgbClr val="1F2A33"/>
                          </a:solidFill>
                          <a:latin typeface="Arial" pitchFamily="34" charset="0"/>
                          <a:ea typeface="Arial" pitchFamily="34" charset="-122"/>
                          <a:cs typeface="Arial" pitchFamily="34" charset="-120"/>
                        </a:rPr>
                        <a:t>A broken rule was refused, with the rule shown</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582930">
                <a:tc>
                  <a:txBody>
                    <a:bodyPr/>
                    <a:lstStyle/>
                    <a:p>
                      <a:pPr indent="0" marL="0">
                        <a:buNone/>
                      </a:pPr>
                      <a:r>
                        <a:rPr lang="en-US" sz="1600" b="1" dirty="0">
                          <a:solidFill>
                            <a:srgbClr val="1F2A33"/>
                          </a:solidFill>
                          <a:latin typeface="Arial" pitchFamily="34" charset="0"/>
                          <a:ea typeface="Arial" pitchFamily="34" charset="-122"/>
                          <a:cs typeface="Arial" pitchFamily="34" charset="-120"/>
                        </a:rPr>
                        <a:t>Every step is on the record</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582930">
                <a:tc>
                  <a:txBody>
                    <a:bodyPr/>
                    <a:lstStyle/>
                    <a:p>
                      <a:pPr indent="0" marL="0">
                        <a:buNone/>
                      </a:pPr>
                      <a:r>
                        <a:rPr lang="en-US" sz="1600" b="1" dirty="0">
                          <a:solidFill>
                            <a:srgbClr val="1F2A33"/>
                          </a:solidFill>
                          <a:latin typeface="Arial" pitchFamily="34" charset="0"/>
                          <a:ea typeface="Arial" pitchFamily="34" charset="-122"/>
                          <a:cs typeface="Arial" pitchFamily="34" charset="-120"/>
                        </a:rPr>
                        <a:t>The done checks were checked against the record</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582930">
                <a:tc>
                  <a:txBody>
                    <a:bodyPr/>
                    <a:lstStyle/>
                    <a:p>
                      <a:pPr indent="0" marL="0">
                        <a:buNone/>
                      </a:pPr>
                      <a:r>
                        <a:rPr lang="en-US" sz="1600" b="1" dirty="0">
                          <a:solidFill>
                            <a:srgbClr val="1F2A33"/>
                          </a:solidFill>
                          <a:latin typeface="Arial" pitchFamily="34" charset="0"/>
                          <a:ea typeface="Arial" pitchFamily="34" charset="-122"/>
                          <a:cs typeface="Arial" pitchFamily="34" charset="-120"/>
                        </a:rPr>
                        <a:t>We know what is built, a stand-in, or not built</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r h="582930">
                <a:tc>
                  <a:txBody>
                    <a:bodyPr/>
                    <a:lstStyle/>
                    <a:p>
                      <a:pPr indent="0" marL="0">
                        <a:buNone/>
                      </a:pPr>
                      <a:r>
                        <a:rPr lang="en-US" sz="1600" b="1" dirty="0">
                          <a:solidFill>
                            <a:srgbClr val="1F2A33"/>
                          </a:solidFill>
                          <a:latin typeface="Arial" pitchFamily="34" charset="0"/>
                          <a:ea typeface="Arial" pitchFamily="34" charset="-122"/>
                          <a:cs typeface="Arial" pitchFamily="34" charset="-120"/>
                        </a:rPr>
                        <a:t>Known gaps: built, stand-in, not built</a:t>
                      </a: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c>
                  <a:txBody>
                    <a:bodyPr/>
                    <a:lstStyle/>
                    <a:p>
                      <a:pPr indent="0" marL="0">
                        <a:buNone/>
                      </a:pPr>
                      <a:endParaRPr lang="en-US" sz="1600" dirty="0">
                        <a:latin typeface="Arial" charset="0"/>
                        <a:ea typeface="Arial" charset="0"/>
                        <a:cs typeface="Arial" charset="0"/>
                      </a:endParaRPr>
                    </a:p>
                  </a:txBody>
                  <a:tcPr marL="54864" marR="54864" marT="54864" marB="54864" anchor="ctr">
                    <a:lnL w="12700" cap="flat" cmpd="sng" algn="ctr">
                      <a:solidFill>
                        <a:srgbClr val="D9DEE2"/>
                      </a:solidFill>
                      <a:prstDash val="solid"/>
                      <a:round/>
                      <a:headEnd type="none" w="med" len="med"/>
                      <a:tailEnd type="none" w="med" len="med"/>
                    </a:lnL>
                    <a:lnR w="12700" cap="flat" cmpd="sng" algn="ctr">
                      <a:solidFill>
                        <a:srgbClr val="D9DEE2"/>
                      </a:solidFill>
                      <a:prstDash val="solid"/>
                      <a:round/>
                      <a:headEnd type="none" w="med" len="med"/>
                      <a:tailEnd type="none" w="med" len="med"/>
                    </a:lnR>
                    <a:lnT w="12700" cap="flat" cmpd="sng" algn="ctr">
                      <a:solidFill>
                        <a:srgbClr val="D9DEE2"/>
                      </a:solidFill>
                      <a:prstDash val="solid"/>
                      <a:round/>
                      <a:headEnd type="none" w="med" len="med"/>
                      <a:tailEnd type="none" w="med" len="med"/>
                    </a:lnT>
                    <a:lnB w="12700" cap="flat" cmpd="sng" algn="ctr">
                      <a:solidFill>
                        <a:srgbClr val="D9DEE2"/>
                      </a:solidFill>
                      <a:prstDash val="solid"/>
                      <a:round/>
                      <a:headEnd type="none" w="med" len="med"/>
                      <a:tailEnd type="none" w="med" len="med"/>
                    </a:lnB>
                  </a:tcPr>
                </a:tc>
              </a:tr>
            </a:tbl>
          </a:graphicData>
        </a:graphic>
      </p:graphicFrame>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QUICK CHECK · HANDS UP OR PHONES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Where do we check that a case is really done?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15:15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197</a:t>
            </a:r>
            <a:endParaRPr lang="en-US" sz="1000" dirty="0"/>
          </a:p>
        </p:txBody>
      </p:sp>
      <p:sp>
        <p:nvSpPr>
          <p:cNvPr id="7" name="Shape 4"/>
          <p:cNvSpPr/>
          <p:nvPr/>
        </p:nvSpPr>
        <p:spPr>
          <a:xfrm>
            <a:off x="548640" y="1828800"/>
            <a:ext cx="11091672" cy="1005840"/>
          </a:xfrm>
          <a:prstGeom prst="roundRect">
            <a:avLst>
              <a:gd name="adj" fmla="val 7273"/>
            </a:avLst>
          </a:prstGeom>
          <a:solidFill>
            <a:srgbClr val="FFFFFF"/>
          </a:solidFill>
          <a:ln w="12700">
            <a:solidFill>
              <a:srgbClr val="D9DEE2"/>
            </a:solidFill>
            <a:prstDash val="solid"/>
          </a:ln>
        </p:spPr>
      </p:sp>
      <p:sp>
        <p:nvSpPr>
          <p:cNvPr id="8" name="Shape 5"/>
          <p:cNvSpPr/>
          <p:nvPr/>
        </p:nvSpPr>
        <p:spPr>
          <a:xfrm>
            <a:off x="777240" y="2057400"/>
            <a:ext cx="548640" cy="548640"/>
          </a:xfrm>
          <a:prstGeom prst="ellipse">
            <a:avLst/>
          </a:prstGeom>
          <a:solidFill>
            <a:srgbClr val="36454F"/>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On the demo screen, as the case runs live</a:t>
            </a:r>
            <a:endParaRPr lang="en-US" sz="2000" dirty="0"/>
          </a:p>
        </p:txBody>
      </p:sp>
      <p:sp>
        <p:nvSpPr>
          <p:cNvPr id="11" name="Shape 8"/>
          <p:cNvSpPr/>
          <p:nvPr/>
        </p:nvSpPr>
        <p:spPr>
          <a:xfrm>
            <a:off x="548640" y="3017520"/>
            <a:ext cx="11091672" cy="1005840"/>
          </a:xfrm>
          <a:prstGeom prst="roundRect">
            <a:avLst>
              <a:gd name="adj" fmla="val 7273"/>
            </a:avLst>
          </a:prstGeom>
          <a:solidFill>
            <a:srgbClr val="FFFFFF"/>
          </a:solidFill>
          <a:ln w="12700">
            <a:solidFill>
              <a:srgbClr val="D9DEE2"/>
            </a:solidFill>
            <a:prstDash val="solid"/>
          </a:ln>
        </p:spPr>
      </p:sp>
      <p:sp>
        <p:nvSpPr>
          <p:cNvPr id="12" name="Shape 9"/>
          <p:cNvSpPr/>
          <p:nvPr/>
        </p:nvSpPr>
        <p:spPr>
          <a:xfrm>
            <a:off x="777240" y="3246120"/>
            <a:ext cx="548640" cy="548640"/>
          </a:xfrm>
          <a:prstGeom prst="ellipse">
            <a:avLst/>
          </a:prstGeom>
          <a:solidFill>
            <a:srgbClr val="36454F"/>
          </a:solidFill>
          <a:ln/>
        </p:spPr>
      </p:sp>
      <p:sp>
        <p:nvSpPr>
          <p:cNvPr id="13"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4"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By asking the engineers who built it</a:t>
            </a:r>
            <a:endParaRPr lang="en-US" sz="2000" dirty="0"/>
          </a:p>
        </p:txBody>
      </p:sp>
      <p:sp>
        <p:nvSpPr>
          <p:cNvPr id="15" name="Shape 12"/>
          <p:cNvSpPr/>
          <p:nvPr/>
        </p:nvSpPr>
        <p:spPr>
          <a:xfrm>
            <a:off x="548640" y="4206240"/>
            <a:ext cx="11091672" cy="1005840"/>
          </a:xfrm>
          <a:prstGeom prst="roundRect">
            <a:avLst>
              <a:gd name="adj" fmla="val 7273"/>
            </a:avLst>
          </a:prstGeom>
          <a:solidFill>
            <a:srgbClr val="FFFFFF"/>
          </a:solidFill>
          <a:ln w="12700">
            <a:solidFill>
              <a:srgbClr val="D9DEE2"/>
            </a:solidFill>
            <a:prstDash val="solid"/>
          </a:ln>
        </p:spPr>
      </p:sp>
      <p:sp>
        <p:nvSpPr>
          <p:cNvPr id="16" name="Shape 13"/>
          <p:cNvSpPr/>
          <p:nvPr/>
        </p:nvSpPr>
        <p:spPr>
          <a:xfrm>
            <a:off x="777240" y="4434840"/>
            <a:ext cx="548640" cy="548640"/>
          </a:xfrm>
          <a:prstGeom prst="ellipse">
            <a:avLst/>
          </a:prstGeom>
          <a:solidFill>
            <a:srgbClr val="36454F"/>
          </a:solidFill>
          <a:ln/>
        </p:spPr>
      </p:sp>
      <p:sp>
        <p:nvSpPr>
          <p:cNvPr id="17"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8"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In the record, against the done checks</a:t>
            </a:r>
            <a:endParaRPr lang="en-US" sz="20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CHECK · THE ANSWER</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Where do we check that a case is really done?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15:15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198</a:t>
            </a:r>
            <a:endParaRPr lang="en-US" sz="1000" dirty="0"/>
          </a:p>
        </p:txBody>
      </p:sp>
      <p:sp>
        <p:nvSpPr>
          <p:cNvPr id="7" name="Shape 4"/>
          <p:cNvSpPr/>
          <p:nvPr/>
        </p:nvSpPr>
        <p:spPr>
          <a:xfrm>
            <a:off x="548640" y="1828800"/>
            <a:ext cx="11091672" cy="1005840"/>
          </a:xfrm>
          <a:prstGeom prst="roundRect">
            <a:avLst>
              <a:gd name="adj" fmla="val 7273"/>
            </a:avLst>
          </a:prstGeom>
          <a:solidFill>
            <a:srgbClr val="FFFFFF"/>
          </a:solidFill>
          <a:ln w="12700">
            <a:solidFill>
              <a:srgbClr val="D9DEE2"/>
            </a:solidFill>
            <a:prstDash val="solid"/>
          </a:ln>
        </p:spPr>
      </p:sp>
      <p:sp>
        <p:nvSpPr>
          <p:cNvPr id="8" name="Shape 5"/>
          <p:cNvSpPr/>
          <p:nvPr/>
        </p:nvSpPr>
        <p:spPr>
          <a:xfrm>
            <a:off x="777240" y="2057400"/>
            <a:ext cx="548640" cy="548640"/>
          </a:xfrm>
          <a:prstGeom prst="ellipse">
            <a:avLst/>
          </a:prstGeom>
          <a:solidFill>
            <a:srgbClr val="8A94A4"/>
          </a:solidFill>
          <a:ln/>
        </p:spPr>
      </p:sp>
      <p:sp>
        <p:nvSpPr>
          <p:cNvPr id="9" name="Text 6"/>
          <p:cNvSpPr txBox="1"/>
          <p:nvPr/>
        </p:nvSpPr>
        <p:spPr>
          <a:xfrm>
            <a:off x="777240" y="2057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10" name="Text 7"/>
          <p:cNvSpPr txBox="1"/>
          <p:nvPr/>
        </p:nvSpPr>
        <p:spPr>
          <a:xfrm>
            <a:off x="1600200" y="182880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On the demo screen, as the case runs live</a:t>
            </a:r>
            <a:endParaRPr lang="en-US" sz="2000" dirty="0"/>
          </a:p>
        </p:txBody>
      </p:sp>
      <p:sp>
        <p:nvSpPr>
          <p:cNvPr id="11" name="Shape 8"/>
          <p:cNvSpPr/>
          <p:nvPr/>
        </p:nvSpPr>
        <p:spPr>
          <a:xfrm>
            <a:off x="548640" y="3017520"/>
            <a:ext cx="11091672" cy="1005840"/>
          </a:xfrm>
          <a:prstGeom prst="roundRect">
            <a:avLst>
              <a:gd name="adj" fmla="val 7273"/>
            </a:avLst>
          </a:prstGeom>
          <a:solidFill>
            <a:srgbClr val="FFFFFF"/>
          </a:solidFill>
          <a:ln w="12700">
            <a:solidFill>
              <a:srgbClr val="D9DEE2"/>
            </a:solidFill>
            <a:prstDash val="solid"/>
          </a:ln>
        </p:spPr>
      </p:sp>
      <p:sp>
        <p:nvSpPr>
          <p:cNvPr id="12" name="Shape 9"/>
          <p:cNvSpPr/>
          <p:nvPr/>
        </p:nvSpPr>
        <p:spPr>
          <a:xfrm>
            <a:off x="777240" y="3246120"/>
            <a:ext cx="548640" cy="548640"/>
          </a:xfrm>
          <a:prstGeom prst="ellipse">
            <a:avLst/>
          </a:prstGeom>
          <a:solidFill>
            <a:srgbClr val="8A94A4"/>
          </a:solidFill>
          <a:ln/>
        </p:spPr>
      </p:sp>
      <p:sp>
        <p:nvSpPr>
          <p:cNvPr id="13" name="Text 10"/>
          <p:cNvSpPr txBox="1"/>
          <p:nvPr/>
        </p:nvSpPr>
        <p:spPr>
          <a:xfrm>
            <a:off x="777240" y="3246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4" name="Text 11"/>
          <p:cNvSpPr txBox="1"/>
          <p:nvPr/>
        </p:nvSpPr>
        <p:spPr>
          <a:xfrm>
            <a:off x="1600200" y="3017520"/>
            <a:ext cx="9052560" cy="1005840"/>
          </a:xfrm>
          <a:prstGeom prst="rect">
            <a:avLst/>
          </a:prstGeom>
          <a:noFill/>
          <a:ln/>
        </p:spPr>
        <p:txBody>
          <a:bodyPr wrap="square" lIns="0" tIns="0" rIns="0" bIns="0" rtlCol="0" anchor="ctr"/>
          <a:lstStyle/>
          <a:p>
            <a:pPr indent="0" marL="0">
              <a:buNone/>
            </a:pPr>
            <a:r>
              <a:rPr lang="en-US" sz="2000" b="1" dirty="0">
                <a:solidFill>
                  <a:srgbClr val="8A94A4"/>
                </a:solidFill>
                <a:latin typeface="Arial" pitchFamily="34" charset="0"/>
                <a:ea typeface="Arial" pitchFamily="34" charset="-122"/>
                <a:cs typeface="Arial" pitchFamily="34" charset="-120"/>
              </a:rPr>
              <a:t>By asking the engineers who built it</a:t>
            </a:r>
            <a:endParaRPr lang="en-US" sz="2000" dirty="0"/>
          </a:p>
        </p:txBody>
      </p:sp>
      <p:sp>
        <p:nvSpPr>
          <p:cNvPr id="15" name="Shape 12"/>
          <p:cNvSpPr/>
          <p:nvPr/>
        </p:nvSpPr>
        <p:spPr>
          <a:xfrm>
            <a:off x="548640" y="4206240"/>
            <a:ext cx="11091672" cy="1005840"/>
          </a:xfrm>
          <a:prstGeom prst="roundRect">
            <a:avLst>
              <a:gd name="adj" fmla="val 7273"/>
            </a:avLst>
          </a:prstGeom>
          <a:solidFill>
            <a:srgbClr val="E3F1E9"/>
          </a:solidFill>
          <a:ln w="12700">
            <a:solidFill>
              <a:srgbClr val="2E8656"/>
            </a:solidFill>
            <a:prstDash val="solid"/>
          </a:ln>
        </p:spPr>
      </p:sp>
      <p:sp>
        <p:nvSpPr>
          <p:cNvPr id="16" name="Shape 13"/>
          <p:cNvSpPr/>
          <p:nvPr/>
        </p:nvSpPr>
        <p:spPr>
          <a:xfrm>
            <a:off x="777240" y="4434840"/>
            <a:ext cx="548640" cy="548640"/>
          </a:xfrm>
          <a:prstGeom prst="ellipse">
            <a:avLst/>
          </a:prstGeom>
          <a:solidFill>
            <a:srgbClr val="2E8656"/>
          </a:solidFill>
          <a:ln/>
        </p:spPr>
      </p:sp>
      <p:sp>
        <p:nvSpPr>
          <p:cNvPr id="17" name="Text 14"/>
          <p:cNvSpPr txBox="1"/>
          <p:nvPr/>
        </p:nvSpPr>
        <p:spPr>
          <a:xfrm>
            <a:off x="77724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8" name="Text 15"/>
          <p:cNvSpPr txBox="1"/>
          <p:nvPr/>
        </p:nvSpPr>
        <p:spPr>
          <a:xfrm>
            <a:off x="1600200" y="4206240"/>
            <a:ext cx="9052560" cy="1005840"/>
          </a:xfrm>
          <a:prstGeom prst="rect">
            <a:avLst/>
          </a:prstGeom>
          <a:noFill/>
          <a:ln/>
        </p:spPr>
        <p:txBody>
          <a:bodyPr wrap="square" lIns="0" tIns="0" rIns="0" bIns="0" rtlCol="0" anchor="ctr"/>
          <a:lstStyle/>
          <a:p>
            <a:pPr indent="0" marL="0">
              <a:buNone/>
            </a:pPr>
            <a:r>
              <a:rPr lang="en-US" sz="2000" b="1" dirty="0">
                <a:solidFill>
                  <a:srgbClr val="1F2A33"/>
                </a:solidFill>
                <a:latin typeface="Arial" pitchFamily="34" charset="0"/>
                <a:ea typeface="Arial" pitchFamily="34" charset="-122"/>
                <a:cs typeface="Arial" pitchFamily="34" charset="-120"/>
              </a:rPr>
              <a:t>In the record, against the done checks</a:t>
            </a:r>
            <a:endParaRPr lang="en-US" sz="2000" dirty="0"/>
          </a:p>
        </p:txBody>
      </p:sp>
      <p:pic>
        <p:nvPicPr>
          <p:cNvPr id="19" name="Image 1" descr="/private/tmp/claude-501/-Users-salehhamed-Outcome-Engine/91861432-41e2-4884-bc97-63c6dff2d021/scratchpad/wk/icons/TbCircleCheck-green.png">    </p:cNvPr>
          <p:cNvPicPr>
            <a:picLocks noChangeAspect="1"/>
          </p:cNvPicPr>
          <p:nvPr/>
        </p:nvPicPr>
        <p:blipFill>
          <a:blip r:embed="rId4"/>
          <a:stretch>
            <a:fillRect/>
          </a:stretch>
        </p:blipFill>
        <p:spPr>
          <a:xfrm>
            <a:off x="10927080" y="4434840"/>
            <a:ext cx="548640" cy="548640"/>
          </a:xfrm>
          <a:prstGeom prst="rect">
            <a:avLst/>
          </a:prstGeom>
        </p:spPr>
      </p:pic>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36454F"/>
          </a:solidFill>
          <a:ln/>
        </p:spPr>
      </p:sp>
      <p:sp>
        <p:nvSpPr>
          <p:cNvPr id="3" name="Text 1"/>
          <p:cNvSpPr txBox="1"/>
          <p:nvPr/>
        </p:nvSpPr>
        <p:spPr>
          <a:xfrm>
            <a:off x="548640" y="548640"/>
            <a:ext cx="3474720" cy="274320"/>
          </a:xfrm>
          <a:prstGeom prst="rect">
            <a:avLst/>
          </a:prstGeom>
          <a:noFill/>
          <a:ln/>
        </p:spPr>
        <p:txBody>
          <a:bodyPr wrap="square" lIns="0" tIns="0" rIns="0" bIns="0" rtlCol="0" anchor="t"/>
          <a:lstStyle/>
          <a:p>
            <a:pPr indent="0" marL="0">
              <a:buNone/>
            </a:pPr>
            <a:r>
              <a:rPr lang="en-US" sz="1100" b="1" spc="150" kern="0" dirty="0">
                <a:solidFill>
                  <a:srgbClr val="D9DEE2"/>
                </a:solidFill>
                <a:latin typeface="Arial" pitchFamily="34" charset="0"/>
                <a:ea typeface="Arial" pitchFamily="34" charset="-122"/>
                <a:cs typeface="Arial" pitchFamily="34" charset="-120"/>
              </a:rPr>
              <a:t>DAY 2 · 16:15–16:40 · 25 MIN</a:t>
            </a:r>
            <a:endParaRPr lang="en-US" sz="1100" dirty="0"/>
          </a:p>
        </p:txBody>
      </p:sp>
      <p:sp>
        <p:nvSpPr>
          <p:cNvPr id="4" name="Text 2"/>
          <p:cNvSpPr txBox="1"/>
          <p:nvPr/>
        </p:nvSpPr>
        <p:spPr>
          <a:xfrm>
            <a:off x="548640" y="960120"/>
            <a:ext cx="3383280" cy="2377440"/>
          </a:xfrm>
          <a:prstGeom prst="rect">
            <a:avLst/>
          </a:prstGeom>
          <a:noFill/>
          <a:ln/>
        </p:spPr>
        <p:txBody>
          <a:bodyPr wrap="square" lIns="0" tIns="0" rIns="0" bIns="0" rtlCol="0" anchor="t"/>
          <a:lstStyle/>
          <a:p>
            <a:pPr indent="0" marL="0">
              <a:buNone/>
            </a:pPr>
            <a:r>
              <a:rPr lang="en-US" sz="3000" b="1" dirty="0">
                <a:solidFill>
                  <a:srgbClr val="FFFFFF"/>
                </a:solidFill>
                <a:latin typeface="TWK Everett" pitchFamily="34" charset="0"/>
                <a:ea typeface="TWK Everett" pitchFamily="34" charset="-122"/>
                <a:cs typeface="TWK Everett" pitchFamily="34" charset="-120"/>
              </a:rPr>
              <a:t>Close: make the decision</a:t>
            </a:r>
            <a:endParaRPr lang="en-US" sz="3000" dirty="0"/>
          </a:p>
        </p:txBody>
      </p:sp>
      <p:pic>
        <p:nvPicPr>
          <p:cNvPr id="5" name="Image 0" descr="/private/tmp/claude-501/-Users-salehhamed-Outcome-Engine/91861432-41e2-4884-bc97-63c6dff2d021/scratchpad/wk/icons/TbFlag3-white.png">    </p:cNvPr>
          <p:cNvPicPr>
            <a:picLocks noChangeAspect="1"/>
          </p:cNvPicPr>
          <p:nvPr/>
        </p:nvPicPr>
        <p:blipFill>
          <a:blip r:embed="rId1"/>
          <a:stretch>
            <a:fillRect/>
          </a:stretch>
        </p:blipFill>
        <p:spPr>
          <a:xfrm>
            <a:off x="548640" y="3200400"/>
            <a:ext cx="685800" cy="685800"/>
          </a:xfrm>
          <a:prstGeom prst="rect">
            <a:avLst/>
          </a:prstGeom>
        </p:spPr>
      </p:pic>
      <p:sp>
        <p:nvSpPr>
          <p:cNvPr id="6" name="Shape 3"/>
          <p:cNvSpPr/>
          <p:nvPr/>
        </p:nvSpPr>
        <p:spPr>
          <a:xfrm>
            <a:off x="548640" y="4169664"/>
            <a:ext cx="237744" cy="237744"/>
          </a:xfrm>
          <a:prstGeom prst="ellipse">
            <a:avLst/>
          </a:prstGeom>
          <a:solidFill>
            <a:srgbClr val="FFFFFF"/>
          </a:solidFill>
          <a:ln/>
        </p:spPr>
      </p:sp>
      <p:sp>
        <p:nvSpPr>
          <p:cNvPr id="7" name="Shape 4"/>
          <p:cNvSpPr/>
          <p:nvPr/>
        </p:nvSpPr>
        <p:spPr>
          <a:xfrm>
            <a:off x="932688" y="4169664"/>
            <a:ext cx="237744" cy="237744"/>
          </a:xfrm>
          <a:prstGeom prst="ellipse">
            <a:avLst/>
          </a:prstGeom>
          <a:solidFill>
            <a:srgbClr val="FFFFFF"/>
          </a:solidFill>
          <a:ln/>
        </p:spPr>
      </p:sp>
      <p:sp>
        <p:nvSpPr>
          <p:cNvPr id="8" name="Shape 5"/>
          <p:cNvSpPr/>
          <p:nvPr/>
        </p:nvSpPr>
        <p:spPr>
          <a:xfrm>
            <a:off x="1316736" y="4169664"/>
            <a:ext cx="237744" cy="237744"/>
          </a:xfrm>
          <a:prstGeom prst="ellipse">
            <a:avLst/>
          </a:prstGeom>
          <a:solidFill>
            <a:srgbClr val="FFFFFF"/>
          </a:solidFill>
          <a:ln/>
        </p:spPr>
      </p:sp>
      <p:sp>
        <p:nvSpPr>
          <p:cNvPr id="9" name="Shape 6"/>
          <p:cNvSpPr/>
          <p:nvPr/>
        </p:nvSpPr>
        <p:spPr>
          <a:xfrm>
            <a:off x="1700784" y="4169664"/>
            <a:ext cx="237744" cy="237744"/>
          </a:xfrm>
          <a:prstGeom prst="ellipse">
            <a:avLst/>
          </a:prstGeom>
          <a:solidFill>
            <a:srgbClr val="FFFFFF"/>
          </a:solidFill>
          <a:ln/>
        </p:spPr>
      </p:sp>
      <p:sp>
        <p:nvSpPr>
          <p:cNvPr id="10" name="Shape 7"/>
          <p:cNvSpPr/>
          <p:nvPr/>
        </p:nvSpPr>
        <p:spPr>
          <a:xfrm>
            <a:off x="2084832" y="4169664"/>
            <a:ext cx="237744" cy="237744"/>
          </a:xfrm>
          <a:prstGeom prst="ellipse">
            <a:avLst/>
          </a:prstGeom>
          <a:solidFill>
            <a:srgbClr val="FFFFFF"/>
          </a:solidFill>
          <a:ln/>
        </p:spPr>
      </p:sp>
      <p:sp>
        <p:nvSpPr>
          <p:cNvPr id="11" name="Shape 8"/>
          <p:cNvSpPr/>
          <p:nvPr/>
        </p:nvSpPr>
        <p:spPr>
          <a:xfrm>
            <a:off x="2468880" y="4169664"/>
            <a:ext cx="237744" cy="237744"/>
          </a:xfrm>
          <a:prstGeom prst="ellipse">
            <a:avLst/>
          </a:prstGeom>
          <a:solidFill>
            <a:srgbClr val="FFFFFF"/>
          </a:solidFill>
          <a:ln/>
        </p:spPr>
      </p:sp>
      <p:sp>
        <p:nvSpPr>
          <p:cNvPr id="12" name="Shape 9"/>
          <p:cNvSpPr/>
          <p:nvPr/>
        </p:nvSpPr>
        <p:spPr>
          <a:xfrm>
            <a:off x="2852928" y="4169664"/>
            <a:ext cx="237744" cy="237744"/>
          </a:xfrm>
          <a:prstGeom prst="ellipse">
            <a:avLst/>
          </a:prstGeom>
          <a:solidFill>
            <a:srgbClr val="FFFFFF"/>
          </a:solidFill>
          <a:ln/>
        </p:spPr>
      </p:sp>
      <p:sp>
        <p:nvSpPr>
          <p:cNvPr id="13" name="Shape 10"/>
          <p:cNvSpPr/>
          <p:nvPr/>
        </p:nvSpPr>
        <p:spPr>
          <a:xfrm>
            <a:off x="3200400" y="4133088"/>
            <a:ext cx="310896" cy="310896"/>
          </a:xfrm>
          <a:prstGeom prst="ellipse">
            <a:avLst/>
          </a:prstGeom>
          <a:solidFill>
            <a:srgbClr val="FF462D"/>
          </a:solidFill>
          <a:ln w="19050">
            <a:solidFill>
              <a:srgbClr val="FFFFFF"/>
            </a:solidFill>
            <a:prstDash val="solid"/>
          </a:ln>
        </p:spPr>
      </p:sp>
      <p:sp>
        <p:nvSpPr>
          <p:cNvPr id="14" name="Text 11"/>
          <p:cNvSpPr txBox="1"/>
          <p:nvPr/>
        </p:nvSpPr>
        <p:spPr>
          <a:xfrm>
            <a:off x="548640" y="4553712"/>
            <a:ext cx="3383280"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Step 8 of 8: Decide what next</a:t>
            </a:r>
            <a:endParaRPr lang="en-US" sz="1100" dirty="0"/>
          </a:p>
        </p:txBody>
      </p:sp>
      <p:sp>
        <p:nvSpPr>
          <p:cNvPr id="15" name="Text 12"/>
          <p:cNvSpPr txBox="1"/>
          <p:nvPr/>
        </p:nvSpPr>
        <p:spPr>
          <a:xfrm>
            <a:off x="4709160" y="685800"/>
            <a:ext cx="6400800" cy="320040"/>
          </a:xfrm>
          <a:prstGeom prst="rect">
            <a:avLst/>
          </a:prstGeom>
          <a:noFill/>
          <a:ln/>
        </p:spPr>
        <p:txBody>
          <a:bodyPr wrap="square" lIns="0" tIns="0" rIns="0" bIns="0" rtlCol="0" anchor="t"/>
          <a:lstStyle/>
          <a:p>
            <a:pPr indent="0" marL="0">
              <a:buNone/>
            </a:pPr>
            <a:r>
              <a:rPr lang="en-US" sz="1400" b="1" dirty="0">
                <a:solidFill>
                  <a:srgbClr val="287079"/>
                </a:solidFill>
                <a:latin typeface="Arial" pitchFamily="34" charset="0"/>
                <a:ea typeface="Arial" pitchFamily="34" charset="-122"/>
                <a:cs typeface="Arial" pitchFamily="34" charset="-120"/>
              </a:rPr>
              <a:t>By the end of this session, you can</a:t>
            </a:r>
            <a:endParaRPr lang="en-US" sz="1400" dirty="0"/>
          </a:p>
        </p:txBody>
      </p:sp>
      <p:pic>
        <p:nvPicPr>
          <p:cNvPr id="16" name="Image 1" descr="/private/tmp/claude-501/-Users-salehhamed-Outcome-Engine/91861432-41e2-4884-bc97-63c6dff2d021/scratchpad/wk/icons/TbCircleCheck-teal.png">    </p:cNvPr>
          <p:cNvPicPr>
            <a:picLocks noChangeAspect="1"/>
          </p:cNvPicPr>
          <p:nvPr/>
        </p:nvPicPr>
        <p:blipFill>
          <a:blip r:embed="rId2"/>
          <a:stretch>
            <a:fillRect/>
          </a:stretch>
        </p:blipFill>
        <p:spPr>
          <a:xfrm>
            <a:off x="4709160" y="1225296"/>
            <a:ext cx="411480" cy="411480"/>
          </a:xfrm>
          <a:prstGeom prst="rect">
            <a:avLst/>
          </a:prstGeom>
        </p:spPr>
      </p:pic>
      <p:sp>
        <p:nvSpPr>
          <p:cNvPr id="17" name="Text 13"/>
          <p:cNvSpPr txBox="1"/>
          <p:nvPr/>
        </p:nvSpPr>
        <p:spPr>
          <a:xfrm>
            <a:off x="5303520" y="118872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Review the evidence against the six criteria.</a:t>
            </a:r>
            <a:endParaRPr lang="en-US" sz="1700" dirty="0"/>
          </a:p>
        </p:txBody>
      </p:sp>
      <p:pic>
        <p:nvPicPr>
          <p:cNvPr id="18" name="Image 2" descr="/private/tmp/claude-501/-Users-salehhamed-Outcome-Engine/91861432-41e2-4884-bc97-63c6dff2d021/scratchpad/wk/icons/TbCircleCheck-teal.png">    </p:cNvPr>
          <p:cNvPicPr>
            <a:picLocks noChangeAspect="1"/>
          </p:cNvPicPr>
          <p:nvPr/>
        </p:nvPicPr>
        <p:blipFill>
          <a:blip r:embed="rId3"/>
          <a:stretch>
            <a:fillRect/>
          </a:stretch>
        </p:blipFill>
        <p:spPr>
          <a:xfrm>
            <a:off x="4709160" y="2093976"/>
            <a:ext cx="411480" cy="411480"/>
          </a:xfrm>
          <a:prstGeom prst="rect">
            <a:avLst/>
          </a:prstGeom>
        </p:spPr>
      </p:pic>
      <p:sp>
        <p:nvSpPr>
          <p:cNvPr id="19" name="Text 14"/>
          <p:cNvSpPr txBox="1"/>
          <p:nvPr/>
        </p:nvSpPr>
        <p:spPr>
          <a:xfrm>
            <a:off x="5303520" y="205740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Hear the sponsor's decision.</a:t>
            </a:r>
            <a:endParaRPr lang="en-US" sz="1700" dirty="0"/>
          </a:p>
        </p:txBody>
      </p:sp>
      <p:pic>
        <p:nvPicPr>
          <p:cNvPr id="20" name="Image 3" descr="/private/tmp/claude-501/-Users-salehhamed-Outcome-Engine/91861432-41e2-4884-bc97-63c6dff2d021/scratchpad/wk/icons/TbCircleCheck-teal.png">    </p:cNvPr>
          <p:cNvPicPr>
            <a:picLocks noChangeAspect="1"/>
          </p:cNvPicPr>
          <p:nvPr/>
        </p:nvPicPr>
        <p:blipFill>
          <a:blip r:embed="rId4"/>
          <a:stretch>
            <a:fillRect/>
          </a:stretch>
        </p:blipFill>
        <p:spPr>
          <a:xfrm>
            <a:off x="4709160" y="2962656"/>
            <a:ext cx="411480" cy="411480"/>
          </a:xfrm>
          <a:prstGeom prst="rect">
            <a:avLst/>
          </a:prstGeom>
        </p:spPr>
      </p:pic>
      <p:sp>
        <p:nvSpPr>
          <p:cNvPr id="21" name="Text 15"/>
          <p:cNvSpPr txBox="1"/>
          <p:nvPr/>
        </p:nvSpPr>
        <p:spPr>
          <a:xfrm>
            <a:off x="5303520" y="2926080"/>
            <a:ext cx="6309360" cy="777240"/>
          </a:xfrm>
          <a:prstGeom prst="rect">
            <a:avLst/>
          </a:prstGeom>
          <a:noFill/>
          <a:ln/>
        </p:spPr>
        <p:txBody>
          <a:bodyPr wrap="square" lIns="0" tIns="0" rIns="0" bIns="0" rtlCol="0" anchor="t"/>
          <a:lstStyle/>
          <a:p>
            <a:pPr indent="0" marL="0">
              <a:buNone/>
            </a:pPr>
            <a:r>
              <a:rPr lang="en-US" sz="1700" dirty="0">
                <a:solidFill>
                  <a:srgbClr val="1F2A33"/>
                </a:solidFill>
                <a:latin typeface="Arial" pitchFamily="34" charset="0"/>
                <a:ea typeface="Arial" pitchFamily="34" charset="-122"/>
                <a:cs typeface="Arial" pitchFamily="34" charset="-120"/>
              </a:rPr>
              <a:t>Leave with owners and dates.</a:t>
            </a:r>
            <a:endParaRPr lang="en-US" sz="1700" dirty="0"/>
          </a:p>
        </p:txBody>
      </p:sp>
      <p:sp>
        <p:nvSpPr>
          <p:cNvPr id="22" name="Shape 16"/>
          <p:cNvSpPr/>
          <p:nvPr/>
        </p:nvSpPr>
        <p:spPr>
          <a:xfrm>
            <a:off x="4709160" y="4800600"/>
            <a:ext cx="6931152" cy="1234440"/>
          </a:xfrm>
          <a:prstGeom prst="roundRect">
            <a:avLst>
              <a:gd name="adj" fmla="val 5926"/>
            </a:avLst>
          </a:prstGeom>
          <a:solidFill>
            <a:srgbClr val="FFF0EC"/>
          </a:solidFill>
          <a:ln/>
        </p:spPr>
      </p:sp>
      <p:sp>
        <p:nvSpPr>
          <p:cNvPr id="23" name="Text 17"/>
          <p:cNvSpPr txBox="1"/>
          <p:nvPr/>
        </p:nvSpPr>
        <p:spPr>
          <a:xfrm>
            <a:off x="4937760" y="4800600"/>
            <a:ext cx="6492240" cy="1234440"/>
          </a:xfrm>
          <a:prstGeom prst="rect">
            <a:avLst/>
          </a:prstGeom>
          <a:noFill/>
          <a:ln/>
        </p:spPr>
        <p:txBody>
          <a:bodyPr wrap="square" lIns="0" tIns="0" rIns="0" bIns="0" rtlCol="0" anchor="ctr"/>
          <a:lstStyle/>
          <a:p>
            <a:pPr indent="0" marL="0">
              <a:buNone/>
            </a:pPr>
            <a:r>
              <a:rPr lang="en-US" sz="1800" b="1" dirty="0">
                <a:solidFill>
                  <a:srgbClr val="FF462D"/>
                </a:solidFill>
                <a:latin typeface="Arial" pitchFamily="34" charset="0"/>
                <a:ea typeface="Arial" pitchFamily="34" charset="-122"/>
                <a:cs typeface="Arial" pitchFamily="34" charset="-120"/>
              </a:rPr>
              <a:t>A clear Narrow or Stop is also a success.</a:t>
            </a:r>
            <a:endParaRPr lang="en-US" sz="1800" dirty="0"/>
          </a:p>
        </p:txBody>
      </p:sp>
      <p:sp>
        <p:nvSpPr>
          <p:cNvPr id="24" name="Text 18"/>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5"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6" action="ppaction://hlinksldjump" tooltip="The thre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199</a:t>
            </a:r>
            <a:endParaRPr lang="en-US" sz="10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CLOSE · THE SAME DEAL, TWICE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Northgate, before and after</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16:15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200</a:t>
            </a:r>
            <a:endParaRPr lang="en-US" sz="1000" dirty="0"/>
          </a:p>
        </p:txBody>
      </p:sp>
      <p:sp>
        <p:nvSpPr>
          <p:cNvPr id="7" name="Text 4"/>
          <p:cNvSpPr txBox="1"/>
          <p:nvPr/>
        </p:nvSpPr>
        <p:spPr>
          <a:xfrm>
            <a:off x="548640" y="1417320"/>
            <a:ext cx="5394960" cy="411480"/>
          </a:xfrm>
          <a:prstGeom prst="rect">
            <a:avLst/>
          </a:prstGeom>
          <a:noFill/>
          <a:ln/>
        </p:spPr>
        <p:txBody>
          <a:bodyPr wrap="square" lIns="0" tIns="0" rIns="0" bIns="0" rtlCol="0" anchor="t"/>
          <a:lstStyle/>
          <a:p>
            <a:pPr indent="0" marL="0">
              <a:buNone/>
            </a:pPr>
            <a:r>
              <a:rPr lang="en-US" sz="1700" b="1" dirty="0">
                <a:solidFill>
                  <a:srgbClr val="FF462D"/>
                </a:solidFill>
                <a:latin typeface="Arial" pitchFamily="34" charset="0"/>
                <a:ea typeface="Arial" pitchFamily="34" charset="-122"/>
                <a:cs typeface="Arial" pitchFamily="34" charset="-120"/>
              </a:rPr>
              <a:t>Last year</a:t>
            </a:r>
            <a:endParaRPr lang="en-US" sz="1700" dirty="0"/>
          </a:p>
        </p:txBody>
      </p:sp>
      <p:sp>
        <p:nvSpPr>
          <p:cNvPr id="8" name="Text 5"/>
          <p:cNvSpPr txBox="1"/>
          <p:nvPr/>
        </p:nvSpPr>
        <p:spPr>
          <a:xfrm>
            <a:off x="6245352" y="1417320"/>
            <a:ext cx="5394960" cy="411480"/>
          </a:xfrm>
          <a:prstGeom prst="rect">
            <a:avLst/>
          </a:prstGeom>
          <a:noFill/>
          <a:ln/>
        </p:spPr>
        <p:txBody>
          <a:bodyPr wrap="square" lIns="0" tIns="0" rIns="0" bIns="0" rtlCol="0" anchor="t"/>
          <a:lstStyle/>
          <a:p>
            <a:pPr indent="0" marL="0">
              <a:buNone/>
            </a:pPr>
            <a:r>
              <a:rPr lang="en-US" sz="1700" b="1" dirty="0">
                <a:solidFill>
                  <a:srgbClr val="2E8656"/>
                </a:solidFill>
                <a:latin typeface="Arial" pitchFamily="34" charset="0"/>
                <a:ea typeface="Arial" pitchFamily="34" charset="-122"/>
                <a:cs typeface="Arial" pitchFamily="34" charset="-120"/>
              </a:rPr>
              <a:t>With the new way of working</a:t>
            </a:r>
            <a:endParaRPr lang="en-US" sz="1700" dirty="0"/>
          </a:p>
        </p:txBody>
      </p:sp>
      <p:sp>
        <p:nvSpPr>
          <p:cNvPr id="9" name="Shape 6"/>
          <p:cNvSpPr/>
          <p:nvPr/>
        </p:nvSpPr>
        <p:spPr>
          <a:xfrm>
            <a:off x="548640" y="1920240"/>
            <a:ext cx="5394960" cy="841248"/>
          </a:xfrm>
          <a:prstGeom prst="roundRect">
            <a:avLst>
              <a:gd name="adj" fmla="val 8696"/>
            </a:avLst>
          </a:prstGeom>
          <a:solidFill>
            <a:srgbClr val="FFF0EC"/>
          </a:solidFill>
          <a:ln/>
        </p:spPr>
      </p:sp>
      <p:pic>
        <p:nvPicPr>
          <p:cNvPr id="10" name="Image 1" descr="/private/tmp/claude-501/-Users-salehhamed-Outcome-Engine/91861432-41e2-4884-bc97-63c6dff2d021/scratchpad/wk/icons/TbCircleX-red.png">    </p:cNvPr>
          <p:cNvPicPr>
            <a:picLocks noChangeAspect="1"/>
          </p:cNvPicPr>
          <p:nvPr/>
        </p:nvPicPr>
        <p:blipFill>
          <a:blip r:embed="rId4"/>
          <a:stretch>
            <a:fillRect/>
          </a:stretch>
        </p:blipFill>
        <p:spPr>
          <a:xfrm>
            <a:off x="713232" y="2121408"/>
            <a:ext cx="438912" cy="438912"/>
          </a:xfrm>
          <a:prstGeom prst="rect">
            <a:avLst/>
          </a:prstGeom>
        </p:spPr>
      </p:pic>
      <p:sp>
        <p:nvSpPr>
          <p:cNvPr id="11" name="Text 7"/>
          <p:cNvSpPr txBox="1"/>
          <p:nvPr/>
        </p:nvSpPr>
        <p:spPr>
          <a:xfrm>
            <a:off x="1280160" y="1920240"/>
            <a:ext cx="4526280" cy="841248"/>
          </a:xfrm>
          <a:prstGeom prst="rect">
            <a:avLst/>
          </a:prstGeom>
          <a:noFill/>
          <a:ln/>
        </p:spPr>
        <p:txBody>
          <a:bodyPr wrap="square" lIns="0" tIns="0" rIns="0" bIns="0" rtlCol="0" anchor="ctr"/>
          <a:lstStyle/>
          <a:p>
            <a:pPr indent="0" marL="0">
              <a:buNone/>
            </a:pPr>
            <a:r>
              <a:rPr lang="en-US" sz="1500" dirty="0">
                <a:solidFill>
                  <a:srgbClr val="1F2A33"/>
                </a:solidFill>
                <a:latin typeface="Arial" pitchFamily="34" charset="0"/>
                <a:ea typeface="Arial" pitchFamily="34" charset="-122"/>
                <a:cs typeface="Arial" pitchFamily="34" charset="-120"/>
              </a:rPr>
              <a:t>Workday's date was trusted; the manager was not asked.</a:t>
            </a:r>
            <a:endParaRPr lang="en-US" sz="1500" dirty="0"/>
          </a:p>
        </p:txBody>
      </p:sp>
      <p:sp>
        <p:nvSpPr>
          <p:cNvPr id="12" name="Shape 8"/>
          <p:cNvSpPr/>
          <p:nvPr/>
        </p:nvSpPr>
        <p:spPr>
          <a:xfrm>
            <a:off x="5989320" y="2340864"/>
            <a:ext cx="210312" cy="914"/>
          </a:xfrm>
          <a:prstGeom prst="line">
            <a:avLst/>
          </a:prstGeom>
          <a:noFill/>
          <a:ln w="25400">
            <a:solidFill>
              <a:srgbClr val="8A94A4"/>
            </a:solidFill>
            <a:prstDash val="solid"/>
            <a:tailEnd type="arrow"/>
          </a:ln>
        </p:spPr>
      </p:sp>
      <p:sp>
        <p:nvSpPr>
          <p:cNvPr id="13" name="Shape 9"/>
          <p:cNvSpPr/>
          <p:nvPr/>
        </p:nvSpPr>
        <p:spPr>
          <a:xfrm>
            <a:off x="6245352" y="1920240"/>
            <a:ext cx="5394960" cy="841248"/>
          </a:xfrm>
          <a:prstGeom prst="roundRect">
            <a:avLst>
              <a:gd name="adj" fmla="val 8696"/>
            </a:avLst>
          </a:prstGeom>
          <a:solidFill>
            <a:srgbClr val="E3F1E9"/>
          </a:solidFill>
          <a:ln/>
        </p:spPr>
      </p:sp>
      <p:pic>
        <p:nvPicPr>
          <p:cNvPr id="14" name="Image 2" descr="/private/tmp/claude-501/-Users-salehhamed-Outcome-Engine/91861432-41e2-4884-bc97-63c6dff2d021/scratchpad/wk/icons/TbCircleCheck-green.png">    </p:cNvPr>
          <p:cNvPicPr>
            <a:picLocks noChangeAspect="1"/>
          </p:cNvPicPr>
          <p:nvPr/>
        </p:nvPicPr>
        <p:blipFill>
          <a:blip r:embed="rId5"/>
          <a:stretch>
            <a:fillRect/>
          </a:stretch>
        </p:blipFill>
        <p:spPr>
          <a:xfrm>
            <a:off x="6409944" y="2121408"/>
            <a:ext cx="438912" cy="438912"/>
          </a:xfrm>
          <a:prstGeom prst="rect">
            <a:avLst/>
          </a:prstGeom>
        </p:spPr>
      </p:pic>
      <p:sp>
        <p:nvSpPr>
          <p:cNvPr id="15" name="Text 10"/>
          <p:cNvSpPr txBox="1"/>
          <p:nvPr/>
        </p:nvSpPr>
        <p:spPr>
          <a:xfrm>
            <a:off x="6976872" y="1920240"/>
            <a:ext cx="4526280" cy="841248"/>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The manager confirms a dated free date.</a:t>
            </a:r>
            <a:endParaRPr lang="en-US" sz="1500" dirty="0"/>
          </a:p>
        </p:txBody>
      </p:sp>
      <p:sp>
        <p:nvSpPr>
          <p:cNvPr id="16" name="Shape 11"/>
          <p:cNvSpPr/>
          <p:nvPr/>
        </p:nvSpPr>
        <p:spPr>
          <a:xfrm>
            <a:off x="548640" y="2907792"/>
            <a:ext cx="5394960" cy="841248"/>
          </a:xfrm>
          <a:prstGeom prst="roundRect">
            <a:avLst>
              <a:gd name="adj" fmla="val 8696"/>
            </a:avLst>
          </a:prstGeom>
          <a:solidFill>
            <a:srgbClr val="FFF0EC"/>
          </a:solidFill>
          <a:ln/>
        </p:spPr>
      </p:sp>
      <p:pic>
        <p:nvPicPr>
          <p:cNvPr id="17" name="Image 3" descr="/private/tmp/claude-501/-Users-salehhamed-Outcome-Engine/91861432-41e2-4884-bc97-63c6dff2d021/scratchpad/wk/icons/TbCircleX-red.png">    </p:cNvPr>
          <p:cNvPicPr>
            <a:picLocks noChangeAspect="1"/>
          </p:cNvPicPr>
          <p:nvPr/>
        </p:nvPicPr>
        <p:blipFill>
          <a:blip r:embed="rId6"/>
          <a:stretch>
            <a:fillRect/>
          </a:stretch>
        </p:blipFill>
        <p:spPr>
          <a:xfrm>
            <a:off x="713232" y="3108960"/>
            <a:ext cx="438912" cy="438912"/>
          </a:xfrm>
          <a:prstGeom prst="rect">
            <a:avLst/>
          </a:prstGeom>
        </p:spPr>
      </p:pic>
      <p:sp>
        <p:nvSpPr>
          <p:cNvPr id="18" name="Text 12"/>
          <p:cNvSpPr txBox="1"/>
          <p:nvPr/>
        </p:nvSpPr>
        <p:spPr>
          <a:xfrm>
            <a:off x="1280160" y="2907792"/>
            <a:ext cx="4526280" cy="841248"/>
          </a:xfrm>
          <a:prstGeom prst="rect">
            <a:avLst/>
          </a:prstGeom>
          <a:noFill/>
          <a:ln/>
        </p:spPr>
        <p:txBody>
          <a:bodyPr wrap="square" lIns="0" tIns="0" rIns="0" bIns="0" rtlCol="0" anchor="ctr"/>
          <a:lstStyle/>
          <a:p>
            <a:pPr indent="0" marL="0">
              <a:buNone/>
            </a:pPr>
            <a:r>
              <a:rPr lang="en-US" sz="1500" dirty="0">
                <a:solidFill>
                  <a:srgbClr val="1F2A33"/>
                </a:solidFill>
                <a:latin typeface="Arial" pitchFamily="34" charset="0"/>
                <a:ea typeface="Arial" pitchFamily="34" charset="-122"/>
                <a:cs typeface="Arial" pitchFamily="34" charset="-120"/>
              </a:rPr>
              <a:t>Nobody asked whether the engineer could be released.</a:t>
            </a:r>
            <a:endParaRPr lang="en-US" sz="1500" dirty="0"/>
          </a:p>
        </p:txBody>
      </p:sp>
      <p:sp>
        <p:nvSpPr>
          <p:cNvPr id="19" name="Shape 13"/>
          <p:cNvSpPr/>
          <p:nvPr/>
        </p:nvSpPr>
        <p:spPr>
          <a:xfrm>
            <a:off x="5989320" y="3328416"/>
            <a:ext cx="210312" cy="914"/>
          </a:xfrm>
          <a:prstGeom prst="line">
            <a:avLst/>
          </a:prstGeom>
          <a:noFill/>
          <a:ln w="25400">
            <a:solidFill>
              <a:srgbClr val="8A94A4"/>
            </a:solidFill>
            <a:prstDash val="solid"/>
            <a:tailEnd type="arrow"/>
          </a:ln>
        </p:spPr>
      </p:sp>
      <p:sp>
        <p:nvSpPr>
          <p:cNvPr id="20" name="Shape 14"/>
          <p:cNvSpPr/>
          <p:nvPr/>
        </p:nvSpPr>
        <p:spPr>
          <a:xfrm>
            <a:off x="6245352" y="2907792"/>
            <a:ext cx="5394960" cy="841248"/>
          </a:xfrm>
          <a:prstGeom prst="roundRect">
            <a:avLst>
              <a:gd name="adj" fmla="val 8696"/>
            </a:avLst>
          </a:prstGeom>
          <a:solidFill>
            <a:srgbClr val="E3F1E9"/>
          </a:solidFill>
          <a:ln/>
        </p:spPr>
      </p:sp>
      <p:pic>
        <p:nvPicPr>
          <p:cNvPr id="21" name="Image 4" descr="/private/tmp/claude-501/-Users-salehhamed-Outcome-Engine/91861432-41e2-4884-bc97-63c6dff2d021/scratchpad/wk/icons/TbCircleCheck-green.png">    </p:cNvPr>
          <p:cNvPicPr>
            <a:picLocks noChangeAspect="1"/>
          </p:cNvPicPr>
          <p:nvPr/>
        </p:nvPicPr>
        <p:blipFill>
          <a:blip r:embed="rId7"/>
          <a:stretch>
            <a:fillRect/>
          </a:stretch>
        </p:blipFill>
        <p:spPr>
          <a:xfrm>
            <a:off x="6409944" y="3108960"/>
            <a:ext cx="438912" cy="438912"/>
          </a:xfrm>
          <a:prstGeom prst="rect">
            <a:avLst/>
          </a:prstGeom>
        </p:spPr>
      </p:pic>
      <p:sp>
        <p:nvSpPr>
          <p:cNvPr id="22" name="Text 15"/>
          <p:cNvSpPr txBox="1"/>
          <p:nvPr/>
        </p:nvSpPr>
        <p:spPr>
          <a:xfrm>
            <a:off x="6976872" y="2907792"/>
            <a:ext cx="4526280" cy="841248"/>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The release question goes to a named person, with the evidence.</a:t>
            </a:r>
            <a:endParaRPr lang="en-US" sz="1500" dirty="0"/>
          </a:p>
        </p:txBody>
      </p:sp>
      <p:sp>
        <p:nvSpPr>
          <p:cNvPr id="23" name="Shape 16"/>
          <p:cNvSpPr/>
          <p:nvPr/>
        </p:nvSpPr>
        <p:spPr>
          <a:xfrm>
            <a:off x="548640" y="3895344"/>
            <a:ext cx="5394960" cy="841248"/>
          </a:xfrm>
          <a:prstGeom prst="roundRect">
            <a:avLst>
              <a:gd name="adj" fmla="val 8696"/>
            </a:avLst>
          </a:prstGeom>
          <a:solidFill>
            <a:srgbClr val="FFF0EC"/>
          </a:solidFill>
          <a:ln/>
        </p:spPr>
      </p:sp>
      <p:pic>
        <p:nvPicPr>
          <p:cNvPr id="24" name="Image 5" descr="/private/tmp/claude-501/-Users-salehhamed-Outcome-Engine/91861432-41e2-4884-bc97-63c6dff2d021/scratchpad/wk/icons/TbCircleX-red.png">    </p:cNvPr>
          <p:cNvPicPr>
            <a:picLocks noChangeAspect="1"/>
          </p:cNvPicPr>
          <p:nvPr/>
        </p:nvPicPr>
        <p:blipFill>
          <a:blip r:embed="rId8"/>
          <a:stretch>
            <a:fillRect/>
          </a:stretch>
        </p:blipFill>
        <p:spPr>
          <a:xfrm>
            <a:off x="713232" y="4096512"/>
            <a:ext cx="438912" cy="438912"/>
          </a:xfrm>
          <a:prstGeom prst="rect">
            <a:avLst/>
          </a:prstGeom>
        </p:spPr>
      </p:pic>
      <p:sp>
        <p:nvSpPr>
          <p:cNvPr id="25" name="Text 17"/>
          <p:cNvSpPr txBox="1"/>
          <p:nvPr/>
        </p:nvSpPr>
        <p:spPr>
          <a:xfrm>
            <a:off x="1280160" y="3895344"/>
            <a:ext cx="4526280" cy="841248"/>
          </a:xfrm>
          <a:prstGeom prst="rect">
            <a:avLst/>
          </a:prstGeom>
          <a:noFill/>
          <a:ln/>
        </p:spPr>
        <p:txBody>
          <a:bodyPr wrap="square" lIns="0" tIns="0" rIns="0" bIns="0" rtlCol="0" anchor="ctr"/>
          <a:lstStyle/>
          <a:p>
            <a:pPr indent="0" marL="0">
              <a:buNone/>
            </a:pPr>
            <a:r>
              <a:rPr lang="en-US" sz="1500" dirty="0">
                <a:solidFill>
                  <a:srgbClr val="1F2A33"/>
                </a:solidFill>
                <a:latin typeface="Arial" pitchFamily="34" charset="0"/>
                <a:ea typeface="Arial" pitchFamily="34" charset="-122"/>
                <a:cs typeface="Arial" pitchFamily="34" charset="-120"/>
              </a:rPr>
              <a:t>The firewall shortfall became a hire request.</a:t>
            </a:r>
            <a:endParaRPr lang="en-US" sz="1500" dirty="0"/>
          </a:p>
        </p:txBody>
      </p:sp>
      <p:sp>
        <p:nvSpPr>
          <p:cNvPr id="26" name="Shape 18"/>
          <p:cNvSpPr/>
          <p:nvPr/>
        </p:nvSpPr>
        <p:spPr>
          <a:xfrm>
            <a:off x="5989320" y="4315968"/>
            <a:ext cx="210312" cy="914"/>
          </a:xfrm>
          <a:prstGeom prst="line">
            <a:avLst/>
          </a:prstGeom>
          <a:noFill/>
          <a:ln w="25400">
            <a:solidFill>
              <a:srgbClr val="8A94A4"/>
            </a:solidFill>
            <a:prstDash val="solid"/>
            <a:tailEnd type="arrow"/>
          </a:ln>
        </p:spPr>
      </p:sp>
      <p:sp>
        <p:nvSpPr>
          <p:cNvPr id="27" name="Shape 19"/>
          <p:cNvSpPr/>
          <p:nvPr/>
        </p:nvSpPr>
        <p:spPr>
          <a:xfrm>
            <a:off x="6245352" y="3895344"/>
            <a:ext cx="5394960" cy="841248"/>
          </a:xfrm>
          <a:prstGeom prst="roundRect">
            <a:avLst>
              <a:gd name="adj" fmla="val 8696"/>
            </a:avLst>
          </a:prstGeom>
          <a:solidFill>
            <a:srgbClr val="E3F1E9"/>
          </a:solidFill>
          <a:ln/>
        </p:spPr>
      </p:sp>
      <p:pic>
        <p:nvPicPr>
          <p:cNvPr id="28" name="Image 6" descr="/private/tmp/claude-501/-Users-salehhamed-Outcome-Engine/91861432-41e2-4884-bc97-63c6dff2d021/scratchpad/wk/icons/TbCircleCheck-green.png">    </p:cNvPr>
          <p:cNvPicPr>
            <a:picLocks noChangeAspect="1"/>
          </p:cNvPicPr>
          <p:nvPr/>
        </p:nvPicPr>
        <p:blipFill>
          <a:blip r:embed="rId9"/>
          <a:stretch>
            <a:fillRect/>
          </a:stretch>
        </p:blipFill>
        <p:spPr>
          <a:xfrm>
            <a:off x="6409944" y="4096512"/>
            <a:ext cx="438912" cy="438912"/>
          </a:xfrm>
          <a:prstGeom prst="rect">
            <a:avLst/>
          </a:prstGeom>
        </p:spPr>
      </p:pic>
      <p:sp>
        <p:nvSpPr>
          <p:cNvPr id="29" name="Text 20"/>
          <p:cNvSpPr txBox="1"/>
          <p:nvPr/>
        </p:nvSpPr>
        <p:spPr>
          <a:xfrm>
            <a:off x="6976872" y="3895344"/>
            <a:ext cx="4526280" cy="841248"/>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A gap needs its evidence and a named person first.</a:t>
            </a:r>
            <a:endParaRPr lang="en-US" sz="1500" dirty="0"/>
          </a:p>
        </p:txBody>
      </p:sp>
      <p:sp>
        <p:nvSpPr>
          <p:cNvPr id="30" name="Shape 21"/>
          <p:cNvSpPr/>
          <p:nvPr/>
        </p:nvSpPr>
        <p:spPr>
          <a:xfrm>
            <a:off x="548640" y="4882896"/>
            <a:ext cx="5394960" cy="841248"/>
          </a:xfrm>
          <a:prstGeom prst="roundRect">
            <a:avLst>
              <a:gd name="adj" fmla="val 8696"/>
            </a:avLst>
          </a:prstGeom>
          <a:solidFill>
            <a:srgbClr val="FFF0EC"/>
          </a:solidFill>
          <a:ln/>
        </p:spPr>
      </p:sp>
      <p:pic>
        <p:nvPicPr>
          <p:cNvPr id="31" name="Image 7" descr="/private/tmp/claude-501/-Users-salehhamed-Outcome-Engine/91861432-41e2-4884-bc97-63c6dff2d021/scratchpad/wk/icons/TbCircleX-red.png">    </p:cNvPr>
          <p:cNvPicPr>
            <a:picLocks noChangeAspect="1"/>
          </p:cNvPicPr>
          <p:nvPr/>
        </p:nvPicPr>
        <p:blipFill>
          <a:blip r:embed="rId10"/>
          <a:stretch>
            <a:fillRect/>
          </a:stretch>
        </p:blipFill>
        <p:spPr>
          <a:xfrm>
            <a:off x="713232" y="5084064"/>
            <a:ext cx="438912" cy="438912"/>
          </a:xfrm>
          <a:prstGeom prst="rect">
            <a:avLst/>
          </a:prstGeom>
        </p:spPr>
      </p:pic>
      <p:sp>
        <p:nvSpPr>
          <p:cNvPr id="32" name="Text 22"/>
          <p:cNvSpPr txBox="1"/>
          <p:nvPr/>
        </p:nvSpPr>
        <p:spPr>
          <a:xfrm>
            <a:off x="1280160" y="4882896"/>
            <a:ext cx="4526280" cy="841248"/>
          </a:xfrm>
          <a:prstGeom prst="rect">
            <a:avLst/>
          </a:prstGeom>
          <a:noFill/>
          <a:ln/>
        </p:spPr>
        <p:txBody>
          <a:bodyPr wrap="square" lIns="0" tIns="0" rIns="0" bIns="0" rtlCol="0" anchor="ctr"/>
          <a:lstStyle/>
          <a:p>
            <a:pPr indent="0" marL="0">
              <a:buNone/>
            </a:pPr>
            <a:r>
              <a:rPr lang="en-US" sz="1500" dirty="0">
                <a:solidFill>
                  <a:srgbClr val="1F2A33"/>
                </a:solidFill>
                <a:latin typeface="Arial" pitchFamily="34" charset="0"/>
                <a:ea typeface="Arial" pitchFamily="34" charset="-122"/>
                <a:cs typeface="Arial" pitchFamily="34" charset="-120"/>
              </a:rPr>
              <a:t>The deal was signed without an approved plan.</a:t>
            </a:r>
            <a:endParaRPr lang="en-US" sz="1500" dirty="0"/>
          </a:p>
        </p:txBody>
      </p:sp>
      <p:sp>
        <p:nvSpPr>
          <p:cNvPr id="33" name="Shape 23"/>
          <p:cNvSpPr/>
          <p:nvPr/>
        </p:nvSpPr>
        <p:spPr>
          <a:xfrm>
            <a:off x="5989320" y="5303520"/>
            <a:ext cx="210312" cy="914"/>
          </a:xfrm>
          <a:prstGeom prst="line">
            <a:avLst/>
          </a:prstGeom>
          <a:noFill/>
          <a:ln w="25400">
            <a:solidFill>
              <a:srgbClr val="8A94A4"/>
            </a:solidFill>
            <a:prstDash val="solid"/>
            <a:tailEnd type="arrow"/>
          </a:ln>
        </p:spPr>
      </p:sp>
      <p:sp>
        <p:nvSpPr>
          <p:cNvPr id="34" name="Shape 24"/>
          <p:cNvSpPr/>
          <p:nvPr/>
        </p:nvSpPr>
        <p:spPr>
          <a:xfrm>
            <a:off x="6245352" y="4882896"/>
            <a:ext cx="5394960" cy="841248"/>
          </a:xfrm>
          <a:prstGeom prst="roundRect">
            <a:avLst>
              <a:gd name="adj" fmla="val 8696"/>
            </a:avLst>
          </a:prstGeom>
          <a:solidFill>
            <a:srgbClr val="E3F1E9"/>
          </a:solidFill>
          <a:ln/>
        </p:spPr>
      </p:sp>
      <p:pic>
        <p:nvPicPr>
          <p:cNvPr id="35" name="Image 8" descr="/private/tmp/claude-501/-Users-salehhamed-Outcome-Engine/91861432-41e2-4884-bc97-63c6dff2d021/scratchpad/wk/icons/TbCircleCheck-green.png">    </p:cNvPr>
          <p:cNvPicPr>
            <a:picLocks noChangeAspect="1"/>
          </p:cNvPicPr>
          <p:nvPr/>
        </p:nvPicPr>
        <p:blipFill>
          <a:blip r:embed="rId11"/>
          <a:stretch>
            <a:fillRect/>
          </a:stretch>
        </p:blipFill>
        <p:spPr>
          <a:xfrm>
            <a:off x="6409944" y="5084064"/>
            <a:ext cx="438912" cy="438912"/>
          </a:xfrm>
          <a:prstGeom prst="rect">
            <a:avLst/>
          </a:prstGeom>
        </p:spPr>
      </p:pic>
      <p:sp>
        <p:nvSpPr>
          <p:cNvPr id="36" name="Text 25"/>
          <p:cNvSpPr txBox="1"/>
          <p:nvPr/>
        </p:nvSpPr>
        <p:spPr>
          <a:xfrm>
            <a:off x="6976872" y="4882896"/>
            <a:ext cx="4526280" cy="841248"/>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Signing is refused until the plan is approved.</a:t>
            </a:r>
            <a:endParaRPr lang="en-US" sz="1500" dirty="0"/>
          </a:p>
        </p:txBody>
      </p:sp>
      <p:sp>
        <p:nvSpPr>
          <p:cNvPr id="37" name="Text 26"/>
          <p:cNvSpPr txBox="1"/>
          <p:nvPr/>
        </p:nvSpPr>
        <p:spPr>
          <a:xfrm>
            <a:off x="548640" y="5943600"/>
            <a:ext cx="10972800" cy="365760"/>
          </a:xfrm>
          <a:prstGeom prst="rect">
            <a:avLst/>
          </a:prstGeom>
          <a:noFill/>
          <a:ln/>
        </p:spPr>
        <p:txBody>
          <a:bodyPr wrap="square" lIns="0" tIns="0" rIns="0" bIns="0" rtlCol="0" anchor="t"/>
          <a:lstStyle/>
          <a:p>
            <a:pPr indent="0" marL="0">
              <a:buNone/>
            </a:pPr>
            <a:r>
              <a:rPr lang="en-US" sz="1350" i="1" dirty="0">
                <a:solidFill>
                  <a:srgbClr val="5A5A5A"/>
                </a:solidFill>
                <a:latin typeface="Arial" pitchFamily="34" charset="0"/>
                <a:ea typeface="Arial" pitchFamily="34" charset="-122"/>
                <a:cs typeface="Arial" pitchFamily="34" charset="-120"/>
              </a:rPr>
              <a:t>Judge the right-hand side by what you saw in the record at 15:15, not by this slide.</a:t>
            </a:r>
            <a:endParaRPr lang="en-US" sz="135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CLOSE · THE EVIDENCE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The six criteria</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16:15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201</a:t>
            </a:r>
            <a:endParaRPr lang="en-US" sz="1000" dirty="0"/>
          </a:p>
        </p:txBody>
      </p:sp>
      <p:sp>
        <p:nvSpPr>
          <p:cNvPr id="7" name="Shape 4"/>
          <p:cNvSpPr/>
          <p:nvPr/>
        </p:nvSpPr>
        <p:spPr>
          <a:xfrm>
            <a:off x="548640" y="1463040"/>
            <a:ext cx="11091672" cy="694944"/>
          </a:xfrm>
          <a:prstGeom prst="roundRect">
            <a:avLst>
              <a:gd name="adj" fmla="val 10526"/>
            </a:avLst>
          </a:prstGeom>
          <a:solidFill>
            <a:srgbClr val="FFFFFF"/>
          </a:solidFill>
          <a:ln w="12700">
            <a:solidFill>
              <a:srgbClr val="D9DEE2"/>
            </a:solidFill>
            <a:prstDash val="solid"/>
          </a:ln>
        </p:spPr>
      </p:sp>
      <p:pic>
        <p:nvPicPr>
          <p:cNvPr id="8" name="Image 1" descr="/private/tmp/claude-501/-Users-salehhamed-Outcome-Engine/91861432-41e2-4884-bc97-63c6dff2d021/scratchpad/wk/icons/TbTarget-teal.png">    </p:cNvPr>
          <p:cNvPicPr>
            <a:picLocks noChangeAspect="1"/>
          </p:cNvPicPr>
          <p:nvPr/>
        </p:nvPicPr>
        <p:blipFill>
          <a:blip r:embed="rId4"/>
          <a:stretch>
            <a:fillRect/>
          </a:stretch>
        </p:blipFill>
        <p:spPr>
          <a:xfrm>
            <a:off x="685800" y="1591056"/>
            <a:ext cx="438912" cy="438912"/>
          </a:xfrm>
          <a:prstGeom prst="rect">
            <a:avLst/>
          </a:prstGeom>
        </p:spPr>
      </p:pic>
      <p:sp>
        <p:nvSpPr>
          <p:cNvPr id="9" name="Text 5"/>
          <p:cNvSpPr txBox="1"/>
          <p:nvPr/>
        </p:nvSpPr>
        <p:spPr>
          <a:xfrm>
            <a:off x="1280160" y="1463040"/>
            <a:ext cx="7863840" cy="694944"/>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The outcome is agreed, holds for one deal, and a trusted record can prove it.</a:t>
            </a:r>
            <a:endParaRPr lang="en-US" sz="1500" dirty="0"/>
          </a:p>
        </p:txBody>
      </p:sp>
      <p:sp>
        <p:nvSpPr>
          <p:cNvPr id="10" name="Shape 6"/>
          <p:cNvSpPr/>
          <p:nvPr/>
        </p:nvSpPr>
        <p:spPr>
          <a:xfrm>
            <a:off x="9281160" y="1600200"/>
            <a:ext cx="420624" cy="420624"/>
          </a:xfrm>
          <a:prstGeom prst="ellipse">
            <a:avLst/>
          </a:prstGeom>
          <a:ln w="31750">
            <a:solidFill>
              <a:srgbClr val="2E8656"/>
            </a:solidFill>
            <a:prstDash val="solid"/>
          </a:ln>
        </p:spPr>
      </p:sp>
      <p:sp>
        <p:nvSpPr>
          <p:cNvPr id="11" name="Shape 7"/>
          <p:cNvSpPr/>
          <p:nvPr/>
        </p:nvSpPr>
        <p:spPr>
          <a:xfrm>
            <a:off x="10012680" y="1600200"/>
            <a:ext cx="420624" cy="420624"/>
          </a:xfrm>
          <a:prstGeom prst="ellipse">
            <a:avLst/>
          </a:prstGeom>
          <a:ln w="31750">
            <a:solidFill>
              <a:srgbClr val="C98A1A"/>
            </a:solidFill>
            <a:prstDash val="solid"/>
          </a:ln>
        </p:spPr>
      </p:sp>
      <p:sp>
        <p:nvSpPr>
          <p:cNvPr id="12" name="Shape 8"/>
          <p:cNvSpPr/>
          <p:nvPr/>
        </p:nvSpPr>
        <p:spPr>
          <a:xfrm>
            <a:off x="10744200" y="1600200"/>
            <a:ext cx="420624" cy="420624"/>
          </a:xfrm>
          <a:prstGeom prst="ellipse">
            <a:avLst/>
          </a:prstGeom>
          <a:ln w="31750">
            <a:solidFill>
              <a:srgbClr val="FF462D"/>
            </a:solidFill>
            <a:prstDash val="solid"/>
          </a:ln>
        </p:spPr>
      </p:sp>
      <p:sp>
        <p:nvSpPr>
          <p:cNvPr id="13" name="Shape 9"/>
          <p:cNvSpPr/>
          <p:nvPr/>
        </p:nvSpPr>
        <p:spPr>
          <a:xfrm>
            <a:off x="548640" y="2249424"/>
            <a:ext cx="11091672" cy="694944"/>
          </a:xfrm>
          <a:prstGeom prst="roundRect">
            <a:avLst>
              <a:gd name="adj" fmla="val 10526"/>
            </a:avLst>
          </a:prstGeom>
          <a:solidFill>
            <a:srgbClr val="FFFFFF"/>
          </a:solidFill>
          <a:ln w="12700">
            <a:solidFill>
              <a:srgbClr val="D9DEE2"/>
            </a:solidFill>
            <a:prstDash val="solid"/>
          </a:ln>
        </p:spPr>
      </p:sp>
      <p:pic>
        <p:nvPicPr>
          <p:cNvPr id="14" name="Image 2" descr="/private/tmp/claude-501/-Users-salehhamed-Outcome-Engine/91861432-41e2-4884-bc97-63c6dff2d021/scratchpad/wk/icons/TbUserCheck-teal.png">    </p:cNvPr>
          <p:cNvPicPr>
            <a:picLocks noChangeAspect="1"/>
          </p:cNvPicPr>
          <p:nvPr/>
        </p:nvPicPr>
        <p:blipFill>
          <a:blip r:embed="rId5"/>
          <a:stretch>
            <a:fillRect/>
          </a:stretch>
        </p:blipFill>
        <p:spPr>
          <a:xfrm>
            <a:off x="685800" y="2377440"/>
            <a:ext cx="438912" cy="438912"/>
          </a:xfrm>
          <a:prstGeom prst="rect">
            <a:avLst/>
          </a:prstGeom>
        </p:spPr>
      </p:pic>
      <p:sp>
        <p:nvSpPr>
          <p:cNvPr id="15" name="Text 10"/>
          <p:cNvSpPr txBox="1"/>
          <p:nvPr/>
        </p:nvSpPr>
        <p:spPr>
          <a:xfrm>
            <a:off x="1280160" y="2249424"/>
            <a:ext cx="7863840" cy="694944"/>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Every decision has a named role, a reason a person decides, and a response time.</a:t>
            </a:r>
            <a:endParaRPr lang="en-US" sz="1500" dirty="0"/>
          </a:p>
        </p:txBody>
      </p:sp>
      <p:sp>
        <p:nvSpPr>
          <p:cNvPr id="16" name="Shape 11"/>
          <p:cNvSpPr/>
          <p:nvPr/>
        </p:nvSpPr>
        <p:spPr>
          <a:xfrm>
            <a:off x="9281160" y="2386584"/>
            <a:ext cx="420624" cy="420624"/>
          </a:xfrm>
          <a:prstGeom prst="ellipse">
            <a:avLst/>
          </a:prstGeom>
          <a:ln w="31750">
            <a:solidFill>
              <a:srgbClr val="2E8656"/>
            </a:solidFill>
            <a:prstDash val="solid"/>
          </a:ln>
        </p:spPr>
      </p:sp>
      <p:sp>
        <p:nvSpPr>
          <p:cNvPr id="17" name="Shape 12"/>
          <p:cNvSpPr/>
          <p:nvPr/>
        </p:nvSpPr>
        <p:spPr>
          <a:xfrm>
            <a:off x="10012680" y="2386584"/>
            <a:ext cx="420624" cy="420624"/>
          </a:xfrm>
          <a:prstGeom prst="ellipse">
            <a:avLst/>
          </a:prstGeom>
          <a:ln w="31750">
            <a:solidFill>
              <a:srgbClr val="C98A1A"/>
            </a:solidFill>
            <a:prstDash val="solid"/>
          </a:ln>
        </p:spPr>
      </p:sp>
      <p:sp>
        <p:nvSpPr>
          <p:cNvPr id="18" name="Shape 13"/>
          <p:cNvSpPr/>
          <p:nvPr/>
        </p:nvSpPr>
        <p:spPr>
          <a:xfrm>
            <a:off x="10744200" y="2386584"/>
            <a:ext cx="420624" cy="420624"/>
          </a:xfrm>
          <a:prstGeom prst="ellipse">
            <a:avLst/>
          </a:prstGeom>
          <a:ln w="31750">
            <a:solidFill>
              <a:srgbClr val="FF462D"/>
            </a:solidFill>
            <a:prstDash val="solid"/>
          </a:ln>
        </p:spPr>
      </p:sp>
      <p:sp>
        <p:nvSpPr>
          <p:cNvPr id="19" name="Shape 14"/>
          <p:cNvSpPr/>
          <p:nvPr/>
        </p:nvSpPr>
        <p:spPr>
          <a:xfrm>
            <a:off x="548640" y="3035808"/>
            <a:ext cx="11091672" cy="694944"/>
          </a:xfrm>
          <a:prstGeom prst="roundRect">
            <a:avLst>
              <a:gd name="adj" fmla="val 10526"/>
            </a:avLst>
          </a:prstGeom>
          <a:solidFill>
            <a:srgbClr val="FFFFFF"/>
          </a:solidFill>
          <a:ln w="12700">
            <a:solidFill>
              <a:srgbClr val="D9DEE2"/>
            </a:solidFill>
            <a:prstDash val="solid"/>
          </a:ln>
        </p:spPr>
      </p:sp>
      <p:pic>
        <p:nvPicPr>
          <p:cNvPr id="20" name="Image 3" descr="/private/tmp/claude-501/-Users-salehhamed-Outcome-Engine/91861432-41e2-4884-bc97-63c6dff2d021/scratchpad/wk/icons/TbPlayerPlay-teal.png">    </p:cNvPr>
          <p:cNvPicPr>
            <a:picLocks noChangeAspect="1"/>
          </p:cNvPicPr>
          <p:nvPr/>
        </p:nvPicPr>
        <p:blipFill>
          <a:blip r:embed="rId6"/>
          <a:stretch>
            <a:fillRect/>
          </a:stretch>
        </p:blipFill>
        <p:spPr>
          <a:xfrm>
            <a:off x="685800" y="3163824"/>
            <a:ext cx="438912" cy="438912"/>
          </a:xfrm>
          <a:prstGeom prst="rect">
            <a:avLst/>
          </a:prstGeom>
        </p:spPr>
      </p:pic>
      <p:sp>
        <p:nvSpPr>
          <p:cNvPr id="21" name="Text 15"/>
          <p:cNvSpPr txBox="1"/>
          <p:nvPr/>
        </p:nvSpPr>
        <p:spPr>
          <a:xfrm>
            <a:off x="1280160" y="3035808"/>
            <a:ext cx="7863840" cy="694944"/>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The working version ran at least one case end to end, live, checked against the record.</a:t>
            </a:r>
            <a:endParaRPr lang="en-US" sz="1500" dirty="0"/>
          </a:p>
        </p:txBody>
      </p:sp>
      <p:sp>
        <p:nvSpPr>
          <p:cNvPr id="22" name="Shape 16"/>
          <p:cNvSpPr/>
          <p:nvPr/>
        </p:nvSpPr>
        <p:spPr>
          <a:xfrm>
            <a:off x="9281160" y="3172968"/>
            <a:ext cx="420624" cy="420624"/>
          </a:xfrm>
          <a:prstGeom prst="ellipse">
            <a:avLst/>
          </a:prstGeom>
          <a:ln w="31750">
            <a:solidFill>
              <a:srgbClr val="2E8656"/>
            </a:solidFill>
            <a:prstDash val="solid"/>
          </a:ln>
        </p:spPr>
      </p:sp>
      <p:sp>
        <p:nvSpPr>
          <p:cNvPr id="23" name="Shape 17"/>
          <p:cNvSpPr/>
          <p:nvPr/>
        </p:nvSpPr>
        <p:spPr>
          <a:xfrm>
            <a:off x="10012680" y="3172968"/>
            <a:ext cx="420624" cy="420624"/>
          </a:xfrm>
          <a:prstGeom prst="ellipse">
            <a:avLst/>
          </a:prstGeom>
          <a:ln w="31750">
            <a:solidFill>
              <a:srgbClr val="C98A1A"/>
            </a:solidFill>
            <a:prstDash val="solid"/>
          </a:ln>
        </p:spPr>
      </p:sp>
      <p:sp>
        <p:nvSpPr>
          <p:cNvPr id="24" name="Shape 18"/>
          <p:cNvSpPr/>
          <p:nvPr/>
        </p:nvSpPr>
        <p:spPr>
          <a:xfrm>
            <a:off x="10744200" y="3172968"/>
            <a:ext cx="420624" cy="420624"/>
          </a:xfrm>
          <a:prstGeom prst="ellipse">
            <a:avLst/>
          </a:prstGeom>
          <a:ln w="31750">
            <a:solidFill>
              <a:srgbClr val="FF462D"/>
            </a:solidFill>
            <a:prstDash val="solid"/>
          </a:ln>
        </p:spPr>
      </p:sp>
      <p:sp>
        <p:nvSpPr>
          <p:cNvPr id="25" name="Shape 19"/>
          <p:cNvSpPr/>
          <p:nvPr/>
        </p:nvSpPr>
        <p:spPr>
          <a:xfrm>
            <a:off x="548640" y="3822192"/>
            <a:ext cx="11091672" cy="694944"/>
          </a:xfrm>
          <a:prstGeom prst="roundRect">
            <a:avLst>
              <a:gd name="adj" fmla="val 10526"/>
            </a:avLst>
          </a:prstGeom>
          <a:solidFill>
            <a:srgbClr val="FFFFFF"/>
          </a:solidFill>
          <a:ln w="12700">
            <a:solidFill>
              <a:srgbClr val="D9DEE2"/>
            </a:solidFill>
            <a:prstDash val="solid"/>
          </a:ln>
        </p:spPr>
      </p:sp>
      <p:pic>
        <p:nvPicPr>
          <p:cNvPr id="26" name="Image 4" descr="/private/tmp/claude-501/-Users-salehhamed-Outcome-Engine/91861432-41e2-4884-bc97-63c6dff2d021/scratchpad/wk/icons/TbStairsUp-teal.png">    </p:cNvPr>
          <p:cNvPicPr>
            <a:picLocks noChangeAspect="1"/>
          </p:cNvPicPr>
          <p:nvPr/>
        </p:nvPicPr>
        <p:blipFill>
          <a:blip r:embed="rId7"/>
          <a:stretch>
            <a:fillRect/>
          </a:stretch>
        </p:blipFill>
        <p:spPr>
          <a:xfrm>
            <a:off x="685800" y="3950208"/>
            <a:ext cx="438912" cy="438912"/>
          </a:xfrm>
          <a:prstGeom prst="rect">
            <a:avLst/>
          </a:prstGeom>
        </p:spPr>
      </p:pic>
      <p:sp>
        <p:nvSpPr>
          <p:cNvPr id="27" name="Text 20"/>
          <p:cNvSpPr txBox="1"/>
          <p:nvPr/>
        </p:nvSpPr>
        <p:spPr>
          <a:xfrm>
            <a:off x="1280160" y="3822192"/>
            <a:ext cx="7863840" cy="694944"/>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The rotation rules are agreed, or each open rule has an owner and a date.</a:t>
            </a:r>
            <a:endParaRPr lang="en-US" sz="1500" dirty="0"/>
          </a:p>
        </p:txBody>
      </p:sp>
      <p:sp>
        <p:nvSpPr>
          <p:cNvPr id="28" name="Shape 21"/>
          <p:cNvSpPr/>
          <p:nvPr/>
        </p:nvSpPr>
        <p:spPr>
          <a:xfrm>
            <a:off x="9281160" y="3959352"/>
            <a:ext cx="420624" cy="420624"/>
          </a:xfrm>
          <a:prstGeom prst="ellipse">
            <a:avLst/>
          </a:prstGeom>
          <a:ln w="31750">
            <a:solidFill>
              <a:srgbClr val="2E8656"/>
            </a:solidFill>
            <a:prstDash val="solid"/>
          </a:ln>
        </p:spPr>
      </p:sp>
      <p:sp>
        <p:nvSpPr>
          <p:cNvPr id="29" name="Shape 22"/>
          <p:cNvSpPr/>
          <p:nvPr/>
        </p:nvSpPr>
        <p:spPr>
          <a:xfrm>
            <a:off x="10012680" y="3959352"/>
            <a:ext cx="420624" cy="420624"/>
          </a:xfrm>
          <a:prstGeom prst="ellipse">
            <a:avLst/>
          </a:prstGeom>
          <a:ln w="31750">
            <a:solidFill>
              <a:srgbClr val="C98A1A"/>
            </a:solidFill>
            <a:prstDash val="solid"/>
          </a:ln>
        </p:spPr>
      </p:sp>
      <p:sp>
        <p:nvSpPr>
          <p:cNvPr id="30" name="Shape 23"/>
          <p:cNvSpPr/>
          <p:nvPr/>
        </p:nvSpPr>
        <p:spPr>
          <a:xfrm>
            <a:off x="10744200" y="3959352"/>
            <a:ext cx="420624" cy="420624"/>
          </a:xfrm>
          <a:prstGeom prst="ellipse">
            <a:avLst/>
          </a:prstGeom>
          <a:ln w="31750">
            <a:solidFill>
              <a:srgbClr val="FF462D"/>
            </a:solidFill>
            <a:prstDash val="solid"/>
          </a:ln>
        </p:spPr>
      </p:sp>
      <p:sp>
        <p:nvSpPr>
          <p:cNvPr id="31" name="Shape 24"/>
          <p:cNvSpPr/>
          <p:nvPr/>
        </p:nvSpPr>
        <p:spPr>
          <a:xfrm>
            <a:off x="548640" y="4608576"/>
            <a:ext cx="11091672" cy="694944"/>
          </a:xfrm>
          <a:prstGeom prst="roundRect">
            <a:avLst>
              <a:gd name="adj" fmla="val 10526"/>
            </a:avLst>
          </a:prstGeom>
          <a:solidFill>
            <a:srgbClr val="FFFFFF"/>
          </a:solidFill>
          <a:ln w="12700">
            <a:solidFill>
              <a:srgbClr val="D9DEE2"/>
            </a:solidFill>
            <a:prstDash val="solid"/>
          </a:ln>
        </p:spPr>
      </p:sp>
      <p:pic>
        <p:nvPicPr>
          <p:cNvPr id="32" name="Image 5" descr="/private/tmp/claude-501/-Users-salehhamed-Outcome-Engine/91861432-41e2-4884-bc97-63c6dff2d021/scratchpad/wk/icons/TbKey-teal.png">    </p:cNvPr>
          <p:cNvPicPr>
            <a:picLocks noChangeAspect="1"/>
          </p:cNvPicPr>
          <p:nvPr/>
        </p:nvPicPr>
        <p:blipFill>
          <a:blip r:embed="rId8"/>
          <a:stretch>
            <a:fillRect/>
          </a:stretch>
        </p:blipFill>
        <p:spPr>
          <a:xfrm>
            <a:off x="685800" y="4736592"/>
            <a:ext cx="438912" cy="438912"/>
          </a:xfrm>
          <a:prstGeom prst="rect">
            <a:avLst/>
          </a:prstGeom>
        </p:spPr>
      </p:pic>
      <p:sp>
        <p:nvSpPr>
          <p:cNvPr id="33" name="Text 25"/>
          <p:cNvSpPr txBox="1"/>
          <p:nvPr/>
        </p:nvSpPr>
        <p:spPr>
          <a:xfrm>
            <a:off x="1280160" y="4608576"/>
            <a:ext cx="7863840" cy="694944"/>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There is a path to read access to the systems the first slice needs.</a:t>
            </a:r>
            <a:endParaRPr lang="en-US" sz="1500" dirty="0"/>
          </a:p>
        </p:txBody>
      </p:sp>
      <p:sp>
        <p:nvSpPr>
          <p:cNvPr id="34" name="Shape 26"/>
          <p:cNvSpPr/>
          <p:nvPr/>
        </p:nvSpPr>
        <p:spPr>
          <a:xfrm>
            <a:off x="9281160" y="4745736"/>
            <a:ext cx="420624" cy="420624"/>
          </a:xfrm>
          <a:prstGeom prst="ellipse">
            <a:avLst/>
          </a:prstGeom>
          <a:ln w="31750">
            <a:solidFill>
              <a:srgbClr val="2E8656"/>
            </a:solidFill>
            <a:prstDash val="solid"/>
          </a:ln>
        </p:spPr>
      </p:sp>
      <p:sp>
        <p:nvSpPr>
          <p:cNvPr id="35" name="Shape 27"/>
          <p:cNvSpPr/>
          <p:nvPr/>
        </p:nvSpPr>
        <p:spPr>
          <a:xfrm>
            <a:off x="10012680" y="4745736"/>
            <a:ext cx="420624" cy="420624"/>
          </a:xfrm>
          <a:prstGeom prst="ellipse">
            <a:avLst/>
          </a:prstGeom>
          <a:ln w="31750">
            <a:solidFill>
              <a:srgbClr val="C98A1A"/>
            </a:solidFill>
            <a:prstDash val="solid"/>
          </a:ln>
        </p:spPr>
      </p:sp>
      <p:sp>
        <p:nvSpPr>
          <p:cNvPr id="36" name="Shape 28"/>
          <p:cNvSpPr/>
          <p:nvPr/>
        </p:nvSpPr>
        <p:spPr>
          <a:xfrm>
            <a:off x="10744200" y="4745736"/>
            <a:ext cx="420624" cy="420624"/>
          </a:xfrm>
          <a:prstGeom prst="ellipse">
            <a:avLst/>
          </a:prstGeom>
          <a:ln w="31750">
            <a:solidFill>
              <a:srgbClr val="FF462D"/>
            </a:solidFill>
            <a:prstDash val="solid"/>
          </a:ln>
        </p:spPr>
      </p:sp>
      <p:sp>
        <p:nvSpPr>
          <p:cNvPr id="37" name="Shape 29"/>
          <p:cNvSpPr/>
          <p:nvPr/>
        </p:nvSpPr>
        <p:spPr>
          <a:xfrm>
            <a:off x="548640" y="5394960"/>
            <a:ext cx="11091672" cy="694944"/>
          </a:xfrm>
          <a:prstGeom prst="roundRect">
            <a:avLst>
              <a:gd name="adj" fmla="val 10526"/>
            </a:avLst>
          </a:prstGeom>
          <a:solidFill>
            <a:srgbClr val="FFFFFF"/>
          </a:solidFill>
          <a:ln w="12700">
            <a:solidFill>
              <a:srgbClr val="D9DEE2"/>
            </a:solidFill>
            <a:prstDash val="solid"/>
          </a:ln>
        </p:spPr>
      </p:sp>
      <p:pic>
        <p:nvPicPr>
          <p:cNvPr id="38" name="Image 6" descr="/private/tmp/claude-501/-Users-salehhamed-Outcome-Engine/91861432-41e2-4884-bc97-63c6dff2d021/scratchpad/wk/icons/TbCalendarCheck-teal.png">    </p:cNvPr>
          <p:cNvPicPr>
            <a:picLocks noChangeAspect="1"/>
          </p:cNvPicPr>
          <p:nvPr/>
        </p:nvPicPr>
        <p:blipFill>
          <a:blip r:embed="rId9"/>
          <a:stretch>
            <a:fillRect/>
          </a:stretch>
        </p:blipFill>
        <p:spPr>
          <a:xfrm>
            <a:off x="685800" y="5522976"/>
            <a:ext cx="438912" cy="438912"/>
          </a:xfrm>
          <a:prstGeom prst="rect">
            <a:avLst/>
          </a:prstGeom>
        </p:spPr>
      </p:pic>
      <p:sp>
        <p:nvSpPr>
          <p:cNvPr id="39" name="Text 30"/>
          <p:cNvSpPr txBox="1"/>
          <p:nvPr/>
        </p:nvSpPr>
        <p:spPr>
          <a:xfrm>
            <a:off x="1280160" y="5394960"/>
            <a:ext cx="7863840" cy="694944"/>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Every open requirement has an owner and a date.</a:t>
            </a:r>
            <a:endParaRPr lang="en-US" sz="1500" dirty="0"/>
          </a:p>
        </p:txBody>
      </p:sp>
      <p:sp>
        <p:nvSpPr>
          <p:cNvPr id="40" name="Shape 31"/>
          <p:cNvSpPr/>
          <p:nvPr/>
        </p:nvSpPr>
        <p:spPr>
          <a:xfrm>
            <a:off x="9281160" y="5532120"/>
            <a:ext cx="420624" cy="420624"/>
          </a:xfrm>
          <a:prstGeom prst="ellipse">
            <a:avLst/>
          </a:prstGeom>
          <a:ln w="31750">
            <a:solidFill>
              <a:srgbClr val="2E8656"/>
            </a:solidFill>
            <a:prstDash val="solid"/>
          </a:ln>
        </p:spPr>
      </p:sp>
      <p:sp>
        <p:nvSpPr>
          <p:cNvPr id="41" name="Shape 32"/>
          <p:cNvSpPr/>
          <p:nvPr/>
        </p:nvSpPr>
        <p:spPr>
          <a:xfrm>
            <a:off x="10012680" y="5532120"/>
            <a:ext cx="420624" cy="420624"/>
          </a:xfrm>
          <a:prstGeom prst="ellipse">
            <a:avLst/>
          </a:prstGeom>
          <a:ln w="31750">
            <a:solidFill>
              <a:srgbClr val="C98A1A"/>
            </a:solidFill>
            <a:prstDash val="solid"/>
          </a:ln>
        </p:spPr>
      </p:sp>
      <p:sp>
        <p:nvSpPr>
          <p:cNvPr id="42" name="Shape 33"/>
          <p:cNvSpPr/>
          <p:nvPr/>
        </p:nvSpPr>
        <p:spPr>
          <a:xfrm>
            <a:off x="10744200" y="5532120"/>
            <a:ext cx="420624" cy="420624"/>
          </a:xfrm>
          <a:prstGeom prst="ellipse">
            <a:avLst/>
          </a:prstGeom>
          <a:ln w="31750">
            <a:solidFill>
              <a:srgbClr val="FF462D"/>
            </a:solidFill>
            <a:prstDash val="solid"/>
          </a:ln>
        </p:spPr>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CLOSE: MAKE THE DECISION</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What we decide at the end of Day 2</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16:15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202</a:t>
            </a:r>
            <a:endParaRPr lang="en-US" sz="1000" dirty="0"/>
          </a:p>
        </p:txBody>
      </p:sp>
      <p:sp>
        <p:nvSpPr>
          <p:cNvPr id="7" name="Shape 4"/>
          <p:cNvSpPr/>
          <p:nvPr/>
        </p:nvSpPr>
        <p:spPr>
          <a:xfrm>
            <a:off x="548640" y="1554480"/>
            <a:ext cx="2103120" cy="2926080"/>
          </a:xfrm>
          <a:prstGeom prst="roundRect">
            <a:avLst>
              <a:gd name="adj" fmla="val 5217"/>
            </a:avLst>
          </a:prstGeom>
          <a:solidFill>
            <a:srgbClr val="2E8656"/>
          </a:solidFill>
          <a:ln/>
        </p:spPr>
      </p:sp>
      <p:pic>
        <p:nvPicPr>
          <p:cNvPr id="8" name="Image 1" descr="/private/tmp/claude-501/-Users-salehhamed-Outcome-Engine/91861432-41e2-4884-bc97-63c6dff2d021/scratchpad/wk/icons/TbCircleCheck-white.png">    </p:cNvPr>
          <p:cNvPicPr>
            <a:picLocks noChangeAspect="1"/>
          </p:cNvPicPr>
          <p:nvPr/>
        </p:nvPicPr>
        <p:blipFill>
          <a:blip r:embed="rId4"/>
          <a:stretch>
            <a:fillRect/>
          </a:stretch>
        </p:blipFill>
        <p:spPr>
          <a:xfrm>
            <a:off x="1234440" y="1828800"/>
            <a:ext cx="731520" cy="731520"/>
          </a:xfrm>
          <a:prstGeom prst="rect">
            <a:avLst/>
          </a:prstGeom>
        </p:spPr>
      </p:pic>
      <p:sp>
        <p:nvSpPr>
          <p:cNvPr id="9" name="Text 5"/>
          <p:cNvSpPr txBox="1"/>
          <p:nvPr/>
        </p:nvSpPr>
        <p:spPr>
          <a:xfrm>
            <a:off x="548640" y="2697480"/>
            <a:ext cx="2103120" cy="548640"/>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Proceed</a:t>
            </a:r>
            <a:endParaRPr lang="en-US" sz="2400" dirty="0"/>
          </a:p>
        </p:txBody>
      </p:sp>
      <p:sp>
        <p:nvSpPr>
          <p:cNvPr id="10" name="Text 6"/>
          <p:cNvSpPr txBox="1"/>
          <p:nvPr/>
        </p:nvSpPr>
        <p:spPr>
          <a:xfrm>
            <a:off x="685800" y="3291840"/>
            <a:ext cx="1828800" cy="914400"/>
          </a:xfrm>
          <a:prstGeom prst="rect">
            <a:avLst/>
          </a:prstGeom>
          <a:noFill/>
          <a:ln/>
        </p:spPr>
        <p:txBody>
          <a:bodyPr wrap="square" lIns="0" tIns="0" rIns="0" bIns="0" rtlCol="0" anchor="t"/>
          <a:lstStyle/>
          <a:p>
            <a:pPr algn="ctr" indent="0" marL="0">
              <a:buNone/>
            </a:pPr>
            <a:r>
              <a:rPr lang="en-US" sz="1350" dirty="0">
                <a:solidFill>
                  <a:srgbClr val="FFFFFF"/>
                </a:solidFill>
                <a:latin typeface="Arial" pitchFamily="34" charset="0"/>
                <a:ea typeface="Arial" pitchFamily="34" charset="-122"/>
                <a:cs typeface="Arial" pitchFamily="34" charset="-120"/>
              </a:rPr>
              <a:t>Go ahead as planned</a:t>
            </a:r>
            <a:endParaRPr lang="en-US" sz="1350" dirty="0"/>
          </a:p>
        </p:txBody>
      </p:sp>
      <p:sp>
        <p:nvSpPr>
          <p:cNvPr id="11" name="Shape 7"/>
          <p:cNvSpPr/>
          <p:nvPr/>
        </p:nvSpPr>
        <p:spPr>
          <a:xfrm>
            <a:off x="2926080" y="1554480"/>
            <a:ext cx="2103120" cy="2926080"/>
          </a:xfrm>
          <a:prstGeom prst="roundRect">
            <a:avLst>
              <a:gd name="adj" fmla="val 5217"/>
            </a:avLst>
          </a:prstGeom>
          <a:solidFill>
            <a:srgbClr val="C98A1A"/>
          </a:solidFill>
          <a:ln/>
        </p:spPr>
      </p:sp>
      <p:pic>
        <p:nvPicPr>
          <p:cNvPr id="12" name="Image 2" descr="/private/tmp/claude-501/-Users-salehhamed-Outcome-Engine/91861432-41e2-4884-bc97-63c6dff2d021/scratchpad/wk/icons/TbScissors-white.png">    </p:cNvPr>
          <p:cNvPicPr>
            <a:picLocks noChangeAspect="1"/>
          </p:cNvPicPr>
          <p:nvPr/>
        </p:nvPicPr>
        <p:blipFill>
          <a:blip r:embed="rId5"/>
          <a:stretch>
            <a:fillRect/>
          </a:stretch>
        </p:blipFill>
        <p:spPr>
          <a:xfrm>
            <a:off x="3611880" y="1828800"/>
            <a:ext cx="731520" cy="731520"/>
          </a:xfrm>
          <a:prstGeom prst="rect">
            <a:avLst/>
          </a:prstGeom>
        </p:spPr>
      </p:pic>
      <p:sp>
        <p:nvSpPr>
          <p:cNvPr id="13" name="Text 8"/>
          <p:cNvSpPr txBox="1"/>
          <p:nvPr/>
        </p:nvSpPr>
        <p:spPr>
          <a:xfrm>
            <a:off x="2926080" y="2697480"/>
            <a:ext cx="2103120" cy="548640"/>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Narrow</a:t>
            </a:r>
            <a:endParaRPr lang="en-US" sz="2400" dirty="0"/>
          </a:p>
        </p:txBody>
      </p:sp>
      <p:sp>
        <p:nvSpPr>
          <p:cNvPr id="14" name="Text 9"/>
          <p:cNvSpPr txBox="1"/>
          <p:nvPr/>
        </p:nvSpPr>
        <p:spPr>
          <a:xfrm>
            <a:off x="3063240" y="3291840"/>
            <a:ext cx="1828800" cy="914400"/>
          </a:xfrm>
          <a:prstGeom prst="rect">
            <a:avLst/>
          </a:prstGeom>
          <a:noFill/>
          <a:ln/>
        </p:spPr>
        <p:txBody>
          <a:bodyPr wrap="square" lIns="0" tIns="0" rIns="0" bIns="0" rtlCol="0" anchor="t"/>
          <a:lstStyle/>
          <a:p>
            <a:pPr algn="ctr" indent="0" marL="0">
              <a:buNone/>
            </a:pPr>
            <a:r>
              <a:rPr lang="en-US" sz="1350" dirty="0">
                <a:solidFill>
                  <a:srgbClr val="FFFFFF"/>
                </a:solidFill>
                <a:latin typeface="Arial" pitchFamily="34" charset="0"/>
                <a:ea typeface="Arial" pitchFamily="34" charset="-122"/>
                <a:cs typeface="Arial" pitchFamily="34" charset="-120"/>
              </a:rPr>
              <a:t>Go ahead with a smaller scope</a:t>
            </a:r>
            <a:endParaRPr lang="en-US" sz="1350" dirty="0"/>
          </a:p>
        </p:txBody>
      </p:sp>
      <p:sp>
        <p:nvSpPr>
          <p:cNvPr id="15" name="Shape 10"/>
          <p:cNvSpPr/>
          <p:nvPr/>
        </p:nvSpPr>
        <p:spPr>
          <a:xfrm>
            <a:off x="5303520" y="1554480"/>
            <a:ext cx="2103120" cy="2926080"/>
          </a:xfrm>
          <a:prstGeom prst="roundRect">
            <a:avLst>
              <a:gd name="adj" fmla="val 5217"/>
            </a:avLst>
          </a:prstGeom>
          <a:solidFill>
            <a:srgbClr val="36454F"/>
          </a:solidFill>
          <a:ln/>
        </p:spPr>
      </p:sp>
      <p:pic>
        <p:nvPicPr>
          <p:cNvPr id="16" name="Image 3" descr="/private/tmp/claude-501/-Users-salehhamed-Outcome-Engine/91861432-41e2-4884-bc97-63c6dff2d021/scratchpad/wk/icons/TbPlayerStop-white.png">    </p:cNvPr>
          <p:cNvPicPr>
            <a:picLocks noChangeAspect="1"/>
          </p:cNvPicPr>
          <p:nvPr/>
        </p:nvPicPr>
        <p:blipFill>
          <a:blip r:embed="rId6"/>
          <a:stretch>
            <a:fillRect/>
          </a:stretch>
        </p:blipFill>
        <p:spPr>
          <a:xfrm>
            <a:off x="5989320" y="1828800"/>
            <a:ext cx="731520" cy="731520"/>
          </a:xfrm>
          <a:prstGeom prst="rect">
            <a:avLst/>
          </a:prstGeom>
        </p:spPr>
      </p:pic>
      <p:sp>
        <p:nvSpPr>
          <p:cNvPr id="17" name="Text 11"/>
          <p:cNvSpPr txBox="1"/>
          <p:nvPr/>
        </p:nvSpPr>
        <p:spPr>
          <a:xfrm>
            <a:off x="5303520" y="2697480"/>
            <a:ext cx="2103120" cy="548640"/>
          </a:xfrm>
          <a:prstGeom prst="rect">
            <a:avLst/>
          </a:prstGeom>
          <a:noFill/>
          <a:ln/>
        </p:spPr>
        <p:txBody>
          <a:bodyPr wrap="square" lIns="0" tIns="0" rIns="0" bIns="0" rtlCol="0" anchor="t"/>
          <a:lstStyle/>
          <a:p>
            <a:pPr algn="ctr" indent="0" marL="0">
              <a:buNone/>
            </a:pPr>
            <a:r>
              <a:rPr lang="en-US" sz="2400" b="1" dirty="0">
                <a:solidFill>
                  <a:srgbClr val="FFFFFF"/>
                </a:solidFill>
                <a:latin typeface="Arial" pitchFamily="34" charset="0"/>
                <a:ea typeface="Arial" pitchFamily="34" charset="-122"/>
                <a:cs typeface="Arial" pitchFamily="34" charset="-120"/>
              </a:rPr>
              <a:t>Stop</a:t>
            </a:r>
            <a:endParaRPr lang="en-US" sz="2400" dirty="0"/>
          </a:p>
        </p:txBody>
      </p:sp>
      <p:sp>
        <p:nvSpPr>
          <p:cNvPr id="18" name="Text 12"/>
          <p:cNvSpPr txBox="1"/>
          <p:nvPr/>
        </p:nvSpPr>
        <p:spPr>
          <a:xfrm>
            <a:off x="5440680" y="3291840"/>
            <a:ext cx="1828800" cy="914400"/>
          </a:xfrm>
          <a:prstGeom prst="rect">
            <a:avLst/>
          </a:prstGeom>
          <a:noFill/>
          <a:ln/>
        </p:spPr>
        <p:txBody>
          <a:bodyPr wrap="square" lIns="0" tIns="0" rIns="0" bIns="0" rtlCol="0" anchor="t"/>
          <a:lstStyle/>
          <a:p>
            <a:pPr algn="ctr" indent="0" marL="0">
              <a:buNone/>
            </a:pPr>
            <a:r>
              <a:rPr lang="en-US" sz="1350" dirty="0">
                <a:solidFill>
                  <a:srgbClr val="FFFFFF"/>
                </a:solidFill>
                <a:latin typeface="Arial" pitchFamily="34" charset="0"/>
                <a:ea typeface="Arial" pitchFamily="34" charset="-122"/>
                <a:cs typeface="Arial" pitchFamily="34" charset="-120"/>
              </a:rPr>
              <a:t>Not now, and we say why</a:t>
            </a:r>
            <a:endParaRPr lang="en-US" sz="1350" dirty="0"/>
          </a:p>
        </p:txBody>
      </p:sp>
      <p:sp>
        <p:nvSpPr>
          <p:cNvPr id="19" name="Text 13"/>
          <p:cNvSpPr txBox="1"/>
          <p:nvPr/>
        </p:nvSpPr>
        <p:spPr>
          <a:xfrm>
            <a:off x="7863840" y="1554480"/>
            <a:ext cx="3749040" cy="365760"/>
          </a:xfrm>
          <a:prstGeom prst="rect">
            <a:avLst/>
          </a:prstGeom>
          <a:noFill/>
          <a:ln/>
        </p:spPr>
        <p:txBody>
          <a:bodyPr wrap="square" lIns="0" tIns="0" rIns="0" bIns="0" rtlCol="0" anchor="t"/>
          <a:lstStyle/>
          <a:p>
            <a:pPr indent="0" marL="0">
              <a:buNone/>
            </a:pPr>
            <a:r>
              <a:rPr lang="en-US" sz="1500" b="1" dirty="0">
                <a:solidFill>
                  <a:srgbClr val="287079"/>
                </a:solidFill>
                <a:latin typeface="Arial" pitchFamily="34" charset="0"/>
                <a:ea typeface="Arial" pitchFamily="34" charset="-122"/>
                <a:cs typeface="Arial" pitchFamily="34" charset="-120"/>
              </a:rPr>
              <a:t>Decided against six criteria</a:t>
            </a:r>
            <a:endParaRPr lang="en-US" sz="1500" dirty="0"/>
          </a:p>
        </p:txBody>
      </p:sp>
      <p:pic>
        <p:nvPicPr>
          <p:cNvPr id="20" name="Image 4" descr="/private/tmp/claude-501/-Users-salehhamed-Outcome-Engine/91861432-41e2-4884-bc97-63c6dff2d021/scratchpad/wk/icons/TbTarget-teal.png">    </p:cNvPr>
          <p:cNvPicPr>
            <a:picLocks noChangeAspect="1"/>
          </p:cNvPicPr>
          <p:nvPr/>
        </p:nvPicPr>
        <p:blipFill>
          <a:blip r:embed="rId7"/>
          <a:stretch>
            <a:fillRect/>
          </a:stretch>
        </p:blipFill>
        <p:spPr>
          <a:xfrm>
            <a:off x="7863840" y="2039112"/>
            <a:ext cx="292608" cy="292608"/>
          </a:xfrm>
          <a:prstGeom prst="rect">
            <a:avLst/>
          </a:prstGeom>
        </p:spPr>
      </p:pic>
      <p:sp>
        <p:nvSpPr>
          <p:cNvPr id="21" name="Text 14"/>
          <p:cNvSpPr txBox="1"/>
          <p:nvPr/>
        </p:nvSpPr>
        <p:spPr>
          <a:xfrm>
            <a:off x="8275320" y="2011680"/>
            <a:ext cx="3291840" cy="365760"/>
          </a:xfrm>
          <a:prstGeom prst="rect">
            <a:avLst/>
          </a:prstGeom>
          <a:noFill/>
          <a:ln/>
        </p:spPr>
        <p:txBody>
          <a:bodyPr wrap="square" lIns="0" tIns="0" rIns="0" bIns="0" rtlCol="0" anchor="ctr"/>
          <a:lstStyle/>
          <a:p>
            <a:pPr indent="0" marL="0">
              <a:buNone/>
            </a:pPr>
            <a:r>
              <a:rPr lang="en-US" sz="1400" dirty="0">
                <a:solidFill>
                  <a:srgbClr val="1F2A33"/>
                </a:solidFill>
                <a:latin typeface="Arial" pitchFamily="34" charset="0"/>
                <a:ea typeface="Arial" pitchFamily="34" charset="-122"/>
                <a:cs typeface="Arial" pitchFamily="34" charset="-120"/>
              </a:rPr>
              <a:t>Outcome agreed</a:t>
            </a:r>
            <a:endParaRPr lang="en-US" sz="1400" dirty="0"/>
          </a:p>
        </p:txBody>
      </p:sp>
      <p:pic>
        <p:nvPicPr>
          <p:cNvPr id="22" name="Image 5" descr="/private/tmp/claude-501/-Users-salehhamed-Outcome-Engine/91861432-41e2-4884-bc97-63c6dff2d021/scratchpad/wk/icons/TbUserCheck-teal.png">    </p:cNvPr>
          <p:cNvPicPr>
            <a:picLocks noChangeAspect="1"/>
          </p:cNvPicPr>
          <p:nvPr/>
        </p:nvPicPr>
        <p:blipFill>
          <a:blip r:embed="rId8"/>
          <a:stretch>
            <a:fillRect/>
          </a:stretch>
        </p:blipFill>
        <p:spPr>
          <a:xfrm>
            <a:off x="7863840" y="2468880"/>
            <a:ext cx="292608" cy="292608"/>
          </a:xfrm>
          <a:prstGeom prst="rect">
            <a:avLst/>
          </a:prstGeom>
        </p:spPr>
      </p:pic>
      <p:sp>
        <p:nvSpPr>
          <p:cNvPr id="23" name="Text 15"/>
          <p:cNvSpPr txBox="1"/>
          <p:nvPr/>
        </p:nvSpPr>
        <p:spPr>
          <a:xfrm>
            <a:off x="8275320" y="2441448"/>
            <a:ext cx="3291840" cy="365760"/>
          </a:xfrm>
          <a:prstGeom prst="rect">
            <a:avLst/>
          </a:prstGeom>
          <a:noFill/>
          <a:ln/>
        </p:spPr>
        <p:txBody>
          <a:bodyPr wrap="square" lIns="0" tIns="0" rIns="0" bIns="0" rtlCol="0" anchor="ctr"/>
          <a:lstStyle/>
          <a:p>
            <a:pPr indent="0" marL="0">
              <a:buNone/>
            </a:pPr>
            <a:r>
              <a:rPr lang="en-US" sz="1400" dirty="0">
                <a:solidFill>
                  <a:srgbClr val="1F2A33"/>
                </a:solidFill>
                <a:latin typeface="Arial" pitchFamily="34" charset="0"/>
                <a:ea typeface="Arial" pitchFamily="34" charset="-122"/>
                <a:cs typeface="Arial" pitchFamily="34" charset="-120"/>
              </a:rPr>
              <a:t>A person for each decision</a:t>
            </a:r>
            <a:endParaRPr lang="en-US" sz="1400" dirty="0"/>
          </a:p>
        </p:txBody>
      </p:sp>
      <p:pic>
        <p:nvPicPr>
          <p:cNvPr id="24" name="Image 6" descr="/private/tmp/claude-501/-Users-salehhamed-Outcome-Engine/91861432-41e2-4884-bc97-63c6dff2d021/scratchpad/wk/icons/TbPlayerPlay-teal.png">    </p:cNvPr>
          <p:cNvPicPr>
            <a:picLocks noChangeAspect="1"/>
          </p:cNvPicPr>
          <p:nvPr/>
        </p:nvPicPr>
        <p:blipFill>
          <a:blip r:embed="rId9"/>
          <a:stretch>
            <a:fillRect/>
          </a:stretch>
        </p:blipFill>
        <p:spPr>
          <a:xfrm>
            <a:off x="7863840" y="2898648"/>
            <a:ext cx="292608" cy="292608"/>
          </a:xfrm>
          <a:prstGeom prst="rect">
            <a:avLst/>
          </a:prstGeom>
        </p:spPr>
      </p:pic>
      <p:sp>
        <p:nvSpPr>
          <p:cNvPr id="25" name="Text 16"/>
          <p:cNvSpPr txBox="1"/>
          <p:nvPr/>
        </p:nvSpPr>
        <p:spPr>
          <a:xfrm>
            <a:off x="8275320" y="2871216"/>
            <a:ext cx="3291840" cy="365760"/>
          </a:xfrm>
          <a:prstGeom prst="rect">
            <a:avLst/>
          </a:prstGeom>
          <a:noFill/>
          <a:ln/>
        </p:spPr>
        <p:txBody>
          <a:bodyPr wrap="square" lIns="0" tIns="0" rIns="0" bIns="0" rtlCol="0" anchor="ctr"/>
          <a:lstStyle/>
          <a:p>
            <a:pPr indent="0" marL="0">
              <a:buNone/>
            </a:pPr>
            <a:r>
              <a:rPr lang="en-US" sz="1400" dirty="0">
                <a:solidFill>
                  <a:srgbClr val="1F2A33"/>
                </a:solidFill>
                <a:latin typeface="Arial" pitchFamily="34" charset="0"/>
                <a:ea typeface="Arial" pitchFamily="34" charset="-122"/>
                <a:cs typeface="Arial" pitchFamily="34" charset="-120"/>
              </a:rPr>
              <a:t>Live run, checked</a:t>
            </a:r>
            <a:endParaRPr lang="en-US" sz="1400" dirty="0"/>
          </a:p>
        </p:txBody>
      </p:sp>
      <p:pic>
        <p:nvPicPr>
          <p:cNvPr id="26" name="Image 7" descr="/private/tmp/claude-501/-Users-salehhamed-Outcome-Engine/91861432-41e2-4884-bc97-63c6dff2d021/scratchpad/wk/icons/TbStairsUp-teal.png">    </p:cNvPr>
          <p:cNvPicPr>
            <a:picLocks noChangeAspect="1"/>
          </p:cNvPicPr>
          <p:nvPr/>
        </p:nvPicPr>
        <p:blipFill>
          <a:blip r:embed="rId10"/>
          <a:stretch>
            <a:fillRect/>
          </a:stretch>
        </p:blipFill>
        <p:spPr>
          <a:xfrm>
            <a:off x="7863840" y="3328416"/>
            <a:ext cx="292608" cy="292608"/>
          </a:xfrm>
          <a:prstGeom prst="rect">
            <a:avLst/>
          </a:prstGeom>
        </p:spPr>
      </p:pic>
      <p:sp>
        <p:nvSpPr>
          <p:cNvPr id="27" name="Text 17"/>
          <p:cNvSpPr txBox="1"/>
          <p:nvPr/>
        </p:nvSpPr>
        <p:spPr>
          <a:xfrm>
            <a:off x="8275320" y="3300984"/>
            <a:ext cx="3291840" cy="365760"/>
          </a:xfrm>
          <a:prstGeom prst="rect">
            <a:avLst/>
          </a:prstGeom>
          <a:noFill/>
          <a:ln/>
        </p:spPr>
        <p:txBody>
          <a:bodyPr wrap="square" lIns="0" tIns="0" rIns="0" bIns="0" rtlCol="0" anchor="ctr"/>
          <a:lstStyle/>
          <a:p>
            <a:pPr indent="0" marL="0">
              <a:buNone/>
            </a:pPr>
            <a:r>
              <a:rPr lang="en-US" sz="1400" dirty="0">
                <a:solidFill>
                  <a:srgbClr val="1F2A33"/>
                </a:solidFill>
                <a:latin typeface="Arial" pitchFamily="34" charset="0"/>
                <a:ea typeface="Arial" pitchFamily="34" charset="-122"/>
                <a:cs typeface="Arial" pitchFamily="34" charset="-120"/>
              </a:rPr>
              <a:t>Rules for moving people</a:t>
            </a:r>
            <a:endParaRPr lang="en-US" sz="1400" dirty="0"/>
          </a:p>
        </p:txBody>
      </p:sp>
      <p:pic>
        <p:nvPicPr>
          <p:cNvPr id="28" name="Image 8" descr="/private/tmp/claude-501/-Users-salehhamed-Outcome-Engine/91861432-41e2-4884-bc97-63c6dff2d021/scratchpad/wk/icons/TbKey-teal.png">    </p:cNvPr>
          <p:cNvPicPr>
            <a:picLocks noChangeAspect="1"/>
          </p:cNvPicPr>
          <p:nvPr/>
        </p:nvPicPr>
        <p:blipFill>
          <a:blip r:embed="rId11"/>
          <a:stretch>
            <a:fillRect/>
          </a:stretch>
        </p:blipFill>
        <p:spPr>
          <a:xfrm>
            <a:off x="7863840" y="3758184"/>
            <a:ext cx="292608" cy="292608"/>
          </a:xfrm>
          <a:prstGeom prst="rect">
            <a:avLst/>
          </a:prstGeom>
        </p:spPr>
      </p:pic>
      <p:sp>
        <p:nvSpPr>
          <p:cNvPr id="29" name="Text 18"/>
          <p:cNvSpPr txBox="1"/>
          <p:nvPr/>
        </p:nvSpPr>
        <p:spPr>
          <a:xfrm>
            <a:off x="8275320" y="3730752"/>
            <a:ext cx="3291840" cy="365760"/>
          </a:xfrm>
          <a:prstGeom prst="rect">
            <a:avLst/>
          </a:prstGeom>
          <a:noFill/>
          <a:ln/>
        </p:spPr>
        <p:txBody>
          <a:bodyPr wrap="square" lIns="0" tIns="0" rIns="0" bIns="0" rtlCol="0" anchor="ctr"/>
          <a:lstStyle/>
          <a:p>
            <a:pPr indent="0" marL="0">
              <a:buNone/>
            </a:pPr>
            <a:r>
              <a:rPr lang="en-US" sz="1400" dirty="0">
                <a:solidFill>
                  <a:srgbClr val="1F2A33"/>
                </a:solidFill>
                <a:latin typeface="Arial" pitchFamily="34" charset="0"/>
                <a:ea typeface="Arial" pitchFamily="34" charset="-122"/>
                <a:cs typeface="Arial" pitchFamily="34" charset="-120"/>
              </a:rPr>
              <a:t>Path to data access</a:t>
            </a:r>
            <a:endParaRPr lang="en-US" sz="1400" dirty="0"/>
          </a:p>
        </p:txBody>
      </p:sp>
      <p:pic>
        <p:nvPicPr>
          <p:cNvPr id="30" name="Image 9" descr="/private/tmp/claude-501/-Users-salehhamed-Outcome-Engine/91861432-41e2-4884-bc97-63c6dff2d021/scratchpad/wk/icons/TbCalendarCheck-teal.png">    </p:cNvPr>
          <p:cNvPicPr>
            <a:picLocks noChangeAspect="1"/>
          </p:cNvPicPr>
          <p:nvPr/>
        </p:nvPicPr>
        <p:blipFill>
          <a:blip r:embed="rId12"/>
          <a:stretch>
            <a:fillRect/>
          </a:stretch>
        </p:blipFill>
        <p:spPr>
          <a:xfrm>
            <a:off x="7863840" y="4187952"/>
            <a:ext cx="292608" cy="292608"/>
          </a:xfrm>
          <a:prstGeom prst="rect">
            <a:avLst/>
          </a:prstGeom>
        </p:spPr>
      </p:pic>
      <p:sp>
        <p:nvSpPr>
          <p:cNvPr id="31" name="Text 19"/>
          <p:cNvSpPr txBox="1"/>
          <p:nvPr/>
        </p:nvSpPr>
        <p:spPr>
          <a:xfrm>
            <a:off x="8275320" y="4160520"/>
            <a:ext cx="3291840" cy="365760"/>
          </a:xfrm>
          <a:prstGeom prst="rect">
            <a:avLst/>
          </a:prstGeom>
          <a:noFill/>
          <a:ln/>
        </p:spPr>
        <p:txBody>
          <a:bodyPr wrap="square" lIns="0" tIns="0" rIns="0" bIns="0" rtlCol="0" anchor="ctr"/>
          <a:lstStyle/>
          <a:p>
            <a:pPr indent="0" marL="0">
              <a:buNone/>
            </a:pPr>
            <a:r>
              <a:rPr lang="en-US" sz="1400" dirty="0">
                <a:solidFill>
                  <a:srgbClr val="1F2A33"/>
                </a:solidFill>
                <a:latin typeface="Arial" pitchFamily="34" charset="0"/>
                <a:ea typeface="Arial" pitchFamily="34" charset="-122"/>
                <a:cs typeface="Arial" pitchFamily="34" charset="-120"/>
              </a:rPr>
              <a:t>Owners and dates</a:t>
            </a:r>
            <a:endParaRPr lang="en-US" sz="1400" dirty="0"/>
          </a:p>
        </p:txBody>
      </p:sp>
      <p:sp>
        <p:nvSpPr>
          <p:cNvPr id="32" name="Shape 20"/>
          <p:cNvSpPr/>
          <p:nvPr/>
        </p:nvSpPr>
        <p:spPr>
          <a:xfrm>
            <a:off x="548640" y="4846320"/>
            <a:ext cx="11091672" cy="1097280"/>
          </a:xfrm>
          <a:prstGeom prst="roundRect">
            <a:avLst>
              <a:gd name="adj" fmla="val 6667"/>
            </a:avLst>
          </a:prstGeom>
          <a:solidFill>
            <a:srgbClr val="FFF0EC"/>
          </a:solidFill>
          <a:ln/>
        </p:spPr>
      </p:sp>
      <p:sp>
        <p:nvSpPr>
          <p:cNvPr id="33" name="Text 21"/>
          <p:cNvSpPr txBox="1"/>
          <p:nvPr/>
        </p:nvSpPr>
        <p:spPr>
          <a:xfrm>
            <a:off x="868680" y="4846320"/>
            <a:ext cx="10515600" cy="1097280"/>
          </a:xfrm>
          <a:prstGeom prst="rect">
            <a:avLst/>
          </a:prstGeom>
          <a:noFill/>
          <a:ln/>
        </p:spPr>
        <p:txBody>
          <a:bodyPr wrap="square" lIns="0" tIns="0" rIns="0" bIns="0" rtlCol="0" anchor="ctr"/>
          <a:lstStyle/>
          <a:p>
            <a:pPr indent="0" marL="0">
              <a:buNone/>
            </a:pPr>
            <a:r>
              <a:rPr lang="en-US" sz="2200" b="1" dirty="0">
                <a:solidFill>
                  <a:srgbClr val="FF462D"/>
                </a:solidFill>
                <a:latin typeface="Arial" pitchFamily="34" charset="0"/>
                <a:ea typeface="Arial" pitchFamily="34" charset="-122"/>
                <a:cs typeface="Arial" pitchFamily="34" charset="-120"/>
              </a:rPr>
              <a:t>A clear Narrow or Stop is also a success.</a:t>
            </a:r>
            <a:endParaRPr lang="en-US" sz="220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FILL IN LIVE</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The decision record</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16:15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203</a:t>
            </a:r>
            <a:endParaRPr lang="en-US" sz="1000" dirty="0"/>
          </a:p>
        </p:txBody>
      </p:sp>
      <p:sp>
        <p:nvSpPr>
          <p:cNvPr id="7" name="Shape 4"/>
          <p:cNvSpPr/>
          <p:nvPr/>
        </p:nvSpPr>
        <p:spPr>
          <a:xfrm>
            <a:off x="548640" y="1554480"/>
            <a:ext cx="1691640" cy="685800"/>
          </a:xfrm>
          <a:prstGeom prst="roundRect">
            <a:avLst>
              <a:gd name="adj" fmla="val 13333"/>
            </a:avLst>
          </a:prstGeom>
          <a:solidFill>
            <a:srgbClr val="FFFFFF"/>
          </a:solidFill>
          <a:ln w="31750">
            <a:solidFill>
              <a:srgbClr val="2E8656"/>
            </a:solidFill>
            <a:prstDash val="solid"/>
          </a:ln>
        </p:spPr>
      </p:sp>
      <p:sp>
        <p:nvSpPr>
          <p:cNvPr id="8" name="Text 5"/>
          <p:cNvSpPr txBox="1"/>
          <p:nvPr/>
        </p:nvSpPr>
        <p:spPr>
          <a:xfrm>
            <a:off x="548640" y="1554480"/>
            <a:ext cx="1691640" cy="685800"/>
          </a:xfrm>
          <a:prstGeom prst="rect">
            <a:avLst/>
          </a:prstGeom>
          <a:noFill/>
          <a:ln/>
        </p:spPr>
        <p:txBody>
          <a:bodyPr wrap="square" lIns="0" tIns="0" rIns="0" bIns="0" rtlCol="0" anchor="ctr"/>
          <a:lstStyle/>
          <a:p>
            <a:pPr algn="ctr" indent="0" marL="0">
              <a:buNone/>
            </a:pPr>
            <a:r>
              <a:rPr lang="en-US" sz="1700" b="1" dirty="0">
                <a:solidFill>
                  <a:srgbClr val="2E8656"/>
                </a:solidFill>
                <a:latin typeface="Arial" pitchFamily="34" charset="0"/>
                <a:ea typeface="Arial" pitchFamily="34" charset="-122"/>
                <a:cs typeface="Arial" pitchFamily="34" charset="-120"/>
              </a:rPr>
              <a:t>Proceed</a:t>
            </a:r>
            <a:endParaRPr lang="en-US" sz="1700" dirty="0"/>
          </a:p>
        </p:txBody>
      </p:sp>
      <p:sp>
        <p:nvSpPr>
          <p:cNvPr id="9" name="Shape 6"/>
          <p:cNvSpPr/>
          <p:nvPr/>
        </p:nvSpPr>
        <p:spPr>
          <a:xfrm>
            <a:off x="2377440" y="1554480"/>
            <a:ext cx="1691640" cy="685800"/>
          </a:xfrm>
          <a:prstGeom prst="roundRect">
            <a:avLst>
              <a:gd name="adj" fmla="val 13333"/>
            </a:avLst>
          </a:prstGeom>
          <a:solidFill>
            <a:srgbClr val="FFFFFF"/>
          </a:solidFill>
          <a:ln w="31750">
            <a:solidFill>
              <a:srgbClr val="C98A1A"/>
            </a:solidFill>
            <a:prstDash val="solid"/>
          </a:ln>
        </p:spPr>
      </p:sp>
      <p:sp>
        <p:nvSpPr>
          <p:cNvPr id="10" name="Text 7"/>
          <p:cNvSpPr txBox="1"/>
          <p:nvPr/>
        </p:nvSpPr>
        <p:spPr>
          <a:xfrm>
            <a:off x="2377440" y="1554480"/>
            <a:ext cx="1691640" cy="685800"/>
          </a:xfrm>
          <a:prstGeom prst="rect">
            <a:avLst/>
          </a:prstGeom>
          <a:noFill/>
          <a:ln/>
        </p:spPr>
        <p:txBody>
          <a:bodyPr wrap="square" lIns="0" tIns="0" rIns="0" bIns="0" rtlCol="0" anchor="ctr"/>
          <a:lstStyle/>
          <a:p>
            <a:pPr algn="ctr" indent="0" marL="0">
              <a:buNone/>
            </a:pPr>
            <a:r>
              <a:rPr lang="en-US" sz="1700" b="1" dirty="0">
                <a:solidFill>
                  <a:srgbClr val="C98A1A"/>
                </a:solidFill>
                <a:latin typeface="Arial" pitchFamily="34" charset="0"/>
                <a:ea typeface="Arial" pitchFamily="34" charset="-122"/>
                <a:cs typeface="Arial" pitchFamily="34" charset="-120"/>
              </a:rPr>
              <a:t>Narrow</a:t>
            </a:r>
            <a:endParaRPr lang="en-US" sz="1700" dirty="0"/>
          </a:p>
        </p:txBody>
      </p:sp>
      <p:sp>
        <p:nvSpPr>
          <p:cNvPr id="11" name="Shape 8"/>
          <p:cNvSpPr/>
          <p:nvPr/>
        </p:nvSpPr>
        <p:spPr>
          <a:xfrm>
            <a:off x="4206240" y="1554480"/>
            <a:ext cx="1691640" cy="685800"/>
          </a:xfrm>
          <a:prstGeom prst="roundRect">
            <a:avLst>
              <a:gd name="adj" fmla="val 13333"/>
            </a:avLst>
          </a:prstGeom>
          <a:solidFill>
            <a:srgbClr val="FFFFFF"/>
          </a:solidFill>
          <a:ln w="31750">
            <a:solidFill>
              <a:srgbClr val="36454F"/>
            </a:solidFill>
            <a:prstDash val="solid"/>
          </a:ln>
        </p:spPr>
      </p:sp>
      <p:sp>
        <p:nvSpPr>
          <p:cNvPr id="12" name="Text 9"/>
          <p:cNvSpPr txBox="1"/>
          <p:nvPr/>
        </p:nvSpPr>
        <p:spPr>
          <a:xfrm>
            <a:off x="4206240" y="1554480"/>
            <a:ext cx="1691640" cy="685800"/>
          </a:xfrm>
          <a:prstGeom prst="rect">
            <a:avLst/>
          </a:prstGeom>
          <a:noFill/>
          <a:ln/>
        </p:spPr>
        <p:txBody>
          <a:bodyPr wrap="square" lIns="0" tIns="0" rIns="0" bIns="0" rtlCol="0" anchor="ctr"/>
          <a:lstStyle/>
          <a:p>
            <a:pPr algn="ctr" indent="0" marL="0">
              <a:buNone/>
            </a:pPr>
            <a:r>
              <a:rPr lang="en-US" sz="1700" b="1" dirty="0">
                <a:solidFill>
                  <a:srgbClr val="36454F"/>
                </a:solidFill>
                <a:latin typeface="Arial" pitchFamily="34" charset="0"/>
                <a:ea typeface="Arial" pitchFamily="34" charset="-122"/>
                <a:cs typeface="Arial" pitchFamily="34" charset="-120"/>
              </a:rPr>
              <a:t>Stop</a:t>
            </a:r>
            <a:endParaRPr lang="en-US" sz="1700" dirty="0"/>
          </a:p>
        </p:txBody>
      </p:sp>
      <p:sp>
        <p:nvSpPr>
          <p:cNvPr id="13" name="Shape 10"/>
          <p:cNvSpPr/>
          <p:nvPr/>
        </p:nvSpPr>
        <p:spPr>
          <a:xfrm>
            <a:off x="548640" y="2514600"/>
            <a:ext cx="11091672" cy="804672"/>
          </a:xfrm>
          <a:prstGeom prst="roundRect">
            <a:avLst>
              <a:gd name="adj" fmla="val 9091"/>
            </a:avLst>
          </a:prstGeom>
          <a:solidFill>
            <a:srgbClr val="FFFFFF"/>
          </a:solidFill>
          <a:ln w="12700">
            <a:solidFill>
              <a:srgbClr val="D9DEE2"/>
            </a:solidFill>
            <a:prstDash val="solid"/>
          </a:ln>
        </p:spPr>
      </p:sp>
      <p:sp>
        <p:nvSpPr>
          <p:cNvPr id="14" name="Text 11"/>
          <p:cNvSpPr txBox="1"/>
          <p:nvPr/>
        </p:nvSpPr>
        <p:spPr>
          <a:xfrm>
            <a:off x="777240" y="2514600"/>
            <a:ext cx="2743200" cy="804672"/>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Scope</a:t>
            </a:r>
            <a:endParaRPr lang="en-US" sz="1600" dirty="0"/>
          </a:p>
        </p:txBody>
      </p:sp>
      <p:sp>
        <p:nvSpPr>
          <p:cNvPr id="15" name="Text 12"/>
          <p:cNvSpPr txBox="1"/>
          <p:nvPr/>
        </p:nvSpPr>
        <p:spPr>
          <a:xfrm>
            <a:off x="3566160" y="2514600"/>
            <a:ext cx="7863840" cy="804672"/>
          </a:xfrm>
          <a:prstGeom prst="rect">
            <a:avLst/>
          </a:prstGeom>
          <a:noFill/>
          <a:ln/>
        </p:spPr>
        <p:txBody>
          <a:bodyPr wrap="square" lIns="0" tIns="0" rIns="0" bIns="0" rtlCol="0" anchor="ctr"/>
          <a:lstStyle/>
          <a:p>
            <a:pPr indent="0" marL="0">
              <a:buNone/>
            </a:pPr>
            <a:r>
              <a:rPr lang="en-US" sz="1300" i="1" dirty="0">
                <a:solidFill>
                  <a:srgbClr val="8A94A4"/>
                </a:solidFill>
                <a:latin typeface="Arial" pitchFamily="34" charset="0"/>
                <a:ea typeface="Arial" pitchFamily="34" charset="-122"/>
                <a:cs typeface="Arial" pitchFamily="34" charset="-120"/>
              </a:rPr>
              <a:t>what is in the first slice</a:t>
            </a:r>
            <a:endParaRPr lang="en-US" sz="1300" dirty="0"/>
          </a:p>
        </p:txBody>
      </p:sp>
      <p:sp>
        <p:nvSpPr>
          <p:cNvPr id="16" name="Shape 13"/>
          <p:cNvSpPr/>
          <p:nvPr/>
        </p:nvSpPr>
        <p:spPr>
          <a:xfrm>
            <a:off x="548640" y="3429000"/>
            <a:ext cx="11091672" cy="804672"/>
          </a:xfrm>
          <a:prstGeom prst="roundRect">
            <a:avLst>
              <a:gd name="adj" fmla="val 9091"/>
            </a:avLst>
          </a:prstGeom>
          <a:solidFill>
            <a:srgbClr val="FFFFFF"/>
          </a:solidFill>
          <a:ln w="12700">
            <a:solidFill>
              <a:srgbClr val="D9DEE2"/>
            </a:solidFill>
            <a:prstDash val="solid"/>
          </a:ln>
        </p:spPr>
      </p:sp>
      <p:sp>
        <p:nvSpPr>
          <p:cNvPr id="17" name="Text 14"/>
          <p:cNvSpPr txBox="1"/>
          <p:nvPr/>
        </p:nvSpPr>
        <p:spPr>
          <a:xfrm>
            <a:off x="777240" y="3429000"/>
            <a:ext cx="2743200" cy="804672"/>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Conditions</a:t>
            </a:r>
            <a:endParaRPr lang="en-US" sz="1600" dirty="0"/>
          </a:p>
        </p:txBody>
      </p:sp>
      <p:sp>
        <p:nvSpPr>
          <p:cNvPr id="18" name="Text 15"/>
          <p:cNvSpPr txBox="1"/>
          <p:nvPr/>
        </p:nvSpPr>
        <p:spPr>
          <a:xfrm>
            <a:off x="3566160" y="3429000"/>
            <a:ext cx="7863840" cy="804672"/>
          </a:xfrm>
          <a:prstGeom prst="rect">
            <a:avLst/>
          </a:prstGeom>
          <a:noFill/>
          <a:ln/>
        </p:spPr>
        <p:txBody>
          <a:bodyPr wrap="square" lIns="0" tIns="0" rIns="0" bIns="0" rtlCol="0" anchor="ctr"/>
          <a:lstStyle/>
          <a:p>
            <a:pPr indent="0" marL="0">
              <a:buNone/>
            </a:pPr>
            <a:r>
              <a:rPr lang="en-US" sz="1300" i="1" dirty="0">
                <a:solidFill>
                  <a:srgbClr val="8A94A4"/>
                </a:solidFill>
                <a:latin typeface="Arial" pitchFamily="34" charset="0"/>
                <a:ea typeface="Arial" pitchFamily="34" charset="-122"/>
                <a:cs typeface="Arial" pitchFamily="34" charset="-120"/>
              </a:rPr>
              <a:t>what must be true to go ahead</a:t>
            </a:r>
            <a:endParaRPr lang="en-US" sz="1300" dirty="0"/>
          </a:p>
        </p:txBody>
      </p:sp>
      <p:sp>
        <p:nvSpPr>
          <p:cNvPr id="19" name="Shape 16"/>
          <p:cNvSpPr/>
          <p:nvPr/>
        </p:nvSpPr>
        <p:spPr>
          <a:xfrm>
            <a:off x="548640" y="4343400"/>
            <a:ext cx="11091672" cy="804672"/>
          </a:xfrm>
          <a:prstGeom prst="roundRect">
            <a:avLst>
              <a:gd name="adj" fmla="val 9091"/>
            </a:avLst>
          </a:prstGeom>
          <a:solidFill>
            <a:srgbClr val="FFFFFF"/>
          </a:solidFill>
          <a:ln w="12700">
            <a:solidFill>
              <a:srgbClr val="D9DEE2"/>
            </a:solidFill>
            <a:prstDash val="solid"/>
          </a:ln>
        </p:spPr>
      </p:sp>
      <p:sp>
        <p:nvSpPr>
          <p:cNvPr id="20" name="Text 17"/>
          <p:cNvSpPr txBox="1"/>
          <p:nvPr/>
        </p:nvSpPr>
        <p:spPr>
          <a:xfrm>
            <a:off x="777240" y="4343400"/>
            <a:ext cx="2743200" cy="804672"/>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Owners and dates</a:t>
            </a:r>
            <a:endParaRPr lang="en-US" sz="1600" dirty="0"/>
          </a:p>
        </p:txBody>
      </p:sp>
      <p:sp>
        <p:nvSpPr>
          <p:cNvPr id="21" name="Text 18"/>
          <p:cNvSpPr txBox="1"/>
          <p:nvPr/>
        </p:nvSpPr>
        <p:spPr>
          <a:xfrm>
            <a:off x="3566160" y="4343400"/>
            <a:ext cx="7863840" cy="804672"/>
          </a:xfrm>
          <a:prstGeom prst="rect">
            <a:avLst/>
          </a:prstGeom>
          <a:noFill/>
          <a:ln/>
        </p:spPr>
        <p:txBody>
          <a:bodyPr wrap="square" lIns="0" tIns="0" rIns="0" bIns="0" rtlCol="0" anchor="ctr"/>
          <a:lstStyle/>
          <a:p>
            <a:pPr indent="0" marL="0">
              <a:buNone/>
            </a:pPr>
            <a:r>
              <a:rPr lang="en-US" sz="1300" i="1" dirty="0">
                <a:solidFill>
                  <a:srgbClr val="8A94A4"/>
                </a:solidFill>
                <a:latin typeface="Arial" pitchFamily="34" charset="0"/>
                <a:ea typeface="Arial" pitchFamily="34" charset="-122"/>
                <a:cs typeface="Arial" pitchFamily="34" charset="-120"/>
              </a:rPr>
              <a:t>for every next step</a:t>
            </a:r>
            <a:endParaRPr lang="en-US" sz="1300" dirty="0"/>
          </a:p>
        </p:txBody>
      </p:sp>
      <p:sp>
        <p:nvSpPr>
          <p:cNvPr id="22" name="Shape 19"/>
          <p:cNvSpPr/>
          <p:nvPr/>
        </p:nvSpPr>
        <p:spPr>
          <a:xfrm>
            <a:off x="548640" y="5257800"/>
            <a:ext cx="11091672" cy="804672"/>
          </a:xfrm>
          <a:prstGeom prst="roundRect">
            <a:avLst>
              <a:gd name="adj" fmla="val 9091"/>
            </a:avLst>
          </a:prstGeom>
          <a:solidFill>
            <a:srgbClr val="FFFFFF"/>
          </a:solidFill>
          <a:ln w="12700">
            <a:solidFill>
              <a:srgbClr val="D9DEE2"/>
            </a:solidFill>
            <a:prstDash val="solid"/>
          </a:ln>
        </p:spPr>
      </p:sp>
      <p:sp>
        <p:nvSpPr>
          <p:cNvPr id="23" name="Text 20"/>
          <p:cNvSpPr txBox="1"/>
          <p:nvPr/>
        </p:nvSpPr>
        <p:spPr>
          <a:xfrm>
            <a:off x="777240" y="5257800"/>
            <a:ext cx="2743200" cy="804672"/>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Next review</a:t>
            </a:r>
            <a:endParaRPr lang="en-US" sz="1600" dirty="0"/>
          </a:p>
        </p:txBody>
      </p:sp>
      <p:sp>
        <p:nvSpPr>
          <p:cNvPr id="24" name="Text 21"/>
          <p:cNvSpPr txBox="1"/>
          <p:nvPr/>
        </p:nvSpPr>
        <p:spPr>
          <a:xfrm>
            <a:off x="3566160" y="5257800"/>
            <a:ext cx="7863840" cy="804672"/>
          </a:xfrm>
          <a:prstGeom prst="rect">
            <a:avLst/>
          </a:prstGeom>
          <a:noFill/>
          <a:ln/>
        </p:spPr>
        <p:txBody>
          <a:bodyPr wrap="square" lIns="0" tIns="0" rIns="0" bIns="0" rtlCol="0" anchor="ctr"/>
          <a:lstStyle/>
          <a:p>
            <a:pPr indent="0" marL="0">
              <a:buNone/>
            </a:pPr>
            <a:r>
              <a:rPr lang="en-US" sz="1300" i="1" dirty="0">
                <a:solidFill>
                  <a:srgbClr val="8A94A4"/>
                </a:solidFill>
                <a:latin typeface="Arial" pitchFamily="34" charset="0"/>
                <a:ea typeface="Arial" pitchFamily="34" charset="-122"/>
                <a:cs typeface="Arial" pitchFamily="34" charset="-120"/>
              </a:rPr>
              <a:t>when and by whom</a:t>
            </a:r>
            <a:endParaRPr lang="en-US" sz="130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CLOSE: MAKE THE DECISION</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Where are you on the ladder?</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16:15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204</a:t>
            </a:r>
            <a:endParaRPr lang="en-US" sz="1000" dirty="0"/>
          </a:p>
        </p:txBody>
      </p:sp>
      <p:sp>
        <p:nvSpPr>
          <p:cNvPr id="7" name="Shape 4"/>
          <p:cNvSpPr/>
          <p:nvPr/>
        </p:nvSpPr>
        <p:spPr>
          <a:xfrm>
            <a:off x="548640" y="1417320"/>
            <a:ext cx="8229600" cy="548640"/>
          </a:xfrm>
          <a:prstGeom prst="rect">
            <a:avLst/>
          </a:prstGeom>
          <a:solidFill>
            <a:srgbClr val="FF462D"/>
          </a:solidFill>
          <a:ln/>
        </p:spPr>
      </p:sp>
      <p:sp>
        <p:nvSpPr>
          <p:cNvPr id="8" name="Text 5"/>
          <p:cNvSpPr txBox="1"/>
          <p:nvPr/>
        </p:nvSpPr>
        <p:spPr>
          <a:xfrm>
            <a:off x="548640" y="1417320"/>
            <a:ext cx="5029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8</a:t>
            </a:r>
            <a:endParaRPr lang="en-US" sz="1500" dirty="0"/>
          </a:p>
        </p:txBody>
      </p:sp>
      <p:sp>
        <p:nvSpPr>
          <p:cNvPr id="9" name="Text 6"/>
          <p:cNvSpPr txBox="1"/>
          <p:nvPr/>
        </p:nvSpPr>
        <p:spPr>
          <a:xfrm>
            <a:off x="1097280" y="1417320"/>
            <a:ext cx="2331720" cy="5486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Decide what next</a:t>
            </a:r>
            <a:endParaRPr lang="en-US" sz="1400" dirty="0"/>
          </a:p>
        </p:txBody>
      </p:sp>
      <p:sp>
        <p:nvSpPr>
          <p:cNvPr id="10" name="Text 7"/>
          <p:cNvSpPr txBox="1"/>
          <p:nvPr/>
        </p:nvSpPr>
        <p:spPr>
          <a:xfrm>
            <a:off x="3474720" y="1417320"/>
            <a:ext cx="5212080"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I can weigh the evidence and decide what to take forward.</a:t>
            </a:r>
            <a:endParaRPr lang="en-US" sz="1250" dirty="0"/>
          </a:p>
        </p:txBody>
      </p:sp>
      <p:sp>
        <p:nvSpPr>
          <p:cNvPr id="11" name="Shape 8"/>
          <p:cNvSpPr/>
          <p:nvPr/>
        </p:nvSpPr>
        <p:spPr>
          <a:xfrm>
            <a:off x="548640" y="2002536"/>
            <a:ext cx="8229600" cy="548640"/>
          </a:xfrm>
          <a:prstGeom prst="rect">
            <a:avLst/>
          </a:prstGeom>
          <a:solidFill>
            <a:srgbClr val="EEF6F7"/>
          </a:solidFill>
          <a:ln/>
        </p:spPr>
      </p:sp>
      <p:sp>
        <p:nvSpPr>
          <p:cNvPr id="12" name="Text 9"/>
          <p:cNvSpPr txBox="1"/>
          <p:nvPr/>
        </p:nvSpPr>
        <p:spPr>
          <a:xfrm>
            <a:off x="548640" y="2002536"/>
            <a:ext cx="502920" cy="548640"/>
          </a:xfrm>
          <a:prstGeom prst="rect">
            <a:avLst/>
          </a:prstGeom>
          <a:noFill/>
          <a:ln/>
        </p:spPr>
        <p:txBody>
          <a:bodyPr wrap="square" lIns="0" tIns="0" rIns="0" bIns="0" rtlCol="0" anchor="ctr"/>
          <a:lstStyle/>
          <a:p>
            <a:pPr algn="ctr" indent="0" marL="0">
              <a:buNone/>
            </a:pPr>
            <a:r>
              <a:rPr lang="en-US" sz="1500" b="1" dirty="0">
                <a:solidFill>
                  <a:srgbClr val="287079"/>
                </a:solidFill>
                <a:latin typeface="Arial" pitchFamily="34" charset="0"/>
                <a:ea typeface="Arial" pitchFamily="34" charset="-122"/>
                <a:cs typeface="Arial" pitchFamily="34" charset="-120"/>
              </a:rPr>
              <a:t>7</a:t>
            </a:r>
            <a:endParaRPr lang="en-US" sz="1500" dirty="0"/>
          </a:p>
        </p:txBody>
      </p:sp>
      <p:sp>
        <p:nvSpPr>
          <p:cNvPr id="13" name="Text 10"/>
          <p:cNvSpPr txBox="1"/>
          <p:nvPr/>
        </p:nvSpPr>
        <p:spPr>
          <a:xfrm>
            <a:off x="1097280" y="2002536"/>
            <a:ext cx="2331720" cy="548640"/>
          </a:xfrm>
          <a:prstGeom prst="rect">
            <a:avLst/>
          </a:prstGeom>
          <a:noFill/>
          <a:ln/>
        </p:spPr>
        <p:txBody>
          <a:bodyPr wrap="square" lIns="0" tIns="0" rIns="0" bIns="0" rtlCol="0" anchor="ctr"/>
          <a:lstStyle/>
          <a:p>
            <a:pPr indent="0" marL="0">
              <a:buNone/>
            </a:pPr>
            <a:r>
              <a:rPr lang="en-US" sz="1400" b="1" dirty="0">
                <a:solidFill>
                  <a:srgbClr val="1F2A33"/>
                </a:solidFill>
                <a:latin typeface="Arial" pitchFamily="34" charset="0"/>
                <a:ea typeface="Arial" pitchFamily="34" charset="-122"/>
                <a:cs typeface="Arial" pitchFamily="34" charset="-120"/>
              </a:rPr>
              <a:t>Rules for moves</a:t>
            </a:r>
            <a:endParaRPr lang="en-US" sz="1400" dirty="0"/>
          </a:p>
        </p:txBody>
      </p:sp>
      <p:sp>
        <p:nvSpPr>
          <p:cNvPr id="14" name="Text 11"/>
          <p:cNvSpPr txBox="1"/>
          <p:nvPr/>
        </p:nvSpPr>
        <p:spPr>
          <a:xfrm>
            <a:off x="3474720" y="2002536"/>
            <a:ext cx="5212080" cy="548640"/>
          </a:xfrm>
          <a:prstGeom prst="rect">
            <a:avLst/>
          </a:prstGeom>
          <a:noFill/>
          <a:ln/>
        </p:spPr>
        <p:txBody>
          <a:bodyPr wrap="square" lIns="0" tIns="0" rIns="0" bIns="0" rtlCol="0" anchor="ctr"/>
          <a:lstStyle/>
          <a:p>
            <a:pPr indent="0" marL="0">
              <a:buNone/>
            </a:pPr>
            <a:r>
              <a:rPr lang="en-US" sz="1250" dirty="0">
                <a:solidFill>
                  <a:srgbClr val="1F2A33"/>
                </a:solidFill>
                <a:latin typeface="Arial" pitchFamily="34" charset="0"/>
                <a:ea typeface="Arial" pitchFamily="34" charset="-122"/>
                <a:cs typeface="Arial" pitchFamily="34" charset="-120"/>
              </a:rPr>
              <a:t>I can set the rules for moving people up to the work they are qualified for.</a:t>
            </a:r>
            <a:endParaRPr lang="en-US" sz="1250" dirty="0"/>
          </a:p>
        </p:txBody>
      </p:sp>
      <p:sp>
        <p:nvSpPr>
          <p:cNvPr id="15" name="Shape 12"/>
          <p:cNvSpPr/>
          <p:nvPr/>
        </p:nvSpPr>
        <p:spPr>
          <a:xfrm>
            <a:off x="548640" y="2587752"/>
            <a:ext cx="8229600" cy="548640"/>
          </a:xfrm>
          <a:prstGeom prst="rect">
            <a:avLst/>
          </a:prstGeom>
          <a:solidFill>
            <a:srgbClr val="EEF6F7"/>
          </a:solidFill>
          <a:ln/>
        </p:spPr>
      </p:sp>
      <p:sp>
        <p:nvSpPr>
          <p:cNvPr id="16" name="Text 13"/>
          <p:cNvSpPr txBox="1"/>
          <p:nvPr/>
        </p:nvSpPr>
        <p:spPr>
          <a:xfrm>
            <a:off x="548640" y="2587752"/>
            <a:ext cx="502920" cy="548640"/>
          </a:xfrm>
          <a:prstGeom prst="rect">
            <a:avLst/>
          </a:prstGeom>
          <a:noFill/>
          <a:ln/>
        </p:spPr>
        <p:txBody>
          <a:bodyPr wrap="square" lIns="0" tIns="0" rIns="0" bIns="0" rtlCol="0" anchor="ctr"/>
          <a:lstStyle/>
          <a:p>
            <a:pPr algn="ctr" indent="0" marL="0">
              <a:buNone/>
            </a:pPr>
            <a:r>
              <a:rPr lang="en-US" sz="1500" b="1" dirty="0">
                <a:solidFill>
                  <a:srgbClr val="287079"/>
                </a:solidFill>
                <a:latin typeface="Arial" pitchFamily="34" charset="0"/>
                <a:ea typeface="Arial" pitchFamily="34" charset="-122"/>
                <a:cs typeface="Arial" pitchFamily="34" charset="-120"/>
              </a:rPr>
              <a:t>6</a:t>
            </a:r>
            <a:endParaRPr lang="en-US" sz="1500" dirty="0"/>
          </a:p>
        </p:txBody>
      </p:sp>
      <p:sp>
        <p:nvSpPr>
          <p:cNvPr id="17" name="Text 14"/>
          <p:cNvSpPr txBox="1"/>
          <p:nvPr/>
        </p:nvSpPr>
        <p:spPr>
          <a:xfrm>
            <a:off x="1097280" y="2587752"/>
            <a:ext cx="2331720" cy="548640"/>
          </a:xfrm>
          <a:prstGeom prst="rect">
            <a:avLst/>
          </a:prstGeom>
          <a:noFill/>
          <a:ln/>
        </p:spPr>
        <p:txBody>
          <a:bodyPr wrap="square" lIns="0" tIns="0" rIns="0" bIns="0" rtlCol="0" anchor="ctr"/>
          <a:lstStyle/>
          <a:p>
            <a:pPr indent="0" marL="0">
              <a:buNone/>
            </a:pPr>
            <a:r>
              <a:rPr lang="en-US" sz="1400" b="1" dirty="0">
                <a:solidFill>
                  <a:srgbClr val="1F2A33"/>
                </a:solidFill>
                <a:latin typeface="Arial" pitchFamily="34" charset="0"/>
                <a:ea typeface="Arial" pitchFamily="34" charset="-122"/>
                <a:cs typeface="Arial" pitchFamily="34" charset="-120"/>
              </a:rPr>
              <a:t>Judge a working version</a:t>
            </a:r>
            <a:endParaRPr lang="en-US" sz="1400" dirty="0"/>
          </a:p>
        </p:txBody>
      </p:sp>
      <p:sp>
        <p:nvSpPr>
          <p:cNvPr id="18" name="Text 15"/>
          <p:cNvSpPr txBox="1"/>
          <p:nvPr/>
        </p:nvSpPr>
        <p:spPr>
          <a:xfrm>
            <a:off x="3474720" y="2587752"/>
            <a:ext cx="5212080" cy="548640"/>
          </a:xfrm>
          <a:prstGeom prst="rect">
            <a:avLst/>
          </a:prstGeom>
          <a:noFill/>
          <a:ln/>
        </p:spPr>
        <p:txBody>
          <a:bodyPr wrap="square" lIns="0" tIns="0" rIns="0" bIns="0" rtlCol="0" anchor="ctr"/>
          <a:lstStyle/>
          <a:p>
            <a:pPr indent="0" marL="0">
              <a:buNone/>
            </a:pPr>
            <a:r>
              <a:rPr lang="en-US" sz="1250" dirty="0">
                <a:solidFill>
                  <a:srgbClr val="1F2A33"/>
                </a:solidFill>
                <a:latin typeface="Arial" pitchFamily="34" charset="0"/>
                <a:ea typeface="Arial" pitchFamily="34" charset="-122"/>
                <a:cs typeface="Arial" pitchFamily="34" charset="-120"/>
              </a:rPr>
              <a:t>I can test a working version and say what it got wrong.</a:t>
            </a:r>
            <a:endParaRPr lang="en-US" sz="1250" dirty="0"/>
          </a:p>
        </p:txBody>
      </p:sp>
      <p:sp>
        <p:nvSpPr>
          <p:cNvPr id="19" name="Shape 16"/>
          <p:cNvSpPr/>
          <p:nvPr/>
        </p:nvSpPr>
        <p:spPr>
          <a:xfrm>
            <a:off x="548640" y="3172968"/>
            <a:ext cx="8229600" cy="548640"/>
          </a:xfrm>
          <a:prstGeom prst="rect">
            <a:avLst/>
          </a:prstGeom>
          <a:solidFill>
            <a:srgbClr val="EEF6F7"/>
          </a:solidFill>
          <a:ln/>
        </p:spPr>
      </p:sp>
      <p:sp>
        <p:nvSpPr>
          <p:cNvPr id="20" name="Text 17"/>
          <p:cNvSpPr txBox="1"/>
          <p:nvPr/>
        </p:nvSpPr>
        <p:spPr>
          <a:xfrm>
            <a:off x="548640" y="3172968"/>
            <a:ext cx="502920" cy="548640"/>
          </a:xfrm>
          <a:prstGeom prst="rect">
            <a:avLst/>
          </a:prstGeom>
          <a:noFill/>
          <a:ln/>
        </p:spPr>
        <p:txBody>
          <a:bodyPr wrap="square" lIns="0" tIns="0" rIns="0" bIns="0" rtlCol="0" anchor="ctr"/>
          <a:lstStyle/>
          <a:p>
            <a:pPr algn="ctr" indent="0" marL="0">
              <a:buNone/>
            </a:pPr>
            <a:r>
              <a:rPr lang="en-US" sz="1500" b="1" dirty="0">
                <a:solidFill>
                  <a:srgbClr val="287079"/>
                </a:solidFill>
                <a:latin typeface="Arial" pitchFamily="34" charset="0"/>
                <a:ea typeface="Arial" pitchFamily="34" charset="-122"/>
                <a:cs typeface="Arial" pitchFamily="34" charset="-120"/>
              </a:rPr>
              <a:t>5</a:t>
            </a:r>
            <a:endParaRPr lang="en-US" sz="1500" dirty="0"/>
          </a:p>
        </p:txBody>
      </p:sp>
      <p:sp>
        <p:nvSpPr>
          <p:cNvPr id="21" name="Text 18"/>
          <p:cNvSpPr txBox="1"/>
          <p:nvPr/>
        </p:nvSpPr>
        <p:spPr>
          <a:xfrm>
            <a:off x="1097280" y="3172968"/>
            <a:ext cx="2331720" cy="548640"/>
          </a:xfrm>
          <a:prstGeom prst="rect">
            <a:avLst/>
          </a:prstGeom>
          <a:noFill/>
          <a:ln/>
        </p:spPr>
        <p:txBody>
          <a:bodyPr wrap="square" lIns="0" tIns="0" rIns="0" bIns="0" rtlCol="0" anchor="ctr"/>
          <a:lstStyle/>
          <a:p>
            <a:pPr indent="0" marL="0">
              <a:buNone/>
            </a:pPr>
            <a:r>
              <a:rPr lang="en-US" sz="1400" b="1" dirty="0">
                <a:solidFill>
                  <a:srgbClr val="1F2A33"/>
                </a:solidFill>
                <a:latin typeface="Arial" pitchFamily="34" charset="0"/>
                <a:ea typeface="Arial" pitchFamily="34" charset="-122"/>
                <a:cs typeface="Arial" pitchFamily="34" charset="-120"/>
              </a:rPr>
              <a:t>When things go wrong</a:t>
            </a:r>
            <a:endParaRPr lang="en-US" sz="1400" dirty="0"/>
          </a:p>
        </p:txBody>
      </p:sp>
      <p:sp>
        <p:nvSpPr>
          <p:cNvPr id="22" name="Text 19"/>
          <p:cNvSpPr txBox="1"/>
          <p:nvPr/>
        </p:nvSpPr>
        <p:spPr>
          <a:xfrm>
            <a:off x="3474720" y="3172968"/>
            <a:ext cx="5212080" cy="548640"/>
          </a:xfrm>
          <a:prstGeom prst="rect">
            <a:avLst/>
          </a:prstGeom>
          <a:noFill/>
          <a:ln/>
        </p:spPr>
        <p:txBody>
          <a:bodyPr wrap="square" lIns="0" tIns="0" rIns="0" bIns="0" rtlCol="0" anchor="ctr"/>
          <a:lstStyle/>
          <a:p>
            <a:pPr indent="0" marL="0">
              <a:buNone/>
            </a:pPr>
            <a:r>
              <a:rPr lang="en-US" sz="1250" dirty="0">
                <a:solidFill>
                  <a:srgbClr val="1F2A33"/>
                </a:solidFill>
                <a:latin typeface="Arial" pitchFamily="34" charset="0"/>
                <a:ea typeface="Arial" pitchFamily="34" charset="-122"/>
                <a:cs typeface="Arial" pitchFamily="34" charset="-120"/>
              </a:rPr>
              <a:t>I can write the rule for an exception: what happens, who decides, by when.</a:t>
            </a:r>
            <a:endParaRPr lang="en-US" sz="1250" dirty="0"/>
          </a:p>
        </p:txBody>
      </p:sp>
      <p:sp>
        <p:nvSpPr>
          <p:cNvPr id="23" name="Shape 20"/>
          <p:cNvSpPr/>
          <p:nvPr/>
        </p:nvSpPr>
        <p:spPr>
          <a:xfrm>
            <a:off x="548640" y="3758184"/>
            <a:ext cx="8229600" cy="548640"/>
          </a:xfrm>
          <a:prstGeom prst="rect">
            <a:avLst/>
          </a:prstGeom>
          <a:solidFill>
            <a:srgbClr val="EEF6F7"/>
          </a:solidFill>
          <a:ln/>
        </p:spPr>
      </p:sp>
      <p:sp>
        <p:nvSpPr>
          <p:cNvPr id="24" name="Text 21"/>
          <p:cNvSpPr txBox="1"/>
          <p:nvPr/>
        </p:nvSpPr>
        <p:spPr>
          <a:xfrm>
            <a:off x="548640" y="3758184"/>
            <a:ext cx="502920" cy="548640"/>
          </a:xfrm>
          <a:prstGeom prst="rect">
            <a:avLst/>
          </a:prstGeom>
          <a:noFill/>
          <a:ln/>
        </p:spPr>
        <p:txBody>
          <a:bodyPr wrap="square" lIns="0" tIns="0" rIns="0" bIns="0" rtlCol="0" anchor="ctr"/>
          <a:lstStyle/>
          <a:p>
            <a:pPr algn="ctr" indent="0" marL="0">
              <a:buNone/>
            </a:pPr>
            <a:r>
              <a:rPr lang="en-US" sz="1500" b="1" dirty="0">
                <a:solidFill>
                  <a:srgbClr val="287079"/>
                </a:solidFill>
                <a:latin typeface="Arial" pitchFamily="34" charset="0"/>
                <a:ea typeface="Arial" pitchFamily="34" charset="-122"/>
                <a:cs typeface="Arial" pitchFamily="34" charset="-120"/>
              </a:rPr>
              <a:t>4</a:t>
            </a:r>
            <a:endParaRPr lang="en-US" sz="1500" dirty="0"/>
          </a:p>
        </p:txBody>
      </p:sp>
      <p:sp>
        <p:nvSpPr>
          <p:cNvPr id="25" name="Text 22"/>
          <p:cNvSpPr txBox="1"/>
          <p:nvPr/>
        </p:nvSpPr>
        <p:spPr>
          <a:xfrm>
            <a:off x="1097280" y="3758184"/>
            <a:ext cx="2331720" cy="548640"/>
          </a:xfrm>
          <a:prstGeom prst="rect">
            <a:avLst/>
          </a:prstGeom>
          <a:noFill/>
          <a:ln/>
        </p:spPr>
        <p:txBody>
          <a:bodyPr wrap="square" lIns="0" tIns="0" rIns="0" bIns="0" rtlCol="0" anchor="ctr"/>
          <a:lstStyle/>
          <a:p>
            <a:pPr indent="0" marL="0">
              <a:buNone/>
            </a:pPr>
            <a:r>
              <a:rPr lang="en-US" sz="1400" b="1" dirty="0">
                <a:solidFill>
                  <a:srgbClr val="1F2A33"/>
                </a:solidFill>
                <a:latin typeface="Arial" pitchFamily="34" charset="0"/>
                <a:ea typeface="Arial" pitchFamily="34" charset="-122"/>
                <a:cs typeface="Arial" pitchFamily="34" charset="-120"/>
              </a:rPr>
              <a:t>Who decides</a:t>
            </a:r>
            <a:endParaRPr lang="en-US" sz="1400" dirty="0"/>
          </a:p>
        </p:txBody>
      </p:sp>
      <p:sp>
        <p:nvSpPr>
          <p:cNvPr id="26" name="Text 23"/>
          <p:cNvSpPr txBox="1"/>
          <p:nvPr/>
        </p:nvSpPr>
        <p:spPr>
          <a:xfrm>
            <a:off x="3474720" y="3758184"/>
            <a:ext cx="5212080" cy="548640"/>
          </a:xfrm>
          <a:prstGeom prst="rect">
            <a:avLst/>
          </a:prstGeom>
          <a:noFill/>
          <a:ln/>
        </p:spPr>
        <p:txBody>
          <a:bodyPr wrap="square" lIns="0" tIns="0" rIns="0" bIns="0" rtlCol="0" anchor="ctr"/>
          <a:lstStyle/>
          <a:p>
            <a:pPr indent="0" marL="0">
              <a:buNone/>
            </a:pPr>
            <a:r>
              <a:rPr lang="en-US" sz="1250" dirty="0">
                <a:solidFill>
                  <a:srgbClr val="1F2A33"/>
                </a:solidFill>
                <a:latin typeface="Arial" pitchFamily="34" charset="0"/>
                <a:ea typeface="Arial" pitchFamily="34" charset="-122"/>
                <a:cs typeface="Arial" pitchFamily="34" charset="-120"/>
              </a:rPr>
              <a:t>I know which decisions need a person, who, and what they need to see.</a:t>
            </a:r>
            <a:endParaRPr lang="en-US" sz="1250" dirty="0"/>
          </a:p>
        </p:txBody>
      </p:sp>
      <p:sp>
        <p:nvSpPr>
          <p:cNvPr id="27" name="Shape 24"/>
          <p:cNvSpPr/>
          <p:nvPr/>
        </p:nvSpPr>
        <p:spPr>
          <a:xfrm>
            <a:off x="548640" y="4343400"/>
            <a:ext cx="8229600" cy="548640"/>
          </a:xfrm>
          <a:prstGeom prst="rect">
            <a:avLst/>
          </a:prstGeom>
          <a:solidFill>
            <a:srgbClr val="EEF6F7"/>
          </a:solidFill>
          <a:ln/>
        </p:spPr>
      </p:sp>
      <p:sp>
        <p:nvSpPr>
          <p:cNvPr id="28" name="Text 25"/>
          <p:cNvSpPr txBox="1"/>
          <p:nvPr/>
        </p:nvSpPr>
        <p:spPr>
          <a:xfrm>
            <a:off x="548640" y="4343400"/>
            <a:ext cx="502920" cy="548640"/>
          </a:xfrm>
          <a:prstGeom prst="rect">
            <a:avLst/>
          </a:prstGeom>
          <a:noFill/>
          <a:ln/>
        </p:spPr>
        <p:txBody>
          <a:bodyPr wrap="square" lIns="0" tIns="0" rIns="0" bIns="0" rtlCol="0" anchor="ctr"/>
          <a:lstStyle/>
          <a:p>
            <a:pPr algn="ctr" indent="0" marL="0">
              <a:buNone/>
            </a:pPr>
            <a:r>
              <a:rPr lang="en-US" sz="1500" b="1" dirty="0">
                <a:solidFill>
                  <a:srgbClr val="287079"/>
                </a:solidFill>
                <a:latin typeface="Arial" pitchFamily="34" charset="0"/>
                <a:ea typeface="Arial" pitchFamily="34" charset="-122"/>
                <a:cs typeface="Arial" pitchFamily="34" charset="-120"/>
              </a:rPr>
              <a:t>3</a:t>
            </a:r>
            <a:endParaRPr lang="en-US" sz="1500" dirty="0"/>
          </a:p>
        </p:txBody>
      </p:sp>
      <p:sp>
        <p:nvSpPr>
          <p:cNvPr id="29" name="Text 26"/>
          <p:cNvSpPr txBox="1"/>
          <p:nvPr/>
        </p:nvSpPr>
        <p:spPr>
          <a:xfrm>
            <a:off x="1097280" y="4343400"/>
            <a:ext cx="2331720" cy="548640"/>
          </a:xfrm>
          <a:prstGeom prst="rect">
            <a:avLst/>
          </a:prstGeom>
          <a:noFill/>
          <a:ln/>
        </p:spPr>
        <p:txBody>
          <a:bodyPr wrap="square" lIns="0" tIns="0" rIns="0" bIns="0" rtlCol="0" anchor="ctr"/>
          <a:lstStyle/>
          <a:p>
            <a:pPr indent="0" marL="0">
              <a:buNone/>
            </a:pPr>
            <a:r>
              <a:rPr lang="en-US" sz="1400" b="1" dirty="0">
                <a:solidFill>
                  <a:srgbClr val="1F2A33"/>
                </a:solidFill>
                <a:latin typeface="Arial" pitchFamily="34" charset="0"/>
                <a:ea typeface="Arial" pitchFamily="34" charset="-122"/>
                <a:cs typeface="Arial" pitchFamily="34" charset="-120"/>
              </a:rPr>
              <a:t>The result we want</a:t>
            </a:r>
            <a:endParaRPr lang="en-US" sz="1400" dirty="0"/>
          </a:p>
        </p:txBody>
      </p:sp>
      <p:sp>
        <p:nvSpPr>
          <p:cNvPr id="30" name="Text 27"/>
          <p:cNvSpPr txBox="1"/>
          <p:nvPr/>
        </p:nvSpPr>
        <p:spPr>
          <a:xfrm>
            <a:off x="3474720" y="4343400"/>
            <a:ext cx="5212080" cy="548640"/>
          </a:xfrm>
          <a:prstGeom prst="rect">
            <a:avLst/>
          </a:prstGeom>
          <a:noFill/>
          <a:ln/>
        </p:spPr>
        <p:txBody>
          <a:bodyPr wrap="square" lIns="0" tIns="0" rIns="0" bIns="0" rtlCol="0" anchor="ctr"/>
          <a:lstStyle/>
          <a:p>
            <a:pPr indent="0" marL="0">
              <a:buNone/>
            </a:pPr>
            <a:r>
              <a:rPr lang="en-US" sz="1250" dirty="0">
                <a:solidFill>
                  <a:srgbClr val="1F2A33"/>
                </a:solidFill>
                <a:latin typeface="Arial" pitchFamily="34" charset="0"/>
                <a:ea typeface="Arial" pitchFamily="34" charset="-122"/>
                <a:cs typeface="Arial" pitchFamily="34" charset="-120"/>
              </a:rPr>
              <a:t>I can say the result we want, and how a record would prove it.</a:t>
            </a:r>
            <a:endParaRPr lang="en-US" sz="1250" dirty="0"/>
          </a:p>
        </p:txBody>
      </p:sp>
      <p:sp>
        <p:nvSpPr>
          <p:cNvPr id="31" name="Shape 28"/>
          <p:cNvSpPr/>
          <p:nvPr/>
        </p:nvSpPr>
        <p:spPr>
          <a:xfrm>
            <a:off x="548640" y="4928616"/>
            <a:ext cx="8229600" cy="548640"/>
          </a:xfrm>
          <a:prstGeom prst="rect">
            <a:avLst/>
          </a:prstGeom>
          <a:solidFill>
            <a:srgbClr val="EEF6F7"/>
          </a:solidFill>
          <a:ln/>
        </p:spPr>
      </p:sp>
      <p:sp>
        <p:nvSpPr>
          <p:cNvPr id="32" name="Text 29"/>
          <p:cNvSpPr txBox="1"/>
          <p:nvPr/>
        </p:nvSpPr>
        <p:spPr>
          <a:xfrm>
            <a:off x="548640" y="4928616"/>
            <a:ext cx="502920" cy="548640"/>
          </a:xfrm>
          <a:prstGeom prst="rect">
            <a:avLst/>
          </a:prstGeom>
          <a:noFill/>
          <a:ln/>
        </p:spPr>
        <p:txBody>
          <a:bodyPr wrap="square" lIns="0" tIns="0" rIns="0" bIns="0" rtlCol="0" anchor="ctr"/>
          <a:lstStyle/>
          <a:p>
            <a:pPr algn="ctr" indent="0" marL="0">
              <a:buNone/>
            </a:pPr>
            <a:r>
              <a:rPr lang="en-US" sz="1500" b="1" dirty="0">
                <a:solidFill>
                  <a:srgbClr val="287079"/>
                </a:solidFill>
                <a:latin typeface="Arial" pitchFamily="34" charset="0"/>
                <a:ea typeface="Arial" pitchFamily="34" charset="-122"/>
                <a:cs typeface="Arial" pitchFamily="34" charset="-120"/>
              </a:rPr>
              <a:t>2</a:t>
            </a:r>
            <a:endParaRPr lang="en-US" sz="1500" dirty="0"/>
          </a:p>
        </p:txBody>
      </p:sp>
      <p:sp>
        <p:nvSpPr>
          <p:cNvPr id="33" name="Text 30"/>
          <p:cNvSpPr txBox="1"/>
          <p:nvPr/>
        </p:nvSpPr>
        <p:spPr>
          <a:xfrm>
            <a:off x="1097280" y="4928616"/>
            <a:ext cx="2331720" cy="548640"/>
          </a:xfrm>
          <a:prstGeom prst="rect">
            <a:avLst/>
          </a:prstGeom>
          <a:noFill/>
          <a:ln/>
        </p:spPr>
        <p:txBody>
          <a:bodyPr wrap="square" lIns="0" tIns="0" rIns="0" bIns="0" rtlCol="0" anchor="ctr"/>
          <a:lstStyle/>
          <a:p>
            <a:pPr indent="0" marL="0">
              <a:buNone/>
            </a:pPr>
            <a:r>
              <a:rPr lang="en-US" sz="1400" b="1" dirty="0">
                <a:solidFill>
                  <a:srgbClr val="1F2A33"/>
                </a:solidFill>
                <a:latin typeface="Arial" pitchFamily="34" charset="0"/>
                <a:ea typeface="Arial" pitchFamily="34" charset="-122"/>
                <a:cs typeface="Arial" pitchFamily="34" charset="-120"/>
              </a:rPr>
              <a:t>The real problem</a:t>
            </a:r>
            <a:endParaRPr lang="en-US" sz="1400" dirty="0"/>
          </a:p>
        </p:txBody>
      </p:sp>
      <p:sp>
        <p:nvSpPr>
          <p:cNvPr id="34" name="Text 31"/>
          <p:cNvSpPr txBox="1"/>
          <p:nvPr/>
        </p:nvSpPr>
        <p:spPr>
          <a:xfrm>
            <a:off x="3474720" y="4928616"/>
            <a:ext cx="5212080" cy="548640"/>
          </a:xfrm>
          <a:prstGeom prst="rect">
            <a:avLst/>
          </a:prstGeom>
          <a:noFill/>
          <a:ln/>
        </p:spPr>
        <p:txBody>
          <a:bodyPr wrap="square" lIns="0" tIns="0" rIns="0" bIns="0" rtlCol="0" anchor="ctr"/>
          <a:lstStyle/>
          <a:p>
            <a:pPr indent="0" marL="0">
              <a:buNone/>
            </a:pPr>
            <a:r>
              <a:rPr lang="en-US" sz="1250" dirty="0">
                <a:solidFill>
                  <a:srgbClr val="1F2A33"/>
                </a:solidFill>
                <a:latin typeface="Arial" pitchFamily="34" charset="0"/>
                <a:ea typeface="Arial" pitchFamily="34" charset="-122"/>
                <a:cs typeface="Arial" pitchFamily="34" charset="-120"/>
              </a:rPr>
              <a:t>I see where records and reality part, at each stage of a deal.</a:t>
            </a:r>
            <a:endParaRPr lang="en-US" sz="1250" dirty="0"/>
          </a:p>
        </p:txBody>
      </p:sp>
      <p:sp>
        <p:nvSpPr>
          <p:cNvPr id="35" name="Shape 32"/>
          <p:cNvSpPr/>
          <p:nvPr/>
        </p:nvSpPr>
        <p:spPr>
          <a:xfrm>
            <a:off x="548640" y="5513832"/>
            <a:ext cx="8229600" cy="548640"/>
          </a:xfrm>
          <a:prstGeom prst="rect">
            <a:avLst/>
          </a:prstGeom>
          <a:solidFill>
            <a:srgbClr val="EEF6F7"/>
          </a:solidFill>
          <a:ln/>
        </p:spPr>
      </p:sp>
      <p:sp>
        <p:nvSpPr>
          <p:cNvPr id="36" name="Text 33"/>
          <p:cNvSpPr txBox="1"/>
          <p:nvPr/>
        </p:nvSpPr>
        <p:spPr>
          <a:xfrm>
            <a:off x="548640" y="5513832"/>
            <a:ext cx="502920" cy="548640"/>
          </a:xfrm>
          <a:prstGeom prst="rect">
            <a:avLst/>
          </a:prstGeom>
          <a:noFill/>
          <a:ln/>
        </p:spPr>
        <p:txBody>
          <a:bodyPr wrap="square" lIns="0" tIns="0" rIns="0" bIns="0" rtlCol="0" anchor="ctr"/>
          <a:lstStyle/>
          <a:p>
            <a:pPr algn="ctr" indent="0" marL="0">
              <a:buNone/>
            </a:pPr>
            <a:r>
              <a:rPr lang="en-US" sz="1500" b="1" dirty="0">
                <a:solidFill>
                  <a:srgbClr val="287079"/>
                </a:solidFill>
                <a:latin typeface="Arial" pitchFamily="34" charset="0"/>
                <a:ea typeface="Arial" pitchFamily="34" charset="-122"/>
                <a:cs typeface="Arial" pitchFamily="34" charset="-120"/>
              </a:rPr>
              <a:t>1</a:t>
            </a:r>
            <a:endParaRPr lang="en-US" sz="1500" dirty="0"/>
          </a:p>
        </p:txBody>
      </p:sp>
      <p:sp>
        <p:nvSpPr>
          <p:cNvPr id="37" name="Text 34"/>
          <p:cNvSpPr txBox="1"/>
          <p:nvPr/>
        </p:nvSpPr>
        <p:spPr>
          <a:xfrm>
            <a:off x="1097280" y="5513832"/>
            <a:ext cx="2331720" cy="548640"/>
          </a:xfrm>
          <a:prstGeom prst="rect">
            <a:avLst/>
          </a:prstGeom>
          <a:noFill/>
          <a:ln/>
        </p:spPr>
        <p:txBody>
          <a:bodyPr wrap="square" lIns="0" tIns="0" rIns="0" bIns="0" rtlCol="0" anchor="ctr"/>
          <a:lstStyle/>
          <a:p>
            <a:pPr indent="0" marL="0">
              <a:buNone/>
            </a:pPr>
            <a:r>
              <a:rPr lang="en-US" sz="1400" b="1" dirty="0">
                <a:solidFill>
                  <a:srgbClr val="1F2A33"/>
                </a:solidFill>
                <a:latin typeface="Arial" pitchFamily="34" charset="0"/>
                <a:ea typeface="Arial" pitchFamily="34" charset="-122"/>
                <a:cs typeface="Arial" pitchFamily="34" charset="-120"/>
              </a:rPr>
              <a:t>Why we are here</a:t>
            </a:r>
            <a:endParaRPr lang="en-US" sz="1400" dirty="0"/>
          </a:p>
        </p:txBody>
      </p:sp>
      <p:sp>
        <p:nvSpPr>
          <p:cNvPr id="38" name="Text 35"/>
          <p:cNvSpPr txBox="1"/>
          <p:nvPr/>
        </p:nvSpPr>
        <p:spPr>
          <a:xfrm>
            <a:off x="3474720" y="5513832"/>
            <a:ext cx="5212080" cy="548640"/>
          </a:xfrm>
          <a:prstGeom prst="rect">
            <a:avLst/>
          </a:prstGeom>
          <a:noFill/>
          <a:ln/>
        </p:spPr>
        <p:txBody>
          <a:bodyPr wrap="square" lIns="0" tIns="0" rIns="0" bIns="0" rtlCol="0" anchor="ctr"/>
          <a:lstStyle/>
          <a:p>
            <a:pPr indent="0" marL="0">
              <a:buNone/>
            </a:pPr>
            <a:r>
              <a:rPr lang="en-US" sz="1250" dirty="0">
                <a:solidFill>
                  <a:srgbClr val="1F2A33"/>
                </a:solidFill>
                <a:latin typeface="Arial" pitchFamily="34" charset="0"/>
                <a:ea typeface="Arial" pitchFamily="34" charset="-122"/>
                <a:cs typeface="Arial" pitchFamily="34" charset="-120"/>
              </a:rPr>
              <a:t>I know why we are here and what we decide at the end.</a:t>
            </a:r>
            <a:endParaRPr lang="en-US" sz="1250" dirty="0"/>
          </a:p>
        </p:txBody>
      </p:sp>
      <p:sp>
        <p:nvSpPr>
          <p:cNvPr id="39" name="Shape 36"/>
          <p:cNvSpPr/>
          <p:nvPr/>
        </p:nvSpPr>
        <p:spPr>
          <a:xfrm>
            <a:off x="9006840" y="1417320"/>
            <a:ext cx="2633472" cy="4663440"/>
          </a:xfrm>
          <a:prstGeom prst="roundRect">
            <a:avLst>
              <a:gd name="adj" fmla="val 3472"/>
            </a:avLst>
          </a:prstGeom>
          <a:solidFill>
            <a:srgbClr val="EEF6F7"/>
          </a:solidFill>
          <a:ln/>
        </p:spPr>
      </p:sp>
      <p:pic>
        <p:nvPicPr>
          <p:cNvPr id="40" name="Image 1" descr="/private/tmp/claude-501/-Users-salehhamed-Outcome-Engine/91861432-41e2-4884-bc97-63c6dff2d021/scratchpad/wk/icons/TbStairsUp-teal.png">    </p:cNvPr>
          <p:cNvPicPr>
            <a:picLocks noChangeAspect="1"/>
          </p:cNvPicPr>
          <p:nvPr/>
        </p:nvPicPr>
        <p:blipFill>
          <a:blip r:embed="rId4"/>
          <a:stretch>
            <a:fillRect/>
          </a:stretch>
        </p:blipFill>
        <p:spPr>
          <a:xfrm>
            <a:off x="9235440" y="1645920"/>
            <a:ext cx="731520" cy="731520"/>
          </a:xfrm>
          <a:prstGeom prst="rect">
            <a:avLst/>
          </a:prstGeom>
        </p:spPr>
      </p:pic>
      <p:sp>
        <p:nvSpPr>
          <p:cNvPr id="41" name="Text 37"/>
          <p:cNvSpPr txBox="1"/>
          <p:nvPr/>
        </p:nvSpPr>
        <p:spPr>
          <a:xfrm>
            <a:off x="9235440" y="2514600"/>
            <a:ext cx="2240280" cy="1280160"/>
          </a:xfrm>
          <a:prstGeom prst="rect">
            <a:avLst/>
          </a:prstGeom>
          <a:noFill/>
          <a:ln/>
        </p:spPr>
        <p:txBody>
          <a:bodyPr wrap="square" lIns="0" tIns="0" rIns="0" bIns="0" rtlCol="0" anchor="t"/>
          <a:lstStyle/>
          <a:p>
            <a:pPr indent="0" marL="0">
              <a:buNone/>
            </a:pPr>
            <a:r>
              <a:rPr lang="en-US" sz="1600" b="1" dirty="0">
                <a:solidFill>
                  <a:srgbClr val="1F2A33"/>
                </a:solidFill>
                <a:latin typeface="Arial" pitchFamily="34" charset="0"/>
                <a:ea typeface="Arial" pitchFamily="34" charset="-122"/>
                <a:cs typeface="Arial" pitchFamily="34" charset="-120"/>
              </a:rPr>
              <a:t>Put a dot on the step you honestly reached.</a:t>
            </a:r>
            <a:endParaRPr lang="en-US" sz="1600" dirty="0"/>
          </a:p>
        </p:txBody>
      </p:sp>
      <p:sp>
        <p:nvSpPr>
          <p:cNvPr id="42" name="Text 38"/>
          <p:cNvSpPr txBox="1"/>
          <p:nvPr/>
        </p:nvSpPr>
        <p:spPr>
          <a:xfrm>
            <a:off x="9235440" y="3886200"/>
            <a:ext cx="2240280" cy="2011680"/>
          </a:xfrm>
          <a:prstGeom prst="rect">
            <a:avLst/>
          </a:prstGeom>
          <a:noFill/>
          <a:ln/>
        </p:spPr>
        <p:txBody>
          <a:bodyPr wrap="square" lIns="0" tIns="0" rIns="0" bIns="0" rtlCol="0" anchor="t"/>
          <a:lstStyle/>
          <a:p>
            <a:pPr indent="0" marL="0">
              <a:buNone/>
            </a:pPr>
            <a:r>
              <a:rPr lang="en-US" sz="1300" dirty="0">
                <a:solidFill>
                  <a:srgbClr val="5A5A5A"/>
                </a:solidFill>
                <a:latin typeface="Arial" pitchFamily="34" charset="0"/>
                <a:ea typeface="Arial" pitchFamily="34" charset="-122"/>
                <a:cs typeface="Arial" pitchFamily="34" charset="-120"/>
              </a:rPr>
              <a:t>The red step is where we aimed. Low dots tell us what to follow up after the workshop.</a:t>
            </a:r>
            <a:endParaRPr lang="en-US" sz="130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show="0">
  <p:cSld name="Slide 20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CLOSE: MAKE THE DECISION</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Three ways to run this session</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16:15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205</a:t>
            </a:r>
            <a:endParaRPr lang="en-US" sz="1000" dirty="0"/>
          </a:p>
        </p:txBody>
      </p:sp>
      <p:sp>
        <p:nvSpPr>
          <p:cNvPr id="7" name="Shape 4"/>
          <p:cNvSpPr/>
          <p:nvPr/>
        </p:nvSpPr>
        <p:spPr>
          <a:xfrm>
            <a:off x="548640" y="1463040"/>
            <a:ext cx="3566160" cy="4663440"/>
          </a:xfrm>
          <a:prstGeom prst="roundRect">
            <a:avLst>
              <a:gd name="adj" fmla="val 2051"/>
            </a:avLst>
          </a:prstGeom>
          <a:solidFill>
            <a:srgbClr val="FFFFFF"/>
          </a:solidFill>
          <a:ln w="12700">
            <a:solidFill>
              <a:srgbClr val="D9DEE2"/>
            </a:solidFill>
            <a:prstDash val="solid"/>
          </a:ln>
        </p:spPr>
      </p:sp>
      <p:sp>
        <p:nvSpPr>
          <p:cNvPr id="8" name="Shape 5"/>
          <p:cNvSpPr/>
          <p:nvPr/>
        </p:nvSpPr>
        <p:spPr>
          <a:xfrm>
            <a:off x="548640" y="1463040"/>
            <a:ext cx="3566160" cy="566928"/>
          </a:xfrm>
          <a:prstGeom prst="roundRect">
            <a:avLst>
              <a:gd name="adj" fmla="val 12903"/>
            </a:avLst>
          </a:prstGeom>
          <a:solidFill>
            <a:srgbClr val="287079"/>
          </a:solidFill>
          <a:ln/>
        </p:spPr>
      </p:sp>
      <p:sp>
        <p:nvSpPr>
          <p:cNvPr id="9" name="Shape 6"/>
          <p:cNvSpPr/>
          <p:nvPr/>
        </p:nvSpPr>
        <p:spPr>
          <a:xfrm>
            <a:off x="548640" y="1828800"/>
            <a:ext cx="3566160" cy="201168"/>
          </a:xfrm>
          <a:prstGeom prst="rect">
            <a:avLst/>
          </a:prstGeom>
          <a:solidFill>
            <a:srgbClr val="287079"/>
          </a:solidFill>
          <a:ln/>
        </p:spPr>
      </p:sp>
      <p:pic>
        <p:nvPicPr>
          <p:cNvPr id="10" name="Image 1" descr="/private/tmp/claude-501/-Users-salehhamed-Outcome-Engine/91861432-41e2-4884-bc97-63c6dff2d021/scratchpad/wk/icons/TbHandClick-white.png">    </p:cNvPr>
          <p:cNvPicPr>
            <a:picLocks noChangeAspect="1"/>
          </p:cNvPicPr>
          <p:nvPr/>
        </p:nvPicPr>
        <p:blipFill>
          <a:blip r:embed="rId4"/>
          <a:stretch>
            <a:fillRect/>
          </a:stretch>
        </p:blipFill>
        <p:spPr>
          <a:xfrm>
            <a:off x="713232" y="1554480"/>
            <a:ext cx="384048" cy="384048"/>
          </a:xfrm>
          <a:prstGeom prst="rect">
            <a:avLst/>
          </a:prstGeom>
        </p:spPr>
      </p:pic>
      <p:sp>
        <p:nvSpPr>
          <p:cNvPr id="11" name="Text 7"/>
          <p:cNvSpPr txBox="1"/>
          <p:nvPr/>
        </p:nvSpPr>
        <p:spPr>
          <a:xfrm>
            <a:off x="120700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A · HANDS-ON</a:t>
            </a:r>
            <a:endParaRPr lang="en-US" sz="1150" dirty="0"/>
          </a:p>
        </p:txBody>
      </p:sp>
      <p:sp>
        <p:nvSpPr>
          <p:cNvPr id="12" name="Text 8"/>
          <p:cNvSpPr txBox="1"/>
          <p:nvPr/>
        </p:nvSpPr>
        <p:spPr>
          <a:xfrm>
            <a:off x="77724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Criteria wall</a:t>
            </a:r>
            <a:endParaRPr lang="en-US" sz="2100" dirty="0"/>
          </a:p>
        </p:txBody>
      </p:sp>
      <p:sp>
        <p:nvSpPr>
          <p:cNvPr id="13" name="Text 9"/>
          <p:cNvSpPr txBox="1"/>
          <p:nvPr/>
        </p:nvSpPr>
        <p:spPr>
          <a:xfrm>
            <a:off x="77724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Red, amber and green dots on each criterion; the sponsor reads the wall and decides.</a:t>
            </a:r>
            <a:endParaRPr lang="en-US" sz="1400" dirty="0"/>
          </a:p>
        </p:txBody>
      </p:sp>
      <p:pic>
        <p:nvPicPr>
          <p:cNvPr id="14" name="Image 2" descr="/private/tmp/claude-501/-Users-salehhamed-Outcome-Engine/91861432-41e2-4884-bc97-63c6dff2d021/scratchpad/wk/icons/TbClock-grey.png">    </p:cNvPr>
          <p:cNvPicPr>
            <a:picLocks noChangeAspect="1"/>
          </p:cNvPicPr>
          <p:nvPr/>
        </p:nvPicPr>
        <p:blipFill>
          <a:blip r:embed="rId5"/>
          <a:stretch>
            <a:fillRect/>
          </a:stretch>
        </p:blipFill>
        <p:spPr>
          <a:xfrm>
            <a:off x="777240" y="4297680"/>
            <a:ext cx="274320" cy="274320"/>
          </a:xfrm>
          <a:prstGeom prst="rect">
            <a:avLst/>
          </a:prstGeom>
        </p:spPr>
      </p:pic>
      <p:sp>
        <p:nvSpPr>
          <p:cNvPr id="15" name="Text 10"/>
          <p:cNvSpPr txBox="1"/>
          <p:nvPr/>
        </p:nvSpPr>
        <p:spPr>
          <a:xfrm>
            <a:off x="114300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25 min</a:t>
            </a:r>
            <a:endParaRPr lang="en-US" sz="1200" dirty="0"/>
          </a:p>
        </p:txBody>
      </p:sp>
      <p:pic>
        <p:nvPicPr>
          <p:cNvPr id="16" name="Image 3" descr="/private/tmp/claude-501/-Users-salehhamed-Outcome-Engine/91861432-41e2-4884-bc97-63c6dff2d021/scratchpad/wk/icons/TbUsers-grey.png">    </p:cNvPr>
          <p:cNvPicPr>
            <a:picLocks noChangeAspect="1"/>
          </p:cNvPicPr>
          <p:nvPr/>
        </p:nvPicPr>
        <p:blipFill>
          <a:blip r:embed="rId6"/>
          <a:stretch>
            <a:fillRect/>
          </a:stretch>
        </p:blipFill>
        <p:spPr>
          <a:xfrm>
            <a:off x="777240" y="4681728"/>
            <a:ext cx="274320" cy="274320"/>
          </a:xfrm>
          <a:prstGeom prst="rect">
            <a:avLst/>
          </a:prstGeom>
        </p:spPr>
      </p:pic>
      <p:sp>
        <p:nvSpPr>
          <p:cNvPr id="17" name="Text 11"/>
          <p:cNvSpPr txBox="1"/>
          <p:nvPr/>
        </p:nvSpPr>
        <p:spPr>
          <a:xfrm>
            <a:off x="114300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Each person, then the sponsor</a:t>
            </a:r>
            <a:endParaRPr lang="en-US" sz="1200" dirty="0"/>
          </a:p>
        </p:txBody>
      </p:sp>
      <p:pic>
        <p:nvPicPr>
          <p:cNvPr id="18" name="Image 4" descr="/private/tmp/claude-501/-Users-salehhamed-Outcome-Engine/91861432-41e2-4884-bc97-63c6dff2d021/scratchpad/wk/icons/TbGauge-grey.png">    </p:cNvPr>
          <p:cNvPicPr>
            <a:picLocks noChangeAspect="1"/>
          </p:cNvPicPr>
          <p:nvPr/>
        </p:nvPicPr>
        <p:blipFill>
          <a:blip r:embed="rId7"/>
          <a:stretch>
            <a:fillRect/>
          </a:stretch>
        </p:blipFill>
        <p:spPr>
          <a:xfrm>
            <a:off x="777240" y="5065776"/>
            <a:ext cx="274320" cy="274320"/>
          </a:xfrm>
          <a:prstGeom prst="rect">
            <a:avLst/>
          </a:prstGeom>
        </p:spPr>
      </p:pic>
      <p:sp>
        <p:nvSpPr>
          <p:cNvPr id="19" name="Text 12"/>
          <p:cNvSpPr txBox="1"/>
          <p:nvPr/>
        </p:nvSpPr>
        <p:spPr>
          <a:xfrm>
            <a:off x="114300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20" name="Text 13"/>
          <p:cNvSpPr txBox="1"/>
          <p:nvPr/>
        </p:nvSpPr>
        <p:spPr>
          <a:xfrm>
            <a:off x="77724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You want the sponsor to decide in front of the room.</a:t>
            </a:r>
            <a:endParaRPr lang="en-US" sz="1150" dirty="0"/>
          </a:p>
        </p:txBody>
      </p:sp>
      <p:pic>
        <p:nvPicPr>
          <p:cNvPr id="21" name="Image 5" descr="/private/tmp/claude-501/-Users-salehhamed-Outcome-Engine/91861432-41e2-4884-bc97-63c6dff2d021/scratchpad/wk/brand/clear.png">
            <a:hlinkClick r:id="rId9" tooltip="Option A" action="ppaction://hlinksldjump"/>
          </p:cNvPr>
          <p:cNvPicPr>
            <a:picLocks noChangeAspect="1"/>
          </p:cNvPicPr>
          <p:nvPr/>
        </p:nvPicPr>
        <p:blipFill>
          <a:blip r:embed="rId8"/>
          <a:stretch>
            <a:fillRect/>
          </a:stretch>
        </p:blipFill>
        <p:spPr>
          <a:xfrm>
            <a:off x="548640" y="1463040"/>
            <a:ext cx="3566160" cy="4663440"/>
          </a:xfrm>
          <a:prstGeom prst="rect">
            <a:avLst/>
          </a:prstGeom>
        </p:spPr>
      </p:pic>
      <p:sp>
        <p:nvSpPr>
          <p:cNvPr id="22" name="Shape 14"/>
          <p:cNvSpPr/>
          <p:nvPr/>
        </p:nvSpPr>
        <p:spPr>
          <a:xfrm>
            <a:off x="4297680" y="1463040"/>
            <a:ext cx="3566160" cy="4663440"/>
          </a:xfrm>
          <a:prstGeom prst="roundRect">
            <a:avLst>
              <a:gd name="adj" fmla="val 2051"/>
            </a:avLst>
          </a:prstGeom>
          <a:solidFill>
            <a:srgbClr val="FFFFFF"/>
          </a:solidFill>
          <a:ln w="12700">
            <a:solidFill>
              <a:srgbClr val="D9DEE2"/>
            </a:solidFill>
            <a:prstDash val="solid"/>
          </a:ln>
        </p:spPr>
      </p:sp>
      <p:sp>
        <p:nvSpPr>
          <p:cNvPr id="23" name="Shape 15"/>
          <p:cNvSpPr/>
          <p:nvPr/>
        </p:nvSpPr>
        <p:spPr>
          <a:xfrm>
            <a:off x="4297680" y="1463040"/>
            <a:ext cx="3566160" cy="566928"/>
          </a:xfrm>
          <a:prstGeom prst="roundRect">
            <a:avLst>
              <a:gd name="adj" fmla="val 12903"/>
            </a:avLst>
          </a:prstGeom>
          <a:solidFill>
            <a:srgbClr val="FF462D"/>
          </a:solidFill>
          <a:ln/>
        </p:spPr>
      </p:sp>
      <p:sp>
        <p:nvSpPr>
          <p:cNvPr id="24" name="Shape 16"/>
          <p:cNvSpPr/>
          <p:nvPr/>
        </p:nvSpPr>
        <p:spPr>
          <a:xfrm>
            <a:off x="4297680" y="1828800"/>
            <a:ext cx="3566160" cy="201168"/>
          </a:xfrm>
          <a:prstGeom prst="rect">
            <a:avLst/>
          </a:prstGeom>
          <a:solidFill>
            <a:srgbClr val="FF462D"/>
          </a:solidFill>
          <a:ln/>
        </p:spPr>
      </p:sp>
      <p:pic>
        <p:nvPicPr>
          <p:cNvPr id="25" name="Image 6" descr="/private/tmp/claude-501/-Users-salehhamed-Outcome-Engine/91861432-41e2-4884-bc97-63c6dff2d021/scratchpad/wk/icons/TbDeviceMobile-white.png">    </p:cNvPr>
          <p:cNvPicPr>
            <a:picLocks noChangeAspect="1"/>
          </p:cNvPicPr>
          <p:nvPr/>
        </p:nvPicPr>
        <p:blipFill>
          <a:blip r:embed="rId10"/>
          <a:stretch>
            <a:fillRect/>
          </a:stretch>
        </p:blipFill>
        <p:spPr>
          <a:xfrm>
            <a:off x="4462272" y="1554480"/>
            <a:ext cx="384048" cy="384048"/>
          </a:xfrm>
          <a:prstGeom prst="rect">
            <a:avLst/>
          </a:prstGeom>
        </p:spPr>
      </p:pic>
      <p:sp>
        <p:nvSpPr>
          <p:cNvPr id="26" name="Text 17"/>
          <p:cNvSpPr txBox="1"/>
          <p:nvPr/>
        </p:nvSpPr>
        <p:spPr>
          <a:xfrm>
            <a:off x="495604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B · LIVE VOTING</a:t>
            </a:r>
            <a:endParaRPr lang="en-US" sz="1150" dirty="0"/>
          </a:p>
        </p:txBody>
      </p:sp>
      <p:sp>
        <p:nvSpPr>
          <p:cNvPr id="27" name="Text 18"/>
          <p:cNvSpPr txBox="1"/>
          <p:nvPr/>
        </p:nvSpPr>
        <p:spPr>
          <a:xfrm>
            <a:off x="452628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Live criteria</a:t>
            </a:r>
            <a:endParaRPr lang="en-US" sz="2100" dirty="0"/>
          </a:p>
        </p:txBody>
      </p:sp>
      <p:sp>
        <p:nvSpPr>
          <p:cNvPr id="28" name="Text 19"/>
          <p:cNvSpPr txBox="1"/>
          <p:nvPr/>
        </p:nvSpPr>
        <p:spPr>
          <a:xfrm>
            <a:off x="452628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Phones rate each criterion; the sponsor decides with the room's view on screen.</a:t>
            </a:r>
            <a:endParaRPr lang="en-US" sz="1400" dirty="0"/>
          </a:p>
        </p:txBody>
      </p:sp>
      <p:pic>
        <p:nvPicPr>
          <p:cNvPr id="29" name="Image 7" descr="/private/tmp/claude-501/-Users-salehhamed-Outcome-Engine/91861432-41e2-4884-bc97-63c6dff2d021/scratchpad/wk/icons/TbClock-grey.png">    </p:cNvPr>
          <p:cNvPicPr>
            <a:picLocks noChangeAspect="1"/>
          </p:cNvPicPr>
          <p:nvPr/>
        </p:nvPicPr>
        <p:blipFill>
          <a:blip r:embed="rId11"/>
          <a:stretch>
            <a:fillRect/>
          </a:stretch>
        </p:blipFill>
        <p:spPr>
          <a:xfrm>
            <a:off x="4526280" y="4297680"/>
            <a:ext cx="274320" cy="274320"/>
          </a:xfrm>
          <a:prstGeom prst="rect">
            <a:avLst/>
          </a:prstGeom>
        </p:spPr>
      </p:pic>
      <p:sp>
        <p:nvSpPr>
          <p:cNvPr id="30" name="Text 20"/>
          <p:cNvSpPr txBox="1"/>
          <p:nvPr/>
        </p:nvSpPr>
        <p:spPr>
          <a:xfrm>
            <a:off x="489204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25 min</a:t>
            </a:r>
            <a:endParaRPr lang="en-US" sz="1200" dirty="0"/>
          </a:p>
        </p:txBody>
      </p:sp>
      <p:pic>
        <p:nvPicPr>
          <p:cNvPr id="31" name="Image 8" descr="/private/tmp/claude-501/-Users-salehhamed-Outcome-Engine/91861432-41e2-4884-bc97-63c6dff2d021/scratchpad/wk/icons/TbUsers-grey.png">    </p:cNvPr>
          <p:cNvPicPr>
            <a:picLocks noChangeAspect="1"/>
          </p:cNvPicPr>
          <p:nvPr/>
        </p:nvPicPr>
        <p:blipFill>
          <a:blip r:embed="rId12"/>
          <a:stretch>
            <a:fillRect/>
          </a:stretch>
        </p:blipFill>
        <p:spPr>
          <a:xfrm>
            <a:off x="4526280" y="4681728"/>
            <a:ext cx="274320" cy="274320"/>
          </a:xfrm>
          <a:prstGeom prst="rect">
            <a:avLst/>
          </a:prstGeom>
        </p:spPr>
      </p:pic>
      <p:sp>
        <p:nvSpPr>
          <p:cNvPr id="32" name="Text 21"/>
          <p:cNvSpPr txBox="1"/>
          <p:nvPr/>
        </p:nvSpPr>
        <p:spPr>
          <a:xfrm>
            <a:off x="489204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Each person, then the sponsor</a:t>
            </a:r>
            <a:endParaRPr lang="en-US" sz="1200" dirty="0"/>
          </a:p>
        </p:txBody>
      </p:sp>
      <p:pic>
        <p:nvPicPr>
          <p:cNvPr id="33" name="Image 9" descr="/private/tmp/claude-501/-Users-salehhamed-Outcome-Engine/91861432-41e2-4884-bc97-63c6dff2d021/scratchpad/wk/icons/TbGauge-grey.png">    </p:cNvPr>
          <p:cNvPicPr>
            <a:picLocks noChangeAspect="1"/>
          </p:cNvPicPr>
          <p:nvPr/>
        </p:nvPicPr>
        <p:blipFill>
          <a:blip r:embed="rId13"/>
          <a:stretch>
            <a:fillRect/>
          </a:stretch>
        </p:blipFill>
        <p:spPr>
          <a:xfrm>
            <a:off x="4526280" y="5065776"/>
            <a:ext cx="274320" cy="274320"/>
          </a:xfrm>
          <a:prstGeom prst="rect">
            <a:avLst/>
          </a:prstGeom>
        </p:spPr>
      </p:pic>
      <p:sp>
        <p:nvSpPr>
          <p:cNvPr id="34" name="Text 22"/>
          <p:cNvSpPr txBox="1"/>
          <p:nvPr/>
        </p:nvSpPr>
        <p:spPr>
          <a:xfrm>
            <a:off x="489204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Medium energy</a:t>
            </a:r>
            <a:endParaRPr lang="en-US" sz="1200" dirty="0"/>
          </a:p>
        </p:txBody>
      </p:sp>
      <p:sp>
        <p:nvSpPr>
          <p:cNvPr id="35" name="Text 23"/>
          <p:cNvSpPr txBox="1"/>
          <p:nvPr/>
        </p:nvSpPr>
        <p:spPr>
          <a:xfrm>
            <a:off x="452628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room tool is in use.</a:t>
            </a:r>
            <a:endParaRPr lang="en-US" sz="1150" dirty="0"/>
          </a:p>
        </p:txBody>
      </p:sp>
      <p:pic>
        <p:nvPicPr>
          <p:cNvPr id="36" name="Image 10" descr="/private/tmp/claude-501/-Users-salehhamed-Outcome-Engine/91861432-41e2-4884-bc97-63c6dff2d021/scratchpad/wk/brand/clear.png">
            <a:hlinkClick r:id="rId15" tooltip="Option B" action="ppaction://hlinksldjump"/>
          </p:cNvPr>
          <p:cNvPicPr>
            <a:picLocks noChangeAspect="1"/>
          </p:cNvPicPr>
          <p:nvPr/>
        </p:nvPicPr>
        <p:blipFill>
          <a:blip r:embed="rId14"/>
          <a:stretch>
            <a:fillRect/>
          </a:stretch>
        </p:blipFill>
        <p:spPr>
          <a:xfrm>
            <a:off x="4297680" y="1463040"/>
            <a:ext cx="3566160" cy="4663440"/>
          </a:xfrm>
          <a:prstGeom prst="rect">
            <a:avLst/>
          </a:prstGeom>
        </p:spPr>
      </p:pic>
      <p:sp>
        <p:nvSpPr>
          <p:cNvPr id="37" name="Shape 24"/>
          <p:cNvSpPr/>
          <p:nvPr/>
        </p:nvSpPr>
        <p:spPr>
          <a:xfrm>
            <a:off x="8046720" y="1463040"/>
            <a:ext cx="3566160" cy="4663440"/>
          </a:xfrm>
          <a:prstGeom prst="roundRect">
            <a:avLst>
              <a:gd name="adj" fmla="val 2051"/>
            </a:avLst>
          </a:prstGeom>
          <a:solidFill>
            <a:srgbClr val="FFFFFF"/>
          </a:solidFill>
          <a:ln w="12700">
            <a:solidFill>
              <a:srgbClr val="D9DEE2"/>
            </a:solidFill>
            <a:prstDash val="solid"/>
          </a:ln>
        </p:spPr>
      </p:sp>
      <p:sp>
        <p:nvSpPr>
          <p:cNvPr id="38" name="Shape 25"/>
          <p:cNvSpPr/>
          <p:nvPr/>
        </p:nvSpPr>
        <p:spPr>
          <a:xfrm>
            <a:off x="8046720" y="1463040"/>
            <a:ext cx="3566160" cy="566928"/>
          </a:xfrm>
          <a:prstGeom prst="roundRect">
            <a:avLst>
              <a:gd name="adj" fmla="val 12903"/>
            </a:avLst>
          </a:prstGeom>
          <a:solidFill>
            <a:srgbClr val="36454F"/>
          </a:solidFill>
          <a:ln/>
        </p:spPr>
      </p:sp>
      <p:sp>
        <p:nvSpPr>
          <p:cNvPr id="39" name="Shape 26"/>
          <p:cNvSpPr/>
          <p:nvPr/>
        </p:nvSpPr>
        <p:spPr>
          <a:xfrm>
            <a:off x="8046720" y="1828800"/>
            <a:ext cx="3566160" cy="201168"/>
          </a:xfrm>
          <a:prstGeom prst="rect">
            <a:avLst/>
          </a:prstGeom>
          <a:solidFill>
            <a:srgbClr val="36454F"/>
          </a:solidFill>
          <a:ln/>
        </p:spPr>
      </p:sp>
      <p:pic>
        <p:nvPicPr>
          <p:cNvPr id="40" name="Image 11" descr="/private/tmp/claude-501/-Users-salehhamed-Outcome-Engine/91861432-41e2-4884-bc97-63c6dff2d021/scratchpad/wk/icons/TbMasksTheater-white.png">    </p:cNvPr>
          <p:cNvPicPr>
            <a:picLocks noChangeAspect="1"/>
          </p:cNvPicPr>
          <p:nvPr/>
        </p:nvPicPr>
        <p:blipFill>
          <a:blip r:embed="rId16"/>
          <a:stretch>
            <a:fillRect/>
          </a:stretch>
        </p:blipFill>
        <p:spPr>
          <a:xfrm>
            <a:off x="8211312" y="1554480"/>
            <a:ext cx="384048" cy="384048"/>
          </a:xfrm>
          <a:prstGeom prst="rect">
            <a:avLst/>
          </a:prstGeom>
        </p:spPr>
      </p:pic>
      <p:sp>
        <p:nvSpPr>
          <p:cNvPr id="41" name="Text 27"/>
          <p:cNvSpPr txBox="1"/>
          <p:nvPr/>
        </p:nvSpPr>
        <p:spPr>
          <a:xfrm>
            <a:off x="8705088" y="1463040"/>
            <a:ext cx="2834640" cy="566928"/>
          </a:xfrm>
          <a:prstGeom prst="rect">
            <a:avLst/>
          </a:prstGeom>
          <a:noFill/>
          <a:ln/>
        </p:spPr>
        <p:txBody>
          <a:bodyPr wrap="square" lIns="0" tIns="0" rIns="0" bIns="0" rtlCol="0" anchor="ctr"/>
          <a:lstStyle/>
          <a:p>
            <a:pPr indent="0" marL="0">
              <a:buNone/>
            </a:pPr>
            <a:r>
              <a:rPr lang="en-US" sz="1150" b="1" spc="100" kern="0" dirty="0">
                <a:solidFill>
                  <a:srgbClr val="FFFFFF"/>
                </a:solidFill>
                <a:latin typeface="Arial" pitchFamily="34" charset="0"/>
                <a:ea typeface="Arial" pitchFamily="34" charset="-122"/>
                <a:cs typeface="Arial" pitchFamily="34" charset="-120"/>
              </a:rPr>
              <a:t>OPTION C · CASES AND CONVERSATION</a:t>
            </a:r>
            <a:endParaRPr lang="en-US" sz="1150" dirty="0"/>
          </a:p>
        </p:txBody>
      </p:sp>
      <p:sp>
        <p:nvSpPr>
          <p:cNvPr id="42" name="Text 28"/>
          <p:cNvSpPr txBox="1"/>
          <p:nvPr/>
        </p:nvSpPr>
        <p:spPr>
          <a:xfrm>
            <a:off x="8275320" y="2194560"/>
            <a:ext cx="3108960" cy="640080"/>
          </a:xfrm>
          <a:prstGeom prst="rect">
            <a:avLst/>
          </a:prstGeom>
          <a:noFill/>
          <a:ln/>
        </p:spPr>
        <p:txBody>
          <a:bodyPr wrap="square" lIns="0" tIns="0" rIns="0" bIns="0" rtlCol="0" anchor="ctr"/>
          <a:lstStyle/>
          <a:p>
            <a:pPr indent="0" marL="0">
              <a:buNone/>
            </a:pPr>
            <a:r>
              <a:rPr lang="en-US" sz="2100" b="1" dirty="0">
                <a:solidFill>
                  <a:srgbClr val="1F2A33"/>
                </a:solidFill>
                <a:latin typeface="Arial" pitchFamily="34" charset="0"/>
                <a:ea typeface="Arial" pitchFamily="34" charset="-122"/>
                <a:cs typeface="Arial" pitchFamily="34" charset="-120"/>
              </a:rPr>
              <a:t>Sponsor's letter</a:t>
            </a:r>
            <a:endParaRPr lang="en-US" sz="2100" dirty="0"/>
          </a:p>
        </p:txBody>
      </p:sp>
      <p:sp>
        <p:nvSpPr>
          <p:cNvPr id="43" name="Text 29"/>
          <p:cNvSpPr txBox="1"/>
          <p:nvPr/>
        </p:nvSpPr>
        <p:spPr>
          <a:xfrm>
            <a:off x="8275320" y="2880360"/>
            <a:ext cx="3108960" cy="132588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The sponsor dictates the decision record live; the room adds owners and dates.</a:t>
            </a:r>
            <a:endParaRPr lang="en-US" sz="1400" dirty="0"/>
          </a:p>
        </p:txBody>
      </p:sp>
      <p:pic>
        <p:nvPicPr>
          <p:cNvPr id="44" name="Image 12" descr="/private/tmp/claude-501/-Users-salehhamed-Outcome-Engine/91861432-41e2-4884-bc97-63c6dff2d021/scratchpad/wk/icons/TbClock-grey.png">    </p:cNvPr>
          <p:cNvPicPr>
            <a:picLocks noChangeAspect="1"/>
          </p:cNvPicPr>
          <p:nvPr/>
        </p:nvPicPr>
        <p:blipFill>
          <a:blip r:embed="rId17"/>
          <a:stretch>
            <a:fillRect/>
          </a:stretch>
        </p:blipFill>
        <p:spPr>
          <a:xfrm>
            <a:off x="8275320" y="4297680"/>
            <a:ext cx="274320" cy="274320"/>
          </a:xfrm>
          <a:prstGeom prst="rect">
            <a:avLst/>
          </a:prstGeom>
        </p:spPr>
      </p:pic>
      <p:sp>
        <p:nvSpPr>
          <p:cNvPr id="45" name="Text 30"/>
          <p:cNvSpPr txBox="1"/>
          <p:nvPr/>
        </p:nvSpPr>
        <p:spPr>
          <a:xfrm>
            <a:off x="8641080" y="4270248"/>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25 min</a:t>
            </a:r>
            <a:endParaRPr lang="en-US" sz="1200" dirty="0"/>
          </a:p>
        </p:txBody>
      </p:sp>
      <p:pic>
        <p:nvPicPr>
          <p:cNvPr id="46" name="Image 13" descr="/private/tmp/claude-501/-Users-salehhamed-Outcome-Engine/91861432-41e2-4884-bc97-63c6dff2d021/scratchpad/wk/icons/TbUsers-grey.png">    </p:cNvPr>
          <p:cNvPicPr>
            <a:picLocks noChangeAspect="1"/>
          </p:cNvPicPr>
          <p:nvPr/>
        </p:nvPicPr>
        <p:blipFill>
          <a:blip r:embed="rId18"/>
          <a:stretch>
            <a:fillRect/>
          </a:stretch>
        </p:blipFill>
        <p:spPr>
          <a:xfrm>
            <a:off x="8275320" y="4681728"/>
            <a:ext cx="274320" cy="274320"/>
          </a:xfrm>
          <a:prstGeom prst="rect">
            <a:avLst/>
          </a:prstGeom>
        </p:spPr>
      </p:pic>
      <p:sp>
        <p:nvSpPr>
          <p:cNvPr id="47" name="Text 31"/>
          <p:cNvSpPr txBox="1"/>
          <p:nvPr/>
        </p:nvSpPr>
        <p:spPr>
          <a:xfrm>
            <a:off x="8641080" y="4654296"/>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Sponsor and room</a:t>
            </a:r>
            <a:endParaRPr lang="en-US" sz="1200" dirty="0"/>
          </a:p>
        </p:txBody>
      </p:sp>
      <p:pic>
        <p:nvPicPr>
          <p:cNvPr id="48" name="Image 14" descr="/private/tmp/claude-501/-Users-salehhamed-Outcome-Engine/91861432-41e2-4884-bc97-63c6dff2d021/scratchpad/wk/icons/TbGauge-grey.png">    </p:cNvPr>
          <p:cNvPicPr>
            <a:picLocks noChangeAspect="1"/>
          </p:cNvPicPr>
          <p:nvPr/>
        </p:nvPicPr>
        <p:blipFill>
          <a:blip r:embed="rId19"/>
          <a:stretch>
            <a:fillRect/>
          </a:stretch>
        </p:blipFill>
        <p:spPr>
          <a:xfrm>
            <a:off x="8275320" y="5065776"/>
            <a:ext cx="274320" cy="274320"/>
          </a:xfrm>
          <a:prstGeom prst="rect">
            <a:avLst/>
          </a:prstGeom>
        </p:spPr>
      </p:pic>
      <p:sp>
        <p:nvSpPr>
          <p:cNvPr id="49" name="Text 32"/>
          <p:cNvSpPr txBox="1"/>
          <p:nvPr/>
        </p:nvSpPr>
        <p:spPr>
          <a:xfrm>
            <a:off x="8641080" y="5038344"/>
            <a:ext cx="2743200" cy="329184"/>
          </a:xfrm>
          <a:prstGeom prst="rect">
            <a:avLst/>
          </a:prstGeom>
          <a:noFill/>
          <a:ln/>
        </p:spPr>
        <p:txBody>
          <a:bodyPr wrap="square" lIns="0" tIns="0" rIns="0" bIns="0" rtlCol="0" anchor="ctr"/>
          <a:lstStyle/>
          <a:p>
            <a:pPr indent="0" marL="0">
              <a:buNone/>
            </a:pPr>
            <a:r>
              <a:rPr lang="en-US" sz="1200" dirty="0">
                <a:solidFill>
                  <a:srgbClr val="5A5A5A"/>
                </a:solidFill>
                <a:latin typeface="Arial" pitchFamily="34" charset="0"/>
                <a:ea typeface="Arial" pitchFamily="34" charset="-122"/>
                <a:cs typeface="Arial" pitchFamily="34" charset="-120"/>
              </a:rPr>
              <a:t>Calm energy</a:t>
            </a:r>
            <a:endParaRPr lang="en-US" sz="1200" dirty="0"/>
          </a:p>
        </p:txBody>
      </p:sp>
      <p:sp>
        <p:nvSpPr>
          <p:cNvPr id="50" name="Text 33"/>
          <p:cNvSpPr txBox="1"/>
          <p:nvPr/>
        </p:nvSpPr>
        <p:spPr>
          <a:xfrm>
            <a:off x="8275320" y="5440680"/>
            <a:ext cx="3108960" cy="594360"/>
          </a:xfrm>
          <a:prstGeom prst="rect">
            <a:avLst/>
          </a:prstGeom>
          <a:noFill/>
          <a:ln/>
        </p:spPr>
        <p:txBody>
          <a:bodyPr wrap="square" lIns="0" tIns="0" rIns="0" bIns="0" rtlCol="0" anchor="t"/>
          <a:lstStyle/>
          <a:p>
            <a:pPr indent="0" marL="0">
              <a:buNone/>
            </a:pPr>
            <a:r>
              <a:rPr lang="en-US" sz="1150" i="1" dirty="0">
                <a:solidFill>
                  <a:srgbClr val="5A5A5A"/>
                </a:solidFill>
                <a:latin typeface="Arial" pitchFamily="34" charset="0"/>
                <a:ea typeface="Arial" pitchFamily="34" charset="-122"/>
                <a:cs typeface="Arial" pitchFamily="34" charset="-120"/>
              </a:rPr>
              <a:t>Best when: The sponsor prefers to talk it through.</a:t>
            </a:r>
            <a:endParaRPr lang="en-US" sz="1150" dirty="0"/>
          </a:p>
        </p:txBody>
      </p:sp>
      <p:pic>
        <p:nvPicPr>
          <p:cNvPr id="51" name="Image 15" descr="/private/tmp/claude-501/-Users-salehhamed-Outcome-Engine/91861432-41e2-4884-bc97-63c6dff2d021/scratchpad/wk/brand/clear.png">
            <a:hlinkClick r:id="rId21" tooltip="Option C" action="ppaction://hlinksldjump"/>
          </p:cNvPr>
          <p:cNvPicPr>
            <a:picLocks noChangeAspect="1"/>
          </p:cNvPicPr>
          <p:nvPr/>
        </p:nvPicPr>
        <p:blipFill>
          <a:blip r:embed="rId20"/>
          <a:stretch>
            <a:fillRect/>
          </a:stretch>
        </p:blipFill>
        <p:spPr>
          <a:xfrm>
            <a:off x="8046720" y="1463040"/>
            <a:ext cx="3566160" cy="4663440"/>
          </a:xfrm>
          <a:prstGeom prst="rect">
            <a:avLst/>
          </a:prstGeom>
        </p:spPr>
      </p:pic>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OPTION A · HANDS-ON · THE DECISION</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Criteria wall</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16:15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206</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Red, amber and green dots on each criterion; the sponsor reads the wall and decides.</a:t>
            </a:r>
            <a:endParaRPr lang="en-US" sz="1900" dirty="0"/>
          </a:p>
        </p:txBody>
      </p:sp>
      <p:sp>
        <p:nvSpPr>
          <p:cNvPr id="8" name="Shape 5"/>
          <p:cNvSpPr/>
          <p:nvPr/>
        </p:nvSpPr>
        <p:spPr>
          <a:xfrm>
            <a:off x="548640" y="2240280"/>
            <a:ext cx="3513637" cy="1417320"/>
          </a:xfrm>
          <a:prstGeom prst="rect">
            <a:avLst/>
          </a:prstGeom>
          <a:solidFill>
            <a:srgbClr val="287079"/>
          </a:solidFill>
          <a:ln/>
        </p:spPr>
      </p:sp>
      <p:sp>
        <p:nvSpPr>
          <p:cNvPr id="9" name="Text 6"/>
          <p:cNvSpPr txBox="1"/>
          <p:nvPr/>
        </p:nvSpPr>
        <p:spPr>
          <a:xfrm>
            <a:off x="640080" y="2331720"/>
            <a:ext cx="336733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8 min</a:t>
            </a:r>
            <a:endParaRPr lang="en-US" sz="1150" dirty="0"/>
          </a:p>
        </p:txBody>
      </p:sp>
      <p:sp>
        <p:nvSpPr>
          <p:cNvPr id="10" name="Text 7"/>
          <p:cNvSpPr txBox="1"/>
          <p:nvPr/>
        </p:nvSpPr>
        <p:spPr>
          <a:xfrm>
            <a:off x="640080" y="2651760"/>
            <a:ext cx="3403909"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Dots on criteria</a:t>
            </a:r>
            <a:endParaRPr lang="en-US" sz="1500" dirty="0"/>
          </a:p>
        </p:txBody>
      </p:sp>
      <p:sp>
        <p:nvSpPr>
          <p:cNvPr id="11" name="Shape 8"/>
          <p:cNvSpPr/>
          <p:nvPr/>
        </p:nvSpPr>
        <p:spPr>
          <a:xfrm>
            <a:off x="4098853" y="2240280"/>
            <a:ext cx="4401190" cy="1417320"/>
          </a:xfrm>
          <a:prstGeom prst="rect">
            <a:avLst/>
          </a:prstGeom>
          <a:solidFill>
            <a:srgbClr val="5C8F95"/>
          </a:solidFill>
          <a:ln/>
        </p:spPr>
      </p:sp>
      <p:sp>
        <p:nvSpPr>
          <p:cNvPr id="12" name="Text 9"/>
          <p:cNvSpPr txBox="1"/>
          <p:nvPr/>
        </p:nvSpPr>
        <p:spPr>
          <a:xfrm>
            <a:off x="4190293" y="2331720"/>
            <a:ext cx="4254886"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3" name="Text 10"/>
          <p:cNvSpPr txBox="1"/>
          <p:nvPr/>
        </p:nvSpPr>
        <p:spPr>
          <a:xfrm>
            <a:off x="4190293" y="2651760"/>
            <a:ext cx="4291462"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The decision</a:t>
            </a:r>
            <a:endParaRPr lang="en-US" sz="1500" dirty="0"/>
          </a:p>
        </p:txBody>
      </p:sp>
      <p:sp>
        <p:nvSpPr>
          <p:cNvPr id="14" name="Shape 11"/>
          <p:cNvSpPr/>
          <p:nvPr/>
        </p:nvSpPr>
        <p:spPr>
          <a:xfrm>
            <a:off x="8536619" y="2240280"/>
            <a:ext cx="1294754" cy="1417320"/>
          </a:xfrm>
          <a:prstGeom prst="rect">
            <a:avLst/>
          </a:prstGeom>
          <a:solidFill>
            <a:srgbClr val="287079"/>
          </a:solidFill>
          <a:ln/>
        </p:spPr>
      </p:sp>
      <p:sp>
        <p:nvSpPr>
          <p:cNvPr id="15" name="Text 12"/>
          <p:cNvSpPr txBox="1"/>
          <p:nvPr/>
        </p:nvSpPr>
        <p:spPr>
          <a:xfrm>
            <a:off x="8628059" y="2331720"/>
            <a:ext cx="1148450"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 min</a:t>
            </a:r>
            <a:endParaRPr lang="en-US" sz="1150" dirty="0"/>
          </a:p>
        </p:txBody>
      </p:sp>
      <p:sp>
        <p:nvSpPr>
          <p:cNvPr id="16" name="Text 13"/>
          <p:cNvSpPr txBox="1"/>
          <p:nvPr/>
        </p:nvSpPr>
        <p:spPr>
          <a:xfrm>
            <a:off x="8628059" y="2651760"/>
            <a:ext cx="1185026" cy="91440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Ladder</a:t>
            </a:r>
            <a:endParaRPr lang="en-US" sz="1200" dirty="0"/>
          </a:p>
        </p:txBody>
      </p:sp>
      <p:sp>
        <p:nvSpPr>
          <p:cNvPr id="17" name="Shape 14"/>
          <p:cNvSpPr/>
          <p:nvPr/>
        </p:nvSpPr>
        <p:spPr>
          <a:xfrm>
            <a:off x="9867949" y="2240280"/>
            <a:ext cx="1738530" cy="1417320"/>
          </a:xfrm>
          <a:prstGeom prst="rect">
            <a:avLst/>
          </a:prstGeom>
          <a:solidFill>
            <a:srgbClr val="5C8F95"/>
          </a:solidFill>
          <a:ln/>
        </p:spPr>
      </p:sp>
      <p:sp>
        <p:nvSpPr>
          <p:cNvPr id="18" name="Text 15"/>
          <p:cNvSpPr txBox="1"/>
          <p:nvPr/>
        </p:nvSpPr>
        <p:spPr>
          <a:xfrm>
            <a:off x="9959389" y="2331720"/>
            <a:ext cx="1592226"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4 min</a:t>
            </a:r>
            <a:endParaRPr lang="en-US" sz="1150" dirty="0"/>
          </a:p>
        </p:txBody>
      </p:sp>
      <p:sp>
        <p:nvSpPr>
          <p:cNvPr id="19" name="Text 16"/>
          <p:cNvSpPr txBox="1"/>
          <p:nvPr/>
        </p:nvSpPr>
        <p:spPr>
          <a:xfrm>
            <a:off x="9959389" y="2651760"/>
            <a:ext cx="1628802"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Thank you</a:t>
            </a:r>
            <a:endParaRPr lang="en-US" sz="1500" dirty="0"/>
          </a:p>
        </p:txBody>
      </p:sp>
      <p:sp>
        <p:nvSpPr>
          <p:cNvPr id="20" name="Shape 17"/>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1"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2" name="Text 18"/>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3" name="Text 19"/>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Each person, then the sponsor</a:t>
            </a:r>
            <a:endParaRPr lang="en-US" sz="1300" dirty="0"/>
          </a:p>
        </p:txBody>
      </p:sp>
      <p:sp>
        <p:nvSpPr>
          <p:cNvPr id="24" name="Shape 20"/>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5"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6" name="Text 21"/>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7" name="Text 22"/>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The decision record, and the ladder dots.</a:t>
            </a:r>
            <a:endParaRPr lang="en-US" sz="1300" dirty="0"/>
          </a:p>
        </p:txBody>
      </p:sp>
      <p:sp>
        <p:nvSpPr>
          <p:cNvPr id="28" name="Shape 23"/>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9"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30" name="Text 24"/>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31" name="Text 25"/>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show="0">
  <p:cSld name="Slide 20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FF462D"/>
                </a:solidFill>
                <a:latin typeface="Arial" pitchFamily="34" charset="0"/>
                <a:ea typeface="Arial" pitchFamily="34" charset="-122"/>
                <a:cs typeface="Arial" pitchFamily="34" charset="-120"/>
              </a:rPr>
              <a:t>OPTION B · LIVE VOTING · THE DECISION</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Live criteria</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16:15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207</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Phones rate each criterion; the sponsor decides with the room's view on screen.</a:t>
            </a:r>
            <a:endParaRPr lang="en-US" sz="1900" dirty="0"/>
          </a:p>
        </p:txBody>
      </p:sp>
      <p:sp>
        <p:nvSpPr>
          <p:cNvPr id="8" name="Shape 5"/>
          <p:cNvSpPr/>
          <p:nvPr/>
        </p:nvSpPr>
        <p:spPr>
          <a:xfrm>
            <a:off x="548640" y="2240280"/>
            <a:ext cx="3513637" cy="1417320"/>
          </a:xfrm>
          <a:prstGeom prst="rect">
            <a:avLst/>
          </a:prstGeom>
          <a:solidFill>
            <a:srgbClr val="FF462D"/>
          </a:solidFill>
          <a:ln/>
        </p:spPr>
      </p:sp>
      <p:sp>
        <p:nvSpPr>
          <p:cNvPr id="9" name="Text 6"/>
          <p:cNvSpPr txBox="1"/>
          <p:nvPr/>
        </p:nvSpPr>
        <p:spPr>
          <a:xfrm>
            <a:off x="640080" y="2331720"/>
            <a:ext cx="336733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8 min</a:t>
            </a:r>
            <a:endParaRPr lang="en-US" sz="1150" dirty="0"/>
          </a:p>
        </p:txBody>
      </p:sp>
      <p:sp>
        <p:nvSpPr>
          <p:cNvPr id="10" name="Text 7"/>
          <p:cNvSpPr txBox="1"/>
          <p:nvPr/>
        </p:nvSpPr>
        <p:spPr>
          <a:xfrm>
            <a:off x="640080" y="2651760"/>
            <a:ext cx="3403909"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Rate the criteria</a:t>
            </a:r>
            <a:endParaRPr lang="en-US" sz="1500" dirty="0"/>
          </a:p>
        </p:txBody>
      </p:sp>
      <p:sp>
        <p:nvSpPr>
          <p:cNvPr id="11" name="Shape 8"/>
          <p:cNvSpPr/>
          <p:nvPr/>
        </p:nvSpPr>
        <p:spPr>
          <a:xfrm>
            <a:off x="4098853" y="2240280"/>
            <a:ext cx="4401190" cy="1417320"/>
          </a:xfrm>
          <a:prstGeom prst="rect">
            <a:avLst/>
          </a:prstGeom>
          <a:solidFill>
            <a:srgbClr val="FF8A78"/>
          </a:solidFill>
          <a:ln/>
        </p:spPr>
      </p:sp>
      <p:sp>
        <p:nvSpPr>
          <p:cNvPr id="12" name="Text 9"/>
          <p:cNvSpPr txBox="1"/>
          <p:nvPr/>
        </p:nvSpPr>
        <p:spPr>
          <a:xfrm>
            <a:off x="4190293" y="2331720"/>
            <a:ext cx="4254886"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10 min</a:t>
            </a:r>
            <a:endParaRPr lang="en-US" sz="1150" dirty="0"/>
          </a:p>
        </p:txBody>
      </p:sp>
      <p:sp>
        <p:nvSpPr>
          <p:cNvPr id="13" name="Text 10"/>
          <p:cNvSpPr txBox="1"/>
          <p:nvPr/>
        </p:nvSpPr>
        <p:spPr>
          <a:xfrm>
            <a:off x="4190293" y="2651760"/>
            <a:ext cx="4291462"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The decision</a:t>
            </a:r>
            <a:endParaRPr lang="en-US" sz="1500" dirty="0"/>
          </a:p>
        </p:txBody>
      </p:sp>
      <p:sp>
        <p:nvSpPr>
          <p:cNvPr id="14" name="Shape 11"/>
          <p:cNvSpPr/>
          <p:nvPr/>
        </p:nvSpPr>
        <p:spPr>
          <a:xfrm>
            <a:off x="8536619" y="2240280"/>
            <a:ext cx="1294754" cy="1417320"/>
          </a:xfrm>
          <a:prstGeom prst="rect">
            <a:avLst/>
          </a:prstGeom>
          <a:solidFill>
            <a:srgbClr val="FF462D"/>
          </a:solidFill>
          <a:ln/>
        </p:spPr>
      </p:sp>
      <p:sp>
        <p:nvSpPr>
          <p:cNvPr id="15" name="Text 12"/>
          <p:cNvSpPr txBox="1"/>
          <p:nvPr/>
        </p:nvSpPr>
        <p:spPr>
          <a:xfrm>
            <a:off x="8628059" y="2331720"/>
            <a:ext cx="1148450"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 min</a:t>
            </a:r>
            <a:endParaRPr lang="en-US" sz="1150" dirty="0"/>
          </a:p>
        </p:txBody>
      </p:sp>
      <p:sp>
        <p:nvSpPr>
          <p:cNvPr id="16" name="Text 13"/>
          <p:cNvSpPr txBox="1"/>
          <p:nvPr/>
        </p:nvSpPr>
        <p:spPr>
          <a:xfrm>
            <a:off x="8628059" y="2651760"/>
            <a:ext cx="1185026" cy="91440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Ladder</a:t>
            </a:r>
            <a:endParaRPr lang="en-US" sz="1200" dirty="0"/>
          </a:p>
        </p:txBody>
      </p:sp>
      <p:sp>
        <p:nvSpPr>
          <p:cNvPr id="17" name="Shape 14"/>
          <p:cNvSpPr/>
          <p:nvPr/>
        </p:nvSpPr>
        <p:spPr>
          <a:xfrm>
            <a:off x="9867949" y="2240280"/>
            <a:ext cx="1738530" cy="1417320"/>
          </a:xfrm>
          <a:prstGeom prst="rect">
            <a:avLst/>
          </a:prstGeom>
          <a:solidFill>
            <a:srgbClr val="FF8A78"/>
          </a:solidFill>
          <a:ln/>
        </p:spPr>
      </p:sp>
      <p:sp>
        <p:nvSpPr>
          <p:cNvPr id="18" name="Text 15"/>
          <p:cNvSpPr txBox="1"/>
          <p:nvPr/>
        </p:nvSpPr>
        <p:spPr>
          <a:xfrm>
            <a:off x="9959389" y="2331720"/>
            <a:ext cx="1592226"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4 min</a:t>
            </a:r>
            <a:endParaRPr lang="en-US" sz="1150" dirty="0"/>
          </a:p>
        </p:txBody>
      </p:sp>
      <p:sp>
        <p:nvSpPr>
          <p:cNvPr id="19" name="Text 16"/>
          <p:cNvSpPr txBox="1"/>
          <p:nvPr/>
        </p:nvSpPr>
        <p:spPr>
          <a:xfrm>
            <a:off x="9959389" y="2651760"/>
            <a:ext cx="1628802"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Thank you</a:t>
            </a:r>
            <a:endParaRPr lang="en-US" sz="1500" dirty="0"/>
          </a:p>
        </p:txBody>
      </p:sp>
      <p:sp>
        <p:nvSpPr>
          <p:cNvPr id="20" name="Shape 17"/>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1"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2" name="Text 18"/>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3" name="Text 19"/>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Each person, then the sponsor</a:t>
            </a:r>
            <a:endParaRPr lang="en-US" sz="1300" dirty="0"/>
          </a:p>
        </p:txBody>
      </p:sp>
      <p:sp>
        <p:nvSpPr>
          <p:cNvPr id="24" name="Shape 20"/>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5"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6" name="Text 21"/>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7" name="Text 22"/>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Ratings, ladder answers and the decision, exported.</a:t>
            </a:r>
            <a:endParaRPr lang="en-US" sz="1300" dirty="0"/>
          </a:p>
        </p:txBody>
      </p:sp>
      <p:sp>
        <p:nvSpPr>
          <p:cNvPr id="28" name="Shape 23"/>
          <p:cNvSpPr/>
          <p:nvPr/>
        </p:nvSpPr>
        <p:spPr>
          <a:xfrm>
            <a:off x="8046720" y="3977640"/>
            <a:ext cx="3566160" cy="2057400"/>
          </a:xfrm>
          <a:prstGeom prst="roundRect">
            <a:avLst>
              <a:gd name="adj" fmla="val 3556"/>
            </a:avLst>
          </a:prstGeom>
          <a:solidFill>
            <a:srgbClr val="FFF0EC"/>
          </a:solidFill>
          <a:ln w="12700">
            <a:solidFill>
              <a:srgbClr val="FF462D"/>
            </a:solidFill>
            <a:prstDash val="solid"/>
          </a:ln>
        </p:spPr>
      </p:sp>
      <p:pic>
        <p:nvPicPr>
          <p:cNvPr id="29" name="Image 3" descr="/private/tmp/claude-501/-Users-salehhamed-Outcome-Engine/91861432-41e2-4884-bc97-63c6dff2d021/scratchpad/wk/icons/TbQrcode-red.png">    </p:cNvPr>
          <p:cNvPicPr>
            <a:picLocks noChangeAspect="1"/>
          </p:cNvPicPr>
          <p:nvPr/>
        </p:nvPicPr>
        <p:blipFill>
          <a:blip r:embed="rId6"/>
          <a:stretch>
            <a:fillRect/>
          </a:stretch>
        </p:blipFill>
        <p:spPr>
          <a:xfrm>
            <a:off x="8229600" y="4160520"/>
            <a:ext cx="457200" cy="457200"/>
          </a:xfrm>
          <a:prstGeom prst="rect">
            <a:avLst/>
          </a:prstGeom>
        </p:spPr>
      </p:pic>
      <p:sp>
        <p:nvSpPr>
          <p:cNvPr id="30" name="Text 24"/>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Join on your phone</a:t>
            </a:r>
            <a:endParaRPr lang="en-US" sz="1500" dirty="0"/>
          </a:p>
        </p:txBody>
      </p:sp>
      <p:sp>
        <p:nvSpPr>
          <p:cNvPr id="31" name="Text 25"/>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Scan the code on the room screen. No phone? Paper cards on your table.</a:t>
            </a:r>
            <a:endParaRPr lang="en-US" sz="130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show="0">
  <p:cSld name="Slide 20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36454F"/>
                </a:solidFill>
                <a:latin typeface="Arial" pitchFamily="34" charset="0"/>
                <a:ea typeface="Arial" pitchFamily="34" charset="-122"/>
                <a:cs typeface="Arial" pitchFamily="34" charset="-120"/>
              </a:rPr>
              <a:t>OPTION C · CASES AND CONVERSATION · THE DECISION</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Sponsor's letter</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 · Day 2 · 16:15</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1F2A33"/>
                </a:solidFill>
                <a:latin typeface="Arial" pitchFamily="34" charset="0"/>
                <a:ea typeface="Arial" pitchFamily="34" charset="-122"/>
                <a:cs typeface="Arial" pitchFamily="34" charset="-120"/>
              </a:rPr>
              <a:t>   </a:t>
            </a:r>
            <a:pPr algn="r" indent="0" marL="0">
              <a:buNone/>
            </a:pPr>
            <a:r>
              <a:rPr lang="en-US" sz="1000" b="1" u="sng" dirty="0">
                <a:solidFill>
                  <a:srgbClr val="287079"/>
                </a:solidFill>
                <a:latin typeface="Arial" pitchFamily="34" charset="0"/>
                <a:ea typeface="Arial" pitchFamily="34" charset="-122"/>
                <a:cs typeface="Arial" pitchFamily="34" charset="-120"/>
                <a:hlinkClick r:id="rId3" action="ppaction://hlinksldjump" tooltip="Back to the options">
                  <a:extLst>
                    <a:ext uri="{A12FA001-AC4F-418D-AE19-62706E023703}">
                      <ahyp:hlinkClr xmlns:ahyp="http://schemas.microsoft.com/office/drawing/2018/hyperlinkcolor" val="tx"/>
                    </a:ext>
                  </a:extLst>
                </a:hlinkClick>
              </a:rPr>
              <a:t>Options</a:t>
            </a:r>
            <a:pPr algn="r" indent="0" marL="0">
              <a:buNone/>
            </a:pPr>
            <a:r>
              <a:rPr lang="en-US" sz="1000" b="1" dirty="0">
                <a:solidFill>
                  <a:srgbClr val="8A94A4"/>
                </a:solidFill>
                <a:latin typeface="Arial" pitchFamily="34" charset="0"/>
                <a:ea typeface="Arial" pitchFamily="34" charset="-122"/>
                <a:cs typeface="Arial" pitchFamily="34" charset="-120"/>
              </a:rPr>
              <a:t>   208</a:t>
            </a:r>
            <a:endParaRPr lang="en-US" sz="1000" dirty="0"/>
          </a:p>
        </p:txBody>
      </p:sp>
      <p:sp>
        <p:nvSpPr>
          <p:cNvPr id="7" name="Text 4"/>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900" dirty="0">
                <a:solidFill>
                  <a:srgbClr val="1F2A33"/>
                </a:solidFill>
                <a:latin typeface="Arial" pitchFamily="34" charset="0"/>
                <a:ea typeface="Arial" pitchFamily="34" charset="-122"/>
                <a:cs typeface="Arial" pitchFamily="34" charset="-120"/>
              </a:rPr>
              <a:t>The sponsor dictates the decision record live; the room adds owners and dates.</a:t>
            </a:r>
            <a:endParaRPr lang="en-US" sz="1900" dirty="0"/>
          </a:p>
        </p:txBody>
      </p:sp>
      <p:sp>
        <p:nvSpPr>
          <p:cNvPr id="8" name="Shape 5"/>
          <p:cNvSpPr/>
          <p:nvPr/>
        </p:nvSpPr>
        <p:spPr>
          <a:xfrm>
            <a:off x="548640" y="2240280"/>
            <a:ext cx="2182307" cy="1417320"/>
          </a:xfrm>
          <a:prstGeom prst="rect">
            <a:avLst/>
          </a:prstGeom>
          <a:solidFill>
            <a:srgbClr val="36454F"/>
          </a:solidFill>
          <a:ln/>
        </p:spPr>
      </p:sp>
      <p:sp>
        <p:nvSpPr>
          <p:cNvPr id="9" name="Text 6"/>
          <p:cNvSpPr txBox="1"/>
          <p:nvPr/>
        </p:nvSpPr>
        <p:spPr>
          <a:xfrm>
            <a:off x="640080" y="2331720"/>
            <a:ext cx="2036003"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5 min</a:t>
            </a:r>
            <a:endParaRPr lang="en-US" sz="1150" dirty="0"/>
          </a:p>
        </p:txBody>
      </p:sp>
      <p:sp>
        <p:nvSpPr>
          <p:cNvPr id="10" name="Text 7"/>
          <p:cNvSpPr txBox="1"/>
          <p:nvPr/>
        </p:nvSpPr>
        <p:spPr>
          <a:xfrm>
            <a:off x="640080" y="2651760"/>
            <a:ext cx="2072579"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The criteria</a:t>
            </a:r>
            <a:endParaRPr lang="en-US" sz="1500" dirty="0"/>
          </a:p>
        </p:txBody>
      </p:sp>
      <p:sp>
        <p:nvSpPr>
          <p:cNvPr id="11" name="Shape 8"/>
          <p:cNvSpPr/>
          <p:nvPr/>
        </p:nvSpPr>
        <p:spPr>
          <a:xfrm>
            <a:off x="2767523" y="2240280"/>
            <a:ext cx="5732520" cy="1417320"/>
          </a:xfrm>
          <a:prstGeom prst="rect">
            <a:avLst/>
          </a:prstGeom>
          <a:solidFill>
            <a:srgbClr val="6B7B86"/>
          </a:solidFill>
          <a:ln/>
        </p:spPr>
      </p:sp>
      <p:sp>
        <p:nvSpPr>
          <p:cNvPr id="12" name="Text 9"/>
          <p:cNvSpPr txBox="1"/>
          <p:nvPr/>
        </p:nvSpPr>
        <p:spPr>
          <a:xfrm>
            <a:off x="2858963" y="2331720"/>
            <a:ext cx="5586216"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13 min</a:t>
            </a:r>
            <a:endParaRPr lang="en-US" sz="1150" dirty="0"/>
          </a:p>
        </p:txBody>
      </p:sp>
      <p:sp>
        <p:nvSpPr>
          <p:cNvPr id="13" name="Text 10"/>
          <p:cNvSpPr txBox="1"/>
          <p:nvPr/>
        </p:nvSpPr>
        <p:spPr>
          <a:xfrm>
            <a:off x="2858963" y="2651760"/>
            <a:ext cx="5622792"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Dictate the record</a:t>
            </a:r>
            <a:endParaRPr lang="en-US" sz="1500" dirty="0"/>
          </a:p>
        </p:txBody>
      </p:sp>
      <p:sp>
        <p:nvSpPr>
          <p:cNvPr id="14" name="Shape 11"/>
          <p:cNvSpPr/>
          <p:nvPr/>
        </p:nvSpPr>
        <p:spPr>
          <a:xfrm>
            <a:off x="8536619" y="2240280"/>
            <a:ext cx="1294754" cy="1417320"/>
          </a:xfrm>
          <a:prstGeom prst="rect">
            <a:avLst/>
          </a:prstGeom>
          <a:solidFill>
            <a:srgbClr val="36454F"/>
          </a:solidFill>
          <a:ln/>
        </p:spPr>
      </p:sp>
      <p:sp>
        <p:nvSpPr>
          <p:cNvPr id="15" name="Text 12"/>
          <p:cNvSpPr txBox="1"/>
          <p:nvPr/>
        </p:nvSpPr>
        <p:spPr>
          <a:xfrm>
            <a:off x="8628059" y="2331720"/>
            <a:ext cx="1148450"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3 min</a:t>
            </a:r>
            <a:endParaRPr lang="en-US" sz="1150" dirty="0"/>
          </a:p>
        </p:txBody>
      </p:sp>
      <p:sp>
        <p:nvSpPr>
          <p:cNvPr id="16" name="Text 13"/>
          <p:cNvSpPr txBox="1"/>
          <p:nvPr/>
        </p:nvSpPr>
        <p:spPr>
          <a:xfrm>
            <a:off x="8628059" y="2651760"/>
            <a:ext cx="1185026" cy="91440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Ladder</a:t>
            </a:r>
            <a:endParaRPr lang="en-US" sz="1200" dirty="0"/>
          </a:p>
        </p:txBody>
      </p:sp>
      <p:sp>
        <p:nvSpPr>
          <p:cNvPr id="17" name="Shape 14"/>
          <p:cNvSpPr/>
          <p:nvPr/>
        </p:nvSpPr>
        <p:spPr>
          <a:xfrm>
            <a:off x="9867949" y="2240280"/>
            <a:ext cx="1738530" cy="1417320"/>
          </a:xfrm>
          <a:prstGeom prst="rect">
            <a:avLst/>
          </a:prstGeom>
          <a:solidFill>
            <a:srgbClr val="6B7B86"/>
          </a:solidFill>
          <a:ln/>
        </p:spPr>
      </p:sp>
      <p:sp>
        <p:nvSpPr>
          <p:cNvPr id="18" name="Text 15"/>
          <p:cNvSpPr txBox="1"/>
          <p:nvPr/>
        </p:nvSpPr>
        <p:spPr>
          <a:xfrm>
            <a:off x="9959389" y="2331720"/>
            <a:ext cx="1592226" cy="320040"/>
          </a:xfrm>
          <a:prstGeom prst="rect">
            <a:avLst/>
          </a:prstGeom>
          <a:noFill/>
          <a:ln/>
        </p:spPr>
        <p:txBody>
          <a:bodyPr wrap="square" lIns="0" tIns="0" rIns="0" bIns="0" rtlCol="0" anchor="t"/>
          <a:lstStyle/>
          <a:p>
            <a:pPr indent="0" marL="0">
              <a:buNone/>
            </a:pPr>
            <a:r>
              <a:rPr lang="en-US" sz="1150" b="1" dirty="0">
                <a:solidFill>
                  <a:srgbClr val="F2F4F5"/>
                </a:solidFill>
                <a:latin typeface="Arial" pitchFamily="34" charset="0"/>
                <a:ea typeface="Arial" pitchFamily="34" charset="-122"/>
                <a:cs typeface="Arial" pitchFamily="34" charset="-120"/>
              </a:rPr>
              <a:t>4 min</a:t>
            </a:r>
            <a:endParaRPr lang="en-US" sz="1150" dirty="0"/>
          </a:p>
        </p:txBody>
      </p:sp>
      <p:sp>
        <p:nvSpPr>
          <p:cNvPr id="19" name="Text 16"/>
          <p:cNvSpPr txBox="1"/>
          <p:nvPr/>
        </p:nvSpPr>
        <p:spPr>
          <a:xfrm>
            <a:off x="9959389" y="2651760"/>
            <a:ext cx="1628802" cy="91440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Thank you</a:t>
            </a:r>
            <a:endParaRPr lang="en-US" sz="1500" dirty="0"/>
          </a:p>
        </p:txBody>
      </p:sp>
      <p:sp>
        <p:nvSpPr>
          <p:cNvPr id="20" name="Shape 17"/>
          <p:cNvSpPr/>
          <p:nvPr/>
        </p:nvSpPr>
        <p:spPr>
          <a:xfrm>
            <a:off x="548640" y="3977640"/>
            <a:ext cx="3566160" cy="2057400"/>
          </a:xfrm>
          <a:prstGeom prst="roundRect">
            <a:avLst>
              <a:gd name="adj" fmla="val 3556"/>
            </a:avLst>
          </a:prstGeom>
          <a:solidFill>
            <a:srgbClr val="FFFFFF"/>
          </a:solidFill>
          <a:ln w="12700">
            <a:solidFill>
              <a:srgbClr val="D9DEE2"/>
            </a:solidFill>
            <a:prstDash val="solid"/>
          </a:ln>
        </p:spPr>
      </p:sp>
      <p:pic>
        <p:nvPicPr>
          <p:cNvPr id="21" name="Image 1" descr="/private/tmp/claude-501/-Users-salehhamed-Outcome-Engine/91861432-41e2-4884-bc97-63c6dff2d021/scratchpad/wk/icons/TbUsers-teal.png">    </p:cNvPr>
          <p:cNvPicPr>
            <a:picLocks noChangeAspect="1"/>
          </p:cNvPicPr>
          <p:nvPr/>
        </p:nvPicPr>
        <p:blipFill>
          <a:blip r:embed="rId4"/>
          <a:stretch>
            <a:fillRect/>
          </a:stretch>
        </p:blipFill>
        <p:spPr>
          <a:xfrm>
            <a:off x="731520" y="4160520"/>
            <a:ext cx="457200" cy="457200"/>
          </a:xfrm>
          <a:prstGeom prst="rect">
            <a:avLst/>
          </a:prstGeom>
        </p:spPr>
      </p:pic>
      <p:sp>
        <p:nvSpPr>
          <p:cNvPr id="22" name="Text 18"/>
          <p:cNvSpPr txBox="1"/>
          <p:nvPr/>
        </p:nvSpPr>
        <p:spPr>
          <a:xfrm>
            <a:off x="132588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How</a:t>
            </a:r>
            <a:endParaRPr lang="en-US" sz="1500" dirty="0"/>
          </a:p>
        </p:txBody>
      </p:sp>
      <p:sp>
        <p:nvSpPr>
          <p:cNvPr id="23" name="Text 19"/>
          <p:cNvSpPr txBox="1"/>
          <p:nvPr/>
        </p:nvSpPr>
        <p:spPr>
          <a:xfrm>
            <a:off x="77724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Sponsor and room</a:t>
            </a:r>
            <a:endParaRPr lang="en-US" sz="1300" dirty="0"/>
          </a:p>
        </p:txBody>
      </p:sp>
      <p:sp>
        <p:nvSpPr>
          <p:cNvPr id="24" name="Shape 20"/>
          <p:cNvSpPr/>
          <p:nvPr/>
        </p:nvSpPr>
        <p:spPr>
          <a:xfrm>
            <a:off x="4297680" y="3977640"/>
            <a:ext cx="3566160" cy="2057400"/>
          </a:xfrm>
          <a:prstGeom prst="roundRect">
            <a:avLst>
              <a:gd name="adj" fmla="val 3556"/>
            </a:avLst>
          </a:prstGeom>
          <a:solidFill>
            <a:srgbClr val="FFFFFF"/>
          </a:solidFill>
          <a:ln w="12700">
            <a:solidFill>
              <a:srgbClr val="D9DEE2"/>
            </a:solidFill>
            <a:prstDash val="solid"/>
          </a:ln>
        </p:spPr>
      </p:sp>
      <p:pic>
        <p:nvPicPr>
          <p:cNvPr id="25" name="Image 2" descr="/private/tmp/claude-501/-Users-salehhamed-Outcome-Engine/91861432-41e2-4884-bc97-63c6dff2d021/scratchpad/wk/icons/TbClipboardCheck-teal.png">    </p:cNvPr>
          <p:cNvPicPr>
            <a:picLocks noChangeAspect="1"/>
          </p:cNvPicPr>
          <p:nvPr/>
        </p:nvPicPr>
        <p:blipFill>
          <a:blip r:embed="rId5"/>
          <a:stretch>
            <a:fillRect/>
          </a:stretch>
        </p:blipFill>
        <p:spPr>
          <a:xfrm>
            <a:off x="4480560" y="4160520"/>
            <a:ext cx="457200" cy="457200"/>
          </a:xfrm>
          <a:prstGeom prst="rect">
            <a:avLst/>
          </a:prstGeom>
        </p:spPr>
      </p:pic>
      <p:sp>
        <p:nvSpPr>
          <p:cNvPr id="26" name="Text 21"/>
          <p:cNvSpPr txBox="1"/>
          <p:nvPr/>
        </p:nvSpPr>
        <p:spPr>
          <a:xfrm>
            <a:off x="507492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What we make</a:t>
            </a:r>
            <a:endParaRPr lang="en-US" sz="1500" dirty="0"/>
          </a:p>
        </p:txBody>
      </p:sp>
      <p:sp>
        <p:nvSpPr>
          <p:cNvPr id="27" name="Text 22"/>
          <p:cNvSpPr txBox="1"/>
          <p:nvPr/>
        </p:nvSpPr>
        <p:spPr>
          <a:xfrm>
            <a:off x="452628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The decision record, typed live, and the ladder count.</a:t>
            </a:r>
            <a:endParaRPr lang="en-US" sz="1300" dirty="0"/>
          </a:p>
        </p:txBody>
      </p:sp>
      <p:sp>
        <p:nvSpPr>
          <p:cNvPr id="28" name="Shape 23"/>
          <p:cNvSpPr/>
          <p:nvPr/>
        </p:nvSpPr>
        <p:spPr>
          <a:xfrm>
            <a:off x="8046720" y="3977640"/>
            <a:ext cx="3566160" cy="2057400"/>
          </a:xfrm>
          <a:prstGeom prst="roundRect">
            <a:avLst>
              <a:gd name="adj" fmla="val 3556"/>
            </a:avLst>
          </a:prstGeom>
          <a:solidFill>
            <a:srgbClr val="FFFFFF"/>
          </a:solidFill>
          <a:ln w="12700">
            <a:solidFill>
              <a:srgbClr val="D9DEE2"/>
            </a:solidFill>
            <a:prstDash val="solid"/>
          </a:ln>
        </p:spPr>
      </p:sp>
      <p:pic>
        <p:nvPicPr>
          <p:cNvPr id="29" name="Image 3" descr="/private/tmp/claude-501/-Users-salehhamed-Outcome-Engine/91861432-41e2-4884-bc97-63c6dff2d021/scratchpad/wk/icons/TbPencil-teal.png">    </p:cNvPr>
          <p:cNvPicPr>
            <a:picLocks noChangeAspect="1"/>
          </p:cNvPicPr>
          <p:nvPr/>
        </p:nvPicPr>
        <p:blipFill>
          <a:blip r:embed="rId6"/>
          <a:stretch>
            <a:fillRect/>
          </a:stretch>
        </p:blipFill>
        <p:spPr>
          <a:xfrm>
            <a:off x="8229600" y="4160520"/>
            <a:ext cx="457200" cy="457200"/>
          </a:xfrm>
          <a:prstGeom prst="rect">
            <a:avLst/>
          </a:prstGeom>
        </p:spPr>
      </p:pic>
      <p:sp>
        <p:nvSpPr>
          <p:cNvPr id="30" name="Text 24"/>
          <p:cNvSpPr txBox="1"/>
          <p:nvPr/>
        </p:nvSpPr>
        <p:spPr>
          <a:xfrm>
            <a:off x="8823960" y="4160520"/>
            <a:ext cx="2651760" cy="457200"/>
          </a:xfrm>
          <a:prstGeom prst="rect">
            <a:avLst/>
          </a:prstGeom>
          <a:noFill/>
          <a:ln/>
        </p:spPr>
        <p:txBody>
          <a:bodyPr wrap="square" lIns="0" tIns="0" rIns="0" bIns="0" rtlCol="0" anchor="ctr"/>
          <a:lstStyle/>
          <a:p>
            <a:pPr indent="0" marL="0">
              <a:buNone/>
            </a:pPr>
            <a:r>
              <a:rPr lang="en-US" sz="1500" b="1" dirty="0">
                <a:solidFill>
                  <a:srgbClr val="1F2A33"/>
                </a:solidFill>
                <a:latin typeface="Arial" pitchFamily="34" charset="0"/>
                <a:ea typeface="Arial" pitchFamily="34" charset="-122"/>
                <a:cs typeface="Arial" pitchFamily="34" charset="-120"/>
              </a:rPr>
              <a:t>On paper</a:t>
            </a:r>
            <a:endParaRPr lang="en-US" sz="1500" dirty="0"/>
          </a:p>
        </p:txBody>
      </p:sp>
      <p:sp>
        <p:nvSpPr>
          <p:cNvPr id="31" name="Text 25"/>
          <p:cNvSpPr txBox="1"/>
          <p:nvPr/>
        </p:nvSpPr>
        <p:spPr>
          <a:xfrm>
            <a:off x="8275320" y="4754880"/>
            <a:ext cx="3154680" cy="1188720"/>
          </a:xfrm>
          <a:prstGeom prst="rect">
            <a:avLst/>
          </a:prstGeom>
          <a:noFill/>
          <a:ln/>
        </p:spPr>
        <p:txBody>
          <a:bodyPr wrap="square" lIns="0" tIns="0" rIns="0" bIns="0" rtlCol="0" anchor="t"/>
          <a:lstStyle/>
          <a:p>
            <a:pPr indent="0" marL="0">
              <a:buNone/>
            </a:pPr>
            <a:r>
              <a:rPr lang="en-US" sz="1300" dirty="0">
                <a:solidFill>
                  <a:srgbClr val="1F2A33"/>
                </a:solidFill>
                <a:latin typeface="Arial" pitchFamily="34" charset="0"/>
                <a:ea typeface="Arial" pitchFamily="34" charset="-122"/>
                <a:cs typeface="Arial" pitchFamily="34" charset="-120"/>
              </a:rPr>
              <a:t>Everything you need is on your table or the wall.</a:t>
            </a:r>
            <a:endParaRPr lang="en-US" sz="130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F462D"/>
        </a:solidFill>
      </p:bgPr>
    </p:bg>
    <p:spTree>
      <p:nvGrpSpPr>
        <p:cNvPr id="1" name=""/>
        <p:cNvGrpSpPr/>
        <p:nvPr/>
      </p:nvGrpSpPr>
      <p:grpSpPr>
        <a:xfrm>
          <a:off x="0" y="0"/>
          <a:ext cx="0" cy="0"/>
          <a:chOff x="0" y="0"/>
          <a:chExt cx="0" cy="0"/>
        </a:xfrm>
      </p:grpSpPr>
      <p:pic>
        <p:nvPicPr>
          <p:cNvPr id="2" name="Image 0" descr="/private/tmp/claude-501/-Users-salehhamed-Outcome-Engine/91861432-41e2-4884-bc97-63c6dff2d021/scratchpad/wk/brand/title-pattern-white.png">    </p:cNvPr>
          <p:cNvPicPr>
            <a:picLocks noChangeAspect="1"/>
          </p:cNvPicPr>
          <p:nvPr/>
        </p:nvPicPr>
        <p:blipFill>
          <a:blip r:embed="rId1"/>
          <a:srcRect l="0" r="0" t="0" b="0"/>
          <a:stretch/>
        </p:blipFill>
        <p:spPr>
          <a:xfrm>
            <a:off x="6858000" y="0"/>
            <a:ext cx="5333695" cy="6858000"/>
          </a:xfrm>
          <a:prstGeom prst="rect">
            <a:avLst/>
          </a:prstGeom>
        </p:spPr>
      </p:pic>
      <p:pic>
        <p:nvPicPr>
          <p:cNvPr id="3" name="Image 1" descr="/private/tmp/claude-501/-Users-salehhamed-Outcome-Engine/91861432-41e2-4884-bc97-63c6dff2d021/scratchpad/wk/brand/logo-white.png">    </p:cNvPr>
          <p:cNvPicPr>
            <a:picLocks noChangeAspect="1"/>
          </p:cNvPicPr>
          <p:nvPr/>
        </p:nvPicPr>
        <p:blipFill>
          <a:blip r:embed="rId2"/>
          <a:stretch>
            <a:fillRect/>
          </a:stretch>
        </p:blipFill>
        <p:spPr>
          <a:xfrm>
            <a:off x="548640" y="502920"/>
            <a:ext cx="1234440" cy="393192"/>
          </a:xfrm>
          <a:prstGeom prst="rect">
            <a:avLst/>
          </a:prstGeom>
        </p:spPr>
      </p:pic>
      <p:sp>
        <p:nvSpPr>
          <p:cNvPr id="4" name="Text 0"/>
          <p:cNvSpPr txBox="1"/>
          <p:nvPr/>
        </p:nvSpPr>
        <p:spPr>
          <a:xfrm>
            <a:off x="548640" y="2103120"/>
            <a:ext cx="7315200" cy="1188720"/>
          </a:xfrm>
          <a:prstGeom prst="rect">
            <a:avLst/>
          </a:prstGeom>
          <a:noFill/>
          <a:ln/>
        </p:spPr>
        <p:txBody>
          <a:bodyPr wrap="square" lIns="0" tIns="0" rIns="0" bIns="0" rtlCol="0" anchor="t"/>
          <a:lstStyle/>
          <a:p>
            <a:pPr indent="0" marL="0">
              <a:buNone/>
            </a:pPr>
            <a:r>
              <a:rPr lang="en-US" sz="5400" b="1" dirty="0">
                <a:solidFill>
                  <a:srgbClr val="FFFFFF"/>
                </a:solidFill>
                <a:latin typeface="TWK Everett" pitchFamily="34" charset="0"/>
                <a:ea typeface="TWK Everett" pitchFamily="34" charset="-122"/>
                <a:cs typeface="TWK Everett" pitchFamily="34" charset="-120"/>
              </a:rPr>
              <a:t>Thank you</a:t>
            </a:r>
            <a:endParaRPr lang="en-US" sz="5400" dirty="0"/>
          </a:p>
        </p:txBody>
      </p:sp>
      <p:sp>
        <p:nvSpPr>
          <p:cNvPr id="5" name="Text 1"/>
          <p:cNvSpPr txBox="1"/>
          <p:nvPr/>
        </p:nvSpPr>
        <p:spPr>
          <a:xfrm>
            <a:off x="548640" y="3474720"/>
            <a:ext cx="6583680" cy="1097280"/>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Every output from these two days goes to all participants, with its owner and date.</a:t>
            </a:r>
            <a:endParaRPr lang="en-US" sz="200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36454F"/>
        </a:solidFill>
      </p:bgPr>
    </p:bg>
    <p:spTree>
      <p:nvGrpSpPr>
        <p:cNvPr id="1" name=""/>
        <p:cNvGrpSpPr/>
        <p:nvPr/>
      </p:nvGrpSpPr>
      <p:grpSpPr>
        <a:xfrm>
          <a:off x="0" y="0"/>
          <a:ext cx="0" cy="0"/>
          <a:chOff x="0" y="0"/>
          <a:chExt cx="0" cy="0"/>
        </a:xfrm>
      </p:grpSpPr>
      <p:pic>
        <p:nvPicPr>
          <p:cNvPr id="2" name="Image 0" descr="/private/tmp/claude-501/-Users-salehhamed-Outcome-Engine/91861432-41e2-4884-bc97-63c6dff2d021/scratchpad/wk/brand/logo-white.png">    </p:cNvPr>
          <p:cNvPicPr>
            <a:picLocks noChangeAspect="1"/>
          </p:cNvPicPr>
          <p:nvPr/>
        </p:nvPicPr>
        <p:blipFill>
          <a:blip r:embed="rId1"/>
          <a:stretch>
            <a:fillRect/>
          </a:stretch>
        </p:blipFill>
        <p:spPr>
          <a:xfrm>
            <a:off x="548640" y="502920"/>
            <a:ext cx="1234440" cy="393192"/>
          </a:xfrm>
          <a:prstGeom prst="rect">
            <a:avLst/>
          </a:prstGeom>
        </p:spPr>
      </p:pic>
      <p:sp>
        <p:nvSpPr>
          <p:cNvPr id="3" name="Text 0"/>
          <p:cNvSpPr txBox="1"/>
          <p:nvPr/>
        </p:nvSpPr>
        <p:spPr>
          <a:xfrm>
            <a:off x="548640" y="2377440"/>
            <a:ext cx="9144000" cy="1097280"/>
          </a:xfrm>
          <a:prstGeom prst="rect">
            <a:avLst/>
          </a:prstGeom>
          <a:noFill/>
          <a:ln/>
        </p:spPr>
        <p:txBody>
          <a:bodyPr wrap="square" lIns="0" tIns="0" rIns="0" bIns="0" rtlCol="0" anchor="t"/>
          <a:lstStyle/>
          <a:p>
            <a:pPr indent="0" marL="0">
              <a:buNone/>
            </a:pPr>
            <a:r>
              <a:rPr lang="en-US" sz="4800" b="1" dirty="0">
                <a:solidFill>
                  <a:srgbClr val="FFFFFF"/>
                </a:solidFill>
                <a:latin typeface="TWK Everett" pitchFamily="34" charset="0"/>
                <a:ea typeface="TWK Everett" pitchFamily="34" charset="-122"/>
                <a:cs typeface="TWK Everett" pitchFamily="34" charset="-120"/>
              </a:rPr>
              <a:t>Appendix</a:t>
            </a:r>
            <a:endParaRPr lang="en-US" sz="4800" dirty="0"/>
          </a:p>
        </p:txBody>
      </p:sp>
      <p:sp>
        <p:nvSpPr>
          <p:cNvPr id="4" name="Text 1"/>
          <p:cNvSpPr txBox="1"/>
          <p:nvPr/>
        </p:nvSpPr>
        <p:spPr>
          <a:xfrm>
            <a:off x="548640" y="3566160"/>
            <a:ext cx="8229600" cy="914400"/>
          </a:xfrm>
          <a:prstGeom prst="rect">
            <a:avLst/>
          </a:prstGeom>
          <a:noFill/>
          <a:ln/>
        </p:spPr>
        <p:txBody>
          <a:bodyPr wrap="square" lIns="0" tIns="0" rIns="0" bIns="0" rtlCol="0" anchor="t"/>
          <a:lstStyle/>
          <a:p>
            <a:pPr indent="0" marL="0">
              <a:buNone/>
            </a:pPr>
            <a:r>
              <a:rPr lang="en-US" sz="1800" dirty="0">
                <a:solidFill>
                  <a:srgbClr val="D9DEE2"/>
                </a:solidFill>
                <a:latin typeface="Arial" pitchFamily="34" charset="0"/>
                <a:ea typeface="Arial" pitchFamily="34" charset="-122"/>
                <a:cs typeface="Arial" pitchFamily="34" charset="-120"/>
              </a:rPr>
              <a:t>Reference slides: plain words, the full engine map, the rotation method, and how to use this deck.</a:t>
            </a:r>
            <a:endParaRPr lang="en-US" sz="180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APPENDIX · FOR FACILITATORS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Three styles, one thread</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8A94A4"/>
                </a:solidFill>
                <a:latin typeface="Arial" pitchFamily="34" charset="0"/>
                <a:ea typeface="Arial" pitchFamily="34" charset="-122"/>
                <a:cs typeface="Arial" pitchFamily="34" charset="-120"/>
              </a:rPr>
              <a:t>   211</a:t>
            </a:r>
            <a:endParaRPr lang="en-US" sz="1000" dirty="0"/>
          </a:p>
        </p:txBody>
      </p:sp>
      <p:sp>
        <p:nvSpPr>
          <p:cNvPr id="7" name="Shape 4"/>
          <p:cNvSpPr/>
          <p:nvPr/>
        </p:nvSpPr>
        <p:spPr>
          <a:xfrm>
            <a:off x="548640" y="1554480"/>
            <a:ext cx="3566160" cy="3291840"/>
          </a:xfrm>
          <a:prstGeom prst="roundRect">
            <a:avLst>
              <a:gd name="adj" fmla="val 2778"/>
            </a:avLst>
          </a:prstGeom>
          <a:solidFill>
            <a:srgbClr val="287079"/>
          </a:solidFill>
          <a:ln/>
        </p:spPr>
      </p:sp>
      <p:pic>
        <p:nvPicPr>
          <p:cNvPr id="8" name="Image 1" descr="/private/tmp/claude-501/-Users-salehhamed-Outcome-Engine/91861432-41e2-4884-bc97-63c6dff2d021/scratchpad/wk/icons/TbHandClick-white.png">    </p:cNvPr>
          <p:cNvPicPr>
            <a:picLocks noChangeAspect="1"/>
          </p:cNvPicPr>
          <p:nvPr/>
        </p:nvPicPr>
        <p:blipFill>
          <a:blip r:embed="rId3"/>
          <a:stretch>
            <a:fillRect/>
          </a:stretch>
        </p:blipFill>
        <p:spPr>
          <a:xfrm>
            <a:off x="1874520" y="1783080"/>
            <a:ext cx="914400" cy="914400"/>
          </a:xfrm>
          <a:prstGeom prst="rect">
            <a:avLst/>
          </a:prstGeom>
        </p:spPr>
      </p:pic>
      <p:sp>
        <p:nvSpPr>
          <p:cNvPr id="9" name="Text 5"/>
          <p:cNvSpPr txBox="1"/>
          <p:nvPr/>
        </p:nvSpPr>
        <p:spPr>
          <a:xfrm>
            <a:off x="548640" y="2788920"/>
            <a:ext cx="3566160" cy="457200"/>
          </a:xfrm>
          <a:prstGeom prst="rect">
            <a:avLst/>
          </a:prstGeom>
          <a:noFill/>
          <a:ln/>
        </p:spPr>
        <p:txBody>
          <a:bodyPr wrap="square" lIns="0" tIns="0" rIns="0" bIns="0" rtlCol="0" anchor="t"/>
          <a:lstStyle/>
          <a:p>
            <a:pPr algn="ctr" indent="0" marL="0">
              <a:buNone/>
            </a:pPr>
            <a:r>
              <a:rPr lang="en-US" sz="1400" b="1" dirty="0">
                <a:solidFill>
                  <a:srgbClr val="F2F4F5"/>
                </a:solidFill>
                <a:latin typeface="Arial" pitchFamily="34" charset="0"/>
                <a:ea typeface="Arial" pitchFamily="34" charset="-122"/>
                <a:cs typeface="Arial" pitchFamily="34" charset="-120"/>
              </a:rPr>
              <a:t>Option A</a:t>
            </a:r>
            <a:endParaRPr lang="en-US" sz="1400" dirty="0"/>
          </a:p>
        </p:txBody>
      </p:sp>
      <p:sp>
        <p:nvSpPr>
          <p:cNvPr id="10" name="Text 6"/>
          <p:cNvSpPr txBox="1"/>
          <p:nvPr/>
        </p:nvSpPr>
        <p:spPr>
          <a:xfrm>
            <a:off x="685800" y="3154680"/>
            <a:ext cx="32918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Hands-on</a:t>
            </a:r>
            <a:endParaRPr lang="en-US" sz="1800" dirty="0"/>
          </a:p>
        </p:txBody>
      </p:sp>
      <p:sp>
        <p:nvSpPr>
          <p:cNvPr id="11" name="Text 7"/>
          <p:cNvSpPr txBox="1"/>
          <p:nvPr/>
        </p:nvSpPr>
        <p:spPr>
          <a:xfrm>
            <a:off x="822960" y="3794760"/>
            <a:ext cx="3017520" cy="914400"/>
          </a:xfrm>
          <a:prstGeom prst="rect">
            <a:avLst/>
          </a:prstGeom>
          <a:noFill/>
          <a:ln/>
        </p:spPr>
        <p:txBody>
          <a:bodyPr wrap="square" lIns="0" tIns="0" rIns="0" bIns="0" rtlCol="0" anchor="t"/>
          <a:lstStyle/>
          <a:p>
            <a:pPr algn="ctr" indent="0" marL="0">
              <a:buNone/>
            </a:pPr>
            <a:r>
              <a:rPr lang="en-US" sz="1400" dirty="0">
                <a:solidFill>
                  <a:srgbClr val="FFFFFF"/>
                </a:solidFill>
                <a:latin typeface="Arial" pitchFamily="34" charset="0"/>
                <a:ea typeface="Arial" pitchFamily="34" charset="-122"/>
                <a:cs typeface="Arial" pitchFamily="34" charset="-120"/>
              </a:rPr>
              <a:t>Paper, walls and moving around the room</a:t>
            </a:r>
            <a:endParaRPr lang="en-US" sz="1400" dirty="0"/>
          </a:p>
        </p:txBody>
      </p:sp>
      <p:sp>
        <p:nvSpPr>
          <p:cNvPr id="12" name="Shape 8"/>
          <p:cNvSpPr/>
          <p:nvPr/>
        </p:nvSpPr>
        <p:spPr>
          <a:xfrm>
            <a:off x="4297680" y="1554480"/>
            <a:ext cx="3566160" cy="3291840"/>
          </a:xfrm>
          <a:prstGeom prst="roundRect">
            <a:avLst>
              <a:gd name="adj" fmla="val 2778"/>
            </a:avLst>
          </a:prstGeom>
          <a:solidFill>
            <a:srgbClr val="FF462D"/>
          </a:solidFill>
          <a:ln/>
        </p:spPr>
      </p:sp>
      <p:pic>
        <p:nvPicPr>
          <p:cNvPr id="13" name="Image 2" descr="/private/tmp/claude-501/-Users-salehhamed-Outcome-Engine/91861432-41e2-4884-bc97-63c6dff2d021/scratchpad/wk/icons/TbDeviceMobile-white.png">    </p:cNvPr>
          <p:cNvPicPr>
            <a:picLocks noChangeAspect="1"/>
          </p:cNvPicPr>
          <p:nvPr/>
        </p:nvPicPr>
        <p:blipFill>
          <a:blip r:embed="rId4"/>
          <a:stretch>
            <a:fillRect/>
          </a:stretch>
        </p:blipFill>
        <p:spPr>
          <a:xfrm>
            <a:off x="5623560" y="1783080"/>
            <a:ext cx="914400" cy="914400"/>
          </a:xfrm>
          <a:prstGeom prst="rect">
            <a:avLst/>
          </a:prstGeom>
        </p:spPr>
      </p:pic>
      <p:sp>
        <p:nvSpPr>
          <p:cNvPr id="14" name="Text 9"/>
          <p:cNvSpPr txBox="1"/>
          <p:nvPr/>
        </p:nvSpPr>
        <p:spPr>
          <a:xfrm>
            <a:off x="4297680" y="2788920"/>
            <a:ext cx="3566160" cy="457200"/>
          </a:xfrm>
          <a:prstGeom prst="rect">
            <a:avLst/>
          </a:prstGeom>
          <a:noFill/>
          <a:ln/>
        </p:spPr>
        <p:txBody>
          <a:bodyPr wrap="square" lIns="0" tIns="0" rIns="0" bIns="0" rtlCol="0" anchor="t"/>
          <a:lstStyle/>
          <a:p>
            <a:pPr algn="ctr" indent="0" marL="0">
              <a:buNone/>
            </a:pPr>
            <a:r>
              <a:rPr lang="en-US" sz="1400" b="1" dirty="0">
                <a:solidFill>
                  <a:srgbClr val="F2F4F5"/>
                </a:solidFill>
                <a:latin typeface="Arial" pitchFamily="34" charset="0"/>
                <a:ea typeface="Arial" pitchFamily="34" charset="-122"/>
                <a:cs typeface="Arial" pitchFamily="34" charset="-120"/>
              </a:rPr>
              <a:t>Option B</a:t>
            </a:r>
            <a:endParaRPr lang="en-US" sz="1400" dirty="0"/>
          </a:p>
        </p:txBody>
      </p:sp>
      <p:sp>
        <p:nvSpPr>
          <p:cNvPr id="15" name="Text 10"/>
          <p:cNvSpPr txBox="1"/>
          <p:nvPr/>
        </p:nvSpPr>
        <p:spPr>
          <a:xfrm>
            <a:off x="4434840" y="3154680"/>
            <a:ext cx="32918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Live voting</a:t>
            </a:r>
            <a:endParaRPr lang="en-US" sz="1800" dirty="0"/>
          </a:p>
        </p:txBody>
      </p:sp>
      <p:sp>
        <p:nvSpPr>
          <p:cNvPr id="16" name="Text 11"/>
          <p:cNvSpPr txBox="1"/>
          <p:nvPr/>
        </p:nvSpPr>
        <p:spPr>
          <a:xfrm>
            <a:off x="4572000" y="3794760"/>
            <a:ext cx="3017520" cy="914400"/>
          </a:xfrm>
          <a:prstGeom prst="rect">
            <a:avLst/>
          </a:prstGeom>
          <a:noFill/>
          <a:ln/>
        </p:spPr>
        <p:txBody>
          <a:bodyPr wrap="square" lIns="0" tIns="0" rIns="0" bIns="0" rtlCol="0" anchor="t"/>
          <a:lstStyle/>
          <a:p>
            <a:pPr algn="ctr" indent="0" marL="0">
              <a:buNone/>
            </a:pPr>
            <a:r>
              <a:rPr lang="en-US" sz="1400" dirty="0">
                <a:solidFill>
                  <a:srgbClr val="FFFFFF"/>
                </a:solidFill>
                <a:latin typeface="Arial" pitchFamily="34" charset="0"/>
                <a:ea typeface="Arial" pitchFamily="34" charset="-122"/>
                <a:cs typeface="Arial" pitchFamily="34" charset="-120"/>
              </a:rPr>
              <a:t>Phones and the room screen</a:t>
            </a:r>
            <a:endParaRPr lang="en-US" sz="1400" dirty="0"/>
          </a:p>
        </p:txBody>
      </p:sp>
      <p:sp>
        <p:nvSpPr>
          <p:cNvPr id="17" name="Shape 12"/>
          <p:cNvSpPr/>
          <p:nvPr/>
        </p:nvSpPr>
        <p:spPr>
          <a:xfrm>
            <a:off x="8046720" y="1554480"/>
            <a:ext cx="3566160" cy="3291840"/>
          </a:xfrm>
          <a:prstGeom prst="roundRect">
            <a:avLst>
              <a:gd name="adj" fmla="val 2778"/>
            </a:avLst>
          </a:prstGeom>
          <a:solidFill>
            <a:srgbClr val="36454F"/>
          </a:solidFill>
          <a:ln/>
        </p:spPr>
      </p:sp>
      <p:pic>
        <p:nvPicPr>
          <p:cNvPr id="18" name="Image 3" descr="/private/tmp/claude-501/-Users-salehhamed-Outcome-Engine/91861432-41e2-4884-bc97-63c6dff2d021/scratchpad/wk/icons/TbMasksTheater-white.png">    </p:cNvPr>
          <p:cNvPicPr>
            <a:picLocks noChangeAspect="1"/>
          </p:cNvPicPr>
          <p:nvPr/>
        </p:nvPicPr>
        <p:blipFill>
          <a:blip r:embed="rId5"/>
          <a:stretch>
            <a:fillRect/>
          </a:stretch>
        </p:blipFill>
        <p:spPr>
          <a:xfrm>
            <a:off x="9372600" y="1783080"/>
            <a:ext cx="914400" cy="914400"/>
          </a:xfrm>
          <a:prstGeom prst="rect">
            <a:avLst/>
          </a:prstGeom>
        </p:spPr>
      </p:pic>
      <p:sp>
        <p:nvSpPr>
          <p:cNvPr id="19" name="Text 13"/>
          <p:cNvSpPr txBox="1"/>
          <p:nvPr/>
        </p:nvSpPr>
        <p:spPr>
          <a:xfrm>
            <a:off x="8046720" y="2788920"/>
            <a:ext cx="3566160" cy="457200"/>
          </a:xfrm>
          <a:prstGeom prst="rect">
            <a:avLst/>
          </a:prstGeom>
          <a:noFill/>
          <a:ln/>
        </p:spPr>
        <p:txBody>
          <a:bodyPr wrap="square" lIns="0" tIns="0" rIns="0" bIns="0" rtlCol="0" anchor="t"/>
          <a:lstStyle/>
          <a:p>
            <a:pPr algn="ctr" indent="0" marL="0">
              <a:buNone/>
            </a:pPr>
            <a:r>
              <a:rPr lang="en-US" sz="1400" b="1" dirty="0">
                <a:solidFill>
                  <a:srgbClr val="F2F4F5"/>
                </a:solidFill>
                <a:latin typeface="Arial" pitchFamily="34" charset="0"/>
                <a:ea typeface="Arial" pitchFamily="34" charset="-122"/>
                <a:cs typeface="Arial" pitchFamily="34" charset="-120"/>
              </a:rPr>
              <a:t>Option C</a:t>
            </a:r>
            <a:endParaRPr lang="en-US" sz="1400" dirty="0"/>
          </a:p>
        </p:txBody>
      </p:sp>
      <p:sp>
        <p:nvSpPr>
          <p:cNvPr id="20" name="Text 14"/>
          <p:cNvSpPr txBox="1"/>
          <p:nvPr/>
        </p:nvSpPr>
        <p:spPr>
          <a:xfrm>
            <a:off x="8183880" y="3154680"/>
            <a:ext cx="32918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Cases and conversation</a:t>
            </a:r>
            <a:endParaRPr lang="en-US" sz="1800" dirty="0"/>
          </a:p>
        </p:txBody>
      </p:sp>
      <p:sp>
        <p:nvSpPr>
          <p:cNvPr id="21" name="Text 15"/>
          <p:cNvSpPr txBox="1"/>
          <p:nvPr/>
        </p:nvSpPr>
        <p:spPr>
          <a:xfrm>
            <a:off x="8321040" y="3794760"/>
            <a:ext cx="3017520" cy="914400"/>
          </a:xfrm>
          <a:prstGeom prst="rect">
            <a:avLst/>
          </a:prstGeom>
          <a:noFill/>
          <a:ln/>
        </p:spPr>
        <p:txBody>
          <a:bodyPr wrap="square" lIns="0" tIns="0" rIns="0" bIns="0" rtlCol="0" anchor="t"/>
          <a:lstStyle/>
          <a:p>
            <a:pPr algn="ctr" indent="0" marL="0">
              <a:buNone/>
            </a:pPr>
            <a:r>
              <a:rPr lang="en-US" sz="1400" dirty="0">
                <a:solidFill>
                  <a:srgbClr val="FFFFFF"/>
                </a:solidFill>
                <a:latin typeface="Arial" pitchFamily="34" charset="0"/>
                <a:ea typeface="Arial" pitchFamily="34" charset="-122"/>
                <a:cs typeface="Arial" pitchFamily="34" charset="-120"/>
              </a:rPr>
              <a:t>Your own cases, role-play, debate, or talking it through</a:t>
            </a:r>
            <a:endParaRPr lang="en-US" sz="1400" dirty="0"/>
          </a:p>
        </p:txBody>
      </p:sp>
      <p:sp>
        <p:nvSpPr>
          <p:cNvPr id="22" name="Text 16"/>
          <p:cNvSpPr txBox="1"/>
          <p:nvPr/>
        </p:nvSpPr>
        <p:spPr>
          <a:xfrm>
            <a:off x="548640" y="5166360"/>
            <a:ext cx="11064240" cy="914400"/>
          </a:xfrm>
          <a:prstGeom prst="rect">
            <a:avLst/>
          </a:prstGeom>
          <a:noFill/>
          <a:ln/>
        </p:spPr>
        <p:txBody>
          <a:bodyPr wrap="square" lIns="0" tIns="0" rIns="0" bIns="0" rtlCol="0" anchor="t"/>
          <a:lstStyle/>
          <a:p>
            <a:pPr indent="0" marL="0">
              <a:buNone/>
            </a:pPr>
            <a:r>
              <a:rPr lang="en-US" sz="1700" b="1" dirty="0">
                <a:solidFill>
                  <a:srgbClr val="1F2A33"/>
                </a:solidFill>
                <a:latin typeface="Arial" pitchFamily="34" charset="0"/>
                <a:ea typeface="Arial" pitchFamily="34" charset="-122"/>
                <a:cs typeface="Arial" pitchFamily="34" charset="-120"/>
              </a:rPr>
              <a:t>Run every session in one style, or mix them. The Northgate deal, the ladder and the outputs stay the same whichever you choose.</a:t>
            </a:r>
            <a:endParaRPr lang="en-US" sz="170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APPENDIX · FOR FACILITATORS</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How to use this deck</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8A94A4"/>
                </a:solidFill>
                <a:latin typeface="Arial" pitchFamily="34" charset="0"/>
                <a:ea typeface="Arial" pitchFamily="34" charset="-122"/>
                <a:cs typeface="Arial" pitchFamily="34" charset="-120"/>
              </a:rPr>
              <a:t>   212</a:t>
            </a:r>
            <a:endParaRPr lang="en-US" sz="1000" dirty="0"/>
          </a:p>
        </p:txBody>
      </p:sp>
      <p:sp>
        <p:nvSpPr>
          <p:cNvPr id="7" name="Shape 4"/>
          <p:cNvSpPr/>
          <p:nvPr/>
        </p:nvSpPr>
        <p:spPr>
          <a:xfrm>
            <a:off x="548640" y="1417320"/>
            <a:ext cx="685800" cy="685800"/>
          </a:xfrm>
          <a:prstGeom prst="ellipse">
            <a:avLst/>
          </a:prstGeom>
          <a:solidFill>
            <a:srgbClr val="287079"/>
          </a:solidFill>
          <a:ln/>
        </p:spPr>
      </p:sp>
      <p:pic>
        <p:nvPicPr>
          <p:cNvPr id="8" name="Image 1" descr="/private/tmp/claude-501/-Users-salehhamed-Outcome-Engine/91861432-41e2-4884-bc97-63c6dff2d021/scratchpad/wk/icons/TbLayoutGrid-white.png">    </p:cNvPr>
          <p:cNvPicPr>
            <a:picLocks noChangeAspect="1"/>
          </p:cNvPicPr>
          <p:nvPr/>
        </p:nvPicPr>
        <p:blipFill>
          <a:blip r:embed="rId3"/>
          <a:stretch>
            <a:fillRect/>
          </a:stretch>
        </p:blipFill>
        <p:spPr>
          <a:xfrm>
            <a:off x="685800" y="1554480"/>
            <a:ext cx="411480" cy="411480"/>
          </a:xfrm>
          <a:prstGeom prst="rect">
            <a:avLst/>
          </a:prstGeom>
        </p:spPr>
      </p:pic>
      <p:sp>
        <p:nvSpPr>
          <p:cNvPr id="9" name="Text 5"/>
          <p:cNvSpPr txBox="1"/>
          <p:nvPr/>
        </p:nvSpPr>
        <p:spPr>
          <a:xfrm>
            <a:off x="1463040" y="1417320"/>
            <a:ext cx="2743200" cy="68580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The Hub</a:t>
            </a:r>
            <a:endParaRPr lang="en-US" sz="1600" dirty="0"/>
          </a:p>
        </p:txBody>
      </p:sp>
      <p:sp>
        <p:nvSpPr>
          <p:cNvPr id="10" name="Text 6"/>
          <p:cNvSpPr txBox="1"/>
          <p:nvPr/>
        </p:nvSpPr>
        <p:spPr>
          <a:xfrm>
            <a:off x="4206240" y="1417320"/>
            <a:ext cx="7406640" cy="685800"/>
          </a:xfrm>
          <a:prstGeom prst="rect">
            <a:avLst/>
          </a:prstGeom>
          <a:noFill/>
          <a:ln/>
        </p:spPr>
        <p:txBody>
          <a:bodyPr wrap="square" lIns="0" tIns="0" rIns="0" bIns="0" rtlCol="0" anchor="ctr"/>
          <a:lstStyle/>
          <a:p>
            <a:pPr indent="0" marL="0">
              <a:buNone/>
            </a:pPr>
            <a:r>
              <a:rPr lang="en-US" sz="1400" dirty="0">
                <a:solidFill>
                  <a:srgbClr val="1F2A33"/>
                </a:solidFill>
                <a:latin typeface="Arial" pitchFamily="34" charset="0"/>
                <a:ea typeface="Arial" pitchFamily="34" charset="-122"/>
                <a:cs typeface="Arial" pitchFamily="34" charset="-120"/>
              </a:rPr>
              <a:t>Slide 2. Click a session to jump. Every slide links back to it.</a:t>
            </a:r>
            <a:endParaRPr lang="en-US" sz="1400" dirty="0"/>
          </a:p>
        </p:txBody>
      </p:sp>
      <p:sp>
        <p:nvSpPr>
          <p:cNvPr id="11" name="Shape 7"/>
          <p:cNvSpPr/>
          <p:nvPr/>
        </p:nvSpPr>
        <p:spPr>
          <a:xfrm>
            <a:off x="548640" y="2359152"/>
            <a:ext cx="685800" cy="685800"/>
          </a:xfrm>
          <a:prstGeom prst="ellipse">
            <a:avLst/>
          </a:prstGeom>
          <a:solidFill>
            <a:srgbClr val="287079"/>
          </a:solidFill>
          <a:ln/>
        </p:spPr>
      </p:sp>
      <p:pic>
        <p:nvPicPr>
          <p:cNvPr id="12" name="Image 2" descr="/private/tmp/claude-501/-Users-salehhamed-Outcome-Engine/91861432-41e2-4884-bc97-63c6dff2d021/scratchpad/wk/icons/TbListDetails-white.png">    </p:cNvPr>
          <p:cNvPicPr>
            <a:picLocks noChangeAspect="1"/>
          </p:cNvPicPr>
          <p:nvPr/>
        </p:nvPicPr>
        <p:blipFill>
          <a:blip r:embed="rId4"/>
          <a:stretch>
            <a:fillRect/>
          </a:stretch>
        </p:blipFill>
        <p:spPr>
          <a:xfrm>
            <a:off x="685800" y="2496312"/>
            <a:ext cx="411480" cy="411480"/>
          </a:xfrm>
          <a:prstGeom prst="rect">
            <a:avLst/>
          </a:prstGeom>
        </p:spPr>
      </p:pic>
      <p:sp>
        <p:nvSpPr>
          <p:cNvPr id="13" name="Text 8"/>
          <p:cNvSpPr txBox="1"/>
          <p:nvPr/>
        </p:nvSpPr>
        <p:spPr>
          <a:xfrm>
            <a:off x="1463040" y="2359152"/>
            <a:ext cx="2743200" cy="68580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Options</a:t>
            </a:r>
            <a:endParaRPr lang="en-US" sz="1600" dirty="0"/>
          </a:p>
        </p:txBody>
      </p:sp>
      <p:sp>
        <p:nvSpPr>
          <p:cNvPr id="14" name="Text 9"/>
          <p:cNvSpPr txBox="1"/>
          <p:nvPr/>
        </p:nvSpPr>
        <p:spPr>
          <a:xfrm>
            <a:off x="4206240" y="2359152"/>
            <a:ext cx="7406640" cy="685800"/>
          </a:xfrm>
          <a:prstGeom prst="rect">
            <a:avLst/>
          </a:prstGeom>
          <a:noFill/>
          <a:ln/>
        </p:spPr>
        <p:txBody>
          <a:bodyPr wrap="square" lIns="0" tIns="0" rIns="0" bIns="0" rtlCol="0" anchor="ctr"/>
          <a:lstStyle/>
          <a:p>
            <a:pPr indent="0" marL="0">
              <a:buNone/>
            </a:pPr>
            <a:r>
              <a:rPr lang="en-US" sz="1400" dirty="0">
                <a:solidFill>
                  <a:srgbClr val="1F2A33"/>
                </a:solidFill>
                <a:latin typeface="Arial" pitchFamily="34" charset="0"/>
                <a:ea typeface="Arial" pitchFamily="34" charset="-122"/>
                <a:cs typeface="Arial" pitchFamily="34" charset="-120"/>
              </a:rPr>
              <a:t>Each session has three options. Its menu slide links to each one.</a:t>
            </a:r>
            <a:endParaRPr lang="en-US" sz="1400" dirty="0"/>
          </a:p>
        </p:txBody>
      </p:sp>
      <p:sp>
        <p:nvSpPr>
          <p:cNvPr id="15" name="Shape 10"/>
          <p:cNvSpPr/>
          <p:nvPr/>
        </p:nvSpPr>
        <p:spPr>
          <a:xfrm>
            <a:off x="548640" y="3300984"/>
            <a:ext cx="685800" cy="685800"/>
          </a:xfrm>
          <a:prstGeom prst="ellipse">
            <a:avLst/>
          </a:prstGeom>
          <a:solidFill>
            <a:srgbClr val="287079"/>
          </a:solidFill>
          <a:ln/>
        </p:spPr>
      </p:sp>
      <p:pic>
        <p:nvPicPr>
          <p:cNvPr id="16" name="Image 3" descr="/private/tmp/claude-501/-Users-salehhamed-Outcome-Engine/91861432-41e2-4884-bc97-63c6dff2d021/scratchpad/wk/icons/TbEye-white.png">    </p:cNvPr>
          <p:cNvPicPr>
            <a:picLocks noChangeAspect="1"/>
          </p:cNvPicPr>
          <p:nvPr/>
        </p:nvPicPr>
        <p:blipFill>
          <a:blip r:embed="rId5"/>
          <a:stretch>
            <a:fillRect/>
          </a:stretch>
        </p:blipFill>
        <p:spPr>
          <a:xfrm>
            <a:off x="685800" y="3438144"/>
            <a:ext cx="411480" cy="411480"/>
          </a:xfrm>
          <a:prstGeom prst="rect">
            <a:avLst/>
          </a:prstGeom>
        </p:spPr>
      </p:pic>
      <p:sp>
        <p:nvSpPr>
          <p:cNvPr id="17" name="Text 11"/>
          <p:cNvSpPr txBox="1"/>
          <p:nvPr/>
        </p:nvSpPr>
        <p:spPr>
          <a:xfrm>
            <a:off x="1463040" y="3300984"/>
            <a:ext cx="2743200" cy="68580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Hidden slides</a:t>
            </a:r>
            <a:endParaRPr lang="en-US" sz="1600" dirty="0"/>
          </a:p>
        </p:txBody>
      </p:sp>
      <p:sp>
        <p:nvSpPr>
          <p:cNvPr id="18" name="Text 12"/>
          <p:cNvSpPr txBox="1"/>
          <p:nvPr/>
        </p:nvSpPr>
        <p:spPr>
          <a:xfrm>
            <a:off x="4206240" y="3300984"/>
            <a:ext cx="7406640" cy="685800"/>
          </a:xfrm>
          <a:prstGeom prst="rect">
            <a:avLst/>
          </a:prstGeom>
          <a:noFill/>
          <a:ln/>
        </p:spPr>
        <p:txBody>
          <a:bodyPr wrap="square" lIns="0" tIns="0" rIns="0" bIns="0" rtlCol="0" anchor="ctr"/>
          <a:lstStyle/>
          <a:p>
            <a:pPr indent="0" marL="0">
              <a:buNone/>
            </a:pPr>
            <a:r>
              <a:rPr lang="en-US" sz="1400" dirty="0">
                <a:solidFill>
                  <a:srgbClr val="1F2A33"/>
                </a:solidFill>
                <a:latin typeface="Arial" pitchFamily="34" charset="0"/>
                <a:ea typeface="Arial" pitchFamily="34" charset="-122"/>
                <a:cs typeface="Arial" pitchFamily="34" charset="-120"/>
              </a:rPr>
              <a:t>The deck comes set for the recommended mix. The guide lists what to show or hide if you change it.</a:t>
            </a:r>
            <a:endParaRPr lang="en-US" sz="1400" dirty="0"/>
          </a:p>
        </p:txBody>
      </p:sp>
      <p:sp>
        <p:nvSpPr>
          <p:cNvPr id="19" name="Shape 13"/>
          <p:cNvSpPr/>
          <p:nvPr/>
        </p:nvSpPr>
        <p:spPr>
          <a:xfrm>
            <a:off x="548640" y="4242816"/>
            <a:ext cx="685800" cy="685800"/>
          </a:xfrm>
          <a:prstGeom prst="ellipse">
            <a:avLst/>
          </a:prstGeom>
          <a:solidFill>
            <a:srgbClr val="287079"/>
          </a:solidFill>
          <a:ln/>
        </p:spPr>
      </p:sp>
      <p:pic>
        <p:nvPicPr>
          <p:cNvPr id="20" name="Image 4" descr="/private/tmp/claude-501/-Users-salehhamed-Outcome-Engine/91861432-41e2-4884-bc97-63c6dff2d021/scratchpad/wk/icons/TbNotebook-white.png">    </p:cNvPr>
          <p:cNvPicPr>
            <a:picLocks noChangeAspect="1"/>
          </p:cNvPicPr>
          <p:nvPr/>
        </p:nvPicPr>
        <p:blipFill>
          <a:blip r:embed="rId6"/>
          <a:stretch>
            <a:fillRect/>
          </a:stretch>
        </p:blipFill>
        <p:spPr>
          <a:xfrm>
            <a:off x="685800" y="4379976"/>
            <a:ext cx="411480" cy="411480"/>
          </a:xfrm>
          <a:prstGeom prst="rect">
            <a:avLst/>
          </a:prstGeom>
        </p:spPr>
      </p:pic>
      <p:sp>
        <p:nvSpPr>
          <p:cNvPr id="21" name="Text 14"/>
          <p:cNvSpPr txBox="1"/>
          <p:nvPr/>
        </p:nvSpPr>
        <p:spPr>
          <a:xfrm>
            <a:off x="1463040" y="4242816"/>
            <a:ext cx="2743200" cy="68580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Speaker notes</a:t>
            </a:r>
            <a:endParaRPr lang="en-US" sz="1600" dirty="0"/>
          </a:p>
        </p:txBody>
      </p:sp>
      <p:sp>
        <p:nvSpPr>
          <p:cNvPr id="22" name="Text 15"/>
          <p:cNvSpPr txBox="1"/>
          <p:nvPr/>
        </p:nvSpPr>
        <p:spPr>
          <a:xfrm>
            <a:off x="4206240" y="4242816"/>
            <a:ext cx="7406640" cy="685800"/>
          </a:xfrm>
          <a:prstGeom prst="rect">
            <a:avLst/>
          </a:prstGeom>
          <a:noFill/>
          <a:ln/>
        </p:spPr>
        <p:txBody>
          <a:bodyPr wrap="square" lIns="0" tIns="0" rIns="0" bIns="0" rtlCol="0" anchor="ctr"/>
          <a:lstStyle/>
          <a:p>
            <a:pPr indent="0" marL="0">
              <a:buNone/>
            </a:pPr>
            <a:r>
              <a:rPr lang="en-US" sz="1400" dirty="0">
                <a:solidFill>
                  <a:srgbClr val="1F2A33"/>
                </a:solidFill>
                <a:latin typeface="Arial" pitchFamily="34" charset="0"/>
                <a:ea typeface="Arial" pitchFamily="34" charset="-122"/>
                <a:cs typeface="Arial" pitchFamily="34" charset="-120"/>
              </a:rPr>
              <a:t>Every slide has a script, timings, and what to do if the room is lost.</a:t>
            </a:r>
            <a:endParaRPr lang="en-US" sz="1400" dirty="0"/>
          </a:p>
        </p:txBody>
      </p:sp>
      <p:sp>
        <p:nvSpPr>
          <p:cNvPr id="23" name="Shape 16"/>
          <p:cNvSpPr/>
          <p:nvPr/>
        </p:nvSpPr>
        <p:spPr>
          <a:xfrm>
            <a:off x="548640" y="5184648"/>
            <a:ext cx="685800" cy="685800"/>
          </a:xfrm>
          <a:prstGeom prst="ellipse">
            <a:avLst/>
          </a:prstGeom>
          <a:solidFill>
            <a:srgbClr val="287079"/>
          </a:solidFill>
          <a:ln/>
        </p:spPr>
      </p:sp>
      <p:pic>
        <p:nvPicPr>
          <p:cNvPr id="24" name="Image 5" descr="/private/tmp/claude-501/-Users-salehhamed-Outcome-Engine/91861432-41e2-4884-bc97-63c6dff2d021/scratchpad/wk/icons/TbQrcode-white.png">    </p:cNvPr>
          <p:cNvPicPr>
            <a:picLocks noChangeAspect="1"/>
          </p:cNvPicPr>
          <p:nvPr/>
        </p:nvPicPr>
        <p:blipFill>
          <a:blip r:embed="rId7"/>
          <a:stretch>
            <a:fillRect/>
          </a:stretch>
        </p:blipFill>
        <p:spPr>
          <a:xfrm>
            <a:off x="685800" y="5321808"/>
            <a:ext cx="411480" cy="411480"/>
          </a:xfrm>
          <a:prstGeom prst="rect">
            <a:avLst/>
          </a:prstGeom>
        </p:spPr>
      </p:pic>
      <p:sp>
        <p:nvSpPr>
          <p:cNvPr id="25" name="Text 17"/>
          <p:cNvSpPr txBox="1"/>
          <p:nvPr/>
        </p:nvSpPr>
        <p:spPr>
          <a:xfrm>
            <a:off x="1463040" y="5184648"/>
            <a:ext cx="2743200" cy="685800"/>
          </a:xfrm>
          <a:prstGeom prst="rect">
            <a:avLst/>
          </a:prstGeom>
          <a:noFill/>
          <a:ln/>
        </p:spPr>
        <p:txBody>
          <a:bodyPr wrap="square" lIns="0" tIns="0" rIns="0" bIns="0" rtlCol="0" anchor="ctr"/>
          <a:lstStyle/>
          <a:p>
            <a:pPr indent="0" marL="0">
              <a:buNone/>
            </a:pPr>
            <a:r>
              <a:rPr lang="en-US" sz="1600" b="1" dirty="0">
                <a:solidFill>
                  <a:srgbClr val="1F2A33"/>
                </a:solidFill>
                <a:latin typeface="Arial" pitchFamily="34" charset="0"/>
                <a:ea typeface="Arial" pitchFamily="34" charset="-122"/>
                <a:cs typeface="Arial" pitchFamily="34" charset="-120"/>
              </a:rPr>
              <a:t>The room tool</a:t>
            </a:r>
            <a:endParaRPr lang="en-US" sz="1600" dirty="0"/>
          </a:p>
        </p:txBody>
      </p:sp>
      <p:sp>
        <p:nvSpPr>
          <p:cNvPr id="26" name="Text 18"/>
          <p:cNvSpPr txBox="1"/>
          <p:nvPr/>
        </p:nvSpPr>
        <p:spPr>
          <a:xfrm>
            <a:off x="4206240" y="5184648"/>
            <a:ext cx="7406640" cy="685800"/>
          </a:xfrm>
          <a:prstGeom prst="rect">
            <a:avLst/>
          </a:prstGeom>
          <a:noFill/>
          <a:ln/>
        </p:spPr>
        <p:txBody>
          <a:bodyPr wrap="square" lIns="0" tIns="0" rIns="0" bIns="0" rtlCol="0" anchor="ctr"/>
          <a:lstStyle/>
          <a:p>
            <a:pPr indent="0" marL="0">
              <a:buNone/>
            </a:pPr>
            <a:r>
              <a:rPr lang="en-US" sz="1400" dirty="0">
                <a:solidFill>
                  <a:srgbClr val="1F2A33"/>
                </a:solidFill>
                <a:latin typeface="Arial" pitchFamily="34" charset="0"/>
                <a:ea typeface="Arial" pitchFamily="34" charset="-122"/>
                <a:cs typeface="Arial" pitchFamily="34" charset="-120"/>
              </a:rPr>
              <a:t>Optional. Phones join by QR code; every digital activity also works on paper.</a:t>
            </a:r>
            <a:endParaRPr lang="en-US" sz="140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APPENDIX</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Plain words, 1 of 3</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8A94A4"/>
                </a:solidFill>
                <a:latin typeface="Arial" pitchFamily="34" charset="0"/>
                <a:ea typeface="Arial" pitchFamily="34" charset="-122"/>
                <a:cs typeface="Arial" pitchFamily="34" charset="-120"/>
              </a:rPr>
              <a:t>   213</a:t>
            </a:r>
            <a:endParaRPr lang="en-US" sz="1000" dirty="0"/>
          </a:p>
        </p:txBody>
      </p:sp>
      <p:sp>
        <p:nvSpPr>
          <p:cNvPr id="7" name="Shape 4"/>
          <p:cNvSpPr/>
          <p:nvPr/>
        </p:nvSpPr>
        <p:spPr>
          <a:xfrm>
            <a:off x="548640" y="1417320"/>
            <a:ext cx="5440680" cy="1463040"/>
          </a:xfrm>
          <a:prstGeom prst="roundRect">
            <a:avLst>
              <a:gd name="adj" fmla="val 5000"/>
            </a:avLst>
          </a:prstGeom>
          <a:solidFill>
            <a:srgbClr val="FFFFFF"/>
          </a:solidFill>
          <a:ln w="12700">
            <a:solidFill>
              <a:srgbClr val="D9DEE2"/>
            </a:solidFill>
            <a:prstDash val="solid"/>
          </a:ln>
        </p:spPr>
      </p:sp>
      <p:sp>
        <p:nvSpPr>
          <p:cNvPr id="8" name="Shape 5"/>
          <p:cNvSpPr/>
          <p:nvPr/>
        </p:nvSpPr>
        <p:spPr>
          <a:xfrm>
            <a:off x="731520" y="1645920"/>
            <a:ext cx="594360" cy="594360"/>
          </a:xfrm>
          <a:prstGeom prst="ellipse">
            <a:avLst/>
          </a:prstGeom>
          <a:solidFill>
            <a:srgbClr val="287079"/>
          </a:solidFill>
          <a:ln/>
        </p:spPr>
      </p:sp>
      <p:pic>
        <p:nvPicPr>
          <p:cNvPr id="9" name="Image 1" descr="/private/tmp/claude-501/-Users-salehhamed-Outcome-Engine/91861432-41e2-4884-bc97-63c6dff2d021/scratchpad/wk/icons/TbBriefcase-white.png">    </p:cNvPr>
          <p:cNvPicPr>
            <a:picLocks noChangeAspect="1"/>
          </p:cNvPicPr>
          <p:nvPr/>
        </p:nvPicPr>
        <p:blipFill>
          <a:blip r:embed="rId3"/>
          <a:stretch>
            <a:fillRect/>
          </a:stretch>
        </p:blipFill>
        <p:spPr>
          <a:xfrm>
            <a:off x="850392" y="1764792"/>
            <a:ext cx="356616" cy="356616"/>
          </a:xfrm>
          <a:prstGeom prst="rect">
            <a:avLst/>
          </a:prstGeom>
        </p:spPr>
      </p:pic>
      <p:sp>
        <p:nvSpPr>
          <p:cNvPr id="10" name="Text 6"/>
          <p:cNvSpPr txBox="1"/>
          <p:nvPr/>
        </p:nvSpPr>
        <p:spPr>
          <a:xfrm>
            <a:off x="1508760" y="1554480"/>
            <a:ext cx="4343400" cy="411480"/>
          </a:xfrm>
          <a:prstGeom prst="rect">
            <a:avLst/>
          </a:prstGeom>
          <a:noFill/>
          <a:ln/>
        </p:spPr>
        <p:txBody>
          <a:bodyPr wrap="square" lIns="0" tIns="0" rIns="0" bIns="0" rtlCol="0" anchor="ctr"/>
          <a:lstStyle/>
          <a:p>
            <a:pPr indent="0" marL="0">
              <a:buNone/>
            </a:pPr>
            <a:r>
              <a:rPr lang="en-US" sz="1600" b="1" dirty="0">
                <a:solidFill>
                  <a:srgbClr val="287079"/>
                </a:solidFill>
                <a:latin typeface="Arial" pitchFamily="34" charset="0"/>
                <a:ea typeface="Arial" pitchFamily="34" charset="-122"/>
                <a:cs typeface="Arial" pitchFamily="34" charset="-120"/>
              </a:rPr>
              <a:t>Contract-to-Capacity</a:t>
            </a:r>
            <a:endParaRPr lang="en-US" sz="1600" dirty="0"/>
          </a:p>
        </p:txBody>
      </p:sp>
      <p:sp>
        <p:nvSpPr>
          <p:cNvPr id="11" name="Text 7"/>
          <p:cNvSpPr txBox="1"/>
          <p:nvPr/>
        </p:nvSpPr>
        <p:spPr>
          <a:xfrm>
            <a:off x="1508760" y="1965960"/>
            <a:ext cx="4343400" cy="8686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Turning a deal we are likely to win into a staffing plan, checking who is really free, and giving every unfilled role an owner.</a:t>
            </a:r>
            <a:endParaRPr lang="en-US" sz="1250" dirty="0"/>
          </a:p>
        </p:txBody>
      </p:sp>
      <p:sp>
        <p:nvSpPr>
          <p:cNvPr id="12" name="Shape 8"/>
          <p:cNvSpPr/>
          <p:nvPr/>
        </p:nvSpPr>
        <p:spPr>
          <a:xfrm>
            <a:off x="6172200" y="1417320"/>
            <a:ext cx="5440680" cy="1463040"/>
          </a:xfrm>
          <a:prstGeom prst="roundRect">
            <a:avLst>
              <a:gd name="adj" fmla="val 5000"/>
            </a:avLst>
          </a:prstGeom>
          <a:solidFill>
            <a:srgbClr val="FFFFFF"/>
          </a:solidFill>
          <a:ln w="12700">
            <a:solidFill>
              <a:srgbClr val="D9DEE2"/>
            </a:solidFill>
            <a:prstDash val="solid"/>
          </a:ln>
        </p:spPr>
      </p:sp>
      <p:sp>
        <p:nvSpPr>
          <p:cNvPr id="13" name="Shape 9"/>
          <p:cNvSpPr/>
          <p:nvPr/>
        </p:nvSpPr>
        <p:spPr>
          <a:xfrm>
            <a:off x="6355080" y="1645920"/>
            <a:ext cx="594360" cy="594360"/>
          </a:xfrm>
          <a:prstGeom prst="ellipse">
            <a:avLst/>
          </a:prstGeom>
          <a:solidFill>
            <a:srgbClr val="287079"/>
          </a:solidFill>
          <a:ln/>
        </p:spPr>
      </p:sp>
      <p:pic>
        <p:nvPicPr>
          <p:cNvPr id="14" name="Image 2" descr="/private/tmp/claude-501/-Users-salehhamed-Outcome-Engine/91861432-41e2-4884-bc97-63c6dff2d021/scratchpad/wk/icons/TbRoute-white.png">    </p:cNvPr>
          <p:cNvPicPr>
            <a:picLocks noChangeAspect="1"/>
          </p:cNvPicPr>
          <p:nvPr/>
        </p:nvPicPr>
        <p:blipFill>
          <a:blip r:embed="rId4"/>
          <a:stretch>
            <a:fillRect/>
          </a:stretch>
        </p:blipFill>
        <p:spPr>
          <a:xfrm>
            <a:off x="6473952" y="1764792"/>
            <a:ext cx="356616" cy="356616"/>
          </a:xfrm>
          <a:prstGeom prst="rect">
            <a:avLst/>
          </a:prstGeom>
        </p:spPr>
      </p:pic>
      <p:sp>
        <p:nvSpPr>
          <p:cNvPr id="15" name="Text 10"/>
          <p:cNvSpPr txBox="1"/>
          <p:nvPr/>
        </p:nvSpPr>
        <p:spPr>
          <a:xfrm>
            <a:off x="7132320" y="1554480"/>
            <a:ext cx="4343400" cy="411480"/>
          </a:xfrm>
          <a:prstGeom prst="rect">
            <a:avLst/>
          </a:prstGeom>
          <a:noFill/>
          <a:ln/>
        </p:spPr>
        <p:txBody>
          <a:bodyPr wrap="square" lIns="0" tIns="0" rIns="0" bIns="0" rtlCol="0" anchor="ctr"/>
          <a:lstStyle/>
          <a:p>
            <a:pPr indent="0" marL="0">
              <a:buNone/>
            </a:pPr>
            <a:r>
              <a:rPr lang="en-US" sz="1600" b="1" dirty="0">
                <a:solidFill>
                  <a:srgbClr val="287079"/>
                </a:solidFill>
                <a:latin typeface="Arial" pitchFamily="34" charset="0"/>
                <a:ea typeface="Arial" pitchFamily="34" charset="-122"/>
                <a:cs typeface="Arial" pitchFamily="34" charset="-120"/>
              </a:rPr>
              <a:t>Engine</a:t>
            </a:r>
            <a:endParaRPr lang="en-US" sz="1600" dirty="0"/>
          </a:p>
        </p:txBody>
      </p:sp>
      <p:sp>
        <p:nvSpPr>
          <p:cNvPr id="16" name="Text 11"/>
          <p:cNvSpPr txBox="1"/>
          <p:nvPr/>
        </p:nvSpPr>
        <p:spPr>
          <a:xfrm>
            <a:off x="7132320" y="1965960"/>
            <a:ext cx="4343400" cy="8686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A system that runs one kind of work from start to a checked finish. It drafts, follows agreed rules, and sends the hard calls to named people.</a:t>
            </a:r>
            <a:endParaRPr lang="en-US" sz="1250" dirty="0"/>
          </a:p>
        </p:txBody>
      </p:sp>
      <p:sp>
        <p:nvSpPr>
          <p:cNvPr id="17" name="Shape 12"/>
          <p:cNvSpPr/>
          <p:nvPr/>
        </p:nvSpPr>
        <p:spPr>
          <a:xfrm>
            <a:off x="548640" y="3017520"/>
            <a:ext cx="5440680" cy="1463040"/>
          </a:xfrm>
          <a:prstGeom prst="roundRect">
            <a:avLst>
              <a:gd name="adj" fmla="val 5000"/>
            </a:avLst>
          </a:prstGeom>
          <a:solidFill>
            <a:srgbClr val="FFFFFF"/>
          </a:solidFill>
          <a:ln w="12700">
            <a:solidFill>
              <a:srgbClr val="D9DEE2"/>
            </a:solidFill>
            <a:prstDash val="solid"/>
          </a:ln>
        </p:spPr>
      </p:sp>
      <p:sp>
        <p:nvSpPr>
          <p:cNvPr id="18" name="Shape 13"/>
          <p:cNvSpPr/>
          <p:nvPr/>
        </p:nvSpPr>
        <p:spPr>
          <a:xfrm>
            <a:off x="731520" y="3246120"/>
            <a:ext cx="594360" cy="594360"/>
          </a:xfrm>
          <a:prstGeom prst="ellipse">
            <a:avLst/>
          </a:prstGeom>
          <a:solidFill>
            <a:srgbClr val="287079"/>
          </a:solidFill>
          <a:ln/>
        </p:spPr>
      </p:sp>
      <p:pic>
        <p:nvPicPr>
          <p:cNvPr id="19" name="Image 3" descr="/private/tmp/claude-501/-Users-salehhamed-Outcome-Engine/91861432-41e2-4884-bc97-63c6dff2d021/scratchpad/wk/icons/TbHammer-white.png">    </p:cNvPr>
          <p:cNvPicPr>
            <a:picLocks noChangeAspect="1"/>
          </p:cNvPicPr>
          <p:nvPr/>
        </p:nvPicPr>
        <p:blipFill>
          <a:blip r:embed="rId5"/>
          <a:stretch>
            <a:fillRect/>
          </a:stretch>
        </p:blipFill>
        <p:spPr>
          <a:xfrm>
            <a:off x="850392" y="3364992"/>
            <a:ext cx="356616" cy="356616"/>
          </a:xfrm>
          <a:prstGeom prst="rect">
            <a:avLst/>
          </a:prstGeom>
        </p:spPr>
      </p:pic>
      <p:sp>
        <p:nvSpPr>
          <p:cNvPr id="20" name="Text 14"/>
          <p:cNvSpPr txBox="1"/>
          <p:nvPr/>
        </p:nvSpPr>
        <p:spPr>
          <a:xfrm>
            <a:off x="1508760" y="3154680"/>
            <a:ext cx="4343400" cy="411480"/>
          </a:xfrm>
          <a:prstGeom prst="rect">
            <a:avLst/>
          </a:prstGeom>
          <a:noFill/>
          <a:ln/>
        </p:spPr>
        <p:txBody>
          <a:bodyPr wrap="square" lIns="0" tIns="0" rIns="0" bIns="0" rtlCol="0" anchor="ctr"/>
          <a:lstStyle/>
          <a:p>
            <a:pPr indent="0" marL="0">
              <a:buNone/>
            </a:pPr>
            <a:r>
              <a:rPr lang="en-US" sz="1600" b="1" dirty="0">
                <a:solidFill>
                  <a:srgbClr val="287079"/>
                </a:solidFill>
                <a:latin typeface="Arial" pitchFamily="34" charset="0"/>
                <a:ea typeface="Arial" pitchFamily="34" charset="-122"/>
                <a:cs typeface="Arial" pitchFamily="34" charset="-120"/>
              </a:rPr>
              <a:t>Proof of Concept</a:t>
            </a:r>
            <a:endParaRPr lang="en-US" sz="1600" dirty="0"/>
          </a:p>
        </p:txBody>
      </p:sp>
      <p:sp>
        <p:nvSpPr>
          <p:cNvPr id="21" name="Text 15"/>
          <p:cNvSpPr txBox="1"/>
          <p:nvPr/>
        </p:nvSpPr>
        <p:spPr>
          <a:xfrm>
            <a:off x="1508760" y="3566160"/>
            <a:ext cx="4343400" cy="8686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A first working version, built during these two days, to test the idea on real cases.</a:t>
            </a:r>
            <a:endParaRPr lang="en-US" sz="1250" dirty="0"/>
          </a:p>
        </p:txBody>
      </p:sp>
      <p:sp>
        <p:nvSpPr>
          <p:cNvPr id="22" name="Shape 16"/>
          <p:cNvSpPr/>
          <p:nvPr/>
        </p:nvSpPr>
        <p:spPr>
          <a:xfrm>
            <a:off x="6172200" y="3017520"/>
            <a:ext cx="5440680" cy="1463040"/>
          </a:xfrm>
          <a:prstGeom prst="roundRect">
            <a:avLst>
              <a:gd name="adj" fmla="val 5000"/>
            </a:avLst>
          </a:prstGeom>
          <a:solidFill>
            <a:srgbClr val="FFFFFF"/>
          </a:solidFill>
          <a:ln w="12700">
            <a:solidFill>
              <a:srgbClr val="D9DEE2"/>
            </a:solidFill>
            <a:prstDash val="solid"/>
          </a:ln>
        </p:spPr>
      </p:sp>
      <p:sp>
        <p:nvSpPr>
          <p:cNvPr id="23" name="Shape 17"/>
          <p:cNvSpPr/>
          <p:nvPr/>
        </p:nvSpPr>
        <p:spPr>
          <a:xfrm>
            <a:off x="6355080" y="3246120"/>
            <a:ext cx="594360" cy="594360"/>
          </a:xfrm>
          <a:prstGeom prst="ellipse">
            <a:avLst/>
          </a:prstGeom>
          <a:solidFill>
            <a:srgbClr val="287079"/>
          </a:solidFill>
          <a:ln/>
        </p:spPr>
      </p:sp>
      <p:pic>
        <p:nvPicPr>
          <p:cNvPr id="24" name="Image 4" descr="/private/tmp/claude-501/-Users-salehhamed-Outcome-Engine/91861432-41e2-4884-bc97-63c6dff2d021/scratchpad/wk/icons/TbFlag3-white.png">    </p:cNvPr>
          <p:cNvPicPr>
            <a:picLocks noChangeAspect="1"/>
          </p:cNvPicPr>
          <p:nvPr/>
        </p:nvPicPr>
        <p:blipFill>
          <a:blip r:embed="rId6"/>
          <a:stretch>
            <a:fillRect/>
          </a:stretch>
        </p:blipFill>
        <p:spPr>
          <a:xfrm>
            <a:off x="6473952" y="3364992"/>
            <a:ext cx="356616" cy="356616"/>
          </a:xfrm>
          <a:prstGeom prst="rect">
            <a:avLst/>
          </a:prstGeom>
        </p:spPr>
      </p:pic>
      <p:sp>
        <p:nvSpPr>
          <p:cNvPr id="25" name="Text 18"/>
          <p:cNvSpPr txBox="1"/>
          <p:nvPr/>
        </p:nvSpPr>
        <p:spPr>
          <a:xfrm>
            <a:off x="7132320" y="3154680"/>
            <a:ext cx="4343400" cy="411480"/>
          </a:xfrm>
          <a:prstGeom prst="rect">
            <a:avLst/>
          </a:prstGeom>
          <a:noFill/>
          <a:ln/>
        </p:spPr>
        <p:txBody>
          <a:bodyPr wrap="square" lIns="0" tIns="0" rIns="0" bIns="0" rtlCol="0" anchor="ctr"/>
          <a:lstStyle/>
          <a:p>
            <a:pPr indent="0" marL="0">
              <a:buNone/>
            </a:pPr>
            <a:r>
              <a:rPr lang="en-US" sz="1600" b="1" dirty="0">
                <a:solidFill>
                  <a:srgbClr val="287079"/>
                </a:solidFill>
                <a:latin typeface="Arial" pitchFamily="34" charset="0"/>
                <a:ea typeface="Arial" pitchFamily="34" charset="-122"/>
                <a:cs typeface="Arial" pitchFamily="34" charset="-120"/>
              </a:rPr>
              <a:t>Proceed, Narrow or Stop</a:t>
            </a:r>
            <a:endParaRPr lang="en-US" sz="1600" dirty="0"/>
          </a:p>
        </p:txBody>
      </p:sp>
      <p:sp>
        <p:nvSpPr>
          <p:cNvPr id="26" name="Text 19"/>
          <p:cNvSpPr txBox="1"/>
          <p:nvPr/>
        </p:nvSpPr>
        <p:spPr>
          <a:xfrm>
            <a:off x="7132320" y="3566160"/>
            <a:ext cx="4343400" cy="8686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The three possible decisions at the end of Day 2. Proceed: go ahead as planned. Narrow: go ahead with a smaller scope. Stop: not now, and we say why.</a:t>
            </a:r>
            <a:endParaRPr lang="en-US" sz="1250" dirty="0"/>
          </a:p>
        </p:txBody>
      </p:sp>
      <p:sp>
        <p:nvSpPr>
          <p:cNvPr id="27" name="Shape 20"/>
          <p:cNvSpPr/>
          <p:nvPr/>
        </p:nvSpPr>
        <p:spPr>
          <a:xfrm>
            <a:off x="548640" y="4617720"/>
            <a:ext cx="5440680" cy="1463040"/>
          </a:xfrm>
          <a:prstGeom prst="roundRect">
            <a:avLst>
              <a:gd name="adj" fmla="val 5000"/>
            </a:avLst>
          </a:prstGeom>
          <a:solidFill>
            <a:srgbClr val="FFFFFF"/>
          </a:solidFill>
          <a:ln w="12700">
            <a:solidFill>
              <a:srgbClr val="D9DEE2"/>
            </a:solidFill>
            <a:prstDash val="solid"/>
          </a:ln>
        </p:spPr>
      </p:sp>
      <p:sp>
        <p:nvSpPr>
          <p:cNvPr id="28" name="Shape 21"/>
          <p:cNvSpPr/>
          <p:nvPr/>
        </p:nvSpPr>
        <p:spPr>
          <a:xfrm>
            <a:off x="731520" y="4846320"/>
            <a:ext cx="594360" cy="594360"/>
          </a:xfrm>
          <a:prstGeom prst="ellipse">
            <a:avLst/>
          </a:prstGeom>
          <a:solidFill>
            <a:srgbClr val="287079"/>
          </a:solidFill>
          <a:ln/>
        </p:spPr>
      </p:sp>
      <p:pic>
        <p:nvPicPr>
          <p:cNvPr id="29" name="Image 5" descr="/private/tmp/claude-501/-Users-salehhamed-Outcome-Engine/91861432-41e2-4884-bc97-63c6dff2d021/scratchpad/wk/icons/TbDatabase-white.png">    </p:cNvPr>
          <p:cNvPicPr>
            <a:picLocks noChangeAspect="1"/>
          </p:cNvPicPr>
          <p:nvPr/>
        </p:nvPicPr>
        <p:blipFill>
          <a:blip r:embed="rId7"/>
          <a:stretch>
            <a:fillRect/>
          </a:stretch>
        </p:blipFill>
        <p:spPr>
          <a:xfrm>
            <a:off x="850392" y="4965192"/>
            <a:ext cx="356616" cy="356616"/>
          </a:xfrm>
          <a:prstGeom prst="rect">
            <a:avLst/>
          </a:prstGeom>
        </p:spPr>
      </p:pic>
      <p:sp>
        <p:nvSpPr>
          <p:cNvPr id="30" name="Text 22"/>
          <p:cNvSpPr txBox="1"/>
          <p:nvPr/>
        </p:nvSpPr>
        <p:spPr>
          <a:xfrm>
            <a:off x="1508760" y="4754880"/>
            <a:ext cx="4343400" cy="411480"/>
          </a:xfrm>
          <a:prstGeom prst="rect">
            <a:avLst/>
          </a:prstGeom>
          <a:noFill/>
          <a:ln/>
        </p:spPr>
        <p:txBody>
          <a:bodyPr wrap="square" lIns="0" tIns="0" rIns="0" bIns="0" rtlCol="0" anchor="ctr"/>
          <a:lstStyle/>
          <a:p>
            <a:pPr indent="0" marL="0">
              <a:buNone/>
            </a:pPr>
            <a:r>
              <a:rPr lang="en-US" sz="1600" b="1" dirty="0">
                <a:solidFill>
                  <a:srgbClr val="287079"/>
                </a:solidFill>
                <a:latin typeface="Arial" pitchFamily="34" charset="0"/>
                <a:ea typeface="Arial" pitchFamily="34" charset="-122"/>
                <a:cs typeface="Arial" pitchFamily="34" charset="-120"/>
              </a:rPr>
              <a:t>Record</a:t>
            </a:r>
            <a:endParaRPr lang="en-US" sz="1600" dirty="0"/>
          </a:p>
        </p:txBody>
      </p:sp>
      <p:sp>
        <p:nvSpPr>
          <p:cNvPr id="31" name="Text 23"/>
          <p:cNvSpPr txBox="1"/>
          <p:nvPr/>
        </p:nvSpPr>
        <p:spPr>
          <a:xfrm>
            <a:off x="1508760" y="5166360"/>
            <a:ext cx="4343400" cy="8686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What a system says, such as Workday or Atlas.</a:t>
            </a:r>
            <a:endParaRPr lang="en-US" sz="1250" dirty="0"/>
          </a:p>
        </p:txBody>
      </p:sp>
      <p:sp>
        <p:nvSpPr>
          <p:cNvPr id="32" name="Shape 24"/>
          <p:cNvSpPr/>
          <p:nvPr/>
        </p:nvSpPr>
        <p:spPr>
          <a:xfrm>
            <a:off x="6172200" y="4617720"/>
            <a:ext cx="5440680" cy="1463040"/>
          </a:xfrm>
          <a:prstGeom prst="roundRect">
            <a:avLst>
              <a:gd name="adj" fmla="val 5000"/>
            </a:avLst>
          </a:prstGeom>
          <a:solidFill>
            <a:srgbClr val="FFFFFF"/>
          </a:solidFill>
          <a:ln w="12700">
            <a:solidFill>
              <a:srgbClr val="D9DEE2"/>
            </a:solidFill>
            <a:prstDash val="solid"/>
          </a:ln>
        </p:spPr>
      </p:sp>
      <p:sp>
        <p:nvSpPr>
          <p:cNvPr id="33" name="Shape 25"/>
          <p:cNvSpPr/>
          <p:nvPr/>
        </p:nvSpPr>
        <p:spPr>
          <a:xfrm>
            <a:off x="6355080" y="4846320"/>
            <a:ext cx="594360" cy="594360"/>
          </a:xfrm>
          <a:prstGeom prst="ellipse">
            <a:avLst/>
          </a:prstGeom>
          <a:solidFill>
            <a:srgbClr val="287079"/>
          </a:solidFill>
          <a:ln/>
        </p:spPr>
      </p:sp>
      <p:pic>
        <p:nvPicPr>
          <p:cNvPr id="34" name="Image 6" descr="/private/tmp/claude-501/-Users-salehhamed-Outcome-Engine/91861432-41e2-4884-bc97-63c6dff2d021/scratchpad/wk/icons/TbUserSearch-white.png">    </p:cNvPr>
          <p:cNvPicPr>
            <a:picLocks noChangeAspect="1"/>
          </p:cNvPicPr>
          <p:nvPr/>
        </p:nvPicPr>
        <p:blipFill>
          <a:blip r:embed="rId8"/>
          <a:stretch>
            <a:fillRect/>
          </a:stretch>
        </p:blipFill>
        <p:spPr>
          <a:xfrm>
            <a:off x="6473952" y="4965192"/>
            <a:ext cx="356616" cy="356616"/>
          </a:xfrm>
          <a:prstGeom prst="rect">
            <a:avLst/>
          </a:prstGeom>
        </p:spPr>
      </p:pic>
      <p:sp>
        <p:nvSpPr>
          <p:cNvPr id="35" name="Text 26"/>
          <p:cNvSpPr txBox="1"/>
          <p:nvPr/>
        </p:nvSpPr>
        <p:spPr>
          <a:xfrm>
            <a:off x="7132320" y="4754880"/>
            <a:ext cx="4343400" cy="411480"/>
          </a:xfrm>
          <a:prstGeom prst="rect">
            <a:avLst/>
          </a:prstGeom>
          <a:noFill/>
          <a:ln/>
        </p:spPr>
        <p:txBody>
          <a:bodyPr wrap="square" lIns="0" tIns="0" rIns="0" bIns="0" rtlCol="0" anchor="ctr"/>
          <a:lstStyle/>
          <a:p>
            <a:pPr indent="0" marL="0">
              <a:buNone/>
            </a:pPr>
            <a:r>
              <a:rPr lang="en-US" sz="1600" b="1" dirty="0">
                <a:solidFill>
                  <a:srgbClr val="287079"/>
                </a:solidFill>
                <a:latin typeface="Arial" pitchFamily="34" charset="0"/>
                <a:ea typeface="Arial" pitchFamily="34" charset="-122"/>
                <a:cs typeface="Arial" pitchFamily="34" charset="-120"/>
              </a:rPr>
              <a:t>Shortfall</a:t>
            </a:r>
            <a:endParaRPr lang="en-US" sz="1600" dirty="0"/>
          </a:p>
        </p:txBody>
      </p:sp>
      <p:sp>
        <p:nvSpPr>
          <p:cNvPr id="36" name="Text 27"/>
          <p:cNvSpPr txBox="1"/>
          <p:nvPr/>
        </p:nvSpPr>
        <p:spPr>
          <a:xfrm>
            <a:off x="7132320" y="5166360"/>
            <a:ext cx="4343400" cy="8686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Nobody found yet. Not a gap until someone has checked.</a:t>
            </a:r>
            <a:endParaRPr lang="en-US" sz="125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APPENDIX</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Plain words, 2 of 3</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8A94A4"/>
                </a:solidFill>
                <a:latin typeface="Arial" pitchFamily="34" charset="0"/>
                <a:ea typeface="Arial" pitchFamily="34" charset="-122"/>
                <a:cs typeface="Arial" pitchFamily="34" charset="-120"/>
              </a:rPr>
              <a:t>   214</a:t>
            </a:r>
            <a:endParaRPr lang="en-US" sz="1000" dirty="0"/>
          </a:p>
        </p:txBody>
      </p:sp>
      <p:sp>
        <p:nvSpPr>
          <p:cNvPr id="7" name="Shape 4"/>
          <p:cNvSpPr/>
          <p:nvPr/>
        </p:nvSpPr>
        <p:spPr>
          <a:xfrm>
            <a:off x="548640" y="1417320"/>
            <a:ext cx="5440680" cy="1463040"/>
          </a:xfrm>
          <a:prstGeom prst="roundRect">
            <a:avLst>
              <a:gd name="adj" fmla="val 5000"/>
            </a:avLst>
          </a:prstGeom>
          <a:solidFill>
            <a:srgbClr val="FFFFFF"/>
          </a:solidFill>
          <a:ln w="12700">
            <a:solidFill>
              <a:srgbClr val="D9DEE2"/>
            </a:solidFill>
            <a:prstDash val="solid"/>
          </a:ln>
        </p:spPr>
      </p:sp>
      <p:sp>
        <p:nvSpPr>
          <p:cNvPr id="8" name="Shape 5"/>
          <p:cNvSpPr/>
          <p:nvPr/>
        </p:nvSpPr>
        <p:spPr>
          <a:xfrm>
            <a:off x="731520" y="1645920"/>
            <a:ext cx="594360" cy="594360"/>
          </a:xfrm>
          <a:prstGeom prst="ellipse">
            <a:avLst/>
          </a:prstGeom>
          <a:solidFill>
            <a:srgbClr val="287079"/>
          </a:solidFill>
          <a:ln/>
        </p:spPr>
      </p:sp>
      <p:pic>
        <p:nvPicPr>
          <p:cNvPr id="9" name="Image 1" descr="/private/tmp/claude-501/-Users-salehhamed-Outcome-Engine/91861432-41e2-4884-bc97-63c6dff2d021/scratchpad/wk/icons/TbUserQuestion-white.png">    </p:cNvPr>
          <p:cNvPicPr>
            <a:picLocks noChangeAspect="1"/>
          </p:cNvPicPr>
          <p:nvPr/>
        </p:nvPicPr>
        <p:blipFill>
          <a:blip r:embed="rId3"/>
          <a:stretch>
            <a:fillRect/>
          </a:stretch>
        </p:blipFill>
        <p:spPr>
          <a:xfrm>
            <a:off x="850392" y="1764792"/>
            <a:ext cx="356616" cy="356616"/>
          </a:xfrm>
          <a:prstGeom prst="rect">
            <a:avLst/>
          </a:prstGeom>
        </p:spPr>
      </p:pic>
      <p:sp>
        <p:nvSpPr>
          <p:cNvPr id="10" name="Text 6"/>
          <p:cNvSpPr txBox="1"/>
          <p:nvPr/>
        </p:nvSpPr>
        <p:spPr>
          <a:xfrm>
            <a:off x="1508760" y="1554480"/>
            <a:ext cx="4343400" cy="411480"/>
          </a:xfrm>
          <a:prstGeom prst="rect">
            <a:avLst/>
          </a:prstGeom>
          <a:noFill/>
          <a:ln/>
        </p:spPr>
        <p:txBody>
          <a:bodyPr wrap="square" lIns="0" tIns="0" rIns="0" bIns="0" rtlCol="0" anchor="ctr"/>
          <a:lstStyle/>
          <a:p>
            <a:pPr indent="0" marL="0">
              <a:buNone/>
            </a:pPr>
            <a:r>
              <a:rPr lang="en-US" sz="1600" b="1" dirty="0">
                <a:solidFill>
                  <a:srgbClr val="287079"/>
                </a:solidFill>
                <a:latin typeface="Arial" pitchFamily="34" charset="0"/>
                <a:ea typeface="Arial" pitchFamily="34" charset="-122"/>
                <a:cs typeface="Arial" pitchFamily="34" charset="-120"/>
              </a:rPr>
              <a:t>Gap</a:t>
            </a:r>
            <a:endParaRPr lang="en-US" sz="1600" dirty="0"/>
          </a:p>
        </p:txBody>
      </p:sp>
      <p:sp>
        <p:nvSpPr>
          <p:cNvPr id="11" name="Text 7"/>
          <p:cNvSpPr txBox="1"/>
          <p:nvPr/>
        </p:nvSpPr>
        <p:spPr>
          <a:xfrm>
            <a:off x="1508760" y="1965960"/>
            <a:ext cx="4343400" cy="8686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A confirmed shortage, with its evidence, declared by a named person, and owned.</a:t>
            </a:r>
            <a:endParaRPr lang="en-US" sz="1250" dirty="0"/>
          </a:p>
        </p:txBody>
      </p:sp>
      <p:sp>
        <p:nvSpPr>
          <p:cNvPr id="12" name="Shape 8"/>
          <p:cNvSpPr/>
          <p:nvPr/>
        </p:nvSpPr>
        <p:spPr>
          <a:xfrm>
            <a:off x="6172200" y="1417320"/>
            <a:ext cx="5440680" cy="1463040"/>
          </a:xfrm>
          <a:prstGeom prst="roundRect">
            <a:avLst>
              <a:gd name="adj" fmla="val 5000"/>
            </a:avLst>
          </a:prstGeom>
          <a:solidFill>
            <a:srgbClr val="FFFFFF"/>
          </a:solidFill>
          <a:ln w="12700">
            <a:solidFill>
              <a:srgbClr val="D9DEE2"/>
            </a:solidFill>
            <a:prstDash val="solid"/>
          </a:ln>
        </p:spPr>
      </p:sp>
      <p:sp>
        <p:nvSpPr>
          <p:cNvPr id="13" name="Shape 9"/>
          <p:cNvSpPr/>
          <p:nvPr/>
        </p:nvSpPr>
        <p:spPr>
          <a:xfrm>
            <a:off x="6355080" y="1645920"/>
            <a:ext cx="594360" cy="594360"/>
          </a:xfrm>
          <a:prstGeom prst="ellipse">
            <a:avLst/>
          </a:prstGeom>
          <a:solidFill>
            <a:srgbClr val="287079"/>
          </a:solidFill>
          <a:ln/>
        </p:spPr>
      </p:sp>
      <p:pic>
        <p:nvPicPr>
          <p:cNvPr id="14" name="Image 2" descr="/private/tmp/claude-501/-Users-salehhamed-Outcome-Engine/91861432-41e2-4884-bc97-63c6dff2d021/scratchpad/wk/icons/TbTarget-white.png">    </p:cNvPr>
          <p:cNvPicPr>
            <a:picLocks noChangeAspect="1"/>
          </p:cNvPicPr>
          <p:nvPr/>
        </p:nvPicPr>
        <p:blipFill>
          <a:blip r:embed="rId4"/>
          <a:stretch>
            <a:fillRect/>
          </a:stretch>
        </p:blipFill>
        <p:spPr>
          <a:xfrm>
            <a:off x="6473952" y="1764792"/>
            <a:ext cx="356616" cy="356616"/>
          </a:xfrm>
          <a:prstGeom prst="rect">
            <a:avLst/>
          </a:prstGeom>
        </p:spPr>
      </p:pic>
      <p:sp>
        <p:nvSpPr>
          <p:cNvPr id="15" name="Text 10"/>
          <p:cNvSpPr txBox="1"/>
          <p:nvPr/>
        </p:nvSpPr>
        <p:spPr>
          <a:xfrm>
            <a:off x="7132320" y="1554480"/>
            <a:ext cx="4343400" cy="411480"/>
          </a:xfrm>
          <a:prstGeom prst="rect">
            <a:avLst/>
          </a:prstGeom>
          <a:noFill/>
          <a:ln/>
        </p:spPr>
        <p:txBody>
          <a:bodyPr wrap="square" lIns="0" tIns="0" rIns="0" bIns="0" rtlCol="0" anchor="ctr"/>
          <a:lstStyle/>
          <a:p>
            <a:pPr indent="0" marL="0">
              <a:buNone/>
            </a:pPr>
            <a:r>
              <a:rPr lang="en-US" sz="1600" b="1" dirty="0">
                <a:solidFill>
                  <a:srgbClr val="287079"/>
                </a:solidFill>
                <a:latin typeface="Arial" pitchFamily="34" charset="0"/>
                <a:ea typeface="Arial" pitchFamily="34" charset="-122"/>
                <a:cs typeface="Arial" pitchFamily="34" charset="-120"/>
              </a:rPr>
              <a:t>Outcome</a:t>
            </a:r>
            <a:endParaRPr lang="en-US" sz="1600" dirty="0"/>
          </a:p>
        </p:txBody>
      </p:sp>
      <p:sp>
        <p:nvSpPr>
          <p:cNvPr id="16" name="Text 11"/>
          <p:cNvSpPr txBox="1"/>
          <p:nvPr/>
        </p:nvSpPr>
        <p:spPr>
          <a:xfrm>
            <a:off x="7132320" y="1965960"/>
            <a:ext cx="4343400" cy="8686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The result we promise for every deal. True or false for one deal, and provable from a record.</a:t>
            </a:r>
            <a:endParaRPr lang="en-US" sz="1250" dirty="0"/>
          </a:p>
        </p:txBody>
      </p:sp>
      <p:sp>
        <p:nvSpPr>
          <p:cNvPr id="17" name="Shape 12"/>
          <p:cNvSpPr/>
          <p:nvPr/>
        </p:nvSpPr>
        <p:spPr>
          <a:xfrm>
            <a:off x="548640" y="3017520"/>
            <a:ext cx="5440680" cy="1463040"/>
          </a:xfrm>
          <a:prstGeom prst="roundRect">
            <a:avLst>
              <a:gd name="adj" fmla="val 5000"/>
            </a:avLst>
          </a:prstGeom>
          <a:solidFill>
            <a:srgbClr val="FFFFFF"/>
          </a:solidFill>
          <a:ln w="12700">
            <a:solidFill>
              <a:srgbClr val="D9DEE2"/>
            </a:solidFill>
            <a:prstDash val="solid"/>
          </a:ln>
        </p:spPr>
      </p:sp>
      <p:sp>
        <p:nvSpPr>
          <p:cNvPr id="18" name="Shape 13"/>
          <p:cNvSpPr/>
          <p:nvPr/>
        </p:nvSpPr>
        <p:spPr>
          <a:xfrm>
            <a:off x="731520" y="3246120"/>
            <a:ext cx="594360" cy="594360"/>
          </a:xfrm>
          <a:prstGeom prst="ellipse">
            <a:avLst/>
          </a:prstGeom>
          <a:solidFill>
            <a:srgbClr val="287079"/>
          </a:solidFill>
          <a:ln/>
        </p:spPr>
      </p:sp>
      <p:pic>
        <p:nvPicPr>
          <p:cNvPr id="19" name="Image 3" descr="/private/tmp/claude-501/-Users-salehhamed-Outcome-Engine/91861432-41e2-4884-bc97-63c6dff2d021/scratchpad/wk/icons/TbListCheck-white.png">    </p:cNvPr>
          <p:cNvPicPr>
            <a:picLocks noChangeAspect="1"/>
          </p:cNvPicPr>
          <p:nvPr/>
        </p:nvPicPr>
        <p:blipFill>
          <a:blip r:embed="rId5"/>
          <a:stretch>
            <a:fillRect/>
          </a:stretch>
        </p:blipFill>
        <p:spPr>
          <a:xfrm>
            <a:off x="850392" y="3364992"/>
            <a:ext cx="356616" cy="356616"/>
          </a:xfrm>
          <a:prstGeom prst="rect">
            <a:avLst/>
          </a:prstGeom>
        </p:spPr>
      </p:pic>
      <p:sp>
        <p:nvSpPr>
          <p:cNvPr id="20" name="Text 14"/>
          <p:cNvSpPr txBox="1"/>
          <p:nvPr/>
        </p:nvSpPr>
        <p:spPr>
          <a:xfrm>
            <a:off x="1508760" y="3154680"/>
            <a:ext cx="4343400" cy="411480"/>
          </a:xfrm>
          <a:prstGeom prst="rect">
            <a:avLst/>
          </a:prstGeom>
          <a:noFill/>
          <a:ln/>
        </p:spPr>
        <p:txBody>
          <a:bodyPr wrap="square" lIns="0" tIns="0" rIns="0" bIns="0" rtlCol="0" anchor="ctr"/>
          <a:lstStyle/>
          <a:p>
            <a:pPr indent="0" marL="0">
              <a:buNone/>
            </a:pPr>
            <a:r>
              <a:rPr lang="en-US" sz="1600" b="1" dirty="0">
                <a:solidFill>
                  <a:srgbClr val="287079"/>
                </a:solidFill>
                <a:latin typeface="Arial" pitchFamily="34" charset="0"/>
                <a:ea typeface="Arial" pitchFamily="34" charset="-122"/>
                <a:cs typeface="Arial" pitchFamily="34" charset="-120"/>
              </a:rPr>
              <a:t>Done checks</a:t>
            </a:r>
            <a:endParaRPr lang="en-US" sz="1600" dirty="0"/>
          </a:p>
        </p:txBody>
      </p:sp>
      <p:sp>
        <p:nvSpPr>
          <p:cNvPr id="21" name="Text 15"/>
          <p:cNvSpPr txBox="1"/>
          <p:nvPr/>
        </p:nvSpPr>
        <p:spPr>
          <a:xfrm>
            <a:off x="1508760" y="3566160"/>
            <a:ext cx="4343400" cy="8686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The checks that prove a deal's case is finished, read from a record we trust.</a:t>
            </a:r>
            <a:endParaRPr lang="en-US" sz="1250" dirty="0"/>
          </a:p>
        </p:txBody>
      </p:sp>
      <p:sp>
        <p:nvSpPr>
          <p:cNvPr id="22" name="Shape 16"/>
          <p:cNvSpPr/>
          <p:nvPr/>
        </p:nvSpPr>
        <p:spPr>
          <a:xfrm>
            <a:off x="6172200" y="3017520"/>
            <a:ext cx="5440680" cy="1463040"/>
          </a:xfrm>
          <a:prstGeom prst="roundRect">
            <a:avLst>
              <a:gd name="adj" fmla="val 5000"/>
            </a:avLst>
          </a:prstGeom>
          <a:solidFill>
            <a:srgbClr val="FFFFFF"/>
          </a:solidFill>
          <a:ln w="12700">
            <a:solidFill>
              <a:srgbClr val="D9DEE2"/>
            </a:solidFill>
            <a:prstDash val="solid"/>
          </a:ln>
        </p:spPr>
      </p:sp>
      <p:sp>
        <p:nvSpPr>
          <p:cNvPr id="23" name="Shape 17"/>
          <p:cNvSpPr/>
          <p:nvPr/>
        </p:nvSpPr>
        <p:spPr>
          <a:xfrm>
            <a:off x="6355080" y="3246120"/>
            <a:ext cx="594360" cy="594360"/>
          </a:xfrm>
          <a:prstGeom prst="ellipse">
            <a:avLst/>
          </a:prstGeom>
          <a:solidFill>
            <a:srgbClr val="287079"/>
          </a:solidFill>
          <a:ln/>
        </p:spPr>
      </p:sp>
      <p:pic>
        <p:nvPicPr>
          <p:cNvPr id="24" name="Image 4" descr="/private/tmp/claude-501/-Users-salehhamed-Outcome-Engine/91861432-41e2-4884-bc97-63c6dff2d021/scratchpad/wk/icons/TbCalendarPause-white.png">    </p:cNvPr>
          <p:cNvPicPr>
            <a:picLocks noChangeAspect="1"/>
          </p:cNvPicPr>
          <p:nvPr/>
        </p:nvPicPr>
        <p:blipFill>
          <a:blip r:embed="rId6"/>
          <a:stretch>
            <a:fillRect/>
          </a:stretch>
        </p:blipFill>
        <p:spPr>
          <a:xfrm>
            <a:off x="6473952" y="3364992"/>
            <a:ext cx="356616" cy="356616"/>
          </a:xfrm>
          <a:prstGeom prst="rect">
            <a:avLst/>
          </a:prstGeom>
        </p:spPr>
      </p:pic>
      <p:sp>
        <p:nvSpPr>
          <p:cNvPr id="25" name="Text 18"/>
          <p:cNvSpPr txBox="1"/>
          <p:nvPr/>
        </p:nvSpPr>
        <p:spPr>
          <a:xfrm>
            <a:off x="7132320" y="3154680"/>
            <a:ext cx="4343400" cy="411480"/>
          </a:xfrm>
          <a:prstGeom prst="rect">
            <a:avLst/>
          </a:prstGeom>
          <a:noFill/>
          <a:ln/>
        </p:spPr>
        <p:txBody>
          <a:bodyPr wrap="square" lIns="0" tIns="0" rIns="0" bIns="0" rtlCol="0" anchor="ctr"/>
          <a:lstStyle/>
          <a:p>
            <a:pPr indent="0" marL="0">
              <a:buNone/>
            </a:pPr>
            <a:r>
              <a:rPr lang="en-US" sz="1600" b="1" dirty="0">
                <a:solidFill>
                  <a:srgbClr val="287079"/>
                </a:solidFill>
                <a:latin typeface="Arial" pitchFamily="34" charset="0"/>
                <a:ea typeface="Arial" pitchFamily="34" charset="-122"/>
                <a:cs typeface="Arial" pitchFamily="34" charset="-120"/>
              </a:rPr>
              <a:t>Hold</a:t>
            </a:r>
            <a:endParaRPr lang="en-US" sz="1600" dirty="0"/>
          </a:p>
        </p:txBody>
      </p:sp>
      <p:sp>
        <p:nvSpPr>
          <p:cNvPr id="26" name="Text 19"/>
          <p:cNvSpPr txBox="1"/>
          <p:nvPr/>
        </p:nvSpPr>
        <p:spPr>
          <a:xfrm>
            <a:off x="7132320" y="3566160"/>
            <a:ext cx="4343400" cy="8686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Held: a person is reserved for this deal, for a limited time. The hold ends on its own unless someone renews it.</a:t>
            </a:r>
            <a:endParaRPr lang="en-US" sz="1250" dirty="0"/>
          </a:p>
        </p:txBody>
      </p:sp>
      <p:sp>
        <p:nvSpPr>
          <p:cNvPr id="27" name="Shape 20"/>
          <p:cNvSpPr/>
          <p:nvPr/>
        </p:nvSpPr>
        <p:spPr>
          <a:xfrm>
            <a:off x="548640" y="4617720"/>
            <a:ext cx="5440680" cy="1463040"/>
          </a:xfrm>
          <a:prstGeom prst="roundRect">
            <a:avLst>
              <a:gd name="adj" fmla="val 5000"/>
            </a:avLst>
          </a:prstGeom>
          <a:solidFill>
            <a:srgbClr val="FFFFFF"/>
          </a:solidFill>
          <a:ln w="12700">
            <a:solidFill>
              <a:srgbClr val="D9DEE2"/>
            </a:solidFill>
            <a:prstDash val="solid"/>
          </a:ln>
        </p:spPr>
      </p:sp>
      <p:sp>
        <p:nvSpPr>
          <p:cNvPr id="28" name="Shape 21"/>
          <p:cNvSpPr/>
          <p:nvPr/>
        </p:nvSpPr>
        <p:spPr>
          <a:xfrm>
            <a:off x="731520" y="4846320"/>
            <a:ext cx="594360" cy="594360"/>
          </a:xfrm>
          <a:prstGeom prst="ellipse">
            <a:avLst/>
          </a:prstGeom>
          <a:solidFill>
            <a:srgbClr val="287079"/>
          </a:solidFill>
          <a:ln/>
        </p:spPr>
      </p:sp>
      <p:pic>
        <p:nvPicPr>
          <p:cNvPr id="29" name="Image 5" descr="/private/tmp/claude-501/-Users-salehhamed-Outcome-Engine/91861432-41e2-4884-bc97-63c6dff2d021/scratchpad/wk/icons/TbUserCheck-white.png">    </p:cNvPr>
          <p:cNvPicPr>
            <a:picLocks noChangeAspect="1"/>
          </p:cNvPicPr>
          <p:nvPr/>
        </p:nvPicPr>
        <p:blipFill>
          <a:blip r:embed="rId7"/>
          <a:stretch>
            <a:fillRect/>
          </a:stretch>
        </p:blipFill>
        <p:spPr>
          <a:xfrm>
            <a:off x="850392" y="4965192"/>
            <a:ext cx="356616" cy="356616"/>
          </a:xfrm>
          <a:prstGeom prst="rect">
            <a:avLst/>
          </a:prstGeom>
        </p:spPr>
      </p:pic>
      <p:sp>
        <p:nvSpPr>
          <p:cNvPr id="30" name="Text 22"/>
          <p:cNvSpPr txBox="1"/>
          <p:nvPr/>
        </p:nvSpPr>
        <p:spPr>
          <a:xfrm>
            <a:off x="1508760" y="4754880"/>
            <a:ext cx="4343400" cy="411480"/>
          </a:xfrm>
          <a:prstGeom prst="rect">
            <a:avLst/>
          </a:prstGeom>
          <a:noFill/>
          <a:ln/>
        </p:spPr>
        <p:txBody>
          <a:bodyPr wrap="square" lIns="0" tIns="0" rIns="0" bIns="0" rtlCol="0" anchor="ctr"/>
          <a:lstStyle/>
          <a:p>
            <a:pPr indent="0" marL="0">
              <a:buNone/>
            </a:pPr>
            <a:r>
              <a:rPr lang="en-US" sz="1600" b="1" dirty="0">
                <a:solidFill>
                  <a:srgbClr val="287079"/>
                </a:solidFill>
                <a:latin typeface="Arial" pitchFamily="34" charset="0"/>
                <a:ea typeface="Arial" pitchFamily="34" charset="-122"/>
                <a:cs typeface="Arial" pitchFamily="34" charset="-120"/>
              </a:rPr>
              <a:t>Decision owner</a:t>
            </a:r>
            <a:endParaRPr lang="en-US" sz="1600" dirty="0"/>
          </a:p>
        </p:txBody>
      </p:sp>
      <p:sp>
        <p:nvSpPr>
          <p:cNvPr id="31" name="Text 23"/>
          <p:cNvSpPr txBox="1"/>
          <p:nvPr/>
        </p:nvSpPr>
        <p:spPr>
          <a:xfrm>
            <a:off x="1508760" y="5166360"/>
            <a:ext cx="4343400" cy="8686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The role that makes a decision, with a backup and a response time. A role, not a team.</a:t>
            </a:r>
            <a:endParaRPr lang="en-US" sz="1250" dirty="0"/>
          </a:p>
        </p:txBody>
      </p:sp>
      <p:sp>
        <p:nvSpPr>
          <p:cNvPr id="32" name="Shape 24"/>
          <p:cNvSpPr/>
          <p:nvPr/>
        </p:nvSpPr>
        <p:spPr>
          <a:xfrm>
            <a:off x="6172200" y="4617720"/>
            <a:ext cx="5440680" cy="1463040"/>
          </a:xfrm>
          <a:prstGeom prst="roundRect">
            <a:avLst>
              <a:gd name="adj" fmla="val 5000"/>
            </a:avLst>
          </a:prstGeom>
          <a:solidFill>
            <a:srgbClr val="FFFFFF"/>
          </a:solidFill>
          <a:ln w="12700">
            <a:solidFill>
              <a:srgbClr val="D9DEE2"/>
            </a:solidFill>
            <a:prstDash val="solid"/>
          </a:ln>
        </p:spPr>
      </p:sp>
      <p:sp>
        <p:nvSpPr>
          <p:cNvPr id="33" name="Shape 25"/>
          <p:cNvSpPr/>
          <p:nvPr/>
        </p:nvSpPr>
        <p:spPr>
          <a:xfrm>
            <a:off x="6355080" y="4846320"/>
            <a:ext cx="594360" cy="594360"/>
          </a:xfrm>
          <a:prstGeom prst="ellipse">
            <a:avLst/>
          </a:prstGeom>
          <a:solidFill>
            <a:srgbClr val="287079"/>
          </a:solidFill>
          <a:ln/>
        </p:spPr>
      </p:sp>
      <p:pic>
        <p:nvPicPr>
          <p:cNvPr id="34" name="Image 6" descr="/private/tmp/claude-501/-Users-salehhamed-Outcome-Engine/91861432-41e2-4884-bc97-63c6dff2d021/scratchpad/wk/icons/TbFileSearch-white.png">    </p:cNvPr>
          <p:cNvPicPr>
            <a:picLocks noChangeAspect="1"/>
          </p:cNvPicPr>
          <p:nvPr/>
        </p:nvPicPr>
        <p:blipFill>
          <a:blip r:embed="rId8"/>
          <a:stretch>
            <a:fillRect/>
          </a:stretch>
        </p:blipFill>
        <p:spPr>
          <a:xfrm>
            <a:off x="6473952" y="4965192"/>
            <a:ext cx="356616" cy="356616"/>
          </a:xfrm>
          <a:prstGeom prst="rect">
            <a:avLst/>
          </a:prstGeom>
        </p:spPr>
      </p:pic>
      <p:sp>
        <p:nvSpPr>
          <p:cNvPr id="35" name="Text 26"/>
          <p:cNvSpPr txBox="1"/>
          <p:nvPr/>
        </p:nvSpPr>
        <p:spPr>
          <a:xfrm>
            <a:off x="7132320" y="4754880"/>
            <a:ext cx="4343400" cy="411480"/>
          </a:xfrm>
          <a:prstGeom prst="rect">
            <a:avLst/>
          </a:prstGeom>
          <a:noFill/>
          <a:ln/>
        </p:spPr>
        <p:txBody>
          <a:bodyPr wrap="square" lIns="0" tIns="0" rIns="0" bIns="0" rtlCol="0" anchor="ctr"/>
          <a:lstStyle/>
          <a:p>
            <a:pPr indent="0" marL="0">
              <a:buNone/>
            </a:pPr>
            <a:r>
              <a:rPr lang="en-US" sz="1600" b="1" dirty="0">
                <a:solidFill>
                  <a:srgbClr val="287079"/>
                </a:solidFill>
                <a:latin typeface="Arial" pitchFamily="34" charset="0"/>
                <a:ea typeface="Arial" pitchFamily="34" charset="-122"/>
                <a:cs typeface="Arial" pitchFamily="34" charset="-120"/>
              </a:rPr>
              <a:t>Evidence</a:t>
            </a:r>
            <a:endParaRPr lang="en-US" sz="1600" dirty="0"/>
          </a:p>
        </p:txBody>
      </p:sp>
      <p:sp>
        <p:nvSpPr>
          <p:cNvPr id="36" name="Text 27"/>
          <p:cNvSpPr txBox="1"/>
          <p:nvPr/>
        </p:nvSpPr>
        <p:spPr>
          <a:xfrm>
            <a:off x="7132320" y="5166360"/>
            <a:ext cx="4343400" cy="8686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The facts a decision owner needs, and the system or person each one comes from.</a:t>
            </a:r>
            <a:endParaRPr lang="en-US" sz="125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APPENDIX</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Plain words, 3 of 3</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8A94A4"/>
                </a:solidFill>
                <a:latin typeface="Arial" pitchFamily="34" charset="0"/>
                <a:ea typeface="Arial" pitchFamily="34" charset="-122"/>
                <a:cs typeface="Arial" pitchFamily="34" charset="-120"/>
              </a:rPr>
              <a:t>   215</a:t>
            </a:r>
            <a:endParaRPr lang="en-US" sz="1000" dirty="0"/>
          </a:p>
        </p:txBody>
      </p:sp>
      <p:sp>
        <p:nvSpPr>
          <p:cNvPr id="7" name="Shape 4"/>
          <p:cNvSpPr/>
          <p:nvPr/>
        </p:nvSpPr>
        <p:spPr>
          <a:xfrm>
            <a:off x="548640" y="1417320"/>
            <a:ext cx="5440680" cy="1463040"/>
          </a:xfrm>
          <a:prstGeom prst="roundRect">
            <a:avLst>
              <a:gd name="adj" fmla="val 5000"/>
            </a:avLst>
          </a:prstGeom>
          <a:solidFill>
            <a:srgbClr val="FFFFFF"/>
          </a:solidFill>
          <a:ln w="12700">
            <a:solidFill>
              <a:srgbClr val="D9DEE2"/>
            </a:solidFill>
            <a:prstDash val="solid"/>
          </a:ln>
        </p:spPr>
      </p:sp>
      <p:sp>
        <p:nvSpPr>
          <p:cNvPr id="8" name="Shape 5"/>
          <p:cNvSpPr/>
          <p:nvPr/>
        </p:nvSpPr>
        <p:spPr>
          <a:xfrm>
            <a:off x="731520" y="1645920"/>
            <a:ext cx="594360" cy="594360"/>
          </a:xfrm>
          <a:prstGeom prst="ellipse">
            <a:avLst/>
          </a:prstGeom>
          <a:solidFill>
            <a:srgbClr val="287079"/>
          </a:solidFill>
          <a:ln/>
        </p:spPr>
      </p:sp>
      <p:pic>
        <p:nvPicPr>
          <p:cNvPr id="9" name="Image 1" descr="/private/tmp/claude-501/-Users-salehhamed-Outcome-Engine/91861432-41e2-4884-bc97-63c6dff2d021/scratchpad/wk/icons/TbGavel-white.png">    </p:cNvPr>
          <p:cNvPicPr>
            <a:picLocks noChangeAspect="1"/>
          </p:cNvPicPr>
          <p:nvPr/>
        </p:nvPicPr>
        <p:blipFill>
          <a:blip r:embed="rId3"/>
          <a:stretch>
            <a:fillRect/>
          </a:stretch>
        </p:blipFill>
        <p:spPr>
          <a:xfrm>
            <a:off x="850392" y="1764792"/>
            <a:ext cx="356616" cy="356616"/>
          </a:xfrm>
          <a:prstGeom prst="rect">
            <a:avLst/>
          </a:prstGeom>
        </p:spPr>
      </p:pic>
      <p:sp>
        <p:nvSpPr>
          <p:cNvPr id="10" name="Text 6"/>
          <p:cNvSpPr txBox="1"/>
          <p:nvPr/>
        </p:nvSpPr>
        <p:spPr>
          <a:xfrm>
            <a:off x="1508760" y="1554480"/>
            <a:ext cx="4343400" cy="411480"/>
          </a:xfrm>
          <a:prstGeom prst="rect">
            <a:avLst/>
          </a:prstGeom>
          <a:noFill/>
          <a:ln/>
        </p:spPr>
        <p:txBody>
          <a:bodyPr wrap="square" lIns="0" tIns="0" rIns="0" bIns="0" rtlCol="0" anchor="ctr"/>
          <a:lstStyle/>
          <a:p>
            <a:pPr indent="0" marL="0">
              <a:buNone/>
            </a:pPr>
            <a:r>
              <a:rPr lang="en-US" sz="1600" b="1" dirty="0">
                <a:solidFill>
                  <a:srgbClr val="287079"/>
                </a:solidFill>
                <a:latin typeface="Arial" pitchFamily="34" charset="0"/>
                <a:ea typeface="Arial" pitchFamily="34" charset="-122"/>
                <a:cs typeface="Arial" pitchFamily="34" charset="-120"/>
              </a:rPr>
              <a:t>Rule</a:t>
            </a:r>
            <a:endParaRPr lang="en-US" sz="1600" dirty="0"/>
          </a:p>
        </p:txBody>
      </p:sp>
      <p:sp>
        <p:nvSpPr>
          <p:cNvPr id="11" name="Text 7"/>
          <p:cNvSpPr txBox="1"/>
          <p:nvPr/>
        </p:nvSpPr>
        <p:spPr>
          <a:xfrm>
            <a:off x="1508760" y="1965960"/>
            <a:ext cx="4343400" cy="8686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When this happens, then this, decided by this role, by this time. If nobody answers, it goes to this role.</a:t>
            </a:r>
            <a:endParaRPr lang="en-US" sz="1250" dirty="0"/>
          </a:p>
        </p:txBody>
      </p:sp>
      <p:sp>
        <p:nvSpPr>
          <p:cNvPr id="12" name="Shape 8"/>
          <p:cNvSpPr/>
          <p:nvPr/>
        </p:nvSpPr>
        <p:spPr>
          <a:xfrm>
            <a:off x="6172200" y="1417320"/>
            <a:ext cx="5440680" cy="1463040"/>
          </a:xfrm>
          <a:prstGeom prst="roundRect">
            <a:avLst>
              <a:gd name="adj" fmla="val 5000"/>
            </a:avLst>
          </a:prstGeom>
          <a:solidFill>
            <a:srgbClr val="FFFFFF"/>
          </a:solidFill>
          <a:ln w="12700">
            <a:solidFill>
              <a:srgbClr val="D9DEE2"/>
            </a:solidFill>
            <a:prstDash val="solid"/>
          </a:ln>
        </p:spPr>
      </p:sp>
      <p:sp>
        <p:nvSpPr>
          <p:cNvPr id="13" name="Shape 9"/>
          <p:cNvSpPr/>
          <p:nvPr/>
        </p:nvSpPr>
        <p:spPr>
          <a:xfrm>
            <a:off x="6355080" y="1645920"/>
            <a:ext cx="594360" cy="594360"/>
          </a:xfrm>
          <a:prstGeom prst="ellipse">
            <a:avLst/>
          </a:prstGeom>
          <a:solidFill>
            <a:srgbClr val="287079"/>
          </a:solidFill>
          <a:ln/>
        </p:spPr>
      </p:sp>
      <p:pic>
        <p:nvPicPr>
          <p:cNvPr id="14" name="Image 2" descr="/private/tmp/claude-501/-Users-salehhamed-Outcome-Engine/91861432-41e2-4884-bc97-63c6dff2d021/scratchpad/wk/icons/TbStairsUp-white.png">    </p:cNvPr>
          <p:cNvPicPr>
            <a:picLocks noChangeAspect="1"/>
          </p:cNvPicPr>
          <p:nvPr/>
        </p:nvPicPr>
        <p:blipFill>
          <a:blip r:embed="rId4"/>
          <a:stretch>
            <a:fillRect/>
          </a:stretch>
        </p:blipFill>
        <p:spPr>
          <a:xfrm>
            <a:off x="6473952" y="1764792"/>
            <a:ext cx="356616" cy="356616"/>
          </a:xfrm>
          <a:prstGeom prst="rect">
            <a:avLst/>
          </a:prstGeom>
        </p:spPr>
      </p:pic>
      <p:sp>
        <p:nvSpPr>
          <p:cNvPr id="15" name="Text 10"/>
          <p:cNvSpPr txBox="1"/>
          <p:nvPr/>
        </p:nvSpPr>
        <p:spPr>
          <a:xfrm>
            <a:off x="7132320" y="1554480"/>
            <a:ext cx="4343400" cy="411480"/>
          </a:xfrm>
          <a:prstGeom prst="rect">
            <a:avLst/>
          </a:prstGeom>
          <a:noFill/>
          <a:ln/>
        </p:spPr>
        <p:txBody>
          <a:bodyPr wrap="square" lIns="0" tIns="0" rIns="0" bIns="0" rtlCol="0" anchor="ctr"/>
          <a:lstStyle/>
          <a:p>
            <a:pPr indent="0" marL="0">
              <a:buNone/>
            </a:pPr>
            <a:r>
              <a:rPr lang="en-US" sz="1600" b="1" dirty="0">
                <a:solidFill>
                  <a:srgbClr val="287079"/>
                </a:solidFill>
                <a:latin typeface="Arial" pitchFamily="34" charset="0"/>
                <a:ea typeface="Arial" pitchFamily="34" charset="-122"/>
                <a:cs typeface="Arial" pitchFamily="34" charset="-120"/>
              </a:rPr>
              <a:t>Top of license</a:t>
            </a:r>
            <a:endParaRPr lang="en-US" sz="1600" dirty="0"/>
          </a:p>
        </p:txBody>
      </p:sp>
      <p:sp>
        <p:nvSpPr>
          <p:cNvPr id="16" name="Text 11"/>
          <p:cNvSpPr txBox="1"/>
          <p:nvPr/>
        </p:nvSpPr>
        <p:spPr>
          <a:xfrm>
            <a:off x="7132320" y="1965960"/>
            <a:ext cx="4343400" cy="8686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Working at the highest level you are qualified for.</a:t>
            </a:r>
            <a:endParaRPr lang="en-US" sz="1250" dirty="0"/>
          </a:p>
        </p:txBody>
      </p:sp>
      <p:sp>
        <p:nvSpPr>
          <p:cNvPr id="17" name="Shape 12"/>
          <p:cNvSpPr/>
          <p:nvPr/>
        </p:nvSpPr>
        <p:spPr>
          <a:xfrm>
            <a:off x="548640" y="3017520"/>
            <a:ext cx="5440680" cy="1463040"/>
          </a:xfrm>
          <a:prstGeom prst="roundRect">
            <a:avLst>
              <a:gd name="adj" fmla="val 5000"/>
            </a:avLst>
          </a:prstGeom>
          <a:solidFill>
            <a:srgbClr val="FFFFFF"/>
          </a:solidFill>
          <a:ln w="12700">
            <a:solidFill>
              <a:srgbClr val="D9DEE2"/>
            </a:solidFill>
            <a:prstDash val="solid"/>
          </a:ln>
        </p:spPr>
      </p:sp>
      <p:sp>
        <p:nvSpPr>
          <p:cNvPr id="18" name="Shape 13"/>
          <p:cNvSpPr/>
          <p:nvPr/>
        </p:nvSpPr>
        <p:spPr>
          <a:xfrm>
            <a:off x="731520" y="3246120"/>
            <a:ext cx="594360" cy="594360"/>
          </a:xfrm>
          <a:prstGeom prst="ellipse">
            <a:avLst/>
          </a:prstGeom>
          <a:solidFill>
            <a:srgbClr val="287079"/>
          </a:solidFill>
          <a:ln/>
        </p:spPr>
      </p:sp>
      <p:pic>
        <p:nvPicPr>
          <p:cNvPr id="19" name="Image 3" descr="/private/tmp/claude-501/-Users-salehhamed-Outcome-Engine/91861432-41e2-4884-bc97-63c6dff2d021/scratchpad/wk/icons/TbArrowsExchange-white.png">    </p:cNvPr>
          <p:cNvPicPr>
            <a:picLocks noChangeAspect="1"/>
          </p:cNvPicPr>
          <p:nvPr/>
        </p:nvPicPr>
        <p:blipFill>
          <a:blip r:embed="rId5"/>
          <a:stretch>
            <a:fillRect/>
          </a:stretch>
        </p:blipFill>
        <p:spPr>
          <a:xfrm>
            <a:off x="850392" y="3364992"/>
            <a:ext cx="356616" cy="356616"/>
          </a:xfrm>
          <a:prstGeom prst="rect">
            <a:avLst/>
          </a:prstGeom>
        </p:spPr>
      </p:pic>
      <p:sp>
        <p:nvSpPr>
          <p:cNvPr id="20" name="Text 14"/>
          <p:cNvSpPr txBox="1"/>
          <p:nvPr/>
        </p:nvSpPr>
        <p:spPr>
          <a:xfrm>
            <a:off x="1508760" y="3154680"/>
            <a:ext cx="4343400" cy="411480"/>
          </a:xfrm>
          <a:prstGeom prst="rect">
            <a:avLst/>
          </a:prstGeom>
          <a:noFill/>
          <a:ln/>
        </p:spPr>
        <p:txBody>
          <a:bodyPr wrap="square" lIns="0" tIns="0" rIns="0" bIns="0" rtlCol="0" anchor="ctr"/>
          <a:lstStyle/>
          <a:p>
            <a:pPr indent="0" marL="0">
              <a:buNone/>
            </a:pPr>
            <a:r>
              <a:rPr lang="en-US" sz="1600" b="1" dirty="0">
                <a:solidFill>
                  <a:srgbClr val="287079"/>
                </a:solidFill>
                <a:latin typeface="Arial" pitchFamily="34" charset="0"/>
                <a:ea typeface="Arial" pitchFamily="34" charset="-122"/>
                <a:cs typeface="Arial" pitchFamily="34" charset="-120"/>
              </a:rPr>
              <a:t>Chain of moves</a:t>
            </a:r>
            <a:endParaRPr lang="en-US" sz="1600" dirty="0"/>
          </a:p>
        </p:txBody>
      </p:sp>
      <p:sp>
        <p:nvSpPr>
          <p:cNvPr id="21" name="Text 15"/>
          <p:cNvSpPr txBox="1"/>
          <p:nvPr/>
        </p:nvSpPr>
        <p:spPr>
          <a:xfrm>
            <a:off x="1508760" y="3566160"/>
            <a:ext cx="4343400" cy="8686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A new job is filled by someone stepping up, others step up behind them, and a junior hire or a free person fills the last job.</a:t>
            </a:r>
            <a:endParaRPr lang="en-US" sz="1250" dirty="0"/>
          </a:p>
        </p:txBody>
      </p:sp>
      <p:sp>
        <p:nvSpPr>
          <p:cNvPr id="22" name="Shape 16"/>
          <p:cNvSpPr/>
          <p:nvPr/>
        </p:nvSpPr>
        <p:spPr>
          <a:xfrm>
            <a:off x="6172200" y="3017520"/>
            <a:ext cx="5440680" cy="1463040"/>
          </a:xfrm>
          <a:prstGeom prst="roundRect">
            <a:avLst>
              <a:gd name="adj" fmla="val 5000"/>
            </a:avLst>
          </a:prstGeom>
          <a:solidFill>
            <a:srgbClr val="FFFFFF"/>
          </a:solidFill>
          <a:ln w="12700">
            <a:solidFill>
              <a:srgbClr val="D9DEE2"/>
            </a:solidFill>
            <a:prstDash val="solid"/>
          </a:ln>
        </p:spPr>
      </p:sp>
      <p:sp>
        <p:nvSpPr>
          <p:cNvPr id="23" name="Shape 17"/>
          <p:cNvSpPr/>
          <p:nvPr/>
        </p:nvSpPr>
        <p:spPr>
          <a:xfrm>
            <a:off x="6355080" y="3246120"/>
            <a:ext cx="594360" cy="594360"/>
          </a:xfrm>
          <a:prstGeom prst="ellipse">
            <a:avLst/>
          </a:prstGeom>
          <a:solidFill>
            <a:srgbClr val="287079"/>
          </a:solidFill>
          <a:ln/>
        </p:spPr>
      </p:sp>
      <p:pic>
        <p:nvPicPr>
          <p:cNvPr id="24" name="Image 4" descr="/private/tmp/claude-501/-Users-salehhamed-Outcome-Engine/91861432-41e2-4884-bc97-63c6dff2d021/scratchpad/wk/icons/TbPlayerPlay-white.png">    </p:cNvPr>
          <p:cNvPicPr>
            <a:picLocks noChangeAspect="1"/>
          </p:cNvPicPr>
          <p:nvPr/>
        </p:nvPicPr>
        <p:blipFill>
          <a:blip r:embed="rId6"/>
          <a:stretch>
            <a:fillRect/>
          </a:stretch>
        </p:blipFill>
        <p:spPr>
          <a:xfrm>
            <a:off x="6473952" y="3364992"/>
            <a:ext cx="356616" cy="356616"/>
          </a:xfrm>
          <a:prstGeom prst="rect">
            <a:avLst/>
          </a:prstGeom>
        </p:spPr>
      </p:pic>
      <p:sp>
        <p:nvSpPr>
          <p:cNvPr id="25" name="Text 18"/>
          <p:cNvSpPr txBox="1"/>
          <p:nvPr/>
        </p:nvSpPr>
        <p:spPr>
          <a:xfrm>
            <a:off x="7132320" y="3154680"/>
            <a:ext cx="4343400" cy="411480"/>
          </a:xfrm>
          <a:prstGeom prst="rect">
            <a:avLst/>
          </a:prstGeom>
          <a:noFill/>
          <a:ln/>
        </p:spPr>
        <p:txBody>
          <a:bodyPr wrap="square" lIns="0" tIns="0" rIns="0" bIns="0" rtlCol="0" anchor="ctr"/>
          <a:lstStyle/>
          <a:p>
            <a:pPr indent="0" marL="0">
              <a:buNone/>
            </a:pPr>
            <a:r>
              <a:rPr lang="en-US" sz="1600" b="1" dirty="0">
                <a:solidFill>
                  <a:srgbClr val="287079"/>
                </a:solidFill>
                <a:latin typeface="Arial" pitchFamily="34" charset="0"/>
                <a:ea typeface="Arial" pitchFamily="34" charset="-122"/>
                <a:cs typeface="Arial" pitchFamily="34" charset="-120"/>
              </a:rPr>
              <a:t>Pilot</a:t>
            </a:r>
            <a:endParaRPr lang="en-US" sz="1600" dirty="0"/>
          </a:p>
        </p:txBody>
      </p:sp>
      <p:sp>
        <p:nvSpPr>
          <p:cNvPr id="26" name="Text 19"/>
          <p:cNvSpPr txBox="1"/>
          <p:nvPr/>
        </p:nvSpPr>
        <p:spPr>
          <a:xfrm>
            <a:off x="7132320" y="3566160"/>
            <a:ext cx="4343400" cy="8686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The first real use of the new way of working, on a small part of the business, to learn safely before going wider.</a:t>
            </a:r>
            <a:endParaRPr lang="en-US" sz="1250" dirty="0"/>
          </a:p>
        </p:txBody>
      </p:sp>
      <p:sp>
        <p:nvSpPr>
          <p:cNvPr id="27" name="Shape 20"/>
          <p:cNvSpPr/>
          <p:nvPr/>
        </p:nvSpPr>
        <p:spPr>
          <a:xfrm>
            <a:off x="548640" y="4617720"/>
            <a:ext cx="5440680" cy="1463040"/>
          </a:xfrm>
          <a:prstGeom prst="roundRect">
            <a:avLst>
              <a:gd name="adj" fmla="val 5000"/>
            </a:avLst>
          </a:prstGeom>
          <a:solidFill>
            <a:srgbClr val="FFFFFF"/>
          </a:solidFill>
          <a:ln w="12700">
            <a:solidFill>
              <a:srgbClr val="D9DEE2"/>
            </a:solidFill>
            <a:prstDash val="solid"/>
          </a:ln>
        </p:spPr>
      </p:sp>
      <p:sp>
        <p:nvSpPr>
          <p:cNvPr id="28" name="Shape 21"/>
          <p:cNvSpPr/>
          <p:nvPr/>
        </p:nvSpPr>
        <p:spPr>
          <a:xfrm>
            <a:off x="731520" y="4846320"/>
            <a:ext cx="594360" cy="594360"/>
          </a:xfrm>
          <a:prstGeom prst="ellipse">
            <a:avLst/>
          </a:prstGeom>
          <a:solidFill>
            <a:srgbClr val="287079"/>
          </a:solidFill>
          <a:ln/>
        </p:spPr>
      </p:sp>
      <p:pic>
        <p:nvPicPr>
          <p:cNvPr id="29" name="Image 5" descr="/private/tmp/claude-501/-Users-salehhamed-Outcome-Engine/91861432-41e2-4884-bc97-63c6dff2d021/scratchpad/wk/icons/TbLayoutGrid-white.png">    </p:cNvPr>
          <p:cNvPicPr>
            <a:picLocks noChangeAspect="1"/>
          </p:cNvPicPr>
          <p:nvPr/>
        </p:nvPicPr>
        <p:blipFill>
          <a:blip r:embed="rId7"/>
          <a:stretch>
            <a:fillRect/>
          </a:stretch>
        </p:blipFill>
        <p:spPr>
          <a:xfrm>
            <a:off x="850392" y="4965192"/>
            <a:ext cx="356616" cy="356616"/>
          </a:xfrm>
          <a:prstGeom prst="rect">
            <a:avLst/>
          </a:prstGeom>
        </p:spPr>
      </p:pic>
      <p:sp>
        <p:nvSpPr>
          <p:cNvPr id="30" name="Text 22"/>
          <p:cNvSpPr txBox="1"/>
          <p:nvPr/>
        </p:nvSpPr>
        <p:spPr>
          <a:xfrm>
            <a:off x="1508760" y="4754880"/>
            <a:ext cx="4343400" cy="411480"/>
          </a:xfrm>
          <a:prstGeom prst="rect">
            <a:avLst/>
          </a:prstGeom>
          <a:noFill/>
          <a:ln/>
        </p:spPr>
        <p:txBody>
          <a:bodyPr wrap="square" lIns="0" tIns="0" rIns="0" bIns="0" rtlCol="0" anchor="ctr"/>
          <a:lstStyle/>
          <a:p>
            <a:pPr indent="0" marL="0">
              <a:buNone/>
            </a:pPr>
            <a:r>
              <a:rPr lang="en-US" sz="1600" b="1" dirty="0">
                <a:solidFill>
                  <a:srgbClr val="287079"/>
                </a:solidFill>
                <a:latin typeface="Arial" pitchFamily="34" charset="0"/>
                <a:ea typeface="Arial" pitchFamily="34" charset="-122"/>
                <a:cs typeface="Arial" pitchFamily="34" charset="-120"/>
              </a:rPr>
              <a:t>First slice</a:t>
            </a:r>
            <a:endParaRPr lang="en-US" sz="1600" dirty="0"/>
          </a:p>
        </p:txBody>
      </p:sp>
      <p:sp>
        <p:nvSpPr>
          <p:cNvPr id="31" name="Text 23"/>
          <p:cNvSpPr txBox="1"/>
          <p:nvPr/>
        </p:nvSpPr>
        <p:spPr>
          <a:xfrm>
            <a:off x="1508760" y="5166360"/>
            <a:ext cx="4343400" cy="8686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The part of the business the pilot starts with: which practice, country, deals and decisions.</a:t>
            </a:r>
            <a:endParaRPr lang="en-US" sz="1250" dirty="0"/>
          </a:p>
        </p:txBody>
      </p:sp>
      <p:sp>
        <p:nvSpPr>
          <p:cNvPr id="32" name="Shape 24"/>
          <p:cNvSpPr/>
          <p:nvPr/>
        </p:nvSpPr>
        <p:spPr>
          <a:xfrm>
            <a:off x="6172200" y="4617720"/>
            <a:ext cx="5440680" cy="1463040"/>
          </a:xfrm>
          <a:prstGeom prst="roundRect">
            <a:avLst>
              <a:gd name="adj" fmla="val 5000"/>
            </a:avLst>
          </a:prstGeom>
          <a:solidFill>
            <a:srgbClr val="FFFFFF"/>
          </a:solidFill>
          <a:ln w="12700">
            <a:solidFill>
              <a:srgbClr val="D9DEE2"/>
            </a:solidFill>
            <a:prstDash val="solid"/>
          </a:ln>
        </p:spPr>
      </p:sp>
      <p:sp>
        <p:nvSpPr>
          <p:cNvPr id="33" name="Shape 25"/>
          <p:cNvSpPr/>
          <p:nvPr/>
        </p:nvSpPr>
        <p:spPr>
          <a:xfrm>
            <a:off x="6355080" y="4846320"/>
            <a:ext cx="594360" cy="594360"/>
          </a:xfrm>
          <a:prstGeom prst="ellipse">
            <a:avLst/>
          </a:prstGeom>
          <a:solidFill>
            <a:srgbClr val="287079"/>
          </a:solidFill>
          <a:ln/>
        </p:spPr>
      </p:sp>
      <p:pic>
        <p:nvPicPr>
          <p:cNvPr id="34" name="Image 6" descr="/private/tmp/claude-501/-Users-salehhamed-Outcome-Engine/91861432-41e2-4884-bc97-63c6dff2d021/scratchpad/wk/icons/TbChartBar-white.png">    </p:cNvPr>
          <p:cNvPicPr>
            <a:picLocks noChangeAspect="1"/>
          </p:cNvPicPr>
          <p:nvPr/>
        </p:nvPicPr>
        <p:blipFill>
          <a:blip r:embed="rId8"/>
          <a:stretch>
            <a:fillRect/>
          </a:stretch>
        </p:blipFill>
        <p:spPr>
          <a:xfrm>
            <a:off x="6473952" y="4965192"/>
            <a:ext cx="356616" cy="356616"/>
          </a:xfrm>
          <a:prstGeom prst="rect">
            <a:avLst/>
          </a:prstGeom>
        </p:spPr>
      </p:pic>
      <p:sp>
        <p:nvSpPr>
          <p:cNvPr id="35" name="Text 26"/>
          <p:cNvSpPr txBox="1"/>
          <p:nvPr/>
        </p:nvSpPr>
        <p:spPr>
          <a:xfrm>
            <a:off x="7132320" y="4754880"/>
            <a:ext cx="4343400" cy="411480"/>
          </a:xfrm>
          <a:prstGeom prst="rect">
            <a:avLst/>
          </a:prstGeom>
          <a:noFill/>
          <a:ln/>
        </p:spPr>
        <p:txBody>
          <a:bodyPr wrap="square" lIns="0" tIns="0" rIns="0" bIns="0" rtlCol="0" anchor="ctr"/>
          <a:lstStyle/>
          <a:p>
            <a:pPr indent="0" marL="0">
              <a:buNone/>
            </a:pPr>
            <a:r>
              <a:rPr lang="en-US" sz="1600" b="1" dirty="0">
                <a:solidFill>
                  <a:srgbClr val="287079"/>
                </a:solidFill>
                <a:latin typeface="Arial" pitchFamily="34" charset="0"/>
                <a:ea typeface="Arial" pitchFamily="34" charset="-122"/>
                <a:cs typeface="Arial" pitchFamily="34" charset="-120"/>
              </a:rPr>
              <a:t>Baseline</a:t>
            </a:r>
            <a:endParaRPr lang="en-US" sz="1600" dirty="0"/>
          </a:p>
        </p:txBody>
      </p:sp>
      <p:sp>
        <p:nvSpPr>
          <p:cNvPr id="36" name="Text 27"/>
          <p:cNvSpPr txBox="1"/>
          <p:nvPr/>
        </p:nvSpPr>
        <p:spPr>
          <a:xfrm>
            <a:off x="7132320" y="5166360"/>
            <a:ext cx="4343400" cy="868680"/>
          </a:xfrm>
          <a:prstGeom prst="rect">
            <a:avLst/>
          </a:prstGeom>
          <a:noFill/>
          <a:ln/>
        </p:spPr>
        <p:txBody>
          <a:bodyPr wrap="square" lIns="0" tIns="0" rIns="0" bIns="0" rtlCol="0" anchor="t"/>
          <a:lstStyle/>
          <a:p>
            <a:pPr indent="0" marL="0">
              <a:buNone/>
            </a:pPr>
            <a:r>
              <a:rPr lang="en-US" sz="1250" dirty="0">
                <a:solidFill>
                  <a:srgbClr val="1F2A33"/>
                </a:solidFill>
                <a:latin typeface="Arial" pitchFamily="34" charset="0"/>
                <a:ea typeface="Arial" pitchFamily="34" charset="-122"/>
                <a:cs typeface="Arial" pitchFamily="34" charset="-120"/>
              </a:rPr>
              <a:t>How the work performs today, measured, so we can show any improvement.</a:t>
            </a:r>
            <a:endParaRPr lang="en-US" sz="125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APPENDIX · FROM THE ENGINE EXPLORER</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The full engine map</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8A94A4"/>
                </a:solidFill>
                <a:latin typeface="Arial" pitchFamily="34" charset="0"/>
                <a:ea typeface="Arial" pitchFamily="34" charset="-122"/>
                <a:cs typeface="Arial" pitchFamily="34" charset="-120"/>
              </a:rPr>
              <a:t>   216</a:t>
            </a:r>
            <a:endParaRPr lang="en-US" sz="1000" dirty="0"/>
          </a:p>
        </p:txBody>
      </p:sp>
      <p:pic>
        <p:nvPicPr>
          <p:cNvPr id="7" name="Image 1" descr="/private/tmp/claude-501/-Users-salehhamed-Outcome-Engine/91861432-41e2-4884-bc97-63c6dff2d021/scratchpad/wk/shots/explorer-map.png">    </p:cNvPr>
          <p:cNvPicPr>
            <a:picLocks noChangeAspect="1"/>
          </p:cNvPicPr>
          <p:nvPr/>
        </p:nvPicPr>
        <p:blipFill>
          <a:blip r:embed="rId3"/>
          <a:stretch>
            <a:fillRect/>
          </a:stretch>
        </p:blipFill>
        <p:spPr>
          <a:xfrm>
            <a:off x="548640" y="1371600"/>
            <a:ext cx="11091672" cy="4754880"/>
          </a:xfrm>
          <a:prstGeom prst="rect">
            <a:avLst/>
          </a:prstGeom>
        </p:spPr>
      </p:pic>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9144000" cy="256032"/>
          </a:xfrm>
          <a:prstGeom prst="rect">
            <a:avLst/>
          </a:prstGeom>
          <a:noFill/>
          <a:ln/>
        </p:spPr>
        <p:txBody>
          <a:bodyPr wrap="square" lIns="0" tIns="0" rIns="0" bIns="0" rtlCol="0" anchor="t"/>
          <a:lstStyle/>
          <a:p>
            <a:pPr indent="0" marL="0">
              <a:buNone/>
            </a:pPr>
            <a:r>
              <a:rPr lang="en-US" sz="1100" b="1" spc="200" kern="0" dirty="0">
                <a:solidFill>
                  <a:srgbClr val="287079"/>
                </a:solidFill>
                <a:latin typeface="Arial" pitchFamily="34" charset="0"/>
                <a:ea typeface="Arial" pitchFamily="34" charset="-122"/>
                <a:cs typeface="Arial" pitchFamily="34" charset="-120"/>
              </a:rPr>
              <a:t>APPENDIX · THE ROTATION PLANNING METHOD</a:t>
            </a:r>
            <a:endParaRPr lang="en-US" sz="1100" dirty="0"/>
          </a:p>
        </p:txBody>
      </p:sp>
      <p:sp>
        <p:nvSpPr>
          <p:cNvPr id="3" name="Text 1"/>
          <p:cNvSpPr txBox="1"/>
          <p:nvPr/>
        </p:nvSpPr>
        <p:spPr>
          <a:xfrm>
            <a:off x="548640" y="566928"/>
            <a:ext cx="11094415" cy="731520"/>
          </a:xfrm>
          <a:prstGeom prst="rect">
            <a:avLst/>
          </a:prstGeom>
          <a:noFill/>
          <a:ln/>
        </p:spPr>
        <p:txBody>
          <a:bodyPr wrap="square" lIns="0" tIns="0" rIns="0" bIns="0" rtlCol="0" anchor="t"/>
          <a:lstStyle/>
          <a:p>
            <a:pPr indent="0" marL="0">
              <a:buNone/>
            </a:pPr>
            <a:r>
              <a:rPr lang="en-US" sz="2800" b="1" dirty="0">
                <a:solidFill>
                  <a:srgbClr val="1F2A33"/>
                </a:solidFill>
                <a:latin typeface="TWK Everett" pitchFamily="34" charset="0"/>
                <a:ea typeface="TWK Everett" pitchFamily="34" charset="-122"/>
                <a:cs typeface="TWK Everett" pitchFamily="34" charset="-120"/>
              </a:rPr>
              <a:t>Prepare now, or wait for the signature?</a:t>
            </a:r>
            <a:endParaRPr lang="en-US" sz="2800" dirty="0"/>
          </a:p>
        </p:txBody>
      </p:sp>
      <p:pic>
        <p:nvPicPr>
          <p:cNvPr id="4" name="Image 0" descr="/private/tmp/claude-501/-Users-salehhamed-Outcome-Engine/91861432-41e2-4884-bc97-63c6dff2d021/scratchpad/wk/brand/logo.png">    </p:cNvPr>
          <p:cNvPicPr>
            <a:picLocks noChangeAspect="1"/>
          </p:cNvPicPr>
          <p:nvPr/>
        </p:nvPicPr>
        <p:blipFill>
          <a:blip r:embed="rId1"/>
          <a:stretch>
            <a:fillRect/>
          </a:stretch>
        </p:blipFill>
        <p:spPr>
          <a:xfrm>
            <a:off x="548640" y="6473952"/>
            <a:ext cx="548640" cy="173736"/>
          </a:xfrm>
          <a:prstGeom prst="rect">
            <a:avLst/>
          </a:prstGeom>
        </p:spPr>
      </p:pic>
      <p:sp>
        <p:nvSpPr>
          <p:cNvPr id="5" name="Text 2"/>
          <p:cNvSpPr txBox="1"/>
          <p:nvPr/>
        </p:nvSpPr>
        <p:spPr>
          <a:xfrm>
            <a:off x="1234440" y="6455664"/>
            <a:ext cx="6583680" cy="219456"/>
          </a:xfrm>
          <a:prstGeom prst="rect">
            <a:avLst/>
          </a:prstGeom>
          <a:noFill/>
          <a:ln/>
        </p:spPr>
        <p:txBody>
          <a:bodyPr wrap="square" lIns="0" tIns="0" rIns="0" bIns="0" rtlCol="0" anchor="ctr"/>
          <a:lstStyle/>
          <a:p>
            <a:pPr indent="0" marL="0">
              <a:buNone/>
            </a:pPr>
            <a:r>
              <a:rPr lang="en-US" sz="900" dirty="0">
                <a:solidFill>
                  <a:srgbClr val="8A94A4"/>
                </a:solidFill>
                <a:latin typeface="Arial" pitchFamily="34" charset="0"/>
                <a:ea typeface="Arial" pitchFamily="34" charset="-122"/>
                <a:cs typeface="Arial" pitchFamily="34" charset="-120"/>
              </a:rPr>
              <a:t>Contract-to-Capacity Workshop</a:t>
            </a:r>
            <a:endParaRPr lang="en-US" sz="900" dirty="0"/>
          </a:p>
        </p:txBody>
      </p:sp>
      <p:sp>
        <p:nvSpPr>
          <p:cNvPr id="6" name="Text 3"/>
          <p:cNvSpPr txBox="1"/>
          <p:nvPr/>
        </p:nvSpPr>
        <p:spPr>
          <a:xfrm>
            <a:off x="8716975" y="6455664"/>
            <a:ext cx="2926080" cy="219456"/>
          </a:xfrm>
          <a:prstGeom prst="rect">
            <a:avLst/>
          </a:prstGeom>
          <a:noFill/>
          <a:ln/>
        </p:spPr>
        <p:txBody>
          <a:bodyPr wrap="square" lIns="0" tIns="0" rIns="0" bIns="0" rtlCol="0" anchor="ctr"/>
          <a:lstStyle/>
          <a:p>
            <a:pPr algn="r" indent="0" marL="0">
              <a:buNone/>
            </a:pPr>
            <a:r>
              <a:rPr lang="en-US" sz="1000" b="1" u="sng" dirty="0">
                <a:solidFill>
                  <a:srgbClr val="287079"/>
                </a:solidFill>
                <a:latin typeface="Arial" pitchFamily="34" charset="0"/>
                <a:ea typeface="Arial" pitchFamily="34" charset="-122"/>
                <a:cs typeface="Arial" pitchFamily="34" charset="-120"/>
                <a:hlinkClick r:id="rId2" action="ppaction://hlinksldjump" tooltip="Back to the two days">
                  <a:extLst>
                    <a:ext uri="{A12FA001-AC4F-418D-AE19-62706E023703}">
                      <ahyp:hlinkClr xmlns:ahyp="http://schemas.microsoft.com/office/drawing/2018/hyperlinkcolor" val="tx"/>
                    </a:ext>
                  </a:extLst>
                </a:hlinkClick>
              </a:rPr>
              <a:t>Hub</a:t>
            </a:r>
            <a:pPr algn="r" indent="0" marL="0">
              <a:buNone/>
            </a:pPr>
            <a:r>
              <a:rPr lang="en-US" sz="1000" b="1" dirty="0">
                <a:solidFill>
                  <a:srgbClr val="8A94A4"/>
                </a:solidFill>
                <a:latin typeface="Arial" pitchFamily="34" charset="0"/>
                <a:ea typeface="Arial" pitchFamily="34" charset="-122"/>
                <a:cs typeface="Arial" pitchFamily="34" charset="-120"/>
              </a:rPr>
              <a:t>   217</a:t>
            </a:r>
            <a:endParaRPr lang="en-US" sz="1000" dirty="0"/>
          </a:p>
        </p:txBody>
      </p:sp>
      <p:pic>
        <p:nvPicPr>
          <p:cNvPr id="7" name="Image 1" descr="/private/tmp/claude-501/-Users-salehhamed-Outcome-Engine/91861432-41e2-4884-bc97-63c6dff2d021/scratchpad/wk/shots/method-chart.png">    </p:cNvPr>
          <p:cNvPicPr>
            <a:picLocks noChangeAspect="1"/>
          </p:cNvPicPr>
          <p:nvPr/>
        </p:nvPicPr>
        <p:blipFill>
          <a:blip r:embed="rId3"/>
          <a:stretch>
            <a:fillRect/>
          </a:stretch>
        </p:blipFill>
        <p:spPr>
          <a:xfrm>
            <a:off x="548640" y="1325880"/>
            <a:ext cx="7589520" cy="4937760"/>
          </a:xfrm>
          <a:prstGeom prst="rect">
            <a:avLst/>
          </a:prstGeom>
        </p:spPr>
      </p:pic>
      <p:sp>
        <p:nvSpPr>
          <p:cNvPr id="8" name="Text 4"/>
          <p:cNvSpPr txBox="1"/>
          <p:nvPr/>
        </p:nvSpPr>
        <p:spPr>
          <a:xfrm>
            <a:off x="8366760" y="1463040"/>
            <a:ext cx="3291840" cy="2743200"/>
          </a:xfrm>
          <a:prstGeom prst="rect">
            <a:avLst/>
          </a:prstGeom>
          <a:noFill/>
          <a:ln/>
        </p:spPr>
        <p:txBody>
          <a:bodyPr wrap="square" lIns="0" tIns="0" rIns="0" bIns="0" rtlCol="0" anchor="t"/>
          <a:lstStyle/>
          <a:p>
            <a:pPr indent="0" marL="0">
              <a:buNone/>
            </a:pPr>
            <a:r>
              <a:rPr lang="en-US" sz="1400" dirty="0">
                <a:solidFill>
                  <a:srgbClr val="1F2A33"/>
                </a:solidFill>
                <a:latin typeface="Arial" pitchFamily="34" charset="0"/>
                <a:ea typeface="Arial" pitchFamily="34" charset="-122"/>
                <a:cs typeface="Arial" pitchFamily="34" charset="-120"/>
              </a:rPr>
              <a:t>Preparing a move early costs something if the deal is lost. Waiting costs value if the deal is won and nobody is ready. The method weighs the two for each role.</a:t>
            </a:r>
            <a:endParaRPr lang="en-US" sz="1400" dirty="0"/>
          </a:p>
        </p:txBody>
      </p:sp>
      <p:sp>
        <p:nvSpPr>
          <p:cNvPr id="9" name="Text 5"/>
          <p:cNvSpPr txBox="1"/>
          <p:nvPr/>
        </p:nvSpPr>
        <p:spPr>
          <a:xfrm>
            <a:off x="8366760" y="4389120"/>
            <a:ext cx="3291840" cy="1097280"/>
          </a:xfrm>
          <a:prstGeom prst="rect">
            <a:avLst/>
          </a:prstGeom>
          <a:noFill/>
          <a:ln/>
        </p:spPr>
        <p:txBody>
          <a:bodyPr wrap="square" lIns="0" tIns="0" rIns="0" bIns="0" rtlCol="0" anchor="t"/>
          <a:lstStyle/>
          <a:p>
            <a:pPr indent="0" marL="0">
              <a:buNone/>
            </a:pPr>
            <a:r>
              <a:rPr lang="en-US" sz="1200" i="1" dirty="0">
                <a:solidFill>
                  <a:srgbClr val="5A5A5A"/>
                </a:solidFill>
                <a:latin typeface="Arial" pitchFamily="34" charset="0"/>
                <a:ea typeface="Arial" pitchFamily="34" charset="-122"/>
                <a:cs typeface="Arial" pitchFamily="34" charset="-120"/>
              </a:rPr>
              <a:t>For finance and planning colleagues who want the detail. Invented data, shown in AED as in the method page.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217</Slides>
  <Notes>217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217</vt:i4>
      </vt:variant>
    </vt:vector>
  </HeadingPairs>
  <TitlesOfParts>
    <vt:vector size="2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vector>
  </TitlesOfParts>
  <Company>Kyndryl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Contract-to-Capacity Workshop · Liverpool</dc:title>
  <dc:subject>PptxGenJS Presentation</dc:subject>
  <dc:creator>HR Global Staffing</dc:creator>
  <cp:lastModifiedBy>HR Global Staffing</cp:lastModifiedBy>
  <cp:revision>1</cp:revision>
  <dcterms:created xsi:type="dcterms:W3CDTF">2026-10-04T00:33:30Z</dcterms:created>
  <dcterms:modified xsi:type="dcterms:W3CDTF">2026-10-04T00:33:30Z</dcterms:modified>
</cp:coreProperties>
</file>